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Space Grotesk Medium"/>
      <p:regular r:id="rId20"/>
      <p:bold r:id="rId21"/>
    </p:embeddedFont>
    <p:embeddedFont>
      <p:font typeface="Space Grotesk SemiBold"/>
      <p:regular r:id="rId22"/>
      <p:bold r:id="rId23"/>
    </p:embeddedFont>
    <p:embeddedFont>
      <p:font typeface="Inter Medium"/>
      <p:regular r:id="rId24"/>
      <p:bold r:id="rId25"/>
      <p:italic r:id="rId26"/>
      <p:boldItalic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Medium-regular.fntdata"/><Relationship Id="rId22" Type="http://schemas.openxmlformats.org/officeDocument/2006/relationships/font" Target="fonts/SpaceGroteskSemiBold-regular.fntdata"/><Relationship Id="rId21" Type="http://schemas.openxmlformats.org/officeDocument/2006/relationships/font" Target="fonts/SpaceGroteskMedium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SpaceGrotesk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2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4175" y="4271825"/>
            <a:ext cx="6343650" cy="118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100750" y="1477416"/>
            <a:ext cx="399049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APRESENTAÇÃO ACADÊMICA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60720" y="1867941"/>
            <a:ext cx="4470558" cy="140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Governança 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Auditoria de TI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95675" y="3555652"/>
            <a:ext cx="5200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Estudo de Caso e Entrevista: Elaine Mendes Ramalho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14700" y="4471838"/>
            <a:ext cx="5562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INTEGRANTES DO GRUPO: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14700" y="4763244"/>
            <a:ext cx="5562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rPr>
              <a:t>Guilherme Bitencourt da Silva França  |  Guilherme Mendes Ramalho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6134100"/>
            <a:ext cx="1064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Semestre Acadêmico | Auditoria e Governança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26100"/>
            <a:ext cx="503872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7112" y="2266801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5" y="1970782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Elaine Mendes Ramalho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2361307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Gestora de Operações na Engemon IT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66800" y="3121372"/>
            <a:ext cx="4448175" cy="2194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Profissional com mais de 10 anos de experiência em Gestão de TI, Governança, Service Desk e Field Service. Especialista na liderança de equipes multidisciplinares e na estruturação de processos de ITSM baseados em frameworks de mercado (ITIL e COBIT), garantindo conformidade operacional contínua e foco na integridade das operações críticas 24x7.</a:t>
            </a:r>
            <a:endParaRPr/>
          </a:p>
        </p:txBody>
      </p:sp>
      <p:pic>
        <p:nvPicPr>
          <p:cNvPr id="102" name="Google Shape;102;p14" title="foto.jpg"/>
          <p:cNvPicPr preferRelativeResize="0"/>
          <p:nvPr/>
        </p:nvPicPr>
        <p:blipFill rotWithShape="1">
          <a:blip r:embed="rId6">
            <a:alphaModFix/>
          </a:blip>
          <a:srcRect b="0" l="0" r="0" t="4068"/>
          <a:stretch/>
        </p:blipFill>
        <p:spPr>
          <a:xfrm>
            <a:off x="7415212" y="2304901"/>
            <a:ext cx="2971800" cy="2971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62025" y="581025"/>
            <a:ext cx="1098137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IDENTIFICAÇÃO &amp; PERFIL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71525" y="581025"/>
            <a:ext cx="47625" cy="438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19511"/>
            <a:ext cx="2015430" cy="1918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9830" y="2519511"/>
            <a:ext cx="2015430" cy="1918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8135" y="2519511"/>
            <a:ext cx="2015579" cy="1918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6590" y="2519511"/>
            <a:ext cx="2015430" cy="1918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04895" y="2519511"/>
            <a:ext cx="2015579" cy="19180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71525" y="4818608"/>
            <a:ext cx="10648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Este mapeamento ilustra como a experiência de suporte se desdobra em conformidade, ferramentas práticas e evolução de carreira.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88740" y="2748111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31165" y="3195786"/>
            <a:ext cx="16961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ADERÊNCIA (C)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71550" y="3491061"/>
            <a:ext cx="161538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Alinhamento natural entre as rotinas operacionais (ITSM) e a Governança de TI.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85145" y="274811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3089470" y="3195786"/>
            <a:ext cx="16961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DESAFIOS (D)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129855" y="3491061"/>
            <a:ext cx="161538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Superação de barreiras culturais e estruturação confiável de logs.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351" y="2748111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247772" y="3195786"/>
            <a:ext cx="1696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CONDUÇÃO (E)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288160" y="3491061"/>
            <a:ext cx="1615529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Estratégia baseada em planejamento transparente e evidências íntegras.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01905" y="274811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406230" y="3195786"/>
            <a:ext cx="16961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HABILIDADES (F)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446615" y="3491061"/>
            <a:ext cx="161538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Comunicação executiva, ética e forte visão de gestão de riscos.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22110" y="2748111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9564532" y="3195786"/>
            <a:ext cx="1696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FORMAÇÃO (G)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604920" y="3491061"/>
            <a:ext cx="1615529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Fortalecimento técnico com CISA, ITIL 4 e certificações ISO.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62025" y="581025"/>
            <a:ext cx="1098137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FLUXO DE CONEXÃO ESTRATÉGICA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71525" y="581025"/>
            <a:ext cx="47625" cy="438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05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51950"/>
            <a:ext cx="5133974" cy="21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51950"/>
            <a:ext cx="5133974" cy="21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1066800" y="2747218"/>
            <a:ext cx="477059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Desafios e Cultura (D)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66800" y="3137743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Resistência Cultural: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Superar a mentalidade de que a auditoria tem um caráter estritamente punitivo.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66800" y="3769965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Integridade dos Dados: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Centralizar e consolidar relatórios fidedignos em ambientes descentralizados.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81775" y="2747218"/>
            <a:ext cx="477059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Como Conduzir (E)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581775" y="3137743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Governança Ativa: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Tratar a auditoria como um processo contínuo integrado ao cotidiano operacional.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81775" y="3769965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Uso de Ferramentas: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Empregar logs de incidentes, relatórios e SLAs como evidências incontestáveis.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62025" y="581025"/>
            <a:ext cx="1098137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DESAFIOS &amp; CONDUÇÃO TÉCNICA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71525" y="581025"/>
            <a:ext cx="47625" cy="438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43137"/>
            <a:ext cx="5749974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2499" y="2243137"/>
            <a:ext cx="451797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066800" y="2538412"/>
            <a:ext cx="541739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Habilidades de Alinhamento (F)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197774" y="2673994"/>
            <a:ext cx="412379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Formações Recomendadas (G)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197774" y="3064519"/>
            <a:ext cx="3927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FRAMEWORKS DE SUCESSO: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197774" y="3422600"/>
            <a:ext cx="3927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CISA (ISACA):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Foco principal em auditorias de sistemas corporativos complexos.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197774" y="4035772"/>
            <a:ext cx="39274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ITIL 4 / COBIT: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Estruturação de processos.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197774" y="4389983"/>
            <a:ext cx="3927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ISO 27001: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Sistemas de Segurança da Informação.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447800" y="2928937"/>
            <a:ext cx="47784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Visão de Riscos: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Conseguir balancear as regras de segurança com a agilidade das operações de TI.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447800" y="3633787"/>
            <a:ext cx="47784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Comunicação Executiva: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Traduzir métricas técnicas em linguagem de valor de negócio para diretores.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447800" y="4338637"/>
            <a:ext cx="47784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Ética e Independência: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Preservar a neutralidade e a transparência em todos os relatórios.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9622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6671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37197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62025" y="581025"/>
            <a:ext cx="1098137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HABILIDADES &amp; SUGESTÕES DE CARREIRA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771525" y="581025"/>
            <a:ext cx="47625" cy="438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4340423"/>
            <a:ext cx="4286250" cy="735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1200" y="178221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4869616" y="2629941"/>
            <a:ext cx="247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Dúvidas?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410075" y="3529012"/>
            <a:ext cx="3371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Agradecemos a atenção de todos.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3952875" y="4540448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Guilherme B. S. França  |  Guilherme M. Ramalho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3952875" y="4862363"/>
            <a:ext cx="4286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Estudo de Caso: Elaine Mendes Ramalho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42775" y="6078750"/>
            <a:ext cx="1032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Link dos áudios: https://drive.google.com/drive/folders/1A9mDqZ8V0L8fFyGxSFUE7LLtchknTKyE?usp=sharing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