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12" r:id="rId2"/>
    <p:sldId id="313" r:id="rId3"/>
    <p:sldId id="314" r:id="rId4"/>
    <p:sldId id="315" r:id="rId5"/>
    <p:sldId id="316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7" r:id="rId19"/>
    <p:sldId id="349" r:id="rId20"/>
    <p:sldId id="350" r:id="rId21"/>
    <p:sldId id="355" r:id="rId22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FA7A"/>
    <a:srgbClr val="FFCC66"/>
    <a:srgbClr val="FFFF66"/>
    <a:srgbClr val="9A7716"/>
    <a:srgbClr val="CC6600"/>
    <a:srgbClr val="04F23D"/>
    <a:srgbClr val="0DFB46"/>
    <a:srgbClr val="25FB58"/>
    <a:srgbClr val="D60093"/>
    <a:srgbClr val="014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94" autoAdjust="0"/>
    <p:restoredTop sz="92675" autoAdjust="0"/>
  </p:normalViewPr>
  <p:slideViewPr>
    <p:cSldViewPr snapToGrid="0">
      <p:cViewPr varScale="1">
        <p:scale>
          <a:sx n="99" d="100"/>
          <a:sy n="99" d="100"/>
        </p:scale>
        <p:origin x="7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76363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297" y="3"/>
            <a:ext cx="3076363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9A8D436-44EC-4C7F-B214-23995C4993D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3" y="9721110"/>
            <a:ext cx="3076363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297" y="9721110"/>
            <a:ext cx="3076363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3DDE9528-4688-4A24-A8C6-3E4FFEA1045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6881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10" units="1/cm"/>
          <inkml:channelProperty channel="Y" name="resolution" value="10" units="1/cm"/>
          <inkml:channelProperty channel="T" name="resolution" value="1" units="1/dev"/>
        </inkml:channelProperties>
      </inkml:inkSource>
      <inkml:timestamp xml:id="ts0" timeString="2017-07-31T21:43:40.897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10" units="1/cm"/>
          <inkml:channelProperty channel="Y" name="resolution" value="10" units="1/cm"/>
          <inkml:channelProperty channel="T" name="resolution" value="1" units="1/dev"/>
        </inkml:channelProperties>
      </inkml:inkSource>
      <inkml:timestamp xml:id="ts0" timeString="2017-07-31T21:43:40.897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76363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7" y="3"/>
            <a:ext cx="3076363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767DD57E-57C4-4B8E-AA95-D1FCA6A45F46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9"/>
            <a:ext cx="5679440" cy="4029880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3" y="9721110"/>
            <a:ext cx="3076363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7" y="9721110"/>
            <a:ext cx="3076363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242C3D73-F85E-48CC-ADF0-85F45D730E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947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298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98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52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4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09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88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758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33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70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0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t>31/03/2026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716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4132" y="2233621"/>
            <a:ext cx="9943736" cy="3894225"/>
          </a:xfrm>
        </p:spPr>
        <p:txBody>
          <a:bodyPr>
            <a:normAutofit lnSpcReduction="10000"/>
          </a:bodyPr>
          <a:lstStyle/>
          <a:p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Os custos logísticos são significativos – 12% do PIB mundial (FMI);</a:t>
            </a:r>
          </a:p>
          <a:p>
            <a:pPr marL="0" indent="0">
              <a:buNone/>
            </a:pPr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complexidade dos serviços está aumentando: globalização, </a:t>
            </a:r>
            <a:r>
              <a:rPr lang="pt-BR" sz="2000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e-commerce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terceirização logística, inovação tecnológica, os clientes estão cada vez mais exigentes...</a:t>
            </a: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Avaliação de desempenho logístico (KPI – indicadores estratégicos);</a:t>
            </a: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Economias x Investimentos;</a:t>
            </a: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Características de cada produto.</a:t>
            </a: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endParaRPr lang="pt-BR" sz="2000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968454" y="1161055"/>
            <a:ext cx="6255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INTRODUÇÃO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85191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8699008" y="1668132"/>
            <a:ext cx="2189408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Tipo de demanda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4513373" y="1991733"/>
            <a:ext cx="3374265" cy="3168203"/>
            <a:chOff x="4513373" y="1991733"/>
            <a:chExt cx="3374265" cy="3168203"/>
          </a:xfrm>
        </p:grpSpPr>
        <p:sp>
          <p:nvSpPr>
            <p:cNvPr id="4" name="Elipse 3"/>
            <p:cNvSpPr/>
            <p:nvPr/>
          </p:nvSpPr>
          <p:spPr>
            <a:xfrm>
              <a:off x="4513373" y="1991733"/>
              <a:ext cx="3374265" cy="3168203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accent6"/>
                </a:solidFill>
              </a:endParaRPr>
            </a:p>
          </p:txBody>
        </p:sp>
        <p:sp>
          <p:nvSpPr>
            <p:cNvPr id="5" name="CaixaDeTexto 4"/>
            <p:cNvSpPr txBox="1"/>
            <p:nvPr/>
          </p:nvSpPr>
          <p:spPr>
            <a:xfrm>
              <a:off x="5247468" y="3265089"/>
              <a:ext cx="19060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dirty="0">
                  <a:solidFill>
                    <a:schemeClr val="accent6"/>
                  </a:solidFill>
                </a:rPr>
                <a:t>COMPRAS</a:t>
              </a:r>
            </a:p>
          </p:txBody>
        </p:sp>
      </p:grpSp>
      <p:cxnSp>
        <p:nvCxnSpPr>
          <p:cNvPr id="7" name="Conector de seta reta 6"/>
          <p:cNvCxnSpPr>
            <a:stCxn id="4" idx="7"/>
          </p:cNvCxnSpPr>
          <p:nvPr/>
        </p:nvCxnSpPr>
        <p:spPr>
          <a:xfrm flipV="1">
            <a:off x="7393488" y="1824308"/>
            <a:ext cx="1305520" cy="631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4" idx="6"/>
            <a:endCxn id="15" idx="1"/>
          </p:cNvCxnSpPr>
          <p:nvPr/>
        </p:nvCxnSpPr>
        <p:spPr>
          <a:xfrm flipV="1">
            <a:off x="7887638" y="3575834"/>
            <a:ext cx="132652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9214161" y="3221891"/>
            <a:ext cx="1995552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Processamento</a:t>
            </a:r>
          </a:p>
          <a:p>
            <a:r>
              <a:rPr lang="pt-BR" dirty="0"/>
              <a:t>de pedidos</a:t>
            </a:r>
          </a:p>
        </p:txBody>
      </p:sp>
      <p:cxnSp>
        <p:nvCxnSpPr>
          <p:cNvPr id="18" name="Conector de seta reta 17"/>
          <p:cNvCxnSpPr>
            <a:stCxn id="4" idx="5"/>
          </p:cNvCxnSpPr>
          <p:nvPr/>
        </p:nvCxnSpPr>
        <p:spPr>
          <a:xfrm>
            <a:off x="7393488" y="4695963"/>
            <a:ext cx="1305520" cy="940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8699008" y="5436400"/>
            <a:ext cx="2789963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Sistemas de informação</a:t>
            </a:r>
          </a:p>
        </p:txBody>
      </p:sp>
      <p:cxnSp>
        <p:nvCxnSpPr>
          <p:cNvPr id="23" name="Conector de seta reta 22"/>
          <p:cNvCxnSpPr>
            <a:stCxn id="4" idx="1"/>
          </p:cNvCxnSpPr>
          <p:nvPr/>
        </p:nvCxnSpPr>
        <p:spPr>
          <a:xfrm flipH="1" flipV="1">
            <a:off x="3598974" y="1824308"/>
            <a:ext cx="1408549" cy="631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959575" y="1653016"/>
            <a:ext cx="2653047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Política de estoque</a:t>
            </a:r>
          </a:p>
        </p:txBody>
      </p:sp>
      <p:cxnSp>
        <p:nvCxnSpPr>
          <p:cNvPr id="27" name="Conector de seta reta 26"/>
          <p:cNvCxnSpPr>
            <a:stCxn id="4" idx="2"/>
          </p:cNvCxnSpPr>
          <p:nvPr/>
        </p:nvCxnSpPr>
        <p:spPr>
          <a:xfrm flipH="1" flipV="1">
            <a:off x="3186850" y="3575834"/>
            <a:ext cx="132652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817859" y="3375779"/>
            <a:ext cx="2382591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Armazenagem   </a:t>
            </a:r>
          </a:p>
        </p:txBody>
      </p:sp>
      <p:cxnSp>
        <p:nvCxnSpPr>
          <p:cNvPr id="31" name="Conector de seta reta 30"/>
          <p:cNvCxnSpPr>
            <a:stCxn id="4" idx="3"/>
          </p:cNvCxnSpPr>
          <p:nvPr/>
        </p:nvCxnSpPr>
        <p:spPr>
          <a:xfrm flipH="1">
            <a:off x="3598974" y="4695963"/>
            <a:ext cx="1408549" cy="998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959575" y="5463696"/>
            <a:ext cx="2653047" cy="40011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Decisões de transporte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2968454" y="1161055"/>
            <a:ext cx="6255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INTRODUÇÃO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420288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0" grpId="0" animBg="1"/>
      <p:bldP spid="25" grpId="0" animBg="1"/>
      <p:bldP spid="28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3306" y="1728715"/>
            <a:ext cx="1910687" cy="424620"/>
          </a:xfrm>
        </p:spPr>
        <p:txBody>
          <a:bodyPr>
            <a:normAutofit/>
          </a:bodyPr>
          <a:lstStyle/>
          <a:p>
            <a:pPr algn="ctr"/>
            <a:r>
              <a:rPr lang="pt-BR" sz="2000" b="1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JUST-IN-TIME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73306" y="2745504"/>
            <a:ext cx="11243256" cy="291993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“Uma filosofia de planejamento em que todo canal de suprimentos é sincronizado para reagir às necessidades das operações dos clientes”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Desenvolvida no Japão, a partir de meados da década de 70, no âmbito do Toyotismo;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Relações privilegiadas com poucos fornecedores e transportadores;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Informação compartilhada entre compradores e fornecedores;</a:t>
            </a:r>
          </a:p>
        </p:txBody>
      </p:sp>
      <p:sp>
        <p:nvSpPr>
          <p:cNvPr id="5" name="Retângulo 4"/>
          <p:cNvSpPr/>
          <p:nvPr/>
        </p:nvSpPr>
        <p:spPr>
          <a:xfrm>
            <a:off x="2968454" y="1161055"/>
            <a:ext cx="6255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INTRODUÇÃO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169596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73306" y="2423590"/>
            <a:ext cx="11243256" cy="381476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Produção / compra e transporte de mercadorias </a:t>
            </a:r>
            <a:r>
              <a:rPr lang="pt-BR" sz="2000" i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em pequenas quantidades 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são </a:t>
            </a:r>
            <a:r>
              <a:rPr lang="pt-BR" sz="2000" i="1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frequentes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e se traduzem em níveis mínimos de estoque;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fluxo de produtos está sincronizado com as respectivas demandas;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Metas de alta qualidade;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Eliminação das incertezas sempre que possível ao longo do canal de suprimentos;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a eficácia desta filosofia, é necessário relações de confiança, agilidade nas operações e resposta rápida aos pedidos.</a:t>
            </a: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573306" y="1729921"/>
            <a:ext cx="1910687" cy="424620"/>
          </a:xfrm>
        </p:spPr>
        <p:txBody>
          <a:bodyPr>
            <a:normAutofit/>
          </a:bodyPr>
          <a:lstStyle/>
          <a:p>
            <a:pPr algn="ctr"/>
            <a:r>
              <a:rPr lang="pt-BR" sz="2000" b="1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JUST-IN-TIME</a:t>
            </a:r>
          </a:p>
        </p:txBody>
      </p:sp>
      <p:sp>
        <p:nvSpPr>
          <p:cNvPr id="7" name="Retângulo 6"/>
          <p:cNvSpPr/>
          <p:nvPr/>
        </p:nvSpPr>
        <p:spPr>
          <a:xfrm>
            <a:off x="2968454" y="1161055"/>
            <a:ext cx="6255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INTRODUÇÃO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37976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4372" y="2717444"/>
            <a:ext cx="11243256" cy="298326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Hewlett-Packard (HP) reduziu em 40% o estoque de produtos acabados  em seu CD, aumentou o seus ganhos em 2% ao mês, e obteve melhoria de 44% na qualidade de serviço ao cliente;</a:t>
            </a: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General Motors (GM) reduziu seus fornecedores e transportadores estabelecendo limites de distância física em relação às suas fábricas. Isto aumentou o nível de confiança entre os</a:t>
            </a:r>
            <a:r>
              <a:rPr lang="pt-BR" sz="2000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players 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 </a:t>
            </a:r>
            <a:r>
              <a:rPr lang="pt-BR" sz="2000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Supply Chain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, e melhorou assertividade dos eventos.</a:t>
            </a:r>
            <a:endParaRPr lang="pt-BR" sz="2000" i="1" dirty="0">
              <a:solidFill>
                <a:schemeClr val="accent6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73306" y="1729921"/>
            <a:ext cx="2669957" cy="424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CASOS DE SUCESSO</a:t>
            </a:r>
          </a:p>
        </p:txBody>
      </p:sp>
      <p:sp>
        <p:nvSpPr>
          <p:cNvPr id="8" name="Retângulo 7"/>
          <p:cNvSpPr/>
          <p:nvPr/>
        </p:nvSpPr>
        <p:spPr>
          <a:xfrm>
            <a:off x="2968454" y="1161055"/>
            <a:ext cx="6255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INTRODUÇÃO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20604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020213" y="3446118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020213" y="2562198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269882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52675" y="2145104"/>
            <a:ext cx="74866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Coordenação da cadeia de suprimentos;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Organização funcional: interna e externa;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Gerenciamento de riscos (pessoal, interno e externo);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Controle prático (materializado) das operações;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Identificação de erros e desacordos;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Respaldo em possíveis auditorias da empresa;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Auxílio na tomada decisões.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910951" y="1115283"/>
            <a:ext cx="4370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- VANTAGENS</a:t>
            </a:r>
            <a:endParaRPr lang="pt-BR" sz="2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2" name="Retângulo 1"/>
          <p:cNvSpPr/>
          <p:nvPr/>
        </p:nvSpPr>
        <p:spPr>
          <a:xfrm>
            <a:off x="2700337" y="5638908"/>
            <a:ext cx="6791325" cy="47320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“BUROCRACIA É UMA MANEIRA DE ORGANIZAR” (Durkheim)</a:t>
            </a:r>
          </a:p>
        </p:txBody>
      </p:sp>
    </p:spTree>
    <p:extLst>
      <p:ext uri="{BB962C8B-B14F-4D97-AF65-F5344CB8AC3E}">
        <p14:creationId xmlns:p14="http://schemas.microsoft.com/office/powerpoint/2010/main" val="183214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01794" y="1962588"/>
            <a:ext cx="111598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Verificar/conferir a exatidão das informações contidas;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Agilidade para preencher documentos e relatórios: importante para o andamento do pedido;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preenchimento dos documentos pode identificar tarefas adicionais para o processamento dos pedidos de compra;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Exatidão até nos detalhes. Não deve haver rasuras.;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Há produtos que </a:t>
            </a:r>
            <a:r>
              <a:rPr lang="pt-BR" sz="20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podem precisar de documentação específica</a:t>
            </a: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processamento de pedidos pode priorizar certos produtos ou fornecedores (preparação da documentação).</a:t>
            </a:r>
          </a:p>
        </p:txBody>
      </p:sp>
      <p:sp>
        <p:nvSpPr>
          <p:cNvPr id="7" name="Retângulo 6"/>
          <p:cNvSpPr/>
          <p:nvPr/>
        </p:nvSpPr>
        <p:spPr>
          <a:xfrm>
            <a:off x="4100105" y="1115283"/>
            <a:ext cx="3991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- OBJETIVOS</a:t>
            </a:r>
            <a:endParaRPr lang="pt-BR" sz="20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409385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27172" y="1724626"/>
            <a:ext cx="10337656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CADASTRAMENTO DE FORNECEDORES: HOMOLOGAÇÃO PARA AS NEGOCIAÇÕES.</a:t>
            </a:r>
          </a:p>
        </p:txBody>
      </p:sp>
      <p:pic>
        <p:nvPicPr>
          <p:cNvPr id="1026" name="Picture 2" descr="Planilha de fornecedores Exc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074" y="2240152"/>
            <a:ext cx="5465839" cy="380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dastro de fornecedores Excel planilha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95" y="2243137"/>
            <a:ext cx="5802571" cy="380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61785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16082" y="1515393"/>
            <a:ext cx="11159836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CADASTRAMENTO DE FORNECEDORES: HOMOLOGAÇÃO PARA AS NEGOCIAÇÕES.</a:t>
            </a:r>
          </a:p>
        </p:txBody>
      </p:sp>
      <p:pic>
        <p:nvPicPr>
          <p:cNvPr id="2050" name="Picture 2" descr="Planilha de fornecedores Exc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907" y="2126320"/>
            <a:ext cx="8558187" cy="439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</p:spTree>
    <p:extLst>
      <p:ext uri="{BB962C8B-B14F-4D97-AF65-F5344CB8AC3E}">
        <p14:creationId xmlns:p14="http://schemas.microsoft.com/office/powerpoint/2010/main" val="311040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922333" y="991359"/>
            <a:ext cx="8347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PARA ALGUMAS EMPRESAS JÁ É UM DOCUMENTO FORMAL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0770" t="18558" r="26905" b="18930"/>
          <a:stretch/>
        </p:blipFill>
        <p:spPr>
          <a:xfrm>
            <a:off x="2001609" y="1499191"/>
            <a:ext cx="7974420" cy="53588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– REQUISIÇÃO DE MATERIAIS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497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9001" y="2524719"/>
            <a:ext cx="11193998" cy="35212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Detalhamento dos custos que envolvem o preço de compra: insumos, mão-de-obra, logística, serviços terceirizados;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Prática recente que tem se intensificado;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Compartilhamento de informações;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Aumento da confiança entre os </a:t>
            </a:r>
            <a:r>
              <a:rPr lang="pt-BR" sz="1800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players</a:t>
            </a: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Indicado para negociação integrativa (ganha-ganha);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Adequada para a filosofia </a:t>
            </a:r>
            <a:r>
              <a:rPr lang="pt-BR" sz="1800" i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“Just-in-time”;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Identificação de gargalos na cadeia de suprimentos.</a:t>
            </a:r>
          </a:p>
        </p:txBody>
      </p:sp>
      <p:sp>
        <p:nvSpPr>
          <p:cNvPr id="5" name="Retângulo 4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7" name="Retângulo 6"/>
          <p:cNvSpPr/>
          <p:nvPr/>
        </p:nvSpPr>
        <p:spPr>
          <a:xfrm>
            <a:off x="499001" y="2015427"/>
            <a:ext cx="710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PLANILHA DE CUSTOS OU MAPA DE COMPOSIÇÃO DE CUSTO: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2090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lanilha-co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00" y="179272"/>
            <a:ext cx="3325091" cy="667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planilha-de-comp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150" y="716538"/>
            <a:ext cx="6981825" cy="560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996594" y="248080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– MAPA / PLANILHA DE CUSTOS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7093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18273" y="2460939"/>
            <a:ext cx="111598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Produto especificado, descrição técnica, quantidade, prazo de entrega, local de entrega, informações complementares;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Geralmente são geradas três vias: duas são enviadas ao fornecedor, uma com ele permanecendo; a outra é assinada e retorna ao comprador e serve como um “contrato”. A 3ª via fica com o comprador;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Tanto fornecedor quanto produtos devem estar devidamente cadastrados no banco de dados da empresa antes da emissão do pedido</a:t>
            </a: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Informatizado x manual.</a:t>
            </a:r>
          </a:p>
        </p:txBody>
      </p:sp>
      <p:sp>
        <p:nvSpPr>
          <p:cNvPr id="5" name="Retângulo 4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5094" y="2060829"/>
            <a:ext cx="4988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PEDIDO DE COMPRA (ORDEM DO PEDIDO): </a:t>
            </a:r>
          </a:p>
        </p:txBody>
      </p:sp>
    </p:spTree>
    <p:extLst>
      <p:ext uri="{BB962C8B-B14F-4D97-AF65-F5344CB8AC3E}">
        <p14:creationId xmlns:p14="http://schemas.microsoft.com/office/powerpoint/2010/main" val="262908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0795" t="18449" r="26845" b="19409"/>
          <a:stretch/>
        </p:blipFill>
        <p:spPr>
          <a:xfrm>
            <a:off x="1780897" y="777155"/>
            <a:ext cx="8630207" cy="5761383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– PEDIDO DE COMPRA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5505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3698" t="9538" r="38208" b="11340"/>
          <a:stretch/>
        </p:blipFill>
        <p:spPr>
          <a:xfrm>
            <a:off x="2931046" y="777154"/>
            <a:ext cx="6329908" cy="5857561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099556" y="338231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 – ORDEM DE COMPRA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4414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66521" y="2099871"/>
            <a:ext cx="110589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Documento obrigatório;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Dados do fornecedor, valor, quantidade, peso, impostos, dados do comprador;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Também serve para recolher os impostos das negociações de compra;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Uma nota fiscal para cada transação;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 falta de emissão obrigatória ou preenchimento de dados incorretos dos documentos pode acarretar o pagamento de impostos em excesso, apreensão da carga e multa ao transportador, além de prejuízo ao embarcador</a:t>
            </a: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;</a:t>
            </a:r>
          </a:p>
          <a:p>
            <a:pPr marL="285750" indent="-28575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Documento Auxiliar da Nota Fiscal Eletrônica (DANFE): É uma representação impressa da NF-e, tendo em vista que esta só existe digitalmente. O DANFE serve para facilitar o acesso aos dados da NF-e na internet, porém, não a substitui. O documento serve também para colher a assinatura do destinatário no momento da entrega da mercadoria ou prestação de serviço, atuando como comprovante físico da operação.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099556" y="2999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6" name="Retângulo 5"/>
          <p:cNvSpPr/>
          <p:nvPr/>
        </p:nvSpPr>
        <p:spPr>
          <a:xfrm>
            <a:off x="566521" y="1639005"/>
            <a:ext cx="181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NOTA FISCAL: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24680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763082" y="2372012"/>
            <a:ext cx="106658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Identifica e localiza produtos nos lotes, paletes ou volumes;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Serve de controle para o embarcador e para o recebedor;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Utilizado para conferir com o pedido de compra e a nota fiscal;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Pode conter os seguintes elementos:</a:t>
            </a:r>
          </a:p>
          <a:p>
            <a:pPr marL="342900" indent="-342900" algn="just" fontAlgn="base">
              <a:buFontTx/>
              <a:buChar char="-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quantidade total de volumes (embalagem);</a:t>
            </a:r>
          </a:p>
          <a:p>
            <a:pPr marL="342900" indent="-342900" algn="just" fontAlgn="base">
              <a:buFontTx/>
              <a:buChar char="-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marcação dos volumes;</a:t>
            </a:r>
          </a:p>
          <a:p>
            <a:pPr marL="342900" indent="-342900" algn="just" fontAlgn="base">
              <a:buFontTx/>
              <a:buChar char="-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identificação dos volumes por ordem numérica;</a:t>
            </a:r>
          </a:p>
          <a:p>
            <a:pPr marL="342900" indent="-342900" algn="just" fontAlgn="base">
              <a:buFontTx/>
              <a:buChar char="-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espécie de embalagens (caixa, pallet, por exemplo) contendo peso líquido, peso bruto, dimensões unitárias e o volume total da carga;</a:t>
            </a:r>
          </a:p>
          <a:p>
            <a:pPr algn="just" fontAlgn="base"/>
            <a:endParaRPr lang="pt-BR" dirty="0">
              <a:solidFill>
                <a:srgbClr val="FF000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Não existe um padrão pré-determinado. </a:t>
            </a:r>
            <a:endParaRPr lang="pt-BR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2099556" y="2999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6" name="Retângulo 5"/>
          <p:cNvSpPr/>
          <p:nvPr/>
        </p:nvSpPr>
        <p:spPr>
          <a:xfrm>
            <a:off x="763082" y="1971902"/>
            <a:ext cx="2917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ROMANEIO DE CARGAS: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31388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85354" y="2270067"/>
            <a:ext cx="116066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São registros que servem para controle de qualidade.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Os documentos possuem o sentido de avaliar o serviço prestado.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Cada produto ou serviço prestado pode ter itens diferentes na ficha de inspeção.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Caracterização do produto, especificações, como manusear e armazenar.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85354" y="4925261"/>
            <a:ext cx="11284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Ficha de controle administrativo para entrega de EPI (Equipamento de Proteção Individual).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Recomendação: tirar cópias e armazenar.</a:t>
            </a:r>
          </a:p>
        </p:txBody>
      </p:sp>
      <p:sp>
        <p:nvSpPr>
          <p:cNvPr id="8" name="Retângulo 7"/>
          <p:cNvSpPr/>
          <p:nvPr/>
        </p:nvSpPr>
        <p:spPr>
          <a:xfrm>
            <a:off x="4909619" y="1115283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  <a:endParaRPr lang="pt-BR" sz="2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2099556" y="2999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ATIVIDADES DE COMPRAS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08785" y="1779422"/>
            <a:ext cx="242406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FICHA DE INSPEÇÃO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04778" y="4384233"/>
            <a:ext cx="23423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FICHA DE CAUTELA</a:t>
            </a:r>
          </a:p>
        </p:txBody>
      </p:sp>
    </p:spTree>
    <p:extLst>
      <p:ext uri="{BB962C8B-B14F-4D97-AF65-F5344CB8AC3E}">
        <p14:creationId xmlns:p14="http://schemas.microsoft.com/office/powerpoint/2010/main" val="170018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164020" y="3266272"/>
            <a:ext cx="98639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“Segundo o Regulamento do ICMS do Estado de São Paulo, devolução de mercadoria é a operação que tenha por objeto anular todos os efeitos de uma operação anterior. Portanto, como mencionado anteriormente, o cliente poderá se utilizar da operação de devolução por qualquer irregularidade nas mercadorias ou mesmo das condições contratadas. A legislação não dispõe sobre um prazo para que haja a devolução, devendo ser estipulado entre as partes interessadas.”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Tinta 5"/>
              <p14:cNvContentPartPr/>
              <p14:nvPr/>
            </p14:nvContentPartPr>
            <p14:xfrm>
              <a:off x="12991302" y="1650372"/>
              <a:ext cx="360" cy="360"/>
            </p14:xfrm>
          </p:contentPart>
        </mc:Choice>
        <mc:Fallback xmlns="">
          <p:pic>
            <p:nvPicPr>
              <p:cNvPr id="6" name="Tinta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6182" y="1635252"/>
                <a:ext cx="30600" cy="30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/>
          <p:cNvSpPr txBox="1"/>
          <p:nvPr/>
        </p:nvSpPr>
        <p:spPr>
          <a:xfrm>
            <a:off x="2099556" y="2999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2255043" y="995459"/>
            <a:ext cx="7681913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PROCESSO DE DEVOLUÇÃO DE MATERIAIS</a:t>
            </a:r>
          </a:p>
        </p:txBody>
      </p:sp>
      <p:sp>
        <p:nvSpPr>
          <p:cNvPr id="9" name="Retângulo 8"/>
          <p:cNvSpPr/>
          <p:nvPr/>
        </p:nvSpPr>
        <p:spPr>
          <a:xfrm>
            <a:off x="1164020" y="2281264"/>
            <a:ext cx="72552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RECUSA DEPOIS DE ASSINADO O CANHOTO A NOTA FISCAL</a:t>
            </a:r>
          </a:p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DEVOLUÇÃO TOTAL / PARCIAL</a:t>
            </a:r>
          </a:p>
        </p:txBody>
      </p:sp>
    </p:spTree>
    <p:extLst>
      <p:ext uri="{BB962C8B-B14F-4D97-AF65-F5344CB8AC3E}">
        <p14:creationId xmlns:p14="http://schemas.microsoft.com/office/powerpoint/2010/main" val="26664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164020" y="2927595"/>
            <a:ext cx="96195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estabelecimento que fizer a devolução deverá emitir nota fiscal, para acompanhar as mercadorias constando os seguintes requisitos regulamentares 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CFOP (Código Fiscal de Operação) de devolução;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Descrição das mercadorias;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Quantidade devolvida;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Preço unitário (o mesmo da NF de venda originária);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Impostos relativos à quantidade devolvida;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Indicação do número do documento originário e data de sua emissão;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pt-BR" sz="1600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 motivo da devolução.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Tinta 5"/>
              <p14:cNvContentPartPr/>
              <p14:nvPr/>
            </p14:nvContentPartPr>
            <p14:xfrm>
              <a:off x="12991302" y="1650372"/>
              <a:ext cx="360" cy="360"/>
            </p14:xfrm>
          </p:contentPart>
        </mc:Choice>
        <mc:Fallback xmlns="">
          <p:pic>
            <p:nvPicPr>
              <p:cNvPr id="6" name="Tinta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6182" y="1635252"/>
                <a:ext cx="30600" cy="30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ixaDeTexto 9"/>
          <p:cNvSpPr txBox="1"/>
          <p:nvPr/>
        </p:nvSpPr>
        <p:spPr>
          <a:xfrm>
            <a:off x="2099556" y="2999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DOCUMENTAÇÃO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255043" y="995459"/>
            <a:ext cx="7681913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PROCESSO DE DEVOLUÇÃO DE MATERIAIS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1164020" y="2281264"/>
            <a:ext cx="72552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RECUSA DEPOIS DE ASSINADO O CANHOTO A NOTA FISCAL</a:t>
            </a:r>
          </a:p>
          <a:p>
            <a:r>
              <a:rPr lang="pt-BR" b="1" dirty="0">
                <a:solidFill>
                  <a:schemeClr val="accent6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DEVOLUÇÃO TOTAL / PARCIAL</a:t>
            </a:r>
          </a:p>
        </p:txBody>
      </p:sp>
    </p:spTree>
    <p:extLst>
      <p:ext uri="{BB962C8B-B14F-4D97-AF65-F5344CB8AC3E}">
        <p14:creationId xmlns:p14="http://schemas.microsoft.com/office/powerpoint/2010/main" val="126722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Team do Office 1">
      <a:dk1>
        <a:sysClr val="windowText" lastClr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8054</TotalTime>
  <Words>1199</Words>
  <Application>Microsoft Office PowerPoint</Application>
  <PresentationFormat>Widescreen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Helvetica</vt:lpstr>
      <vt:lpstr>Lucida Sans Unicode</vt:lpstr>
      <vt:lpstr>Tema do Office</vt:lpstr>
      <vt:lpstr>Apresentação do PowerPoint</vt:lpstr>
      <vt:lpstr>Apresentação do PowerPoint</vt:lpstr>
      <vt:lpstr>JUST-IN-TIME</vt:lpstr>
      <vt:lpstr>JUST-IN-TIME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Mauricio Prieto</dc:creator>
  <cp:lastModifiedBy>Professor</cp:lastModifiedBy>
  <cp:revision>442</cp:revision>
  <cp:lastPrinted>2018-09-27T17:52:29Z</cp:lastPrinted>
  <dcterms:created xsi:type="dcterms:W3CDTF">2017-01-10T17:35:04Z</dcterms:created>
  <dcterms:modified xsi:type="dcterms:W3CDTF">2026-03-31T13:51:12Z</dcterms:modified>
</cp:coreProperties>
</file>