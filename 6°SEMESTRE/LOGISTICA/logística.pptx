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fif" ContentType="image/jpeg"/>
  <Default Extension="jpeg" ContentType="image/jpeg"/>
  <Default Extension="jpg" ContentType="image/jpeg"/>
  <Default Extension="png" ContentType="image/png"/>
  <Default Extension="rels" ContentType="application/vnd.openxmlformats-package.relationships+xml"/>
  <Default Extension="wdp" ContentType="image/vnd.ms-photo"/>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comments/comment1.xml" ContentType="application/vnd.openxmlformats-officedocument.presentationml.comments+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notesMasterIdLst>
    <p:notesMasterId r:id="rId269"/>
  </p:notesMasterIdLst>
  <p:handoutMasterIdLst>
    <p:handoutMasterId r:id="rId270"/>
  </p:handoutMasterIdLst>
  <p:sldIdLst>
    <p:sldId id="436" r:id="rId5"/>
    <p:sldId id="340" r:id="rId6"/>
    <p:sldId id="349" r:id="rId7"/>
    <p:sldId id="350" r:id="rId8"/>
    <p:sldId id="351" r:id="rId9"/>
    <p:sldId id="352" r:id="rId10"/>
    <p:sldId id="353" r:id="rId11"/>
    <p:sldId id="354" r:id="rId12"/>
    <p:sldId id="355" r:id="rId13"/>
    <p:sldId id="359" r:id="rId14"/>
    <p:sldId id="360" r:id="rId15"/>
    <p:sldId id="361" r:id="rId16"/>
    <p:sldId id="362" r:id="rId17"/>
    <p:sldId id="363" r:id="rId18"/>
    <p:sldId id="364" r:id="rId19"/>
    <p:sldId id="365" r:id="rId20"/>
    <p:sldId id="366" r:id="rId21"/>
    <p:sldId id="367" r:id="rId22"/>
    <p:sldId id="368" r:id="rId23"/>
    <p:sldId id="369" r:id="rId24"/>
    <p:sldId id="370" r:id="rId25"/>
    <p:sldId id="371" r:id="rId26"/>
    <p:sldId id="372" r:id="rId27"/>
    <p:sldId id="373" r:id="rId28"/>
    <p:sldId id="374" r:id="rId29"/>
    <p:sldId id="375" r:id="rId30"/>
    <p:sldId id="376" r:id="rId31"/>
    <p:sldId id="377" r:id="rId32"/>
    <p:sldId id="378" r:id="rId33"/>
    <p:sldId id="379" r:id="rId34"/>
    <p:sldId id="380" r:id="rId35"/>
    <p:sldId id="381" r:id="rId36"/>
    <p:sldId id="382" r:id="rId37"/>
    <p:sldId id="383" r:id="rId38"/>
    <p:sldId id="384" r:id="rId39"/>
    <p:sldId id="385" r:id="rId40"/>
    <p:sldId id="386" r:id="rId41"/>
    <p:sldId id="387" r:id="rId42"/>
    <p:sldId id="388" r:id="rId43"/>
    <p:sldId id="389" r:id="rId44"/>
    <p:sldId id="390" r:id="rId45"/>
    <p:sldId id="391" r:id="rId46"/>
    <p:sldId id="392" r:id="rId47"/>
    <p:sldId id="393" r:id="rId48"/>
    <p:sldId id="394" r:id="rId49"/>
    <p:sldId id="395" r:id="rId50"/>
    <p:sldId id="396" r:id="rId51"/>
    <p:sldId id="397" r:id="rId52"/>
    <p:sldId id="398" r:id="rId53"/>
    <p:sldId id="399" r:id="rId54"/>
    <p:sldId id="400" r:id="rId55"/>
    <p:sldId id="401" r:id="rId56"/>
    <p:sldId id="335" r:id="rId57"/>
    <p:sldId id="402" r:id="rId58"/>
    <p:sldId id="403" r:id="rId59"/>
    <p:sldId id="404" r:id="rId60"/>
    <p:sldId id="405" r:id="rId61"/>
    <p:sldId id="406" r:id="rId62"/>
    <p:sldId id="407" r:id="rId63"/>
    <p:sldId id="408" r:id="rId64"/>
    <p:sldId id="409" r:id="rId65"/>
    <p:sldId id="410" r:id="rId66"/>
    <p:sldId id="411" r:id="rId67"/>
    <p:sldId id="412" r:id="rId68"/>
    <p:sldId id="413" r:id="rId69"/>
    <p:sldId id="415" r:id="rId70"/>
    <p:sldId id="416" r:id="rId71"/>
    <p:sldId id="417" r:id="rId72"/>
    <p:sldId id="418" r:id="rId73"/>
    <p:sldId id="419" r:id="rId74"/>
    <p:sldId id="420" r:id="rId75"/>
    <p:sldId id="421" r:id="rId76"/>
    <p:sldId id="422" r:id="rId77"/>
    <p:sldId id="424" r:id="rId78"/>
    <p:sldId id="425" r:id="rId79"/>
    <p:sldId id="426" r:id="rId80"/>
    <p:sldId id="427" r:id="rId81"/>
    <p:sldId id="428" r:id="rId82"/>
    <p:sldId id="429" r:id="rId83"/>
    <p:sldId id="430" r:id="rId84"/>
    <p:sldId id="431" r:id="rId85"/>
    <p:sldId id="432" r:id="rId86"/>
    <p:sldId id="433" r:id="rId87"/>
    <p:sldId id="434" r:id="rId88"/>
    <p:sldId id="435" r:id="rId89"/>
    <p:sldId id="333" r:id="rId90"/>
    <p:sldId id="439" r:id="rId91"/>
    <p:sldId id="440" r:id="rId92"/>
    <p:sldId id="441" r:id="rId93"/>
    <p:sldId id="442" r:id="rId94"/>
    <p:sldId id="443" r:id="rId95"/>
    <p:sldId id="444" r:id="rId96"/>
    <p:sldId id="445" r:id="rId97"/>
    <p:sldId id="446" r:id="rId98"/>
    <p:sldId id="447" r:id="rId99"/>
    <p:sldId id="448" r:id="rId100"/>
    <p:sldId id="449" r:id="rId101"/>
    <p:sldId id="450" r:id="rId102"/>
    <p:sldId id="451" r:id="rId103"/>
    <p:sldId id="452" r:id="rId104"/>
    <p:sldId id="453" r:id="rId105"/>
    <p:sldId id="454" r:id="rId106"/>
    <p:sldId id="455" r:id="rId107"/>
    <p:sldId id="456" r:id="rId108"/>
    <p:sldId id="460" r:id="rId109"/>
    <p:sldId id="461" r:id="rId110"/>
    <p:sldId id="462" r:id="rId111"/>
    <p:sldId id="463" r:id="rId112"/>
    <p:sldId id="464" r:id="rId113"/>
    <p:sldId id="465" r:id="rId114"/>
    <p:sldId id="466" r:id="rId115"/>
    <p:sldId id="468" r:id="rId116"/>
    <p:sldId id="469" r:id="rId117"/>
    <p:sldId id="459" r:id="rId118"/>
    <p:sldId id="470" r:id="rId119"/>
    <p:sldId id="485" r:id="rId120"/>
    <p:sldId id="486" r:id="rId121"/>
    <p:sldId id="487" r:id="rId122"/>
    <p:sldId id="488" r:id="rId123"/>
    <p:sldId id="489" r:id="rId124"/>
    <p:sldId id="490" r:id="rId125"/>
    <p:sldId id="491" r:id="rId126"/>
    <p:sldId id="492" r:id="rId127"/>
    <p:sldId id="493" r:id="rId128"/>
    <p:sldId id="494" r:id="rId129"/>
    <p:sldId id="495" r:id="rId130"/>
    <p:sldId id="496" r:id="rId131"/>
    <p:sldId id="497" r:id="rId132"/>
    <p:sldId id="498" r:id="rId133"/>
    <p:sldId id="499" r:id="rId134"/>
    <p:sldId id="500" r:id="rId135"/>
    <p:sldId id="501" r:id="rId136"/>
    <p:sldId id="502" r:id="rId137"/>
    <p:sldId id="503" r:id="rId138"/>
    <p:sldId id="504" r:id="rId139"/>
    <p:sldId id="505" r:id="rId140"/>
    <p:sldId id="506" r:id="rId141"/>
    <p:sldId id="507" r:id="rId142"/>
    <p:sldId id="508" r:id="rId143"/>
    <p:sldId id="509" r:id="rId144"/>
    <p:sldId id="510" r:id="rId145"/>
    <p:sldId id="511" r:id="rId146"/>
    <p:sldId id="512" r:id="rId147"/>
    <p:sldId id="513" r:id="rId148"/>
    <p:sldId id="514" r:id="rId149"/>
    <p:sldId id="515" r:id="rId150"/>
    <p:sldId id="516" r:id="rId151"/>
    <p:sldId id="517" r:id="rId152"/>
    <p:sldId id="518" r:id="rId153"/>
    <p:sldId id="519" r:id="rId154"/>
    <p:sldId id="520" r:id="rId155"/>
    <p:sldId id="521" r:id="rId156"/>
    <p:sldId id="522" r:id="rId157"/>
    <p:sldId id="523" r:id="rId158"/>
    <p:sldId id="524" r:id="rId159"/>
    <p:sldId id="525" r:id="rId160"/>
    <p:sldId id="526" r:id="rId161"/>
    <p:sldId id="527" r:id="rId162"/>
    <p:sldId id="528" r:id="rId163"/>
    <p:sldId id="529" r:id="rId164"/>
    <p:sldId id="530" r:id="rId165"/>
    <p:sldId id="531" r:id="rId166"/>
    <p:sldId id="532" r:id="rId167"/>
    <p:sldId id="533" r:id="rId168"/>
    <p:sldId id="534" r:id="rId169"/>
    <p:sldId id="535" r:id="rId170"/>
    <p:sldId id="536" r:id="rId171"/>
    <p:sldId id="537" r:id="rId172"/>
    <p:sldId id="538" r:id="rId173"/>
    <p:sldId id="539" r:id="rId174"/>
    <p:sldId id="540" r:id="rId175"/>
    <p:sldId id="541" r:id="rId176"/>
    <p:sldId id="542" r:id="rId177"/>
    <p:sldId id="543" r:id="rId178"/>
    <p:sldId id="544" r:id="rId179"/>
    <p:sldId id="545" r:id="rId180"/>
    <p:sldId id="546" r:id="rId181"/>
    <p:sldId id="547" r:id="rId182"/>
    <p:sldId id="548" r:id="rId183"/>
    <p:sldId id="549" r:id="rId184"/>
    <p:sldId id="550" r:id="rId185"/>
    <p:sldId id="551" r:id="rId186"/>
    <p:sldId id="552" r:id="rId187"/>
    <p:sldId id="553" r:id="rId188"/>
    <p:sldId id="554" r:id="rId189"/>
    <p:sldId id="555" r:id="rId190"/>
    <p:sldId id="556" r:id="rId191"/>
    <p:sldId id="557" r:id="rId192"/>
    <p:sldId id="558" r:id="rId193"/>
    <p:sldId id="559" r:id="rId194"/>
    <p:sldId id="569" r:id="rId195"/>
    <p:sldId id="570" r:id="rId196"/>
    <p:sldId id="484" r:id="rId197"/>
    <p:sldId id="571" r:id="rId198"/>
    <p:sldId id="572" r:id="rId199"/>
    <p:sldId id="573" r:id="rId200"/>
    <p:sldId id="574" r:id="rId201"/>
    <p:sldId id="575" r:id="rId202"/>
    <p:sldId id="576" r:id="rId203"/>
    <p:sldId id="577" r:id="rId204"/>
    <p:sldId id="578" r:id="rId205"/>
    <p:sldId id="579" r:id="rId206"/>
    <p:sldId id="580" r:id="rId207"/>
    <p:sldId id="581" r:id="rId208"/>
    <p:sldId id="582" r:id="rId209"/>
    <p:sldId id="583" r:id="rId210"/>
    <p:sldId id="584" r:id="rId211"/>
    <p:sldId id="585" r:id="rId212"/>
    <p:sldId id="482" r:id="rId213"/>
    <p:sldId id="481" r:id="rId214"/>
    <p:sldId id="587" r:id="rId215"/>
    <p:sldId id="588" r:id="rId216"/>
    <p:sldId id="589" r:id="rId217"/>
    <p:sldId id="590" r:id="rId218"/>
    <p:sldId id="591" r:id="rId219"/>
    <p:sldId id="592" r:id="rId220"/>
    <p:sldId id="593" r:id="rId221"/>
    <p:sldId id="594" r:id="rId222"/>
    <p:sldId id="595" r:id="rId223"/>
    <p:sldId id="596" r:id="rId224"/>
    <p:sldId id="597" r:id="rId225"/>
    <p:sldId id="598" r:id="rId226"/>
    <p:sldId id="599" r:id="rId227"/>
    <p:sldId id="600" r:id="rId228"/>
    <p:sldId id="586" r:id="rId229"/>
    <p:sldId id="601" r:id="rId230"/>
    <p:sldId id="602" r:id="rId231"/>
    <p:sldId id="603" r:id="rId232"/>
    <p:sldId id="604" r:id="rId233"/>
    <p:sldId id="605" r:id="rId234"/>
    <p:sldId id="606" r:id="rId235"/>
    <p:sldId id="607" r:id="rId236"/>
    <p:sldId id="608" r:id="rId237"/>
    <p:sldId id="609" r:id="rId238"/>
    <p:sldId id="610" r:id="rId239"/>
    <p:sldId id="611" r:id="rId240"/>
    <p:sldId id="612" r:id="rId241"/>
    <p:sldId id="613" r:id="rId242"/>
    <p:sldId id="614" r:id="rId243"/>
    <p:sldId id="615" r:id="rId244"/>
    <p:sldId id="616" r:id="rId245"/>
    <p:sldId id="617" r:id="rId246"/>
    <p:sldId id="618" r:id="rId247"/>
    <p:sldId id="619" r:id="rId248"/>
    <p:sldId id="620" r:id="rId249"/>
    <p:sldId id="621" r:id="rId250"/>
    <p:sldId id="622" r:id="rId251"/>
    <p:sldId id="623" r:id="rId252"/>
    <p:sldId id="624" r:id="rId253"/>
    <p:sldId id="625" r:id="rId254"/>
    <p:sldId id="626" r:id="rId255"/>
    <p:sldId id="627" r:id="rId256"/>
    <p:sldId id="628" r:id="rId257"/>
    <p:sldId id="629" r:id="rId258"/>
    <p:sldId id="630" r:id="rId259"/>
    <p:sldId id="631" r:id="rId260"/>
    <p:sldId id="632" r:id="rId261"/>
    <p:sldId id="633" r:id="rId262"/>
    <p:sldId id="634" r:id="rId263"/>
    <p:sldId id="635" r:id="rId264"/>
    <p:sldId id="636" r:id="rId265"/>
    <p:sldId id="637" r:id="rId266"/>
    <p:sldId id="338" r:id="rId267"/>
    <p:sldId id="339" r:id="rId268"/>
  </p:sldIdLst>
  <p:sldSz cx="12192000" cy="6858000"/>
  <p:notesSz cx="6808788" cy="9940925"/>
  <p:embeddedFontLst>
    <p:embeddedFont>
      <p:font typeface="Arial Black" panose="020B0A04020102020204" pitchFamily="34" charset="0"/>
      <p:bold r:id="rId271"/>
    </p:embeddedFont>
    <p:embeddedFont>
      <p:font typeface="Helvetica" panose="020B0604020202020204" pitchFamily="34" charset="0"/>
      <p:regular r:id="rId272"/>
      <p:bold r:id="rId273"/>
      <p:italic r:id="rId274"/>
      <p:boldItalic r:id="rId275"/>
    </p:embeddedFont>
    <p:embeddedFont>
      <p:font typeface="Lucida Sans Unicode" panose="020B0602030504020204" pitchFamily="34" charset="0"/>
      <p:regular r:id="rId276"/>
    </p:embeddedFont>
    <p:embeddedFont>
      <p:font typeface="Monotype Corsiva" panose="03010101010201010101" pitchFamily="66" charset="0"/>
      <p:italic r:id="rId277"/>
    </p:embeddedFont>
    <p:embeddedFont>
      <p:font typeface="MS PGothic" panose="020B0600070205080204" pitchFamily="34" charset="-128"/>
      <p:regular r:id="rId278"/>
    </p:embeddedFont>
    <p:embeddedFont>
      <p:font typeface="Roboto" panose="02000000000000000000" pitchFamily="2" charset="0"/>
      <p:regular r:id="rId279"/>
      <p:bold r:id="rId280"/>
      <p:italic r:id="rId281"/>
      <p:boldItalic r:id="rId282"/>
    </p:embeddedFont>
    <p:embeddedFont>
      <p:font typeface="Roboto Black" panose="02000000000000000000" pitchFamily="2" charset="0"/>
      <p:bold r:id="rId283"/>
      <p:italic r:id="rId284"/>
      <p:boldItalic r:id="rId285"/>
    </p:embeddedFont>
    <p:embeddedFont>
      <p:font typeface="Tahoma" panose="020B0604030504040204" pitchFamily="34" charset="0"/>
      <p:regular r:id="rId286"/>
      <p:bold r:id="rId287"/>
    </p:embeddedFont>
    <p:embeddedFont>
      <p:font typeface="Trebuchet MS" panose="020B0603020202020204" pitchFamily="34" charset="0"/>
      <p:regular r:id="rId288"/>
      <p:bold r:id="rId289"/>
      <p:italic r:id="rId290"/>
      <p:boldItalic r:id="rId291"/>
    </p:embeddedFont>
    <p:embeddedFont>
      <p:font typeface="Verdana" panose="020B0604030504040204" pitchFamily="34" charset="0"/>
      <p:regular r:id="rId292"/>
      <p:bold r:id="rId293"/>
      <p:italic r:id="rId294"/>
      <p:boldItalic r:id="rId295"/>
    </p:embeddedFont>
  </p:embeddedFontLst>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tricia Bernardo de Almeida" initials="PBdA" lastIdx="4" clrIdx="0">
    <p:extLst>
      <p:ext uri="{19B8F6BF-5375-455C-9EA6-DF929625EA0E}">
        <p15:presenceInfo xmlns:p15="http://schemas.microsoft.com/office/powerpoint/2012/main" userId="S-1-5-21-106135388-1760507933-219632125-623922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1462"/>
    <a:srgbClr val="5FE1FF"/>
    <a:srgbClr val="FF9851"/>
    <a:srgbClr val="94E269"/>
    <a:srgbClr val="00B6ED"/>
    <a:srgbClr val="FF9900"/>
    <a:srgbClr val="000000"/>
    <a:srgbClr val="04305C"/>
    <a:srgbClr val="023770"/>
    <a:srgbClr val="00B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49AA344-452F-173E-2981-92530A6C3AA6}" v="1" dt="2026-01-27T13:22:56.4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14" autoAdjust="0"/>
    <p:restoredTop sz="96190" autoAdjust="0"/>
  </p:normalViewPr>
  <p:slideViewPr>
    <p:cSldViewPr snapToGrid="0">
      <p:cViewPr varScale="1">
        <p:scale>
          <a:sx n="116" d="100"/>
          <a:sy n="116" d="100"/>
        </p:scale>
        <p:origin x="234" y="96"/>
      </p:cViewPr>
      <p:guideLst/>
    </p:cSldViewPr>
  </p:slideViewPr>
  <p:notesTextViewPr>
    <p:cViewPr>
      <p:scale>
        <a:sx n="3" d="2"/>
        <a:sy n="3" d="2"/>
      </p:scale>
      <p:origin x="0" y="0"/>
    </p:cViewPr>
  </p:notesTextViewPr>
  <p:notesViewPr>
    <p:cSldViewPr snapToGrid="0">
      <p:cViewPr varScale="1">
        <p:scale>
          <a:sx n="129" d="100"/>
          <a:sy n="129" d="100"/>
        </p:scale>
        <p:origin x="7096" y="224"/>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99" Type="http://schemas.openxmlformats.org/officeDocument/2006/relationships/theme" Target="theme/theme1.xml"/><Relationship Id="rId21" Type="http://schemas.openxmlformats.org/officeDocument/2006/relationships/slide" Target="slides/slide17.xml"/><Relationship Id="rId63" Type="http://schemas.openxmlformats.org/officeDocument/2006/relationships/slide" Target="slides/slide59.xml"/><Relationship Id="rId159" Type="http://schemas.openxmlformats.org/officeDocument/2006/relationships/slide" Target="slides/slide155.xml"/><Relationship Id="rId170" Type="http://schemas.openxmlformats.org/officeDocument/2006/relationships/slide" Target="slides/slide166.xml"/><Relationship Id="rId226" Type="http://schemas.openxmlformats.org/officeDocument/2006/relationships/slide" Target="slides/slide222.xml"/><Relationship Id="rId268" Type="http://schemas.openxmlformats.org/officeDocument/2006/relationships/slide" Target="slides/slide264.xml"/><Relationship Id="rId32" Type="http://schemas.openxmlformats.org/officeDocument/2006/relationships/slide" Target="slides/slide28.xml"/><Relationship Id="rId74" Type="http://schemas.openxmlformats.org/officeDocument/2006/relationships/slide" Target="slides/slide70.xml"/><Relationship Id="rId128" Type="http://schemas.openxmlformats.org/officeDocument/2006/relationships/slide" Target="slides/slide124.xml"/><Relationship Id="rId5" Type="http://schemas.openxmlformats.org/officeDocument/2006/relationships/slide" Target="slides/slide1.xml"/><Relationship Id="rId181" Type="http://schemas.openxmlformats.org/officeDocument/2006/relationships/slide" Target="slides/slide177.xml"/><Relationship Id="rId237" Type="http://schemas.openxmlformats.org/officeDocument/2006/relationships/slide" Target="slides/slide233.xml"/><Relationship Id="rId279" Type="http://schemas.openxmlformats.org/officeDocument/2006/relationships/font" Target="fonts/font9.fntdata"/><Relationship Id="rId43" Type="http://schemas.openxmlformats.org/officeDocument/2006/relationships/slide" Target="slides/slide39.xml"/><Relationship Id="rId139" Type="http://schemas.openxmlformats.org/officeDocument/2006/relationships/slide" Target="slides/slide135.xml"/><Relationship Id="rId290" Type="http://schemas.openxmlformats.org/officeDocument/2006/relationships/font" Target="fonts/font20.fntdata"/><Relationship Id="rId85" Type="http://schemas.openxmlformats.org/officeDocument/2006/relationships/slide" Target="slides/slide81.xml"/><Relationship Id="rId150" Type="http://schemas.openxmlformats.org/officeDocument/2006/relationships/slide" Target="slides/slide146.xml"/><Relationship Id="rId192" Type="http://schemas.openxmlformats.org/officeDocument/2006/relationships/slide" Target="slides/slide188.xml"/><Relationship Id="rId206" Type="http://schemas.openxmlformats.org/officeDocument/2006/relationships/slide" Target="slides/slide202.xml"/><Relationship Id="rId248" Type="http://schemas.openxmlformats.org/officeDocument/2006/relationships/slide" Target="slides/slide244.xml"/><Relationship Id="rId12" Type="http://schemas.openxmlformats.org/officeDocument/2006/relationships/slide" Target="slides/slide8.xml"/><Relationship Id="rId108" Type="http://schemas.openxmlformats.org/officeDocument/2006/relationships/slide" Target="slides/slide104.xml"/><Relationship Id="rId54" Type="http://schemas.openxmlformats.org/officeDocument/2006/relationships/slide" Target="slides/slide50.xml"/><Relationship Id="rId96" Type="http://schemas.openxmlformats.org/officeDocument/2006/relationships/slide" Target="slides/slide92.xml"/><Relationship Id="rId161" Type="http://schemas.openxmlformats.org/officeDocument/2006/relationships/slide" Target="slides/slide157.xml"/><Relationship Id="rId217" Type="http://schemas.openxmlformats.org/officeDocument/2006/relationships/slide" Target="slides/slide213.xml"/><Relationship Id="rId6" Type="http://schemas.openxmlformats.org/officeDocument/2006/relationships/slide" Target="slides/slide2.xml"/><Relationship Id="rId238" Type="http://schemas.openxmlformats.org/officeDocument/2006/relationships/slide" Target="slides/slide234.xml"/><Relationship Id="rId259" Type="http://schemas.openxmlformats.org/officeDocument/2006/relationships/slide" Target="slides/slide255.xml"/><Relationship Id="rId23" Type="http://schemas.openxmlformats.org/officeDocument/2006/relationships/slide" Target="slides/slide19.xml"/><Relationship Id="rId119" Type="http://schemas.openxmlformats.org/officeDocument/2006/relationships/slide" Target="slides/slide115.xml"/><Relationship Id="rId270" Type="http://schemas.openxmlformats.org/officeDocument/2006/relationships/handoutMaster" Target="handoutMasters/handoutMaster1.xml"/><Relationship Id="rId291" Type="http://schemas.openxmlformats.org/officeDocument/2006/relationships/font" Target="fonts/font21.fntdata"/><Relationship Id="rId44" Type="http://schemas.openxmlformats.org/officeDocument/2006/relationships/slide" Target="slides/slide40.xml"/><Relationship Id="rId65" Type="http://schemas.openxmlformats.org/officeDocument/2006/relationships/slide" Target="slides/slide61.xml"/><Relationship Id="rId86" Type="http://schemas.openxmlformats.org/officeDocument/2006/relationships/slide" Target="slides/slide82.xml"/><Relationship Id="rId130" Type="http://schemas.openxmlformats.org/officeDocument/2006/relationships/slide" Target="slides/slide126.xml"/><Relationship Id="rId151" Type="http://schemas.openxmlformats.org/officeDocument/2006/relationships/slide" Target="slides/slide147.xml"/><Relationship Id="rId172" Type="http://schemas.openxmlformats.org/officeDocument/2006/relationships/slide" Target="slides/slide168.xml"/><Relationship Id="rId193" Type="http://schemas.openxmlformats.org/officeDocument/2006/relationships/slide" Target="slides/slide189.xml"/><Relationship Id="rId207" Type="http://schemas.openxmlformats.org/officeDocument/2006/relationships/slide" Target="slides/slide203.xml"/><Relationship Id="rId228" Type="http://schemas.openxmlformats.org/officeDocument/2006/relationships/slide" Target="slides/slide224.xml"/><Relationship Id="rId249" Type="http://schemas.openxmlformats.org/officeDocument/2006/relationships/slide" Target="slides/slide245.xml"/><Relationship Id="rId13" Type="http://schemas.openxmlformats.org/officeDocument/2006/relationships/slide" Target="slides/slide9.xml"/><Relationship Id="rId109" Type="http://schemas.openxmlformats.org/officeDocument/2006/relationships/slide" Target="slides/slide105.xml"/><Relationship Id="rId260" Type="http://schemas.openxmlformats.org/officeDocument/2006/relationships/slide" Target="slides/slide256.xml"/><Relationship Id="rId281" Type="http://schemas.openxmlformats.org/officeDocument/2006/relationships/font" Target="fonts/font11.fntdata"/><Relationship Id="rId34" Type="http://schemas.openxmlformats.org/officeDocument/2006/relationships/slide" Target="slides/slide30.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20" Type="http://schemas.openxmlformats.org/officeDocument/2006/relationships/slide" Target="slides/slide116.xml"/><Relationship Id="rId141" Type="http://schemas.openxmlformats.org/officeDocument/2006/relationships/slide" Target="slides/slide137.xml"/><Relationship Id="rId7" Type="http://schemas.openxmlformats.org/officeDocument/2006/relationships/slide" Target="slides/slide3.xml"/><Relationship Id="rId162" Type="http://schemas.openxmlformats.org/officeDocument/2006/relationships/slide" Target="slides/slide158.xml"/><Relationship Id="rId183" Type="http://schemas.openxmlformats.org/officeDocument/2006/relationships/slide" Target="slides/slide179.xml"/><Relationship Id="rId218" Type="http://schemas.openxmlformats.org/officeDocument/2006/relationships/slide" Target="slides/slide214.xml"/><Relationship Id="rId239" Type="http://schemas.openxmlformats.org/officeDocument/2006/relationships/slide" Target="slides/slide235.xml"/><Relationship Id="rId250" Type="http://schemas.openxmlformats.org/officeDocument/2006/relationships/slide" Target="slides/slide246.xml"/><Relationship Id="rId271" Type="http://schemas.openxmlformats.org/officeDocument/2006/relationships/font" Target="fonts/font1.fntdata"/><Relationship Id="rId292" Type="http://schemas.openxmlformats.org/officeDocument/2006/relationships/font" Target="fonts/font22.fntdata"/><Relationship Id="rId24" Type="http://schemas.openxmlformats.org/officeDocument/2006/relationships/slide" Target="slides/slide20.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31" Type="http://schemas.openxmlformats.org/officeDocument/2006/relationships/slide" Target="slides/slide127.xml"/><Relationship Id="rId152" Type="http://schemas.openxmlformats.org/officeDocument/2006/relationships/slide" Target="slides/slide148.xml"/><Relationship Id="rId173" Type="http://schemas.openxmlformats.org/officeDocument/2006/relationships/slide" Target="slides/slide169.xml"/><Relationship Id="rId194" Type="http://schemas.openxmlformats.org/officeDocument/2006/relationships/slide" Target="slides/slide190.xml"/><Relationship Id="rId208" Type="http://schemas.openxmlformats.org/officeDocument/2006/relationships/slide" Target="slides/slide204.xml"/><Relationship Id="rId229" Type="http://schemas.openxmlformats.org/officeDocument/2006/relationships/slide" Target="slides/slide225.xml"/><Relationship Id="rId240" Type="http://schemas.openxmlformats.org/officeDocument/2006/relationships/slide" Target="slides/slide236.xml"/><Relationship Id="rId261" Type="http://schemas.openxmlformats.org/officeDocument/2006/relationships/slide" Target="slides/slide257.xml"/><Relationship Id="rId14" Type="http://schemas.openxmlformats.org/officeDocument/2006/relationships/slide" Target="slides/slide10.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282" Type="http://schemas.openxmlformats.org/officeDocument/2006/relationships/font" Target="fonts/font12.fntdata"/><Relationship Id="rId8" Type="http://schemas.openxmlformats.org/officeDocument/2006/relationships/slide" Target="slides/slide4.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slide" Target="slides/slide138.xml"/><Relationship Id="rId163" Type="http://schemas.openxmlformats.org/officeDocument/2006/relationships/slide" Target="slides/slide159.xml"/><Relationship Id="rId184" Type="http://schemas.openxmlformats.org/officeDocument/2006/relationships/slide" Target="slides/slide180.xml"/><Relationship Id="rId219" Type="http://schemas.openxmlformats.org/officeDocument/2006/relationships/slide" Target="slides/slide215.xml"/><Relationship Id="rId230" Type="http://schemas.openxmlformats.org/officeDocument/2006/relationships/slide" Target="slides/slide226.xml"/><Relationship Id="rId251" Type="http://schemas.openxmlformats.org/officeDocument/2006/relationships/slide" Target="slides/slide247.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272" Type="http://schemas.openxmlformats.org/officeDocument/2006/relationships/font" Target="fonts/font2.fntdata"/><Relationship Id="rId293" Type="http://schemas.openxmlformats.org/officeDocument/2006/relationships/font" Target="fonts/font23.fntdata"/><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3" Type="http://schemas.openxmlformats.org/officeDocument/2006/relationships/slide" Target="slides/slide149.xml"/><Relationship Id="rId174" Type="http://schemas.openxmlformats.org/officeDocument/2006/relationships/slide" Target="slides/slide170.xml"/><Relationship Id="rId195" Type="http://schemas.openxmlformats.org/officeDocument/2006/relationships/slide" Target="slides/slide191.xml"/><Relationship Id="rId209" Type="http://schemas.openxmlformats.org/officeDocument/2006/relationships/slide" Target="slides/slide205.xml"/><Relationship Id="rId220" Type="http://schemas.openxmlformats.org/officeDocument/2006/relationships/slide" Target="slides/slide216.xml"/><Relationship Id="rId241" Type="http://schemas.openxmlformats.org/officeDocument/2006/relationships/slide" Target="slides/slide237.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262" Type="http://schemas.openxmlformats.org/officeDocument/2006/relationships/slide" Target="slides/slide258.xml"/><Relationship Id="rId283" Type="http://schemas.openxmlformats.org/officeDocument/2006/relationships/font" Target="fonts/font13.fntdata"/><Relationship Id="rId78" Type="http://schemas.openxmlformats.org/officeDocument/2006/relationships/slide" Target="slides/slide74.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slide" Target="slides/slide139.xml"/><Relationship Id="rId164" Type="http://schemas.openxmlformats.org/officeDocument/2006/relationships/slide" Target="slides/slide160.xml"/><Relationship Id="rId185" Type="http://schemas.openxmlformats.org/officeDocument/2006/relationships/slide" Target="slides/slide181.xml"/><Relationship Id="rId9" Type="http://schemas.openxmlformats.org/officeDocument/2006/relationships/slide" Target="slides/slide5.xml"/><Relationship Id="rId210" Type="http://schemas.openxmlformats.org/officeDocument/2006/relationships/slide" Target="slides/slide206.xml"/><Relationship Id="rId26" Type="http://schemas.openxmlformats.org/officeDocument/2006/relationships/slide" Target="slides/slide22.xml"/><Relationship Id="rId231" Type="http://schemas.openxmlformats.org/officeDocument/2006/relationships/slide" Target="slides/slide227.xml"/><Relationship Id="rId252" Type="http://schemas.openxmlformats.org/officeDocument/2006/relationships/slide" Target="slides/slide248.xml"/><Relationship Id="rId273" Type="http://schemas.openxmlformats.org/officeDocument/2006/relationships/font" Target="fonts/font3.fntdata"/><Relationship Id="rId294" Type="http://schemas.openxmlformats.org/officeDocument/2006/relationships/font" Target="fonts/font24.fntdata"/><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54" Type="http://schemas.openxmlformats.org/officeDocument/2006/relationships/slide" Target="slides/slide150.xml"/><Relationship Id="rId175" Type="http://schemas.openxmlformats.org/officeDocument/2006/relationships/slide" Target="slides/slide171.xml"/><Relationship Id="rId196" Type="http://schemas.openxmlformats.org/officeDocument/2006/relationships/slide" Target="slides/slide192.xml"/><Relationship Id="rId200" Type="http://schemas.openxmlformats.org/officeDocument/2006/relationships/slide" Target="slides/slide196.xml"/><Relationship Id="rId16" Type="http://schemas.openxmlformats.org/officeDocument/2006/relationships/slide" Target="slides/slide12.xml"/><Relationship Id="rId221" Type="http://schemas.openxmlformats.org/officeDocument/2006/relationships/slide" Target="slides/slide217.xml"/><Relationship Id="rId242" Type="http://schemas.openxmlformats.org/officeDocument/2006/relationships/slide" Target="slides/slide238.xml"/><Relationship Id="rId263" Type="http://schemas.openxmlformats.org/officeDocument/2006/relationships/slide" Target="slides/slide259.xml"/><Relationship Id="rId284" Type="http://schemas.openxmlformats.org/officeDocument/2006/relationships/font" Target="fonts/font14.fntdata"/><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slide" Target="slides/slide140.xml"/><Relationship Id="rId90" Type="http://schemas.openxmlformats.org/officeDocument/2006/relationships/slide" Target="slides/slide86.xml"/><Relationship Id="rId165" Type="http://schemas.openxmlformats.org/officeDocument/2006/relationships/slide" Target="slides/slide161.xml"/><Relationship Id="rId186" Type="http://schemas.openxmlformats.org/officeDocument/2006/relationships/slide" Target="slides/slide182.xml"/><Relationship Id="rId211" Type="http://schemas.openxmlformats.org/officeDocument/2006/relationships/slide" Target="slides/slide207.xml"/><Relationship Id="rId232" Type="http://schemas.openxmlformats.org/officeDocument/2006/relationships/slide" Target="slides/slide228.xml"/><Relationship Id="rId253" Type="http://schemas.openxmlformats.org/officeDocument/2006/relationships/slide" Target="slides/slide249.xml"/><Relationship Id="rId274" Type="http://schemas.openxmlformats.org/officeDocument/2006/relationships/font" Target="fonts/font4.fntdata"/><Relationship Id="rId295" Type="http://schemas.openxmlformats.org/officeDocument/2006/relationships/font" Target="fonts/font25.fntdata"/><Relationship Id="rId27" Type="http://schemas.openxmlformats.org/officeDocument/2006/relationships/slide" Target="slides/slide23.xml"/><Relationship Id="rId48" Type="http://schemas.openxmlformats.org/officeDocument/2006/relationships/slide" Target="slides/slide44.xml"/><Relationship Id="rId69" Type="http://schemas.openxmlformats.org/officeDocument/2006/relationships/slide" Target="slides/slide65.xml"/><Relationship Id="rId113" Type="http://schemas.openxmlformats.org/officeDocument/2006/relationships/slide" Target="slides/slide109.xml"/><Relationship Id="rId134" Type="http://schemas.openxmlformats.org/officeDocument/2006/relationships/slide" Target="slides/slide130.xml"/><Relationship Id="rId80" Type="http://schemas.openxmlformats.org/officeDocument/2006/relationships/slide" Target="slides/slide76.xml"/><Relationship Id="rId155" Type="http://schemas.openxmlformats.org/officeDocument/2006/relationships/slide" Target="slides/slide151.xml"/><Relationship Id="rId176" Type="http://schemas.openxmlformats.org/officeDocument/2006/relationships/slide" Target="slides/slide172.xml"/><Relationship Id="rId197" Type="http://schemas.openxmlformats.org/officeDocument/2006/relationships/slide" Target="slides/slide193.xml"/><Relationship Id="rId201" Type="http://schemas.openxmlformats.org/officeDocument/2006/relationships/slide" Target="slides/slide197.xml"/><Relationship Id="rId222" Type="http://schemas.openxmlformats.org/officeDocument/2006/relationships/slide" Target="slides/slide218.xml"/><Relationship Id="rId243" Type="http://schemas.openxmlformats.org/officeDocument/2006/relationships/slide" Target="slides/slide239.xml"/><Relationship Id="rId264" Type="http://schemas.openxmlformats.org/officeDocument/2006/relationships/slide" Target="slides/slide260.xml"/><Relationship Id="rId285" Type="http://schemas.openxmlformats.org/officeDocument/2006/relationships/font" Target="fonts/font15.fntdata"/><Relationship Id="rId17" Type="http://schemas.openxmlformats.org/officeDocument/2006/relationships/slide" Target="slides/slide13.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24" Type="http://schemas.openxmlformats.org/officeDocument/2006/relationships/slide" Target="slides/slide120.xml"/><Relationship Id="rId70" Type="http://schemas.openxmlformats.org/officeDocument/2006/relationships/slide" Target="slides/slide66.xml"/><Relationship Id="rId91" Type="http://schemas.openxmlformats.org/officeDocument/2006/relationships/slide" Target="slides/slide87.xml"/><Relationship Id="rId145" Type="http://schemas.openxmlformats.org/officeDocument/2006/relationships/slide" Target="slides/slide141.xml"/><Relationship Id="rId166" Type="http://schemas.openxmlformats.org/officeDocument/2006/relationships/slide" Target="slides/slide162.xml"/><Relationship Id="rId187" Type="http://schemas.openxmlformats.org/officeDocument/2006/relationships/slide" Target="slides/slide183.xml"/><Relationship Id="rId1" Type="http://schemas.openxmlformats.org/officeDocument/2006/relationships/customXml" Target="../customXml/item1.xml"/><Relationship Id="rId212" Type="http://schemas.openxmlformats.org/officeDocument/2006/relationships/slide" Target="slides/slide208.xml"/><Relationship Id="rId233" Type="http://schemas.openxmlformats.org/officeDocument/2006/relationships/slide" Target="slides/slide229.xml"/><Relationship Id="rId254" Type="http://schemas.openxmlformats.org/officeDocument/2006/relationships/slide" Target="slides/slide250.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275" Type="http://schemas.openxmlformats.org/officeDocument/2006/relationships/font" Target="fonts/font5.fntdata"/><Relationship Id="rId296" Type="http://schemas.openxmlformats.org/officeDocument/2006/relationships/commentAuthors" Target="commentAuthors.xml"/><Relationship Id="rId300" Type="http://schemas.openxmlformats.org/officeDocument/2006/relationships/tableStyles" Target="tableStyles.xml"/><Relationship Id="rId60" Type="http://schemas.openxmlformats.org/officeDocument/2006/relationships/slide" Target="slides/slide56.xml"/><Relationship Id="rId81" Type="http://schemas.openxmlformats.org/officeDocument/2006/relationships/slide" Target="slides/slide77.xml"/><Relationship Id="rId135" Type="http://schemas.openxmlformats.org/officeDocument/2006/relationships/slide" Target="slides/slide131.xml"/><Relationship Id="rId156" Type="http://schemas.openxmlformats.org/officeDocument/2006/relationships/slide" Target="slides/slide152.xml"/><Relationship Id="rId177" Type="http://schemas.openxmlformats.org/officeDocument/2006/relationships/slide" Target="slides/slide173.xml"/><Relationship Id="rId198" Type="http://schemas.openxmlformats.org/officeDocument/2006/relationships/slide" Target="slides/slide194.xml"/><Relationship Id="rId202" Type="http://schemas.openxmlformats.org/officeDocument/2006/relationships/slide" Target="slides/slide198.xml"/><Relationship Id="rId223" Type="http://schemas.openxmlformats.org/officeDocument/2006/relationships/slide" Target="slides/slide219.xml"/><Relationship Id="rId244" Type="http://schemas.openxmlformats.org/officeDocument/2006/relationships/slide" Target="slides/slide240.xml"/><Relationship Id="rId18" Type="http://schemas.openxmlformats.org/officeDocument/2006/relationships/slide" Target="slides/slide14.xml"/><Relationship Id="rId39" Type="http://schemas.openxmlformats.org/officeDocument/2006/relationships/slide" Target="slides/slide35.xml"/><Relationship Id="rId265" Type="http://schemas.openxmlformats.org/officeDocument/2006/relationships/slide" Target="slides/slide261.xml"/><Relationship Id="rId286" Type="http://schemas.openxmlformats.org/officeDocument/2006/relationships/font" Target="fonts/font16.fntdata"/><Relationship Id="rId50" Type="http://schemas.openxmlformats.org/officeDocument/2006/relationships/slide" Target="slides/slide46.xml"/><Relationship Id="rId104" Type="http://schemas.openxmlformats.org/officeDocument/2006/relationships/slide" Target="slides/slide100.xml"/><Relationship Id="rId125" Type="http://schemas.openxmlformats.org/officeDocument/2006/relationships/slide" Target="slides/slide121.xml"/><Relationship Id="rId146" Type="http://schemas.openxmlformats.org/officeDocument/2006/relationships/slide" Target="slides/slide142.xml"/><Relationship Id="rId167" Type="http://schemas.openxmlformats.org/officeDocument/2006/relationships/slide" Target="slides/slide163.xml"/><Relationship Id="rId188" Type="http://schemas.openxmlformats.org/officeDocument/2006/relationships/slide" Target="slides/slide184.xml"/><Relationship Id="rId71" Type="http://schemas.openxmlformats.org/officeDocument/2006/relationships/slide" Target="slides/slide67.xml"/><Relationship Id="rId92" Type="http://schemas.openxmlformats.org/officeDocument/2006/relationships/slide" Target="slides/slide88.xml"/><Relationship Id="rId213" Type="http://schemas.openxmlformats.org/officeDocument/2006/relationships/slide" Target="slides/slide209.xml"/><Relationship Id="rId234" Type="http://schemas.openxmlformats.org/officeDocument/2006/relationships/slide" Target="slides/slide230.xml"/><Relationship Id="rId2" Type="http://schemas.openxmlformats.org/officeDocument/2006/relationships/customXml" Target="../customXml/item2.xml"/><Relationship Id="rId29" Type="http://schemas.openxmlformats.org/officeDocument/2006/relationships/slide" Target="slides/slide25.xml"/><Relationship Id="rId255" Type="http://schemas.openxmlformats.org/officeDocument/2006/relationships/slide" Target="slides/slide251.xml"/><Relationship Id="rId276" Type="http://schemas.openxmlformats.org/officeDocument/2006/relationships/font" Target="fonts/font6.fntdata"/><Relationship Id="rId297" Type="http://schemas.openxmlformats.org/officeDocument/2006/relationships/presProps" Target="presProps.xml"/><Relationship Id="rId40" Type="http://schemas.openxmlformats.org/officeDocument/2006/relationships/slide" Target="slides/slide36.xml"/><Relationship Id="rId115" Type="http://schemas.openxmlformats.org/officeDocument/2006/relationships/slide" Target="slides/slide111.xml"/><Relationship Id="rId136" Type="http://schemas.openxmlformats.org/officeDocument/2006/relationships/slide" Target="slides/slide132.xml"/><Relationship Id="rId157" Type="http://schemas.openxmlformats.org/officeDocument/2006/relationships/slide" Target="slides/slide153.xml"/><Relationship Id="rId178" Type="http://schemas.openxmlformats.org/officeDocument/2006/relationships/slide" Target="slides/slide174.xml"/><Relationship Id="rId301" Type="http://schemas.microsoft.com/office/2015/10/relationships/revisionInfo" Target="revisionInfo.xml"/><Relationship Id="rId61" Type="http://schemas.openxmlformats.org/officeDocument/2006/relationships/slide" Target="slides/slide57.xml"/><Relationship Id="rId82" Type="http://schemas.openxmlformats.org/officeDocument/2006/relationships/slide" Target="slides/slide78.xml"/><Relationship Id="rId199" Type="http://schemas.openxmlformats.org/officeDocument/2006/relationships/slide" Target="slides/slide195.xml"/><Relationship Id="rId203" Type="http://schemas.openxmlformats.org/officeDocument/2006/relationships/slide" Target="slides/slide199.xml"/><Relationship Id="rId19" Type="http://schemas.openxmlformats.org/officeDocument/2006/relationships/slide" Target="slides/slide15.xml"/><Relationship Id="rId224" Type="http://schemas.openxmlformats.org/officeDocument/2006/relationships/slide" Target="slides/slide220.xml"/><Relationship Id="rId245" Type="http://schemas.openxmlformats.org/officeDocument/2006/relationships/slide" Target="slides/slide241.xml"/><Relationship Id="rId266" Type="http://schemas.openxmlformats.org/officeDocument/2006/relationships/slide" Target="slides/slide262.xml"/><Relationship Id="rId287" Type="http://schemas.openxmlformats.org/officeDocument/2006/relationships/font" Target="fonts/font17.fntdata"/><Relationship Id="rId30" Type="http://schemas.openxmlformats.org/officeDocument/2006/relationships/slide" Target="slides/slide2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slide" Target="slides/slide143.xml"/><Relationship Id="rId168" Type="http://schemas.openxmlformats.org/officeDocument/2006/relationships/slide" Target="slides/slide16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189" Type="http://schemas.openxmlformats.org/officeDocument/2006/relationships/slide" Target="slides/slide185.xml"/><Relationship Id="rId3" Type="http://schemas.openxmlformats.org/officeDocument/2006/relationships/customXml" Target="../customXml/item3.xml"/><Relationship Id="rId214" Type="http://schemas.openxmlformats.org/officeDocument/2006/relationships/slide" Target="slides/slide210.xml"/><Relationship Id="rId235" Type="http://schemas.openxmlformats.org/officeDocument/2006/relationships/slide" Target="slides/slide231.xml"/><Relationship Id="rId256" Type="http://schemas.openxmlformats.org/officeDocument/2006/relationships/slide" Target="slides/slide252.xml"/><Relationship Id="rId277" Type="http://schemas.openxmlformats.org/officeDocument/2006/relationships/font" Target="fonts/font7.fntdata"/><Relationship Id="rId298" Type="http://schemas.openxmlformats.org/officeDocument/2006/relationships/viewProps" Target="viewProps.xml"/><Relationship Id="rId116" Type="http://schemas.openxmlformats.org/officeDocument/2006/relationships/slide" Target="slides/slide112.xml"/><Relationship Id="rId137" Type="http://schemas.openxmlformats.org/officeDocument/2006/relationships/slide" Target="slides/slide133.xml"/><Relationship Id="rId158" Type="http://schemas.openxmlformats.org/officeDocument/2006/relationships/slide" Target="slides/slide154.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179" Type="http://schemas.openxmlformats.org/officeDocument/2006/relationships/slide" Target="slides/slide175.xml"/><Relationship Id="rId190" Type="http://schemas.openxmlformats.org/officeDocument/2006/relationships/slide" Target="slides/slide186.xml"/><Relationship Id="rId204" Type="http://schemas.openxmlformats.org/officeDocument/2006/relationships/slide" Target="slides/slide200.xml"/><Relationship Id="rId225" Type="http://schemas.openxmlformats.org/officeDocument/2006/relationships/slide" Target="slides/slide221.xml"/><Relationship Id="rId246" Type="http://schemas.openxmlformats.org/officeDocument/2006/relationships/slide" Target="slides/slide242.xml"/><Relationship Id="rId267" Type="http://schemas.openxmlformats.org/officeDocument/2006/relationships/slide" Target="slides/slide263.xml"/><Relationship Id="rId288" Type="http://schemas.openxmlformats.org/officeDocument/2006/relationships/font" Target="fonts/font18.fntdata"/><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94" Type="http://schemas.openxmlformats.org/officeDocument/2006/relationships/slide" Target="slides/slide90.xml"/><Relationship Id="rId148" Type="http://schemas.openxmlformats.org/officeDocument/2006/relationships/slide" Target="slides/slide144.xml"/><Relationship Id="rId169" Type="http://schemas.openxmlformats.org/officeDocument/2006/relationships/slide" Target="slides/slide165.xml"/><Relationship Id="rId4" Type="http://schemas.openxmlformats.org/officeDocument/2006/relationships/slideMaster" Target="slideMasters/slideMaster1.xml"/><Relationship Id="rId180" Type="http://schemas.openxmlformats.org/officeDocument/2006/relationships/slide" Target="slides/slide176.xml"/><Relationship Id="rId215" Type="http://schemas.openxmlformats.org/officeDocument/2006/relationships/slide" Target="slides/slide211.xml"/><Relationship Id="rId236" Type="http://schemas.openxmlformats.org/officeDocument/2006/relationships/slide" Target="slides/slide232.xml"/><Relationship Id="rId257" Type="http://schemas.openxmlformats.org/officeDocument/2006/relationships/slide" Target="slides/slide253.xml"/><Relationship Id="rId278" Type="http://schemas.openxmlformats.org/officeDocument/2006/relationships/font" Target="fonts/font8.fntdata"/><Relationship Id="rId42" Type="http://schemas.openxmlformats.org/officeDocument/2006/relationships/slide" Target="slides/slide38.xml"/><Relationship Id="rId84" Type="http://schemas.openxmlformats.org/officeDocument/2006/relationships/slide" Target="slides/slide80.xml"/><Relationship Id="rId138" Type="http://schemas.openxmlformats.org/officeDocument/2006/relationships/slide" Target="slides/slide134.xml"/><Relationship Id="rId191" Type="http://schemas.openxmlformats.org/officeDocument/2006/relationships/slide" Target="slides/slide187.xml"/><Relationship Id="rId205" Type="http://schemas.openxmlformats.org/officeDocument/2006/relationships/slide" Target="slides/slide201.xml"/><Relationship Id="rId247" Type="http://schemas.openxmlformats.org/officeDocument/2006/relationships/slide" Target="slides/slide243.xml"/><Relationship Id="rId107" Type="http://schemas.openxmlformats.org/officeDocument/2006/relationships/slide" Target="slides/slide103.xml"/><Relationship Id="rId289" Type="http://schemas.openxmlformats.org/officeDocument/2006/relationships/font" Target="fonts/font19.fntdata"/><Relationship Id="rId11" Type="http://schemas.openxmlformats.org/officeDocument/2006/relationships/slide" Target="slides/slide7.xml"/><Relationship Id="rId53" Type="http://schemas.openxmlformats.org/officeDocument/2006/relationships/slide" Target="slides/slide49.xml"/><Relationship Id="rId149" Type="http://schemas.openxmlformats.org/officeDocument/2006/relationships/slide" Target="slides/slide145.xml"/><Relationship Id="rId95" Type="http://schemas.openxmlformats.org/officeDocument/2006/relationships/slide" Target="slides/slide91.xml"/><Relationship Id="rId160" Type="http://schemas.openxmlformats.org/officeDocument/2006/relationships/slide" Target="slides/slide156.xml"/><Relationship Id="rId216" Type="http://schemas.openxmlformats.org/officeDocument/2006/relationships/slide" Target="slides/slide212.xml"/><Relationship Id="rId258" Type="http://schemas.openxmlformats.org/officeDocument/2006/relationships/slide" Target="slides/slide254.xml"/><Relationship Id="rId22" Type="http://schemas.openxmlformats.org/officeDocument/2006/relationships/slide" Target="slides/slide18.xml"/><Relationship Id="rId64" Type="http://schemas.openxmlformats.org/officeDocument/2006/relationships/slide" Target="slides/slide60.xml"/><Relationship Id="rId118" Type="http://schemas.openxmlformats.org/officeDocument/2006/relationships/slide" Target="slides/slide114.xml"/><Relationship Id="rId171" Type="http://schemas.openxmlformats.org/officeDocument/2006/relationships/slide" Target="slides/slide167.xml"/><Relationship Id="rId227" Type="http://schemas.openxmlformats.org/officeDocument/2006/relationships/slide" Target="slides/slide223.xml"/><Relationship Id="rId269" Type="http://schemas.openxmlformats.org/officeDocument/2006/relationships/notesMaster" Target="notesMasters/notesMaster1.xml"/><Relationship Id="rId33" Type="http://schemas.openxmlformats.org/officeDocument/2006/relationships/slide" Target="slides/slide29.xml"/><Relationship Id="rId129" Type="http://schemas.openxmlformats.org/officeDocument/2006/relationships/slide" Target="slides/slide125.xml"/><Relationship Id="rId280" Type="http://schemas.openxmlformats.org/officeDocument/2006/relationships/font" Target="fonts/font10.fntdata"/><Relationship Id="rId75" Type="http://schemas.openxmlformats.org/officeDocument/2006/relationships/slide" Target="slides/slide71.xml"/><Relationship Id="rId140" Type="http://schemas.openxmlformats.org/officeDocument/2006/relationships/slide" Target="slides/slide136.xml"/><Relationship Id="rId182" Type="http://schemas.openxmlformats.org/officeDocument/2006/relationships/slide" Target="slides/slide178.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bar"/>
        <c:grouping val="stacked"/>
        <c:varyColors val="0"/>
        <c:ser>
          <c:idx val="0"/>
          <c:order val="0"/>
          <c:tx>
            <c:strRef>
              <c:f>Sheet1!$B$1</c:f>
              <c:strCache>
                <c:ptCount val="1"/>
                <c:pt idx="0">
                  <c:v>Ferroviário</c:v>
                </c:pt>
              </c:strCache>
            </c:strRef>
          </c:tx>
          <c:spPr>
            <a:gradFill rotWithShape="1">
              <a:gsLst>
                <a:gs pos="0">
                  <a:schemeClr val="accent2">
                    <a:tint val="65000"/>
                    <a:satMod val="103000"/>
                    <a:lumMod val="102000"/>
                    <a:tint val="94000"/>
                  </a:schemeClr>
                </a:gs>
                <a:gs pos="50000">
                  <a:schemeClr val="accent2">
                    <a:tint val="65000"/>
                    <a:satMod val="110000"/>
                    <a:lumMod val="100000"/>
                    <a:shade val="100000"/>
                  </a:schemeClr>
                </a:gs>
                <a:gs pos="100000">
                  <a:schemeClr val="accent2">
                    <a:tint val="65000"/>
                    <a:lumMod val="99000"/>
                    <a:satMod val="120000"/>
                    <a:shade val="78000"/>
                  </a:schemeClr>
                </a:gs>
              </a:gsLst>
              <a:lin ang="5400000" scaled="0"/>
            </a:gradFill>
            <a:ln>
              <a:noFill/>
            </a:ln>
            <a:effectLst/>
          </c:spPr>
          <c:invertIfNegative val="0"/>
          <c:dLbls>
            <c:dLbl>
              <c:idx val="5"/>
              <c:tx>
                <c:rich>
                  <a:bodyPr/>
                  <a:lstStyle/>
                  <a:p>
                    <a:r>
                      <a:rPr lang="en-US"/>
                      <a:t>21%</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86A9-4DAE-8797-7213A6D136F5}"/>
                </c:ext>
              </c:extLst>
            </c:dLbl>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Helvetica Neue"/>
                    <a:ea typeface="+mn-ea"/>
                    <a:cs typeface="Helvetica Neue"/>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Rússia</c:v>
                </c:pt>
                <c:pt idx="1">
                  <c:v>Canadá</c:v>
                </c:pt>
                <c:pt idx="2">
                  <c:v>Austrália</c:v>
                </c:pt>
                <c:pt idx="3">
                  <c:v>EUA</c:v>
                </c:pt>
                <c:pt idx="4">
                  <c:v>China</c:v>
                </c:pt>
                <c:pt idx="5">
                  <c:v>Brasil</c:v>
                </c:pt>
              </c:strCache>
            </c:strRef>
          </c:cat>
          <c:val>
            <c:numRef>
              <c:f>Sheet1!$B$2:$B$7</c:f>
              <c:numCache>
                <c:formatCode>0%</c:formatCode>
                <c:ptCount val="6"/>
                <c:pt idx="0">
                  <c:v>0.81</c:v>
                </c:pt>
                <c:pt idx="1">
                  <c:v>0.46</c:v>
                </c:pt>
                <c:pt idx="2">
                  <c:v>0.43</c:v>
                </c:pt>
                <c:pt idx="3">
                  <c:v>0.43</c:v>
                </c:pt>
                <c:pt idx="4">
                  <c:v>0.37</c:v>
                </c:pt>
                <c:pt idx="5">
                  <c:v>0.25</c:v>
                </c:pt>
              </c:numCache>
            </c:numRef>
          </c:val>
          <c:extLst>
            <c:ext xmlns:c16="http://schemas.microsoft.com/office/drawing/2014/chart" uri="{C3380CC4-5D6E-409C-BE32-E72D297353CC}">
              <c16:uniqueId val="{00000000-9298-483A-8498-3F5B6449DC3F}"/>
            </c:ext>
          </c:extLst>
        </c:ser>
        <c:ser>
          <c:idx val="1"/>
          <c:order val="1"/>
          <c:tx>
            <c:strRef>
              <c:f>Sheet1!$C$1</c:f>
              <c:strCache>
                <c:ptCount val="1"/>
                <c:pt idx="0">
                  <c:v>Rodoviário</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invertIfNegative val="0"/>
          <c:dLbls>
            <c:dLbl>
              <c:idx val="5"/>
              <c:tx>
                <c:rich>
                  <a:bodyPr/>
                  <a:lstStyle/>
                  <a:p>
                    <a:r>
                      <a:rPr lang="en-US"/>
                      <a:t>61%</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86A9-4DAE-8797-7213A6D136F5}"/>
                </c:ext>
              </c:extLst>
            </c:dLbl>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Helvetica Neue"/>
                    <a:ea typeface="+mn-ea"/>
                    <a:cs typeface="Helvetica Neue"/>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Rússia</c:v>
                </c:pt>
                <c:pt idx="1">
                  <c:v>Canadá</c:v>
                </c:pt>
                <c:pt idx="2">
                  <c:v>Austrália</c:v>
                </c:pt>
                <c:pt idx="3">
                  <c:v>EUA</c:v>
                </c:pt>
                <c:pt idx="4">
                  <c:v>China</c:v>
                </c:pt>
                <c:pt idx="5">
                  <c:v>Brasil</c:v>
                </c:pt>
              </c:strCache>
            </c:strRef>
          </c:cat>
          <c:val>
            <c:numRef>
              <c:f>Sheet1!$C$2:$C$7</c:f>
              <c:numCache>
                <c:formatCode>0%</c:formatCode>
                <c:ptCount val="6"/>
                <c:pt idx="0">
                  <c:v>0.08</c:v>
                </c:pt>
                <c:pt idx="1">
                  <c:v>0.43</c:v>
                </c:pt>
                <c:pt idx="2">
                  <c:v>0.53</c:v>
                </c:pt>
                <c:pt idx="3">
                  <c:v>0.32</c:v>
                </c:pt>
                <c:pt idx="4">
                  <c:v>0.5</c:v>
                </c:pt>
                <c:pt idx="5">
                  <c:v>0.57999999999999996</c:v>
                </c:pt>
              </c:numCache>
            </c:numRef>
          </c:val>
          <c:extLst>
            <c:ext xmlns:c16="http://schemas.microsoft.com/office/drawing/2014/chart" uri="{C3380CC4-5D6E-409C-BE32-E72D297353CC}">
              <c16:uniqueId val="{00000001-9298-483A-8498-3F5B6449DC3F}"/>
            </c:ext>
          </c:extLst>
        </c:ser>
        <c:ser>
          <c:idx val="2"/>
          <c:order val="2"/>
          <c:tx>
            <c:strRef>
              <c:f>Sheet1!$D$1</c:f>
              <c:strCache>
                <c:ptCount val="1"/>
                <c:pt idx="0">
                  <c:v>Aquaviário, outros</c:v>
                </c:pt>
              </c:strCache>
            </c:strRef>
          </c:tx>
          <c:spPr>
            <a:gradFill rotWithShape="1">
              <a:gsLst>
                <a:gs pos="0">
                  <a:schemeClr val="accent2">
                    <a:shade val="65000"/>
                    <a:satMod val="103000"/>
                    <a:lumMod val="102000"/>
                    <a:tint val="94000"/>
                  </a:schemeClr>
                </a:gs>
                <a:gs pos="50000">
                  <a:schemeClr val="accent2">
                    <a:shade val="65000"/>
                    <a:satMod val="110000"/>
                    <a:lumMod val="100000"/>
                    <a:shade val="100000"/>
                  </a:schemeClr>
                </a:gs>
                <a:gs pos="100000">
                  <a:schemeClr val="accent2">
                    <a:shade val="65000"/>
                    <a:lumMod val="99000"/>
                    <a:satMod val="120000"/>
                    <a:shade val="78000"/>
                  </a:schemeClr>
                </a:gs>
              </a:gsLst>
              <a:lin ang="5400000" scaled="0"/>
            </a:gradFill>
            <a:ln>
              <a:noFill/>
            </a:ln>
            <a:effectLst/>
          </c:spPr>
          <c:invertIfNegative val="0"/>
          <c:dLbls>
            <c:dLbl>
              <c:idx val="5"/>
              <c:tx>
                <c:rich>
                  <a:bodyPr/>
                  <a:lstStyle/>
                  <a:p>
                    <a:r>
                      <a:rPr lang="en-US"/>
                      <a:t>18%</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86A9-4DAE-8797-7213A6D136F5}"/>
                </c:ext>
              </c:extLst>
            </c:dLbl>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Helvetica Neue"/>
                    <a:ea typeface="+mn-ea"/>
                    <a:cs typeface="Helvetica Neue"/>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Rússia</c:v>
                </c:pt>
                <c:pt idx="1">
                  <c:v>Canadá</c:v>
                </c:pt>
                <c:pt idx="2">
                  <c:v>Austrália</c:v>
                </c:pt>
                <c:pt idx="3">
                  <c:v>EUA</c:v>
                </c:pt>
                <c:pt idx="4">
                  <c:v>China</c:v>
                </c:pt>
                <c:pt idx="5">
                  <c:v>Brasil</c:v>
                </c:pt>
              </c:strCache>
            </c:strRef>
          </c:cat>
          <c:val>
            <c:numRef>
              <c:f>Sheet1!$D$2:$D$7</c:f>
              <c:numCache>
                <c:formatCode>0%</c:formatCode>
                <c:ptCount val="6"/>
                <c:pt idx="0">
                  <c:v>0.11</c:v>
                </c:pt>
                <c:pt idx="1">
                  <c:v>0.11</c:v>
                </c:pt>
                <c:pt idx="2">
                  <c:v>0.04</c:v>
                </c:pt>
                <c:pt idx="3">
                  <c:v>0.25</c:v>
                </c:pt>
                <c:pt idx="4">
                  <c:v>0.13</c:v>
                </c:pt>
                <c:pt idx="5">
                  <c:v>0.17</c:v>
                </c:pt>
              </c:numCache>
            </c:numRef>
          </c:val>
          <c:extLst>
            <c:ext xmlns:c16="http://schemas.microsoft.com/office/drawing/2014/chart" uri="{C3380CC4-5D6E-409C-BE32-E72D297353CC}">
              <c16:uniqueId val="{00000002-9298-483A-8498-3F5B6449DC3F}"/>
            </c:ext>
          </c:extLst>
        </c:ser>
        <c:dLbls>
          <c:showLegendKey val="0"/>
          <c:showVal val="1"/>
          <c:showCatName val="0"/>
          <c:showSerName val="0"/>
          <c:showPercent val="0"/>
          <c:showBubbleSize val="0"/>
        </c:dLbls>
        <c:gapWidth val="95"/>
        <c:overlap val="100"/>
        <c:axId val="443468200"/>
        <c:axId val="443468592"/>
      </c:barChart>
      <c:catAx>
        <c:axId val="443468200"/>
        <c:scaling>
          <c:orientation val="minMax"/>
        </c:scaling>
        <c:delete val="0"/>
        <c:axPos val="l"/>
        <c:numFmt formatCode="General" sourceLinked="0"/>
        <c:majorTickMark val="none"/>
        <c:minorTickMark val="none"/>
        <c:tickLblPos val="nextTo"/>
        <c:spPr>
          <a:noFill/>
          <a:ln w="6350" cap="flat" cmpd="sng" algn="ctr">
            <a:solidFill>
              <a:schemeClr val="tx1">
                <a:tint val="75000"/>
              </a:schemeClr>
            </a:solidFill>
            <a:prstDash val="solid"/>
            <a:round/>
          </a:ln>
          <a:effectLst/>
        </c:spPr>
        <c:txPr>
          <a:bodyPr rot="-60000000" spcFirstLastPara="1" vertOverflow="ellipsis" vert="horz" wrap="square" anchor="ctr" anchorCtr="1"/>
          <a:lstStyle/>
          <a:p>
            <a:pPr>
              <a:defRPr sz="1400" b="0" i="0" u="none" strike="noStrike" kern="1200" baseline="0">
                <a:solidFill>
                  <a:schemeClr val="tx1"/>
                </a:solidFill>
                <a:latin typeface="Helvetica Neue"/>
                <a:ea typeface="+mn-ea"/>
                <a:cs typeface="+mn-cs"/>
              </a:defRPr>
            </a:pPr>
            <a:endParaRPr lang="pt-BR"/>
          </a:p>
        </c:txPr>
        <c:crossAx val="443468592"/>
        <c:crosses val="autoZero"/>
        <c:auto val="1"/>
        <c:lblAlgn val="ctr"/>
        <c:lblOffset val="100"/>
        <c:noMultiLvlLbl val="0"/>
      </c:catAx>
      <c:valAx>
        <c:axId val="443468592"/>
        <c:scaling>
          <c:orientation val="minMax"/>
        </c:scaling>
        <c:delete val="1"/>
        <c:axPos val="b"/>
        <c:numFmt formatCode="0%" sourceLinked="1"/>
        <c:majorTickMark val="out"/>
        <c:minorTickMark val="none"/>
        <c:tickLblPos val="nextTo"/>
        <c:crossAx val="443468200"/>
        <c:crosses val="autoZero"/>
        <c:crossBetween val="between"/>
      </c:valAx>
      <c:spPr>
        <a:noFill/>
        <a:ln>
          <a:noFill/>
        </a:ln>
        <a:effectLst/>
      </c:spPr>
    </c:plotArea>
    <c:legend>
      <c:legendPos val="t"/>
      <c:layout>
        <c:manualLayout>
          <c:xMode val="edge"/>
          <c:yMode val="edge"/>
          <c:x val="7.8739213612626938E-2"/>
          <c:y val="4.6349521519811296E-2"/>
          <c:w val="0.792626639314575"/>
          <c:h val="8.6074253578823895E-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Helvetica Neue"/>
              <a:ea typeface="+mn-ea"/>
              <a:cs typeface="+mn-cs"/>
            </a:defRPr>
          </a:pPr>
          <a:endParaRPr lang="pt-BR"/>
        </a:p>
      </c:txPr>
    </c:legend>
    <c:plotVisOnly val="1"/>
    <c:dispBlanksAs val="gap"/>
    <c:showDLblsOverMax val="0"/>
  </c:chart>
  <c:spPr>
    <a:noFill/>
    <a:ln w="6350" cap="flat" cmpd="sng" algn="ctr">
      <a:noFill/>
      <a:prstDash val="solid"/>
      <a:miter lim="800000"/>
    </a:ln>
    <a:effectLst/>
  </c:spPr>
  <c:txPr>
    <a:bodyPr/>
    <a:lstStyle/>
    <a:p>
      <a:pPr>
        <a:defRPr sz="1800"/>
      </a:pPr>
      <a:endParaRPr lang="pt-BR"/>
    </a:p>
  </c:txPr>
  <c:externalData r:id="rId3">
    <c:autoUpdate val="0"/>
  </c:externalData>
</c:chartSpace>
</file>

<file path=ppt/charts/colors1.xml><?xml version="1.0" encoding="utf-8"?>
<cs:colorStyle xmlns:cs="http://schemas.microsoft.com/office/drawing/2012/chartStyle" xmlns:a="http://schemas.openxmlformats.org/drawingml/2006/main" meth="withinLinearReversed" id="22">
  <a:schemeClr val="accent2"/>
</cs:colorStyle>
</file>

<file path=ppt/charts/style1.xml><?xml version="1.0" encoding="utf-8"?>
<cs:chartStyle xmlns:cs="http://schemas.microsoft.com/office/drawing/2012/chartStyle" xmlns:a="http://schemas.openxmlformats.org/drawingml/2006/main" id="118">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3">
      <cs:styleClr val="auto"/>
    </cs:fillRef>
    <cs:effectRef idx="2">
      <a:schemeClr val="dk1"/>
    </cs:effectRef>
    <cs:fontRef idx="minor">
      <a:schemeClr val="tx1"/>
    </cs:fontRef>
  </cs:dataPoint>
  <cs:dataPoint3D>
    <cs:lnRef idx="0"/>
    <cs:fillRef idx="3">
      <cs:styleClr val="auto"/>
    </cs:fillRef>
    <cs:effectRef idx="2">
      <a:schemeClr val="dk1"/>
    </cs:effectRef>
    <cs:fontRef idx="minor">
      <a:schemeClr val="tx1"/>
    </cs:fontRef>
  </cs:dataPoint3D>
  <cs:dataPointLine>
    <cs:lnRef idx="1">
      <cs:styleClr val="auto"/>
    </cs:lnRef>
    <cs:lineWidthScale>5</cs:lineWidthScale>
    <cs:fillRef idx="0"/>
    <cs:effectRef idx="0"/>
    <cs:fontRef idx="minor">
      <a:schemeClr val="tx1"/>
    </cs:fontRef>
    <cs:spPr>
      <a:ln cap="rnd">
        <a:round/>
      </a:ln>
    </cs:spPr>
  </cs:dataPointLine>
  <cs:dataPointMarker>
    <cs:lnRef idx="1">
      <cs:styleClr val="auto"/>
    </cs:lnRef>
    <cs:fillRef idx="3">
      <cs:styleClr val="auto"/>
    </cs:fillRef>
    <cs:effectRef idx="2">
      <a:schemeClr val="dk1"/>
    </cs:effectRef>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0"/>
    <cs:fillRef idx="3">
      <a:schemeClr val="dk1">
        <a:tint val="95000"/>
      </a:schemeClr>
    </cs:fillRef>
    <cs:effectRef idx="2">
      <a:schemeClr val="dk1"/>
    </cs:effectRef>
    <cs:fontRef idx="minor">
      <a:schemeClr val="tx1"/>
    </cs:fontRef>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0"/>
    <cs:fillRef idx="3">
      <a:schemeClr val="dk1">
        <a:tint val="5000"/>
      </a:schemeClr>
    </cs:fillRef>
    <cs:effectRef idx="2">
      <a:schemeClr val="dk1"/>
    </cs:effectRef>
    <cs:fontRef idx="minor">
      <a:schemeClr val="tx1"/>
    </cs:fontRef>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omments/comment1.xml><?xml version="1.0" encoding="utf-8"?>
<p:cmLst xmlns:a="http://schemas.openxmlformats.org/drawingml/2006/main" xmlns:r="http://schemas.openxmlformats.org/officeDocument/2006/relationships" xmlns:p="http://schemas.openxmlformats.org/presentationml/2006/main">
  <p:cm authorId="1" dt="2015-08-26T16:41:17.776" idx="2">
    <p:pos x="3035" y="1781"/>
    <p:text>Corrigir: Veículos</p:text>
    <p:extLst>
      <p:ext uri="{C676402C-5697-4E1C-873F-D02D1690AC5C}">
        <p15:threadingInfo xmlns:p15="http://schemas.microsoft.com/office/powerpoint/2012/main" timeZoneBias="180"/>
      </p:ext>
    </p:extLst>
  </p:cm>
  <p:cm authorId="1" dt="2015-08-26T16:41:36.218" idx="3">
    <p:pos x="1242" y="2938"/>
    <p:text>Corrigir: Veículo</p:text>
    <p:extLst>
      <p:ext uri="{C676402C-5697-4E1C-873F-D02D1690AC5C}">
        <p15:threadingInfo xmlns:p15="http://schemas.microsoft.com/office/powerpoint/2012/main" timeZoneBias="180"/>
      </p:ext>
    </p:extLst>
  </p:cm>
  <p:cm authorId="1" dt="2015-08-26T16:41:57.425" idx="4">
    <p:pos x="1999" y="2898"/>
    <p:text>Corrigir: Autônomo</p:text>
    <p:extLst>
      <p:ext uri="{C676402C-5697-4E1C-873F-D02D1690AC5C}">
        <p15:threadingInfo xmlns:p15="http://schemas.microsoft.com/office/powerpoint/2012/main" timeZoneBias="180"/>
      </p:ext>
    </p:extLst>
  </p:cm>
</p:cmLst>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CC44C1A-F4A8-4AA0-BCB1-F94B9C5E0B88}" type="doc">
      <dgm:prSet loTypeId="urn:microsoft.com/office/officeart/2005/8/layout/cycle2" loCatId="cycle" qsTypeId="urn:microsoft.com/office/officeart/2005/8/quickstyle/simple5" qsCatId="simple" csTypeId="urn:microsoft.com/office/officeart/2005/8/colors/colorful1" csCatId="colorful" phldr="1"/>
      <dgm:spPr/>
      <dgm:t>
        <a:bodyPr/>
        <a:lstStyle/>
        <a:p>
          <a:endParaRPr lang="pt-BR"/>
        </a:p>
      </dgm:t>
    </dgm:pt>
    <dgm:pt modelId="{2C09C2AA-380C-43CB-94C9-981AF285EB69}">
      <dgm:prSet phldrT="[Texto]"/>
      <dgm:spPr/>
      <dgm:t>
        <a:bodyPr/>
        <a:lstStyle/>
        <a:p>
          <a:r>
            <a:rPr lang="pt-BR" dirty="0"/>
            <a:t>MKT / VENDAS</a:t>
          </a:r>
        </a:p>
      </dgm:t>
    </dgm:pt>
    <dgm:pt modelId="{CB594436-B134-452E-83E1-63B4A5853AAA}" type="parTrans" cxnId="{54E3F237-2B65-480B-AEA7-13D66C872B05}">
      <dgm:prSet/>
      <dgm:spPr/>
      <dgm:t>
        <a:bodyPr/>
        <a:lstStyle/>
        <a:p>
          <a:endParaRPr lang="pt-BR"/>
        </a:p>
      </dgm:t>
    </dgm:pt>
    <dgm:pt modelId="{7B656DBC-1ACB-4B83-96BB-B11AB20AF693}" type="sibTrans" cxnId="{54E3F237-2B65-480B-AEA7-13D66C872B05}">
      <dgm:prSet/>
      <dgm:spPr/>
      <dgm:t>
        <a:bodyPr/>
        <a:lstStyle/>
        <a:p>
          <a:endParaRPr lang="pt-BR"/>
        </a:p>
      </dgm:t>
    </dgm:pt>
    <dgm:pt modelId="{FE1F49F0-7EE1-4351-B6C9-51A2EE18508E}">
      <dgm:prSet phldrT="[Texto]"/>
      <dgm:spPr/>
      <dgm:t>
        <a:bodyPr/>
        <a:lstStyle/>
        <a:p>
          <a:r>
            <a:rPr lang="pt-BR" dirty="0">
              <a:solidFill>
                <a:srgbClr val="FF0000"/>
              </a:solidFill>
            </a:rPr>
            <a:t>FINANÇAS</a:t>
          </a:r>
        </a:p>
      </dgm:t>
    </dgm:pt>
    <dgm:pt modelId="{B120C188-04DE-46B0-8C90-50F7DE30C6B9}" type="parTrans" cxnId="{F3CADE87-973A-429E-BE8D-47B5CB10AD14}">
      <dgm:prSet/>
      <dgm:spPr/>
      <dgm:t>
        <a:bodyPr/>
        <a:lstStyle/>
        <a:p>
          <a:endParaRPr lang="pt-BR"/>
        </a:p>
      </dgm:t>
    </dgm:pt>
    <dgm:pt modelId="{749879D4-4810-4C25-BC3D-57E7FED5884A}" type="sibTrans" cxnId="{F3CADE87-973A-429E-BE8D-47B5CB10AD14}">
      <dgm:prSet/>
      <dgm:spPr/>
      <dgm:t>
        <a:bodyPr/>
        <a:lstStyle/>
        <a:p>
          <a:endParaRPr lang="pt-BR"/>
        </a:p>
      </dgm:t>
    </dgm:pt>
    <dgm:pt modelId="{1B8855CA-E196-442C-800D-D51D2B379141}">
      <dgm:prSet phldrT="[Texto]"/>
      <dgm:spPr/>
      <dgm:t>
        <a:bodyPr/>
        <a:lstStyle/>
        <a:p>
          <a:r>
            <a:rPr lang="pt-BR" dirty="0"/>
            <a:t>PRODUÇÃO</a:t>
          </a:r>
        </a:p>
      </dgm:t>
    </dgm:pt>
    <dgm:pt modelId="{4389DCFF-3AF7-4A37-9B73-83E0E8A8851A}" type="parTrans" cxnId="{061894BC-F7AE-49E3-A6D0-CAA6C2017E88}">
      <dgm:prSet/>
      <dgm:spPr/>
      <dgm:t>
        <a:bodyPr/>
        <a:lstStyle/>
        <a:p>
          <a:endParaRPr lang="pt-BR"/>
        </a:p>
      </dgm:t>
    </dgm:pt>
    <dgm:pt modelId="{FEA3BE84-0F52-4F6E-B6BC-7658B66E0F36}" type="sibTrans" cxnId="{061894BC-F7AE-49E3-A6D0-CAA6C2017E88}">
      <dgm:prSet/>
      <dgm:spPr/>
      <dgm:t>
        <a:bodyPr/>
        <a:lstStyle/>
        <a:p>
          <a:endParaRPr lang="pt-BR"/>
        </a:p>
      </dgm:t>
    </dgm:pt>
    <dgm:pt modelId="{9FB56EA2-05CE-4E9E-9747-29A75BB98563}">
      <dgm:prSet phldrT="[Texto]"/>
      <dgm:spPr/>
      <dgm:t>
        <a:bodyPr/>
        <a:lstStyle/>
        <a:p>
          <a:r>
            <a:rPr lang="pt-BR" dirty="0">
              <a:solidFill>
                <a:srgbClr val="FF0000"/>
              </a:solidFill>
            </a:rPr>
            <a:t>CUSTOS</a:t>
          </a:r>
        </a:p>
      </dgm:t>
    </dgm:pt>
    <dgm:pt modelId="{5A90CE5B-ECF0-4BBC-9EAE-3E974F3144C9}" type="parTrans" cxnId="{2B62A00B-9170-4EE8-95C0-C87505067018}">
      <dgm:prSet/>
      <dgm:spPr/>
      <dgm:t>
        <a:bodyPr/>
        <a:lstStyle/>
        <a:p>
          <a:endParaRPr lang="pt-BR"/>
        </a:p>
      </dgm:t>
    </dgm:pt>
    <dgm:pt modelId="{B2F38C74-81CF-4E25-BBFD-EBA95F2FE991}" type="sibTrans" cxnId="{2B62A00B-9170-4EE8-95C0-C87505067018}">
      <dgm:prSet/>
      <dgm:spPr/>
      <dgm:t>
        <a:bodyPr/>
        <a:lstStyle/>
        <a:p>
          <a:endParaRPr lang="pt-BR"/>
        </a:p>
      </dgm:t>
    </dgm:pt>
    <dgm:pt modelId="{2700EFBF-4998-4466-8B14-4CC70C3E8927}">
      <dgm:prSet phldrT="[Texto]"/>
      <dgm:spPr>
        <a:solidFill>
          <a:schemeClr val="accent1"/>
        </a:solidFill>
        <a:ln>
          <a:solidFill>
            <a:schemeClr val="accent1"/>
          </a:solidFill>
        </a:ln>
      </dgm:spPr>
      <dgm:t>
        <a:bodyPr/>
        <a:lstStyle/>
        <a:p>
          <a:r>
            <a:rPr lang="pt-BR" dirty="0"/>
            <a:t>COMPRAS</a:t>
          </a:r>
        </a:p>
      </dgm:t>
    </dgm:pt>
    <dgm:pt modelId="{A864A546-AECA-4D7E-BBE1-7A522257EBDA}" type="parTrans" cxnId="{8D13D3DE-2202-4D7E-892B-0A8D5526BD3B}">
      <dgm:prSet/>
      <dgm:spPr/>
      <dgm:t>
        <a:bodyPr/>
        <a:lstStyle/>
        <a:p>
          <a:endParaRPr lang="pt-BR"/>
        </a:p>
      </dgm:t>
    </dgm:pt>
    <dgm:pt modelId="{ADE65F8B-EDE3-4398-80D2-03D13104716A}" type="sibTrans" cxnId="{8D13D3DE-2202-4D7E-892B-0A8D5526BD3B}">
      <dgm:prSet/>
      <dgm:spPr>
        <a:solidFill>
          <a:schemeClr val="accent1"/>
        </a:solidFill>
        <a:ln>
          <a:solidFill>
            <a:schemeClr val="accent1"/>
          </a:solidFill>
        </a:ln>
      </dgm:spPr>
      <dgm:t>
        <a:bodyPr/>
        <a:lstStyle/>
        <a:p>
          <a:endParaRPr lang="pt-BR"/>
        </a:p>
      </dgm:t>
    </dgm:pt>
    <dgm:pt modelId="{58FE1B81-C4EF-4A80-93A9-9D7BE6CDFF77}" type="pres">
      <dgm:prSet presAssocID="{DCC44C1A-F4A8-4AA0-BCB1-F94B9C5E0B88}" presName="cycle" presStyleCnt="0">
        <dgm:presLayoutVars>
          <dgm:dir/>
          <dgm:resizeHandles val="exact"/>
        </dgm:presLayoutVars>
      </dgm:prSet>
      <dgm:spPr/>
    </dgm:pt>
    <dgm:pt modelId="{47527136-58EC-4A09-8DFA-1E9CB9372352}" type="pres">
      <dgm:prSet presAssocID="{2C09C2AA-380C-43CB-94C9-981AF285EB69}" presName="node" presStyleLbl="node1" presStyleIdx="0" presStyleCnt="5">
        <dgm:presLayoutVars>
          <dgm:bulletEnabled val="1"/>
        </dgm:presLayoutVars>
      </dgm:prSet>
      <dgm:spPr/>
    </dgm:pt>
    <dgm:pt modelId="{C444BA31-4687-4FF4-B3BC-C0F755586208}" type="pres">
      <dgm:prSet presAssocID="{7B656DBC-1ACB-4B83-96BB-B11AB20AF693}" presName="sibTrans" presStyleLbl="sibTrans2D1" presStyleIdx="0" presStyleCnt="5"/>
      <dgm:spPr/>
    </dgm:pt>
    <dgm:pt modelId="{1C808089-EDF2-41B7-80F9-226396FFD3BA}" type="pres">
      <dgm:prSet presAssocID="{7B656DBC-1ACB-4B83-96BB-B11AB20AF693}" presName="connectorText" presStyleLbl="sibTrans2D1" presStyleIdx="0" presStyleCnt="5"/>
      <dgm:spPr/>
    </dgm:pt>
    <dgm:pt modelId="{DCDF1210-EB9C-4CE7-ABE3-5E4FA77328C7}" type="pres">
      <dgm:prSet presAssocID="{FE1F49F0-7EE1-4351-B6C9-51A2EE18508E}" presName="node" presStyleLbl="node1" presStyleIdx="1" presStyleCnt="5">
        <dgm:presLayoutVars>
          <dgm:bulletEnabled val="1"/>
        </dgm:presLayoutVars>
      </dgm:prSet>
      <dgm:spPr/>
    </dgm:pt>
    <dgm:pt modelId="{D19CBC2C-7118-4FEB-A52A-DE22F6BD0882}" type="pres">
      <dgm:prSet presAssocID="{749879D4-4810-4C25-BC3D-57E7FED5884A}" presName="sibTrans" presStyleLbl="sibTrans2D1" presStyleIdx="1" presStyleCnt="5"/>
      <dgm:spPr/>
    </dgm:pt>
    <dgm:pt modelId="{0975888E-E262-4DD7-8989-00B7835F32E7}" type="pres">
      <dgm:prSet presAssocID="{749879D4-4810-4C25-BC3D-57E7FED5884A}" presName="connectorText" presStyleLbl="sibTrans2D1" presStyleIdx="1" presStyleCnt="5"/>
      <dgm:spPr/>
    </dgm:pt>
    <dgm:pt modelId="{77FDD25E-E64A-44AE-A3F3-803C536503B5}" type="pres">
      <dgm:prSet presAssocID="{1B8855CA-E196-442C-800D-D51D2B379141}" presName="node" presStyleLbl="node1" presStyleIdx="2" presStyleCnt="5">
        <dgm:presLayoutVars>
          <dgm:bulletEnabled val="1"/>
        </dgm:presLayoutVars>
      </dgm:prSet>
      <dgm:spPr/>
    </dgm:pt>
    <dgm:pt modelId="{54D3BB47-073E-4C5C-9627-1BE904E742B9}" type="pres">
      <dgm:prSet presAssocID="{FEA3BE84-0F52-4F6E-B6BC-7658B66E0F36}" presName="sibTrans" presStyleLbl="sibTrans2D1" presStyleIdx="2" presStyleCnt="5"/>
      <dgm:spPr/>
    </dgm:pt>
    <dgm:pt modelId="{53851ED2-6F7C-47A8-A0F3-742ED4C1337B}" type="pres">
      <dgm:prSet presAssocID="{FEA3BE84-0F52-4F6E-B6BC-7658B66E0F36}" presName="connectorText" presStyleLbl="sibTrans2D1" presStyleIdx="2" presStyleCnt="5"/>
      <dgm:spPr/>
    </dgm:pt>
    <dgm:pt modelId="{B256053B-3B60-4B43-986E-87783996E917}" type="pres">
      <dgm:prSet presAssocID="{9FB56EA2-05CE-4E9E-9747-29A75BB98563}" presName="node" presStyleLbl="node1" presStyleIdx="3" presStyleCnt="5">
        <dgm:presLayoutVars>
          <dgm:bulletEnabled val="1"/>
        </dgm:presLayoutVars>
      </dgm:prSet>
      <dgm:spPr/>
    </dgm:pt>
    <dgm:pt modelId="{934DB85E-CC95-45C1-8942-994ACB58551A}" type="pres">
      <dgm:prSet presAssocID="{B2F38C74-81CF-4E25-BBFD-EBA95F2FE991}" presName="sibTrans" presStyleLbl="sibTrans2D1" presStyleIdx="3" presStyleCnt="5"/>
      <dgm:spPr/>
    </dgm:pt>
    <dgm:pt modelId="{AF1F0E29-2444-4782-8A7E-7C52E648FBE0}" type="pres">
      <dgm:prSet presAssocID="{B2F38C74-81CF-4E25-BBFD-EBA95F2FE991}" presName="connectorText" presStyleLbl="sibTrans2D1" presStyleIdx="3" presStyleCnt="5"/>
      <dgm:spPr/>
    </dgm:pt>
    <dgm:pt modelId="{7613DE8F-1A57-46B8-93A2-10538197301E}" type="pres">
      <dgm:prSet presAssocID="{2700EFBF-4998-4466-8B14-4CC70C3E8927}" presName="node" presStyleLbl="node1" presStyleIdx="4" presStyleCnt="5" custRadScaleRad="101113" custRadScaleInc="7612">
        <dgm:presLayoutVars>
          <dgm:bulletEnabled val="1"/>
        </dgm:presLayoutVars>
      </dgm:prSet>
      <dgm:spPr/>
    </dgm:pt>
    <dgm:pt modelId="{42D2FD4E-52C9-4EA5-B5DA-E587BDABD95E}" type="pres">
      <dgm:prSet presAssocID="{ADE65F8B-EDE3-4398-80D2-03D13104716A}" presName="sibTrans" presStyleLbl="sibTrans2D1" presStyleIdx="4" presStyleCnt="5"/>
      <dgm:spPr/>
    </dgm:pt>
    <dgm:pt modelId="{CCA376D4-E77B-4734-B8FB-5FE894DB9E00}" type="pres">
      <dgm:prSet presAssocID="{ADE65F8B-EDE3-4398-80D2-03D13104716A}" presName="connectorText" presStyleLbl="sibTrans2D1" presStyleIdx="4" presStyleCnt="5"/>
      <dgm:spPr/>
    </dgm:pt>
  </dgm:ptLst>
  <dgm:cxnLst>
    <dgm:cxn modelId="{25803D04-B397-46F1-A901-B78F99992739}" type="presOf" srcId="{ADE65F8B-EDE3-4398-80D2-03D13104716A}" destId="{CCA376D4-E77B-4734-B8FB-5FE894DB9E00}" srcOrd="1" destOrd="0" presId="urn:microsoft.com/office/officeart/2005/8/layout/cycle2"/>
    <dgm:cxn modelId="{2B62A00B-9170-4EE8-95C0-C87505067018}" srcId="{DCC44C1A-F4A8-4AA0-BCB1-F94B9C5E0B88}" destId="{9FB56EA2-05CE-4E9E-9747-29A75BB98563}" srcOrd="3" destOrd="0" parTransId="{5A90CE5B-ECF0-4BBC-9EAE-3E974F3144C9}" sibTransId="{B2F38C74-81CF-4E25-BBFD-EBA95F2FE991}"/>
    <dgm:cxn modelId="{2073E40C-65BE-47A2-BE15-47A35CF7F6EC}" type="presOf" srcId="{1B8855CA-E196-442C-800D-D51D2B379141}" destId="{77FDD25E-E64A-44AE-A3F3-803C536503B5}" srcOrd="0" destOrd="0" presId="urn:microsoft.com/office/officeart/2005/8/layout/cycle2"/>
    <dgm:cxn modelId="{8E9FCB1D-F8E4-44FF-B77F-7D7908AFE148}" type="presOf" srcId="{B2F38C74-81CF-4E25-BBFD-EBA95F2FE991}" destId="{AF1F0E29-2444-4782-8A7E-7C52E648FBE0}" srcOrd="1" destOrd="0" presId="urn:microsoft.com/office/officeart/2005/8/layout/cycle2"/>
    <dgm:cxn modelId="{54E3F237-2B65-480B-AEA7-13D66C872B05}" srcId="{DCC44C1A-F4A8-4AA0-BCB1-F94B9C5E0B88}" destId="{2C09C2AA-380C-43CB-94C9-981AF285EB69}" srcOrd="0" destOrd="0" parTransId="{CB594436-B134-452E-83E1-63B4A5853AAA}" sibTransId="{7B656DBC-1ACB-4B83-96BB-B11AB20AF693}"/>
    <dgm:cxn modelId="{70695064-5CB2-45FD-8195-9B2A71759FA8}" type="presOf" srcId="{2700EFBF-4998-4466-8B14-4CC70C3E8927}" destId="{7613DE8F-1A57-46B8-93A2-10538197301E}" srcOrd="0" destOrd="0" presId="urn:microsoft.com/office/officeart/2005/8/layout/cycle2"/>
    <dgm:cxn modelId="{D89F5347-8BA3-4C3C-B542-D7AE26012BB5}" type="presOf" srcId="{ADE65F8B-EDE3-4398-80D2-03D13104716A}" destId="{42D2FD4E-52C9-4EA5-B5DA-E587BDABD95E}" srcOrd="0" destOrd="0" presId="urn:microsoft.com/office/officeart/2005/8/layout/cycle2"/>
    <dgm:cxn modelId="{4FF19B53-3DCD-467C-86A6-8DFAEDC614E9}" type="presOf" srcId="{FEA3BE84-0F52-4F6E-B6BC-7658B66E0F36}" destId="{54D3BB47-073E-4C5C-9627-1BE904E742B9}" srcOrd="0" destOrd="0" presId="urn:microsoft.com/office/officeart/2005/8/layout/cycle2"/>
    <dgm:cxn modelId="{E7D7DE76-9688-4A0A-94A0-610DAECA124B}" type="presOf" srcId="{749879D4-4810-4C25-BC3D-57E7FED5884A}" destId="{0975888E-E262-4DD7-8989-00B7835F32E7}" srcOrd="1" destOrd="0" presId="urn:microsoft.com/office/officeart/2005/8/layout/cycle2"/>
    <dgm:cxn modelId="{BBA5437E-248E-490E-AF1D-8CADFC1C3290}" type="presOf" srcId="{2C09C2AA-380C-43CB-94C9-981AF285EB69}" destId="{47527136-58EC-4A09-8DFA-1E9CB9372352}" srcOrd="0" destOrd="0" presId="urn:microsoft.com/office/officeart/2005/8/layout/cycle2"/>
    <dgm:cxn modelId="{F3CADE87-973A-429E-BE8D-47B5CB10AD14}" srcId="{DCC44C1A-F4A8-4AA0-BCB1-F94B9C5E0B88}" destId="{FE1F49F0-7EE1-4351-B6C9-51A2EE18508E}" srcOrd="1" destOrd="0" parTransId="{B120C188-04DE-46B0-8C90-50F7DE30C6B9}" sibTransId="{749879D4-4810-4C25-BC3D-57E7FED5884A}"/>
    <dgm:cxn modelId="{1B4AEB8C-1F24-4B77-B9DE-FEA768518B63}" type="presOf" srcId="{7B656DBC-1ACB-4B83-96BB-B11AB20AF693}" destId="{1C808089-EDF2-41B7-80F9-226396FFD3BA}" srcOrd="1" destOrd="0" presId="urn:microsoft.com/office/officeart/2005/8/layout/cycle2"/>
    <dgm:cxn modelId="{7346B4A3-C2A2-4853-A74B-FC8E48CB2A6B}" type="presOf" srcId="{FE1F49F0-7EE1-4351-B6C9-51A2EE18508E}" destId="{DCDF1210-EB9C-4CE7-ABE3-5E4FA77328C7}" srcOrd="0" destOrd="0" presId="urn:microsoft.com/office/officeart/2005/8/layout/cycle2"/>
    <dgm:cxn modelId="{BE1FAEB9-FDF9-47B4-9605-84C92BD9D747}" type="presOf" srcId="{9FB56EA2-05CE-4E9E-9747-29A75BB98563}" destId="{B256053B-3B60-4B43-986E-87783996E917}" srcOrd="0" destOrd="0" presId="urn:microsoft.com/office/officeart/2005/8/layout/cycle2"/>
    <dgm:cxn modelId="{061894BC-F7AE-49E3-A6D0-CAA6C2017E88}" srcId="{DCC44C1A-F4A8-4AA0-BCB1-F94B9C5E0B88}" destId="{1B8855CA-E196-442C-800D-D51D2B379141}" srcOrd="2" destOrd="0" parTransId="{4389DCFF-3AF7-4A37-9B73-83E0E8A8851A}" sibTransId="{FEA3BE84-0F52-4F6E-B6BC-7658B66E0F36}"/>
    <dgm:cxn modelId="{59B341C2-344A-4D03-B43F-7EE8CCE35775}" type="presOf" srcId="{DCC44C1A-F4A8-4AA0-BCB1-F94B9C5E0B88}" destId="{58FE1B81-C4EF-4A80-93A9-9D7BE6CDFF77}" srcOrd="0" destOrd="0" presId="urn:microsoft.com/office/officeart/2005/8/layout/cycle2"/>
    <dgm:cxn modelId="{69C89AC4-CB32-48D8-8D8B-49A4B6399889}" type="presOf" srcId="{7B656DBC-1ACB-4B83-96BB-B11AB20AF693}" destId="{C444BA31-4687-4FF4-B3BC-C0F755586208}" srcOrd="0" destOrd="0" presId="urn:microsoft.com/office/officeart/2005/8/layout/cycle2"/>
    <dgm:cxn modelId="{8C3C93C9-0E3F-4FB3-B4E5-435154F0147F}" type="presOf" srcId="{749879D4-4810-4C25-BC3D-57E7FED5884A}" destId="{D19CBC2C-7118-4FEB-A52A-DE22F6BD0882}" srcOrd="0" destOrd="0" presId="urn:microsoft.com/office/officeart/2005/8/layout/cycle2"/>
    <dgm:cxn modelId="{426AA2CA-0ADE-4F58-8904-683EB7970E52}" type="presOf" srcId="{FEA3BE84-0F52-4F6E-B6BC-7658B66E0F36}" destId="{53851ED2-6F7C-47A8-A0F3-742ED4C1337B}" srcOrd="1" destOrd="0" presId="urn:microsoft.com/office/officeart/2005/8/layout/cycle2"/>
    <dgm:cxn modelId="{8D13D3DE-2202-4D7E-892B-0A8D5526BD3B}" srcId="{DCC44C1A-F4A8-4AA0-BCB1-F94B9C5E0B88}" destId="{2700EFBF-4998-4466-8B14-4CC70C3E8927}" srcOrd="4" destOrd="0" parTransId="{A864A546-AECA-4D7E-BBE1-7A522257EBDA}" sibTransId="{ADE65F8B-EDE3-4398-80D2-03D13104716A}"/>
    <dgm:cxn modelId="{AB015AF5-CBB6-4EDB-A9E7-D1BA6A351081}" type="presOf" srcId="{B2F38C74-81CF-4E25-BBFD-EBA95F2FE991}" destId="{934DB85E-CC95-45C1-8942-994ACB58551A}" srcOrd="0" destOrd="0" presId="urn:microsoft.com/office/officeart/2005/8/layout/cycle2"/>
    <dgm:cxn modelId="{28B9B1AA-A870-4E3A-8C42-85E97033F27B}" type="presParOf" srcId="{58FE1B81-C4EF-4A80-93A9-9D7BE6CDFF77}" destId="{47527136-58EC-4A09-8DFA-1E9CB9372352}" srcOrd="0" destOrd="0" presId="urn:microsoft.com/office/officeart/2005/8/layout/cycle2"/>
    <dgm:cxn modelId="{6447967B-AAE4-4685-B533-F3F34E88697B}" type="presParOf" srcId="{58FE1B81-C4EF-4A80-93A9-9D7BE6CDFF77}" destId="{C444BA31-4687-4FF4-B3BC-C0F755586208}" srcOrd="1" destOrd="0" presId="urn:microsoft.com/office/officeart/2005/8/layout/cycle2"/>
    <dgm:cxn modelId="{DED57C98-62EB-4435-8CAE-14782B1FF972}" type="presParOf" srcId="{C444BA31-4687-4FF4-B3BC-C0F755586208}" destId="{1C808089-EDF2-41B7-80F9-226396FFD3BA}" srcOrd="0" destOrd="0" presId="urn:microsoft.com/office/officeart/2005/8/layout/cycle2"/>
    <dgm:cxn modelId="{CEA9A542-4D96-41EB-928A-B7B479D4FD67}" type="presParOf" srcId="{58FE1B81-C4EF-4A80-93A9-9D7BE6CDFF77}" destId="{DCDF1210-EB9C-4CE7-ABE3-5E4FA77328C7}" srcOrd="2" destOrd="0" presId="urn:microsoft.com/office/officeart/2005/8/layout/cycle2"/>
    <dgm:cxn modelId="{637BACED-F304-472C-B6A1-28C58029A3C3}" type="presParOf" srcId="{58FE1B81-C4EF-4A80-93A9-9D7BE6CDFF77}" destId="{D19CBC2C-7118-4FEB-A52A-DE22F6BD0882}" srcOrd="3" destOrd="0" presId="urn:microsoft.com/office/officeart/2005/8/layout/cycle2"/>
    <dgm:cxn modelId="{C4ADD4D5-F1AC-4015-932D-35CDD7616437}" type="presParOf" srcId="{D19CBC2C-7118-4FEB-A52A-DE22F6BD0882}" destId="{0975888E-E262-4DD7-8989-00B7835F32E7}" srcOrd="0" destOrd="0" presId="urn:microsoft.com/office/officeart/2005/8/layout/cycle2"/>
    <dgm:cxn modelId="{D112F35B-231A-4FE5-AD2F-C87DBAB47B49}" type="presParOf" srcId="{58FE1B81-C4EF-4A80-93A9-9D7BE6CDFF77}" destId="{77FDD25E-E64A-44AE-A3F3-803C536503B5}" srcOrd="4" destOrd="0" presId="urn:microsoft.com/office/officeart/2005/8/layout/cycle2"/>
    <dgm:cxn modelId="{78A1B196-D95A-4062-97DE-FD1BDDE562DE}" type="presParOf" srcId="{58FE1B81-C4EF-4A80-93A9-9D7BE6CDFF77}" destId="{54D3BB47-073E-4C5C-9627-1BE904E742B9}" srcOrd="5" destOrd="0" presId="urn:microsoft.com/office/officeart/2005/8/layout/cycle2"/>
    <dgm:cxn modelId="{CD7B3522-BC5F-4029-8FE9-0FD5C1260BAE}" type="presParOf" srcId="{54D3BB47-073E-4C5C-9627-1BE904E742B9}" destId="{53851ED2-6F7C-47A8-A0F3-742ED4C1337B}" srcOrd="0" destOrd="0" presId="urn:microsoft.com/office/officeart/2005/8/layout/cycle2"/>
    <dgm:cxn modelId="{05C598DC-5DD9-4721-B51D-17E824DF26DC}" type="presParOf" srcId="{58FE1B81-C4EF-4A80-93A9-9D7BE6CDFF77}" destId="{B256053B-3B60-4B43-986E-87783996E917}" srcOrd="6" destOrd="0" presId="urn:microsoft.com/office/officeart/2005/8/layout/cycle2"/>
    <dgm:cxn modelId="{27214550-CB6A-46AA-BA59-1A7493642DC8}" type="presParOf" srcId="{58FE1B81-C4EF-4A80-93A9-9D7BE6CDFF77}" destId="{934DB85E-CC95-45C1-8942-994ACB58551A}" srcOrd="7" destOrd="0" presId="urn:microsoft.com/office/officeart/2005/8/layout/cycle2"/>
    <dgm:cxn modelId="{C75C2657-F269-4993-B38B-0D18148FD253}" type="presParOf" srcId="{934DB85E-CC95-45C1-8942-994ACB58551A}" destId="{AF1F0E29-2444-4782-8A7E-7C52E648FBE0}" srcOrd="0" destOrd="0" presId="urn:microsoft.com/office/officeart/2005/8/layout/cycle2"/>
    <dgm:cxn modelId="{1F8ACB41-B46C-4B81-8806-735A2C9014FA}" type="presParOf" srcId="{58FE1B81-C4EF-4A80-93A9-9D7BE6CDFF77}" destId="{7613DE8F-1A57-46B8-93A2-10538197301E}" srcOrd="8" destOrd="0" presId="urn:microsoft.com/office/officeart/2005/8/layout/cycle2"/>
    <dgm:cxn modelId="{658DC8A2-0B3E-4C0F-9264-C8451D0F5B46}" type="presParOf" srcId="{58FE1B81-C4EF-4A80-93A9-9D7BE6CDFF77}" destId="{42D2FD4E-52C9-4EA5-B5DA-E587BDABD95E}" srcOrd="9" destOrd="0" presId="urn:microsoft.com/office/officeart/2005/8/layout/cycle2"/>
    <dgm:cxn modelId="{ED427F9B-3EB9-4763-9494-ED2AC102409E}" type="presParOf" srcId="{42D2FD4E-52C9-4EA5-B5DA-E587BDABD95E}" destId="{CCA376D4-E77B-4734-B8FB-5FE894DB9E00}"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FECE86E-F7F8-4528-8092-9AE9E75DBBCD}" type="doc">
      <dgm:prSet loTypeId="urn:microsoft.com/office/officeart/2005/8/layout/chevron1" loCatId="process" qsTypeId="urn:microsoft.com/office/officeart/2005/8/quickstyle/3d1" qsCatId="3D" csTypeId="urn:microsoft.com/office/officeart/2005/8/colors/colorful2" csCatId="colorful" phldr="1"/>
      <dgm:spPr/>
    </dgm:pt>
    <dgm:pt modelId="{096C4845-8802-4445-8738-9C01A528F06F}">
      <dgm:prSet phldrT="[Texto]"/>
      <dgm:spPr>
        <a:solidFill>
          <a:srgbClr val="FFC000"/>
        </a:solidFill>
      </dgm:spPr>
      <dgm:t>
        <a:bodyPr/>
        <a:lstStyle/>
        <a:p>
          <a:r>
            <a:rPr lang="pt-BR" dirty="0"/>
            <a:t>Comprar Materiais</a:t>
          </a:r>
        </a:p>
      </dgm:t>
    </dgm:pt>
    <dgm:pt modelId="{1FDD953B-B481-4DC9-A823-87D60659761F}" type="parTrans" cxnId="{53ED9B08-B4D0-4808-8DA7-F7B269153004}">
      <dgm:prSet/>
      <dgm:spPr/>
      <dgm:t>
        <a:bodyPr/>
        <a:lstStyle/>
        <a:p>
          <a:endParaRPr lang="pt-BR"/>
        </a:p>
      </dgm:t>
    </dgm:pt>
    <dgm:pt modelId="{F654856B-893E-4E6D-B00B-BA74BE3A3336}" type="sibTrans" cxnId="{53ED9B08-B4D0-4808-8DA7-F7B269153004}">
      <dgm:prSet/>
      <dgm:spPr/>
      <dgm:t>
        <a:bodyPr/>
        <a:lstStyle/>
        <a:p>
          <a:endParaRPr lang="pt-BR"/>
        </a:p>
      </dgm:t>
    </dgm:pt>
    <dgm:pt modelId="{AD81DE9A-AB3B-490B-A684-D885ED4ACD8F}">
      <dgm:prSet phldrT="[Texto]"/>
      <dgm:spPr>
        <a:solidFill>
          <a:srgbClr val="CC6600"/>
        </a:solidFill>
      </dgm:spPr>
      <dgm:t>
        <a:bodyPr/>
        <a:lstStyle/>
        <a:p>
          <a:pPr algn="r"/>
          <a:r>
            <a:rPr lang="pt-BR" dirty="0"/>
            <a:t>Armazenar</a:t>
          </a:r>
        </a:p>
      </dgm:t>
    </dgm:pt>
    <dgm:pt modelId="{E94D759B-67EC-4645-A22E-329B871C41E6}" type="parTrans" cxnId="{31784EE1-C0BB-49ED-8FE6-641962EDEA17}">
      <dgm:prSet/>
      <dgm:spPr/>
      <dgm:t>
        <a:bodyPr/>
        <a:lstStyle/>
        <a:p>
          <a:endParaRPr lang="pt-BR"/>
        </a:p>
      </dgm:t>
    </dgm:pt>
    <dgm:pt modelId="{B4DC053F-7B1C-4681-AF6A-7C40AFC17ECC}" type="sibTrans" cxnId="{31784EE1-C0BB-49ED-8FE6-641962EDEA17}">
      <dgm:prSet/>
      <dgm:spPr/>
      <dgm:t>
        <a:bodyPr/>
        <a:lstStyle/>
        <a:p>
          <a:endParaRPr lang="pt-BR"/>
        </a:p>
      </dgm:t>
    </dgm:pt>
    <dgm:pt modelId="{77A55B32-0856-4D9F-9BD0-9E166460C35E}">
      <dgm:prSet phldrT="[Texto]"/>
      <dgm:spPr>
        <a:solidFill>
          <a:srgbClr val="D60093"/>
        </a:solidFill>
      </dgm:spPr>
      <dgm:t>
        <a:bodyPr/>
        <a:lstStyle/>
        <a:p>
          <a:r>
            <a:rPr lang="pt-BR" dirty="0"/>
            <a:t>Produzir</a:t>
          </a:r>
        </a:p>
      </dgm:t>
    </dgm:pt>
    <dgm:pt modelId="{7274FF05-A10B-42CC-8049-83FCCA570C0E}" type="parTrans" cxnId="{D98A1720-B62B-4676-9FCF-B3A6F1AC29B1}">
      <dgm:prSet/>
      <dgm:spPr/>
      <dgm:t>
        <a:bodyPr/>
        <a:lstStyle/>
        <a:p>
          <a:endParaRPr lang="pt-BR"/>
        </a:p>
      </dgm:t>
    </dgm:pt>
    <dgm:pt modelId="{197AB41C-4BAC-4FD3-ADB1-5D31D9CB05E5}" type="sibTrans" cxnId="{D98A1720-B62B-4676-9FCF-B3A6F1AC29B1}">
      <dgm:prSet/>
      <dgm:spPr/>
      <dgm:t>
        <a:bodyPr/>
        <a:lstStyle/>
        <a:p>
          <a:endParaRPr lang="pt-BR"/>
        </a:p>
      </dgm:t>
    </dgm:pt>
    <dgm:pt modelId="{ADEC499A-DF1D-49F5-AB14-FBBC1F8BEB95}">
      <dgm:prSet phldrT="[Texto]"/>
      <dgm:spPr>
        <a:solidFill>
          <a:srgbClr val="00B050"/>
        </a:solidFill>
      </dgm:spPr>
      <dgm:t>
        <a:bodyPr/>
        <a:lstStyle/>
        <a:p>
          <a:r>
            <a:rPr lang="pt-BR" dirty="0"/>
            <a:t>Distribuir</a:t>
          </a:r>
        </a:p>
      </dgm:t>
    </dgm:pt>
    <dgm:pt modelId="{A5A50FDF-8BBD-4D0B-8A09-92A38FA57634}" type="parTrans" cxnId="{0FE98A56-6934-46E2-A601-8E7C813BB008}">
      <dgm:prSet/>
      <dgm:spPr/>
      <dgm:t>
        <a:bodyPr/>
        <a:lstStyle/>
        <a:p>
          <a:endParaRPr lang="pt-BR"/>
        </a:p>
      </dgm:t>
    </dgm:pt>
    <dgm:pt modelId="{E90B1404-127D-411C-BD70-0A16679E2444}" type="sibTrans" cxnId="{0FE98A56-6934-46E2-A601-8E7C813BB008}">
      <dgm:prSet/>
      <dgm:spPr/>
      <dgm:t>
        <a:bodyPr/>
        <a:lstStyle/>
        <a:p>
          <a:endParaRPr lang="pt-BR"/>
        </a:p>
      </dgm:t>
    </dgm:pt>
    <dgm:pt modelId="{F142BA59-482D-4132-BBC5-E32BB55DA9B8}" type="pres">
      <dgm:prSet presAssocID="{FFECE86E-F7F8-4528-8092-9AE9E75DBBCD}" presName="Name0" presStyleCnt="0">
        <dgm:presLayoutVars>
          <dgm:dir/>
          <dgm:animLvl val="lvl"/>
          <dgm:resizeHandles val="exact"/>
        </dgm:presLayoutVars>
      </dgm:prSet>
      <dgm:spPr/>
    </dgm:pt>
    <dgm:pt modelId="{410DC93F-5225-4217-B922-EFC1916115A4}" type="pres">
      <dgm:prSet presAssocID="{096C4845-8802-4445-8738-9C01A528F06F}" presName="parTxOnly" presStyleLbl="node1" presStyleIdx="0" presStyleCnt="4">
        <dgm:presLayoutVars>
          <dgm:chMax val="0"/>
          <dgm:chPref val="0"/>
          <dgm:bulletEnabled val="1"/>
        </dgm:presLayoutVars>
      </dgm:prSet>
      <dgm:spPr/>
    </dgm:pt>
    <dgm:pt modelId="{EF7526F2-1E1F-4C5E-85A5-ADC35C176478}" type="pres">
      <dgm:prSet presAssocID="{F654856B-893E-4E6D-B00B-BA74BE3A3336}" presName="parTxOnlySpace" presStyleCnt="0"/>
      <dgm:spPr/>
    </dgm:pt>
    <dgm:pt modelId="{E5C3AEC1-1187-406D-A3E1-47719F5B8809}" type="pres">
      <dgm:prSet presAssocID="{AD81DE9A-AB3B-490B-A684-D885ED4ACD8F}" presName="parTxOnly" presStyleLbl="node1" presStyleIdx="1" presStyleCnt="4">
        <dgm:presLayoutVars>
          <dgm:chMax val="0"/>
          <dgm:chPref val="0"/>
          <dgm:bulletEnabled val="1"/>
        </dgm:presLayoutVars>
      </dgm:prSet>
      <dgm:spPr/>
    </dgm:pt>
    <dgm:pt modelId="{85FF7759-2AD0-4D01-8812-6A74CA2EE8A8}" type="pres">
      <dgm:prSet presAssocID="{B4DC053F-7B1C-4681-AF6A-7C40AFC17ECC}" presName="parTxOnlySpace" presStyleCnt="0"/>
      <dgm:spPr/>
    </dgm:pt>
    <dgm:pt modelId="{903F1878-2142-47FE-A57A-90D891B832FE}" type="pres">
      <dgm:prSet presAssocID="{77A55B32-0856-4D9F-9BD0-9E166460C35E}" presName="parTxOnly" presStyleLbl="node1" presStyleIdx="2" presStyleCnt="4">
        <dgm:presLayoutVars>
          <dgm:chMax val="0"/>
          <dgm:chPref val="0"/>
          <dgm:bulletEnabled val="1"/>
        </dgm:presLayoutVars>
      </dgm:prSet>
      <dgm:spPr/>
    </dgm:pt>
    <dgm:pt modelId="{F4615DF5-39A8-444E-B58A-32F94D7E432A}" type="pres">
      <dgm:prSet presAssocID="{197AB41C-4BAC-4FD3-ADB1-5D31D9CB05E5}" presName="parTxOnlySpace" presStyleCnt="0"/>
      <dgm:spPr/>
    </dgm:pt>
    <dgm:pt modelId="{A8F394CC-1CA1-4D84-A459-EB09B535B0D8}" type="pres">
      <dgm:prSet presAssocID="{ADEC499A-DF1D-49F5-AB14-FBBC1F8BEB95}" presName="parTxOnly" presStyleLbl="node1" presStyleIdx="3" presStyleCnt="4">
        <dgm:presLayoutVars>
          <dgm:chMax val="0"/>
          <dgm:chPref val="0"/>
          <dgm:bulletEnabled val="1"/>
        </dgm:presLayoutVars>
      </dgm:prSet>
      <dgm:spPr/>
    </dgm:pt>
  </dgm:ptLst>
  <dgm:cxnLst>
    <dgm:cxn modelId="{53ED9B08-B4D0-4808-8DA7-F7B269153004}" srcId="{FFECE86E-F7F8-4528-8092-9AE9E75DBBCD}" destId="{096C4845-8802-4445-8738-9C01A528F06F}" srcOrd="0" destOrd="0" parTransId="{1FDD953B-B481-4DC9-A823-87D60659761F}" sibTransId="{F654856B-893E-4E6D-B00B-BA74BE3A3336}"/>
    <dgm:cxn modelId="{D98A1720-B62B-4676-9FCF-B3A6F1AC29B1}" srcId="{FFECE86E-F7F8-4528-8092-9AE9E75DBBCD}" destId="{77A55B32-0856-4D9F-9BD0-9E166460C35E}" srcOrd="2" destOrd="0" parTransId="{7274FF05-A10B-42CC-8049-83FCCA570C0E}" sibTransId="{197AB41C-4BAC-4FD3-ADB1-5D31D9CB05E5}"/>
    <dgm:cxn modelId="{7C457235-EFA6-4A2F-A2ED-47F3A389AC63}" type="presOf" srcId="{AD81DE9A-AB3B-490B-A684-D885ED4ACD8F}" destId="{E5C3AEC1-1187-406D-A3E1-47719F5B8809}" srcOrd="0" destOrd="0" presId="urn:microsoft.com/office/officeart/2005/8/layout/chevron1"/>
    <dgm:cxn modelId="{9F4E3570-0417-42E2-A350-DA4653BD6A3E}" type="presOf" srcId="{ADEC499A-DF1D-49F5-AB14-FBBC1F8BEB95}" destId="{A8F394CC-1CA1-4D84-A459-EB09B535B0D8}" srcOrd="0" destOrd="0" presId="urn:microsoft.com/office/officeart/2005/8/layout/chevron1"/>
    <dgm:cxn modelId="{0FE98A56-6934-46E2-A601-8E7C813BB008}" srcId="{FFECE86E-F7F8-4528-8092-9AE9E75DBBCD}" destId="{ADEC499A-DF1D-49F5-AB14-FBBC1F8BEB95}" srcOrd="3" destOrd="0" parTransId="{A5A50FDF-8BBD-4D0B-8A09-92A38FA57634}" sibTransId="{E90B1404-127D-411C-BD70-0A16679E2444}"/>
    <dgm:cxn modelId="{6C65E399-4385-4257-B82C-BF9F0D270DF4}" type="presOf" srcId="{77A55B32-0856-4D9F-9BD0-9E166460C35E}" destId="{903F1878-2142-47FE-A57A-90D891B832FE}" srcOrd="0" destOrd="0" presId="urn:microsoft.com/office/officeart/2005/8/layout/chevron1"/>
    <dgm:cxn modelId="{1A4955CE-E210-4567-8249-ED75D9D3D881}" type="presOf" srcId="{096C4845-8802-4445-8738-9C01A528F06F}" destId="{410DC93F-5225-4217-B922-EFC1916115A4}" srcOrd="0" destOrd="0" presId="urn:microsoft.com/office/officeart/2005/8/layout/chevron1"/>
    <dgm:cxn modelId="{31784EE1-C0BB-49ED-8FE6-641962EDEA17}" srcId="{FFECE86E-F7F8-4528-8092-9AE9E75DBBCD}" destId="{AD81DE9A-AB3B-490B-A684-D885ED4ACD8F}" srcOrd="1" destOrd="0" parTransId="{E94D759B-67EC-4645-A22E-329B871C41E6}" sibTransId="{B4DC053F-7B1C-4681-AF6A-7C40AFC17ECC}"/>
    <dgm:cxn modelId="{A6932BFB-90F4-4936-ADE1-A6EFBF460E5E}" type="presOf" srcId="{FFECE86E-F7F8-4528-8092-9AE9E75DBBCD}" destId="{F142BA59-482D-4132-BBC5-E32BB55DA9B8}" srcOrd="0" destOrd="0" presId="urn:microsoft.com/office/officeart/2005/8/layout/chevron1"/>
    <dgm:cxn modelId="{970043D9-E06D-4DFE-9040-EE53C878864A}" type="presParOf" srcId="{F142BA59-482D-4132-BBC5-E32BB55DA9B8}" destId="{410DC93F-5225-4217-B922-EFC1916115A4}" srcOrd="0" destOrd="0" presId="urn:microsoft.com/office/officeart/2005/8/layout/chevron1"/>
    <dgm:cxn modelId="{E21832D4-F95A-4737-A2A6-FCC50128DB8A}" type="presParOf" srcId="{F142BA59-482D-4132-BBC5-E32BB55DA9B8}" destId="{EF7526F2-1E1F-4C5E-85A5-ADC35C176478}" srcOrd="1" destOrd="0" presId="urn:microsoft.com/office/officeart/2005/8/layout/chevron1"/>
    <dgm:cxn modelId="{5071B933-E8E9-42C7-9EA9-6F1A460B333B}" type="presParOf" srcId="{F142BA59-482D-4132-BBC5-E32BB55DA9B8}" destId="{E5C3AEC1-1187-406D-A3E1-47719F5B8809}" srcOrd="2" destOrd="0" presId="urn:microsoft.com/office/officeart/2005/8/layout/chevron1"/>
    <dgm:cxn modelId="{67182992-74EC-4741-84B1-F1DBB1989872}" type="presParOf" srcId="{F142BA59-482D-4132-BBC5-E32BB55DA9B8}" destId="{85FF7759-2AD0-4D01-8812-6A74CA2EE8A8}" srcOrd="3" destOrd="0" presId="urn:microsoft.com/office/officeart/2005/8/layout/chevron1"/>
    <dgm:cxn modelId="{89422580-EDF7-4407-9465-3A6E7667C741}" type="presParOf" srcId="{F142BA59-482D-4132-BBC5-E32BB55DA9B8}" destId="{903F1878-2142-47FE-A57A-90D891B832FE}" srcOrd="4" destOrd="0" presId="urn:microsoft.com/office/officeart/2005/8/layout/chevron1"/>
    <dgm:cxn modelId="{EDD343E8-7E90-4683-8AE8-5E0979A94D64}" type="presParOf" srcId="{F142BA59-482D-4132-BBC5-E32BB55DA9B8}" destId="{F4615DF5-39A8-444E-B58A-32F94D7E432A}" srcOrd="5" destOrd="0" presId="urn:microsoft.com/office/officeart/2005/8/layout/chevron1"/>
    <dgm:cxn modelId="{4A21B7E9-A4AB-4B94-B784-7EBAB51844BA}" type="presParOf" srcId="{F142BA59-482D-4132-BBC5-E32BB55DA9B8}" destId="{A8F394CC-1CA1-4D84-A459-EB09B535B0D8}" srcOrd="6"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BF3E012-8FBF-D446-A849-B701531FD45D}" type="doc">
      <dgm:prSet loTypeId="urn:microsoft.com/office/officeart/2005/8/layout/lProcess2" loCatId="" qsTypeId="urn:microsoft.com/office/officeart/2005/8/quickstyle/simple4" qsCatId="simple" csTypeId="urn:microsoft.com/office/officeart/2005/8/colors/accent1_2" csCatId="accent1" phldr="1"/>
      <dgm:spPr/>
      <dgm:t>
        <a:bodyPr/>
        <a:lstStyle/>
        <a:p>
          <a:endParaRPr lang="pt-BR"/>
        </a:p>
      </dgm:t>
    </dgm:pt>
    <dgm:pt modelId="{9D36F4BB-0B04-F047-AE02-1DE9BF2F3A41}">
      <dgm:prSet phldrT="[Text]"/>
      <dgm:spPr>
        <a:solidFill>
          <a:schemeClr val="accent6">
            <a:lumMod val="20000"/>
            <a:lumOff val="80000"/>
          </a:schemeClr>
        </a:solidFill>
      </dgm:spPr>
      <dgm:t>
        <a:bodyPr/>
        <a:lstStyle/>
        <a:p>
          <a:r>
            <a:rPr lang="pt-BR" b="1" dirty="0">
              <a:latin typeface="Helvetica Neue"/>
              <a:cs typeface="Helvetica Neue"/>
            </a:rPr>
            <a:t>Terrestre</a:t>
          </a:r>
        </a:p>
      </dgm:t>
    </dgm:pt>
    <dgm:pt modelId="{CD965115-7BF6-BE47-B416-59ACC8FDCA23}" type="parTrans" cxnId="{1CE9E561-77E0-544E-B0AE-09A8FFCC9952}">
      <dgm:prSet/>
      <dgm:spPr/>
      <dgm:t>
        <a:bodyPr/>
        <a:lstStyle/>
        <a:p>
          <a:endParaRPr lang="pt-BR"/>
        </a:p>
      </dgm:t>
    </dgm:pt>
    <dgm:pt modelId="{C1D41F01-1999-864F-BD37-8E3791F48C43}" type="sibTrans" cxnId="{1CE9E561-77E0-544E-B0AE-09A8FFCC9952}">
      <dgm:prSet/>
      <dgm:spPr/>
      <dgm:t>
        <a:bodyPr/>
        <a:lstStyle/>
        <a:p>
          <a:endParaRPr lang="pt-BR"/>
        </a:p>
      </dgm:t>
    </dgm:pt>
    <dgm:pt modelId="{C990A981-57F4-CB48-8FAC-6A6BBBA6AB41}">
      <dgm:prSet phldrT="[Text]" custT="1"/>
      <dgm:spPr>
        <a:solidFill>
          <a:schemeClr val="accent6">
            <a:lumMod val="60000"/>
            <a:lumOff val="40000"/>
          </a:schemeClr>
        </a:solidFill>
      </dgm:spPr>
      <dgm:t>
        <a:bodyPr/>
        <a:lstStyle/>
        <a:p>
          <a:r>
            <a:rPr lang="pt-BR" sz="1600" dirty="0">
              <a:latin typeface="Helvetica Neue"/>
              <a:cs typeface="Helvetica Neue"/>
            </a:rPr>
            <a:t>Rodoviário</a:t>
          </a:r>
        </a:p>
      </dgm:t>
    </dgm:pt>
    <dgm:pt modelId="{538B0447-AAC8-0540-8EE5-F0D174B339BF}" type="parTrans" cxnId="{FE8D02D4-DC1C-3A43-89F0-013EA887353A}">
      <dgm:prSet/>
      <dgm:spPr/>
      <dgm:t>
        <a:bodyPr/>
        <a:lstStyle/>
        <a:p>
          <a:endParaRPr lang="pt-BR"/>
        </a:p>
      </dgm:t>
    </dgm:pt>
    <dgm:pt modelId="{8AC1190A-694C-CD44-A258-68CB4E3047A6}" type="sibTrans" cxnId="{FE8D02D4-DC1C-3A43-89F0-013EA887353A}">
      <dgm:prSet/>
      <dgm:spPr/>
      <dgm:t>
        <a:bodyPr/>
        <a:lstStyle/>
        <a:p>
          <a:endParaRPr lang="pt-BR"/>
        </a:p>
      </dgm:t>
    </dgm:pt>
    <dgm:pt modelId="{5898A276-0E9C-674B-B718-B5B04CE5ABF5}">
      <dgm:prSet phldrT="[Text]" custT="1"/>
      <dgm:spPr>
        <a:solidFill>
          <a:schemeClr val="accent6">
            <a:lumMod val="60000"/>
            <a:lumOff val="40000"/>
          </a:schemeClr>
        </a:solidFill>
      </dgm:spPr>
      <dgm:t>
        <a:bodyPr/>
        <a:lstStyle/>
        <a:p>
          <a:r>
            <a:rPr lang="pt-BR" sz="1600" dirty="0">
              <a:latin typeface="Helvetica Neue"/>
              <a:cs typeface="Helvetica Neue"/>
            </a:rPr>
            <a:t>Ferroviário</a:t>
          </a:r>
        </a:p>
      </dgm:t>
    </dgm:pt>
    <dgm:pt modelId="{591C6D8B-ED9B-7649-86DD-CC933A451694}" type="parTrans" cxnId="{AC875E1C-0290-0549-9A08-F867EB571B2F}">
      <dgm:prSet/>
      <dgm:spPr/>
      <dgm:t>
        <a:bodyPr/>
        <a:lstStyle/>
        <a:p>
          <a:endParaRPr lang="pt-BR"/>
        </a:p>
      </dgm:t>
    </dgm:pt>
    <dgm:pt modelId="{FB6724E3-DF69-C741-AD31-46555FDA50E7}" type="sibTrans" cxnId="{AC875E1C-0290-0549-9A08-F867EB571B2F}">
      <dgm:prSet/>
      <dgm:spPr/>
      <dgm:t>
        <a:bodyPr/>
        <a:lstStyle/>
        <a:p>
          <a:endParaRPr lang="pt-BR"/>
        </a:p>
      </dgm:t>
    </dgm:pt>
    <dgm:pt modelId="{BD575EF2-218F-B44C-AC08-3226F0B96444}">
      <dgm:prSet phldrT="[Text]"/>
      <dgm:spPr>
        <a:solidFill>
          <a:schemeClr val="accent6">
            <a:lumMod val="20000"/>
            <a:lumOff val="80000"/>
          </a:schemeClr>
        </a:solidFill>
      </dgm:spPr>
      <dgm:t>
        <a:bodyPr/>
        <a:lstStyle/>
        <a:p>
          <a:r>
            <a:rPr lang="pt-BR" b="1" dirty="0">
              <a:latin typeface="Helvetica Neue"/>
              <a:cs typeface="Helvetica Neue"/>
            </a:rPr>
            <a:t>Aquaviário</a:t>
          </a:r>
        </a:p>
      </dgm:t>
    </dgm:pt>
    <dgm:pt modelId="{D642C088-A8CB-3A4F-898D-1A4EEFF4A51E}" type="parTrans" cxnId="{4FA25822-8D81-F243-A401-C2C9F0434405}">
      <dgm:prSet/>
      <dgm:spPr/>
      <dgm:t>
        <a:bodyPr/>
        <a:lstStyle/>
        <a:p>
          <a:endParaRPr lang="pt-BR"/>
        </a:p>
      </dgm:t>
    </dgm:pt>
    <dgm:pt modelId="{6C007943-9911-1140-9417-A1CAC1028955}" type="sibTrans" cxnId="{4FA25822-8D81-F243-A401-C2C9F0434405}">
      <dgm:prSet/>
      <dgm:spPr/>
      <dgm:t>
        <a:bodyPr/>
        <a:lstStyle/>
        <a:p>
          <a:endParaRPr lang="pt-BR"/>
        </a:p>
      </dgm:t>
    </dgm:pt>
    <dgm:pt modelId="{378FA142-01F1-C44B-BC29-216FF6A179E6}">
      <dgm:prSet phldrT="[Text]" custT="1"/>
      <dgm:spPr>
        <a:solidFill>
          <a:schemeClr val="accent6">
            <a:lumMod val="60000"/>
            <a:lumOff val="40000"/>
          </a:schemeClr>
        </a:solidFill>
      </dgm:spPr>
      <dgm:t>
        <a:bodyPr/>
        <a:lstStyle/>
        <a:p>
          <a:r>
            <a:rPr lang="pt-BR" sz="1600" dirty="0">
              <a:latin typeface="Helvetica Neue"/>
              <a:cs typeface="Helvetica Neue"/>
            </a:rPr>
            <a:t>Marítimo</a:t>
          </a:r>
        </a:p>
      </dgm:t>
    </dgm:pt>
    <dgm:pt modelId="{5DFD02CE-06A6-514A-99F3-236BF4981D4F}" type="parTrans" cxnId="{DA2C67CB-42C4-F24A-B79D-F437EB568360}">
      <dgm:prSet/>
      <dgm:spPr/>
      <dgm:t>
        <a:bodyPr/>
        <a:lstStyle/>
        <a:p>
          <a:endParaRPr lang="pt-BR"/>
        </a:p>
      </dgm:t>
    </dgm:pt>
    <dgm:pt modelId="{6C379966-D7CC-C742-8698-01738982F00E}" type="sibTrans" cxnId="{DA2C67CB-42C4-F24A-B79D-F437EB568360}">
      <dgm:prSet/>
      <dgm:spPr/>
      <dgm:t>
        <a:bodyPr/>
        <a:lstStyle/>
        <a:p>
          <a:endParaRPr lang="pt-BR"/>
        </a:p>
      </dgm:t>
    </dgm:pt>
    <dgm:pt modelId="{F4139A40-0F72-D647-87ED-58B466AABB17}">
      <dgm:prSet phldrT="[Text]" custT="1"/>
      <dgm:spPr>
        <a:solidFill>
          <a:schemeClr val="accent6">
            <a:lumMod val="60000"/>
            <a:lumOff val="40000"/>
          </a:schemeClr>
        </a:solidFill>
      </dgm:spPr>
      <dgm:t>
        <a:bodyPr/>
        <a:lstStyle/>
        <a:p>
          <a:r>
            <a:rPr lang="pt-BR" sz="1600" dirty="0">
              <a:latin typeface="Helvetica Neue"/>
              <a:cs typeface="Helvetica Neue"/>
            </a:rPr>
            <a:t>Cabotagem</a:t>
          </a:r>
        </a:p>
      </dgm:t>
    </dgm:pt>
    <dgm:pt modelId="{5F0D0F88-819C-2244-BDBE-2B638F63F4DD}" type="parTrans" cxnId="{424AD17B-8E52-7544-B8C3-5527C9CF53D5}">
      <dgm:prSet/>
      <dgm:spPr/>
      <dgm:t>
        <a:bodyPr/>
        <a:lstStyle/>
        <a:p>
          <a:endParaRPr lang="pt-BR"/>
        </a:p>
      </dgm:t>
    </dgm:pt>
    <dgm:pt modelId="{85F56796-B203-4647-B2C0-C670633DBD2A}" type="sibTrans" cxnId="{424AD17B-8E52-7544-B8C3-5527C9CF53D5}">
      <dgm:prSet/>
      <dgm:spPr/>
      <dgm:t>
        <a:bodyPr/>
        <a:lstStyle/>
        <a:p>
          <a:endParaRPr lang="pt-BR"/>
        </a:p>
      </dgm:t>
    </dgm:pt>
    <dgm:pt modelId="{4D76B434-EADD-E64F-9935-840A1730A865}">
      <dgm:prSet phldrT="[Text]"/>
      <dgm:spPr>
        <a:solidFill>
          <a:schemeClr val="accent6">
            <a:lumMod val="20000"/>
            <a:lumOff val="80000"/>
          </a:schemeClr>
        </a:solidFill>
      </dgm:spPr>
      <dgm:t>
        <a:bodyPr/>
        <a:lstStyle/>
        <a:p>
          <a:r>
            <a:rPr lang="pt-BR" b="1" dirty="0">
              <a:latin typeface="Helvetica Neue"/>
              <a:cs typeface="Helvetica Neue"/>
            </a:rPr>
            <a:t>Aéreo</a:t>
          </a:r>
        </a:p>
      </dgm:t>
    </dgm:pt>
    <dgm:pt modelId="{820D5F54-FE4D-D848-A81F-1FD9F8D5B0E5}" type="parTrans" cxnId="{B0F6B0BC-5196-5242-B7AB-3FC69A3A72C5}">
      <dgm:prSet/>
      <dgm:spPr/>
      <dgm:t>
        <a:bodyPr/>
        <a:lstStyle/>
        <a:p>
          <a:endParaRPr lang="pt-BR"/>
        </a:p>
      </dgm:t>
    </dgm:pt>
    <dgm:pt modelId="{DFEA6396-690D-2E49-A289-6EFE34C3220A}" type="sibTrans" cxnId="{B0F6B0BC-5196-5242-B7AB-3FC69A3A72C5}">
      <dgm:prSet/>
      <dgm:spPr/>
      <dgm:t>
        <a:bodyPr/>
        <a:lstStyle/>
        <a:p>
          <a:endParaRPr lang="pt-BR"/>
        </a:p>
      </dgm:t>
    </dgm:pt>
    <dgm:pt modelId="{07A5453C-4056-6E4C-8D70-8FCF713B3513}">
      <dgm:prSet phldrT="[Text]" custT="1"/>
      <dgm:spPr>
        <a:solidFill>
          <a:schemeClr val="accent6">
            <a:lumMod val="60000"/>
            <a:lumOff val="40000"/>
          </a:schemeClr>
        </a:solidFill>
      </dgm:spPr>
      <dgm:t>
        <a:bodyPr/>
        <a:lstStyle/>
        <a:p>
          <a:r>
            <a:rPr lang="pt-BR" sz="1600" dirty="0">
              <a:latin typeface="Helvetica Neue"/>
              <a:cs typeface="Helvetica Neue"/>
            </a:rPr>
            <a:t>Fluvial</a:t>
          </a:r>
        </a:p>
      </dgm:t>
    </dgm:pt>
    <dgm:pt modelId="{8D83A417-6044-6B4B-A987-325A319BA887}" type="parTrans" cxnId="{56336FFF-0338-CF43-9357-ADE16942C6A2}">
      <dgm:prSet/>
      <dgm:spPr/>
      <dgm:t>
        <a:bodyPr/>
        <a:lstStyle/>
        <a:p>
          <a:endParaRPr lang="pt-BR"/>
        </a:p>
      </dgm:t>
    </dgm:pt>
    <dgm:pt modelId="{7E33A076-066C-424F-B40F-CC48EBAF5CCF}" type="sibTrans" cxnId="{56336FFF-0338-CF43-9357-ADE16942C6A2}">
      <dgm:prSet/>
      <dgm:spPr/>
      <dgm:t>
        <a:bodyPr/>
        <a:lstStyle/>
        <a:p>
          <a:endParaRPr lang="pt-BR"/>
        </a:p>
      </dgm:t>
    </dgm:pt>
    <dgm:pt modelId="{72D991DE-2874-FD47-9A1D-C3BF1680B8AC}">
      <dgm:prSet phldrT="[Text]"/>
      <dgm:spPr>
        <a:solidFill>
          <a:schemeClr val="accent6">
            <a:lumMod val="20000"/>
            <a:lumOff val="80000"/>
          </a:schemeClr>
        </a:solidFill>
      </dgm:spPr>
      <dgm:t>
        <a:bodyPr/>
        <a:lstStyle/>
        <a:p>
          <a:r>
            <a:rPr lang="pt-BR" b="1" dirty="0" err="1">
              <a:latin typeface="Helvetica Neue"/>
              <a:cs typeface="Helvetica Neue"/>
            </a:rPr>
            <a:t>Dutoviário</a:t>
          </a:r>
          <a:r>
            <a:rPr lang="pt-BR" b="1" dirty="0">
              <a:latin typeface="Helvetica Neue"/>
              <a:cs typeface="Helvetica Neue"/>
            </a:rPr>
            <a:t>*</a:t>
          </a:r>
        </a:p>
      </dgm:t>
    </dgm:pt>
    <dgm:pt modelId="{FD40D6AC-6138-2245-8CE4-0F662626379B}" type="parTrans" cxnId="{664CABA7-F34B-4C4A-8220-A769359CA252}">
      <dgm:prSet/>
      <dgm:spPr/>
      <dgm:t>
        <a:bodyPr/>
        <a:lstStyle/>
        <a:p>
          <a:endParaRPr lang="pt-BR"/>
        </a:p>
      </dgm:t>
    </dgm:pt>
    <dgm:pt modelId="{DFAA1454-A1CB-1144-909E-980E0FD1C062}" type="sibTrans" cxnId="{664CABA7-F34B-4C4A-8220-A769359CA252}">
      <dgm:prSet/>
      <dgm:spPr/>
      <dgm:t>
        <a:bodyPr/>
        <a:lstStyle/>
        <a:p>
          <a:endParaRPr lang="pt-BR"/>
        </a:p>
      </dgm:t>
    </dgm:pt>
    <dgm:pt modelId="{745F9AEC-D078-AC41-AF50-17FF95E12DB6}">
      <dgm:prSet phldrT="[Text]" custT="1"/>
      <dgm:spPr>
        <a:solidFill>
          <a:schemeClr val="accent6">
            <a:lumMod val="60000"/>
            <a:lumOff val="40000"/>
          </a:schemeClr>
        </a:solidFill>
      </dgm:spPr>
      <dgm:t>
        <a:bodyPr/>
        <a:lstStyle/>
        <a:p>
          <a:r>
            <a:rPr lang="pt-BR" sz="1600" dirty="0">
              <a:latin typeface="Helvetica Neue"/>
              <a:cs typeface="Helvetica Neue"/>
            </a:rPr>
            <a:t>Lacustre</a:t>
          </a:r>
        </a:p>
      </dgm:t>
    </dgm:pt>
    <dgm:pt modelId="{EEABFAFB-59EA-3940-B91E-3D8C0CD5099F}" type="parTrans" cxnId="{DAC133C2-C87A-F442-8CDD-C7F23D645726}">
      <dgm:prSet/>
      <dgm:spPr/>
      <dgm:t>
        <a:bodyPr/>
        <a:lstStyle/>
        <a:p>
          <a:endParaRPr lang="pt-BR"/>
        </a:p>
      </dgm:t>
    </dgm:pt>
    <dgm:pt modelId="{EC6966E5-528B-7A4A-9683-810C5BA99757}" type="sibTrans" cxnId="{DAC133C2-C87A-F442-8CDD-C7F23D645726}">
      <dgm:prSet/>
      <dgm:spPr/>
      <dgm:t>
        <a:bodyPr/>
        <a:lstStyle/>
        <a:p>
          <a:endParaRPr lang="pt-BR"/>
        </a:p>
      </dgm:t>
    </dgm:pt>
    <dgm:pt modelId="{F40624A6-8788-3444-B470-C370C9AA1D60}">
      <dgm:prSet phldrT="[Text]" custT="1"/>
      <dgm:spPr>
        <a:solidFill>
          <a:schemeClr val="accent6">
            <a:lumMod val="60000"/>
            <a:lumOff val="40000"/>
          </a:schemeClr>
        </a:solidFill>
      </dgm:spPr>
      <dgm:t>
        <a:bodyPr/>
        <a:lstStyle/>
        <a:p>
          <a:r>
            <a:rPr lang="pt-BR" sz="1600" b="0" dirty="0">
              <a:latin typeface="Helvetica Neue"/>
              <a:cs typeface="Helvetica Neue"/>
            </a:rPr>
            <a:t>Oleoduto</a:t>
          </a:r>
        </a:p>
      </dgm:t>
    </dgm:pt>
    <dgm:pt modelId="{7025057A-557E-B844-BEAC-63B3FE65CCE3}" type="parTrans" cxnId="{BEBD8782-EE28-8742-9ECA-7DD510D7536A}">
      <dgm:prSet/>
      <dgm:spPr/>
      <dgm:t>
        <a:bodyPr/>
        <a:lstStyle/>
        <a:p>
          <a:endParaRPr lang="pt-BR"/>
        </a:p>
      </dgm:t>
    </dgm:pt>
    <dgm:pt modelId="{2D460DAD-57F7-7844-83FE-022724F37288}" type="sibTrans" cxnId="{BEBD8782-EE28-8742-9ECA-7DD510D7536A}">
      <dgm:prSet/>
      <dgm:spPr/>
      <dgm:t>
        <a:bodyPr/>
        <a:lstStyle/>
        <a:p>
          <a:endParaRPr lang="pt-BR"/>
        </a:p>
      </dgm:t>
    </dgm:pt>
    <dgm:pt modelId="{73F7B52B-9FB9-254F-BC2E-EB2695A0EC10}">
      <dgm:prSet phldrT="[Text]" custT="1"/>
      <dgm:spPr>
        <a:solidFill>
          <a:schemeClr val="accent6">
            <a:lumMod val="60000"/>
            <a:lumOff val="40000"/>
          </a:schemeClr>
        </a:solidFill>
      </dgm:spPr>
      <dgm:t>
        <a:bodyPr/>
        <a:lstStyle/>
        <a:p>
          <a:r>
            <a:rPr lang="pt-BR" sz="1600" b="0" dirty="0">
              <a:latin typeface="Helvetica Neue"/>
              <a:cs typeface="Helvetica Neue"/>
            </a:rPr>
            <a:t>Gasoduto</a:t>
          </a:r>
        </a:p>
      </dgm:t>
    </dgm:pt>
    <dgm:pt modelId="{B32BD370-F3D4-F540-9951-77F36582829F}" type="parTrans" cxnId="{FFC8247E-9DA2-D44E-BBB5-FB1C63725736}">
      <dgm:prSet/>
      <dgm:spPr/>
      <dgm:t>
        <a:bodyPr/>
        <a:lstStyle/>
        <a:p>
          <a:endParaRPr lang="pt-BR"/>
        </a:p>
      </dgm:t>
    </dgm:pt>
    <dgm:pt modelId="{3DE89819-3CEE-5B4E-A12C-5D2438828210}" type="sibTrans" cxnId="{FFC8247E-9DA2-D44E-BBB5-FB1C63725736}">
      <dgm:prSet/>
      <dgm:spPr/>
      <dgm:t>
        <a:bodyPr/>
        <a:lstStyle/>
        <a:p>
          <a:endParaRPr lang="pt-BR"/>
        </a:p>
      </dgm:t>
    </dgm:pt>
    <dgm:pt modelId="{00D10317-90AB-5742-B006-6C35AD69A6AA}">
      <dgm:prSet phldrT="[Text]" custT="1"/>
      <dgm:spPr>
        <a:solidFill>
          <a:schemeClr val="accent6">
            <a:lumMod val="60000"/>
            <a:lumOff val="40000"/>
          </a:schemeClr>
        </a:solidFill>
      </dgm:spPr>
      <dgm:t>
        <a:bodyPr/>
        <a:lstStyle/>
        <a:p>
          <a:r>
            <a:rPr lang="pt-BR" sz="1600" b="0" dirty="0" err="1">
              <a:latin typeface="Helvetica Neue"/>
              <a:cs typeface="Helvetica Neue"/>
            </a:rPr>
            <a:t>Mineroduto</a:t>
          </a:r>
          <a:endParaRPr lang="pt-BR" sz="1600" b="0" dirty="0">
            <a:latin typeface="Helvetica Neue"/>
            <a:cs typeface="Helvetica Neue"/>
          </a:endParaRPr>
        </a:p>
      </dgm:t>
    </dgm:pt>
    <dgm:pt modelId="{E978177E-A549-3347-8DB6-BF2E9F7A6D8A}" type="parTrans" cxnId="{1D8CA633-0D6E-3B43-86AD-087D7C7831A5}">
      <dgm:prSet/>
      <dgm:spPr/>
      <dgm:t>
        <a:bodyPr/>
        <a:lstStyle/>
        <a:p>
          <a:endParaRPr lang="pt-BR"/>
        </a:p>
      </dgm:t>
    </dgm:pt>
    <dgm:pt modelId="{29158CFA-D88B-C046-8F47-5DC9A1A45636}" type="sibTrans" cxnId="{1D8CA633-0D6E-3B43-86AD-087D7C7831A5}">
      <dgm:prSet/>
      <dgm:spPr/>
      <dgm:t>
        <a:bodyPr/>
        <a:lstStyle/>
        <a:p>
          <a:endParaRPr lang="pt-BR"/>
        </a:p>
      </dgm:t>
    </dgm:pt>
    <dgm:pt modelId="{58B05D37-D10C-AD42-AE11-AC298A33A6EF}">
      <dgm:prSet phldrT="[Text]" custT="1"/>
      <dgm:spPr>
        <a:solidFill>
          <a:schemeClr val="accent6">
            <a:lumMod val="60000"/>
            <a:lumOff val="40000"/>
          </a:schemeClr>
        </a:solidFill>
      </dgm:spPr>
      <dgm:t>
        <a:bodyPr/>
        <a:lstStyle/>
        <a:p>
          <a:r>
            <a:rPr lang="pt-BR" sz="1600" b="0" dirty="0">
              <a:latin typeface="Helvetica Neue"/>
              <a:cs typeface="Helvetica Neue"/>
            </a:rPr>
            <a:t>Regulares</a:t>
          </a:r>
        </a:p>
        <a:p>
          <a:r>
            <a:rPr lang="pt-BR" sz="1200" b="0" dirty="0">
              <a:latin typeface="Helvetica Neue"/>
              <a:cs typeface="Helvetica Neue"/>
            </a:rPr>
            <a:t>(nacional e  internacional)</a:t>
          </a:r>
        </a:p>
      </dgm:t>
    </dgm:pt>
    <dgm:pt modelId="{6B3612C3-42D6-6749-83A8-DA63FD90C188}" type="parTrans" cxnId="{EDACAB6E-E7C0-1F4B-9BCD-9C62A85C07D3}">
      <dgm:prSet/>
      <dgm:spPr/>
      <dgm:t>
        <a:bodyPr/>
        <a:lstStyle/>
        <a:p>
          <a:endParaRPr lang="pt-BR"/>
        </a:p>
      </dgm:t>
    </dgm:pt>
    <dgm:pt modelId="{1511EADE-35AF-2142-8DCA-6976E3AA13DA}" type="sibTrans" cxnId="{EDACAB6E-E7C0-1F4B-9BCD-9C62A85C07D3}">
      <dgm:prSet/>
      <dgm:spPr/>
      <dgm:t>
        <a:bodyPr/>
        <a:lstStyle/>
        <a:p>
          <a:endParaRPr lang="pt-BR"/>
        </a:p>
      </dgm:t>
    </dgm:pt>
    <dgm:pt modelId="{D0637587-DAE8-2647-9F25-87CE5109DA1B}">
      <dgm:prSet phldrT="[Text]" custT="1"/>
      <dgm:spPr>
        <a:solidFill>
          <a:schemeClr val="accent6">
            <a:lumMod val="60000"/>
            <a:lumOff val="40000"/>
          </a:schemeClr>
        </a:solidFill>
      </dgm:spPr>
      <dgm:t>
        <a:bodyPr/>
        <a:lstStyle/>
        <a:p>
          <a:r>
            <a:rPr lang="pt-BR" sz="1600" b="0" dirty="0">
              <a:latin typeface="Helvetica Neue"/>
              <a:cs typeface="Helvetica Neue"/>
            </a:rPr>
            <a:t>Regionais (local)</a:t>
          </a:r>
        </a:p>
      </dgm:t>
    </dgm:pt>
    <dgm:pt modelId="{37B4AC53-E011-474E-AB24-BDB128BA2148}" type="parTrans" cxnId="{2889C75E-EF1E-2043-AA72-9E1680672F95}">
      <dgm:prSet/>
      <dgm:spPr/>
      <dgm:t>
        <a:bodyPr/>
        <a:lstStyle/>
        <a:p>
          <a:endParaRPr lang="pt-BR"/>
        </a:p>
      </dgm:t>
    </dgm:pt>
    <dgm:pt modelId="{37C3311D-2A14-3A4F-A782-0C2FEFD5A399}" type="sibTrans" cxnId="{2889C75E-EF1E-2043-AA72-9E1680672F95}">
      <dgm:prSet/>
      <dgm:spPr/>
      <dgm:t>
        <a:bodyPr/>
        <a:lstStyle/>
        <a:p>
          <a:endParaRPr lang="pt-BR"/>
        </a:p>
      </dgm:t>
    </dgm:pt>
    <dgm:pt modelId="{88F43315-C6B7-5C48-9567-66F5B07E02A9}">
      <dgm:prSet phldrT="[Text]" custT="1"/>
      <dgm:spPr>
        <a:solidFill>
          <a:schemeClr val="accent6">
            <a:lumMod val="60000"/>
            <a:lumOff val="40000"/>
          </a:schemeClr>
        </a:solidFill>
      </dgm:spPr>
      <dgm:t>
        <a:bodyPr/>
        <a:lstStyle/>
        <a:p>
          <a:r>
            <a:rPr lang="pt-BR" sz="1600" b="0" dirty="0">
              <a:latin typeface="Helvetica Neue"/>
              <a:cs typeface="Helvetica Neue"/>
            </a:rPr>
            <a:t>Dutos Saneamento básico</a:t>
          </a:r>
        </a:p>
      </dgm:t>
    </dgm:pt>
    <dgm:pt modelId="{C4603431-DC09-9849-9AAE-FDC394BE7D09}" type="parTrans" cxnId="{47B34D36-5EFE-AA46-B25A-334770211960}">
      <dgm:prSet/>
      <dgm:spPr/>
      <dgm:t>
        <a:bodyPr/>
        <a:lstStyle/>
        <a:p>
          <a:endParaRPr lang="pt-BR"/>
        </a:p>
      </dgm:t>
    </dgm:pt>
    <dgm:pt modelId="{5DC4FA84-1ADC-9040-92AA-0F3E9B93B295}" type="sibTrans" cxnId="{47B34D36-5EFE-AA46-B25A-334770211960}">
      <dgm:prSet/>
      <dgm:spPr/>
      <dgm:t>
        <a:bodyPr/>
        <a:lstStyle/>
        <a:p>
          <a:endParaRPr lang="pt-BR"/>
        </a:p>
      </dgm:t>
    </dgm:pt>
    <dgm:pt modelId="{E3B2207F-CCBD-A84C-9767-CA9E03BBD364}" type="pres">
      <dgm:prSet presAssocID="{7BF3E012-8FBF-D446-A849-B701531FD45D}" presName="theList" presStyleCnt="0">
        <dgm:presLayoutVars>
          <dgm:dir/>
          <dgm:animLvl val="lvl"/>
          <dgm:resizeHandles val="exact"/>
        </dgm:presLayoutVars>
      </dgm:prSet>
      <dgm:spPr/>
    </dgm:pt>
    <dgm:pt modelId="{9F7647FE-F86E-8D4E-A738-16C2A40510A7}" type="pres">
      <dgm:prSet presAssocID="{9D36F4BB-0B04-F047-AE02-1DE9BF2F3A41}" presName="compNode" presStyleCnt="0"/>
      <dgm:spPr/>
    </dgm:pt>
    <dgm:pt modelId="{E7678699-A3C7-9942-92BC-276E2220E5A2}" type="pres">
      <dgm:prSet presAssocID="{9D36F4BB-0B04-F047-AE02-1DE9BF2F3A41}" presName="aNode" presStyleLbl="bgShp" presStyleIdx="0" presStyleCnt="4" custLinFactNeighborX="-83015" custLinFactNeighborY="561"/>
      <dgm:spPr/>
    </dgm:pt>
    <dgm:pt modelId="{22A6FFB2-466F-854E-A34F-D6CB718AE6A0}" type="pres">
      <dgm:prSet presAssocID="{9D36F4BB-0B04-F047-AE02-1DE9BF2F3A41}" presName="textNode" presStyleLbl="bgShp" presStyleIdx="0" presStyleCnt="4"/>
      <dgm:spPr/>
    </dgm:pt>
    <dgm:pt modelId="{7FC7CA8C-6A09-ED47-BB9E-C92D7DDD0BFE}" type="pres">
      <dgm:prSet presAssocID="{9D36F4BB-0B04-F047-AE02-1DE9BF2F3A41}" presName="compChildNode" presStyleCnt="0"/>
      <dgm:spPr/>
    </dgm:pt>
    <dgm:pt modelId="{85AB9E9D-1B0C-2D4E-A6CC-EC178C5CF057}" type="pres">
      <dgm:prSet presAssocID="{9D36F4BB-0B04-F047-AE02-1DE9BF2F3A41}" presName="theInnerList" presStyleCnt="0"/>
      <dgm:spPr/>
    </dgm:pt>
    <dgm:pt modelId="{FD05F6B3-92FF-F445-9AD4-A8D6456B0E25}" type="pres">
      <dgm:prSet presAssocID="{C990A981-57F4-CB48-8FAC-6A6BBBA6AB41}" presName="childNode" presStyleLbl="node1" presStyleIdx="0" presStyleCnt="12" custScaleX="116081">
        <dgm:presLayoutVars>
          <dgm:bulletEnabled val="1"/>
        </dgm:presLayoutVars>
      </dgm:prSet>
      <dgm:spPr/>
    </dgm:pt>
    <dgm:pt modelId="{CEBB2B1D-2CFF-6541-800E-B1420547D77F}" type="pres">
      <dgm:prSet presAssocID="{C990A981-57F4-CB48-8FAC-6A6BBBA6AB41}" presName="aSpace2" presStyleCnt="0"/>
      <dgm:spPr/>
    </dgm:pt>
    <dgm:pt modelId="{EB039BF5-D8B3-1A4F-985A-BE6E91D04FD6}" type="pres">
      <dgm:prSet presAssocID="{5898A276-0E9C-674B-B718-B5B04CE5ABF5}" presName="childNode" presStyleLbl="node1" presStyleIdx="1" presStyleCnt="12" custScaleX="116081">
        <dgm:presLayoutVars>
          <dgm:bulletEnabled val="1"/>
        </dgm:presLayoutVars>
      </dgm:prSet>
      <dgm:spPr/>
    </dgm:pt>
    <dgm:pt modelId="{C73094B7-0600-0B43-89DE-AF73F142FBDC}" type="pres">
      <dgm:prSet presAssocID="{9D36F4BB-0B04-F047-AE02-1DE9BF2F3A41}" presName="aSpace" presStyleCnt="0"/>
      <dgm:spPr/>
    </dgm:pt>
    <dgm:pt modelId="{65018A0F-C9B7-874C-AF80-45C87BFF48DD}" type="pres">
      <dgm:prSet presAssocID="{BD575EF2-218F-B44C-AC08-3226F0B96444}" presName="compNode" presStyleCnt="0"/>
      <dgm:spPr/>
    </dgm:pt>
    <dgm:pt modelId="{49279911-E62F-C14D-9872-91E8027DC5E6}" type="pres">
      <dgm:prSet presAssocID="{BD575EF2-218F-B44C-AC08-3226F0B96444}" presName="aNode" presStyleLbl="bgShp" presStyleIdx="1" presStyleCnt="4"/>
      <dgm:spPr/>
    </dgm:pt>
    <dgm:pt modelId="{FABD02BD-4637-FB46-B226-17525BD5228B}" type="pres">
      <dgm:prSet presAssocID="{BD575EF2-218F-B44C-AC08-3226F0B96444}" presName="textNode" presStyleLbl="bgShp" presStyleIdx="1" presStyleCnt="4"/>
      <dgm:spPr/>
    </dgm:pt>
    <dgm:pt modelId="{F62E0EA5-D571-2B45-B38D-7C17B8B7B634}" type="pres">
      <dgm:prSet presAssocID="{BD575EF2-218F-B44C-AC08-3226F0B96444}" presName="compChildNode" presStyleCnt="0"/>
      <dgm:spPr/>
    </dgm:pt>
    <dgm:pt modelId="{7B97923E-7071-DC42-87D3-D4F3733045B1}" type="pres">
      <dgm:prSet presAssocID="{BD575EF2-218F-B44C-AC08-3226F0B96444}" presName="theInnerList" presStyleCnt="0"/>
      <dgm:spPr/>
    </dgm:pt>
    <dgm:pt modelId="{229BF415-EAB4-D94E-830D-F0D49B3F4411}" type="pres">
      <dgm:prSet presAssocID="{378FA142-01F1-C44B-BC29-216FF6A179E6}" presName="childNode" presStyleLbl="node1" presStyleIdx="2" presStyleCnt="12" custScaleX="119371">
        <dgm:presLayoutVars>
          <dgm:bulletEnabled val="1"/>
        </dgm:presLayoutVars>
      </dgm:prSet>
      <dgm:spPr/>
    </dgm:pt>
    <dgm:pt modelId="{7507BE25-9871-E442-AB0B-7D44ADF69B1D}" type="pres">
      <dgm:prSet presAssocID="{378FA142-01F1-C44B-BC29-216FF6A179E6}" presName="aSpace2" presStyleCnt="0"/>
      <dgm:spPr/>
    </dgm:pt>
    <dgm:pt modelId="{3879C034-D841-F344-B20F-0C00B348F39B}" type="pres">
      <dgm:prSet presAssocID="{F4139A40-0F72-D647-87ED-58B466AABB17}" presName="childNode" presStyleLbl="node1" presStyleIdx="3" presStyleCnt="12" custScaleX="119371">
        <dgm:presLayoutVars>
          <dgm:bulletEnabled val="1"/>
        </dgm:presLayoutVars>
      </dgm:prSet>
      <dgm:spPr/>
    </dgm:pt>
    <dgm:pt modelId="{DE1534C9-5D78-BA4F-99D9-81BCAE97DF25}" type="pres">
      <dgm:prSet presAssocID="{F4139A40-0F72-D647-87ED-58B466AABB17}" presName="aSpace2" presStyleCnt="0"/>
      <dgm:spPr/>
    </dgm:pt>
    <dgm:pt modelId="{67579F62-36D8-FD4D-BD6C-93E4FE039AA7}" type="pres">
      <dgm:prSet presAssocID="{07A5453C-4056-6E4C-8D70-8FCF713B3513}" presName="childNode" presStyleLbl="node1" presStyleIdx="4" presStyleCnt="12" custScaleX="119248">
        <dgm:presLayoutVars>
          <dgm:bulletEnabled val="1"/>
        </dgm:presLayoutVars>
      </dgm:prSet>
      <dgm:spPr/>
    </dgm:pt>
    <dgm:pt modelId="{4690DE4D-5D94-9543-A0B6-6674D2E7B110}" type="pres">
      <dgm:prSet presAssocID="{07A5453C-4056-6E4C-8D70-8FCF713B3513}" presName="aSpace2" presStyleCnt="0"/>
      <dgm:spPr/>
    </dgm:pt>
    <dgm:pt modelId="{519AD69F-C1F8-264E-A9DE-62E6523B53A2}" type="pres">
      <dgm:prSet presAssocID="{745F9AEC-D078-AC41-AF50-17FF95E12DB6}" presName="childNode" presStyleLbl="node1" presStyleIdx="5" presStyleCnt="12" custScaleX="120958">
        <dgm:presLayoutVars>
          <dgm:bulletEnabled val="1"/>
        </dgm:presLayoutVars>
      </dgm:prSet>
      <dgm:spPr/>
    </dgm:pt>
    <dgm:pt modelId="{988CE610-298C-784F-9E12-6BA62C363501}" type="pres">
      <dgm:prSet presAssocID="{BD575EF2-218F-B44C-AC08-3226F0B96444}" presName="aSpace" presStyleCnt="0"/>
      <dgm:spPr/>
    </dgm:pt>
    <dgm:pt modelId="{4813E666-0FDA-2848-858C-CC485C51231C}" type="pres">
      <dgm:prSet presAssocID="{4D76B434-EADD-E64F-9935-840A1730A865}" presName="compNode" presStyleCnt="0"/>
      <dgm:spPr/>
    </dgm:pt>
    <dgm:pt modelId="{39DCDF60-E3EA-B247-A762-C246A487CD10}" type="pres">
      <dgm:prSet presAssocID="{4D76B434-EADD-E64F-9935-840A1730A865}" presName="aNode" presStyleLbl="bgShp" presStyleIdx="2" presStyleCnt="4" custLinFactNeighborX="-1043" custLinFactNeighborY="335"/>
      <dgm:spPr/>
    </dgm:pt>
    <dgm:pt modelId="{CF714C77-1C5C-F241-9CA9-6390A313FAAC}" type="pres">
      <dgm:prSet presAssocID="{4D76B434-EADD-E64F-9935-840A1730A865}" presName="textNode" presStyleLbl="bgShp" presStyleIdx="2" presStyleCnt="4"/>
      <dgm:spPr/>
    </dgm:pt>
    <dgm:pt modelId="{80F25BA7-3304-BD44-9700-8931A180869D}" type="pres">
      <dgm:prSet presAssocID="{4D76B434-EADD-E64F-9935-840A1730A865}" presName="compChildNode" presStyleCnt="0"/>
      <dgm:spPr/>
    </dgm:pt>
    <dgm:pt modelId="{46E5E0BA-B977-E549-9ABA-B5C1AA184E74}" type="pres">
      <dgm:prSet presAssocID="{4D76B434-EADD-E64F-9935-840A1730A865}" presName="theInnerList" presStyleCnt="0"/>
      <dgm:spPr/>
    </dgm:pt>
    <dgm:pt modelId="{1A967A77-3756-DC47-9D01-EAB3BAA9EFA8}" type="pres">
      <dgm:prSet presAssocID="{58B05D37-D10C-AD42-AE11-AC298A33A6EF}" presName="childNode" presStyleLbl="node1" presStyleIdx="6" presStyleCnt="12" custScaleX="119877" custLinFactNeighborX="-1303">
        <dgm:presLayoutVars>
          <dgm:bulletEnabled val="1"/>
        </dgm:presLayoutVars>
      </dgm:prSet>
      <dgm:spPr/>
    </dgm:pt>
    <dgm:pt modelId="{E0E3188D-D362-894E-A52D-132D2C6C6942}" type="pres">
      <dgm:prSet presAssocID="{58B05D37-D10C-AD42-AE11-AC298A33A6EF}" presName="aSpace2" presStyleCnt="0"/>
      <dgm:spPr/>
    </dgm:pt>
    <dgm:pt modelId="{167CFB2F-4750-194F-859E-C3DBF7A761B7}" type="pres">
      <dgm:prSet presAssocID="{D0637587-DAE8-2647-9F25-87CE5109DA1B}" presName="childNode" presStyleLbl="node1" presStyleIdx="7" presStyleCnt="12" custScaleX="119877" custLinFactNeighborX="-1303">
        <dgm:presLayoutVars>
          <dgm:bulletEnabled val="1"/>
        </dgm:presLayoutVars>
      </dgm:prSet>
      <dgm:spPr/>
    </dgm:pt>
    <dgm:pt modelId="{BBD17E71-E8E5-C84A-B644-B967943B3611}" type="pres">
      <dgm:prSet presAssocID="{4D76B434-EADD-E64F-9935-840A1730A865}" presName="aSpace" presStyleCnt="0"/>
      <dgm:spPr/>
    </dgm:pt>
    <dgm:pt modelId="{2085DFBD-1FAC-FA47-B5BD-D58C6B1BD7E6}" type="pres">
      <dgm:prSet presAssocID="{72D991DE-2874-FD47-9A1D-C3BF1680B8AC}" presName="compNode" presStyleCnt="0"/>
      <dgm:spPr/>
    </dgm:pt>
    <dgm:pt modelId="{73BB810A-5CCD-C648-AE76-876777B56C1D}" type="pres">
      <dgm:prSet presAssocID="{72D991DE-2874-FD47-9A1D-C3BF1680B8AC}" presName="aNode" presStyleLbl="bgShp" presStyleIdx="3" presStyleCnt="4" custScaleX="100000" custLinFactNeighborX="66372" custLinFactNeighborY="5720"/>
      <dgm:spPr/>
    </dgm:pt>
    <dgm:pt modelId="{21DCD7C8-245A-1D43-8F94-6B3B1A450A29}" type="pres">
      <dgm:prSet presAssocID="{72D991DE-2874-FD47-9A1D-C3BF1680B8AC}" presName="textNode" presStyleLbl="bgShp" presStyleIdx="3" presStyleCnt="4"/>
      <dgm:spPr/>
    </dgm:pt>
    <dgm:pt modelId="{65A820C0-8040-D546-A472-8EAFDABBDAFE}" type="pres">
      <dgm:prSet presAssocID="{72D991DE-2874-FD47-9A1D-C3BF1680B8AC}" presName="compChildNode" presStyleCnt="0"/>
      <dgm:spPr/>
    </dgm:pt>
    <dgm:pt modelId="{370E6B72-E524-264A-AAC9-E04BF8255830}" type="pres">
      <dgm:prSet presAssocID="{72D991DE-2874-FD47-9A1D-C3BF1680B8AC}" presName="theInnerList" presStyleCnt="0"/>
      <dgm:spPr/>
    </dgm:pt>
    <dgm:pt modelId="{28E356AD-E5DE-9340-A69C-FA9D894D0FDE}" type="pres">
      <dgm:prSet presAssocID="{F40624A6-8788-3444-B470-C370C9AA1D60}" presName="childNode" presStyleLbl="node1" presStyleIdx="8" presStyleCnt="12" custScaleX="114657">
        <dgm:presLayoutVars>
          <dgm:bulletEnabled val="1"/>
        </dgm:presLayoutVars>
      </dgm:prSet>
      <dgm:spPr/>
    </dgm:pt>
    <dgm:pt modelId="{E7A5135C-A56C-5842-9443-BDD9348D2D43}" type="pres">
      <dgm:prSet presAssocID="{F40624A6-8788-3444-B470-C370C9AA1D60}" presName="aSpace2" presStyleCnt="0"/>
      <dgm:spPr/>
    </dgm:pt>
    <dgm:pt modelId="{84341B9A-C83D-4642-9BD3-B6568EAAE5BF}" type="pres">
      <dgm:prSet presAssocID="{73F7B52B-9FB9-254F-BC2E-EB2695A0EC10}" presName="childNode" presStyleLbl="node1" presStyleIdx="9" presStyleCnt="12" custScaleX="114657">
        <dgm:presLayoutVars>
          <dgm:bulletEnabled val="1"/>
        </dgm:presLayoutVars>
      </dgm:prSet>
      <dgm:spPr/>
    </dgm:pt>
    <dgm:pt modelId="{A99FE64F-55D2-974A-8C98-ADA98B5E5460}" type="pres">
      <dgm:prSet presAssocID="{73F7B52B-9FB9-254F-BC2E-EB2695A0EC10}" presName="aSpace2" presStyleCnt="0"/>
      <dgm:spPr/>
    </dgm:pt>
    <dgm:pt modelId="{CDA2FDA4-0BB5-5841-BF05-BD7062112917}" type="pres">
      <dgm:prSet presAssocID="{00D10317-90AB-5742-B006-6C35AD69A6AA}" presName="childNode" presStyleLbl="node1" presStyleIdx="10" presStyleCnt="12" custScaleX="114657">
        <dgm:presLayoutVars>
          <dgm:bulletEnabled val="1"/>
        </dgm:presLayoutVars>
      </dgm:prSet>
      <dgm:spPr/>
    </dgm:pt>
    <dgm:pt modelId="{1936ADF3-10C2-174A-93E4-3E0D24A56121}" type="pres">
      <dgm:prSet presAssocID="{00D10317-90AB-5742-B006-6C35AD69A6AA}" presName="aSpace2" presStyleCnt="0"/>
      <dgm:spPr/>
    </dgm:pt>
    <dgm:pt modelId="{CD145048-F98D-5748-B0C4-8B7E080B5107}" type="pres">
      <dgm:prSet presAssocID="{88F43315-C6B7-5C48-9567-66F5B07E02A9}" presName="childNode" presStyleLbl="node1" presStyleIdx="11" presStyleCnt="12" custScaleX="114241">
        <dgm:presLayoutVars>
          <dgm:bulletEnabled val="1"/>
        </dgm:presLayoutVars>
      </dgm:prSet>
      <dgm:spPr/>
    </dgm:pt>
  </dgm:ptLst>
  <dgm:cxnLst>
    <dgm:cxn modelId="{AA2F8801-FF78-496F-8790-19A5CBB01775}" type="presOf" srcId="{4D76B434-EADD-E64F-9935-840A1730A865}" destId="{39DCDF60-E3EA-B247-A762-C246A487CD10}" srcOrd="0" destOrd="0" presId="urn:microsoft.com/office/officeart/2005/8/layout/lProcess2"/>
    <dgm:cxn modelId="{B30F8C03-65BF-4890-8481-BF583AB79B9B}" type="presOf" srcId="{58B05D37-D10C-AD42-AE11-AC298A33A6EF}" destId="{1A967A77-3756-DC47-9D01-EAB3BAA9EFA8}" srcOrd="0" destOrd="0" presId="urn:microsoft.com/office/officeart/2005/8/layout/lProcess2"/>
    <dgm:cxn modelId="{C32EFB0A-6E5C-461E-8E6B-BC6F24578E8B}" type="presOf" srcId="{73F7B52B-9FB9-254F-BC2E-EB2695A0EC10}" destId="{84341B9A-C83D-4642-9BD3-B6568EAAE5BF}" srcOrd="0" destOrd="0" presId="urn:microsoft.com/office/officeart/2005/8/layout/lProcess2"/>
    <dgm:cxn modelId="{AC875E1C-0290-0549-9A08-F867EB571B2F}" srcId="{9D36F4BB-0B04-F047-AE02-1DE9BF2F3A41}" destId="{5898A276-0E9C-674B-B718-B5B04CE5ABF5}" srcOrd="1" destOrd="0" parTransId="{591C6D8B-ED9B-7649-86DD-CC933A451694}" sibTransId="{FB6724E3-DF69-C741-AD31-46555FDA50E7}"/>
    <dgm:cxn modelId="{4FA25822-8D81-F243-A401-C2C9F0434405}" srcId="{7BF3E012-8FBF-D446-A849-B701531FD45D}" destId="{BD575EF2-218F-B44C-AC08-3226F0B96444}" srcOrd="1" destOrd="0" parTransId="{D642C088-A8CB-3A4F-898D-1A4EEFF4A51E}" sibTransId="{6C007943-9911-1140-9417-A1CAC1028955}"/>
    <dgm:cxn modelId="{1D8CA633-0D6E-3B43-86AD-087D7C7831A5}" srcId="{72D991DE-2874-FD47-9A1D-C3BF1680B8AC}" destId="{00D10317-90AB-5742-B006-6C35AD69A6AA}" srcOrd="2" destOrd="0" parTransId="{E978177E-A549-3347-8DB6-BF2E9F7A6D8A}" sibTransId="{29158CFA-D88B-C046-8F47-5DC9A1A45636}"/>
    <dgm:cxn modelId="{47B34D36-5EFE-AA46-B25A-334770211960}" srcId="{72D991DE-2874-FD47-9A1D-C3BF1680B8AC}" destId="{88F43315-C6B7-5C48-9567-66F5B07E02A9}" srcOrd="3" destOrd="0" parTransId="{C4603431-DC09-9849-9AAE-FDC394BE7D09}" sibTransId="{5DC4FA84-1ADC-9040-92AA-0F3E9B93B295}"/>
    <dgm:cxn modelId="{2889C75E-EF1E-2043-AA72-9E1680672F95}" srcId="{4D76B434-EADD-E64F-9935-840A1730A865}" destId="{D0637587-DAE8-2647-9F25-87CE5109DA1B}" srcOrd="1" destOrd="0" parTransId="{37B4AC53-E011-474E-AB24-BDB128BA2148}" sibTransId="{37C3311D-2A14-3A4F-A782-0C2FEFD5A399}"/>
    <dgm:cxn modelId="{E7E2D860-FDCE-457B-BD2C-B6F1CC451FF0}" type="presOf" srcId="{07A5453C-4056-6E4C-8D70-8FCF713B3513}" destId="{67579F62-36D8-FD4D-BD6C-93E4FE039AA7}" srcOrd="0" destOrd="0" presId="urn:microsoft.com/office/officeart/2005/8/layout/lProcess2"/>
    <dgm:cxn modelId="{1CE9E561-77E0-544E-B0AE-09A8FFCC9952}" srcId="{7BF3E012-8FBF-D446-A849-B701531FD45D}" destId="{9D36F4BB-0B04-F047-AE02-1DE9BF2F3A41}" srcOrd="0" destOrd="0" parTransId="{CD965115-7BF6-BE47-B416-59ACC8FDCA23}" sibTransId="{C1D41F01-1999-864F-BD37-8E3791F48C43}"/>
    <dgm:cxn modelId="{FB46C363-A9C9-4966-B1D7-CFCD14E5C13B}" type="presOf" srcId="{9D36F4BB-0B04-F047-AE02-1DE9BF2F3A41}" destId="{E7678699-A3C7-9942-92BC-276E2220E5A2}" srcOrd="0" destOrd="0" presId="urn:microsoft.com/office/officeart/2005/8/layout/lProcess2"/>
    <dgm:cxn modelId="{DC1E5B66-8289-4B98-8D3D-E2A4991C0100}" type="presOf" srcId="{9D36F4BB-0B04-F047-AE02-1DE9BF2F3A41}" destId="{22A6FFB2-466F-854E-A34F-D6CB718AE6A0}" srcOrd="1" destOrd="0" presId="urn:microsoft.com/office/officeart/2005/8/layout/lProcess2"/>
    <dgm:cxn modelId="{EDACAB6E-E7C0-1F4B-9BCD-9C62A85C07D3}" srcId="{4D76B434-EADD-E64F-9935-840A1730A865}" destId="{58B05D37-D10C-AD42-AE11-AC298A33A6EF}" srcOrd="0" destOrd="0" parTransId="{6B3612C3-42D6-6749-83A8-DA63FD90C188}" sibTransId="{1511EADE-35AF-2142-8DCA-6976E3AA13DA}"/>
    <dgm:cxn modelId="{8F6CB350-4908-457D-AF6B-BEF9AD13EE81}" type="presOf" srcId="{4D76B434-EADD-E64F-9935-840A1730A865}" destId="{CF714C77-1C5C-F241-9CA9-6390A313FAAC}" srcOrd="1" destOrd="0" presId="urn:microsoft.com/office/officeart/2005/8/layout/lProcess2"/>
    <dgm:cxn modelId="{88201053-B4BA-48C0-B2DB-E730C63EFE73}" type="presOf" srcId="{BD575EF2-218F-B44C-AC08-3226F0B96444}" destId="{FABD02BD-4637-FB46-B226-17525BD5228B}" srcOrd="1" destOrd="0" presId="urn:microsoft.com/office/officeart/2005/8/layout/lProcess2"/>
    <dgm:cxn modelId="{D4AFDF59-0F72-4C87-B72F-FC05BF510E3E}" type="presOf" srcId="{C990A981-57F4-CB48-8FAC-6A6BBBA6AB41}" destId="{FD05F6B3-92FF-F445-9AD4-A8D6456B0E25}" srcOrd="0" destOrd="0" presId="urn:microsoft.com/office/officeart/2005/8/layout/lProcess2"/>
    <dgm:cxn modelId="{7246F37A-B3EF-4445-A2F2-4D3385746D73}" type="presOf" srcId="{BD575EF2-218F-B44C-AC08-3226F0B96444}" destId="{49279911-E62F-C14D-9872-91E8027DC5E6}" srcOrd="0" destOrd="0" presId="urn:microsoft.com/office/officeart/2005/8/layout/lProcess2"/>
    <dgm:cxn modelId="{424AD17B-8E52-7544-B8C3-5527C9CF53D5}" srcId="{BD575EF2-218F-B44C-AC08-3226F0B96444}" destId="{F4139A40-0F72-D647-87ED-58B466AABB17}" srcOrd="1" destOrd="0" parTransId="{5F0D0F88-819C-2244-BDBE-2B638F63F4DD}" sibTransId="{85F56796-B203-4647-B2C0-C670633DBD2A}"/>
    <dgm:cxn modelId="{FFC8247E-9DA2-D44E-BBB5-FB1C63725736}" srcId="{72D991DE-2874-FD47-9A1D-C3BF1680B8AC}" destId="{73F7B52B-9FB9-254F-BC2E-EB2695A0EC10}" srcOrd="1" destOrd="0" parTransId="{B32BD370-F3D4-F540-9951-77F36582829F}" sibTransId="{3DE89819-3CEE-5B4E-A12C-5D2438828210}"/>
    <dgm:cxn modelId="{BEBD8782-EE28-8742-9ECA-7DD510D7536A}" srcId="{72D991DE-2874-FD47-9A1D-C3BF1680B8AC}" destId="{F40624A6-8788-3444-B470-C370C9AA1D60}" srcOrd="0" destOrd="0" parTransId="{7025057A-557E-B844-BEAC-63B3FE65CCE3}" sibTransId="{2D460DAD-57F7-7844-83FE-022724F37288}"/>
    <dgm:cxn modelId="{664C4488-06D4-4203-8617-578745D6BF47}" type="presOf" srcId="{D0637587-DAE8-2647-9F25-87CE5109DA1B}" destId="{167CFB2F-4750-194F-859E-C3DBF7A761B7}" srcOrd="0" destOrd="0" presId="urn:microsoft.com/office/officeart/2005/8/layout/lProcess2"/>
    <dgm:cxn modelId="{AEE3008E-426C-4F4F-A0BC-3225AAFADD58}" type="presOf" srcId="{72D991DE-2874-FD47-9A1D-C3BF1680B8AC}" destId="{21DCD7C8-245A-1D43-8F94-6B3B1A450A29}" srcOrd="1" destOrd="0" presId="urn:microsoft.com/office/officeart/2005/8/layout/lProcess2"/>
    <dgm:cxn modelId="{5D00838E-AADD-458C-90AB-0F6651B27D3E}" type="presOf" srcId="{72D991DE-2874-FD47-9A1D-C3BF1680B8AC}" destId="{73BB810A-5CCD-C648-AE76-876777B56C1D}" srcOrd="0" destOrd="0" presId="urn:microsoft.com/office/officeart/2005/8/layout/lProcess2"/>
    <dgm:cxn modelId="{2BCDA591-7031-4500-90D4-AF16887F761C}" type="presOf" srcId="{F40624A6-8788-3444-B470-C370C9AA1D60}" destId="{28E356AD-E5DE-9340-A69C-FA9D894D0FDE}" srcOrd="0" destOrd="0" presId="urn:microsoft.com/office/officeart/2005/8/layout/lProcess2"/>
    <dgm:cxn modelId="{1F890798-5ACC-4D65-986C-7BD508241793}" type="presOf" srcId="{378FA142-01F1-C44B-BC29-216FF6A179E6}" destId="{229BF415-EAB4-D94E-830D-F0D49B3F4411}" srcOrd="0" destOrd="0" presId="urn:microsoft.com/office/officeart/2005/8/layout/lProcess2"/>
    <dgm:cxn modelId="{46862C9B-7434-477C-8391-7BDC7D8A7E76}" type="presOf" srcId="{5898A276-0E9C-674B-B718-B5B04CE5ABF5}" destId="{EB039BF5-D8B3-1A4F-985A-BE6E91D04FD6}" srcOrd="0" destOrd="0" presId="urn:microsoft.com/office/officeart/2005/8/layout/lProcess2"/>
    <dgm:cxn modelId="{02B1B3A1-0FC0-436D-9B84-49E3F241D981}" type="presOf" srcId="{88F43315-C6B7-5C48-9567-66F5B07E02A9}" destId="{CD145048-F98D-5748-B0C4-8B7E080B5107}" srcOrd="0" destOrd="0" presId="urn:microsoft.com/office/officeart/2005/8/layout/lProcess2"/>
    <dgm:cxn modelId="{664CABA7-F34B-4C4A-8220-A769359CA252}" srcId="{7BF3E012-8FBF-D446-A849-B701531FD45D}" destId="{72D991DE-2874-FD47-9A1D-C3BF1680B8AC}" srcOrd="3" destOrd="0" parTransId="{FD40D6AC-6138-2245-8CE4-0F662626379B}" sibTransId="{DFAA1454-A1CB-1144-909E-980E0FD1C062}"/>
    <dgm:cxn modelId="{B0F6B0BC-5196-5242-B7AB-3FC69A3A72C5}" srcId="{7BF3E012-8FBF-D446-A849-B701531FD45D}" destId="{4D76B434-EADD-E64F-9935-840A1730A865}" srcOrd="2" destOrd="0" parTransId="{820D5F54-FE4D-D848-A81F-1FD9F8D5B0E5}" sibTransId="{DFEA6396-690D-2E49-A289-6EFE34C3220A}"/>
    <dgm:cxn modelId="{9E0A99BD-6D68-4B46-8073-3F60FBE78DC8}" type="presOf" srcId="{00D10317-90AB-5742-B006-6C35AD69A6AA}" destId="{CDA2FDA4-0BB5-5841-BF05-BD7062112917}" srcOrd="0" destOrd="0" presId="urn:microsoft.com/office/officeart/2005/8/layout/lProcess2"/>
    <dgm:cxn modelId="{DAC133C2-C87A-F442-8CDD-C7F23D645726}" srcId="{BD575EF2-218F-B44C-AC08-3226F0B96444}" destId="{745F9AEC-D078-AC41-AF50-17FF95E12DB6}" srcOrd="3" destOrd="0" parTransId="{EEABFAFB-59EA-3940-B91E-3D8C0CD5099F}" sibTransId="{EC6966E5-528B-7A4A-9683-810C5BA99757}"/>
    <dgm:cxn modelId="{DA2C67CB-42C4-F24A-B79D-F437EB568360}" srcId="{BD575EF2-218F-B44C-AC08-3226F0B96444}" destId="{378FA142-01F1-C44B-BC29-216FF6A179E6}" srcOrd="0" destOrd="0" parTransId="{5DFD02CE-06A6-514A-99F3-236BF4981D4F}" sibTransId="{6C379966-D7CC-C742-8698-01738982F00E}"/>
    <dgm:cxn modelId="{FE8D02D4-DC1C-3A43-89F0-013EA887353A}" srcId="{9D36F4BB-0B04-F047-AE02-1DE9BF2F3A41}" destId="{C990A981-57F4-CB48-8FAC-6A6BBBA6AB41}" srcOrd="0" destOrd="0" parTransId="{538B0447-AAC8-0540-8EE5-F0D174B339BF}" sibTransId="{8AC1190A-694C-CD44-A258-68CB4E3047A6}"/>
    <dgm:cxn modelId="{477E0CD6-0543-443F-B004-5D165BE7421D}" type="presOf" srcId="{7BF3E012-8FBF-D446-A849-B701531FD45D}" destId="{E3B2207F-CCBD-A84C-9767-CA9E03BBD364}" srcOrd="0" destOrd="0" presId="urn:microsoft.com/office/officeart/2005/8/layout/lProcess2"/>
    <dgm:cxn modelId="{722440E2-E9D2-4E32-AB1A-A44A1E6332C8}" type="presOf" srcId="{F4139A40-0F72-D647-87ED-58B466AABB17}" destId="{3879C034-D841-F344-B20F-0C00B348F39B}" srcOrd="0" destOrd="0" presId="urn:microsoft.com/office/officeart/2005/8/layout/lProcess2"/>
    <dgm:cxn modelId="{3B28ECE4-50CF-4165-AEA8-537EA7A71E3B}" type="presOf" srcId="{745F9AEC-D078-AC41-AF50-17FF95E12DB6}" destId="{519AD69F-C1F8-264E-A9DE-62E6523B53A2}" srcOrd="0" destOrd="0" presId="urn:microsoft.com/office/officeart/2005/8/layout/lProcess2"/>
    <dgm:cxn modelId="{56336FFF-0338-CF43-9357-ADE16942C6A2}" srcId="{BD575EF2-218F-B44C-AC08-3226F0B96444}" destId="{07A5453C-4056-6E4C-8D70-8FCF713B3513}" srcOrd="2" destOrd="0" parTransId="{8D83A417-6044-6B4B-A987-325A319BA887}" sibTransId="{7E33A076-066C-424F-B40F-CC48EBAF5CCF}"/>
    <dgm:cxn modelId="{E12E68C5-17CC-42D1-A8E7-5F84CB0433B0}" type="presParOf" srcId="{E3B2207F-CCBD-A84C-9767-CA9E03BBD364}" destId="{9F7647FE-F86E-8D4E-A738-16C2A40510A7}" srcOrd="0" destOrd="0" presId="urn:microsoft.com/office/officeart/2005/8/layout/lProcess2"/>
    <dgm:cxn modelId="{978DD575-D0C6-4471-84C4-D8E0B3314E2D}" type="presParOf" srcId="{9F7647FE-F86E-8D4E-A738-16C2A40510A7}" destId="{E7678699-A3C7-9942-92BC-276E2220E5A2}" srcOrd="0" destOrd="0" presId="urn:microsoft.com/office/officeart/2005/8/layout/lProcess2"/>
    <dgm:cxn modelId="{B09E57F4-6BA9-4548-8723-3B9BBB39A006}" type="presParOf" srcId="{9F7647FE-F86E-8D4E-A738-16C2A40510A7}" destId="{22A6FFB2-466F-854E-A34F-D6CB718AE6A0}" srcOrd="1" destOrd="0" presId="urn:microsoft.com/office/officeart/2005/8/layout/lProcess2"/>
    <dgm:cxn modelId="{E33EB92D-1092-44BA-9FEA-D9DAF1F3854A}" type="presParOf" srcId="{9F7647FE-F86E-8D4E-A738-16C2A40510A7}" destId="{7FC7CA8C-6A09-ED47-BB9E-C92D7DDD0BFE}" srcOrd="2" destOrd="0" presId="urn:microsoft.com/office/officeart/2005/8/layout/lProcess2"/>
    <dgm:cxn modelId="{6FF8E331-7E5D-4F45-92E8-72C3E2D6B865}" type="presParOf" srcId="{7FC7CA8C-6A09-ED47-BB9E-C92D7DDD0BFE}" destId="{85AB9E9D-1B0C-2D4E-A6CC-EC178C5CF057}" srcOrd="0" destOrd="0" presId="urn:microsoft.com/office/officeart/2005/8/layout/lProcess2"/>
    <dgm:cxn modelId="{99645719-D99B-475E-9B8D-3AE8C10789D6}" type="presParOf" srcId="{85AB9E9D-1B0C-2D4E-A6CC-EC178C5CF057}" destId="{FD05F6B3-92FF-F445-9AD4-A8D6456B0E25}" srcOrd="0" destOrd="0" presId="urn:microsoft.com/office/officeart/2005/8/layout/lProcess2"/>
    <dgm:cxn modelId="{EBCDE11A-8BCA-481E-917E-0019EDF476AB}" type="presParOf" srcId="{85AB9E9D-1B0C-2D4E-A6CC-EC178C5CF057}" destId="{CEBB2B1D-2CFF-6541-800E-B1420547D77F}" srcOrd="1" destOrd="0" presId="urn:microsoft.com/office/officeart/2005/8/layout/lProcess2"/>
    <dgm:cxn modelId="{8C8AA1C8-86C8-4D59-8228-CFB693AAEEF5}" type="presParOf" srcId="{85AB9E9D-1B0C-2D4E-A6CC-EC178C5CF057}" destId="{EB039BF5-D8B3-1A4F-985A-BE6E91D04FD6}" srcOrd="2" destOrd="0" presId="urn:microsoft.com/office/officeart/2005/8/layout/lProcess2"/>
    <dgm:cxn modelId="{A7C73885-862F-4FF9-9C4C-B752177FF5C8}" type="presParOf" srcId="{E3B2207F-CCBD-A84C-9767-CA9E03BBD364}" destId="{C73094B7-0600-0B43-89DE-AF73F142FBDC}" srcOrd="1" destOrd="0" presId="urn:microsoft.com/office/officeart/2005/8/layout/lProcess2"/>
    <dgm:cxn modelId="{253A860C-962E-4C5D-93C9-856ACA518F61}" type="presParOf" srcId="{E3B2207F-CCBD-A84C-9767-CA9E03BBD364}" destId="{65018A0F-C9B7-874C-AF80-45C87BFF48DD}" srcOrd="2" destOrd="0" presId="urn:microsoft.com/office/officeart/2005/8/layout/lProcess2"/>
    <dgm:cxn modelId="{5784429C-E4EA-46FD-8A80-44745407C8FF}" type="presParOf" srcId="{65018A0F-C9B7-874C-AF80-45C87BFF48DD}" destId="{49279911-E62F-C14D-9872-91E8027DC5E6}" srcOrd="0" destOrd="0" presId="urn:microsoft.com/office/officeart/2005/8/layout/lProcess2"/>
    <dgm:cxn modelId="{DF13AB8A-24EB-41F6-8DC8-2DDC36A5E8F8}" type="presParOf" srcId="{65018A0F-C9B7-874C-AF80-45C87BFF48DD}" destId="{FABD02BD-4637-FB46-B226-17525BD5228B}" srcOrd="1" destOrd="0" presId="urn:microsoft.com/office/officeart/2005/8/layout/lProcess2"/>
    <dgm:cxn modelId="{74D9AC67-5231-402D-B513-1D103EA31F6E}" type="presParOf" srcId="{65018A0F-C9B7-874C-AF80-45C87BFF48DD}" destId="{F62E0EA5-D571-2B45-B38D-7C17B8B7B634}" srcOrd="2" destOrd="0" presId="urn:microsoft.com/office/officeart/2005/8/layout/lProcess2"/>
    <dgm:cxn modelId="{2B03CE86-FC53-4E8B-B8B6-7626E79F8388}" type="presParOf" srcId="{F62E0EA5-D571-2B45-B38D-7C17B8B7B634}" destId="{7B97923E-7071-DC42-87D3-D4F3733045B1}" srcOrd="0" destOrd="0" presId="urn:microsoft.com/office/officeart/2005/8/layout/lProcess2"/>
    <dgm:cxn modelId="{E4A265C6-A0FF-49AF-8C44-B74E4D1EE04F}" type="presParOf" srcId="{7B97923E-7071-DC42-87D3-D4F3733045B1}" destId="{229BF415-EAB4-D94E-830D-F0D49B3F4411}" srcOrd="0" destOrd="0" presId="urn:microsoft.com/office/officeart/2005/8/layout/lProcess2"/>
    <dgm:cxn modelId="{90A157B1-316A-410A-89DB-32E9BBAACD05}" type="presParOf" srcId="{7B97923E-7071-DC42-87D3-D4F3733045B1}" destId="{7507BE25-9871-E442-AB0B-7D44ADF69B1D}" srcOrd="1" destOrd="0" presId="urn:microsoft.com/office/officeart/2005/8/layout/lProcess2"/>
    <dgm:cxn modelId="{D884B73B-97F3-46D7-8EEB-0D3EFB61EC28}" type="presParOf" srcId="{7B97923E-7071-DC42-87D3-D4F3733045B1}" destId="{3879C034-D841-F344-B20F-0C00B348F39B}" srcOrd="2" destOrd="0" presId="urn:microsoft.com/office/officeart/2005/8/layout/lProcess2"/>
    <dgm:cxn modelId="{E2D80288-45CF-46AD-BB7F-5617923B1DB6}" type="presParOf" srcId="{7B97923E-7071-DC42-87D3-D4F3733045B1}" destId="{DE1534C9-5D78-BA4F-99D9-81BCAE97DF25}" srcOrd="3" destOrd="0" presId="urn:microsoft.com/office/officeart/2005/8/layout/lProcess2"/>
    <dgm:cxn modelId="{0A83B4A0-5196-4F28-A27F-CA697E6DADEC}" type="presParOf" srcId="{7B97923E-7071-DC42-87D3-D4F3733045B1}" destId="{67579F62-36D8-FD4D-BD6C-93E4FE039AA7}" srcOrd="4" destOrd="0" presId="urn:microsoft.com/office/officeart/2005/8/layout/lProcess2"/>
    <dgm:cxn modelId="{7D8A5C0E-FF62-4967-AB78-F696E51F26D4}" type="presParOf" srcId="{7B97923E-7071-DC42-87D3-D4F3733045B1}" destId="{4690DE4D-5D94-9543-A0B6-6674D2E7B110}" srcOrd="5" destOrd="0" presId="urn:microsoft.com/office/officeart/2005/8/layout/lProcess2"/>
    <dgm:cxn modelId="{4114D1F2-3399-48B5-9DE8-737ED4FF5D86}" type="presParOf" srcId="{7B97923E-7071-DC42-87D3-D4F3733045B1}" destId="{519AD69F-C1F8-264E-A9DE-62E6523B53A2}" srcOrd="6" destOrd="0" presId="urn:microsoft.com/office/officeart/2005/8/layout/lProcess2"/>
    <dgm:cxn modelId="{855DC438-962C-46A1-9999-9B7C6A5973D6}" type="presParOf" srcId="{E3B2207F-CCBD-A84C-9767-CA9E03BBD364}" destId="{988CE610-298C-784F-9E12-6BA62C363501}" srcOrd="3" destOrd="0" presId="urn:microsoft.com/office/officeart/2005/8/layout/lProcess2"/>
    <dgm:cxn modelId="{3DEEA69A-E758-4B8C-9DED-0C969C60495A}" type="presParOf" srcId="{E3B2207F-CCBD-A84C-9767-CA9E03BBD364}" destId="{4813E666-0FDA-2848-858C-CC485C51231C}" srcOrd="4" destOrd="0" presId="urn:microsoft.com/office/officeart/2005/8/layout/lProcess2"/>
    <dgm:cxn modelId="{7F6DB11B-E7CA-47F2-BD75-7FFA7DDF517E}" type="presParOf" srcId="{4813E666-0FDA-2848-858C-CC485C51231C}" destId="{39DCDF60-E3EA-B247-A762-C246A487CD10}" srcOrd="0" destOrd="0" presId="urn:microsoft.com/office/officeart/2005/8/layout/lProcess2"/>
    <dgm:cxn modelId="{B55CD39D-2C68-4CBC-9267-33530770D408}" type="presParOf" srcId="{4813E666-0FDA-2848-858C-CC485C51231C}" destId="{CF714C77-1C5C-F241-9CA9-6390A313FAAC}" srcOrd="1" destOrd="0" presId="urn:microsoft.com/office/officeart/2005/8/layout/lProcess2"/>
    <dgm:cxn modelId="{CA910F0D-0789-4D45-8191-48069BC8C6FB}" type="presParOf" srcId="{4813E666-0FDA-2848-858C-CC485C51231C}" destId="{80F25BA7-3304-BD44-9700-8931A180869D}" srcOrd="2" destOrd="0" presId="urn:microsoft.com/office/officeart/2005/8/layout/lProcess2"/>
    <dgm:cxn modelId="{D7CB585B-F22E-4E1B-A1E3-9A1A34D35081}" type="presParOf" srcId="{80F25BA7-3304-BD44-9700-8931A180869D}" destId="{46E5E0BA-B977-E549-9ABA-B5C1AA184E74}" srcOrd="0" destOrd="0" presId="urn:microsoft.com/office/officeart/2005/8/layout/lProcess2"/>
    <dgm:cxn modelId="{B160B254-6851-4004-B7FD-CF57A1E9BA58}" type="presParOf" srcId="{46E5E0BA-B977-E549-9ABA-B5C1AA184E74}" destId="{1A967A77-3756-DC47-9D01-EAB3BAA9EFA8}" srcOrd="0" destOrd="0" presId="urn:microsoft.com/office/officeart/2005/8/layout/lProcess2"/>
    <dgm:cxn modelId="{FC78F26F-D3A9-4BE8-A39C-16606D82DFB9}" type="presParOf" srcId="{46E5E0BA-B977-E549-9ABA-B5C1AA184E74}" destId="{E0E3188D-D362-894E-A52D-132D2C6C6942}" srcOrd="1" destOrd="0" presId="urn:microsoft.com/office/officeart/2005/8/layout/lProcess2"/>
    <dgm:cxn modelId="{2BB81B43-C697-4648-8314-2F4D6F87128B}" type="presParOf" srcId="{46E5E0BA-B977-E549-9ABA-B5C1AA184E74}" destId="{167CFB2F-4750-194F-859E-C3DBF7A761B7}" srcOrd="2" destOrd="0" presId="urn:microsoft.com/office/officeart/2005/8/layout/lProcess2"/>
    <dgm:cxn modelId="{BE06F823-872E-49FA-8C60-A5FA7E1CFF8B}" type="presParOf" srcId="{E3B2207F-CCBD-A84C-9767-CA9E03BBD364}" destId="{BBD17E71-E8E5-C84A-B644-B967943B3611}" srcOrd="5" destOrd="0" presId="urn:microsoft.com/office/officeart/2005/8/layout/lProcess2"/>
    <dgm:cxn modelId="{7A2895D7-394D-43E0-92F7-974F65382223}" type="presParOf" srcId="{E3B2207F-CCBD-A84C-9767-CA9E03BBD364}" destId="{2085DFBD-1FAC-FA47-B5BD-D58C6B1BD7E6}" srcOrd="6" destOrd="0" presId="urn:microsoft.com/office/officeart/2005/8/layout/lProcess2"/>
    <dgm:cxn modelId="{6F2B05A3-DB0F-43BD-8BEC-76A44BCFBF3F}" type="presParOf" srcId="{2085DFBD-1FAC-FA47-B5BD-D58C6B1BD7E6}" destId="{73BB810A-5CCD-C648-AE76-876777B56C1D}" srcOrd="0" destOrd="0" presId="urn:microsoft.com/office/officeart/2005/8/layout/lProcess2"/>
    <dgm:cxn modelId="{9D5A8ACD-2DF5-48AC-AF21-6E1096E175F6}" type="presParOf" srcId="{2085DFBD-1FAC-FA47-B5BD-D58C6B1BD7E6}" destId="{21DCD7C8-245A-1D43-8F94-6B3B1A450A29}" srcOrd="1" destOrd="0" presId="urn:microsoft.com/office/officeart/2005/8/layout/lProcess2"/>
    <dgm:cxn modelId="{0D3A16D9-6F18-4A83-B671-DF879FCDF4B4}" type="presParOf" srcId="{2085DFBD-1FAC-FA47-B5BD-D58C6B1BD7E6}" destId="{65A820C0-8040-D546-A472-8EAFDABBDAFE}" srcOrd="2" destOrd="0" presId="urn:microsoft.com/office/officeart/2005/8/layout/lProcess2"/>
    <dgm:cxn modelId="{E0028283-9EE6-4B11-A38C-EA7ECD17EA6C}" type="presParOf" srcId="{65A820C0-8040-D546-A472-8EAFDABBDAFE}" destId="{370E6B72-E524-264A-AAC9-E04BF8255830}" srcOrd="0" destOrd="0" presId="urn:microsoft.com/office/officeart/2005/8/layout/lProcess2"/>
    <dgm:cxn modelId="{28E646B5-2963-4A8F-8392-232EF57790E5}" type="presParOf" srcId="{370E6B72-E524-264A-AAC9-E04BF8255830}" destId="{28E356AD-E5DE-9340-A69C-FA9D894D0FDE}" srcOrd="0" destOrd="0" presId="urn:microsoft.com/office/officeart/2005/8/layout/lProcess2"/>
    <dgm:cxn modelId="{01E67452-0430-4B8D-994D-D5BB2B49DA26}" type="presParOf" srcId="{370E6B72-E524-264A-AAC9-E04BF8255830}" destId="{E7A5135C-A56C-5842-9443-BDD9348D2D43}" srcOrd="1" destOrd="0" presId="urn:microsoft.com/office/officeart/2005/8/layout/lProcess2"/>
    <dgm:cxn modelId="{7ECC5846-C548-450F-AA3E-34978D0B6C80}" type="presParOf" srcId="{370E6B72-E524-264A-AAC9-E04BF8255830}" destId="{84341B9A-C83D-4642-9BD3-B6568EAAE5BF}" srcOrd="2" destOrd="0" presId="urn:microsoft.com/office/officeart/2005/8/layout/lProcess2"/>
    <dgm:cxn modelId="{426E28FF-BCFE-43AE-9324-15208677D96A}" type="presParOf" srcId="{370E6B72-E524-264A-AAC9-E04BF8255830}" destId="{A99FE64F-55D2-974A-8C98-ADA98B5E5460}" srcOrd="3" destOrd="0" presId="urn:microsoft.com/office/officeart/2005/8/layout/lProcess2"/>
    <dgm:cxn modelId="{902F0BD5-30E9-4E3C-82B4-66976A548DF1}" type="presParOf" srcId="{370E6B72-E524-264A-AAC9-E04BF8255830}" destId="{CDA2FDA4-0BB5-5841-BF05-BD7062112917}" srcOrd="4" destOrd="0" presId="urn:microsoft.com/office/officeart/2005/8/layout/lProcess2"/>
    <dgm:cxn modelId="{DCB00B7E-EF29-4970-A3E8-185E1146F5A8}" type="presParOf" srcId="{370E6B72-E524-264A-AAC9-E04BF8255830}" destId="{1936ADF3-10C2-174A-93E4-3E0D24A56121}" srcOrd="5" destOrd="0" presId="urn:microsoft.com/office/officeart/2005/8/layout/lProcess2"/>
    <dgm:cxn modelId="{A3CE0E1B-71CA-4FCD-8811-420F8532230C}" type="presParOf" srcId="{370E6B72-E524-264A-AAC9-E04BF8255830}" destId="{CD145048-F98D-5748-B0C4-8B7E080B5107}" srcOrd="6" destOrd="0" presId="urn:microsoft.com/office/officeart/2005/8/layout/lProcess2"/>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919B175-0628-134E-945F-F7DFA330C014}" type="doc">
      <dgm:prSet loTypeId="urn:microsoft.com/office/officeart/2005/8/layout/orgChart1" loCatId="" qsTypeId="urn:microsoft.com/office/officeart/2005/8/quickstyle/simple1" qsCatId="simple" csTypeId="urn:microsoft.com/office/officeart/2005/8/colors/accent1_3" csCatId="accent1" phldr="1"/>
      <dgm:spPr/>
      <dgm:t>
        <a:bodyPr/>
        <a:lstStyle/>
        <a:p>
          <a:endParaRPr lang="pt-BR"/>
        </a:p>
      </dgm:t>
    </dgm:pt>
    <dgm:pt modelId="{534DDCF0-7674-904C-819D-78B2341389AA}">
      <dgm:prSet phldrT="[Text]"/>
      <dgm:spPr/>
      <dgm:t>
        <a:bodyPr/>
        <a:lstStyle/>
        <a:p>
          <a:r>
            <a:rPr lang="pt-BR" dirty="0"/>
            <a:t>Presidência da República</a:t>
          </a:r>
        </a:p>
      </dgm:t>
    </dgm:pt>
    <dgm:pt modelId="{194695ED-F3DD-C74B-81BA-6EACB8C68189}" type="parTrans" cxnId="{C9BDDF3C-00EB-9E44-B941-C9CEFE164812}">
      <dgm:prSet/>
      <dgm:spPr/>
      <dgm:t>
        <a:bodyPr/>
        <a:lstStyle/>
        <a:p>
          <a:endParaRPr lang="pt-BR"/>
        </a:p>
      </dgm:t>
    </dgm:pt>
    <dgm:pt modelId="{B012CF38-1AD4-C148-B0A7-CEBFA5390E65}" type="sibTrans" cxnId="{C9BDDF3C-00EB-9E44-B941-C9CEFE164812}">
      <dgm:prSet/>
      <dgm:spPr/>
      <dgm:t>
        <a:bodyPr/>
        <a:lstStyle/>
        <a:p>
          <a:endParaRPr lang="pt-BR"/>
        </a:p>
      </dgm:t>
    </dgm:pt>
    <dgm:pt modelId="{E72B279E-987E-2B4A-BC15-40B94208608D}">
      <dgm:prSet phldrT="[Text]"/>
      <dgm:spPr/>
      <dgm:t>
        <a:bodyPr/>
        <a:lstStyle/>
        <a:p>
          <a:r>
            <a:rPr lang="pt-BR" dirty="0"/>
            <a:t>Ministério dos Transportes</a:t>
          </a:r>
        </a:p>
      </dgm:t>
    </dgm:pt>
    <dgm:pt modelId="{E0A41838-F10D-7643-9804-96624358D1D2}" type="parTrans" cxnId="{5DAB72C4-9A24-D348-AB2E-D56C9A248B7D}">
      <dgm:prSet/>
      <dgm:spPr/>
      <dgm:t>
        <a:bodyPr/>
        <a:lstStyle/>
        <a:p>
          <a:endParaRPr lang="pt-BR"/>
        </a:p>
      </dgm:t>
    </dgm:pt>
    <dgm:pt modelId="{B89327B1-1540-2940-9E7D-EC2EE7E3FCB9}" type="sibTrans" cxnId="{5DAB72C4-9A24-D348-AB2E-D56C9A248B7D}">
      <dgm:prSet/>
      <dgm:spPr/>
      <dgm:t>
        <a:bodyPr/>
        <a:lstStyle/>
        <a:p>
          <a:endParaRPr lang="pt-BR"/>
        </a:p>
      </dgm:t>
    </dgm:pt>
    <dgm:pt modelId="{23ED75A9-BEF3-914E-AD77-365DACAE942B}">
      <dgm:prSet phldrT="[Text]"/>
      <dgm:spPr/>
      <dgm:t>
        <a:bodyPr/>
        <a:lstStyle/>
        <a:p>
          <a:r>
            <a:rPr lang="pt-BR" dirty="0"/>
            <a:t>Secretaria de Portos</a:t>
          </a:r>
        </a:p>
      </dgm:t>
    </dgm:pt>
    <dgm:pt modelId="{CDFEE8DB-B845-CF4E-8243-A1F1B0102B23}" type="parTrans" cxnId="{24BA02D1-7265-A34C-89B1-DC747E196638}">
      <dgm:prSet/>
      <dgm:spPr/>
      <dgm:t>
        <a:bodyPr/>
        <a:lstStyle/>
        <a:p>
          <a:endParaRPr lang="pt-BR"/>
        </a:p>
      </dgm:t>
    </dgm:pt>
    <dgm:pt modelId="{0F97B6C0-3F47-9F49-9678-7C950214B1C6}" type="sibTrans" cxnId="{24BA02D1-7265-A34C-89B1-DC747E196638}">
      <dgm:prSet/>
      <dgm:spPr/>
      <dgm:t>
        <a:bodyPr/>
        <a:lstStyle/>
        <a:p>
          <a:endParaRPr lang="pt-BR"/>
        </a:p>
      </dgm:t>
    </dgm:pt>
    <dgm:pt modelId="{C070C5B6-3CAF-DE41-B80F-92F236FB2BE3}">
      <dgm:prSet phldrT="[Text]"/>
      <dgm:spPr/>
      <dgm:t>
        <a:bodyPr/>
        <a:lstStyle/>
        <a:p>
          <a:r>
            <a:rPr lang="pt-BR"/>
            <a:t>ANTT</a:t>
          </a:r>
          <a:endParaRPr lang="pt-BR" dirty="0"/>
        </a:p>
      </dgm:t>
    </dgm:pt>
    <dgm:pt modelId="{DC82A300-F017-7048-94DC-3FC7258C22D3}" type="parTrans" cxnId="{FA27F26B-403F-0E4A-A1FF-F01BB9095672}">
      <dgm:prSet/>
      <dgm:spPr/>
      <dgm:t>
        <a:bodyPr/>
        <a:lstStyle/>
        <a:p>
          <a:endParaRPr lang="pt-BR"/>
        </a:p>
      </dgm:t>
    </dgm:pt>
    <dgm:pt modelId="{6FAB9597-4F24-824C-A8F5-3EE4380771DC}" type="sibTrans" cxnId="{FA27F26B-403F-0E4A-A1FF-F01BB9095672}">
      <dgm:prSet/>
      <dgm:spPr/>
      <dgm:t>
        <a:bodyPr/>
        <a:lstStyle/>
        <a:p>
          <a:endParaRPr lang="pt-BR"/>
        </a:p>
      </dgm:t>
    </dgm:pt>
    <dgm:pt modelId="{8AE5E5B4-D96A-CF45-9A4A-7B0C0D42886A}">
      <dgm:prSet phldrT="[Text]"/>
      <dgm:spPr/>
      <dgm:t>
        <a:bodyPr/>
        <a:lstStyle/>
        <a:p>
          <a:r>
            <a:rPr lang="pt-BR" dirty="0"/>
            <a:t>Secretaria de Aviação Civil</a:t>
          </a:r>
        </a:p>
      </dgm:t>
    </dgm:pt>
    <dgm:pt modelId="{9FEB4CB9-86C0-D241-9A3F-AF1F55D5EED5}" type="parTrans" cxnId="{328A5FD6-C2EA-5F45-B839-8CB4EBD632B2}">
      <dgm:prSet/>
      <dgm:spPr/>
      <dgm:t>
        <a:bodyPr/>
        <a:lstStyle/>
        <a:p>
          <a:endParaRPr lang="pt-BR"/>
        </a:p>
      </dgm:t>
    </dgm:pt>
    <dgm:pt modelId="{DE36BFB7-9229-7049-8CA4-0ADC95DD5A8F}" type="sibTrans" cxnId="{328A5FD6-C2EA-5F45-B839-8CB4EBD632B2}">
      <dgm:prSet/>
      <dgm:spPr/>
      <dgm:t>
        <a:bodyPr/>
        <a:lstStyle/>
        <a:p>
          <a:endParaRPr lang="pt-BR"/>
        </a:p>
      </dgm:t>
    </dgm:pt>
    <dgm:pt modelId="{8532F646-CE6A-6048-8981-AF85BFA4DECE}">
      <dgm:prSet phldrT="[Text]"/>
      <dgm:spPr/>
      <dgm:t>
        <a:bodyPr/>
        <a:lstStyle/>
        <a:p>
          <a:r>
            <a:rPr lang="pt-BR"/>
            <a:t>ANAC</a:t>
          </a:r>
          <a:endParaRPr lang="pt-BR" dirty="0"/>
        </a:p>
      </dgm:t>
    </dgm:pt>
    <dgm:pt modelId="{32A8C9F6-1868-5945-9053-0EAB35BB127A}" type="parTrans" cxnId="{11497EC1-4884-C246-99DA-3FAC7F4BB473}">
      <dgm:prSet/>
      <dgm:spPr/>
      <dgm:t>
        <a:bodyPr/>
        <a:lstStyle/>
        <a:p>
          <a:endParaRPr lang="pt-BR"/>
        </a:p>
      </dgm:t>
    </dgm:pt>
    <dgm:pt modelId="{0C6D1885-6556-3246-BC7F-8A59E1CFA5BD}" type="sibTrans" cxnId="{11497EC1-4884-C246-99DA-3FAC7F4BB473}">
      <dgm:prSet/>
      <dgm:spPr/>
      <dgm:t>
        <a:bodyPr/>
        <a:lstStyle/>
        <a:p>
          <a:endParaRPr lang="pt-BR"/>
        </a:p>
      </dgm:t>
    </dgm:pt>
    <dgm:pt modelId="{08C5EFCB-28F2-1147-A5FF-0313373F0ED1}">
      <dgm:prSet phldrT="[Text]"/>
      <dgm:spPr/>
      <dgm:t>
        <a:bodyPr/>
        <a:lstStyle/>
        <a:p>
          <a:r>
            <a:rPr lang="pt-BR"/>
            <a:t>Infraero</a:t>
          </a:r>
          <a:endParaRPr lang="pt-BR" dirty="0"/>
        </a:p>
      </dgm:t>
    </dgm:pt>
    <dgm:pt modelId="{091C716C-FB58-5542-B382-E2C8AEBA89AD}" type="parTrans" cxnId="{C5B0E3AF-7B2F-DE45-B79B-1D7648F37A4F}">
      <dgm:prSet/>
      <dgm:spPr/>
      <dgm:t>
        <a:bodyPr/>
        <a:lstStyle/>
        <a:p>
          <a:endParaRPr lang="pt-BR"/>
        </a:p>
      </dgm:t>
    </dgm:pt>
    <dgm:pt modelId="{49B408A8-355E-E94D-984D-A5B870BE0B30}" type="sibTrans" cxnId="{C5B0E3AF-7B2F-DE45-B79B-1D7648F37A4F}">
      <dgm:prSet/>
      <dgm:spPr/>
      <dgm:t>
        <a:bodyPr/>
        <a:lstStyle/>
        <a:p>
          <a:endParaRPr lang="pt-BR"/>
        </a:p>
      </dgm:t>
    </dgm:pt>
    <dgm:pt modelId="{76862B8B-30D1-F04C-B7A7-34B2F93B3FF6}">
      <dgm:prSet phldrT="[Text]"/>
      <dgm:spPr/>
      <dgm:t>
        <a:bodyPr/>
        <a:lstStyle/>
        <a:p>
          <a:r>
            <a:rPr lang="pt-BR"/>
            <a:t>ANTAQ</a:t>
          </a:r>
          <a:endParaRPr lang="pt-BR" dirty="0"/>
        </a:p>
      </dgm:t>
    </dgm:pt>
    <dgm:pt modelId="{5E980875-20DD-094D-9672-22F2630A65CD}" type="parTrans" cxnId="{4E8F3A82-472B-0B45-B89D-FB21D8779320}">
      <dgm:prSet/>
      <dgm:spPr/>
      <dgm:t>
        <a:bodyPr/>
        <a:lstStyle/>
        <a:p>
          <a:endParaRPr lang="pt-BR"/>
        </a:p>
      </dgm:t>
    </dgm:pt>
    <dgm:pt modelId="{1DA00073-F4FF-3D4D-A33A-22B4C065A364}" type="sibTrans" cxnId="{4E8F3A82-472B-0B45-B89D-FB21D8779320}">
      <dgm:prSet/>
      <dgm:spPr/>
      <dgm:t>
        <a:bodyPr/>
        <a:lstStyle/>
        <a:p>
          <a:endParaRPr lang="pt-BR"/>
        </a:p>
      </dgm:t>
    </dgm:pt>
    <dgm:pt modelId="{930E58CC-F87A-5D4B-B80E-39349FDB254E}">
      <dgm:prSet phldrT="[Text]"/>
      <dgm:spPr/>
      <dgm:t>
        <a:bodyPr/>
        <a:lstStyle/>
        <a:p>
          <a:r>
            <a:rPr lang="pt-BR"/>
            <a:t>EPL</a:t>
          </a:r>
          <a:endParaRPr lang="pt-BR" dirty="0"/>
        </a:p>
      </dgm:t>
    </dgm:pt>
    <dgm:pt modelId="{3ECB9663-71D6-E24A-9C42-C7735FBF7278}" type="sibTrans" cxnId="{7A4C52F8-5C67-774A-8A3E-34795F5CB4C6}">
      <dgm:prSet/>
      <dgm:spPr/>
      <dgm:t>
        <a:bodyPr/>
        <a:lstStyle/>
        <a:p>
          <a:endParaRPr lang="pt-BR"/>
        </a:p>
      </dgm:t>
    </dgm:pt>
    <dgm:pt modelId="{1393944D-9D7C-E648-A792-440B816C31D5}" type="parTrans" cxnId="{7A4C52F8-5C67-774A-8A3E-34795F5CB4C6}">
      <dgm:prSet/>
      <dgm:spPr/>
      <dgm:t>
        <a:bodyPr/>
        <a:lstStyle/>
        <a:p>
          <a:endParaRPr lang="pt-BR"/>
        </a:p>
      </dgm:t>
    </dgm:pt>
    <dgm:pt modelId="{2A71AD9B-240A-6C46-998C-1FDC5AA1BCB9}">
      <dgm:prSet phldrT="[Text]"/>
      <dgm:spPr/>
      <dgm:t>
        <a:bodyPr/>
        <a:lstStyle/>
        <a:p>
          <a:r>
            <a:rPr lang="pt-BR"/>
            <a:t>DNIT</a:t>
          </a:r>
          <a:endParaRPr lang="pt-BR" dirty="0"/>
        </a:p>
      </dgm:t>
    </dgm:pt>
    <dgm:pt modelId="{05C6A1A5-3F0D-0E4C-9688-30EF74EB67C0}" type="sibTrans" cxnId="{3D82BB35-696A-014E-89CC-3C18620771EE}">
      <dgm:prSet/>
      <dgm:spPr/>
      <dgm:t>
        <a:bodyPr/>
        <a:lstStyle/>
        <a:p>
          <a:endParaRPr lang="pt-BR"/>
        </a:p>
      </dgm:t>
    </dgm:pt>
    <dgm:pt modelId="{2DD07149-6902-A94B-9A39-367F2D65CFC4}" type="parTrans" cxnId="{3D82BB35-696A-014E-89CC-3C18620771EE}">
      <dgm:prSet/>
      <dgm:spPr/>
      <dgm:t>
        <a:bodyPr/>
        <a:lstStyle/>
        <a:p>
          <a:endParaRPr lang="pt-BR"/>
        </a:p>
      </dgm:t>
    </dgm:pt>
    <dgm:pt modelId="{F51E34A6-945B-C849-93BE-1445F56421A6}" type="pres">
      <dgm:prSet presAssocID="{6919B175-0628-134E-945F-F7DFA330C014}" presName="hierChild1" presStyleCnt="0">
        <dgm:presLayoutVars>
          <dgm:orgChart val="1"/>
          <dgm:chPref val="1"/>
          <dgm:dir/>
          <dgm:animOne val="branch"/>
          <dgm:animLvl val="lvl"/>
          <dgm:resizeHandles/>
        </dgm:presLayoutVars>
      </dgm:prSet>
      <dgm:spPr/>
    </dgm:pt>
    <dgm:pt modelId="{59AC2B35-766E-E546-89BF-264D55C00934}" type="pres">
      <dgm:prSet presAssocID="{534DDCF0-7674-904C-819D-78B2341389AA}" presName="hierRoot1" presStyleCnt="0">
        <dgm:presLayoutVars>
          <dgm:hierBranch val="init"/>
        </dgm:presLayoutVars>
      </dgm:prSet>
      <dgm:spPr/>
    </dgm:pt>
    <dgm:pt modelId="{CE99F4B1-11CD-BA47-B07B-111AE248AC33}" type="pres">
      <dgm:prSet presAssocID="{534DDCF0-7674-904C-819D-78B2341389AA}" presName="rootComposite1" presStyleCnt="0"/>
      <dgm:spPr/>
    </dgm:pt>
    <dgm:pt modelId="{BF55137A-62D5-0A41-A4E5-59BA2B90E3B7}" type="pres">
      <dgm:prSet presAssocID="{534DDCF0-7674-904C-819D-78B2341389AA}" presName="rootText1" presStyleLbl="node0" presStyleIdx="0" presStyleCnt="1">
        <dgm:presLayoutVars>
          <dgm:chPref val="3"/>
        </dgm:presLayoutVars>
      </dgm:prSet>
      <dgm:spPr/>
    </dgm:pt>
    <dgm:pt modelId="{753BA48A-46D4-684B-91C0-65D99A62D7FC}" type="pres">
      <dgm:prSet presAssocID="{534DDCF0-7674-904C-819D-78B2341389AA}" presName="rootConnector1" presStyleLbl="node1" presStyleIdx="0" presStyleCnt="0"/>
      <dgm:spPr/>
    </dgm:pt>
    <dgm:pt modelId="{AB2DC90B-3867-0240-A2E0-70F25D20F7EB}" type="pres">
      <dgm:prSet presAssocID="{534DDCF0-7674-904C-819D-78B2341389AA}" presName="hierChild2" presStyleCnt="0"/>
      <dgm:spPr/>
    </dgm:pt>
    <dgm:pt modelId="{9C0452B4-81B9-2644-91A3-C887E857D063}" type="pres">
      <dgm:prSet presAssocID="{E0A41838-F10D-7643-9804-96624358D1D2}" presName="Name37" presStyleLbl="parChTrans1D2" presStyleIdx="0" presStyleCnt="3"/>
      <dgm:spPr/>
    </dgm:pt>
    <dgm:pt modelId="{608FA244-C208-4E41-A69C-8A2492E05230}" type="pres">
      <dgm:prSet presAssocID="{E72B279E-987E-2B4A-BC15-40B94208608D}" presName="hierRoot2" presStyleCnt="0">
        <dgm:presLayoutVars>
          <dgm:hierBranch val="init"/>
        </dgm:presLayoutVars>
      </dgm:prSet>
      <dgm:spPr/>
    </dgm:pt>
    <dgm:pt modelId="{C84E14BC-D956-874F-A28E-D8ED1ABC2D97}" type="pres">
      <dgm:prSet presAssocID="{E72B279E-987E-2B4A-BC15-40B94208608D}" presName="rootComposite" presStyleCnt="0"/>
      <dgm:spPr/>
    </dgm:pt>
    <dgm:pt modelId="{3FFCCA2F-B39C-8F4A-BB3A-03DAE9869D4D}" type="pres">
      <dgm:prSet presAssocID="{E72B279E-987E-2B4A-BC15-40B94208608D}" presName="rootText" presStyleLbl="node2" presStyleIdx="0" presStyleCnt="3">
        <dgm:presLayoutVars>
          <dgm:chPref val="3"/>
        </dgm:presLayoutVars>
      </dgm:prSet>
      <dgm:spPr/>
    </dgm:pt>
    <dgm:pt modelId="{4F9A289B-5D36-3442-AE68-8DD066009EFE}" type="pres">
      <dgm:prSet presAssocID="{E72B279E-987E-2B4A-BC15-40B94208608D}" presName="rootConnector" presStyleLbl="node2" presStyleIdx="0" presStyleCnt="3"/>
      <dgm:spPr/>
    </dgm:pt>
    <dgm:pt modelId="{119E4DC9-C575-8A4D-A4F3-9B7D04BB57C7}" type="pres">
      <dgm:prSet presAssocID="{E72B279E-987E-2B4A-BC15-40B94208608D}" presName="hierChild4" presStyleCnt="0"/>
      <dgm:spPr/>
    </dgm:pt>
    <dgm:pt modelId="{66ACB83B-BE84-EF4A-B26C-7CA8263AAF45}" type="pres">
      <dgm:prSet presAssocID="{DC82A300-F017-7048-94DC-3FC7258C22D3}" presName="Name37" presStyleLbl="parChTrans1D3" presStyleIdx="0" presStyleCnt="6"/>
      <dgm:spPr/>
    </dgm:pt>
    <dgm:pt modelId="{57E0D657-7C39-1F4C-BFB8-9883DAE55D25}" type="pres">
      <dgm:prSet presAssocID="{C070C5B6-3CAF-DE41-B80F-92F236FB2BE3}" presName="hierRoot2" presStyleCnt="0">
        <dgm:presLayoutVars>
          <dgm:hierBranch val="init"/>
        </dgm:presLayoutVars>
      </dgm:prSet>
      <dgm:spPr/>
    </dgm:pt>
    <dgm:pt modelId="{549EE191-00F6-034C-A576-425066322239}" type="pres">
      <dgm:prSet presAssocID="{C070C5B6-3CAF-DE41-B80F-92F236FB2BE3}" presName="rootComposite" presStyleCnt="0"/>
      <dgm:spPr/>
    </dgm:pt>
    <dgm:pt modelId="{C542E165-1A6D-5E47-AE5D-3BE87DF2E21E}" type="pres">
      <dgm:prSet presAssocID="{C070C5B6-3CAF-DE41-B80F-92F236FB2BE3}" presName="rootText" presStyleLbl="node3" presStyleIdx="0" presStyleCnt="6">
        <dgm:presLayoutVars>
          <dgm:chPref val="3"/>
        </dgm:presLayoutVars>
      </dgm:prSet>
      <dgm:spPr/>
    </dgm:pt>
    <dgm:pt modelId="{1CBE9FF0-3BB7-5343-8B4E-F233D80C4844}" type="pres">
      <dgm:prSet presAssocID="{C070C5B6-3CAF-DE41-B80F-92F236FB2BE3}" presName="rootConnector" presStyleLbl="node3" presStyleIdx="0" presStyleCnt="6"/>
      <dgm:spPr/>
    </dgm:pt>
    <dgm:pt modelId="{EB28A830-B11D-EE4E-BFCD-C5DA9164DBB1}" type="pres">
      <dgm:prSet presAssocID="{C070C5B6-3CAF-DE41-B80F-92F236FB2BE3}" presName="hierChild4" presStyleCnt="0"/>
      <dgm:spPr/>
    </dgm:pt>
    <dgm:pt modelId="{A49BE62C-B804-BC40-A61F-90AD1CB8E6F7}" type="pres">
      <dgm:prSet presAssocID="{C070C5B6-3CAF-DE41-B80F-92F236FB2BE3}" presName="hierChild5" presStyleCnt="0"/>
      <dgm:spPr/>
    </dgm:pt>
    <dgm:pt modelId="{8F1B3D42-43F1-EE4F-9E9D-879327B3BF27}" type="pres">
      <dgm:prSet presAssocID="{2DD07149-6902-A94B-9A39-367F2D65CFC4}" presName="Name37" presStyleLbl="parChTrans1D3" presStyleIdx="1" presStyleCnt="6"/>
      <dgm:spPr/>
    </dgm:pt>
    <dgm:pt modelId="{2E37251B-D6C6-D843-9796-B51DF5D29046}" type="pres">
      <dgm:prSet presAssocID="{2A71AD9B-240A-6C46-998C-1FDC5AA1BCB9}" presName="hierRoot2" presStyleCnt="0">
        <dgm:presLayoutVars>
          <dgm:hierBranch val="init"/>
        </dgm:presLayoutVars>
      </dgm:prSet>
      <dgm:spPr/>
    </dgm:pt>
    <dgm:pt modelId="{9073E7F8-5DB5-F344-B1B2-1450FC0247F8}" type="pres">
      <dgm:prSet presAssocID="{2A71AD9B-240A-6C46-998C-1FDC5AA1BCB9}" presName="rootComposite" presStyleCnt="0"/>
      <dgm:spPr/>
    </dgm:pt>
    <dgm:pt modelId="{15B2D16C-A582-4740-AB40-01A9DE75A70D}" type="pres">
      <dgm:prSet presAssocID="{2A71AD9B-240A-6C46-998C-1FDC5AA1BCB9}" presName="rootText" presStyleLbl="node3" presStyleIdx="1" presStyleCnt="6">
        <dgm:presLayoutVars>
          <dgm:chPref val="3"/>
        </dgm:presLayoutVars>
      </dgm:prSet>
      <dgm:spPr/>
    </dgm:pt>
    <dgm:pt modelId="{78A6A4EB-1249-1743-99BC-F51530C52831}" type="pres">
      <dgm:prSet presAssocID="{2A71AD9B-240A-6C46-998C-1FDC5AA1BCB9}" presName="rootConnector" presStyleLbl="node3" presStyleIdx="1" presStyleCnt="6"/>
      <dgm:spPr/>
    </dgm:pt>
    <dgm:pt modelId="{DE787FFC-9017-E447-B397-4FD64DECD74B}" type="pres">
      <dgm:prSet presAssocID="{2A71AD9B-240A-6C46-998C-1FDC5AA1BCB9}" presName="hierChild4" presStyleCnt="0"/>
      <dgm:spPr/>
    </dgm:pt>
    <dgm:pt modelId="{C061EBB4-1D74-6345-8102-D84C4901BC15}" type="pres">
      <dgm:prSet presAssocID="{2A71AD9B-240A-6C46-998C-1FDC5AA1BCB9}" presName="hierChild5" presStyleCnt="0"/>
      <dgm:spPr/>
    </dgm:pt>
    <dgm:pt modelId="{6AAA1380-8D3F-954D-82FE-39A3FB872AFC}" type="pres">
      <dgm:prSet presAssocID="{1393944D-9D7C-E648-A792-440B816C31D5}" presName="Name37" presStyleLbl="parChTrans1D3" presStyleIdx="2" presStyleCnt="6"/>
      <dgm:spPr/>
    </dgm:pt>
    <dgm:pt modelId="{1C1E4D5C-316A-244C-A964-2BB4CA08BB8C}" type="pres">
      <dgm:prSet presAssocID="{930E58CC-F87A-5D4B-B80E-39349FDB254E}" presName="hierRoot2" presStyleCnt="0">
        <dgm:presLayoutVars>
          <dgm:hierBranch val="init"/>
        </dgm:presLayoutVars>
      </dgm:prSet>
      <dgm:spPr/>
    </dgm:pt>
    <dgm:pt modelId="{3CA5217D-49E6-9646-8A0C-5977F3729C60}" type="pres">
      <dgm:prSet presAssocID="{930E58CC-F87A-5D4B-B80E-39349FDB254E}" presName="rootComposite" presStyleCnt="0"/>
      <dgm:spPr/>
    </dgm:pt>
    <dgm:pt modelId="{DD49B5D1-18D8-3C4F-BC71-74FAD6EF5C3D}" type="pres">
      <dgm:prSet presAssocID="{930E58CC-F87A-5D4B-B80E-39349FDB254E}" presName="rootText" presStyleLbl="node3" presStyleIdx="2" presStyleCnt="6">
        <dgm:presLayoutVars>
          <dgm:chPref val="3"/>
        </dgm:presLayoutVars>
      </dgm:prSet>
      <dgm:spPr/>
    </dgm:pt>
    <dgm:pt modelId="{FA8D4CDA-5CD4-9F49-B123-53836F0E27DC}" type="pres">
      <dgm:prSet presAssocID="{930E58CC-F87A-5D4B-B80E-39349FDB254E}" presName="rootConnector" presStyleLbl="node3" presStyleIdx="2" presStyleCnt="6"/>
      <dgm:spPr/>
    </dgm:pt>
    <dgm:pt modelId="{18B0A94D-4216-9747-8CBB-A1F9D0A20A45}" type="pres">
      <dgm:prSet presAssocID="{930E58CC-F87A-5D4B-B80E-39349FDB254E}" presName="hierChild4" presStyleCnt="0"/>
      <dgm:spPr/>
    </dgm:pt>
    <dgm:pt modelId="{6A5600E8-895A-324E-B2AE-E30FD7525CE9}" type="pres">
      <dgm:prSet presAssocID="{930E58CC-F87A-5D4B-B80E-39349FDB254E}" presName="hierChild5" presStyleCnt="0"/>
      <dgm:spPr/>
    </dgm:pt>
    <dgm:pt modelId="{235FA9B3-E82F-B144-9F2E-94AECF31B651}" type="pres">
      <dgm:prSet presAssocID="{E72B279E-987E-2B4A-BC15-40B94208608D}" presName="hierChild5" presStyleCnt="0"/>
      <dgm:spPr/>
    </dgm:pt>
    <dgm:pt modelId="{521C5867-F191-A84B-A634-0DA3C14EAE6F}" type="pres">
      <dgm:prSet presAssocID="{CDFEE8DB-B845-CF4E-8243-A1F1B0102B23}" presName="Name37" presStyleLbl="parChTrans1D2" presStyleIdx="1" presStyleCnt="3"/>
      <dgm:spPr/>
    </dgm:pt>
    <dgm:pt modelId="{236B214F-186A-244C-8B17-5D33718B2C94}" type="pres">
      <dgm:prSet presAssocID="{23ED75A9-BEF3-914E-AD77-365DACAE942B}" presName="hierRoot2" presStyleCnt="0">
        <dgm:presLayoutVars>
          <dgm:hierBranch val="init"/>
        </dgm:presLayoutVars>
      </dgm:prSet>
      <dgm:spPr/>
    </dgm:pt>
    <dgm:pt modelId="{F162B0DB-17E9-3A4D-9C82-ABE9495865E4}" type="pres">
      <dgm:prSet presAssocID="{23ED75A9-BEF3-914E-AD77-365DACAE942B}" presName="rootComposite" presStyleCnt="0"/>
      <dgm:spPr/>
    </dgm:pt>
    <dgm:pt modelId="{2B7DD07C-6D70-DA43-ACC5-BB8813029EDC}" type="pres">
      <dgm:prSet presAssocID="{23ED75A9-BEF3-914E-AD77-365DACAE942B}" presName="rootText" presStyleLbl="node2" presStyleIdx="1" presStyleCnt="3">
        <dgm:presLayoutVars>
          <dgm:chPref val="3"/>
        </dgm:presLayoutVars>
      </dgm:prSet>
      <dgm:spPr/>
    </dgm:pt>
    <dgm:pt modelId="{3813870B-2659-3B44-A791-59D9C817EA8B}" type="pres">
      <dgm:prSet presAssocID="{23ED75A9-BEF3-914E-AD77-365DACAE942B}" presName="rootConnector" presStyleLbl="node2" presStyleIdx="1" presStyleCnt="3"/>
      <dgm:spPr/>
    </dgm:pt>
    <dgm:pt modelId="{FF5D8C19-A08A-F248-B8F9-3F241BFDA2D4}" type="pres">
      <dgm:prSet presAssocID="{23ED75A9-BEF3-914E-AD77-365DACAE942B}" presName="hierChild4" presStyleCnt="0"/>
      <dgm:spPr/>
    </dgm:pt>
    <dgm:pt modelId="{DC951850-9FF4-BD4B-B170-D40FA48D827C}" type="pres">
      <dgm:prSet presAssocID="{5E980875-20DD-094D-9672-22F2630A65CD}" presName="Name37" presStyleLbl="parChTrans1D3" presStyleIdx="3" presStyleCnt="6"/>
      <dgm:spPr/>
    </dgm:pt>
    <dgm:pt modelId="{2041BB0E-3331-C348-AB63-991EA35AC2EF}" type="pres">
      <dgm:prSet presAssocID="{76862B8B-30D1-F04C-B7A7-34B2F93B3FF6}" presName="hierRoot2" presStyleCnt="0">
        <dgm:presLayoutVars>
          <dgm:hierBranch val="init"/>
        </dgm:presLayoutVars>
      </dgm:prSet>
      <dgm:spPr/>
    </dgm:pt>
    <dgm:pt modelId="{3A63E069-50A3-4046-88F7-91854B437AAF}" type="pres">
      <dgm:prSet presAssocID="{76862B8B-30D1-F04C-B7A7-34B2F93B3FF6}" presName="rootComposite" presStyleCnt="0"/>
      <dgm:spPr/>
    </dgm:pt>
    <dgm:pt modelId="{27AB1BC8-E3F0-5447-9287-B055E6965F99}" type="pres">
      <dgm:prSet presAssocID="{76862B8B-30D1-F04C-B7A7-34B2F93B3FF6}" presName="rootText" presStyleLbl="node3" presStyleIdx="3" presStyleCnt="6">
        <dgm:presLayoutVars>
          <dgm:chPref val="3"/>
        </dgm:presLayoutVars>
      </dgm:prSet>
      <dgm:spPr/>
    </dgm:pt>
    <dgm:pt modelId="{E03BCBD1-6A89-E04E-B3A4-420977632B24}" type="pres">
      <dgm:prSet presAssocID="{76862B8B-30D1-F04C-B7A7-34B2F93B3FF6}" presName="rootConnector" presStyleLbl="node3" presStyleIdx="3" presStyleCnt="6"/>
      <dgm:spPr/>
    </dgm:pt>
    <dgm:pt modelId="{07BCFCBF-A14F-BA4F-B617-CD7CF8D8E49B}" type="pres">
      <dgm:prSet presAssocID="{76862B8B-30D1-F04C-B7A7-34B2F93B3FF6}" presName="hierChild4" presStyleCnt="0"/>
      <dgm:spPr/>
    </dgm:pt>
    <dgm:pt modelId="{F10A1F6D-9A3B-CF4B-A9CF-1907A249A924}" type="pres">
      <dgm:prSet presAssocID="{76862B8B-30D1-F04C-B7A7-34B2F93B3FF6}" presName="hierChild5" presStyleCnt="0"/>
      <dgm:spPr/>
    </dgm:pt>
    <dgm:pt modelId="{06EE7F20-AA19-3B4D-B740-D03E3C2D1849}" type="pres">
      <dgm:prSet presAssocID="{23ED75A9-BEF3-914E-AD77-365DACAE942B}" presName="hierChild5" presStyleCnt="0"/>
      <dgm:spPr/>
    </dgm:pt>
    <dgm:pt modelId="{684D78FA-704B-504C-A8A5-69042C5532B6}" type="pres">
      <dgm:prSet presAssocID="{9FEB4CB9-86C0-D241-9A3F-AF1F55D5EED5}" presName="Name37" presStyleLbl="parChTrans1D2" presStyleIdx="2" presStyleCnt="3"/>
      <dgm:spPr/>
    </dgm:pt>
    <dgm:pt modelId="{CFE080DC-DE69-144A-B8D8-9F68CEE0B2CE}" type="pres">
      <dgm:prSet presAssocID="{8AE5E5B4-D96A-CF45-9A4A-7B0C0D42886A}" presName="hierRoot2" presStyleCnt="0">
        <dgm:presLayoutVars>
          <dgm:hierBranch val="init"/>
        </dgm:presLayoutVars>
      </dgm:prSet>
      <dgm:spPr/>
    </dgm:pt>
    <dgm:pt modelId="{279349A2-6E44-6848-8B6D-71B9E5BAEB74}" type="pres">
      <dgm:prSet presAssocID="{8AE5E5B4-D96A-CF45-9A4A-7B0C0D42886A}" presName="rootComposite" presStyleCnt="0"/>
      <dgm:spPr/>
    </dgm:pt>
    <dgm:pt modelId="{E82575B9-0ABF-0A48-93B8-C63C79A92B0D}" type="pres">
      <dgm:prSet presAssocID="{8AE5E5B4-D96A-CF45-9A4A-7B0C0D42886A}" presName="rootText" presStyleLbl="node2" presStyleIdx="2" presStyleCnt="3">
        <dgm:presLayoutVars>
          <dgm:chPref val="3"/>
        </dgm:presLayoutVars>
      </dgm:prSet>
      <dgm:spPr/>
    </dgm:pt>
    <dgm:pt modelId="{64070F25-78A5-CC4F-8141-A01B5D09E9DE}" type="pres">
      <dgm:prSet presAssocID="{8AE5E5B4-D96A-CF45-9A4A-7B0C0D42886A}" presName="rootConnector" presStyleLbl="node2" presStyleIdx="2" presStyleCnt="3"/>
      <dgm:spPr/>
    </dgm:pt>
    <dgm:pt modelId="{FCE33EE1-C6FC-DD43-BE33-32309ABAEA55}" type="pres">
      <dgm:prSet presAssocID="{8AE5E5B4-D96A-CF45-9A4A-7B0C0D42886A}" presName="hierChild4" presStyleCnt="0"/>
      <dgm:spPr/>
    </dgm:pt>
    <dgm:pt modelId="{9AF5A6A9-492F-0D42-9B05-D42CB78D79CE}" type="pres">
      <dgm:prSet presAssocID="{32A8C9F6-1868-5945-9053-0EAB35BB127A}" presName="Name37" presStyleLbl="parChTrans1D3" presStyleIdx="4" presStyleCnt="6"/>
      <dgm:spPr/>
    </dgm:pt>
    <dgm:pt modelId="{3B1EDBCA-4521-164C-BCA4-129B6CECDD48}" type="pres">
      <dgm:prSet presAssocID="{8532F646-CE6A-6048-8981-AF85BFA4DECE}" presName="hierRoot2" presStyleCnt="0">
        <dgm:presLayoutVars>
          <dgm:hierBranch val="init"/>
        </dgm:presLayoutVars>
      </dgm:prSet>
      <dgm:spPr/>
    </dgm:pt>
    <dgm:pt modelId="{7D6F74A3-BF63-174A-978F-23CB77E34318}" type="pres">
      <dgm:prSet presAssocID="{8532F646-CE6A-6048-8981-AF85BFA4DECE}" presName="rootComposite" presStyleCnt="0"/>
      <dgm:spPr/>
    </dgm:pt>
    <dgm:pt modelId="{FFDC6122-FE13-6847-B243-125F74BEDD38}" type="pres">
      <dgm:prSet presAssocID="{8532F646-CE6A-6048-8981-AF85BFA4DECE}" presName="rootText" presStyleLbl="node3" presStyleIdx="4" presStyleCnt="6">
        <dgm:presLayoutVars>
          <dgm:chPref val="3"/>
        </dgm:presLayoutVars>
      </dgm:prSet>
      <dgm:spPr/>
    </dgm:pt>
    <dgm:pt modelId="{964B9FB1-E880-B94E-9119-B29F6945CC4D}" type="pres">
      <dgm:prSet presAssocID="{8532F646-CE6A-6048-8981-AF85BFA4DECE}" presName="rootConnector" presStyleLbl="node3" presStyleIdx="4" presStyleCnt="6"/>
      <dgm:spPr/>
    </dgm:pt>
    <dgm:pt modelId="{0163ACE8-938C-6E49-AF62-05C904A514C9}" type="pres">
      <dgm:prSet presAssocID="{8532F646-CE6A-6048-8981-AF85BFA4DECE}" presName="hierChild4" presStyleCnt="0"/>
      <dgm:spPr/>
    </dgm:pt>
    <dgm:pt modelId="{50358029-D0F7-0D42-9168-37A509BEBECB}" type="pres">
      <dgm:prSet presAssocID="{8532F646-CE6A-6048-8981-AF85BFA4DECE}" presName="hierChild5" presStyleCnt="0"/>
      <dgm:spPr/>
    </dgm:pt>
    <dgm:pt modelId="{5F000A11-9701-7943-B872-E406164D6B84}" type="pres">
      <dgm:prSet presAssocID="{091C716C-FB58-5542-B382-E2C8AEBA89AD}" presName="Name37" presStyleLbl="parChTrans1D3" presStyleIdx="5" presStyleCnt="6"/>
      <dgm:spPr/>
    </dgm:pt>
    <dgm:pt modelId="{72F59E45-9518-A84F-AC9B-A68CA87823CA}" type="pres">
      <dgm:prSet presAssocID="{08C5EFCB-28F2-1147-A5FF-0313373F0ED1}" presName="hierRoot2" presStyleCnt="0">
        <dgm:presLayoutVars>
          <dgm:hierBranch val="init"/>
        </dgm:presLayoutVars>
      </dgm:prSet>
      <dgm:spPr/>
    </dgm:pt>
    <dgm:pt modelId="{953AB0FD-6197-D648-B5F5-6655873565A7}" type="pres">
      <dgm:prSet presAssocID="{08C5EFCB-28F2-1147-A5FF-0313373F0ED1}" presName="rootComposite" presStyleCnt="0"/>
      <dgm:spPr/>
    </dgm:pt>
    <dgm:pt modelId="{0B2FBB70-AB24-004E-8856-75DCACC9BB77}" type="pres">
      <dgm:prSet presAssocID="{08C5EFCB-28F2-1147-A5FF-0313373F0ED1}" presName="rootText" presStyleLbl="node3" presStyleIdx="5" presStyleCnt="6">
        <dgm:presLayoutVars>
          <dgm:chPref val="3"/>
        </dgm:presLayoutVars>
      </dgm:prSet>
      <dgm:spPr/>
    </dgm:pt>
    <dgm:pt modelId="{99534402-C7C9-8444-9393-F1740D4A93B2}" type="pres">
      <dgm:prSet presAssocID="{08C5EFCB-28F2-1147-A5FF-0313373F0ED1}" presName="rootConnector" presStyleLbl="node3" presStyleIdx="5" presStyleCnt="6"/>
      <dgm:spPr/>
    </dgm:pt>
    <dgm:pt modelId="{DE0ABF19-5B7A-6344-8576-D5DAAC57318D}" type="pres">
      <dgm:prSet presAssocID="{08C5EFCB-28F2-1147-A5FF-0313373F0ED1}" presName="hierChild4" presStyleCnt="0"/>
      <dgm:spPr/>
    </dgm:pt>
    <dgm:pt modelId="{B543B5F8-B25E-5045-A9BE-9DB565BAD9B4}" type="pres">
      <dgm:prSet presAssocID="{08C5EFCB-28F2-1147-A5FF-0313373F0ED1}" presName="hierChild5" presStyleCnt="0"/>
      <dgm:spPr/>
    </dgm:pt>
    <dgm:pt modelId="{455ACD24-B1B0-6D47-8EC1-8B0304610B01}" type="pres">
      <dgm:prSet presAssocID="{8AE5E5B4-D96A-CF45-9A4A-7B0C0D42886A}" presName="hierChild5" presStyleCnt="0"/>
      <dgm:spPr/>
    </dgm:pt>
    <dgm:pt modelId="{2261F6AF-FFF4-6241-9D14-E007436D5E8A}" type="pres">
      <dgm:prSet presAssocID="{534DDCF0-7674-904C-819D-78B2341389AA}" presName="hierChild3" presStyleCnt="0"/>
      <dgm:spPr/>
    </dgm:pt>
  </dgm:ptLst>
  <dgm:cxnLst>
    <dgm:cxn modelId="{ACD7A707-7BE4-394F-93C4-063ABFC77512}" type="presOf" srcId="{C070C5B6-3CAF-DE41-B80F-92F236FB2BE3}" destId="{C542E165-1A6D-5E47-AE5D-3BE87DF2E21E}" srcOrd="0" destOrd="0" presId="urn:microsoft.com/office/officeart/2005/8/layout/orgChart1"/>
    <dgm:cxn modelId="{D0159415-71E1-1244-89C3-D21EB8CB27EA}" type="presOf" srcId="{2A71AD9B-240A-6C46-998C-1FDC5AA1BCB9}" destId="{78A6A4EB-1249-1743-99BC-F51530C52831}" srcOrd="1" destOrd="0" presId="urn:microsoft.com/office/officeart/2005/8/layout/orgChart1"/>
    <dgm:cxn modelId="{BAF8F51C-C059-054F-853A-971AD043D47B}" type="presOf" srcId="{534DDCF0-7674-904C-819D-78B2341389AA}" destId="{753BA48A-46D4-684B-91C0-65D99A62D7FC}" srcOrd="1" destOrd="0" presId="urn:microsoft.com/office/officeart/2005/8/layout/orgChart1"/>
    <dgm:cxn modelId="{024D3120-D9F2-D14F-8571-DAB9C9023161}" type="presOf" srcId="{23ED75A9-BEF3-914E-AD77-365DACAE942B}" destId="{2B7DD07C-6D70-DA43-ACC5-BB8813029EDC}" srcOrd="0" destOrd="0" presId="urn:microsoft.com/office/officeart/2005/8/layout/orgChart1"/>
    <dgm:cxn modelId="{71F43023-D31D-A84D-A175-315BF1C4FC9F}" type="presOf" srcId="{32A8C9F6-1868-5945-9053-0EAB35BB127A}" destId="{9AF5A6A9-492F-0D42-9B05-D42CB78D79CE}" srcOrd="0" destOrd="0" presId="urn:microsoft.com/office/officeart/2005/8/layout/orgChart1"/>
    <dgm:cxn modelId="{AC4D8F2A-81F0-2B4F-9555-349241F44D10}" type="presOf" srcId="{930E58CC-F87A-5D4B-B80E-39349FDB254E}" destId="{DD49B5D1-18D8-3C4F-BC71-74FAD6EF5C3D}" srcOrd="0" destOrd="0" presId="urn:microsoft.com/office/officeart/2005/8/layout/orgChart1"/>
    <dgm:cxn modelId="{1ACF3F2E-2009-1C4D-941F-437D955BB42D}" type="presOf" srcId="{2DD07149-6902-A94B-9A39-367F2D65CFC4}" destId="{8F1B3D42-43F1-EE4F-9E9D-879327B3BF27}" srcOrd="0" destOrd="0" presId="urn:microsoft.com/office/officeart/2005/8/layout/orgChart1"/>
    <dgm:cxn modelId="{2685672E-5806-3C47-B9EE-D0CB3EF09655}" type="presOf" srcId="{76862B8B-30D1-F04C-B7A7-34B2F93B3FF6}" destId="{27AB1BC8-E3F0-5447-9287-B055E6965F99}" srcOrd="0" destOrd="0" presId="urn:microsoft.com/office/officeart/2005/8/layout/orgChart1"/>
    <dgm:cxn modelId="{3D82BB35-696A-014E-89CC-3C18620771EE}" srcId="{E72B279E-987E-2B4A-BC15-40B94208608D}" destId="{2A71AD9B-240A-6C46-998C-1FDC5AA1BCB9}" srcOrd="1" destOrd="0" parTransId="{2DD07149-6902-A94B-9A39-367F2D65CFC4}" sibTransId="{05C6A1A5-3F0D-0E4C-9688-30EF74EB67C0}"/>
    <dgm:cxn modelId="{C9BDDF3C-00EB-9E44-B941-C9CEFE164812}" srcId="{6919B175-0628-134E-945F-F7DFA330C014}" destId="{534DDCF0-7674-904C-819D-78B2341389AA}" srcOrd="0" destOrd="0" parTransId="{194695ED-F3DD-C74B-81BA-6EACB8C68189}" sibTransId="{B012CF38-1AD4-C148-B0A7-CEBFA5390E65}"/>
    <dgm:cxn modelId="{6A2F1D5C-1CCD-2F4D-A636-0C5BCB8E695D}" type="presOf" srcId="{5E980875-20DD-094D-9672-22F2630A65CD}" destId="{DC951850-9FF4-BD4B-B170-D40FA48D827C}" srcOrd="0" destOrd="0" presId="urn:microsoft.com/office/officeart/2005/8/layout/orgChart1"/>
    <dgm:cxn modelId="{1835495D-F1CD-8441-8938-ED682D509598}" type="presOf" srcId="{8AE5E5B4-D96A-CF45-9A4A-7B0C0D42886A}" destId="{64070F25-78A5-CC4F-8141-A01B5D09E9DE}" srcOrd="1" destOrd="0" presId="urn:microsoft.com/office/officeart/2005/8/layout/orgChart1"/>
    <dgm:cxn modelId="{3730935F-9889-D349-9237-16E42CF4CCB2}" type="presOf" srcId="{08C5EFCB-28F2-1147-A5FF-0313373F0ED1}" destId="{0B2FBB70-AB24-004E-8856-75DCACC9BB77}" srcOrd="0" destOrd="0" presId="urn:microsoft.com/office/officeart/2005/8/layout/orgChart1"/>
    <dgm:cxn modelId="{95DE0142-A8D0-BE4D-9184-F42EC80605E7}" type="presOf" srcId="{C070C5B6-3CAF-DE41-B80F-92F236FB2BE3}" destId="{1CBE9FF0-3BB7-5343-8B4E-F233D80C4844}" srcOrd="1" destOrd="0" presId="urn:microsoft.com/office/officeart/2005/8/layout/orgChart1"/>
    <dgm:cxn modelId="{8792FB63-3DD1-784F-BB30-F6C29F481B5A}" type="presOf" srcId="{1393944D-9D7C-E648-A792-440B816C31D5}" destId="{6AAA1380-8D3F-954D-82FE-39A3FB872AFC}" srcOrd="0" destOrd="0" presId="urn:microsoft.com/office/officeart/2005/8/layout/orgChart1"/>
    <dgm:cxn modelId="{29440067-10A0-544B-A79D-DE01A6D34BD6}" type="presOf" srcId="{76862B8B-30D1-F04C-B7A7-34B2F93B3FF6}" destId="{E03BCBD1-6A89-E04E-B3A4-420977632B24}" srcOrd="1" destOrd="0" presId="urn:microsoft.com/office/officeart/2005/8/layout/orgChart1"/>
    <dgm:cxn modelId="{6D144D68-9A9C-D14B-AFAC-3639A413073A}" type="presOf" srcId="{E72B279E-987E-2B4A-BC15-40B94208608D}" destId="{3FFCCA2F-B39C-8F4A-BB3A-03DAE9869D4D}" srcOrd="0" destOrd="0" presId="urn:microsoft.com/office/officeart/2005/8/layout/orgChart1"/>
    <dgm:cxn modelId="{A4BC3F49-EB93-694A-BF05-BA634D2D8562}" type="presOf" srcId="{DC82A300-F017-7048-94DC-3FC7258C22D3}" destId="{66ACB83B-BE84-EF4A-B26C-7CA8263AAF45}" srcOrd="0" destOrd="0" presId="urn:microsoft.com/office/officeart/2005/8/layout/orgChart1"/>
    <dgm:cxn modelId="{89758B6B-DA4D-8745-8102-01B6C28F6A14}" type="presOf" srcId="{534DDCF0-7674-904C-819D-78B2341389AA}" destId="{BF55137A-62D5-0A41-A4E5-59BA2B90E3B7}" srcOrd="0" destOrd="0" presId="urn:microsoft.com/office/officeart/2005/8/layout/orgChart1"/>
    <dgm:cxn modelId="{FA27F26B-403F-0E4A-A1FF-F01BB9095672}" srcId="{E72B279E-987E-2B4A-BC15-40B94208608D}" destId="{C070C5B6-3CAF-DE41-B80F-92F236FB2BE3}" srcOrd="0" destOrd="0" parTransId="{DC82A300-F017-7048-94DC-3FC7258C22D3}" sibTransId="{6FAB9597-4F24-824C-A8F5-3EE4380771DC}"/>
    <dgm:cxn modelId="{5D9C226E-7B8B-3644-875E-6D2FFCA22535}" type="presOf" srcId="{23ED75A9-BEF3-914E-AD77-365DACAE942B}" destId="{3813870B-2659-3B44-A791-59D9C817EA8B}" srcOrd="1" destOrd="0" presId="urn:microsoft.com/office/officeart/2005/8/layout/orgChart1"/>
    <dgm:cxn modelId="{5366A578-796A-134C-BA1F-6E08148A7765}" type="presOf" srcId="{08C5EFCB-28F2-1147-A5FF-0313373F0ED1}" destId="{99534402-C7C9-8444-9393-F1740D4A93B2}" srcOrd="1" destOrd="0" presId="urn:microsoft.com/office/officeart/2005/8/layout/orgChart1"/>
    <dgm:cxn modelId="{4E8F3A82-472B-0B45-B89D-FB21D8779320}" srcId="{23ED75A9-BEF3-914E-AD77-365DACAE942B}" destId="{76862B8B-30D1-F04C-B7A7-34B2F93B3FF6}" srcOrd="0" destOrd="0" parTransId="{5E980875-20DD-094D-9672-22F2630A65CD}" sibTransId="{1DA00073-F4FF-3D4D-A33A-22B4C065A364}"/>
    <dgm:cxn modelId="{A9AA3F88-D09F-EE40-8667-FB2B85E31667}" type="presOf" srcId="{930E58CC-F87A-5D4B-B80E-39349FDB254E}" destId="{FA8D4CDA-5CD4-9F49-B123-53836F0E27DC}" srcOrd="1" destOrd="0" presId="urn:microsoft.com/office/officeart/2005/8/layout/orgChart1"/>
    <dgm:cxn modelId="{C53ADB92-06B3-5141-9139-9F65C42707A0}" type="presOf" srcId="{8AE5E5B4-D96A-CF45-9A4A-7B0C0D42886A}" destId="{E82575B9-0ABF-0A48-93B8-C63C79A92B0D}" srcOrd="0" destOrd="0" presId="urn:microsoft.com/office/officeart/2005/8/layout/orgChart1"/>
    <dgm:cxn modelId="{FC1314A2-6196-8F44-A044-3991064EE99E}" type="presOf" srcId="{CDFEE8DB-B845-CF4E-8243-A1F1B0102B23}" destId="{521C5867-F191-A84B-A634-0DA3C14EAE6F}" srcOrd="0" destOrd="0" presId="urn:microsoft.com/office/officeart/2005/8/layout/orgChart1"/>
    <dgm:cxn modelId="{3B4566A6-F546-0C49-8D3B-9DBA1D443C67}" type="presOf" srcId="{091C716C-FB58-5542-B382-E2C8AEBA89AD}" destId="{5F000A11-9701-7943-B872-E406164D6B84}" srcOrd="0" destOrd="0" presId="urn:microsoft.com/office/officeart/2005/8/layout/orgChart1"/>
    <dgm:cxn modelId="{C5B0E3AF-7B2F-DE45-B79B-1D7648F37A4F}" srcId="{8AE5E5B4-D96A-CF45-9A4A-7B0C0D42886A}" destId="{08C5EFCB-28F2-1147-A5FF-0313373F0ED1}" srcOrd="1" destOrd="0" parTransId="{091C716C-FB58-5542-B382-E2C8AEBA89AD}" sibTransId="{49B408A8-355E-E94D-984D-A5B870BE0B30}"/>
    <dgm:cxn modelId="{F814E3B7-1BE7-494E-AC78-37805F2EFC93}" type="presOf" srcId="{8532F646-CE6A-6048-8981-AF85BFA4DECE}" destId="{964B9FB1-E880-B94E-9119-B29F6945CC4D}" srcOrd="1" destOrd="0" presId="urn:microsoft.com/office/officeart/2005/8/layout/orgChart1"/>
    <dgm:cxn modelId="{7877DDBD-4244-EE41-AC2C-9EE203A7BF82}" type="presOf" srcId="{6919B175-0628-134E-945F-F7DFA330C014}" destId="{F51E34A6-945B-C849-93BE-1445F56421A6}" srcOrd="0" destOrd="0" presId="urn:microsoft.com/office/officeart/2005/8/layout/orgChart1"/>
    <dgm:cxn modelId="{11497EC1-4884-C246-99DA-3FAC7F4BB473}" srcId="{8AE5E5B4-D96A-CF45-9A4A-7B0C0D42886A}" destId="{8532F646-CE6A-6048-8981-AF85BFA4DECE}" srcOrd="0" destOrd="0" parTransId="{32A8C9F6-1868-5945-9053-0EAB35BB127A}" sibTransId="{0C6D1885-6556-3246-BC7F-8A59E1CFA5BD}"/>
    <dgm:cxn modelId="{E5E3B4C1-4F56-6747-9756-E14AACF4BAC1}" type="presOf" srcId="{E72B279E-987E-2B4A-BC15-40B94208608D}" destId="{4F9A289B-5D36-3442-AE68-8DD066009EFE}" srcOrd="1" destOrd="0" presId="urn:microsoft.com/office/officeart/2005/8/layout/orgChart1"/>
    <dgm:cxn modelId="{5DAB72C4-9A24-D348-AB2E-D56C9A248B7D}" srcId="{534DDCF0-7674-904C-819D-78B2341389AA}" destId="{E72B279E-987E-2B4A-BC15-40B94208608D}" srcOrd="0" destOrd="0" parTransId="{E0A41838-F10D-7643-9804-96624358D1D2}" sibTransId="{B89327B1-1540-2940-9E7D-EC2EE7E3FCB9}"/>
    <dgm:cxn modelId="{CC154CC7-1122-D14D-A3E3-E75CAB3FC8A3}" type="presOf" srcId="{2A71AD9B-240A-6C46-998C-1FDC5AA1BCB9}" destId="{15B2D16C-A582-4740-AB40-01A9DE75A70D}" srcOrd="0" destOrd="0" presId="urn:microsoft.com/office/officeart/2005/8/layout/orgChart1"/>
    <dgm:cxn modelId="{486105D0-6926-764E-B5F0-23161BC317CF}" type="presOf" srcId="{E0A41838-F10D-7643-9804-96624358D1D2}" destId="{9C0452B4-81B9-2644-91A3-C887E857D063}" srcOrd="0" destOrd="0" presId="urn:microsoft.com/office/officeart/2005/8/layout/orgChart1"/>
    <dgm:cxn modelId="{24BA02D1-7265-A34C-89B1-DC747E196638}" srcId="{534DDCF0-7674-904C-819D-78B2341389AA}" destId="{23ED75A9-BEF3-914E-AD77-365DACAE942B}" srcOrd="1" destOrd="0" parTransId="{CDFEE8DB-B845-CF4E-8243-A1F1B0102B23}" sibTransId="{0F97B6C0-3F47-9F49-9678-7C950214B1C6}"/>
    <dgm:cxn modelId="{328A5FD6-C2EA-5F45-B839-8CB4EBD632B2}" srcId="{534DDCF0-7674-904C-819D-78B2341389AA}" destId="{8AE5E5B4-D96A-CF45-9A4A-7B0C0D42886A}" srcOrd="2" destOrd="0" parTransId="{9FEB4CB9-86C0-D241-9A3F-AF1F55D5EED5}" sibTransId="{DE36BFB7-9229-7049-8CA4-0ADC95DD5A8F}"/>
    <dgm:cxn modelId="{F4F8AAE7-CF76-DA49-940E-97FB4DB954FA}" type="presOf" srcId="{9FEB4CB9-86C0-D241-9A3F-AF1F55D5EED5}" destId="{684D78FA-704B-504C-A8A5-69042C5532B6}" srcOrd="0" destOrd="0" presId="urn:microsoft.com/office/officeart/2005/8/layout/orgChart1"/>
    <dgm:cxn modelId="{7A4C52F8-5C67-774A-8A3E-34795F5CB4C6}" srcId="{E72B279E-987E-2B4A-BC15-40B94208608D}" destId="{930E58CC-F87A-5D4B-B80E-39349FDB254E}" srcOrd="2" destOrd="0" parTransId="{1393944D-9D7C-E648-A792-440B816C31D5}" sibTransId="{3ECB9663-71D6-E24A-9C42-C7735FBF7278}"/>
    <dgm:cxn modelId="{25B6CFFA-6BB3-E44D-A6B8-049CEF96FF4D}" type="presOf" srcId="{8532F646-CE6A-6048-8981-AF85BFA4DECE}" destId="{FFDC6122-FE13-6847-B243-125F74BEDD38}" srcOrd="0" destOrd="0" presId="urn:microsoft.com/office/officeart/2005/8/layout/orgChart1"/>
    <dgm:cxn modelId="{0A14CFCF-52B0-5643-8FBF-C05639D0B885}" type="presParOf" srcId="{F51E34A6-945B-C849-93BE-1445F56421A6}" destId="{59AC2B35-766E-E546-89BF-264D55C00934}" srcOrd="0" destOrd="0" presId="urn:microsoft.com/office/officeart/2005/8/layout/orgChart1"/>
    <dgm:cxn modelId="{14633692-71CB-5148-B7D3-24FDB13B3407}" type="presParOf" srcId="{59AC2B35-766E-E546-89BF-264D55C00934}" destId="{CE99F4B1-11CD-BA47-B07B-111AE248AC33}" srcOrd="0" destOrd="0" presId="urn:microsoft.com/office/officeart/2005/8/layout/orgChart1"/>
    <dgm:cxn modelId="{66CB1CA0-D6E1-424A-93D8-D32AF6F5E22E}" type="presParOf" srcId="{CE99F4B1-11CD-BA47-B07B-111AE248AC33}" destId="{BF55137A-62D5-0A41-A4E5-59BA2B90E3B7}" srcOrd="0" destOrd="0" presId="urn:microsoft.com/office/officeart/2005/8/layout/orgChart1"/>
    <dgm:cxn modelId="{6BB03F59-6145-BE43-B6FE-01C9AD81B075}" type="presParOf" srcId="{CE99F4B1-11CD-BA47-B07B-111AE248AC33}" destId="{753BA48A-46D4-684B-91C0-65D99A62D7FC}" srcOrd="1" destOrd="0" presId="urn:microsoft.com/office/officeart/2005/8/layout/orgChart1"/>
    <dgm:cxn modelId="{3390C4E0-A9D2-3B46-AE9C-D265F2B7297A}" type="presParOf" srcId="{59AC2B35-766E-E546-89BF-264D55C00934}" destId="{AB2DC90B-3867-0240-A2E0-70F25D20F7EB}" srcOrd="1" destOrd="0" presId="urn:microsoft.com/office/officeart/2005/8/layout/orgChart1"/>
    <dgm:cxn modelId="{931320A0-8C6F-2F48-B95B-8A39C987A23E}" type="presParOf" srcId="{AB2DC90B-3867-0240-A2E0-70F25D20F7EB}" destId="{9C0452B4-81B9-2644-91A3-C887E857D063}" srcOrd="0" destOrd="0" presId="urn:microsoft.com/office/officeart/2005/8/layout/orgChart1"/>
    <dgm:cxn modelId="{94E7826D-0D7F-6E40-B49F-28C3B9D53A30}" type="presParOf" srcId="{AB2DC90B-3867-0240-A2E0-70F25D20F7EB}" destId="{608FA244-C208-4E41-A69C-8A2492E05230}" srcOrd="1" destOrd="0" presId="urn:microsoft.com/office/officeart/2005/8/layout/orgChart1"/>
    <dgm:cxn modelId="{F6AA0C8F-68D9-9142-A2A4-983106255CA2}" type="presParOf" srcId="{608FA244-C208-4E41-A69C-8A2492E05230}" destId="{C84E14BC-D956-874F-A28E-D8ED1ABC2D97}" srcOrd="0" destOrd="0" presId="urn:microsoft.com/office/officeart/2005/8/layout/orgChart1"/>
    <dgm:cxn modelId="{70CE0C55-07F5-764D-A948-7ED97C3AF509}" type="presParOf" srcId="{C84E14BC-D956-874F-A28E-D8ED1ABC2D97}" destId="{3FFCCA2F-B39C-8F4A-BB3A-03DAE9869D4D}" srcOrd="0" destOrd="0" presId="urn:microsoft.com/office/officeart/2005/8/layout/orgChart1"/>
    <dgm:cxn modelId="{F0BD7F7C-5155-1548-A6CB-01D801328412}" type="presParOf" srcId="{C84E14BC-D956-874F-A28E-D8ED1ABC2D97}" destId="{4F9A289B-5D36-3442-AE68-8DD066009EFE}" srcOrd="1" destOrd="0" presId="urn:microsoft.com/office/officeart/2005/8/layout/orgChart1"/>
    <dgm:cxn modelId="{4E07E9EC-E20B-A143-A9CD-1B0A521A50C1}" type="presParOf" srcId="{608FA244-C208-4E41-A69C-8A2492E05230}" destId="{119E4DC9-C575-8A4D-A4F3-9B7D04BB57C7}" srcOrd="1" destOrd="0" presId="urn:microsoft.com/office/officeart/2005/8/layout/orgChart1"/>
    <dgm:cxn modelId="{E78F1727-0A2A-4449-8422-E93172CB89DF}" type="presParOf" srcId="{119E4DC9-C575-8A4D-A4F3-9B7D04BB57C7}" destId="{66ACB83B-BE84-EF4A-B26C-7CA8263AAF45}" srcOrd="0" destOrd="0" presId="urn:microsoft.com/office/officeart/2005/8/layout/orgChart1"/>
    <dgm:cxn modelId="{536DCF76-90EE-7744-B6BE-256A9928F49E}" type="presParOf" srcId="{119E4DC9-C575-8A4D-A4F3-9B7D04BB57C7}" destId="{57E0D657-7C39-1F4C-BFB8-9883DAE55D25}" srcOrd="1" destOrd="0" presId="urn:microsoft.com/office/officeart/2005/8/layout/orgChart1"/>
    <dgm:cxn modelId="{2453694E-87E1-8545-ABFA-B68C04B7052E}" type="presParOf" srcId="{57E0D657-7C39-1F4C-BFB8-9883DAE55D25}" destId="{549EE191-00F6-034C-A576-425066322239}" srcOrd="0" destOrd="0" presId="urn:microsoft.com/office/officeart/2005/8/layout/orgChart1"/>
    <dgm:cxn modelId="{7F6355EC-DDD1-0146-9A23-0F325667BCDD}" type="presParOf" srcId="{549EE191-00F6-034C-A576-425066322239}" destId="{C542E165-1A6D-5E47-AE5D-3BE87DF2E21E}" srcOrd="0" destOrd="0" presId="urn:microsoft.com/office/officeart/2005/8/layout/orgChart1"/>
    <dgm:cxn modelId="{7D6D4DD7-6722-A249-A546-9FBE9B0BAF18}" type="presParOf" srcId="{549EE191-00F6-034C-A576-425066322239}" destId="{1CBE9FF0-3BB7-5343-8B4E-F233D80C4844}" srcOrd="1" destOrd="0" presId="urn:microsoft.com/office/officeart/2005/8/layout/orgChart1"/>
    <dgm:cxn modelId="{7C7144B9-001D-FC45-AE60-EBCBEBBB89E1}" type="presParOf" srcId="{57E0D657-7C39-1F4C-BFB8-9883DAE55D25}" destId="{EB28A830-B11D-EE4E-BFCD-C5DA9164DBB1}" srcOrd="1" destOrd="0" presId="urn:microsoft.com/office/officeart/2005/8/layout/orgChart1"/>
    <dgm:cxn modelId="{770AECE7-455B-544C-8D8F-71CF66F445BB}" type="presParOf" srcId="{57E0D657-7C39-1F4C-BFB8-9883DAE55D25}" destId="{A49BE62C-B804-BC40-A61F-90AD1CB8E6F7}" srcOrd="2" destOrd="0" presId="urn:microsoft.com/office/officeart/2005/8/layout/orgChart1"/>
    <dgm:cxn modelId="{F3E12517-FD77-494A-9B8F-33148E015F57}" type="presParOf" srcId="{119E4DC9-C575-8A4D-A4F3-9B7D04BB57C7}" destId="{8F1B3D42-43F1-EE4F-9E9D-879327B3BF27}" srcOrd="2" destOrd="0" presId="urn:microsoft.com/office/officeart/2005/8/layout/orgChart1"/>
    <dgm:cxn modelId="{F9DC29D5-6349-874C-A15D-2E1248F41A43}" type="presParOf" srcId="{119E4DC9-C575-8A4D-A4F3-9B7D04BB57C7}" destId="{2E37251B-D6C6-D843-9796-B51DF5D29046}" srcOrd="3" destOrd="0" presId="urn:microsoft.com/office/officeart/2005/8/layout/orgChart1"/>
    <dgm:cxn modelId="{58E08E05-A19A-3044-BBB1-0719B7258DAD}" type="presParOf" srcId="{2E37251B-D6C6-D843-9796-B51DF5D29046}" destId="{9073E7F8-5DB5-F344-B1B2-1450FC0247F8}" srcOrd="0" destOrd="0" presId="urn:microsoft.com/office/officeart/2005/8/layout/orgChart1"/>
    <dgm:cxn modelId="{F1EBE45A-3BAE-7645-AB17-E4FB5B40E96B}" type="presParOf" srcId="{9073E7F8-5DB5-F344-B1B2-1450FC0247F8}" destId="{15B2D16C-A582-4740-AB40-01A9DE75A70D}" srcOrd="0" destOrd="0" presId="urn:microsoft.com/office/officeart/2005/8/layout/orgChart1"/>
    <dgm:cxn modelId="{6C818DBC-5C95-6F44-BEDF-3AEF79EAB1DD}" type="presParOf" srcId="{9073E7F8-5DB5-F344-B1B2-1450FC0247F8}" destId="{78A6A4EB-1249-1743-99BC-F51530C52831}" srcOrd="1" destOrd="0" presId="urn:microsoft.com/office/officeart/2005/8/layout/orgChart1"/>
    <dgm:cxn modelId="{3712B9D2-3C3A-CA47-A556-E623D8802596}" type="presParOf" srcId="{2E37251B-D6C6-D843-9796-B51DF5D29046}" destId="{DE787FFC-9017-E447-B397-4FD64DECD74B}" srcOrd="1" destOrd="0" presId="urn:microsoft.com/office/officeart/2005/8/layout/orgChart1"/>
    <dgm:cxn modelId="{28317389-CE1C-524F-9DF1-2F2EDA50D3D5}" type="presParOf" srcId="{2E37251B-D6C6-D843-9796-B51DF5D29046}" destId="{C061EBB4-1D74-6345-8102-D84C4901BC15}" srcOrd="2" destOrd="0" presId="urn:microsoft.com/office/officeart/2005/8/layout/orgChart1"/>
    <dgm:cxn modelId="{9A26137D-4814-EE4B-BDC0-014845899D00}" type="presParOf" srcId="{119E4DC9-C575-8A4D-A4F3-9B7D04BB57C7}" destId="{6AAA1380-8D3F-954D-82FE-39A3FB872AFC}" srcOrd="4" destOrd="0" presId="urn:microsoft.com/office/officeart/2005/8/layout/orgChart1"/>
    <dgm:cxn modelId="{F46A5A28-DFFA-9740-8A12-90570C13FCEC}" type="presParOf" srcId="{119E4DC9-C575-8A4D-A4F3-9B7D04BB57C7}" destId="{1C1E4D5C-316A-244C-A964-2BB4CA08BB8C}" srcOrd="5" destOrd="0" presId="urn:microsoft.com/office/officeart/2005/8/layout/orgChart1"/>
    <dgm:cxn modelId="{F7B104A3-45AF-564D-A010-15F0C07EA1F8}" type="presParOf" srcId="{1C1E4D5C-316A-244C-A964-2BB4CA08BB8C}" destId="{3CA5217D-49E6-9646-8A0C-5977F3729C60}" srcOrd="0" destOrd="0" presId="urn:microsoft.com/office/officeart/2005/8/layout/orgChart1"/>
    <dgm:cxn modelId="{CD11AE87-BC6F-D943-B87D-4F91A6875659}" type="presParOf" srcId="{3CA5217D-49E6-9646-8A0C-5977F3729C60}" destId="{DD49B5D1-18D8-3C4F-BC71-74FAD6EF5C3D}" srcOrd="0" destOrd="0" presId="urn:microsoft.com/office/officeart/2005/8/layout/orgChart1"/>
    <dgm:cxn modelId="{B31F34CA-0E71-EA49-A70E-865572ECBC37}" type="presParOf" srcId="{3CA5217D-49E6-9646-8A0C-5977F3729C60}" destId="{FA8D4CDA-5CD4-9F49-B123-53836F0E27DC}" srcOrd="1" destOrd="0" presId="urn:microsoft.com/office/officeart/2005/8/layout/orgChart1"/>
    <dgm:cxn modelId="{69B65108-36D7-664D-B7D7-B3D3E688ED4F}" type="presParOf" srcId="{1C1E4D5C-316A-244C-A964-2BB4CA08BB8C}" destId="{18B0A94D-4216-9747-8CBB-A1F9D0A20A45}" srcOrd="1" destOrd="0" presId="urn:microsoft.com/office/officeart/2005/8/layout/orgChart1"/>
    <dgm:cxn modelId="{1826FA80-ECF4-6A45-8D34-1028DB23845C}" type="presParOf" srcId="{1C1E4D5C-316A-244C-A964-2BB4CA08BB8C}" destId="{6A5600E8-895A-324E-B2AE-E30FD7525CE9}" srcOrd="2" destOrd="0" presId="urn:microsoft.com/office/officeart/2005/8/layout/orgChart1"/>
    <dgm:cxn modelId="{B35989F8-9F1B-BA46-AF1E-0C0E9904948F}" type="presParOf" srcId="{608FA244-C208-4E41-A69C-8A2492E05230}" destId="{235FA9B3-E82F-B144-9F2E-94AECF31B651}" srcOrd="2" destOrd="0" presId="urn:microsoft.com/office/officeart/2005/8/layout/orgChart1"/>
    <dgm:cxn modelId="{974BD0C1-A9C8-3A40-A93C-C941B6AD3475}" type="presParOf" srcId="{AB2DC90B-3867-0240-A2E0-70F25D20F7EB}" destId="{521C5867-F191-A84B-A634-0DA3C14EAE6F}" srcOrd="2" destOrd="0" presId="urn:microsoft.com/office/officeart/2005/8/layout/orgChart1"/>
    <dgm:cxn modelId="{F8C4BCF9-7466-034E-AB6C-7338C313A96E}" type="presParOf" srcId="{AB2DC90B-3867-0240-A2E0-70F25D20F7EB}" destId="{236B214F-186A-244C-8B17-5D33718B2C94}" srcOrd="3" destOrd="0" presId="urn:microsoft.com/office/officeart/2005/8/layout/orgChart1"/>
    <dgm:cxn modelId="{053FF395-7A0B-064C-8C1E-F587E15D7B70}" type="presParOf" srcId="{236B214F-186A-244C-8B17-5D33718B2C94}" destId="{F162B0DB-17E9-3A4D-9C82-ABE9495865E4}" srcOrd="0" destOrd="0" presId="urn:microsoft.com/office/officeart/2005/8/layout/orgChart1"/>
    <dgm:cxn modelId="{01F66706-10B4-9842-B471-FFCDBE2BC26A}" type="presParOf" srcId="{F162B0DB-17E9-3A4D-9C82-ABE9495865E4}" destId="{2B7DD07C-6D70-DA43-ACC5-BB8813029EDC}" srcOrd="0" destOrd="0" presId="urn:microsoft.com/office/officeart/2005/8/layout/orgChart1"/>
    <dgm:cxn modelId="{57791F35-FC3D-1C4B-A91E-9F3677864B36}" type="presParOf" srcId="{F162B0DB-17E9-3A4D-9C82-ABE9495865E4}" destId="{3813870B-2659-3B44-A791-59D9C817EA8B}" srcOrd="1" destOrd="0" presId="urn:microsoft.com/office/officeart/2005/8/layout/orgChart1"/>
    <dgm:cxn modelId="{46ACCEF0-6D18-1E4A-AB12-DDC03EAF4ED3}" type="presParOf" srcId="{236B214F-186A-244C-8B17-5D33718B2C94}" destId="{FF5D8C19-A08A-F248-B8F9-3F241BFDA2D4}" srcOrd="1" destOrd="0" presId="urn:microsoft.com/office/officeart/2005/8/layout/orgChart1"/>
    <dgm:cxn modelId="{DAFB3512-D14C-9542-A942-E197312EF4E3}" type="presParOf" srcId="{FF5D8C19-A08A-F248-B8F9-3F241BFDA2D4}" destId="{DC951850-9FF4-BD4B-B170-D40FA48D827C}" srcOrd="0" destOrd="0" presId="urn:microsoft.com/office/officeart/2005/8/layout/orgChart1"/>
    <dgm:cxn modelId="{E2537957-8D31-E846-8FD1-C90FF3786C6C}" type="presParOf" srcId="{FF5D8C19-A08A-F248-B8F9-3F241BFDA2D4}" destId="{2041BB0E-3331-C348-AB63-991EA35AC2EF}" srcOrd="1" destOrd="0" presId="urn:microsoft.com/office/officeart/2005/8/layout/orgChart1"/>
    <dgm:cxn modelId="{0EE4DBB2-2F52-B446-B532-C10D70AC517E}" type="presParOf" srcId="{2041BB0E-3331-C348-AB63-991EA35AC2EF}" destId="{3A63E069-50A3-4046-88F7-91854B437AAF}" srcOrd="0" destOrd="0" presId="urn:microsoft.com/office/officeart/2005/8/layout/orgChart1"/>
    <dgm:cxn modelId="{2216F069-D00C-2A4E-9E9A-A3A0E837D38D}" type="presParOf" srcId="{3A63E069-50A3-4046-88F7-91854B437AAF}" destId="{27AB1BC8-E3F0-5447-9287-B055E6965F99}" srcOrd="0" destOrd="0" presId="urn:microsoft.com/office/officeart/2005/8/layout/orgChart1"/>
    <dgm:cxn modelId="{44881416-0186-E54A-8A45-4703B652ED82}" type="presParOf" srcId="{3A63E069-50A3-4046-88F7-91854B437AAF}" destId="{E03BCBD1-6A89-E04E-B3A4-420977632B24}" srcOrd="1" destOrd="0" presId="urn:microsoft.com/office/officeart/2005/8/layout/orgChart1"/>
    <dgm:cxn modelId="{A8FED542-D2B5-F14D-91BE-92F88229E48C}" type="presParOf" srcId="{2041BB0E-3331-C348-AB63-991EA35AC2EF}" destId="{07BCFCBF-A14F-BA4F-B617-CD7CF8D8E49B}" srcOrd="1" destOrd="0" presId="urn:microsoft.com/office/officeart/2005/8/layout/orgChart1"/>
    <dgm:cxn modelId="{5E5B2DA4-CD45-FA4B-828D-B5C373A5CC39}" type="presParOf" srcId="{2041BB0E-3331-C348-AB63-991EA35AC2EF}" destId="{F10A1F6D-9A3B-CF4B-A9CF-1907A249A924}" srcOrd="2" destOrd="0" presId="urn:microsoft.com/office/officeart/2005/8/layout/orgChart1"/>
    <dgm:cxn modelId="{C5EB3B19-B2BC-0D44-BFDE-F86146F1986D}" type="presParOf" srcId="{236B214F-186A-244C-8B17-5D33718B2C94}" destId="{06EE7F20-AA19-3B4D-B740-D03E3C2D1849}" srcOrd="2" destOrd="0" presId="urn:microsoft.com/office/officeart/2005/8/layout/orgChart1"/>
    <dgm:cxn modelId="{CD25BF72-0739-0B4E-9379-D75A32FA637D}" type="presParOf" srcId="{AB2DC90B-3867-0240-A2E0-70F25D20F7EB}" destId="{684D78FA-704B-504C-A8A5-69042C5532B6}" srcOrd="4" destOrd="0" presId="urn:microsoft.com/office/officeart/2005/8/layout/orgChart1"/>
    <dgm:cxn modelId="{C7B344F9-579B-154B-9EF6-B7AB89CCE6DD}" type="presParOf" srcId="{AB2DC90B-3867-0240-A2E0-70F25D20F7EB}" destId="{CFE080DC-DE69-144A-B8D8-9F68CEE0B2CE}" srcOrd="5" destOrd="0" presId="urn:microsoft.com/office/officeart/2005/8/layout/orgChart1"/>
    <dgm:cxn modelId="{4A931D54-4676-B24D-808F-E75449AED3FB}" type="presParOf" srcId="{CFE080DC-DE69-144A-B8D8-9F68CEE0B2CE}" destId="{279349A2-6E44-6848-8B6D-71B9E5BAEB74}" srcOrd="0" destOrd="0" presId="urn:microsoft.com/office/officeart/2005/8/layout/orgChart1"/>
    <dgm:cxn modelId="{5D01E636-1753-DD44-8B02-7575081ED89B}" type="presParOf" srcId="{279349A2-6E44-6848-8B6D-71B9E5BAEB74}" destId="{E82575B9-0ABF-0A48-93B8-C63C79A92B0D}" srcOrd="0" destOrd="0" presId="urn:microsoft.com/office/officeart/2005/8/layout/orgChart1"/>
    <dgm:cxn modelId="{DB49609E-1A32-3A45-9391-DA094B14DB49}" type="presParOf" srcId="{279349A2-6E44-6848-8B6D-71B9E5BAEB74}" destId="{64070F25-78A5-CC4F-8141-A01B5D09E9DE}" srcOrd="1" destOrd="0" presId="urn:microsoft.com/office/officeart/2005/8/layout/orgChart1"/>
    <dgm:cxn modelId="{0521FE7E-20FB-2A4C-A083-C4C2F3216A38}" type="presParOf" srcId="{CFE080DC-DE69-144A-B8D8-9F68CEE0B2CE}" destId="{FCE33EE1-C6FC-DD43-BE33-32309ABAEA55}" srcOrd="1" destOrd="0" presId="urn:microsoft.com/office/officeart/2005/8/layout/orgChart1"/>
    <dgm:cxn modelId="{17FC5356-6A17-A242-8E2E-F812A5D947AD}" type="presParOf" srcId="{FCE33EE1-C6FC-DD43-BE33-32309ABAEA55}" destId="{9AF5A6A9-492F-0D42-9B05-D42CB78D79CE}" srcOrd="0" destOrd="0" presId="urn:microsoft.com/office/officeart/2005/8/layout/orgChart1"/>
    <dgm:cxn modelId="{A9912C0D-CB91-7240-8F7E-5328323DF965}" type="presParOf" srcId="{FCE33EE1-C6FC-DD43-BE33-32309ABAEA55}" destId="{3B1EDBCA-4521-164C-BCA4-129B6CECDD48}" srcOrd="1" destOrd="0" presId="urn:microsoft.com/office/officeart/2005/8/layout/orgChart1"/>
    <dgm:cxn modelId="{A6EC2508-8E49-0E41-B07A-1046DC9BEA07}" type="presParOf" srcId="{3B1EDBCA-4521-164C-BCA4-129B6CECDD48}" destId="{7D6F74A3-BF63-174A-978F-23CB77E34318}" srcOrd="0" destOrd="0" presId="urn:microsoft.com/office/officeart/2005/8/layout/orgChart1"/>
    <dgm:cxn modelId="{16D598B4-C3D4-974D-9090-0A8E6548DD71}" type="presParOf" srcId="{7D6F74A3-BF63-174A-978F-23CB77E34318}" destId="{FFDC6122-FE13-6847-B243-125F74BEDD38}" srcOrd="0" destOrd="0" presId="urn:microsoft.com/office/officeart/2005/8/layout/orgChart1"/>
    <dgm:cxn modelId="{013189E3-6B3B-894A-AAC5-E0F7270F31A6}" type="presParOf" srcId="{7D6F74A3-BF63-174A-978F-23CB77E34318}" destId="{964B9FB1-E880-B94E-9119-B29F6945CC4D}" srcOrd="1" destOrd="0" presId="urn:microsoft.com/office/officeart/2005/8/layout/orgChart1"/>
    <dgm:cxn modelId="{D4144457-09DE-0B45-9B81-AB3129C99589}" type="presParOf" srcId="{3B1EDBCA-4521-164C-BCA4-129B6CECDD48}" destId="{0163ACE8-938C-6E49-AF62-05C904A514C9}" srcOrd="1" destOrd="0" presId="urn:microsoft.com/office/officeart/2005/8/layout/orgChart1"/>
    <dgm:cxn modelId="{0A230609-02E7-9348-978F-4CCFE303B907}" type="presParOf" srcId="{3B1EDBCA-4521-164C-BCA4-129B6CECDD48}" destId="{50358029-D0F7-0D42-9168-37A509BEBECB}" srcOrd="2" destOrd="0" presId="urn:microsoft.com/office/officeart/2005/8/layout/orgChart1"/>
    <dgm:cxn modelId="{7FC2AB54-AE1D-0441-8854-50D4225B8AA7}" type="presParOf" srcId="{FCE33EE1-C6FC-DD43-BE33-32309ABAEA55}" destId="{5F000A11-9701-7943-B872-E406164D6B84}" srcOrd="2" destOrd="0" presId="urn:microsoft.com/office/officeart/2005/8/layout/orgChart1"/>
    <dgm:cxn modelId="{21D47ED0-C701-A840-A9EA-67F242C0C64C}" type="presParOf" srcId="{FCE33EE1-C6FC-DD43-BE33-32309ABAEA55}" destId="{72F59E45-9518-A84F-AC9B-A68CA87823CA}" srcOrd="3" destOrd="0" presId="urn:microsoft.com/office/officeart/2005/8/layout/orgChart1"/>
    <dgm:cxn modelId="{E4251EC3-DDD6-EC4F-AAC2-8E8A6B5862E5}" type="presParOf" srcId="{72F59E45-9518-A84F-AC9B-A68CA87823CA}" destId="{953AB0FD-6197-D648-B5F5-6655873565A7}" srcOrd="0" destOrd="0" presId="urn:microsoft.com/office/officeart/2005/8/layout/orgChart1"/>
    <dgm:cxn modelId="{E00F2F4A-DE66-5348-9202-E8ECD2765CFA}" type="presParOf" srcId="{953AB0FD-6197-D648-B5F5-6655873565A7}" destId="{0B2FBB70-AB24-004E-8856-75DCACC9BB77}" srcOrd="0" destOrd="0" presId="urn:microsoft.com/office/officeart/2005/8/layout/orgChart1"/>
    <dgm:cxn modelId="{E9D31599-8807-834E-9BD8-BD376E713251}" type="presParOf" srcId="{953AB0FD-6197-D648-B5F5-6655873565A7}" destId="{99534402-C7C9-8444-9393-F1740D4A93B2}" srcOrd="1" destOrd="0" presId="urn:microsoft.com/office/officeart/2005/8/layout/orgChart1"/>
    <dgm:cxn modelId="{3D622AFC-AE82-6048-AE27-154FFFD013B8}" type="presParOf" srcId="{72F59E45-9518-A84F-AC9B-A68CA87823CA}" destId="{DE0ABF19-5B7A-6344-8576-D5DAAC57318D}" srcOrd="1" destOrd="0" presId="urn:microsoft.com/office/officeart/2005/8/layout/orgChart1"/>
    <dgm:cxn modelId="{DDAD841D-B5AD-F941-9630-5F64D2AE58BD}" type="presParOf" srcId="{72F59E45-9518-A84F-AC9B-A68CA87823CA}" destId="{B543B5F8-B25E-5045-A9BE-9DB565BAD9B4}" srcOrd="2" destOrd="0" presId="urn:microsoft.com/office/officeart/2005/8/layout/orgChart1"/>
    <dgm:cxn modelId="{9C242425-E3A2-864B-8261-F24BB7BF4C7F}" type="presParOf" srcId="{CFE080DC-DE69-144A-B8D8-9F68CEE0B2CE}" destId="{455ACD24-B1B0-6D47-8EC1-8B0304610B01}" srcOrd="2" destOrd="0" presId="urn:microsoft.com/office/officeart/2005/8/layout/orgChart1"/>
    <dgm:cxn modelId="{D87573C7-3786-F747-9F88-E214B6D50289}" type="presParOf" srcId="{59AC2B35-766E-E546-89BF-264D55C00934}" destId="{2261F6AF-FFF4-6241-9D14-E007436D5E8A}"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27136-58EC-4A09-8DFA-1E9CB9372352}">
      <dsp:nvSpPr>
        <dsp:cNvPr id="0" name=""/>
        <dsp:cNvSpPr/>
      </dsp:nvSpPr>
      <dsp:spPr>
        <a:xfrm>
          <a:off x="3729769" y="1750"/>
          <a:ext cx="1582861" cy="1582861"/>
        </a:xfrm>
        <a:prstGeom prst="ellips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pt-BR" sz="1700" kern="1200" dirty="0"/>
            <a:t>MKT / VENDAS</a:t>
          </a:r>
        </a:p>
      </dsp:txBody>
      <dsp:txXfrm>
        <a:off x="3961574" y="233555"/>
        <a:ext cx="1119251" cy="1119251"/>
      </dsp:txXfrm>
    </dsp:sp>
    <dsp:sp modelId="{C444BA31-4687-4FF4-B3BC-C0F755586208}">
      <dsp:nvSpPr>
        <dsp:cNvPr id="0" name=""/>
        <dsp:cNvSpPr/>
      </dsp:nvSpPr>
      <dsp:spPr>
        <a:xfrm rot="2160000">
          <a:off x="5262445" y="1217235"/>
          <a:ext cx="420113" cy="534215"/>
        </a:xfrm>
        <a:prstGeom prst="rightArrow">
          <a:avLst>
            <a:gd name="adj1" fmla="val 60000"/>
            <a:gd name="adj2" fmla="val 5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pt-BR" sz="1400" kern="1200"/>
        </a:p>
      </dsp:txBody>
      <dsp:txXfrm>
        <a:off x="5274480" y="1287038"/>
        <a:ext cx="294079" cy="320529"/>
      </dsp:txXfrm>
    </dsp:sp>
    <dsp:sp modelId="{DCDF1210-EB9C-4CE7-ABE3-5E4FA77328C7}">
      <dsp:nvSpPr>
        <dsp:cNvPr id="0" name=""/>
        <dsp:cNvSpPr/>
      </dsp:nvSpPr>
      <dsp:spPr>
        <a:xfrm>
          <a:off x="5651611" y="1398051"/>
          <a:ext cx="1582861" cy="1582861"/>
        </a:xfrm>
        <a:prstGeom prst="ellips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pt-BR" sz="1700" kern="1200" dirty="0">
              <a:solidFill>
                <a:srgbClr val="FF0000"/>
              </a:solidFill>
            </a:rPr>
            <a:t>FINANÇAS</a:t>
          </a:r>
        </a:p>
      </dsp:txBody>
      <dsp:txXfrm>
        <a:off x="5883416" y="1629856"/>
        <a:ext cx="1119251" cy="1119251"/>
      </dsp:txXfrm>
    </dsp:sp>
    <dsp:sp modelId="{D19CBC2C-7118-4FEB-A52A-DE22F6BD0882}">
      <dsp:nvSpPr>
        <dsp:cNvPr id="0" name=""/>
        <dsp:cNvSpPr/>
      </dsp:nvSpPr>
      <dsp:spPr>
        <a:xfrm rot="6480000">
          <a:off x="5869620" y="3040696"/>
          <a:ext cx="420113" cy="534215"/>
        </a:xfrm>
        <a:prstGeom prst="rightArrow">
          <a:avLst>
            <a:gd name="adj1" fmla="val 60000"/>
            <a:gd name="adj2" fmla="val 5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pt-BR" sz="1400" kern="1200"/>
        </a:p>
      </dsp:txBody>
      <dsp:txXfrm rot="10800000">
        <a:off x="5952110" y="3087606"/>
        <a:ext cx="294079" cy="320529"/>
      </dsp:txXfrm>
    </dsp:sp>
    <dsp:sp modelId="{77FDD25E-E64A-44AE-A3F3-803C536503B5}">
      <dsp:nvSpPr>
        <dsp:cNvPr id="0" name=""/>
        <dsp:cNvSpPr/>
      </dsp:nvSpPr>
      <dsp:spPr>
        <a:xfrm>
          <a:off x="4917533" y="3657312"/>
          <a:ext cx="1582861" cy="1582861"/>
        </a:xfrm>
        <a:prstGeom prst="ellipse">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pt-BR" sz="1700" kern="1200" dirty="0"/>
            <a:t>PRODUÇÃO</a:t>
          </a:r>
        </a:p>
      </dsp:txBody>
      <dsp:txXfrm>
        <a:off x="5149338" y="3889117"/>
        <a:ext cx="1119251" cy="1119251"/>
      </dsp:txXfrm>
    </dsp:sp>
    <dsp:sp modelId="{54D3BB47-073E-4C5C-9627-1BE904E742B9}">
      <dsp:nvSpPr>
        <dsp:cNvPr id="0" name=""/>
        <dsp:cNvSpPr/>
      </dsp:nvSpPr>
      <dsp:spPr>
        <a:xfrm rot="10800000">
          <a:off x="4323033" y="4181635"/>
          <a:ext cx="420113" cy="534215"/>
        </a:xfrm>
        <a:prstGeom prst="rightArrow">
          <a:avLst>
            <a:gd name="adj1" fmla="val 60000"/>
            <a:gd name="adj2" fmla="val 5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pt-BR" sz="1400" kern="1200"/>
        </a:p>
      </dsp:txBody>
      <dsp:txXfrm rot="10800000">
        <a:off x="4449067" y="4288478"/>
        <a:ext cx="294079" cy="320529"/>
      </dsp:txXfrm>
    </dsp:sp>
    <dsp:sp modelId="{B256053B-3B60-4B43-986E-87783996E917}">
      <dsp:nvSpPr>
        <dsp:cNvPr id="0" name=""/>
        <dsp:cNvSpPr/>
      </dsp:nvSpPr>
      <dsp:spPr>
        <a:xfrm>
          <a:off x="2542005" y="3657312"/>
          <a:ext cx="1582861" cy="1582861"/>
        </a:xfrm>
        <a:prstGeom prst="ellipse">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pt-BR" sz="1700" kern="1200" dirty="0">
              <a:solidFill>
                <a:srgbClr val="FF0000"/>
              </a:solidFill>
            </a:rPr>
            <a:t>CUSTOS</a:t>
          </a:r>
        </a:p>
      </dsp:txBody>
      <dsp:txXfrm>
        <a:off x="2773810" y="3889117"/>
        <a:ext cx="1119251" cy="1119251"/>
      </dsp:txXfrm>
    </dsp:sp>
    <dsp:sp modelId="{934DB85E-CC95-45C1-8942-994ACB58551A}">
      <dsp:nvSpPr>
        <dsp:cNvPr id="0" name=""/>
        <dsp:cNvSpPr/>
      </dsp:nvSpPr>
      <dsp:spPr>
        <a:xfrm rot="15177299">
          <a:off x="2741562" y="3015114"/>
          <a:ext cx="468459" cy="534215"/>
        </a:xfrm>
        <a:prstGeom prst="rightArrow">
          <a:avLst>
            <a:gd name="adj1" fmla="val 60000"/>
            <a:gd name="adj2" fmla="val 50000"/>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pt-BR" sz="1400" kern="1200"/>
        </a:p>
      </dsp:txBody>
      <dsp:txXfrm rot="10800000">
        <a:off x="2832428" y="3189139"/>
        <a:ext cx="327921" cy="320529"/>
      </dsp:txXfrm>
    </dsp:sp>
    <dsp:sp modelId="{7613DE8F-1A57-46B8-93A2-10538197301E}">
      <dsp:nvSpPr>
        <dsp:cNvPr id="0" name=""/>
        <dsp:cNvSpPr/>
      </dsp:nvSpPr>
      <dsp:spPr>
        <a:xfrm>
          <a:off x="1818945" y="1298918"/>
          <a:ext cx="1582861" cy="1582861"/>
        </a:xfrm>
        <a:prstGeom prst="ellipse">
          <a:avLst/>
        </a:prstGeom>
        <a:solidFill>
          <a:schemeClr val="accent1"/>
        </a:solidFill>
        <a:ln>
          <a:solidFill>
            <a:schemeClr val="accent1"/>
          </a:solid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pt-BR" sz="1700" kern="1200" dirty="0"/>
            <a:t>COMPRAS</a:t>
          </a:r>
        </a:p>
      </dsp:txBody>
      <dsp:txXfrm>
        <a:off x="2050750" y="1530723"/>
        <a:ext cx="1119251" cy="1119251"/>
      </dsp:txXfrm>
    </dsp:sp>
    <dsp:sp modelId="{42D2FD4E-52C9-4EA5-B5DA-E587BDABD95E}">
      <dsp:nvSpPr>
        <dsp:cNvPr id="0" name=""/>
        <dsp:cNvSpPr/>
      </dsp:nvSpPr>
      <dsp:spPr>
        <a:xfrm rot="19549757">
          <a:off x="3364204" y="1180779"/>
          <a:ext cx="385130" cy="534215"/>
        </a:xfrm>
        <a:prstGeom prst="rightArrow">
          <a:avLst>
            <a:gd name="adj1" fmla="val 60000"/>
            <a:gd name="adj2" fmla="val 50000"/>
          </a:avLst>
        </a:prstGeom>
        <a:solidFill>
          <a:schemeClr val="accent1"/>
        </a:solidFill>
        <a:ln>
          <a:solidFill>
            <a:schemeClr val="accent1"/>
          </a:solid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pt-BR" sz="1400" kern="1200"/>
        </a:p>
      </dsp:txBody>
      <dsp:txXfrm>
        <a:off x="3374177" y="1320069"/>
        <a:ext cx="269591" cy="32052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0DC93F-5225-4217-B922-EFC1916115A4}">
      <dsp:nvSpPr>
        <dsp:cNvPr id="0" name=""/>
        <dsp:cNvSpPr/>
      </dsp:nvSpPr>
      <dsp:spPr>
        <a:xfrm>
          <a:off x="3770" y="177268"/>
          <a:ext cx="2194718" cy="877887"/>
        </a:xfrm>
        <a:prstGeom prst="chevron">
          <a:avLst/>
        </a:prstGeom>
        <a:solidFill>
          <a:srgbClr val="FFC000"/>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4011" tIns="28004" rIns="28004" bIns="28004" numCol="1" spcCol="1270" anchor="ctr" anchorCtr="0">
          <a:noAutofit/>
        </a:bodyPr>
        <a:lstStyle/>
        <a:p>
          <a:pPr marL="0" lvl="0" indent="0" algn="ctr" defTabSz="933450">
            <a:lnSpc>
              <a:spcPct val="90000"/>
            </a:lnSpc>
            <a:spcBef>
              <a:spcPct val="0"/>
            </a:spcBef>
            <a:spcAft>
              <a:spcPct val="35000"/>
            </a:spcAft>
            <a:buNone/>
          </a:pPr>
          <a:r>
            <a:rPr lang="pt-BR" sz="2100" kern="1200" dirty="0"/>
            <a:t>Comprar Materiais</a:t>
          </a:r>
        </a:p>
      </dsp:txBody>
      <dsp:txXfrm>
        <a:off x="442714" y="177268"/>
        <a:ext cx="1316831" cy="877887"/>
      </dsp:txXfrm>
    </dsp:sp>
    <dsp:sp modelId="{E5C3AEC1-1187-406D-A3E1-47719F5B8809}">
      <dsp:nvSpPr>
        <dsp:cNvPr id="0" name=""/>
        <dsp:cNvSpPr/>
      </dsp:nvSpPr>
      <dsp:spPr>
        <a:xfrm>
          <a:off x="1979017" y="177268"/>
          <a:ext cx="2194718" cy="877887"/>
        </a:xfrm>
        <a:prstGeom prst="chevron">
          <a:avLst/>
        </a:prstGeom>
        <a:solidFill>
          <a:srgbClr val="CC6600"/>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4011" tIns="28004" rIns="28004" bIns="28004" numCol="1" spcCol="1270" anchor="ctr" anchorCtr="0">
          <a:noAutofit/>
        </a:bodyPr>
        <a:lstStyle/>
        <a:p>
          <a:pPr marL="0" lvl="0" indent="0" algn="r" defTabSz="933450">
            <a:lnSpc>
              <a:spcPct val="90000"/>
            </a:lnSpc>
            <a:spcBef>
              <a:spcPct val="0"/>
            </a:spcBef>
            <a:spcAft>
              <a:spcPct val="35000"/>
            </a:spcAft>
            <a:buNone/>
          </a:pPr>
          <a:r>
            <a:rPr lang="pt-BR" sz="2100" kern="1200" dirty="0"/>
            <a:t>Armazenar</a:t>
          </a:r>
        </a:p>
      </dsp:txBody>
      <dsp:txXfrm>
        <a:off x="2417961" y="177268"/>
        <a:ext cx="1316831" cy="877887"/>
      </dsp:txXfrm>
    </dsp:sp>
    <dsp:sp modelId="{903F1878-2142-47FE-A57A-90D891B832FE}">
      <dsp:nvSpPr>
        <dsp:cNvPr id="0" name=""/>
        <dsp:cNvSpPr/>
      </dsp:nvSpPr>
      <dsp:spPr>
        <a:xfrm>
          <a:off x="3954264" y="177268"/>
          <a:ext cx="2194718" cy="877887"/>
        </a:xfrm>
        <a:prstGeom prst="chevron">
          <a:avLst/>
        </a:prstGeom>
        <a:solidFill>
          <a:srgbClr val="D60093"/>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4011" tIns="28004" rIns="28004" bIns="28004" numCol="1" spcCol="1270" anchor="ctr" anchorCtr="0">
          <a:noAutofit/>
        </a:bodyPr>
        <a:lstStyle/>
        <a:p>
          <a:pPr marL="0" lvl="0" indent="0" algn="ctr" defTabSz="933450">
            <a:lnSpc>
              <a:spcPct val="90000"/>
            </a:lnSpc>
            <a:spcBef>
              <a:spcPct val="0"/>
            </a:spcBef>
            <a:spcAft>
              <a:spcPct val="35000"/>
            </a:spcAft>
            <a:buNone/>
          </a:pPr>
          <a:r>
            <a:rPr lang="pt-BR" sz="2100" kern="1200" dirty="0"/>
            <a:t>Produzir</a:t>
          </a:r>
        </a:p>
      </dsp:txBody>
      <dsp:txXfrm>
        <a:off x="4393208" y="177268"/>
        <a:ext cx="1316831" cy="877887"/>
      </dsp:txXfrm>
    </dsp:sp>
    <dsp:sp modelId="{A8F394CC-1CA1-4D84-A459-EB09B535B0D8}">
      <dsp:nvSpPr>
        <dsp:cNvPr id="0" name=""/>
        <dsp:cNvSpPr/>
      </dsp:nvSpPr>
      <dsp:spPr>
        <a:xfrm>
          <a:off x="5929510" y="177268"/>
          <a:ext cx="2194718" cy="877887"/>
        </a:xfrm>
        <a:prstGeom prst="chevron">
          <a:avLst/>
        </a:prstGeom>
        <a:solidFill>
          <a:srgbClr val="00B050"/>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4011" tIns="28004" rIns="28004" bIns="28004" numCol="1" spcCol="1270" anchor="ctr" anchorCtr="0">
          <a:noAutofit/>
        </a:bodyPr>
        <a:lstStyle/>
        <a:p>
          <a:pPr marL="0" lvl="0" indent="0" algn="ctr" defTabSz="933450">
            <a:lnSpc>
              <a:spcPct val="90000"/>
            </a:lnSpc>
            <a:spcBef>
              <a:spcPct val="0"/>
            </a:spcBef>
            <a:spcAft>
              <a:spcPct val="35000"/>
            </a:spcAft>
            <a:buNone/>
          </a:pPr>
          <a:r>
            <a:rPr lang="pt-BR" sz="2100" kern="1200" dirty="0"/>
            <a:t>Distribuir</a:t>
          </a:r>
        </a:p>
      </dsp:txBody>
      <dsp:txXfrm>
        <a:off x="6368454" y="177268"/>
        <a:ext cx="1316831" cy="87788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678699-A3C7-9942-92BC-276E2220E5A2}">
      <dsp:nvSpPr>
        <dsp:cNvPr id="0" name=""/>
        <dsp:cNvSpPr/>
      </dsp:nvSpPr>
      <dsp:spPr>
        <a:xfrm>
          <a:off x="0" y="0"/>
          <a:ext cx="1486345" cy="4620966"/>
        </a:xfrm>
        <a:prstGeom prst="roundRect">
          <a:avLst>
            <a:gd name="adj" fmla="val 10000"/>
          </a:avLst>
        </a:prstGeom>
        <a:solidFill>
          <a:schemeClr val="accent6">
            <a:lumMod val="20000"/>
            <a:lumOff val="80000"/>
          </a:schemeClr>
        </a:solidFill>
        <a:ln>
          <a:noFill/>
        </a:ln>
        <a:effectLst/>
      </dsp:spPr>
      <dsp:style>
        <a:lnRef idx="0">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pt-BR" sz="1900" b="1" kern="1200" dirty="0">
              <a:latin typeface="Helvetica Neue"/>
              <a:cs typeface="Helvetica Neue"/>
            </a:rPr>
            <a:t>Terrestre</a:t>
          </a:r>
        </a:p>
      </dsp:txBody>
      <dsp:txXfrm>
        <a:off x="0" y="0"/>
        <a:ext cx="1486345" cy="1386290"/>
      </dsp:txXfrm>
    </dsp:sp>
    <dsp:sp modelId="{FD05F6B3-92FF-F445-9AD4-A8D6456B0E25}">
      <dsp:nvSpPr>
        <dsp:cNvPr id="0" name=""/>
        <dsp:cNvSpPr/>
      </dsp:nvSpPr>
      <dsp:spPr>
        <a:xfrm>
          <a:off x="54541" y="1387643"/>
          <a:ext cx="1380292" cy="1393284"/>
        </a:xfrm>
        <a:prstGeom prst="roundRect">
          <a:avLst>
            <a:gd name="adj" fmla="val 10000"/>
          </a:avLst>
        </a:prstGeom>
        <a:solidFill>
          <a:schemeClr val="accent6">
            <a:lumMod val="60000"/>
            <a:lumOff val="4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pt-BR" sz="1600" kern="1200" dirty="0">
              <a:latin typeface="Helvetica Neue"/>
              <a:cs typeface="Helvetica Neue"/>
            </a:rPr>
            <a:t>Rodoviário</a:t>
          </a:r>
        </a:p>
      </dsp:txBody>
      <dsp:txXfrm>
        <a:off x="94968" y="1428070"/>
        <a:ext cx="1299438" cy="1312430"/>
      </dsp:txXfrm>
    </dsp:sp>
    <dsp:sp modelId="{EB039BF5-D8B3-1A4F-985A-BE6E91D04FD6}">
      <dsp:nvSpPr>
        <dsp:cNvPr id="0" name=""/>
        <dsp:cNvSpPr/>
      </dsp:nvSpPr>
      <dsp:spPr>
        <a:xfrm>
          <a:off x="54541" y="2995280"/>
          <a:ext cx="1380292" cy="1393284"/>
        </a:xfrm>
        <a:prstGeom prst="roundRect">
          <a:avLst>
            <a:gd name="adj" fmla="val 10000"/>
          </a:avLst>
        </a:prstGeom>
        <a:solidFill>
          <a:schemeClr val="accent6">
            <a:lumMod val="60000"/>
            <a:lumOff val="4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pt-BR" sz="1600" kern="1200" dirty="0">
              <a:latin typeface="Helvetica Neue"/>
              <a:cs typeface="Helvetica Neue"/>
            </a:rPr>
            <a:t>Ferroviário</a:t>
          </a:r>
        </a:p>
      </dsp:txBody>
      <dsp:txXfrm>
        <a:off x="94968" y="3035707"/>
        <a:ext cx="1299438" cy="1312430"/>
      </dsp:txXfrm>
    </dsp:sp>
    <dsp:sp modelId="{49279911-E62F-C14D-9872-91E8027DC5E6}">
      <dsp:nvSpPr>
        <dsp:cNvPr id="0" name=""/>
        <dsp:cNvSpPr/>
      </dsp:nvSpPr>
      <dsp:spPr>
        <a:xfrm>
          <a:off x="1599336" y="0"/>
          <a:ext cx="1486345" cy="4620966"/>
        </a:xfrm>
        <a:prstGeom prst="roundRect">
          <a:avLst>
            <a:gd name="adj" fmla="val 10000"/>
          </a:avLst>
        </a:prstGeom>
        <a:solidFill>
          <a:schemeClr val="accent6">
            <a:lumMod val="20000"/>
            <a:lumOff val="80000"/>
          </a:schemeClr>
        </a:solidFill>
        <a:ln>
          <a:noFill/>
        </a:ln>
        <a:effectLst/>
      </dsp:spPr>
      <dsp:style>
        <a:lnRef idx="0">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pt-BR" sz="1900" b="1" kern="1200" dirty="0">
              <a:latin typeface="Helvetica Neue"/>
              <a:cs typeface="Helvetica Neue"/>
            </a:rPr>
            <a:t>Aquaviário</a:t>
          </a:r>
        </a:p>
      </dsp:txBody>
      <dsp:txXfrm>
        <a:off x="1599336" y="0"/>
        <a:ext cx="1486345" cy="1386290"/>
      </dsp:txXfrm>
    </dsp:sp>
    <dsp:sp modelId="{229BF415-EAB4-D94E-830D-F0D49B3F4411}">
      <dsp:nvSpPr>
        <dsp:cNvPr id="0" name=""/>
        <dsp:cNvSpPr/>
      </dsp:nvSpPr>
      <dsp:spPr>
        <a:xfrm>
          <a:off x="1632803" y="1386402"/>
          <a:ext cx="1419412" cy="673176"/>
        </a:xfrm>
        <a:prstGeom prst="roundRect">
          <a:avLst>
            <a:gd name="adj" fmla="val 10000"/>
          </a:avLst>
        </a:prstGeom>
        <a:solidFill>
          <a:schemeClr val="accent6">
            <a:lumMod val="60000"/>
            <a:lumOff val="4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pt-BR" sz="1600" kern="1200" dirty="0">
              <a:latin typeface="Helvetica Neue"/>
              <a:cs typeface="Helvetica Neue"/>
            </a:rPr>
            <a:t>Marítimo</a:t>
          </a:r>
        </a:p>
      </dsp:txBody>
      <dsp:txXfrm>
        <a:off x="1652520" y="1406119"/>
        <a:ext cx="1379978" cy="633742"/>
      </dsp:txXfrm>
    </dsp:sp>
    <dsp:sp modelId="{3879C034-D841-F344-B20F-0C00B348F39B}">
      <dsp:nvSpPr>
        <dsp:cNvPr id="0" name=""/>
        <dsp:cNvSpPr/>
      </dsp:nvSpPr>
      <dsp:spPr>
        <a:xfrm>
          <a:off x="1632803" y="2163145"/>
          <a:ext cx="1419412" cy="673176"/>
        </a:xfrm>
        <a:prstGeom prst="roundRect">
          <a:avLst>
            <a:gd name="adj" fmla="val 10000"/>
          </a:avLst>
        </a:prstGeom>
        <a:solidFill>
          <a:schemeClr val="accent6">
            <a:lumMod val="60000"/>
            <a:lumOff val="4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pt-BR" sz="1600" kern="1200" dirty="0">
              <a:latin typeface="Helvetica Neue"/>
              <a:cs typeface="Helvetica Neue"/>
            </a:rPr>
            <a:t>Cabotagem</a:t>
          </a:r>
        </a:p>
      </dsp:txBody>
      <dsp:txXfrm>
        <a:off x="1652520" y="2182862"/>
        <a:ext cx="1379978" cy="633742"/>
      </dsp:txXfrm>
    </dsp:sp>
    <dsp:sp modelId="{67579F62-36D8-FD4D-BD6C-93E4FE039AA7}">
      <dsp:nvSpPr>
        <dsp:cNvPr id="0" name=""/>
        <dsp:cNvSpPr/>
      </dsp:nvSpPr>
      <dsp:spPr>
        <a:xfrm>
          <a:off x="1633534" y="2939887"/>
          <a:ext cx="1417950" cy="673176"/>
        </a:xfrm>
        <a:prstGeom prst="roundRect">
          <a:avLst>
            <a:gd name="adj" fmla="val 10000"/>
          </a:avLst>
        </a:prstGeom>
        <a:solidFill>
          <a:schemeClr val="accent6">
            <a:lumMod val="60000"/>
            <a:lumOff val="4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pt-BR" sz="1600" kern="1200" dirty="0">
              <a:latin typeface="Helvetica Neue"/>
              <a:cs typeface="Helvetica Neue"/>
            </a:rPr>
            <a:t>Fluvial</a:t>
          </a:r>
        </a:p>
      </dsp:txBody>
      <dsp:txXfrm>
        <a:off x="1653251" y="2959604"/>
        <a:ext cx="1378516" cy="633742"/>
      </dsp:txXfrm>
    </dsp:sp>
    <dsp:sp modelId="{519AD69F-C1F8-264E-A9DE-62E6523B53A2}">
      <dsp:nvSpPr>
        <dsp:cNvPr id="0" name=""/>
        <dsp:cNvSpPr/>
      </dsp:nvSpPr>
      <dsp:spPr>
        <a:xfrm>
          <a:off x="1623367" y="3716629"/>
          <a:ext cx="1438283" cy="673176"/>
        </a:xfrm>
        <a:prstGeom prst="roundRect">
          <a:avLst>
            <a:gd name="adj" fmla="val 10000"/>
          </a:avLst>
        </a:prstGeom>
        <a:solidFill>
          <a:schemeClr val="accent6">
            <a:lumMod val="60000"/>
            <a:lumOff val="4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pt-BR" sz="1600" kern="1200" dirty="0">
              <a:latin typeface="Helvetica Neue"/>
              <a:cs typeface="Helvetica Neue"/>
            </a:rPr>
            <a:t>Lacustre</a:t>
          </a:r>
        </a:p>
      </dsp:txBody>
      <dsp:txXfrm>
        <a:off x="1643084" y="3736346"/>
        <a:ext cx="1398849" cy="633742"/>
      </dsp:txXfrm>
    </dsp:sp>
    <dsp:sp modelId="{39DCDF60-E3EA-B247-A762-C246A487CD10}">
      <dsp:nvSpPr>
        <dsp:cNvPr id="0" name=""/>
        <dsp:cNvSpPr/>
      </dsp:nvSpPr>
      <dsp:spPr>
        <a:xfrm>
          <a:off x="3181655" y="0"/>
          <a:ext cx="1486345" cy="4620966"/>
        </a:xfrm>
        <a:prstGeom prst="roundRect">
          <a:avLst>
            <a:gd name="adj" fmla="val 10000"/>
          </a:avLst>
        </a:prstGeom>
        <a:solidFill>
          <a:schemeClr val="accent6">
            <a:lumMod val="20000"/>
            <a:lumOff val="80000"/>
          </a:schemeClr>
        </a:solidFill>
        <a:ln>
          <a:noFill/>
        </a:ln>
        <a:effectLst/>
      </dsp:spPr>
      <dsp:style>
        <a:lnRef idx="0">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pt-BR" sz="1900" b="1" kern="1200" dirty="0">
              <a:latin typeface="Helvetica Neue"/>
              <a:cs typeface="Helvetica Neue"/>
            </a:rPr>
            <a:t>Aéreo</a:t>
          </a:r>
        </a:p>
      </dsp:txBody>
      <dsp:txXfrm>
        <a:off x="3181655" y="0"/>
        <a:ext cx="1486345" cy="1386290"/>
      </dsp:txXfrm>
    </dsp:sp>
    <dsp:sp modelId="{1A967A77-3756-DC47-9D01-EAB3BAA9EFA8}">
      <dsp:nvSpPr>
        <dsp:cNvPr id="0" name=""/>
        <dsp:cNvSpPr/>
      </dsp:nvSpPr>
      <dsp:spPr>
        <a:xfrm>
          <a:off x="3212123" y="1387643"/>
          <a:ext cx="1425429" cy="1393284"/>
        </a:xfrm>
        <a:prstGeom prst="roundRect">
          <a:avLst>
            <a:gd name="adj" fmla="val 10000"/>
          </a:avLst>
        </a:prstGeom>
        <a:solidFill>
          <a:schemeClr val="accent6">
            <a:lumMod val="60000"/>
            <a:lumOff val="4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pt-BR" sz="1600" b="0" kern="1200" dirty="0">
              <a:latin typeface="Helvetica Neue"/>
              <a:cs typeface="Helvetica Neue"/>
            </a:rPr>
            <a:t>Regulares</a:t>
          </a:r>
        </a:p>
        <a:p>
          <a:pPr marL="0" lvl="0" indent="0" algn="ctr" defTabSz="711200">
            <a:lnSpc>
              <a:spcPct val="90000"/>
            </a:lnSpc>
            <a:spcBef>
              <a:spcPct val="0"/>
            </a:spcBef>
            <a:spcAft>
              <a:spcPct val="35000"/>
            </a:spcAft>
            <a:buNone/>
          </a:pPr>
          <a:r>
            <a:rPr lang="pt-BR" sz="1200" b="0" kern="1200" dirty="0">
              <a:latin typeface="Helvetica Neue"/>
              <a:cs typeface="Helvetica Neue"/>
            </a:rPr>
            <a:t>(nacional e  internacional)</a:t>
          </a:r>
        </a:p>
      </dsp:txBody>
      <dsp:txXfrm>
        <a:off x="3252931" y="1428451"/>
        <a:ext cx="1343813" cy="1311668"/>
      </dsp:txXfrm>
    </dsp:sp>
    <dsp:sp modelId="{167CFB2F-4750-194F-859E-C3DBF7A761B7}">
      <dsp:nvSpPr>
        <dsp:cNvPr id="0" name=""/>
        <dsp:cNvSpPr/>
      </dsp:nvSpPr>
      <dsp:spPr>
        <a:xfrm>
          <a:off x="3212123" y="2995280"/>
          <a:ext cx="1425429" cy="1393284"/>
        </a:xfrm>
        <a:prstGeom prst="roundRect">
          <a:avLst>
            <a:gd name="adj" fmla="val 10000"/>
          </a:avLst>
        </a:prstGeom>
        <a:solidFill>
          <a:schemeClr val="accent6">
            <a:lumMod val="60000"/>
            <a:lumOff val="4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pt-BR" sz="1600" b="0" kern="1200" dirty="0">
              <a:latin typeface="Helvetica Neue"/>
              <a:cs typeface="Helvetica Neue"/>
            </a:rPr>
            <a:t>Regionais (local)</a:t>
          </a:r>
        </a:p>
      </dsp:txBody>
      <dsp:txXfrm>
        <a:off x="3252931" y="3036088"/>
        <a:ext cx="1343813" cy="1311668"/>
      </dsp:txXfrm>
    </dsp:sp>
    <dsp:sp modelId="{73BB810A-5CCD-C648-AE76-876777B56C1D}">
      <dsp:nvSpPr>
        <dsp:cNvPr id="0" name=""/>
        <dsp:cNvSpPr/>
      </dsp:nvSpPr>
      <dsp:spPr>
        <a:xfrm>
          <a:off x="4796495" y="0"/>
          <a:ext cx="1486345" cy="4620966"/>
        </a:xfrm>
        <a:prstGeom prst="roundRect">
          <a:avLst>
            <a:gd name="adj" fmla="val 10000"/>
          </a:avLst>
        </a:prstGeom>
        <a:solidFill>
          <a:schemeClr val="accent6">
            <a:lumMod val="20000"/>
            <a:lumOff val="80000"/>
          </a:schemeClr>
        </a:solidFill>
        <a:ln>
          <a:noFill/>
        </a:ln>
        <a:effectLst/>
      </dsp:spPr>
      <dsp:style>
        <a:lnRef idx="0">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pt-BR" sz="1900" b="1" kern="1200" dirty="0" err="1">
              <a:latin typeface="Helvetica Neue"/>
              <a:cs typeface="Helvetica Neue"/>
            </a:rPr>
            <a:t>Dutoviário</a:t>
          </a:r>
          <a:r>
            <a:rPr lang="pt-BR" sz="1900" b="1" kern="1200" dirty="0">
              <a:latin typeface="Helvetica Neue"/>
              <a:cs typeface="Helvetica Neue"/>
            </a:rPr>
            <a:t>*</a:t>
          </a:r>
        </a:p>
      </dsp:txBody>
      <dsp:txXfrm>
        <a:off x="4796495" y="0"/>
        <a:ext cx="1486345" cy="1386290"/>
      </dsp:txXfrm>
    </dsp:sp>
    <dsp:sp modelId="{28E356AD-E5DE-9340-A69C-FA9D894D0FDE}">
      <dsp:nvSpPr>
        <dsp:cNvPr id="0" name=""/>
        <dsp:cNvSpPr/>
      </dsp:nvSpPr>
      <dsp:spPr>
        <a:xfrm>
          <a:off x="4856473" y="1386402"/>
          <a:ext cx="1363359" cy="673176"/>
        </a:xfrm>
        <a:prstGeom prst="roundRect">
          <a:avLst>
            <a:gd name="adj" fmla="val 10000"/>
          </a:avLst>
        </a:prstGeom>
        <a:solidFill>
          <a:schemeClr val="accent6">
            <a:lumMod val="60000"/>
            <a:lumOff val="4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pt-BR" sz="1600" b="0" kern="1200" dirty="0">
              <a:latin typeface="Helvetica Neue"/>
              <a:cs typeface="Helvetica Neue"/>
            </a:rPr>
            <a:t>Oleoduto</a:t>
          </a:r>
        </a:p>
      </dsp:txBody>
      <dsp:txXfrm>
        <a:off x="4876190" y="1406119"/>
        <a:ext cx="1323925" cy="633742"/>
      </dsp:txXfrm>
    </dsp:sp>
    <dsp:sp modelId="{84341B9A-C83D-4642-9BD3-B6568EAAE5BF}">
      <dsp:nvSpPr>
        <dsp:cNvPr id="0" name=""/>
        <dsp:cNvSpPr/>
      </dsp:nvSpPr>
      <dsp:spPr>
        <a:xfrm>
          <a:off x="4856473" y="2163145"/>
          <a:ext cx="1363359" cy="673176"/>
        </a:xfrm>
        <a:prstGeom prst="roundRect">
          <a:avLst>
            <a:gd name="adj" fmla="val 10000"/>
          </a:avLst>
        </a:prstGeom>
        <a:solidFill>
          <a:schemeClr val="accent6">
            <a:lumMod val="60000"/>
            <a:lumOff val="4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pt-BR" sz="1600" b="0" kern="1200" dirty="0">
              <a:latin typeface="Helvetica Neue"/>
              <a:cs typeface="Helvetica Neue"/>
            </a:rPr>
            <a:t>Gasoduto</a:t>
          </a:r>
        </a:p>
      </dsp:txBody>
      <dsp:txXfrm>
        <a:off x="4876190" y="2182862"/>
        <a:ext cx="1323925" cy="633742"/>
      </dsp:txXfrm>
    </dsp:sp>
    <dsp:sp modelId="{CDA2FDA4-0BB5-5841-BF05-BD7062112917}">
      <dsp:nvSpPr>
        <dsp:cNvPr id="0" name=""/>
        <dsp:cNvSpPr/>
      </dsp:nvSpPr>
      <dsp:spPr>
        <a:xfrm>
          <a:off x="4856473" y="2939887"/>
          <a:ext cx="1363359" cy="673176"/>
        </a:xfrm>
        <a:prstGeom prst="roundRect">
          <a:avLst>
            <a:gd name="adj" fmla="val 10000"/>
          </a:avLst>
        </a:prstGeom>
        <a:solidFill>
          <a:schemeClr val="accent6">
            <a:lumMod val="60000"/>
            <a:lumOff val="4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pt-BR" sz="1600" b="0" kern="1200" dirty="0" err="1">
              <a:latin typeface="Helvetica Neue"/>
              <a:cs typeface="Helvetica Neue"/>
            </a:rPr>
            <a:t>Mineroduto</a:t>
          </a:r>
          <a:endParaRPr lang="pt-BR" sz="1600" b="0" kern="1200" dirty="0">
            <a:latin typeface="Helvetica Neue"/>
            <a:cs typeface="Helvetica Neue"/>
          </a:endParaRPr>
        </a:p>
      </dsp:txBody>
      <dsp:txXfrm>
        <a:off x="4876190" y="2959604"/>
        <a:ext cx="1323925" cy="633742"/>
      </dsp:txXfrm>
    </dsp:sp>
    <dsp:sp modelId="{CD145048-F98D-5748-B0C4-8B7E080B5107}">
      <dsp:nvSpPr>
        <dsp:cNvPr id="0" name=""/>
        <dsp:cNvSpPr/>
      </dsp:nvSpPr>
      <dsp:spPr>
        <a:xfrm>
          <a:off x="4858946" y="3716629"/>
          <a:ext cx="1358413" cy="673176"/>
        </a:xfrm>
        <a:prstGeom prst="roundRect">
          <a:avLst>
            <a:gd name="adj" fmla="val 10000"/>
          </a:avLst>
        </a:prstGeom>
        <a:solidFill>
          <a:schemeClr val="accent6">
            <a:lumMod val="60000"/>
            <a:lumOff val="4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pt-BR" sz="1600" b="0" kern="1200" dirty="0">
              <a:latin typeface="Helvetica Neue"/>
              <a:cs typeface="Helvetica Neue"/>
            </a:rPr>
            <a:t>Dutos Saneamento básico</a:t>
          </a:r>
        </a:p>
      </dsp:txBody>
      <dsp:txXfrm>
        <a:off x="4878663" y="3736346"/>
        <a:ext cx="1318979" cy="63374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000A11-9701-7943-B872-E406164D6B84}">
      <dsp:nvSpPr>
        <dsp:cNvPr id="0" name=""/>
        <dsp:cNvSpPr/>
      </dsp:nvSpPr>
      <dsp:spPr>
        <a:xfrm>
          <a:off x="3583299" y="1593611"/>
          <a:ext cx="197220" cy="1538320"/>
        </a:xfrm>
        <a:custGeom>
          <a:avLst/>
          <a:gdLst/>
          <a:ahLst/>
          <a:cxnLst/>
          <a:rect l="0" t="0" r="0" b="0"/>
          <a:pathLst>
            <a:path>
              <a:moveTo>
                <a:pt x="0" y="0"/>
              </a:moveTo>
              <a:lnTo>
                <a:pt x="0" y="1538320"/>
              </a:lnTo>
              <a:lnTo>
                <a:pt x="197220" y="1538320"/>
              </a:lnTo>
            </a:path>
          </a:pathLst>
        </a:custGeom>
        <a:noFill/>
        <a:ln w="12700" cap="flat" cmpd="sng" algn="ctr">
          <a:solidFill>
            <a:schemeClr val="accent1">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AF5A6A9-492F-0D42-9B05-D42CB78D79CE}">
      <dsp:nvSpPr>
        <dsp:cNvPr id="0" name=""/>
        <dsp:cNvSpPr/>
      </dsp:nvSpPr>
      <dsp:spPr>
        <a:xfrm>
          <a:off x="3583299" y="1593611"/>
          <a:ext cx="197220" cy="604809"/>
        </a:xfrm>
        <a:custGeom>
          <a:avLst/>
          <a:gdLst/>
          <a:ahLst/>
          <a:cxnLst/>
          <a:rect l="0" t="0" r="0" b="0"/>
          <a:pathLst>
            <a:path>
              <a:moveTo>
                <a:pt x="0" y="0"/>
              </a:moveTo>
              <a:lnTo>
                <a:pt x="0" y="604809"/>
              </a:lnTo>
              <a:lnTo>
                <a:pt x="197220" y="604809"/>
              </a:lnTo>
            </a:path>
          </a:pathLst>
        </a:custGeom>
        <a:noFill/>
        <a:ln w="12700" cap="flat" cmpd="sng" algn="ctr">
          <a:solidFill>
            <a:schemeClr val="accent1">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84D78FA-704B-504C-A8A5-69042C5532B6}">
      <dsp:nvSpPr>
        <dsp:cNvPr id="0" name=""/>
        <dsp:cNvSpPr/>
      </dsp:nvSpPr>
      <dsp:spPr>
        <a:xfrm>
          <a:off x="2518308" y="660100"/>
          <a:ext cx="1590913" cy="276108"/>
        </a:xfrm>
        <a:custGeom>
          <a:avLst/>
          <a:gdLst/>
          <a:ahLst/>
          <a:cxnLst/>
          <a:rect l="0" t="0" r="0" b="0"/>
          <a:pathLst>
            <a:path>
              <a:moveTo>
                <a:pt x="0" y="0"/>
              </a:moveTo>
              <a:lnTo>
                <a:pt x="0" y="138054"/>
              </a:lnTo>
              <a:lnTo>
                <a:pt x="1590913" y="138054"/>
              </a:lnTo>
              <a:lnTo>
                <a:pt x="1590913" y="276108"/>
              </a:lnTo>
            </a:path>
          </a:pathLst>
        </a:custGeom>
        <a:noFill/>
        <a:ln w="12700" cap="flat" cmpd="sng" algn="ctr">
          <a:solidFill>
            <a:schemeClr val="accent1">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C951850-9FF4-BD4B-B170-D40FA48D827C}">
      <dsp:nvSpPr>
        <dsp:cNvPr id="0" name=""/>
        <dsp:cNvSpPr/>
      </dsp:nvSpPr>
      <dsp:spPr>
        <a:xfrm>
          <a:off x="1992386" y="1593611"/>
          <a:ext cx="197220" cy="604809"/>
        </a:xfrm>
        <a:custGeom>
          <a:avLst/>
          <a:gdLst/>
          <a:ahLst/>
          <a:cxnLst/>
          <a:rect l="0" t="0" r="0" b="0"/>
          <a:pathLst>
            <a:path>
              <a:moveTo>
                <a:pt x="0" y="0"/>
              </a:moveTo>
              <a:lnTo>
                <a:pt x="0" y="604809"/>
              </a:lnTo>
              <a:lnTo>
                <a:pt x="197220" y="604809"/>
              </a:lnTo>
            </a:path>
          </a:pathLst>
        </a:custGeom>
        <a:noFill/>
        <a:ln w="12700" cap="flat" cmpd="sng" algn="ctr">
          <a:solidFill>
            <a:schemeClr val="accent1">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21C5867-F191-A84B-A634-0DA3C14EAE6F}">
      <dsp:nvSpPr>
        <dsp:cNvPr id="0" name=""/>
        <dsp:cNvSpPr/>
      </dsp:nvSpPr>
      <dsp:spPr>
        <a:xfrm>
          <a:off x="2472588" y="660100"/>
          <a:ext cx="91440" cy="276108"/>
        </a:xfrm>
        <a:custGeom>
          <a:avLst/>
          <a:gdLst/>
          <a:ahLst/>
          <a:cxnLst/>
          <a:rect l="0" t="0" r="0" b="0"/>
          <a:pathLst>
            <a:path>
              <a:moveTo>
                <a:pt x="45720" y="0"/>
              </a:moveTo>
              <a:lnTo>
                <a:pt x="45720" y="276108"/>
              </a:lnTo>
            </a:path>
          </a:pathLst>
        </a:custGeom>
        <a:noFill/>
        <a:ln w="12700" cap="flat" cmpd="sng" algn="ctr">
          <a:solidFill>
            <a:schemeClr val="accent1">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AAA1380-8D3F-954D-82FE-39A3FB872AFC}">
      <dsp:nvSpPr>
        <dsp:cNvPr id="0" name=""/>
        <dsp:cNvSpPr/>
      </dsp:nvSpPr>
      <dsp:spPr>
        <a:xfrm>
          <a:off x="401473" y="1593611"/>
          <a:ext cx="197220" cy="2471831"/>
        </a:xfrm>
        <a:custGeom>
          <a:avLst/>
          <a:gdLst/>
          <a:ahLst/>
          <a:cxnLst/>
          <a:rect l="0" t="0" r="0" b="0"/>
          <a:pathLst>
            <a:path>
              <a:moveTo>
                <a:pt x="0" y="0"/>
              </a:moveTo>
              <a:lnTo>
                <a:pt x="0" y="2471831"/>
              </a:lnTo>
              <a:lnTo>
                <a:pt x="197220" y="2471831"/>
              </a:lnTo>
            </a:path>
          </a:pathLst>
        </a:custGeom>
        <a:noFill/>
        <a:ln w="12700" cap="flat" cmpd="sng" algn="ctr">
          <a:solidFill>
            <a:schemeClr val="accent1">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F1B3D42-43F1-EE4F-9E9D-879327B3BF27}">
      <dsp:nvSpPr>
        <dsp:cNvPr id="0" name=""/>
        <dsp:cNvSpPr/>
      </dsp:nvSpPr>
      <dsp:spPr>
        <a:xfrm>
          <a:off x="401473" y="1593611"/>
          <a:ext cx="197220" cy="1538320"/>
        </a:xfrm>
        <a:custGeom>
          <a:avLst/>
          <a:gdLst/>
          <a:ahLst/>
          <a:cxnLst/>
          <a:rect l="0" t="0" r="0" b="0"/>
          <a:pathLst>
            <a:path>
              <a:moveTo>
                <a:pt x="0" y="0"/>
              </a:moveTo>
              <a:lnTo>
                <a:pt x="0" y="1538320"/>
              </a:lnTo>
              <a:lnTo>
                <a:pt x="197220" y="1538320"/>
              </a:lnTo>
            </a:path>
          </a:pathLst>
        </a:custGeom>
        <a:noFill/>
        <a:ln w="12700" cap="flat" cmpd="sng" algn="ctr">
          <a:solidFill>
            <a:schemeClr val="accent1">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6ACB83B-BE84-EF4A-B26C-7CA8263AAF45}">
      <dsp:nvSpPr>
        <dsp:cNvPr id="0" name=""/>
        <dsp:cNvSpPr/>
      </dsp:nvSpPr>
      <dsp:spPr>
        <a:xfrm>
          <a:off x="401473" y="1593611"/>
          <a:ext cx="197220" cy="604809"/>
        </a:xfrm>
        <a:custGeom>
          <a:avLst/>
          <a:gdLst/>
          <a:ahLst/>
          <a:cxnLst/>
          <a:rect l="0" t="0" r="0" b="0"/>
          <a:pathLst>
            <a:path>
              <a:moveTo>
                <a:pt x="0" y="0"/>
              </a:moveTo>
              <a:lnTo>
                <a:pt x="0" y="604809"/>
              </a:lnTo>
              <a:lnTo>
                <a:pt x="197220" y="604809"/>
              </a:lnTo>
            </a:path>
          </a:pathLst>
        </a:custGeom>
        <a:noFill/>
        <a:ln w="12700" cap="flat" cmpd="sng" algn="ctr">
          <a:solidFill>
            <a:schemeClr val="accent1">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C0452B4-81B9-2644-91A3-C887E857D063}">
      <dsp:nvSpPr>
        <dsp:cNvPr id="0" name=""/>
        <dsp:cNvSpPr/>
      </dsp:nvSpPr>
      <dsp:spPr>
        <a:xfrm>
          <a:off x="927395" y="660100"/>
          <a:ext cx="1590913" cy="276108"/>
        </a:xfrm>
        <a:custGeom>
          <a:avLst/>
          <a:gdLst/>
          <a:ahLst/>
          <a:cxnLst/>
          <a:rect l="0" t="0" r="0" b="0"/>
          <a:pathLst>
            <a:path>
              <a:moveTo>
                <a:pt x="1590913" y="0"/>
              </a:moveTo>
              <a:lnTo>
                <a:pt x="1590913" y="138054"/>
              </a:lnTo>
              <a:lnTo>
                <a:pt x="0" y="138054"/>
              </a:lnTo>
              <a:lnTo>
                <a:pt x="0" y="276108"/>
              </a:lnTo>
            </a:path>
          </a:pathLst>
        </a:custGeom>
        <a:noFill/>
        <a:ln w="12700" cap="flat" cmpd="sng" algn="ctr">
          <a:solidFill>
            <a:schemeClr val="accent1">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F55137A-62D5-0A41-A4E5-59BA2B90E3B7}">
      <dsp:nvSpPr>
        <dsp:cNvPr id="0" name=""/>
        <dsp:cNvSpPr/>
      </dsp:nvSpPr>
      <dsp:spPr>
        <a:xfrm>
          <a:off x="1860906" y="2698"/>
          <a:ext cx="1314804" cy="657402"/>
        </a:xfrm>
        <a:prstGeom prst="rect">
          <a:avLst/>
        </a:prstGeom>
        <a:solidFill>
          <a:schemeClr val="accent1">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pt-BR" sz="1700" kern="1200" dirty="0"/>
            <a:t>Presidência da República</a:t>
          </a:r>
        </a:p>
      </dsp:txBody>
      <dsp:txXfrm>
        <a:off x="1860906" y="2698"/>
        <a:ext cx="1314804" cy="657402"/>
      </dsp:txXfrm>
    </dsp:sp>
    <dsp:sp modelId="{3FFCCA2F-B39C-8F4A-BB3A-03DAE9869D4D}">
      <dsp:nvSpPr>
        <dsp:cNvPr id="0" name=""/>
        <dsp:cNvSpPr/>
      </dsp:nvSpPr>
      <dsp:spPr>
        <a:xfrm>
          <a:off x="269993" y="936208"/>
          <a:ext cx="1314804" cy="657402"/>
        </a:xfrm>
        <a:prstGeom prst="rect">
          <a:avLst/>
        </a:prstGeom>
        <a:solidFill>
          <a:schemeClr val="accent1">
            <a:tint val="99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pt-BR" sz="1700" kern="1200" dirty="0"/>
            <a:t>Ministério dos Transportes</a:t>
          </a:r>
        </a:p>
      </dsp:txBody>
      <dsp:txXfrm>
        <a:off x="269993" y="936208"/>
        <a:ext cx="1314804" cy="657402"/>
      </dsp:txXfrm>
    </dsp:sp>
    <dsp:sp modelId="{C542E165-1A6D-5E47-AE5D-3BE87DF2E21E}">
      <dsp:nvSpPr>
        <dsp:cNvPr id="0" name=""/>
        <dsp:cNvSpPr/>
      </dsp:nvSpPr>
      <dsp:spPr>
        <a:xfrm>
          <a:off x="598694" y="1869719"/>
          <a:ext cx="1314804" cy="657402"/>
        </a:xfrm>
        <a:prstGeom prst="rect">
          <a:avLst/>
        </a:prstGeom>
        <a:solidFill>
          <a:schemeClr val="accent1">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pt-BR" sz="1700" kern="1200"/>
            <a:t>ANTT</a:t>
          </a:r>
          <a:endParaRPr lang="pt-BR" sz="1700" kern="1200" dirty="0"/>
        </a:p>
      </dsp:txBody>
      <dsp:txXfrm>
        <a:off x="598694" y="1869719"/>
        <a:ext cx="1314804" cy="657402"/>
      </dsp:txXfrm>
    </dsp:sp>
    <dsp:sp modelId="{15B2D16C-A582-4740-AB40-01A9DE75A70D}">
      <dsp:nvSpPr>
        <dsp:cNvPr id="0" name=""/>
        <dsp:cNvSpPr/>
      </dsp:nvSpPr>
      <dsp:spPr>
        <a:xfrm>
          <a:off x="598694" y="2803230"/>
          <a:ext cx="1314804" cy="657402"/>
        </a:xfrm>
        <a:prstGeom prst="rect">
          <a:avLst/>
        </a:prstGeom>
        <a:solidFill>
          <a:schemeClr val="accent1">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pt-BR" sz="1700" kern="1200"/>
            <a:t>DNIT</a:t>
          </a:r>
          <a:endParaRPr lang="pt-BR" sz="1700" kern="1200" dirty="0"/>
        </a:p>
      </dsp:txBody>
      <dsp:txXfrm>
        <a:off x="598694" y="2803230"/>
        <a:ext cx="1314804" cy="657402"/>
      </dsp:txXfrm>
    </dsp:sp>
    <dsp:sp modelId="{DD49B5D1-18D8-3C4F-BC71-74FAD6EF5C3D}">
      <dsp:nvSpPr>
        <dsp:cNvPr id="0" name=""/>
        <dsp:cNvSpPr/>
      </dsp:nvSpPr>
      <dsp:spPr>
        <a:xfrm>
          <a:off x="598694" y="3736741"/>
          <a:ext cx="1314804" cy="657402"/>
        </a:xfrm>
        <a:prstGeom prst="rect">
          <a:avLst/>
        </a:prstGeom>
        <a:solidFill>
          <a:schemeClr val="accent1">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pt-BR" sz="1700" kern="1200"/>
            <a:t>EPL</a:t>
          </a:r>
          <a:endParaRPr lang="pt-BR" sz="1700" kern="1200" dirty="0"/>
        </a:p>
      </dsp:txBody>
      <dsp:txXfrm>
        <a:off x="598694" y="3736741"/>
        <a:ext cx="1314804" cy="657402"/>
      </dsp:txXfrm>
    </dsp:sp>
    <dsp:sp modelId="{2B7DD07C-6D70-DA43-ACC5-BB8813029EDC}">
      <dsp:nvSpPr>
        <dsp:cNvPr id="0" name=""/>
        <dsp:cNvSpPr/>
      </dsp:nvSpPr>
      <dsp:spPr>
        <a:xfrm>
          <a:off x="1860906" y="936208"/>
          <a:ext cx="1314804" cy="657402"/>
        </a:xfrm>
        <a:prstGeom prst="rect">
          <a:avLst/>
        </a:prstGeom>
        <a:solidFill>
          <a:schemeClr val="accent1">
            <a:tint val="99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pt-BR" sz="1700" kern="1200" dirty="0"/>
            <a:t>Secretaria de Portos</a:t>
          </a:r>
        </a:p>
      </dsp:txBody>
      <dsp:txXfrm>
        <a:off x="1860906" y="936208"/>
        <a:ext cx="1314804" cy="657402"/>
      </dsp:txXfrm>
    </dsp:sp>
    <dsp:sp modelId="{27AB1BC8-E3F0-5447-9287-B055E6965F99}">
      <dsp:nvSpPr>
        <dsp:cNvPr id="0" name=""/>
        <dsp:cNvSpPr/>
      </dsp:nvSpPr>
      <dsp:spPr>
        <a:xfrm>
          <a:off x="2189607" y="1869719"/>
          <a:ext cx="1314804" cy="657402"/>
        </a:xfrm>
        <a:prstGeom prst="rect">
          <a:avLst/>
        </a:prstGeom>
        <a:solidFill>
          <a:schemeClr val="accent1">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pt-BR" sz="1700" kern="1200"/>
            <a:t>ANTAQ</a:t>
          </a:r>
          <a:endParaRPr lang="pt-BR" sz="1700" kern="1200" dirty="0"/>
        </a:p>
      </dsp:txBody>
      <dsp:txXfrm>
        <a:off x="2189607" y="1869719"/>
        <a:ext cx="1314804" cy="657402"/>
      </dsp:txXfrm>
    </dsp:sp>
    <dsp:sp modelId="{E82575B9-0ABF-0A48-93B8-C63C79A92B0D}">
      <dsp:nvSpPr>
        <dsp:cNvPr id="0" name=""/>
        <dsp:cNvSpPr/>
      </dsp:nvSpPr>
      <dsp:spPr>
        <a:xfrm>
          <a:off x="3451819" y="936208"/>
          <a:ext cx="1314804" cy="657402"/>
        </a:xfrm>
        <a:prstGeom prst="rect">
          <a:avLst/>
        </a:prstGeom>
        <a:solidFill>
          <a:schemeClr val="accent1">
            <a:tint val="99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pt-BR" sz="1700" kern="1200" dirty="0"/>
            <a:t>Secretaria de Aviação Civil</a:t>
          </a:r>
        </a:p>
      </dsp:txBody>
      <dsp:txXfrm>
        <a:off x="3451819" y="936208"/>
        <a:ext cx="1314804" cy="657402"/>
      </dsp:txXfrm>
    </dsp:sp>
    <dsp:sp modelId="{FFDC6122-FE13-6847-B243-125F74BEDD38}">
      <dsp:nvSpPr>
        <dsp:cNvPr id="0" name=""/>
        <dsp:cNvSpPr/>
      </dsp:nvSpPr>
      <dsp:spPr>
        <a:xfrm>
          <a:off x="3780520" y="1869719"/>
          <a:ext cx="1314804" cy="657402"/>
        </a:xfrm>
        <a:prstGeom prst="rect">
          <a:avLst/>
        </a:prstGeom>
        <a:solidFill>
          <a:schemeClr val="accent1">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pt-BR" sz="1700" kern="1200"/>
            <a:t>ANAC</a:t>
          </a:r>
          <a:endParaRPr lang="pt-BR" sz="1700" kern="1200" dirty="0"/>
        </a:p>
      </dsp:txBody>
      <dsp:txXfrm>
        <a:off x="3780520" y="1869719"/>
        <a:ext cx="1314804" cy="657402"/>
      </dsp:txXfrm>
    </dsp:sp>
    <dsp:sp modelId="{0B2FBB70-AB24-004E-8856-75DCACC9BB77}">
      <dsp:nvSpPr>
        <dsp:cNvPr id="0" name=""/>
        <dsp:cNvSpPr/>
      </dsp:nvSpPr>
      <dsp:spPr>
        <a:xfrm>
          <a:off x="3780520" y="2803230"/>
          <a:ext cx="1314804" cy="657402"/>
        </a:xfrm>
        <a:prstGeom prst="rect">
          <a:avLst/>
        </a:prstGeom>
        <a:solidFill>
          <a:schemeClr val="accent1">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pt-BR" sz="1700" kern="1200"/>
            <a:t>Infraero</a:t>
          </a:r>
          <a:endParaRPr lang="pt-BR" sz="1700" kern="1200" dirty="0"/>
        </a:p>
      </dsp:txBody>
      <dsp:txXfrm>
        <a:off x="3780520" y="2803230"/>
        <a:ext cx="1314804" cy="657402"/>
      </dsp:txXfrm>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1"/>
            <a:ext cx="2950475" cy="498773"/>
          </a:xfrm>
          <a:prstGeom prst="rect">
            <a:avLst/>
          </a:prstGeom>
        </p:spPr>
        <p:txBody>
          <a:bodyPr vert="horz" lIns="91431" tIns="45715" rIns="91431" bIns="45715" rtlCol="0"/>
          <a:lstStyle>
            <a:lvl1pPr algn="l">
              <a:defRPr sz="1200"/>
            </a:lvl1pPr>
          </a:lstStyle>
          <a:p>
            <a:endParaRPr lang="pt-BR"/>
          </a:p>
        </p:txBody>
      </p:sp>
      <p:sp>
        <p:nvSpPr>
          <p:cNvPr id="3" name="Espaço Reservado para Data 2"/>
          <p:cNvSpPr>
            <a:spLocks noGrp="1"/>
          </p:cNvSpPr>
          <p:nvPr>
            <p:ph type="dt" sz="quarter" idx="1"/>
          </p:nvPr>
        </p:nvSpPr>
        <p:spPr>
          <a:xfrm>
            <a:off x="3856737" y="1"/>
            <a:ext cx="2950475" cy="498773"/>
          </a:xfrm>
          <a:prstGeom prst="rect">
            <a:avLst/>
          </a:prstGeom>
        </p:spPr>
        <p:txBody>
          <a:bodyPr vert="horz" lIns="91431" tIns="45715" rIns="91431" bIns="45715" rtlCol="0"/>
          <a:lstStyle>
            <a:lvl1pPr algn="r">
              <a:defRPr sz="1200"/>
            </a:lvl1pPr>
          </a:lstStyle>
          <a:p>
            <a:fld id="{EF7156ED-2444-4741-A201-5CE3D089F06E}" type="datetimeFigureOut">
              <a:rPr lang="pt-BR" smtClean="0"/>
              <a:t>24/02/2026</a:t>
            </a:fld>
            <a:endParaRPr lang="pt-BR"/>
          </a:p>
        </p:txBody>
      </p:sp>
      <p:sp>
        <p:nvSpPr>
          <p:cNvPr id="4" name="Espaço Reservado para Rodapé 3"/>
          <p:cNvSpPr>
            <a:spLocks noGrp="1"/>
          </p:cNvSpPr>
          <p:nvPr>
            <p:ph type="ftr" sz="quarter" idx="2"/>
          </p:nvPr>
        </p:nvSpPr>
        <p:spPr>
          <a:xfrm>
            <a:off x="0" y="9442154"/>
            <a:ext cx="2950475" cy="498772"/>
          </a:xfrm>
          <a:prstGeom prst="rect">
            <a:avLst/>
          </a:prstGeom>
        </p:spPr>
        <p:txBody>
          <a:bodyPr vert="horz" lIns="91431" tIns="45715" rIns="91431" bIns="45715" rtlCol="0" anchor="b"/>
          <a:lstStyle>
            <a:lvl1pPr algn="l">
              <a:defRPr sz="1200"/>
            </a:lvl1pPr>
          </a:lstStyle>
          <a:p>
            <a:endParaRPr lang="pt-BR"/>
          </a:p>
        </p:txBody>
      </p:sp>
      <p:sp>
        <p:nvSpPr>
          <p:cNvPr id="5" name="Espaço Reservado para Número de Slide 4"/>
          <p:cNvSpPr>
            <a:spLocks noGrp="1"/>
          </p:cNvSpPr>
          <p:nvPr>
            <p:ph type="sldNum" sz="quarter" idx="3"/>
          </p:nvPr>
        </p:nvSpPr>
        <p:spPr>
          <a:xfrm>
            <a:off x="3856737" y="9442154"/>
            <a:ext cx="2950475" cy="498772"/>
          </a:xfrm>
          <a:prstGeom prst="rect">
            <a:avLst/>
          </a:prstGeom>
        </p:spPr>
        <p:txBody>
          <a:bodyPr vert="horz" lIns="91431" tIns="45715" rIns="91431" bIns="45715" rtlCol="0" anchor="b"/>
          <a:lstStyle>
            <a:lvl1pPr algn="r">
              <a:defRPr sz="1200"/>
            </a:lvl1pPr>
          </a:lstStyle>
          <a:p>
            <a:fld id="{E51ED613-061D-48CC-8D0E-929FE2D75A04}" type="slidenum">
              <a:rPr lang="pt-BR" smtClean="0"/>
              <a:t>‹nº›</a:t>
            </a:fld>
            <a:endParaRPr lang="pt-BR"/>
          </a:p>
        </p:txBody>
      </p:sp>
    </p:spTree>
    <p:extLst>
      <p:ext uri="{BB962C8B-B14F-4D97-AF65-F5344CB8AC3E}">
        <p14:creationId xmlns:p14="http://schemas.microsoft.com/office/powerpoint/2010/main" val="16042895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1"/>
            <a:ext cx="2950475" cy="498773"/>
          </a:xfrm>
          <a:prstGeom prst="rect">
            <a:avLst/>
          </a:prstGeom>
        </p:spPr>
        <p:txBody>
          <a:bodyPr vert="horz" lIns="91431" tIns="45715" rIns="91431" bIns="45715" rtlCol="0"/>
          <a:lstStyle>
            <a:lvl1pPr algn="l">
              <a:defRPr sz="1200"/>
            </a:lvl1pPr>
          </a:lstStyle>
          <a:p>
            <a:endParaRPr lang="pt-BR"/>
          </a:p>
        </p:txBody>
      </p:sp>
      <p:sp>
        <p:nvSpPr>
          <p:cNvPr id="3" name="Espaço Reservado para Data 2"/>
          <p:cNvSpPr>
            <a:spLocks noGrp="1"/>
          </p:cNvSpPr>
          <p:nvPr>
            <p:ph type="dt" idx="1"/>
          </p:nvPr>
        </p:nvSpPr>
        <p:spPr>
          <a:xfrm>
            <a:off x="3856737" y="1"/>
            <a:ext cx="2950475" cy="498773"/>
          </a:xfrm>
          <a:prstGeom prst="rect">
            <a:avLst/>
          </a:prstGeom>
        </p:spPr>
        <p:txBody>
          <a:bodyPr vert="horz" lIns="91431" tIns="45715" rIns="91431" bIns="45715" rtlCol="0"/>
          <a:lstStyle>
            <a:lvl1pPr algn="r">
              <a:defRPr sz="1200"/>
            </a:lvl1pPr>
          </a:lstStyle>
          <a:p>
            <a:fld id="{C63A4E09-FB63-49F4-9096-EEFAF3384558}" type="datetimeFigureOut">
              <a:rPr lang="pt-BR" smtClean="0"/>
              <a:t>24/02/2026</a:t>
            </a:fld>
            <a:endParaRPr lang="pt-BR"/>
          </a:p>
        </p:txBody>
      </p:sp>
      <p:sp>
        <p:nvSpPr>
          <p:cNvPr id="4" name="Espaço Reservado para Imagem de Slide 3"/>
          <p:cNvSpPr>
            <a:spLocks noGrp="1" noRot="1" noChangeAspect="1"/>
          </p:cNvSpPr>
          <p:nvPr>
            <p:ph type="sldImg" idx="2"/>
          </p:nvPr>
        </p:nvSpPr>
        <p:spPr>
          <a:xfrm>
            <a:off x="422275" y="1243013"/>
            <a:ext cx="5964238" cy="3354387"/>
          </a:xfrm>
          <a:prstGeom prst="rect">
            <a:avLst/>
          </a:prstGeom>
          <a:noFill/>
          <a:ln w="12700">
            <a:solidFill>
              <a:prstClr val="black"/>
            </a:solidFill>
          </a:ln>
        </p:spPr>
        <p:txBody>
          <a:bodyPr vert="horz" lIns="91431" tIns="45715" rIns="91431" bIns="45715" rtlCol="0" anchor="ctr"/>
          <a:lstStyle/>
          <a:p>
            <a:endParaRPr lang="pt-BR"/>
          </a:p>
        </p:txBody>
      </p:sp>
      <p:sp>
        <p:nvSpPr>
          <p:cNvPr id="5" name="Espaço Reservado para Anotações 4"/>
          <p:cNvSpPr>
            <a:spLocks noGrp="1"/>
          </p:cNvSpPr>
          <p:nvPr>
            <p:ph type="body" sz="quarter" idx="3"/>
          </p:nvPr>
        </p:nvSpPr>
        <p:spPr>
          <a:xfrm>
            <a:off x="680879" y="4784071"/>
            <a:ext cx="5447030" cy="3914239"/>
          </a:xfrm>
          <a:prstGeom prst="rect">
            <a:avLst/>
          </a:prstGeom>
        </p:spPr>
        <p:txBody>
          <a:bodyPr vert="horz" lIns="91431" tIns="45715" rIns="91431" bIns="45715"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9442154"/>
            <a:ext cx="2950475" cy="498772"/>
          </a:xfrm>
          <a:prstGeom prst="rect">
            <a:avLst/>
          </a:prstGeom>
        </p:spPr>
        <p:txBody>
          <a:bodyPr vert="horz" lIns="91431" tIns="45715" rIns="91431" bIns="45715"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56737" y="9442154"/>
            <a:ext cx="2950475" cy="498772"/>
          </a:xfrm>
          <a:prstGeom prst="rect">
            <a:avLst/>
          </a:prstGeom>
        </p:spPr>
        <p:txBody>
          <a:bodyPr vert="horz" lIns="91431" tIns="45715" rIns="91431" bIns="45715" rtlCol="0" anchor="b"/>
          <a:lstStyle>
            <a:lvl1pPr algn="r">
              <a:defRPr sz="1200"/>
            </a:lvl1pPr>
          </a:lstStyle>
          <a:p>
            <a:fld id="{A9FA2E6A-C8CD-442F-B03A-FDB73B6A9D75}" type="slidenum">
              <a:rPr lang="pt-BR" smtClean="0"/>
              <a:t>‹nº›</a:t>
            </a:fld>
            <a:endParaRPr lang="pt-BR"/>
          </a:p>
        </p:txBody>
      </p:sp>
    </p:spTree>
    <p:extLst>
      <p:ext uri="{BB962C8B-B14F-4D97-AF65-F5344CB8AC3E}">
        <p14:creationId xmlns:p14="http://schemas.microsoft.com/office/powerpoint/2010/main" val="38690155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3" Type="http://schemas.openxmlformats.org/officeDocument/2006/relationships/hyperlink" Target="https://www.youtube.com/watch?v=-dwqlvkeLMI" TargetMode="External"/><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240.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241.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242.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243.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244.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245.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246.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247.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248.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249.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250.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251.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252.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253.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254.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255.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256.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257.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258.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259.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260.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261.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2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Espaço Reservado para Imagem de Slid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5" name="Espaço Reservado para Anotaçõ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nSpc>
                <a:spcPct val="114000"/>
              </a:lnSpc>
              <a:spcBef>
                <a:spcPct val="20000"/>
              </a:spcBef>
            </a:pPr>
            <a:endParaRPr lang="pt-BR" altLang="pt-BR"/>
          </a:p>
        </p:txBody>
      </p:sp>
      <p:sp>
        <p:nvSpPr>
          <p:cNvPr id="18436" name="Espaço Reservado para Número de Slid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8F50B34-439A-4B78-B51A-33128AD6964E}" type="slidenum">
              <a:rPr lang="pt-BR" altLang="pt-BR" smtClean="0">
                <a:solidFill>
                  <a:srgbClr val="000000"/>
                </a:solidFill>
              </a:rPr>
              <a:pPr/>
              <a:t>4</a:t>
            </a:fld>
            <a:endParaRPr lang="pt-BR" altLang="pt-BR">
              <a:solidFill>
                <a:srgbClr val="000000"/>
              </a:solidFill>
            </a:endParaRPr>
          </a:p>
        </p:txBody>
      </p:sp>
    </p:spTree>
    <p:extLst>
      <p:ext uri="{BB962C8B-B14F-4D97-AF65-F5344CB8AC3E}">
        <p14:creationId xmlns:p14="http://schemas.microsoft.com/office/powerpoint/2010/main" val="21834418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Espaço Reservado para Imagem de Slid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Espaço Reservado para Anotaçõ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pt-BR" altLang="pt-BR" dirty="0"/>
              <a:t>PORQUE ESSE NOVO MODELO É BOM: PERMITIR CONSUMIR PRODUTOS FORA DE ÉPOCA – DESENVOLVIMENTO, MANUSEIO TRANSPORTES</a:t>
            </a:r>
          </a:p>
          <a:p>
            <a:endParaRPr lang="pt-BR" altLang="pt-BR" dirty="0"/>
          </a:p>
          <a:p>
            <a:r>
              <a:rPr lang="pt-BR" altLang="pt-BR" dirty="0"/>
              <a:t>PROPICIOU MAIS VARIEDADE AOS CONSUMIDORES</a:t>
            </a:r>
          </a:p>
          <a:p>
            <a:endParaRPr lang="pt-BR" altLang="pt-BR" dirty="0"/>
          </a:p>
          <a:p>
            <a:r>
              <a:rPr lang="pt-BR" altLang="pt-BR" dirty="0"/>
              <a:t>ESTIMULOU A OFERTA , LEVANDO A REDUÇÃO DE PREÇOS</a:t>
            </a:r>
          </a:p>
          <a:p>
            <a:endParaRPr lang="pt-BR" altLang="pt-BR" dirty="0"/>
          </a:p>
        </p:txBody>
      </p:sp>
      <p:sp>
        <p:nvSpPr>
          <p:cNvPr id="36868" name="Espaço Reservado para Número de Slid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9CBBC9C-6CCC-42E7-9520-6DEAB1D2163E}" type="slidenum">
              <a:rPr lang="pt-BR" altLang="pt-BR" smtClean="0"/>
              <a:pPr/>
              <a:t>13</a:t>
            </a:fld>
            <a:endParaRPr lang="pt-BR" altLang="pt-BR"/>
          </a:p>
        </p:txBody>
      </p:sp>
    </p:spTree>
    <p:extLst>
      <p:ext uri="{BB962C8B-B14F-4D97-AF65-F5344CB8AC3E}">
        <p14:creationId xmlns:p14="http://schemas.microsoft.com/office/powerpoint/2010/main" val="30907147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Espaço Reservado para Imagem de Slid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Espaço Reservado para Anotaçõ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pt-BR" altLang="pt-BR"/>
          </a:p>
        </p:txBody>
      </p:sp>
      <p:sp>
        <p:nvSpPr>
          <p:cNvPr id="38916" name="Espaço Reservado para Número de Slid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4A0FB18-3E4A-4341-ACA5-D4BF944B7708}" type="slidenum">
              <a:rPr lang="pt-BR" altLang="pt-BR" smtClean="0">
                <a:solidFill>
                  <a:srgbClr val="000000"/>
                </a:solidFill>
              </a:rPr>
              <a:pPr/>
              <a:t>14</a:t>
            </a:fld>
            <a:endParaRPr lang="pt-BR" altLang="pt-BR">
              <a:solidFill>
                <a:srgbClr val="000000"/>
              </a:solidFill>
            </a:endParaRPr>
          </a:p>
        </p:txBody>
      </p:sp>
    </p:spTree>
    <p:extLst>
      <p:ext uri="{BB962C8B-B14F-4D97-AF65-F5344CB8AC3E}">
        <p14:creationId xmlns:p14="http://schemas.microsoft.com/office/powerpoint/2010/main" val="26729524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Espaço Reservado para Imagem de Slid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Espaço Reservado para Anotaçõ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pt-BR" altLang="pt-BR"/>
              <a:t>http://www.portaleducacao.com.br/educacao/artigos/31365/logistica-empresarial-ea-atividades-primarias-e-de#</a:t>
            </a:r>
          </a:p>
        </p:txBody>
      </p:sp>
      <p:sp>
        <p:nvSpPr>
          <p:cNvPr id="47108" name="Espaço Reservado para Número de Slid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9DDE3ED-D841-4B31-B8D2-366FD0A1BD28}" type="slidenum">
              <a:rPr lang="pt-BR" altLang="pt-BR" smtClean="0">
                <a:solidFill>
                  <a:srgbClr val="000000"/>
                </a:solidFill>
              </a:rPr>
              <a:pPr/>
              <a:t>20</a:t>
            </a:fld>
            <a:endParaRPr lang="pt-BR" altLang="pt-BR">
              <a:solidFill>
                <a:srgbClr val="000000"/>
              </a:solidFill>
            </a:endParaRPr>
          </a:p>
        </p:txBody>
      </p:sp>
    </p:spTree>
    <p:extLst>
      <p:ext uri="{BB962C8B-B14F-4D97-AF65-F5344CB8AC3E}">
        <p14:creationId xmlns:p14="http://schemas.microsoft.com/office/powerpoint/2010/main" val="35423019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Espaço Reservado para Imagem de Slid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Espaço Reservado para Anotaçõ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pt-BR" altLang="pt-BR"/>
          </a:p>
        </p:txBody>
      </p:sp>
      <p:sp>
        <p:nvSpPr>
          <p:cNvPr id="52228" name="Espaço Reservado para Número de Slid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B5AEF4B-CC74-44B1-BC7E-81E1BA21435D}" type="slidenum">
              <a:rPr lang="pt-BR" altLang="pt-BR" smtClean="0">
                <a:solidFill>
                  <a:srgbClr val="000000"/>
                </a:solidFill>
              </a:rPr>
              <a:pPr/>
              <a:t>24</a:t>
            </a:fld>
            <a:endParaRPr lang="pt-BR" altLang="pt-BR">
              <a:solidFill>
                <a:srgbClr val="000000"/>
              </a:solidFill>
            </a:endParaRPr>
          </a:p>
        </p:txBody>
      </p:sp>
    </p:spTree>
    <p:extLst>
      <p:ext uri="{BB962C8B-B14F-4D97-AF65-F5344CB8AC3E}">
        <p14:creationId xmlns:p14="http://schemas.microsoft.com/office/powerpoint/2010/main" val="39345185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Espaço Reservado para Imagem de Slid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Espaço Reservado para Anotaçõ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pt-BR" altLang="pt-BR"/>
          </a:p>
        </p:txBody>
      </p:sp>
      <p:sp>
        <p:nvSpPr>
          <p:cNvPr id="52228" name="Espaço Reservado para Número de Slid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B5AEF4B-CC74-44B1-BC7E-81E1BA21435D}" type="slidenum">
              <a:rPr lang="pt-BR" altLang="pt-BR" smtClean="0">
                <a:solidFill>
                  <a:srgbClr val="000000"/>
                </a:solidFill>
              </a:rPr>
              <a:pPr/>
              <a:t>25</a:t>
            </a:fld>
            <a:endParaRPr lang="pt-BR" altLang="pt-BR">
              <a:solidFill>
                <a:srgbClr val="000000"/>
              </a:solidFill>
            </a:endParaRPr>
          </a:p>
        </p:txBody>
      </p:sp>
    </p:spTree>
    <p:extLst>
      <p:ext uri="{BB962C8B-B14F-4D97-AF65-F5344CB8AC3E}">
        <p14:creationId xmlns:p14="http://schemas.microsoft.com/office/powerpoint/2010/main" val="21948267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Espaço Reservado para Imagem de Slid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5" name="Espaço Reservado para Anotaçõ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nSpc>
                <a:spcPct val="114000"/>
              </a:lnSpc>
              <a:spcBef>
                <a:spcPct val="20000"/>
              </a:spcBef>
            </a:pPr>
            <a:endParaRPr lang="pt-BR" altLang="pt-BR"/>
          </a:p>
        </p:txBody>
      </p:sp>
      <p:sp>
        <p:nvSpPr>
          <p:cNvPr id="59396" name="Espaço Reservado para Número de Slid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BEC03D6-30E0-4C2D-A2DA-9C97DE969CC0}" type="slidenum">
              <a:rPr lang="pt-BR" altLang="pt-BR" smtClean="0">
                <a:solidFill>
                  <a:srgbClr val="000000"/>
                </a:solidFill>
              </a:rPr>
              <a:pPr/>
              <a:t>26</a:t>
            </a:fld>
            <a:endParaRPr lang="pt-BR" altLang="pt-BR">
              <a:solidFill>
                <a:srgbClr val="000000"/>
              </a:solidFill>
            </a:endParaRPr>
          </a:p>
        </p:txBody>
      </p:sp>
    </p:spTree>
    <p:extLst>
      <p:ext uri="{BB962C8B-B14F-4D97-AF65-F5344CB8AC3E}">
        <p14:creationId xmlns:p14="http://schemas.microsoft.com/office/powerpoint/2010/main" val="37099298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sz="1200" b="0" i="0" kern="1200" dirty="0" err="1">
                <a:solidFill>
                  <a:schemeClr val="tx1"/>
                </a:solidFill>
                <a:effectLst/>
                <a:latin typeface="+mn-lt"/>
                <a:ea typeface="+mn-ea"/>
                <a:cs typeface="+mn-cs"/>
              </a:rPr>
              <a:t>Ballou</a:t>
            </a:r>
            <a:r>
              <a:rPr lang="pt-BR" sz="1200" b="0" i="0" kern="1200" dirty="0">
                <a:solidFill>
                  <a:schemeClr val="tx1"/>
                </a:solidFill>
                <a:effectLst/>
                <a:latin typeface="+mn-lt"/>
                <a:ea typeface="+mn-ea"/>
                <a:cs typeface="+mn-cs"/>
              </a:rPr>
              <a:t>, R.H. </a:t>
            </a:r>
            <a:r>
              <a:rPr lang="pt-BR" sz="1200" b="1" i="0" kern="1200" dirty="0">
                <a:solidFill>
                  <a:schemeClr val="tx1"/>
                </a:solidFill>
                <a:effectLst/>
                <a:latin typeface="+mn-lt"/>
                <a:ea typeface="+mn-ea"/>
                <a:cs typeface="+mn-cs"/>
              </a:rPr>
              <a:t>Gerenciamento da Cadeia de Suprimentos / Logística Empresarial, 5ª</a:t>
            </a:r>
            <a:r>
              <a:rPr lang="pt-BR" sz="1200" b="1" i="0" kern="1200" baseline="0" dirty="0">
                <a:solidFill>
                  <a:schemeClr val="tx1"/>
                </a:solidFill>
                <a:effectLst/>
                <a:latin typeface="+mn-lt"/>
                <a:ea typeface="+mn-ea"/>
                <a:cs typeface="+mn-cs"/>
              </a:rPr>
              <a:t> </a:t>
            </a:r>
            <a:r>
              <a:rPr lang="pt-BR" sz="1200" b="1" i="0" kern="1200" dirty="0">
                <a:solidFill>
                  <a:schemeClr val="tx1"/>
                </a:solidFill>
                <a:effectLst/>
                <a:latin typeface="+mn-lt"/>
                <a:ea typeface="+mn-ea"/>
                <a:cs typeface="+mn-cs"/>
              </a:rPr>
              <a:t>ed.</a:t>
            </a:r>
            <a:r>
              <a:rPr lang="pt-BR" sz="1200" b="0" i="0" kern="1200" dirty="0">
                <a:solidFill>
                  <a:schemeClr val="tx1"/>
                </a:solidFill>
                <a:effectLst/>
                <a:latin typeface="+mn-lt"/>
                <a:ea typeface="+mn-ea"/>
                <a:cs typeface="+mn-cs"/>
              </a:rPr>
              <a:t>, </a:t>
            </a:r>
            <a:r>
              <a:rPr lang="pt-BR" sz="1200" b="0" i="0" kern="1200" dirty="0" err="1">
                <a:solidFill>
                  <a:schemeClr val="tx1"/>
                </a:solidFill>
                <a:effectLst/>
                <a:latin typeface="+mn-lt"/>
                <a:ea typeface="+mn-ea"/>
                <a:cs typeface="+mn-cs"/>
              </a:rPr>
              <a:t>Bookman</a:t>
            </a:r>
            <a:r>
              <a:rPr lang="pt-BR" sz="1200" b="0" i="0" kern="1200" dirty="0">
                <a:solidFill>
                  <a:schemeClr val="tx1"/>
                </a:solidFill>
                <a:effectLst/>
                <a:latin typeface="+mn-lt"/>
                <a:ea typeface="+mn-ea"/>
                <a:cs typeface="+mn-cs"/>
              </a:rPr>
              <a:t>, 2006.</a:t>
            </a:r>
            <a:endParaRPr lang="pt-BR" sz="1200" b="1" i="0" kern="1200" dirty="0">
              <a:solidFill>
                <a:schemeClr val="tx1"/>
              </a:solidFill>
              <a:effectLst/>
              <a:latin typeface="+mn-lt"/>
              <a:ea typeface="+mn-ea"/>
              <a:cs typeface="+mn-cs"/>
            </a:endParaRPr>
          </a:p>
        </p:txBody>
      </p:sp>
      <p:sp>
        <p:nvSpPr>
          <p:cNvPr id="4" name="Espaço Reservado para Número de Slide 3"/>
          <p:cNvSpPr>
            <a:spLocks noGrp="1"/>
          </p:cNvSpPr>
          <p:nvPr>
            <p:ph type="sldNum" sz="quarter" idx="10"/>
          </p:nvPr>
        </p:nvSpPr>
        <p:spPr/>
        <p:txBody>
          <a:bodyPr/>
          <a:lstStyle/>
          <a:p>
            <a:fld id="{242C3D73-F85E-48CC-ADF0-85F45D730EFD}" type="slidenum">
              <a:rPr lang="pt-BR" smtClean="0"/>
              <a:t>33</a:t>
            </a:fld>
            <a:endParaRPr lang="pt-BR"/>
          </a:p>
        </p:txBody>
      </p:sp>
    </p:spTree>
    <p:extLst>
      <p:ext uri="{BB962C8B-B14F-4D97-AF65-F5344CB8AC3E}">
        <p14:creationId xmlns:p14="http://schemas.microsoft.com/office/powerpoint/2010/main" val="22733183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46114F5A-A2B2-4007-86CF-90E0CCF0544D}" type="slidenum">
              <a:rPr lang="en-US" altLang="pt-BR"/>
              <a:pPr>
                <a:spcBef>
                  <a:spcPct val="0"/>
                </a:spcBef>
              </a:pPr>
              <a:t>60</a:t>
            </a:fld>
            <a:endParaRPr lang="en-US" altLang="pt-BR"/>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pt-BR" altLang="pt-BR"/>
          </a:p>
        </p:txBody>
      </p:sp>
    </p:spTree>
    <p:extLst>
      <p:ext uri="{BB962C8B-B14F-4D97-AF65-F5344CB8AC3E}">
        <p14:creationId xmlns:p14="http://schemas.microsoft.com/office/powerpoint/2010/main" val="7868860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C87DE47B-1364-40F7-879F-A574B66C5FC6}" type="slidenum">
              <a:rPr lang="en-US" altLang="pt-BR"/>
              <a:pPr>
                <a:spcBef>
                  <a:spcPct val="0"/>
                </a:spcBef>
              </a:pPr>
              <a:t>61</a:t>
            </a:fld>
            <a:endParaRPr lang="en-US" altLang="pt-B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pt-BR" altLang="pt-BR"/>
          </a:p>
        </p:txBody>
      </p:sp>
    </p:spTree>
    <p:extLst>
      <p:ext uri="{BB962C8B-B14F-4D97-AF65-F5344CB8AC3E}">
        <p14:creationId xmlns:p14="http://schemas.microsoft.com/office/powerpoint/2010/main" val="23692848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B9C00687-9C16-4812-8375-E0886C314604}" type="slidenum">
              <a:rPr lang="en-US" altLang="pt-BR"/>
              <a:pPr>
                <a:spcBef>
                  <a:spcPct val="0"/>
                </a:spcBef>
              </a:pPr>
              <a:t>62</a:t>
            </a:fld>
            <a:endParaRPr lang="en-US" altLang="pt-BR"/>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pt-BR" altLang="pt-BR"/>
          </a:p>
        </p:txBody>
      </p:sp>
    </p:spTree>
    <p:extLst>
      <p:ext uri="{BB962C8B-B14F-4D97-AF65-F5344CB8AC3E}">
        <p14:creationId xmlns:p14="http://schemas.microsoft.com/office/powerpoint/2010/main" val="16964763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142A0098-0C2D-4E7F-9F1E-D1814141F270}" type="slidenum">
              <a:rPr lang="en-US" altLang="pt-BR"/>
              <a:pPr>
                <a:spcBef>
                  <a:spcPct val="0"/>
                </a:spcBef>
              </a:pPr>
              <a:t>66</a:t>
            </a:fld>
            <a:endParaRPr lang="en-US" altLang="pt-BR"/>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p>
        </p:txBody>
      </p:sp>
    </p:spTree>
    <p:extLst>
      <p:ext uri="{BB962C8B-B14F-4D97-AF65-F5344CB8AC3E}">
        <p14:creationId xmlns:p14="http://schemas.microsoft.com/office/powerpoint/2010/main" val="15787124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A4998E7B-48DD-464A-8789-74157FB7750C}" type="slidenum">
              <a:rPr lang="en-US" altLang="pt-BR"/>
              <a:pPr>
                <a:spcBef>
                  <a:spcPct val="0"/>
                </a:spcBef>
              </a:pPr>
              <a:t>67</a:t>
            </a:fld>
            <a:endParaRPr lang="en-US" altLang="pt-BR"/>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p>
        </p:txBody>
      </p:sp>
    </p:spTree>
    <p:extLst>
      <p:ext uri="{BB962C8B-B14F-4D97-AF65-F5344CB8AC3E}">
        <p14:creationId xmlns:p14="http://schemas.microsoft.com/office/powerpoint/2010/main" val="12713747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84AB600B-D535-49CA-8D8F-B7F4FC53C0FA}" type="slidenum">
              <a:rPr lang="en-US" altLang="pt-BR"/>
              <a:pPr>
                <a:spcBef>
                  <a:spcPct val="0"/>
                </a:spcBef>
              </a:pPr>
              <a:t>69</a:t>
            </a:fld>
            <a:endParaRPr lang="en-US" altLang="pt-BR"/>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p>
        </p:txBody>
      </p:sp>
    </p:spTree>
    <p:extLst>
      <p:ext uri="{BB962C8B-B14F-4D97-AF65-F5344CB8AC3E}">
        <p14:creationId xmlns:p14="http://schemas.microsoft.com/office/powerpoint/2010/main" val="11264586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AB5EC9C8-ED7C-4C2E-B36E-A41DC6550ABE}" type="slidenum">
              <a:rPr lang="en-US" altLang="pt-BR"/>
              <a:pPr>
                <a:spcBef>
                  <a:spcPct val="0"/>
                </a:spcBef>
              </a:pPr>
              <a:t>70</a:t>
            </a:fld>
            <a:endParaRPr lang="en-US" altLang="pt-BR"/>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p>
        </p:txBody>
      </p:sp>
    </p:spTree>
    <p:extLst>
      <p:ext uri="{BB962C8B-B14F-4D97-AF65-F5344CB8AC3E}">
        <p14:creationId xmlns:p14="http://schemas.microsoft.com/office/powerpoint/2010/main" val="9332724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1B119426-C9DF-472F-9EED-57E80219E4D5}" type="slidenum">
              <a:rPr lang="en-US" altLang="pt-BR"/>
              <a:pPr>
                <a:spcBef>
                  <a:spcPct val="0"/>
                </a:spcBef>
              </a:pPr>
              <a:t>71</a:t>
            </a:fld>
            <a:endParaRPr lang="en-US" altLang="pt-BR"/>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p>
        </p:txBody>
      </p:sp>
    </p:spTree>
    <p:extLst>
      <p:ext uri="{BB962C8B-B14F-4D97-AF65-F5344CB8AC3E}">
        <p14:creationId xmlns:p14="http://schemas.microsoft.com/office/powerpoint/2010/main" val="19872961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C5C3B44F-FED3-4D01-BA80-5AEE37D761A8}" type="slidenum">
              <a:rPr lang="en-US" altLang="pt-BR"/>
              <a:pPr>
                <a:spcBef>
                  <a:spcPct val="0"/>
                </a:spcBef>
              </a:pPr>
              <a:t>72</a:t>
            </a:fld>
            <a:endParaRPr lang="en-US" altLang="pt-BR"/>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p>
        </p:txBody>
      </p:sp>
    </p:spTree>
    <p:extLst>
      <p:ext uri="{BB962C8B-B14F-4D97-AF65-F5344CB8AC3E}">
        <p14:creationId xmlns:p14="http://schemas.microsoft.com/office/powerpoint/2010/main" val="18536559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C5A81460-B078-476C-B765-6DA8C0164270}" type="slidenum">
              <a:rPr lang="en-US" altLang="pt-BR"/>
              <a:pPr>
                <a:spcBef>
                  <a:spcPct val="0"/>
                </a:spcBef>
              </a:pPr>
              <a:t>73</a:t>
            </a:fld>
            <a:endParaRPr lang="en-US" altLang="pt-BR"/>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p>
        </p:txBody>
      </p:sp>
    </p:spTree>
    <p:extLst>
      <p:ext uri="{BB962C8B-B14F-4D97-AF65-F5344CB8AC3E}">
        <p14:creationId xmlns:p14="http://schemas.microsoft.com/office/powerpoint/2010/main" val="41686102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E2A0923A-55CD-4632-85BA-FE0C3972F6DA}" type="slidenum">
              <a:rPr lang="en-US" altLang="pt-BR"/>
              <a:pPr>
                <a:spcBef>
                  <a:spcPct val="0"/>
                </a:spcBef>
              </a:pPr>
              <a:t>74</a:t>
            </a:fld>
            <a:endParaRPr lang="en-US" altLang="pt-BR"/>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p>
        </p:txBody>
      </p:sp>
    </p:spTree>
    <p:extLst>
      <p:ext uri="{BB962C8B-B14F-4D97-AF65-F5344CB8AC3E}">
        <p14:creationId xmlns:p14="http://schemas.microsoft.com/office/powerpoint/2010/main" val="29996243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F5874A48-AEF6-41C5-955A-4BB18DA07242}" type="slidenum">
              <a:rPr lang="en-US" altLang="pt-BR"/>
              <a:pPr>
                <a:spcBef>
                  <a:spcPct val="0"/>
                </a:spcBef>
              </a:pPr>
              <a:t>76</a:t>
            </a:fld>
            <a:endParaRPr lang="en-US" altLang="pt-B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p>
        </p:txBody>
      </p:sp>
    </p:spTree>
    <p:extLst>
      <p:ext uri="{BB962C8B-B14F-4D97-AF65-F5344CB8AC3E}">
        <p14:creationId xmlns:p14="http://schemas.microsoft.com/office/powerpoint/2010/main" val="6334496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D4AB9DF5-D058-43D2-B220-B8D4B8BDBD69}" type="slidenum">
              <a:rPr lang="en-US" altLang="pt-BR"/>
              <a:pPr>
                <a:spcBef>
                  <a:spcPct val="0"/>
                </a:spcBef>
              </a:pPr>
              <a:t>77</a:t>
            </a:fld>
            <a:endParaRPr lang="en-US" altLang="pt-BR"/>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p>
        </p:txBody>
      </p:sp>
    </p:spTree>
    <p:extLst>
      <p:ext uri="{BB962C8B-B14F-4D97-AF65-F5344CB8AC3E}">
        <p14:creationId xmlns:p14="http://schemas.microsoft.com/office/powerpoint/2010/main" val="41371837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0BBC3F87-D256-425E-ADE5-269DC7F16132}" type="slidenum">
              <a:rPr lang="en-US" altLang="pt-BR"/>
              <a:pPr>
                <a:spcBef>
                  <a:spcPct val="0"/>
                </a:spcBef>
              </a:pPr>
              <a:t>78</a:t>
            </a:fld>
            <a:endParaRPr lang="en-US" altLang="pt-BR"/>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p>
        </p:txBody>
      </p:sp>
    </p:spTree>
    <p:extLst>
      <p:ext uri="{BB962C8B-B14F-4D97-AF65-F5344CB8AC3E}">
        <p14:creationId xmlns:p14="http://schemas.microsoft.com/office/powerpoint/2010/main" val="16757051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80148285-D049-4C9C-9F40-41BBCBBC868E}" type="slidenum">
              <a:rPr lang="en-US" altLang="pt-BR"/>
              <a:pPr>
                <a:spcBef>
                  <a:spcPct val="0"/>
                </a:spcBef>
              </a:pPr>
              <a:t>80</a:t>
            </a:fld>
            <a:endParaRPr lang="en-US" altLang="pt-BR"/>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p>
        </p:txBody>
      </p:sp>
    </p:spTree>
    <p:extLst>
      <p:ext uri="{BB962C8B-B14F-4D97-AF65-F5344CB8AC3E}">
        <p14:creationId xmlns:p14="http://schemas.microsoft.com/office/powerpoint/2010/main" val="3763559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1895EA7D-F9FD-44AF-B11B-08AB8BBD6ADA}" type="slidenum">
              <a:rPr lang="en-US" altLang="pt-BR"/>
              <a:pPr>
                <a:spcBef>
                  <a:spcPct val="0"/>
                </a:spcBef>
              </a:pPr>
              <a:t>81</a:t>
            </a:fld>
            <a:endParaRPr lang="en-US" altLang="pt-BR"/>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p>
        </p:txBody>
      </p:sp>
    </p:spTree>
    <p:extLst>
      <p:ext uri="{BB962C8B-B14F-4D97-AF65-F5344CB8AC3E}">
        <p14:creationId xmlns:p14="http://schemas.microsoft.com/office/powerpoint/2010/main" val="16832958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1646D18B-0DAE-4EDE-BD92-1814DBE3582B}" type="slidenum">
              <a:rPr lang="en-US" altLang="pt-BR"/>
              <a:pPr>
                <a:spcBef>
                  <a:spcPct val="0"/>
                </a:spcBef>
              </a:pPr>
              <a:t>82</a:t>
            </a:fld>
            <a:endParaRPr lang="en-US" altLang="pt-BR"/>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p>
        </p:txBody>
      </p:sp>
    </p:spTree>
    <p:extLst>
      <p:ext uri="{BB962C8B-B14F-4D97-AF65-F5344CB8AC3E}">
        <p14:creationId xmlns:p14="http://schemas.microsoft.com/office/powerpoint/2010/main" val="13992063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01C2D371-B9AB-47DB-8FB8-D157BFC1F2F5}" type="slidenum">
              <a:rPr lang="en-US" altLang="pt-BR"/>
              <a:pPr>
                <a:spcBef>
                  <a:spcPct val="0"/>
                </a:spcBef>
              </a:pPr>
              <a:t>83</a:t>
            </a:fld>
            <a:endParaRPr lang="en-US" altLang="pt-BR"/>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p>
        </p:txBody>
      </p:sp>
    </p:spTree>
    <p:extLst>
      <p:ext uri="{BB962C8B-B14F-4D97-AF65-F5344CB8AC3E}">
        <p14:creationId xmlns:p14="http://schemas.microsoft.com/office/powerpoint/2010/main" val="142600061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A7EF08AD-20B4-4C14-B21B-7369BFEABD11}" type="slidenum">
              <a:rPr lang="en-US" altLang="pt-BR"/>
              <a:pPr>
                <a:spcBef>
                  <a:spcPct val="0"/>
                </a:spcBef>
              </a:pPr>
              <a:t>84</a:t>
            </a:fld>
            <a:endParaRPr lang="en-US" altLang="pt-B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p>
        </p:txBody>
      </p:sp>
    </p:spTree>
    <p:extLst>
      <p:ext uri="{BB962C8B-B14F-4D97-AF65-F5344CB8AC3E}">
        <p14:creationId xmlns:p14="http://schemas.microsoft.com/office/powerpoint/2010/main" val="415591108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2EEE32BF-CF6C-4AE8-841C-3AF0D6FB55ED}" type="slidenum">
              <a:rPr lang="en-US" altLang="pt-BR"/>
              <a:pPr>
                <a:spcBef>
                  <a:spcPct val="0"/>
                </a:spcBef>
              </a:pPr>
              <a:t>85</a:t>
            </a:fld>
            <a:endParaRPr lang="en-US" altLang="pt-BR"/>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altLang="pt-BR"/>
          </a:p>
        </p:txBody>
      </p:sp>
    </p:spTree>
    <p:extLst>
      <p:ext uri="{BB962C8B-B14F-4D97-AF65-F5344CB8AC3E}">
        <p14:creationId xmlns:p14="http://schemas.microsoft.com/office/powerpoint/2010/main" val="8769175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C70977F1-0158-4C33-880F-094AFEEE236B}" type="slidenum">
              <a:rPr lang="pt-BR" smtClean="0"/>
              <a:t>120</a:t>
            </a:fld>
            <a:endParaRPr lang="pt-BR"/>
          </a:p>
        </p:txBody>
      </p:sp>
    </p:spTree>
    <p:extLst>
      <p:ext uri="{BB962C8B-B14F-4D97-AF65-F5344CB8AC3E}">
        <p14:creationId xmlns:p14="http://schemas.microsoft.com/office/powerpoint/2010/main" val="152216374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rPr lang="pt-BR" dirty="0"/>
              <a:t>Características – ver em Dias(2012)</a:t>
            </a:r>
            <a:r>
              <a:rPr lang="pt-BR" baseline="0" dirty="0"/>
              <a:t> ou </a:t>
            </a:r>
            <a:r>
              <a:rPr lang="pt-BR" baseline="0" dirty="0" err="1"/>
              <a:t>http</a:t>
            </a:r>
            <a:r>
              <a:rPr lang="pt-BR" baseline="0" dirty="0"/>
              <a:t>://www2.transportes.gov.br/bit/02-rodo/</a:t>
            </a:r>
            <a:r>
              <a:rPr lang="pt-BR" baseline="0" dirty="0" err="1"/>
              <a:t>rodo.html</a:t>
            </a:r>
            <a:endParaRPr lang="pt-BR" baseline="0" dirty="0"/>
          </a:p>
          <a:p>
            <a:pPr marL="171450" indent="-171450">
              <a:buFont typeface="Arial"/>
              <a:buChar char="•"/>
            </a:pPr>
            <a:r>
              <a:rPr lang="pt-BR" baseline="0" dirty="0"/>
              <a:t>A características mais relevante deste tipo de transporte é a sua flexibilidade e agilidade.</a:t>
            </a:r>
          </a:p>
          <a:p>
            <a:pPr marL="171450" indent="-171450">
              <a:buFont typeface="Arial"/>
              <a:buChar char="•"/>
            </a:pPr>
            <a:endParaRPr lang="pt-BR" baseline="0" dirty="0"/>
          </a:p>
          <a:p>
            <a:pPr marL="0" indent="0">
              <a:buFont typeface="Arial"/>
              <a:buNone/>
            </a:pPr>
            <a:endParaRPr lang="pt-BR" baseline="0" dirty="0"/>
          </a:p>
          <a:p>
            <a:pPr marL="0" indent="0">
              <a:buFont typeface="Arial"/>
              <a:buNone/>
            </a:pPr>
            <a:r>
              <a:rPr lang="pt-BR" baseline="0" dirty="0"/>
              <a:t>Fonte da Imagem: </a:t>
            </a:r>
          </a:p>
          <a:p>
            <a:pPr marL="0" indent="0">
              <a:buFont typeface="Arial"/>
              <a:buNone/>
            </a:pPr>
            <a:r>
              <a:rPr lang="pt-BR" dirty="0"/>
              <a:t>ThinkstockPhotos-464939424.jpg</a:t>
            </a:r>
          </a:p>
        </p:txBody>
      </p:sp>
      <p:sp>
        <p:nvSpPr>
          <p:cNvPr id="4" name="Slide Number Placeholder 3"/>
          <p:cNvSpPr>
            <a:spLocks noGrp="1"/>
          </p:cNvSpPr>
          <p:nvPr>
            <p:ph type="sldNum" sz="quarter" idx="10"/>
          </p:nvPr>
        </p:nvSpPr>
        <p:spPr/>
        <p:txBody>
          <a:bodyPr/>
          <a:lstStyle/>
          <a:p>
            <a:fld id="{B7474A30-332D-5E48-94FE-AE59EA593AC9}" type="slidenum">
              <a:rPr lang="en-US" smtClean="0"/>
              <a:t>123</a:t>
            </a:fld>
            <a:endParaRPr lang="en-US"/>
          </a:p>
        </p:txBody>
      </p:sp>
    </p:spTree>
    <p:extLst>
      <p:ext uri="{BB962C8B-B14F-4D97-AF65-F5344CB8AC3E}">
        <p14:creationId xmlns:p14="http://schemas.microsoft.com/office/powerpoint/2010/main" val="18721936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pt-BR" dirty="0"/>
          </a:p>
        </p:txBody>
      </p:sp>
      <p:sp>
        <p:nvSpPr>
          <p:cNvPr id="4" name="Espaço Reservado para Número de Slide 3"/>
          <p:cNvSpPr>
            <a:spLocks noGrp="1"/>
          </p:cNvSpPr>
          <p:nvPr>
            <p:ph type="sldNum" sz="quarter" idx="10"/>
          </p:nvPr>
        </p:nvSpPr>
        <p:spPr/>
        <p:txBody>
          <a:bodyPr/>
          <a:lstStyle/>
          <a:p>
            <a:fld id="{C31A082E-75CD-456E-9D1C-5D4A4122BEED}" type="slidenum">
              <a:rPr lang="pt-BR" smtClean="0"/>
              <a:t>163</a:t>
            </a:fld>
            <a:endParaRPr lang="pt-BR"/>
          </a:p>
        </p:txBody>
      </p:sp>
    </p:spTree>
    <p:extLst>
      <p:ext uri="{BB962C8B-B14F-4D97-AF65-F5344CB8AC3E}">
        <p14:creationId xmlns:p14="http://schemas.microsoft.com/office/powerpoint/2010/main" val="305859603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Ver material do Ex-2</a:t>
            </a:r>
          </a:p>
          <a:p>
            <a:endParaRPr lang="pt-BR" dirty="0"/>
          </a:p>
          <a:p>
            <a:r>
              <a:rPr lang="pt-BR" baseline="0" dirty="0"/>
              <a:t>Fonte da Imagem: </a:t>
            </a:r>
          </a:p>
          <a:p>
            <a:r>
              <a:rPr lang="pt-BR" baseline="0" dirty="0"/>
              <a:t>ThinkstockPhotos-475383667.jpg</a:t>
            </a:r>
            <a:endParaRPr lang="pt-BR" dirty="0"/>
          </a:p>
          <a:p>
            <a:endParaRPr lang="pt-BR" dirty="0"/>
          </a:p>
        </p:txBody>
      </p:sp>
      <p:sp>
        <p:nvSpPr>
          <p:cNvPr id="4" name="Slide Number Placeholder 3"/>
          <p:cNvSpPr>
            <a:spLocks noGrp="1"/>
          </p:cNvSpPr>
          <p:nvPr>
            <p:ph type="sldNum" sz="quarter" idx="10"/>
          </p:nvPr>
        </p:nvSpPr>
        <p:spPr/>
        <p:txBody>
          <a:bodyPr/>
          <a:lstStyle/>
          <a:p>
            <a:fld id="{B7474A30-332D-5E48-94FE-AE59EA593AC9}" type="slidenum">
              <a:rPr lang="en-US" smtClean="0"/>
              <a:t>172</a:t>
            </a:fld>
            <a:endParaRPr lang="en-US"/>
          </a:p>
        </p:txBody>
      </p:sp>
    </p:spTree>
    <p:extLst>
      <p:ext uri="{BB962C8B-B14F-4D97-AF65-F5344CB8AC3E}">
        <p14:creationId xmlns:p14="http://schemas.microsoft.com/office/powerpoint/2010/main" val="48840841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a:buNone/>
            </a:pPr>
            <a:r>
              <a:rPr lang="pt-BR" sz="1200" kern="1200" dirty="0">
                <a:solidFill>
                  <a:schemeClr val="tx1"/>
                </a:solidFill>
                <a:effectLst/>
                <a:latin typeface="+mn-lt"/>
                <a:ea typeface="+mn-ea"/>
                <a:cs typeface="+mn-cs"/>
              </a:rPr>
              <a:t>ver Rodrigues (2014) e Dias (2012), ou https://appweb.antt.gov.br/faq/multimodal.asp</a:t>
            </a:r>
          </a:p>
        </p:txBody>
      </p:sp>
      <p:sp>
        <p:nvSpPr>
          <p:cNvPr id="4" name="Slide Number Placeholder 3"/>
          <p:cNvSpPr>
            <a:spLocks noGrp="1"/>
          </p:cNvSpPr>
          <p:nvPr>
            <p:ph type="sldNum" sz="quarter" idx="10"/>
          </p:nvPr>
        </p:nvSpPr>
        <p:spPr/>
        <p:txBody>
          <a:bodyPr/>
          <a:lstStyle/>
          <a:p>
            <a:fld id="{B7474A30-332D-5E48-94FE-AE59EA593AC9}" type="slidenum">
              <a:rPr lang="en-US" smtClean="0"/>
              <a:t>176</a:t>
            </a:fld>
            <a:endParaRPr lang="en-US"/>
          </a:p>
        </p:txBody>
      </p:sp>
    </p:spTree>
    <p:extLst>
      <p:ext uri="{BB962C8B-B14F-4D97-AF65-F5344CB8AC3E}">
        <p14:creationId xmlns:p14="http://schemas.microsoft.com/office/powerpoint/2010/main" val="211534967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lvl="0" indent="-171450">
              <a:buFont typeface="Arial"/>
              <a:buChar char="•"/>
            </a:pPr>
            <a:r>
              <a:rPr lang="pt-BR" sz="1200" b="1" kern="1200" dirty="0">
                <a:solidFill>
                  <a:schemeClr val="tx1"/>
                </a:solidFill>
                <a:effectLst/>
                <a:latin typeface="+mn-lt"/>
                <a:ea typeface="+mn-ea"/>
                <a:cs typeface="+mn-cs"/>
              </a:rPr>
              <a:t>Vídeo: Rapidão Cometa – Operador Multimodal ; </a:t>
            </a:r>
          </a:p>
          <a:p>
            <a:pPr marL="0" lvl="0" indent="0">
              <a:buFont typeface="Arial"/>
              <a:buNone/>
            </a:pPr>
            <a:r>
              <a:rPr lang="pt-BR" sz="1200" kern="1200" dirty="0">
                <a:solidFill>
                  <a:schemeClr val="tx1"/>
                </a:solidFill>
                <a:effectLst/>
                <a:latin typeface="+mn-lt"/>
                <a:ea typeface="+mn-ea"/>
                <a:cs typeface="+mn-cs"/>
              </a:rPr>
              <a:t>    Link: </a:t>
            </a:r>
            <a:r>
              <a:rPr lang="pt-BR" sz="1200" u="sng" kern="1200" dirty="0">
                <a:solidFill>
                  <a:schemeClr val="tx1"/>
                </a:solidFill>
                <a:effectLst/>
                <a:latin typeface="+mn-lt"/>
                <a:ea typeface="+mn-ea"/>
                <a:cs typeface="+mn-cs"/>
                <a:hlinkClick r:id="rId3"/>
              </a:rPr>
              <a:t>https://www.youtube.com/watch?v=-dwqlvkeLMI</a:t>
            </a:r>
            <a:r>
              <a:rPr lang="pt-BR" sz="1200" kern="1200" dirty="0">
                <a:solidFill>
                  <a:schemeClr val="tx1"/>
                </a:solidFill>
                <a:effectLst/>
                <a:latin typeface="+mn-lt"/>
                <a:ea typeface="+mn-ea"/>
                <a:cs typeface="+mn-cs"/>
              </a:rPr>
              <a:t> , tempo: 06:42</a:t>
            </a:r>
          </a:p>
          <a:p>
            <a:pPr marL="0" indent="0">
              <a:buFont typeface="Arial"/>
              <a:buNone/>
            </a:pPr>
            <a:r>
              <a:rPr lang="pt-BR" sz="1200" kern="1200" dirty="0">
                <a:solidFill>
                  <a:schemeClr val="tx1"/>
                </a:solidFill>
                <a:effectLst/>
                <a:latin typeface="+mn-lt"/>
                <a:ea typeface="+mn-ea"/>
                <a:cs typeface="+mn-cs"/>
              </a:rPr>
              <a:t>    Apresenta a empresa Rapidão Cometa como um Operador Multimodal, mostra características das operações, da integração de serviços. </a:t>
            </a:r>
          </a:p>
          <a:p>
            <a:endParaRPr lang="pt-BR" dirty="0"/>
          </a:p>
          <a:p>
            <a:endParaRPr lang="pt-BR" dirty="0"/>
          </a:p>
        </p:txBody>
      </p:sp>
      <p:sp>
        <p:nvSpPr>
          <p:cNvPr id="4" name="Slide Number Placeholder 3"/>
          <p:cNvSpPr>
            <a:spLocks noGrp="1"/>
          </p:cNvSpPr>
          <p:nvPr>
            <p:ph type="sldNum" sz="quarter" idx="10"/>
          </p:nvPr>
        </p:nvSpPr>
        <p:spPr/>
        <p:txBody>
          <a:bodyPr/>
          <a:lstStyle/>
          <a:p>
            <a:fld id="{B7474A30-332D-5E48-94FE-AE59EA593AC9}" type="slidenum">
              <a:rPr lang="en-US" smtClean="0"/>
              <a:t>177</a:t>
            </a:fld>
            <a:endParaRPr lang="en-US"/>
          </a:p>
        </p:txBody>
      </p:sp>
    </p:spTree>
    <p:extLst>
      <p:ext uri="{BB962C8B-B14F-4D97-AF65-F5344CB8AC3E}">
        <p14:creationId xmlns:p14="http://schemas.microsoft.com/office/powerpoint/2010/main" val="138143998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rPr lang="pt-BR" dirty="0"/>
              <a:t>Para saber mais ver portal da ANTT – transporte multimodal</a:t>
            </a:r>
          </a:p>
          <a:p>
            <a:endParaRPr lang="pt-BR" dirty="0"/>
          </a:p>
          <a:p>
            <a:r>
              <a:rPr lang="pt-BR" dirty="0"/>
              <a:t>Fonte da imagem: </a:t>
            </a:r>
          </a:p>
          <a:p>
            <a:r>
              <a:rPr lang="pt-BR" dirty="0"/>
              <a:t>ThinkstockPhotos-513180179.jpg</a:t>
            </a:r>
          </a:p>
        </p:txBody>
      </p:sp>
      <p:sp>
        <p:nvSpPr>
          <p:cNvPr id="4" name="Slide Number Placeholder 3"/>
          <p:cNvSpPr>
            <a:spLocks noGrp="1"/>
          </p:cNvSpPr>
          <p:nvPr>
            <p:ph type="sldNum" sz="quarter" idx="10"/>
          </p:nvPr>
        </p:nvSpPr>
        <p:spPr/>
        <p:txBody>
          <a:bodyPr/>
          <a:lstStyle/>
          <a:p>
            <a:fld id="{B7474A30-332D-5E48-94FE-AE59EA593AC9}" type="slidenum">
              <a:rPr lang="en-US" smtClean="0"/>
              <a:t>178</a:t>
            </a:fld>
            <a:endParaRPr lang="en-US"/>
          </a:p>
        </p:txBody>
      </p:sp>
    </p:spTree>
    <p:extLst>
      <p:ext uri="{BB962C8B-B14F-4D97-AF65-F5344CB8AC3E}">
        <p14:creationId xmlns:p14="http://schemas.microsoft.com/office/powerpoint/2010/main" val="382040898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10"/>
          </p:nvPr>
        </p:nvSpPr>
        <p:spPr/>
        <p:txBody>
          <a:bodyPr/>
          <a:lstStyle/>
          <a:p>
            <a:fld id="{B7474A30-332D-5E48-94FE-AE59EA593AC9}" type="slidenum">
              <a:rPr lang="en-US" smtClean="0"/>
              <a:t>179</a:t>
            </a:fld>
            <a:endParaRPr lang="en-US"/>
          </a:p>
        </p:txBody>
      </p:sp>
    </p:spTree>
    <p:extLst>
      <p:ext uri="{BB962C8B-B14F-4D97-AF65-F5344CB8AC3E}">
        <p14:creationId xmlns:p14="http://schemas.microsoft.com/office/powerpoint/2010/main" val="105223405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10"/>
          </p:nvPr>
        </p:nvSpPr>
        <p:spPr/>
        <p:txBody>
          <a:bodyPr/>
          <a:lstStyle/>
          <a:p>
            <a:fld id="{B7474A30-332D-5E48-94FE-AE59EA593AC9}" type="slidenum">
              <a:rPr lang="en-US" smtClean="0"/>
              <a:t>180</a:t>
            </a:fld>
            <a:endParaRPr lang="en-US"/>
          </a:p>
        </p:txBody>
      </p:sp>
    </p:spTree>
    <p:extLst>
      <p:ext uri="{BB962C8B-B14F-4D97-AF65-F5344CB8AC3E}">
        <p14:creationId xmlns:p14="http://schemas.microsoft.com/office/powerpoint/2010/main" val="427966746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10"/>
          </p:nvPr>
        </p:nvSpPr>
        <p:spPr/>
        <p:txBody>
          <a:bodyPr/>
          <a:lstStyle/>
          <a:p>
            <a:fld id="{B7474A30-332D-5E48-94FE-AE59EA593AC9}" type="slidenum">
              <a:rPr lang="en-US" smtClean="0"/>
              <a:t>181</a:t>
            </a:fld>
            <a:endParaRPr lang="en-US"/>
          </a:p>
        </p:txBody>
      </p:sp>
    </p:spTree>
    <p:extLst>
      <p:ext uri="{BB962C8B-B14F-4D97-AF65-F5344CB8AC3E}">
        <p14:creationId xmlns:p14="http://schemas.microsoft.com/office/powerpoint/2010/main" val="43506041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Ver material do Ex-2</a:t>
            </a:r>
          </a:p>
          <a:p>
            <a:endParaRPr lang="pt-BR" dirty="0"/>
          </a:p>
          <a:p>
            <a:r>
              <a:rPr lang="pt-BR" baseline="0" dirty="0"/>
              <a:t>Fonte da Imagem: </a:t>
            </a:r>
          </a:p>
          <a:p>
            <a:r>
              <a:rPr lang="pt-BR" baseline="0" dirty="0"/>
              <a:t>ThinkstockPhotos-475383667.jpg</a:t>
            </a:r>
            <a:endParaRPr lang="pt-BR" dirty="0"/>
          </a:p>
          <a:p>
            <a:endParaRPr lang="pt-BR" dirty="0"/>
          </a:p>
        </p:txBody>
      </p:sp>
      <p:sp>
        <p:nvSpPr>
          <p:cNvPr id="4" name="Slide Number Placeholder 3"/>
          <p:cNvSpPr>
            <a:spLocks noGrp="1"/>
          </p:cNvSpPr>
          <p:nvPr>
            <p:ph type="sldNum" sz="quarter" idx="10"/>
          </p:nvPr>
        </p:nvSpPr>
        <p:spPr/>
        <p:txBody>
          <a:bodyPr/>
          <a:lstStyle/>
          <a:p>
            <a:fld id="{B7474A30-332D-5E48-94FE-AE59EA593AC9}" type="slidenum">
              <a:rPr lang="en-US" smtClean="0"/>
              <a:t>183</a:t>
            </a:fld>
            <a:endParaRPr lang="en-US"/>
          </a:p>
        </p:txBody>
      </p:sp>
    </p:spTree>
    <p:extLst>
      <p:ext uri="{BB962C8B-B14F-4D97-AF65-F5344CB8AC3E}">
        <p14:creationId xmlns:p14="http://schemas.microsoft.com/office/powerpoint/2010/main" val="410324607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10"/>
          </p:nvPr>
        </p:nvSpPr>
        <p:spPr/>
        <p:txBody>
          <a:bodyPr/>
          <a:lstStyle/>
          <a:p>
            <a:fld id="{B7474A30-332D-5E48-94FE-AE59EA593AC9}" type="slidenum">
              <a:rPr lang="en-US" smtClean="0"/>
              <a:t>184</a:t>
            </a:fld>
            <a:endParaRPr lang="en-US"/>
          </a:p>
        </p:txBody>
      </p:sp>
    </p:spTree>
    <p:extLst>
      <p:ext uri="{BB962C8B-B14F-4D97-AF65-F5344CB8AC3E}">
        <p14:creationId xmlns:p14="http://schemas.microsoft.com/office/powerpoint/2010/main" val="129846787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Ver material do Ex-2</a:t>
            </a:r>
          </a:p>
          <a:p>
            <a:endParaRPr lang="pt-BR" dirty="0"/>
          </a:p>
          <a:p>
            <a:r>
              <a:rPr lang="pt-BR" baseline="0" dirty="0"/>
              <a:t>Fonte da Imagem: </a:t>
            </a:r>
          </a:p>
          <a:p>
            <a:r>
              <a:rPr lang="pt-BR" baseline="0" dirty="0"/>
              <a:t>ThinkstockPhotos-475383667.jpg</a:t>
            </a:r>
            <a:endParaRPr lang="pt-BR" dirty="0"/>
          </a:p>
          <a:p>
            <a:endParaRPr lang="pt-BR" dirty="0"/>
          </a:p>
        </p:txBody>
      </p:sp>
      <p:sp>
        <p:nvSpPr>
          <p:cNvPr id="4" name="Slide Number Placeholder 3"/>
          <p:cNvSpPr>
            <a:spLocks noGrp="1"/>
          </p:cNvSpPr>
          <p:nvPr>
            <p:ph type="sldNum" sz="quarter" idx="10"/>
          </p:nvPr>
        </p:nvSpPr>
        <p:spPr/>
        <p:txBody>
          <a:bodyPr/>
          <a:lstStyle/>
          <a:p>
            <a:fld id="{B7474A30-332D-5E48-94FE-AE59EA593AC9}" type="slidenum">
              <a:rPr lang="en-US" smtClean="0"/>
              <a:t>185</a:t>
            </a:fld>
            <a:endParaRPr lang="en-US"/>
          </a:p>
        </p:txBody>
      </p:sp>
    </p:spTree>
    <p:extLst>
      <p:ext uri="{BB962C8B-B14F-4D97-AF65-F5344CB8AC3E}">
        <p14:creationId xmlns:p14="http://schemas.microsoft.com/office/powerpoint/2010/main" val="381481963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a:buNone/>
            </a:pPr>
            <a:endParaRPr lang="pt-BR" dirty="0"/>
          </a:p>
        </p:txBody>
      </p:sp>
      <p:sp>
        <p:nvSpPr>
          <p:cNvPr id="4" name="Slide Number Placeholder 3"/>
          <p:cNvSpPr>
            <a:spLocks noGrp="1"/>
          </p:cNvSpPr>
          <p:nvPr>
            <p:ph type="sldNum" sz="quarter" idx="10"/>
          </p:nvPr>
        </p:nvSpPr>
        <p:spPr/>
        <p:txBody>
          <a:bodyPr/>
          <a:lstStyle/>
          <a:p>
            <a:fld id="{B7474A30-332D-5E48-94FE-AE59EA593AC9}" type="slidenum">
              <a:rPr lang="en-US" smtClean="0"/>
              <a:t>187</a:t>
            </a:fld>
            <a:endParaRPr lang="en-US"/>
          </a:p>
        </p:txBody>
      </p:sp>
    </p:spTree>
    <p:extLst>
      <p:ext uri="{BB962C8B-B14F-4D97-AF65-F5344CB8AC3E}">
        <p14:creationId xmlns:p14="http://schemas.microsoft.com/office/powerpoint/2010/main" val="314594414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C70977F1-0158-4C33-880F-094AFEEE236B}" type="slidenum">
              <a:rPr lang="pt-BR" smtClean="0"/>
              <a:t>190</a:t>
            </a:fld>
            <a:endParaRPr lang="pt-BR"/>
          </a:p>
        </p:txBody>
      </p:sp>
    </p:spTree>
    <p:extLst>
      <p:ext uri="{BB962C8B-B14F-4D97-AF65-F5344CB8AC3E}">
        <p14:creationId xmlns:p14="http://schemas.microsoft.com/office/powerpoint/2010/main" val="17369786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Tema-3: Estrutura e Regulamentação do Transporte de cargas</a:t>
            </a:r>
          </a:p>
        </p:txBody>
      </p:sp>
      <p:sp>
        <p:nvSpPr>
          <p:cNvPr id="4" name="Slide Number Placeholder 3"/>
          <p:cNvSpPr>
            <a:spLocks noGrp="1"/>
          </p:cNvSpPr>
          <p:nvPr>
            <p:ph type="sldNum" sz="quarter" idx="10"/>
          </p:nvPr>
        </p:nvSpPr>
        <p:spPr/>
        <p:txBody>
          <a:bodyPr/>
          <a:lstStyle/>
          <a:p>
            <a:fld id="{B7474A30-332D-5E48-94FE-AE59EA593AC9}" type="slidenum">
              <a:rPr lang="en-US" smtClean="0"/>
              <a:t>211</a:t>
            </a:fld>
            <a:endParaRPr lang="en-US"/>
          </a:p>
        </p:txBody>
      </p:sp>
    </p:spTree>
    <p:extLst>
      <p:ext uri="{BB962C8B-B14F-4D97-AF65-F5344CB8AC3E}">
        <p14:creationId xmlns:p14="http://schemas.microsoft.com/office/powerpoint/2010/main" val="116279326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a:buNone/>
            </a:pPr>
            <a:r>
              <a:rPr lang="pt-BR" dirty="0"/>
              <a:t>Saber mais sobre os órgãos </a:t>
            </a:r>
            <a:r>
              <a:rPr lang="pt-BR" baseline="0" dirty="0"/>
              <a:t> reguladores do Transporte de cargas:</a:t>
            </a:r>
            <a:endParaRPr lang="pt-BR" dirty="0"/>
          </a:p>
          <a:p>
            <a:pPr marL="171450" indent="-171450">
              <a:buFont typeface="Arial"/>
              <a:buChar char="•"/>
            </a:pPr>
            <a:r>
              <a:rPr lang="pt-BR" dirty="0"/>
              <a:t>Ministério dos Transportes: </a:t>
            </a:r>
            <a:r>
              <a:rPr lang="pt-BR" dirty="0" err="1"/>
              <a:t>http</a:t>
            </a:r>
            <a:r>
              <a:rPr lang="pt-BR" dirty="0"/>
              <a:t>://</a:t>
            </a:r>
            <a:r>
              <a:rPr lang="pt-BR" dirty="0" err="1"/>
              <a:t>www.transportes.gov.br</a:t>
            </a:r>
            <a:endParaRPr lang="pt-BR" dirty="0"/>
          </a:p>
          <a:p>
            <a:pPr marL="171450" indent="-171450">
              <a:buFont typeface="Arial"/>
              <a:buChar char="•"/>
            </a:pPr>
            <a:r>
              <a:rPr lang="pt-BR" dirty="0"/>
              <a:t>Secretaria dos Portos: </a:t>
            </a:r>
            <a:r>
              <a:rPr lang="pt-BR" dirty="0" err="1"/>
              <a:t>http</a:t>
            </a:r>
            <a:r>
              <a:rPr lang="pt-BR" dirty="0"/>
              <a:t>://</a:t>
            </a:r>
            <a:r>
              <a:rPr lang="pt-BR" dirty="0" err="1"/>
              <a:t>www.portosdobrasil.gov.br</a:t>
            </a:r>
            <a:endParaRPr lang="pt-BR" dirty="0"/>
          </a:p>
          <a:p>
            <a:pPr marL="171450" indent="-171450">
              <a:buFont typeface="Arial"/>
              <a:buChar char="•"/>
            </a:pPr>
            <a:r>
              <a:rPr lang="pt-BR" dirty="0"/>
              <a:t>Secretária de Aviação </a:t>
            </a:r>
            <a:r>
              <a:rPr lang="pt-BR" dirty="0" err="1"/>
              <a:t>Cívil</a:t>
            </a:r>
            <a:r>
              <a:rPr lang="pt-BR" dirty="0"/>
              <a:t>: </a:t>
            </a:r>
            <a:r>
              <a:rPr lang="pt-BR" dirty="0" err="1"/>
              <a:t>http</a:t>
            </a:r>
            <a:r>
              <a:rPr lang="pt-BR" dirty="0"/>
              <a:t>://</a:t>
            </a:r>
            <a:r>
              <a:rPr lang="pt-BR" dirty="0" err="1"/>
              <a:t>www.aviacaocivil.gov.br</a:t>
            </a:r>
            <a:endParaRPr lang="pt-BR" dirty="0"/>
          </a:p>
          <a:p>
            <a:pPr marL="171450" indent="-171450">
              <a:buFont typeface="Arial"/>
              <a:buChar char="•"/>
            </a:pPr>
            <a:r>
              <a:rPr lang="pt-BR" dirty="0"/>
              <a:t>ANTT: </a:t>
            </a:r>
            <a:r>
              <a:rPr lang="pt-BR" dirty="0" err="1"/>
              <a:t>http</a:t>
            </a:r>
            <a:r>
              <a:rPr lang="pt-BR" dirty="0"/>
              <a:t>://</a:t>
            </a:r>
            <a:r>
              <a:rPr lang="pt-BR" dirty="0" err="1"/>
              <a:t>www.antt.gov.br</a:t>
            </a:r>
            <a:endParaRPr lang="pt-BR" dirty="0"/>
          </a:p>
          <a:p>
            <a:pPr marL="171450" indent="-171450">
              <a:buFont typeface="Arial"/>
              <a:buChar char="•"/>
            </a:pPr>
            <a:r>
              <a:rPr lang="pt-BR" dirty="0"/>
              <a:t>ANTAQ: </a:t>
            </a:r>
            <a:r>
              <a:rPr lang="pt-BR" dirty="0" err="1"/>
              <a:t>http</a:t>
            </a:r>
            <a:r>
              <a:rPr lang="pt-BR" dirty="0"/>
              <a:t>://</a:t>
            </a:r>
            <a:r>
              <a:rPr lang="pt-BR" dirty="0" err="1"/>
              <a:t>www.antaq.gov.br</a:t>
            </a:r>
            <a:r>
              <a:rPr lang="pt-BR" dirty="0"/>
              <a:t>/Portal/</a:t>
            </a:r>
            <a:r>
              <a:rPr lang="pt-BR" dirty="0" err="1"/>
              <a:t>Default.asp</a:t>
            </a:r>
            <a:endParaRPr lang="pt-BR" dirty="0"/>
          </a:p>
          <a:p>
            <a:pPr marL="171450" indent="-171450">
              <a:buFont typeface="Arial"/>
              <a:buChar char="•"/>
            </a:pPr>
            <a:r>
              <a:rPr lang="pt-BR" dirty="0"/>
              <a:t>DNIT: </a:t>
            </a:r>
            <a:r>
              <a:rPr lang="pt-BR" dirty="0" err="1"/>
              <a:t>http</a:t>
            </a:r>
            <a:r>
              <a:rPr lang="pt-BR" dirty="0"/>
              <a:t>://</a:t>
            </a:r>
            <a:r>
              <a:rPr lang="pt-BR" dirty="0" err="1"/>
              <a:t>www.dnit.gov.br</a:t>
            </a:r>
            <a:endParaRPr lang="pt-BR" dirty="0"/>
          </a:p>
          <a:p>
            <a:pPr marL="171450" indent="-171450">
              <a:buFont typeface="Arial"/>
              <a:buChar char="•"/>
            </a:pPr>
            <a:r>
              <a:rPr lang="pt-BR" dirty="0"/>
              <a:t>EPL: </a:t>
            </a:r>
            <a:r>
              <a:rPr lang="pt-BR" dirty="0" err="1"/>
              <a:t>http</a:t>
            </a:r>
            <a:r>
              <a:rPr lang="pt-BR" dirty="0"/>
              <a:t>://</a:t>
            </a:r>
            <a:r>
              <a:rPr lang="pt-BR" dirty="0" err="1"/>
              <a:t>www.epl.gov.br</a:t>
            </a:r>
            <a:endParaRPr lang="pt-BR" dirty="0"/>
          </a:p>
          <a:p>
            <a:pPr marL="171450" indent="-171450">
              <a:buFont typeface="Arial"/>
              <a:buChar char="•"/>
            </a:pPr>
            <a:r>
              <a:rPr lang="pt-BR" dirty="0"/>
              <a:t>ANAC: </a:t>
            </a:r>
            <a:r>
              <a:rPr lang="pt-BR" dirty="0" err="1"/>
              <a:t>http</a:t>
            </a:r>
            <a:r>
              <a:rPr lang="pt-BR" dirty="0"/>
              <a:t>://</a:t>
            </a:r>
            <a:r>
              <a:rPr lang="pt-BR" dirty="0" err="1"/>
              <a:t>www.anac.gov.br</a:t>
            </a:r>
            <a:endParaRPr lang="pt-BR" dirty="0"/>
          </a:p>
          <a:p>
            <a:pPr marL="171450" indent="-171450">
              <a:buFont typeface="Arial"/>
              <a:buChar char="•"/>
            </a:pPr>
            <a:r>
              <a:rPr lang="pt-BR" dirty="0"/>
              <a:t>INFRAERO: </a:t>
            </a:r>
            <a:r>
              <a:rPr lang="pt-BR" dirty="0" err="1"/>
              <a:t>http</a:t>
            </a:r>
            <a:r>
              <a:rPr lang="pt-BR" dirty="0"/>
              <a:t>://</a:t>
            </a:r>
            <a:r>
              <a:rPr lang="pt-BR" dirty="0" err="1"/>
              <a:t>www.infraero.gov.br</a:t>
            </a:r>
            <a:r>
              <a:rPr lang="pt-BR" dirty="0"/>
              <a:t>/</a:t>
            </a:r>
            <a:r>
              <a:rPr lang="pt-BR" dirty="0" err="1"/>
              <a:t>index.php</a:t>
            </a:r>
            <a:endParaRPr lang="pt-BR" dirty="0"/>
          </a:p>
          <a:p>
            <a:pPr marL="171450" indent="-171450">
              <a:buFont typeface="Arial"/>
              <a:buChar char="•"/>
            </a:pPr>
            <a:endParaRPr lang="pt-BR" dirty="0"/>
          </a:p>
          <a:p>
            <a:pPr marL="171450" indent="-171450">
              <a:buFont typeface="Arial"/>
              <a:buChar char="•"/>
            </a:pPr>
            <a:r>
              <a:rPr lang="pt-BR" dirty="0"/>
              <a:t>A Legislação que regula os limites de peso e dimensões para veículos por vias terrestres é a Resolução N. 210, de 13/11/2006  e alterada pelas resoluções 284 e 326, emitida pelo Conselho Nacional de Transito.</a:t>
            </a:r>
          </a:p>
          <a:p>
            <a:pPr marL="0" indent="0">
              <a:buFont typeface="Arial"/>
              <a:buNone/>
            </a:pPr>
            <a:r>
              <a:rPr lang="pt-BR" dirty="0"/>
              <a:t>    Disponível em: </a:t>
            </a:r>
            <a:r>
              <a:rPr lang="pt-BR" dirty="0" err="1"/>
              <a:t>http</a:t>
            </a:r>
            <a:r>
              <a:rPr lang="pt-BR" dirty="0"/>
              <a:t>://</a:t>
            </a:r>
            <a:r>
              <a:rPr lang="pt-BR" dirty="0" err="1"/>
              <a:t>www.denatran.gov.br</a:t>
            </a:r>
            <a:r>
              <a:rPr lang="pt-BR" dirty="0"/>
              <a:t>/</a:t>
            </a:r>
            <a:r>
              <a:rPr lang="pt-BR" dirty="0" err="1"/>
              <a:t>consolidadas.htm</a:t>
            </a:r>
            <a:r>
              <a:rPr lang="pt-BR" dirty="0"/>
              <a:t> e em Castiglioni (2014, p.26-31)</a:t>
            </a:r>
          </a:p>
          <a:p>
            <a:pPr marL="171450" indent="-171450">
              <a:buFont typeface="Arial"/>
              <a:buChar char="•"/>
            </a:pPr>
            <a:r>
              <a:rPr lang="pt-BR" dirty="0"/>
              <a:t>As Limitações de Peso (Lei da Balança) que limita o peso por eixo</a:t>
            </a:r>
            <a:r>
              <a:rPr lang="pt-BR" baseline="0" dirty="0"/>
              <a:t> dos veículos que trafegam nas rodovias, tem como objetivo preservação do pavimento e sua durabilidade. As limitações estão descritas na Portaria N.86 do Denatran. Estão disponíveis em </a:t>
            </a:r>
            <a:r>
              <a:rPr lang="pt-BR" baseline="0" dirty="0" err="1"/>
              <a:t>http</a:t>
            </a:r>
            <a:r>
              <a:rPr lang="pt-BR" baseline="0" dirty="0"/>
              <a:t>://</a:t>
            </a:r>
            <a:r>
              <a:rPr lang="pt-BR" baseline="0" dirty="0" err="1"/>
              <a:t>www.guiadotrc.com.br</a:t>
            </a:r>
            <a:r>
              <a:rPr lang="pt-BR" baseline="0" dirty="0"/>
              <a:t>/lei/</a:t>
            </a:r>
            <a:r>
              <a:rPr lang="pt-BR" baseline="0" dirty="0" err="1"/>
              <a:t>qresumof.asp</a:t>
            </a:r>
            <a:r>
              <a:rPr lang="pt-BR" baseline="0" dirty="0"/>
              <a:t> </a:t>
            </a:r>
            <a:endParaRPr lang="pt-BR" dirty="0"/>
          </a:p>
          <a:p>
            <a:pPr marL="171450" indent="-171450">
              <a:buFont typeface="Arial"/>
              <a:buChar char="•"/>
            </a:pPr>
            <a:endParaRPr lang="pt-BR" dirty="0"/>
          </a:p>
          <a:p>
            <a:pPr marL="171450" indent="-171450">
              <a:buFont typeface="Arial"/>
              <a:buChar char="•"/>
            </a:pPr>
            <a:endParaRPr lang="pt-BR" dirty="0"/>
          </a:p>
        </p:txBody>
      </p:sp>
      <p:sp>
        <p:nvSpPr>
          <p:cNvPr id="4" name="Slide Number Placeholder 3"/>
          <p:cNvSpPr>
            <a:spLocks noGrp="1"/>
          </p:cNvSpPr>
          <p:nvPr>
            <p:ph type="sldNum" sz="quarter" idx="10"/>
          </p:nvPr>
        </p:nvSpPr>
        <p:spPr/>
        <p:txBody>
          <a:bodyPr/>
          <a:lstStyle/>
          <a:p>
            <a:fld id="{B7474A30-332D-5E48-94FE-AE59EA593AC9}" type="slidenum">
              <a:rPr lang="en-US" smtClean="0"/>
              <a:t>212</a:t>
            </a:fld>
            <a:endParaRPr lang="en-US"/>
          </a:p>
        </p:txBody>
      </p:sp>
    </p:spTree>
    <p:extLst>
      <p:ext uri="{BB962C8B-B14F-4D97-AF65-F5344CB8AC3E}">
        <p14:creationId xmlns:p14="http://schemas.microsoft.com/office/powerpoint/2010/main" val="139375069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rPr lang="pt-BR" dirty="0"/>
              <a:t>Para saber mais sobre a Lei da Balança ver Dias(2012,</a:t>
            </a:r>
            <a:r>
              <a:rPr lang="pt-BR" baseline="0" dirty="0"/>
              <a:t> p.219-225)</a:t>
            </a:r>
          </a:p>
          <a:p>
            <a:pPr marL="171450" indent="-171450">
              <a:buFont typeface="Arial"/>
              <a:buChar char="•"/>
            </a:pPr>
            <a:endParaRPr lang="pt-BR" dirty="0"/>
          </a:p>
          <a:p>
            <a:endParaRPr lang="pt-BR" dirty="0"/>
          </a:p>
          <a:p>
            <a:r>
              <a:rPr lang="pt-BR" dirty="0"/>
              <a:t>Fonte de imagem:</a:t>
            </a:r>
          </a:p>
          <a:p>
            <a:r>
              <a:rPr lang="pt-BR" dirty="0"/>
              <a:t>ThinkstockPhotos-145850624.jpg</a:t>
            </a:r>
          </a:p>
        </p:txBody>
      </p:sp>
      <p:sp>
        <p:nvSpPr>
          <p:cNvPr id="4" name="Slide Number Placeholder 3"/>
          <p:cNvSpPr>
            <a:spLocks noGrp="1"/>
          </p:cNvSpPr>
          <p:nvPr>
            <p:ph type="sldNum" sz="quarter" idx="10"/>
          </p:nvPr>
        </p:nvSpPr>
        <p:spPr/>
        <p:txBody>
          <a:bodyPr/>
          <a:lstStyle/>
          <a:p>
            <a:fld id="{B7474A30-332D-5E48-94FE-AE59EA593AC9}" type="slidenum">
              <a:rPr lang="en-US" smtClean="0"/>
              <a:t>213</a:t>
            </a:fld>
            <a:endParaRPr lang="en-US"/>
          </a:p>
        </p:txBody>
      </p:sp>
    </p:spTree>
    <p:extLst>
      <p:ext uri="{BB962C8B-B14F-4D97-AF65-F5344CB8AC3E}">
        <p14:creationId xmlns:p14="http://schemas.microsoft.com/office/powerpoint/2010/main" val="14447797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rPr lang="pt-BR" baseline="0" dirty="0"/>
              <a:t>O número de autônomos representam 83% dos registros, 45% da frota, com idade média de 20 anos.</a:t>
            </a:r>
          </a:p>
          <a:p>
            <a:pPr marL="171450" indent="-171450">
              <a:buFont typeface="Arial"/>
              <a:buChar char="•"/>
            </a:pPr>
            <a:r>
              <a:rPr lang="pt-BR" baseline="0" dirty="0"/>
              <a:t>As empresa de transporte representam cerca de 17% dos registros, com 54% da frota com idade média de 9,6 anos. </a:t>
            </a:r>
          </a:p>
          <a:p>
            <a:pPr marL="171450" indent="-171450">
              <a:buFont typeface="Arial"/>
              <a:buChar char="•"/>
            </a:pPr>
            <a:endParaRPr lang="pt-BR" dirty="0"/>
          </a:p>
        </p:txBody>
      </p:sp>
      <p:sp>
        <p:nvSpPr>
          <p:cNvPr id="4" name="Slide Number Placeholder 3"/>
          <p:cNvSpPr>
            <a:spLocks noGrp="1"/>
          </p:cNvSpPr>
          <p:nvPr>
            <p:ph type="sldNum" sz="quarter" idx="10"/>
          </p:nvPr>
        </p:nvSpPr>
        <p:spPr/>
        <p:txBody>
          <a:bodyPr/>
          <a:lstStyle/>
          <a:p>
            <a:fld id="{B7474A30-332D-5E48-94FE-AE59EA593AC9}" type="slidenum">
              <a:rPr lang="en-US" smtClean="0"/>
              <a:t>214</a:t>
            </a:fld>
            <a:endParaRPr lang="en-US"/>
          </a:p>
        </p:txBody>
      </p:sp>
    </p:spTree>
    <p:extLst>
      <p:ext uri="{BB962C8B-B14F-4D97-AF65-F5344CB8AC3E}">
        <p14:creationId xmlns:p14="http://schemas.microsoft.com/office/powerpoint/2010/main" val="170912298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rPr lang="pt-BR" dirty="0"/>
              <a:t>Para saber mais sobre Incoterms (termos internacionais de codificação)</a:t>
            </a:r>
            <a:r>
              <a:rPr lang="pt-BR" baseline="0" dirty="0"/>
              <a:t> :</a:t>
            </a:r>
          </a:p>
          <a:p>
            <a:r>
              <a:rPr lang="pt-BR" baseline="0" dirty="0"/>
              <a:t>    </a:t>
            </a:r>
            <a:r>
              <a:rPr lang="pt-BR" baseline="0" dirty="0" err="1"/>
              <a:t>Keedi</a:t>
            </a:r>
            <a:r>
              <a:rPr lang="pt-BR" baseline="0" dirty="0"/>
              <a:t>, Samir. Transportes, Unitização e Seguros Internacionais de carga. São Paulo: Aduaneiras, 2011.</a:t>
            </a:r>
          </a:p>
          <a:p>
            <a:r>
              <a:rPr lang="pt-BR" baseline="0" dirty="0"/>
              <a:t>    ou ver no Site do Ministério de Desenvolvimento e Comércio – MDIC, disponível em</a:t>
            </a:r>
          </a:p>
          <a:p>
            <a:r>
              <a:rPr lang="pt-BR" baseline="0" dirty="0"/>
              <a:t>    </a:t>
            </a:r>
            <a:r>
              <a:rPr lang="pt-BR" baseline="0" dirty="0" err="1"/>
              <a:t>http</a:t>
            </a:r>
            <a:r>
              <a:rPr lang="pt-BR" baseline="0" dirty="0"/>
              <a:t>://</a:t>
            </a:r>
            <a:r>
              <a:rPr lang="pt-BR" baseline="0" dirty="0" err="1"/>
              <a:t>www.mdic.gov.br</a:t>
            </a:r>
            <a:r>
              <a:rPr lang="pt-BR" baseline="0" dirty="0"/>
              <a:t>/</a:t>
            </a:r>
            <a:r>
              <a:rPr lang="pt-BR" baseline="0" dirty="0" err="1"/>
              <a:t>sistemas_web</a:t>
            </a:r>
            <a:r>
              <a:rPr lang="pt-BR" baseline="0" dirty="0"/>
              <a:t>/</a:t>
            </a:r>
            <a:r>
              <a:rPr lang="pt-BR" baseline="0" dirty="0" err="1"/>
              <a:t>aprendex</a:t>
            </a:r>
            <a:r>
              <a:rPr lang="pt-BR" baseline="0" dirty="0"/>
              <a:t>/default/index/</a:t>
            </a:r>
            <a:r>
              <a:rPr lang="pt-BR" baseline="0" dirty="0" err="1"/>
              <a:t>conteudo</a:t>
            </a:r>
            <a:r>
              <a:rPr lang="pt-BR" baseline="0" dirty="0"/>
              <a:t>/id/273 </a:t>
            </a:r>
          </a:p>
          <a:p>
            <a:endParaRPr lang="pt-BR" baseline="0" dirty="0"/>
          </a:p>
          <a:p>
            <a:pPr marL="171450" indent="-171450">
              <a:buFont typeface="Arial"/>
              <a:buChar char="•"/>
            </a:pPr>
            <a:r>
              <a:rPr lang="pt-BR" dirty="0"/>
              <a:t>Na internet há vários exemplos</a:t>
            </a:r>
            <a:r>
              <a:rPr lang="pt-BR" baseline="0" dirty="0"/>
              <a:t> de visualizações do Conhecimento de embarque, busque imagens: Conhecimento de Transporte.</a:t>
            </a:r>
            <a:endParaRPr lang="pt-BR" dirty="0"/>
          </a:p>
        </p:txBody>
      </p:sp>
      <p:sp>
        <p:nvSpPr>
          <p:cNvPr id="4" name="Slide Number Placeholder 3"/>
          <p:cNvSpPr>
            <a:spLocks noGrp="1"/>
          </p:cNvSpPr>
          <p:nvPr>
            <p:ph type="sldNum" sz="quarter" idx="10"/>
          </p:nvPr>
        </p:nvSpPr>
        <p:spPr/>
        <p:txBody>
          <a:bodyPr/>
          <a:lstStyle/>
          <a:p>
            <a:fld id="{B7474A30-332D-5E48-94FE-AE59EA593AC9}" type="slidenum">
              <a:rPr lang="en-US" smtClean="0"/>
              <a:t>215</a:t>
            </a:fld>
            <a:endParaRPr lang="en-US"/>
          </a:p>
        </p:txBody>
      </p:sp>
    </p:spTree>
    <p:extLst>
      <p:ext uri="{BB962C8B-B14F-4D97-AF65-F5344CB8AC3E}">
        <p14:creationId xmlns:p14="http://schemas.microsoft.com/office/powerpoint/2010/main" val="207888203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rPr lang="pt-BR" dirty="0"/>
              <a:t>Para mais informações ver Rodrigues(2014, p.150-151)</a:t>
            </a:r>
          </a:p>
          <a:p>
            <a:pPr marL="171450" indent="-171450">
              <a:buFont typeface="Arial"/>
              <a:buChar char="•"/>
            </a:pPr>
            <a:r>
              <a:rPr lang="pt-BR" b="1" dirty="0"/>
              <a:t>Vídeo: </a:t>
            </a:r>
            <a:r>
              <a:rPr lang="pt-BR" sz="1200" b="1" kern="1200" dirty="0">
                <a:solidFill>
                  <a:schemeClr val="tx1"/>
                </a:solidFill>
                <a:latin typeface="+mn-lt"/>
                <a:ea typeface="+mn-ea"/>
                <a:cs typeface="+mn-cs"/>
              </a:rPr>
              <a:t>Chip promete reduzir burocracia e agilizar transporte de cargas no Brasil</a:t>
            </a:r>
          </a:p>
          <a:p>
            <a:pPr marL="0" indent="0">
              <a:buFont typeface="Arial"/>
              <a:buNone/>
            </a:pPr>
            <a:r>
              <a:rPr lang="pt-BR" sz="1200" kern="1200" baseline="0" dirty="0">
                <a:solidFill>
                  <a:schemeClr val="tx1"/>
                </a:solidFill>
                <a:latin typeface="+mn-lt"/>
                <a:ea typeface="+mn-ea"/>
                <a:cs typeface="+mn-cs"/>
              </a:rPr>
              <a:t>    </a:t>
            </a:r>
            <a:r>
              <a:rPr lang="pt-BR" dirty="0"/>
              <a:t>Link: </a:t>
            </a:r>
            <a:r>
              <a:rPr lang="pt-BR" dirty="0" err="1"/>
              <a:t>https</a:t>
            </a:r>
            <a:r>
              <a:rPr lang="pt-BR" dirty="0"/>
              <a:t>://</a:t>
            </a:r>
            <a:r>
              <a:rPr lang="pt-BR" dirty="0" err="1"/>
              <a:t>www.youtube.com</a:t>
            </a:r>
            <a:r>
              <a:rPr lang="pt-BR" dirty="0"/>
              <a:t>/</a:t>
            </a:r>
            <a:r>
              <a:rPr lang="pt-BR" dirty="0" err="1"/>
              <a:t>watch?v</a:t>
            </a:r>
            <a:r>
              <a:rPr lang="pt-BR" dirty="0"/>
              <a:t>=F_XkXqcHN2Q ; tempo: 5:11min.</a:t>
            </a:r>
          </a:p>
          <a:p>
            <a:pPr marL="0" indent="0">
              <a:buFont typeface="Arial"/>
              <a:buNone/>
            </a:pPr>
            <a:r>
              <a:rPr lang="pt-BR" baseline="0" dirty="0"/>
              <a:t>    O vídeo discute a </a:t>
            </a:r>
            <a:r>
              <a:rPr lang="pt-BR" dirty="0"/>
              <a:t>Burocracia na verificação de documentos nos portos e as novas</a:t>
            </a:r>
            <a:r>
              <a:rPr lang="pt-BR" baseline="0" dirty="0"/>
              <a:t> tecnologias agilizar esse processo.</a:t>
            </a:r>
          </a:p>
          <a:p>
            <a:pPr marL="0" indent="0">
              <a:buFont typeface="Arial"/>
              <a:buNone/>
            </a:pPr>
            <a:endParaRPr lang="pt-BR" baseline="0" dirty="0"/>
          </a:p>
          <a:p>
            <a:pPr marL="0" indent="0">
              <a:buFont typeface="Arial"/>
              <a:buNone/>
            </a:pPr>
            <a:endParaRPr lang="pt-BR" dirty="0"/>
          </a:p>
          <a:p>
            <a:pPr marL="0" indent="0">
              <a:buFont typeface="Arial"/>
              <a:buNone/>
            </a:pPr>
            <a:r>
              <a:rPr lang="pt-BR" dirty="0"/>
              <a:t>Fonte de imagem:</a:t>
            </a:r>
          </a:p>
          <a:p>
            <a:pPr marL="0" indent="0">
              <a:buFont typeface="Arial"/>
              <a:buNone/>
            </a:pPr>
            <a:r>
              <a:rPr lang="pt-BR" dirty="0"/>
              <a:t>ThinkstockPhotos-464560108.jpg</a:t>
            </a:r>
          </a:p>
        </p:txBody>
      </p:sp>
      <p:sp>
        <p:nvSpPr>
          <p:cNvPr id="4" name="Slide Number Placeholder 3"/>
          <p:cNvSpPr>
            <a:spLocks noGrp="1"/>
          </p:cNvSpPr>
          <p:nvPr>
            <p:ph type="sldNum" sz="quarter" idx="10"/>
          </p:nvPr>
        </p:nvSpPr>
        <p:spPr/>
        <p:txBody>
          <a:bodyPr/>
          <a:lstStyle/>
          <a:p>
            <a:fld id="{B7474A30-332D-5E48-94FE-AE59EA593AC9}" type="slidenum">
              <a:rPr lang="en-US" smtClean="0"/>
              <a:t>216</a:t>
            </a:fld>
            <a:endParaRPr lang="en-US"/>
          </a:p>
        </p:txBody>
      </p:sp>
    </p:spTree>
    <p:extLst>
      <p:ext uri="{BB962C8B-B14F-4D97-AF65-F5344CB8AC3E}">
        <p14:creationId xmlns:p14="http://schemas.microsoft.com/office/powerpoint/2010/main" val="184822849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Na internet buscar</a:t>
            </a:r>
            <a:r>
              <a:rPr lang="pt-BR" baseline="0" dirty="0"/>
              <a:t> imagens por </a:t>
            </a:r>
            <a:r>
              <a:rPr lang="pt-BR" baseline="0" dirty="0" err="1"/>
              <a:t>packing</a:t>
            </a:r>
            <a:r>
              <a:rPr lang="pt-BR" baseline="0" dirty="0"/>
              <a:t> </a:t>
            </a:r>
            <a:r>
              <a:rPr lang="pt-BR" baseline="0" dirty="0" err="1"/>
              <a:t>list</a:t>
            </a:r>
            <a:r>
              <a:rPr lang="pt-BR" baseline="0" dirty="0"/>
              <a:t> ou romaneio para ver outros exemplos.</a:t>
            </a:r>
            <a:endParaRPr lang="pt-BR" dirty="0"/>
          </a:p>
        </p:txBody>
      </p:sp>
      <p:sp>
        <p:nvSpPr>
          <p:cNvPr id="4" name="Slide Number Placeholder 3"/>
          <p:cNvSpPr>
            <a:spLocks noGrp="1"/>
          </p:cNvSpPr>
          <p:nvPr>
            <p:ph type="sldNum" sz="quarter" idx="10"/>
          </p:nvPr>
        </p:nvSpPr>
        <p:spPr/>
        <p:txBody>
          <a:bodyPr/>
          <a:lstStyle/>
          <a:p>
            <a:fld id="{B7474A30-332D-5E48-94FE-AE59EA593AC9}" type="slidenum">
              <a:rPr lang="en-US" smtClean="0"/>
              <a:t>217</a:t>
            </a:fld>
            <a:endParaRPr lang="en-US"/>
          </a:p>
        </p:txBody>
      </p:sp>
    </p:spTree>
    <p:extLst>
      <p:ext uri="{BB962C8B-B14F-4D97-AF65-F5344CB8AC3E}">
        <p14:creationId xmlns:p14="http://schemas.microsoft.com/office/powerpoint/2010/main" val="353155367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rPr lang="pt-BR" dirty="0"/>
              <a:t>Ordem de coleta:</a:t>
            </a:r>
            <a:r>
              <a:rPr lang="pt-BR" baseline="0" dirty="0"/>
              <a:t> a empresa solicita o transporte, porém a carga será consolidada com outras cargas na sede ou filial da transportadora, a carga é levada para lá, através deste documento, e ao chegar lá, é emitido pelo Transportador o Conhecimento de Transporte. </a:t>
            </a:r>
          </a:p>
          <a:p>
            <a:pPr marL="171450" indent="-171450">
              <a:buFont typeface="Arial"/>
              <a:buChar char="•"/>
            </a:pPr>
            <a:r>
              <a:rPr lang="pt-BR" baseline="0" dirty="0"/>
              <a:t>Manifesto de carga aplica-se no caso de cargas fracionadas, no caminhão há várias cargas, isto é, diversos Conhecimentos de Embarque, o Manifesto de Carga sumariza quais os Conhecimentos de Carga que compõe a carga daquele veículo para facilitar a verificação por parte das autoridades fiscais.</a:t>
            </a:r>
            <a:endParaRPr lang="pt-BR" dirty="0"/>
          </a:p>
          <a:p>
            <a:pPr marL="171450" indent="-171450">
              <a:buFont typeface="Arial"/>
              <a:buChar char="•"/>
            </a:pPr>
            <a:endParaRPr lang="pt-BR" dirty="0"/>
          </a:p>
          <a:p>
            <a:pPr marL="171450" indent="-171450">
              <a:buFont typeface="Arial"/>
              <a:buChar char="•"/>
            </a:pPr>
            <a:r>
              <a:rPr lang="pt-BR" dirty="0"/>
              <a:t>Para saber mais sobre os documentos no Transporte Rodoviário de cargas ver em</a:t>
            </a:r>
            <a:r>
              <a:rPr lang="pt-BR" baseline="0" dirty="0"/>
              <a:t> Documentos Fiscais disponível </a:t>
            </a:r>
            <a:r>
              <a:rPr lang="pt-BR" baseline="0" dirty="0" err="1"/>
              <a:t>http</a:t>
            </a:r>
            <a:r>
              <a:rPr lang="pt-BR" baseline="0" dirty="0"/>
              <a:t>://</a:t>
            </a:r>
            <a:r>
              <a:rPr lang="pt-BR" baseline="0" dirty="0" err="1"/>
              <a:t>www.guiadotrc.com.br</a:t>
            </a:r>
            <a:r>
              <a:rPr lang="pt-BR" baseline="0" dirty="0"/>
              <a:t>/</a:t>
            </a:r>
            <a:r>
              <a:rPr lang="pt-BR" baseline="0" dirty="0" err="1"/>
              <a:t>market</a:t>
            </a:r>
            <a:r>
              <a:rPr lang="pt-BR" baseline="0" dirty="0"/>
              <a:t>/</a:t>
            </a:r>
            <a:r>
              <a:rPr lang="pt-BR" baseline="0" dirty="0" err="1"/>
              <a:t>curso_doc_fiscais.pdf</a:t>
            </a:r>
            <a:endParaRPr lang="pt-BR" baseline="0" dirty="0"/>
          </a:p>
          <a:p>
            <a:endParaRPr lang="pt-BR" sz="1200" b="1"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B7474A30-332D-5E48-94FE-AE59EA593AC9}" type="slidenum">
              <a:rPr lang="en-US" smtClean="0"/>
              <a:t>218</a:t>
            </a:fld>
            <a:endParaRPr lang="en-US"/>
          </a:p>
        </p:txBody>
      </p:sp>
    </p:spTree>
    <p:extLst>
      <p:ext uri="{BB962C8B-B14F-4D97-AF65-F5344CB8AC3E}">
        <p14:creationId xmlns:p14="http://schemas.microsoft.com/office/powerpoint/2010/main" val="275550567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rPr lang="pt-BR" dirty="0"/>
              <a:t>DANFE é a sigla de Documento Auxiliar da Nota Fiscal Eletrônica (NF-e). O DANFE é uma representação gráfica da NF-e, já que esta só existe digitalmente – ou seja, é um documento impresso que contém os dados principais da NF-e. Esse documento é utilizado principalmente para a circulação das mercadorias (o caminhão não pode rodar sem a DANFE, por exemplo, sob pena de receber uma multa, em caso de fiscalização).</a:t>
            </a:r>
          </a:p>
          <a:p>
            <a:pPr marL="171450" indent="-171450">
              <a:buFont typeface="Arial"/>
              <a:buChar char="•"/>
            </a:pPr>
            <a:r>
              <a:rPr lang="pt-BR" dirty="0"/>
              <a:t>Para mais informações sobre o Conhecimento de Transporte Eletrônico (CT-e) ver em </a:t>
            </a:r>
            <a:r>
              <a:rPr lang="pt-BR" dirty="0" err="1"/>
              <a:t>http</a:t>
            </a:r>
            <a:r>
              <a:rPr lang="pt-BR" dirty="0"/>
              <a:t>://</a:t>
            </a:r>
            <a:r>
              <a:rPr lang="pt-BR" dirty="0" err="1"/>
              <a:t>portalcte.fazenda.mg.gov.br</a:t>
            </a:r>
            <a:endParaRPr lang="pt-BR" dirty="0"/>
          </a:p>
          <a:p>
            <a:pPr marL="171450" indent="-171450">
              <a:buFont typeface="Arial"/>
              <a:buChar char="•"/>
            </a:pPr>
            <a:r>
              <a:rPr lang="pt-BR" dirty="0"/>
              <a:t>Vídeos exemplos de geração do CT-e a partir de um aplicativo pode</a:t>
            </a:r>
            <a:r>
              <a:rPr lang="pt-BR" baseline="0" dirty="0"/>
              <a:t> ser vista em:</a:t>
            </a:r>
          </a:p>
          <a:p>
            <a:pPr marL="0" indent="0">
              <a:buFont typeface="Arial"/>
              <a:buNone/>
            </a:pPr>
            <a:r>
              <a:rPr lang="pt-BR" baseline="0" dirty="0"/>
              <a:t>    </a:t>
            </a:r>
            <a:r>
              <a:rPr lang="pt-BR" baseline="0" dirty="0" err="1"/>
              <a:t>https</a:t>
            </a:r>
            <a:r>
              <a:rPr lang="pt-BR" baseline="0" dirty="0"/>
              <a:t>://</a:t>
            </a:r>
            <a:r>
              <a:rPr lang="pt-BR" baseline="0" dirty="0" err="1"/>
              <a:t>www.youtube.com</a:t>
            </a:r>
            <a:r>
              <a:rPr lang="pt-BR" baseline="0" dirty="0"/>
              <a:t>/</a:t>
            </a:r>
            <a:r>
              <a:rPr lang="pt-BR" baseline="0" dirty="0" err="1"/>
              <a:t>watch?v</a:t>
            </a:r>
            <a:r>
              <a:rPr lang="pt-BR" baseline="0" dirty="0"/>
              <a:t>=xSMPbyE0Vms ou </a:t>
            </a:r>
            <a:r>
              <a:rPr lang="pt-BR" baseline="0" dirty="0" err="1"/>
              <a:t>https</a:t>
            </a:r>
            <a:r>
              <a:rPr lang="pt-BR" baseline="0" dirty="0"/>
              <a:t>://</a:t>
            </a:r>
            <a:r>
              <a:rPr lang="pt-BR" baseline="0" dirty="0" err="1"/>
              <a:t>www.youtube.com</a:t>
            </a:r>
            <a:r>
              <a:rPr lang="pt-BR" baseline="0" dirty="0"/>
              <a:t>/</a:t>
            </a:r>
            <a:r>
              <a:rPr lang="pt-BR" baseline="0" dirty="0" err="1"/>
              <a:t>watch?v</a:t>
            </a:r>
            <a:r>
              <a:rPr lang="pt-BR" baseline="0" dirty="0"/>
              <a:t>=09vmjDe5s4I ou </a:t>
            </a:r>
            <a:r>
              <a:rPr lang="pt-BR" baseline="0" dirty="0" err="1"/>
              <a:t>https</a:t>
            </a:r>
            <a:r>
              <a:rPr lang="pt-BR" baseline="0" dirty="0"/>
              <a:t>://</a:t>
            </a:r>
            <a:r>
              <a:rPr lang="pt-BR" baseline="0" dirty="0" err="1"/>
              <a:t>www.youtube.com</a:t>
            </a:r>
            <a:r>
              <a:rPr lang="pt-BR" baseline="0" dirty="0"/>
              <a:t>/</a:t>
            </a:r>
            <a:r>
              <a:rPr lang="pt-BR" baseline="0" dirty="0" err="1"/>
              <a:t>watch?v</a:t>
            </a:r>
            <a:r>
              <a:rPr lang="pt-BR" baseline="0" dirty="0"/>
              <a:t>=i12ycgNKmYA</a:t>
            </a:r>
            <a:endParaRPr lang="pt-BR" dirty="0"/>
          </a:p>
          <a:p>
            <a:endParaRPr lang="pt-BR" dirty="0"/>
          </a:p>
          <a:p>
            <a:endParaRPr lang="pt-BR" dirty="0"/>
          </a:p>
        </p:txBody>
      </p:sp>
      <p:sp>
        <p:nvSpPr>
          <p:cNvPr id="4" name="Slide Number Placeholder 3"/>
          <p:cNvSpPr>
            <a:spLocks noGrp="1"/>
          </p:cNvSpPr>
          <p:nvPr>
            <p:ph type="sldNum" sz="quarter" idx="10"/>
          </p:nvPr>
        </p:nvSpPr>
        <p:spPr/>
        <p:txBody>
          <a:bodyPr/>
          <a:lstStyle/>
          <a:p>
            <a:fld id="{B7474A30-332D-5E48-94FE-AE59EA593AC9}" type="slidenum">
              <a:rPr lang="en-US" smtClean="0"/>
              <a:t>219</a:t>
            </a:fld>
            <a:endParaRPr lang="en-US"/>
          </a:p>
        </p:txBody>
      </p:sp>
    </p:spTree>
    <p:extLst>
      <p:ext uri="{BB962C8B-B14F-4D97-AF65-F5344CB8AC3E}">
        <p14:creationId xmlns:p14="http://schemas.microsoft.com/office/powerpoint/2010/main" val="230230019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rPr lang="pt-BR" dirty="0"/>
              <a:t>Para mais informações ver ANTT, disponível em</a:t>
            </a:r>
          </a:p>
          <a:p>
            <a:pPr marL="0" indent="0">
              <a:buFont typeface="Arial"/>
              <a:buNone/>
            </a:pPr>
            <a:r>
              <a:rPr lang="pt-BR" dirty="0"/>
              <a:t>    </a:t>
            </a:r>
            <a:r>
              <a:rPr lang="pt-BR" dirty="0" err="1"/>
              <a:t>http</a:t>
            </a:r>
            <a:r>
              <a:rPr lang="pt-BR" dirty="0"/>
              <a:t>://</a:t>
            </a:r>
            <a:r>
              <a:rPr lang="pt-BR" dirty="0" err="1"/>
              <a:t>www.antt.gov.br</a:t>
            </a:r>
            <a:r>
              <a:rPr lang="pt-BR" dirty="0"/>
              <a:t>/</a:t>
            </a:r>
            <a:r>
              <a:rPr lang="pt-BR" dirty="0" err="1"/>
              <a:t>index.php</a:t>
            </a:r>
            <a:r>
              <a:rPr lang="pt-BR" dirty="0"/>
              <a:t>/</a:t>
            </a:r>
            <a:r>
              <a:rPr lang="pt-BR" dirty="0" err="1"/>
              <a:t>content</a:t>
            </a:r>
            <a:r>
              <a:rPr lang="pt-BR" dirty="0"/>
              <a:t>/</a:t>
            </a:r>
            <a:r>
              <a:rPr lang="pt-BR" dirty="0" err="1"/>
              <a:t>view</a:t>
            </a:r>
            <a:r>
              <a:rPr lang="pt-BR" dirty="0"/>
              <a:t>/4937/</a:t>
            </a:r>
            <a:r>
              <a:rPr lang="pt-BR" dirty="0" err="1"/>
              <a:t>Vale_Pedagio_obrigatorio.html</a:t>
            </a:r>
            <a:endParaRPr lang="pt-BR" dirty="0"/>
          </a:p>
          <a:p>
            <a:endParaRPr lang="pt-BR" dirty="0"/>
          </a:p>
        </p:txBody>
      </p:sp>
      <p:sp>
        <p:nvSpPr>
          <p:cNvPr id="4" name="Slide Number Placeholder 3"/>
          <p:cNvSpPr>
            <a:spLocks noGrp="1"/>
          </p:cNvSpPr>
          <p:nvPr>
            <p:ph type="sldNum" sz="quarter" idx="10"/>
          </p:nvPr>
        </p:nvSpPr>
        <p:spPr/>
        <p:txBody>
          <a:bodyPr/>
          <a:lstStyle/>
          <a:p>
            <a:fld id="{B7474A30-332D-5E48-94FE-AE59EA593AC9}" type="slidenum">
              <a:rPr lang="en-US" smtClean="0"/>
              <a:t>220</a:t>
            </a:fld>
            <a:endParaRPr lang="en-US"/>
          </a:p>
        </p:txBody>
      </p:sp>
    </p:spTree>
    <p:extLst>
      <p:ext uri="{BB962C8B-B14F-4D97-AF65-F5344CB8AC3E}">
        <p14:creationId xmlns:p14="http://schemas.microsoft.com/office/powerpoint/2010/main" val="347777435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rPr lang="pt-BR" b="1" dirty="0"/>
              <a:t>Vídeo: Confira como é feito o transporte de produtos perigosos </a:t>
            </a:r>
          </a:p>
          <a:p>
            <a:pPr marL="0" indent="0">
              <a:buFont typeface="Arial"/>
              <a:buNone/>
            </a:pPr>
            <a:r>
              <a:rPr lang="pt-BR" dirty="0"/>
              <a:t>    </a:t>
            </a:r>
            <a:r>
              <a:rPr lang="pt-BR" dirty="0" err="1"/>
              <a:t>Link:https</a:t>
            </a:r>
            <a:r>
              <a:rPr lang="pt-BR" dirty="0"/>
              <a:t>://</a:t>
            </a:r>
            <a:r>
              <a:rPr lang="pt-BR" dirty="0" err="1"/>
              <a:t>www.youtube.com</a:t>
            </a:r>
            <a:r>
              <a:rPr lang="pt-BR" dirty="0"/>
              <a:t>/</a:t>
            </a:r>
            <a:r>
              <a:rPr lang="pt-BR" dirty="0" err="1"/>
              <a:t>watch?v</a:t>
            </a:r>
            <a:r>
              <a:rPr lang="pt-BR" dirty="0"/>
              <a:t>=Q3FX-YKxXII ,</a:t>
            </a:r>
            <a:r>
              <a:rPr lang="pt-BR" baseline="0" dirty="0"/>
              <a:t> Tempo: 6:37min</a:t>
            </a:r>
            <a:r>
              <a:rPr lang="pt-BR" dirty="0"/>
              <a:t> ou </a:t>
            </a:r>
            <a:r>
              <a:rPr lang="pt-BR" dirty="0" err="1"/>
              <a:t>https</a:t>
            </a:r>
            <a:r>
              <a:rPr lang="pt-BR" dirty="0"/>
              <a:t>://</a:t>
            </a:r>
            <a:r>
              <a:rPr lang="pt-BR" dirty="0" err="1"/>
              <a:t>www.youtube.com</a:t>
            </a:r>
            <a:r>
              <a:rPr lang="pt-BR" dirty="0"/>
              <a:t>/</a:t>
            </a:r>
            <a:r>
              <a:rPr lang="pt-BR" dirty="0" err="1"/>
              <a:t>watch?v</a:t>
            </a:r>
            <a:r>
              <a:rPr lang="pt-BR" dirty="0"/>
              <a:t>=rQB064k0rmM, Tempo: 2:08min</a:t>
            </a:r>
          </a:p>
          <a:p>
            <a:pPr marL="0" indent="0">
              <a:buFont typeface="Arial"/>
              <a:buNone/>
            </a:pPr>
            <a:r>
              <a:rPr lang="pt-BR" dirty="0"/>
              <a:t>    No vídeo pode-se observar aspectos de sinalização obrigatórios e os demais requerimentos da legislação, incluindo uma discussão sobre Licença</a:t>
            </a:r>
            <a:r>
              <a:rPr lang="pt-BR" baseline="0" dirty="0"/>
              <a:t> Ambiental.</a:t>
            </a:r>
            <a:endParaRPr lang="pt-BR" dirty="0"/>
          </a:p>
          <a:p>
            <a:pPr marL="0" indent="0">
              <a:buFont typeface="Arial"/>
              <a:buNone/>
            </a:pPr>
            <a:r>
              <a:rPr lang="pt-BR" dirty="0"/>
              <a:t>    </a:t>
            </a:r>
          </a:p>
          <a:p>
            <a:pPr marL="0" indent="0">
              <a:buFont typeface="Arial"/>
              <a:buNone/>
            </a:pPr>
            <a:r>
              <a:rPr lang="pt-BR" dirty="0"/>
              <a:t>Fonte de imagens:</a:t>
            </a:r>
          </a:p>
          <a:p>
            <a:pPr marL="0" indent="0">
              <a:buFont typeface="Arial"/>
              <a:buNone/>
            </a:pPr>
            <a:r>
              <a:rPr lang="pt-BR" dirty="0"/>
              <a:t>ThinkstockPhotos-170446161.jpg</a:t>
            </a:r>
          </a:p>
          <a:p>
            <a:pPr marL="0" indent="0">
              <a:buFont typeface="Arial"/>
              <a:buNone/>
            </a:pPr>
            <a:r>
              <a:rPr lang="pt-BR" dirty="0"/>
              <a:t>ThinkstockPhotos-118275548.jpg</a:t>
            </a:r>
          </a:p>
        </p:txBody>
      </p:sp>
      <p:sp>
        <p:nvSpPr>
          <p:cNvPr id="4" name="Slide Number Placeholder 3"/>
          <p:cNvSpPr>
            <a:spLocks noGrp="1"/>
          </p:cNvSpPr>
          <p:nvPr>
            <p:ph type="sldNum" sz="quarter" idx="10"/>
          </p:nvPr>
        </p:nvSpPr>
        <p:spPr/>
        <p:txBody>
          <a:bodyPr/>
          <a:lstStyle/>
          <a:p>
            <a:fld id="{B7474A30-332D-5E48-94FE-AE59EA593AC9}" type="slidenum">
              <a:rPr lang="en-US" smtClean="0"/>
              <a:t>221</a:t>
            </a:fld>
            <a:endParaRPr lang="en-US"/>
          </a:p>
        </p:txBody>
      </p:sp>
    </p:spTree>
    <p:extLst>
      <p:ext uri="{BB962C8B-B14F-4D97-AF65-F5344CB8AC3E}">
        <p14:creationId xmlns:p14="http://schemas.microsoft.com/office/powerpoint/2010/main" val="313347848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rPr lang="pt-BR" dirty="0"/>
              <a:t>Para saber mais sobre Licença Ambiental de transporte de produtos perigosos ver em:</a:t>
            </a:r>
          </a:p>
          <a:p>
            <a:pPr marL="0" indent="0">
              <a:buFont typeface="Arial"/>
              <a:buNone/>
            </a:pPr>
            <a:r>
              <a:rPr lang="pt-BR" baseline="0" dirty="0"/>
              <a:t>    </a:t>
            </a:r>
            <a:r>
              <a:rPr lang="pt-BR" baseline="0" dirty="0" err="1"/>
              <a:t>http</a:t>
            </a:r>
            <a:r>
              <a:rPr lang="pt-BR" baseline="0" dirty="0"/>
              <a:t>://</a:t>
            </a:r>
            <a:r>
              <a:rPr lang="pt-BR" baseline="0" dirty="0" err="1"/>
              <a:t>www.ibama.gov.br</a:t>
            </a:r>
            <a:r>
              <a:rPr lang="pt-BR" baseline="0" dirty="0"/>
              <a:t>/perguntas-frequentes/</a:t>
            </a:r>
            <a:r>
              <a:rPr lang="pt-BR" baseline="0" dirty="0" err="1"/>
              <a:t>autorizacao</a:t>
            </a:r>
            <a:r>
              <a:rPr lang="pt-BR" baseline="0" dirty="0"/>
              <a:t>-ambiental-para-transporte-de-produtos-perigosos</a:t>
            </a:r>
          </a:p>
          <a:p>
            <a:pPr marL="171450" indent="-171450">
              <a:buFont typeface="Arial"/>
              <a:buChar char="•"/>
            </a:pPr>
            <a:r>
              <a:rPr lang="pt-BR" baseline="0" dirty="0"/>
              <a:t>Para saber sobre sinalização do equipamento e produtos perigosos no transporte de cargas ver sumário sobre a NBR7500 em</a:t>
            </a:r>
          </a:p>
          <a:p>
            <a:pPr marL="171450" indent="-171450">
              <a:buFont typeface="Arial"/>
              <a:buChar char="•"/>
            </a:pPr>
            <a:r>
              <a:rPr lang="pt-BR" dirty="0" err="1"/>
              <a:t>http</a:t>
            </a:r>
            <a:r>
              <a:rPr lang="pt-BR" dirty="0"/>
              <a:t>://</a:t>
            </a:r>
            <a:r>
              <a:rPr lang="pt-BR" dirty="0" err="1"/>
              <a:t>www.inmetro.gov.br</a:t>
            </a:r>
            <a:r>
              <a:rPr lang="pt-BR" dirty="0"/>
              <a:t>/</a:t>
            </a:r>
            <a:r>
              <a:rPr lang="pt-BR" dirty="0" err="1"/>
              <a:t>painelsetorial</a:t>
            </a:r>
            <a:r>
              <a:rPr lang="pt-BR" dirty="0"/>
              <a:t>/palestras/</a:t>
            </a:r>
            <a:r>
              <a:rPr lang="pt-BR" dirty="0" err="1"/>
              <a:t>GeraldoFontoura.pdf</a:t>
            </a:r>
            <a:r>
              <a:rPr lang="pt-BR" dirty="0"/>
              <a:t> </a:t>
            </a:r>
          </a:p>
          <a:p>
            <a:pPr marL="171450" indent="-171450">
              <a:buFont typeface="Arial"/>
              <a:buChar char="•"/>
            </a:pPr>
            <a:r>
              <a:rPr lang="pt-BR" dirty="0"/>
              <a:t>Norma NBR7500 disponível em </a:t>
            </a:r>
            <a:r>
              <a:rPr lang="pt-BR" dirty="0" err="1"/>
              <a:t>http</a:t>
            </a:r>
            <a:r>
              <a:rPr lang="pt-BR" dirty="0"/>
              <a:t>://</a:t>
            </a:r>
            <a:r>
              <a:rPr lang="pt-BR" dirty="0" err="1"/>
              <a:t>www.terraconsult.com.br</a:t>
            </a:r>
            <a:r>
              <a:rPr lang="pt-BR" dirty="0"/>
              <a:t>/NBR%207500.pdf ou no site da ABNT (Associação Brasileira de Normas Técnicas)</a:t>
            </a:r>
          </a:p>
          <a:p>
            <a:pPr marL="171450" indent="-171450">
              <a:buFont typeface="Arial"/>
              <a:buChar char="•"/>
            </a:pPr>
            <a:endParaRPr lang="pt-BR" dirty="0"/>
          </a:p>
          <a:p>
            <a:pPr marL="0" indent="0">
              <a:buFont typeface="Arial"/>
              <a:buNone/>
            </a:pPr>
            <a:r>
              <a:rPr lang="pt-BR" dirty="0"/>
              <a:t>Fonte de imagem:</a:t>
            </a:r>
          </a:p>
          <a:p>
            <a:pPr marL="0" marR="0" indent="0" algn="l" defTabSz="457200" rtl="0" eaLnBrk="1" fontAlgn="auto" latinLnBrk="0" hangingPunct="1">
              <a:lnSpc>
                <a:spcPct val="100000"/>
              </a:lnSpc>
              <a:spcBef>
                <a:spcPts val="0"/>
              </a:spcBef>
              <a:spcAft>
                <a:spcPts val="0"/>
              </a:spcAft>
              <a:buClrTx/>
              <a:buSzTx/>
              <a:buFont typeface="Arial"/>
              <a:buNone/>
              <a:tabLst/>
              <a:defRPr/>
            </a:pPr>
            <a:r>
              <a:rPr lang="pt-BR" dirty="0"/>
              <a:t>ThinkstockPhotos-170446161.jpg </a:t>
            </a:r>
          </a:p>
          <a:p>
            <a:pPr marL="0" indent="0">
              <a:buFont typeface="Arial"/>
              <a:buNone/>
            </a:pPr>
            <a:endParaRPr lang="pt-BR" dirty="0"/>
          </a:p>
        </p:txBody>
      </p:sp>
      <p:sp>
        <p:nvSpPr>
          <p:cNvPr id="4" name="Slide Number Placeholder 3"/>
          <p:cNvSpPr>
            <a:spLocks noGrp="1"/>
          </p:cNvSpPr>
          <p:nvPr>
            <p:ph type="sldNum" sz="quarter" idx="10"/>
          </p:nvPr>
        </p:nvSpPr>
        <p:spPr/>
        <p:txBody>
          <a:bodyPr/>
          <a:lstStyle/>
          <a:p>
            <a:fld id="{B7474A30-332D-5E48-94FE-AE59EA593AC9}" type="slidenum">
              <a:rPr lang="en-US" smtClean="0"/>
              <a:t>222</a:t>
            </a:fld>
            <a:endParaRPr lang="en-US"/>
          </a:p>
        </p:txBody>
      </p:sp>
    </p:spTree>
    <p:extLst>
      <p:ext uri="{BB962C8B-B14F-4D97-AF65-F5344CB8AC3E}">
        <p14:creationId xmlns:p14="http://schemas.microsoft.com/office/powerpoint/2010/main" val="234870885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Outras informações estão disponíveis no site:</a:t>
            </a:r>
            <a:r>
              <a:rPr lang="pt-BR" baseline="0" dirty="0"/>
              <a:t> </a:t>
            </a:r>
            <a:r>
              <a:rPr lang="pt-BR" baseline="0" dirty="0" err="1"/>
              <a:t>http</a:t>
            </a:r>
            <a:r>
              <a:rPr lang="pt-BR" baseline="0" dirty="0"/>
              <a:t>://</a:t>
            </a:r>
            <a:r>
              <a:rPr lang="pt-BR" baseline="0" dirty="0" err="1"/>
              <a:t>www.guiadotrc.com.br</a:t>
            </a:r>
            <a:r>
              <a:rPr lang="pt-BR" baseline="0" dirty="0"/>
              <a:t>/</a:t>
            </a:r>
            <a:r>
              <a:rPr lang="pt-BR" baseline="0" dirty="0" err="1"/>
              <a:t>guiaperig</a:t>
            </a:r>
            <a:r>
              <a:rPr lang="pt-BR" baseline="0" dirty="0"/>
              <a:t>/</a:t>
            </a:r>
            <a:r>
              <a:rPr lang="pt-BR" baseline="0" dirty="0" err="1"/>
              <a:t>guiageral.asp</a:t>
            </a:r>
            <a:endParaRPr lang="pt-BR" dirty="0"/>
          </a:p>
          <a:p>
            <a:endParaRPr lang="pt-BR" dirty="0"/>
          </a:p>
          <a:p>
            <a:r>
              <a:rPr lang="pt-BR" dirty="0"/>
              <a:t>Fonte de imagem:</a:t>
            </a:r>
          </a:p>
          <a:p>
            <a:pPr marL="0" marR="0" indent="0" algn="l" defTabSz="457200" rtl="0" eaLnBrk="1" fontAlgn="auto" latinLnBrk="0" hangingPunct="1">
              <a:lnSpc>
                <a:spcPct val="100000"/>
              </a:lnSpc>
              <a:spcBef>
                <a:spcPts val="0"/>
              </a:spcBef>
              <a:spcAft>
                <a:spcPts val="0"/>
              </a:spcAft>
              <a:buClrTx/>
              <a:buSzTx/>
              <a:buFontTx/>
              <a:buNone/>
              <a:tabLst/>
              <a:defRPr/>
            </a:pPr>
            <a:r>
              <a:rPr lang="pt-BR" dirty="0"/>
              <a:t>ThinkstockPhotos-170446161.jpg</a:t>
            </a:r>
          </a:p>
          <a:p>
            <a:pPr marL="0" marR="0" indent="0" algn="l" defTabSz="457200" rtl="0" eaLnBrk="1" fontAlgn="auto" latinLnBrk="0" hangingPunct="1">
              <a:lnSpc>
                <a:spcPct val="100000"/>
              </a:lnSpc>
              <a:spcBef>
                <a:spcPts val="0"/>
              </a:spcBef>
              <a:spcAft>
                <a:spcPts val="0"/>
              </a:spcAft>
              <a:buClrTx/>
              <a:buSzTx/>
              <a:buFontTx/>
              <a:buNone/>
              <a:tabLst/>
              <a:defRPr/>
            </a:pPr>
            <a:r>
              <a:rPr lang="pt-BR" dirty="0"/>
              <a:t>ThinkstockPhotos-475211555.jpg</a:t>
            </a:r>
          </a:p>
          <a:p>
            <a:pPr marL="0" marR="0" indent="0" algn="l" defTabSz="457200" rtl="0" eaLnBrk="1" fontAlgn="auto" latinLnBrk="0" hangingPunct="1">
              <a:lnSpc>
                <a:spcPct val="100000"/>
              </a:lnSpc>
              <a:spcBef>
                <a:spcPts val="0"/>
              </a:spcBef>
              <a:spcAft>
                <a:spcPts val="0"/>
              </a:spcAft>
              <a:buClrTx/>
              <a:buSzTx/>
              <a:buFontTx/>
              <a:buNone/>
              <a:tabLst/>
              <a:defRPr/>
            </a:pPr>
            <a:endParaRPr lang="pt-BR" dirty="0"/>
          </a:p>
          <a:p>
            <a:endParaRPr lang="pt-BR" dirty="0"/>
          </a:p>
        </p:txBody>
      </p:sp>
      <p:sp>
        <p:nvSpPr>
          <p:cNvPr id="4" name="Slide Number Placeholder 3"/>
          <p:cNvSpPr>
            <a:spLocks noGrp="1"/>
          </p:cNvSpPr>
          <p:nvPr>
            <p:ph type="sldNum" sz="quarter" idx="10"/>
          </p:nvPr>
        </p:nvSpPr>
        <p:spPr/>
        <p:txBody>
          <a:bodyPr/>
          <a:lstStyle/>
          <a:p>
            <a:fld id="{B7474A30-332D-5E48-94FE-AE59EA593AC9}" type="slidenum">
              <a:rPr lang="en-US" smtClean="0"/>
              <a:t>223</a:t>
            </a:fld>
            <a:endParaRPr lang="en-US"/>
          </a:p>
        </p:txBody>
      </p:sp>
    </p:spTree>
    <p:extLst>
      <p:ext uri="{BB962C8B-B14F-4D97-AF65-F5344CB8AC3E}">
        <p14:creationId xmlns:p14="http://schemas.microsoft.com/office/powerpoint/2010/main" val="196336826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Ver material do Ex-3.</a:t>
            </a:r>
          </a:p>
          <a:p>
            <a:endParaRPr lang="pt-BR" dirty="0"/>
          </a:p>
          <a:p>
            <a:r>
              <a:rPr lang="pt-BR" baseline="0" dirty="0"/>
              <a:t>Fonte da Imagem: </a:t>
            </a:r>
          </a:p>
          <a:p>
            <a:r>
              <a:rPr lang="pt-BR" baseline="0" dirty="0"/>
              <a:t>ThinkstockPhotos-475383667.jpg</a:t>
            </a:r>
            <a:endParaRPr lang="pt-BR" dirty="0"/>
          </a:p>
          <a:p>
            <a:endParaRPr lang="pt-BR" dirty="0"/>
          </a:p>
        </p:txBody>
      </p:sp>
      <p:sp>
        <p:nvSpPr>
          <p:cNvPr id="4" name="Slide Number Placeholder 3"/>
          <p:cNvSpPr>
            <a:spLocks noGrp="1"/>
          </p:cNvSpPr>
          <p:nvPr>
            <p:ph type="sldNum" sz="quarter" idx="10"/>
          </p:nvPr>
        </p:nvSpPr>
        <p:spPr/>
        <p:txBody>
          <a:bodyPr/>
          <a:lstStyle/>
          <a:p>
            <a:fld id="{B7474A30-332D-5E48-94FE-AE59EA593AC9}" type="slidenum">
              <a:rPr lang="en-US" smtClean="0"/>
              <a:t>224</a:t>
            </a:fld>
            <a:endParaRPr lang="en-US"/>
          </a:p>
        </p:txBody>
      </p:sp>
    </p:spTree>
    <p:extLst>
      <p:ext uri="{BB962C8B-B14F-4D97-AF65-F5344CB8AC3E}">
        <p14:creationId xmlns:p14="http://schemas.microsoft.com/office/powerpoint/2010/main" val="425153750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Espaço Reservado para Imagem de Slid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Espaço Reservado para Anotaçõ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pt-BR" dirty="0">
              <a:ea typeface="ＭＳ Ｐゴシック" panose="020B0600070205080204" pitchFamily="34" charset="-128"/>
            </a:endParaRPr>
          </a:p>
        </p:txBody>
      </p:sp>
      <p:sp>
        <p:nvSpPr>
          <p:cNvPr id="20484" name="Espaço Reservado para Número de Slid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5DF6301-C66E-43B7-B6F2-A352FA228977}" type="slidenum">
              <a:rPr lang="pt-BR" altLang="pt-BR" smtClean="0"/>
              <a:pPr>
                <a:spcBef>
                  <a:spcPct val="0"/>
                </a:spcBef>
              </a:pPr>
              <a:t>226</a:t>
            </a:fld>
            <a:endParaRPr lang="pt-BR" altLang="pt-BR" dirty="0"/>
          </a:p>
        </p:txBody>
      </p:sp>
    </p:spTree>
    <p:extLst>
      <p:ext uri="{BB962C8B-B14F-4D97-AF65-F5344CB8AC3E}">
        <p14:creationId xmlns:p14="http://schemas.microsoft.com/office/powerpoint/2010/main" val="423380727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Espaço Reservado para Imagem de Slid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Espaço Reservado para Anotaçõ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pt-BR" dirty="0">
              <a:ea typeface="ＭＳ Ｐゴシック" panose="020B0600070205080204" pitchFamily="34" charset="-128"/>
            </a:endParaRPr>
          </a:p>
        </p:txBody>
      </p:sp>
      <p:sp>
        <p:nvSpPr>
          <p:cNvPr id="20484" name="Espaço Reservado para Número de Slid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5DF6301-C66E-43B7-B6F2-A352FA228977}" type="slidenum">
              <a:rPr lang="pt-BR" altLang="pt-BR" smtClean="0"/>
              <a:pPr>
                <a:spcBef>
                  <a:spcPct val="0"/>
                </a:spcBef>
              </a:pPr>
              <a:t>227</a:t>
            </a:fld>
            <a:endParaRPr lang="pt-BR" altLang="pt-BR" dirty="0"/>
          </a:p>
        </p:txBody>
      </p:sp>
    </p:spTree>
    <p:extLst>
      <p:ext uri="{BB962C8B-B14F-4D97-AF65-F5344CB8AC3E}">
        <p14:creationId xmlns:p14="http://schemas.microsoft.com/office/powerpoint/2010/main" val="174116932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Espaço Reservado para Imagem de Slid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Espaço Reservado para Anotaçõ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pt-BR" dirty="0">
              <a:ea typeface="ＭＳ Ｐゴシック" panose="020B0600070205080204" pitchFamily="34" charset="-128"/>
            </a:endParaRPr>
          </a:p>
        </p:txBody>
      </p:sp>
      <p:sp>
        <p:nvSpPr>
          <p:cNvPr id="20484" name="Espaço Reservado para Número de Slid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5DF6301-C66E-43B7-B6F2-A352FA228977}" type="slidenum">
              <a:rPr lang="pt-BR" altLang="pt-BR" smtClean="0"/>
              <a:pPr>
                <a:spcBef>
                  <a:spcPct val="0"/>
                </a:spcBef>
              </a:pPr>
              <a:t>228</a:t>
            </a:fld>
            <a:endParaRPr lang="pt-BR" altLang="pt-BR" dirty="0"/>
          </a:p>
        </p:txBody>
      </p:sp>
    </p:spTree>
    <p:extLst>
      <p:ext uri="{BB962C8B-B14F-4D97-AF65-F5344CB8AC3E}">
        <p14:creationId xmlns:p14="http://schemas.microsoft.com/office/powerpoint/2010/main" val="10849061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Espaço Reservado para Imagem de Slid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Espaço Reservado para Anotaçõ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pt-BR" dirty="0">
              <a:ea typeface="ＭＳ Ｐゴシック" panose="020B0600070205080204" pitchFamily="34" charset="-128"/>
            </a:endParaRPr>
          </a:p>
        </p:txBody>
      </p:sp>
      <p:sp>
        <p:nvSpPr>
          <p:cNvPr id="20484" name="Espaço Reservado para Número de Slid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5DF6301-C66E-43B7-B6F2-A352FA228977}" type="slidenum">
              <a:rPr lang="pt-BR" altLang="pt-BR" smtClean="0"/>
              <a:pPr>
                <a:spcBef>
                  <a:spcPct val="0"/>
                </a:spcBef>
              </a:pPr>
              <a:t>229</a:t>
            </a:fld>
            <a:endParaRPr lang="pt-BR" altLang="pt-BR" dirty="0"/>
          </a:p>
        </p:txBody>
      </p:sp>
    </p:spTree>
    <p:extLst>
      <p:ext uri="{BB962C8B-B14F-4D97-AF65-F5344CB8AC3E}">
        <p14:creationId xmlns:p14="http://schemas.microsoft.com/office/powerpoint/2010/main" val="264527675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Espaço Reservado para Imagem de Slid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Espaço Reservado para Anotaçõ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pt-BR" dirty="0">
              <a:ea typeface="ＭＳ Ｐゴシック" panose="020B0600070205080204" pitchFamily="34" charset="-128"/>
            </a:endParaRPr>
          </a:p>
        </p:txBody>
      </p:sp>
      <p:sp>
        <p:nvSpPr>
          <p:cNvPr id="20484" name="Espaço Reservado para Número de Slid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5DF6301-C66E-43B7-B6F2-A352FA228977}" type="slidenum">
              <a:rPr lang="pt-BR" altLang="pt-BR" smtClean="0"/>
              <a:pPr>
                <a:spcBef>
                  <a:spcPct val="0"/>
                </a:spcBef>
              </a:pPr>
              <a:t>230</a:t>
            </a:fld>
            <a:endParaRPr lang="pt-BR" altLang="pt-BR" dirty="0"/>
          </a:p>
        </p:txBody>
      </p:sp>
    </p:spTree>
    <p:extLst>
      <p:ext uri="{BB962C8B-B14F-4D97-AF65-F5344CB8AC3E}">
        <p14:creationId xmlns:p14="http://schemas.microsoft.com/office/powerpoint/2010/main" val="99400833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Espaço Reservado para Imagem de Slid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Espaço Reservado para Anotaçõ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pt-BR" dirty="0">
              <a:ea typeface="ＭＳ Ｐゴシック" panose="020B0600070205080204" pitchFamily="34" charset="-128"/>
            </a:endParaRPr>
          </a:p>
        </p:txBody>
      </p:sp>
      <p:sp>
        <p:nvSpPr>
          <p:cNvPr id="20484" name="Espaço Reservado para Número de Slid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5DF6301-C66E-43B7-B6F2-A352FA228977}" type="slidenum">
              <a:rPr lang="pt-BR" altLang="pt-BR" smtClean="0"/>
              <a:pPr>
                <a:spcBef>
                  <a:spcPct val="0"/>
                </a:spcBef>
              </a:pPr>
              <a:t>231</a:t>
            </a:fld>
            <a:endParaRPr lang="pt-BR" altLang="pt-BR" dirty="0"/>
          </a:p>
        </p:txBody>
      </p:sp>
    </p:spTree>
    <p:extLst>
      <p:ext uri="{BB962C8B-B14F-4D97-AF65-F5344CB8AC3E}">
        <p14:creationId xmlns:p14="http://schemas.microsoft.com/office/powerpoint/2010/main" val="426379081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Espaço Reservado para Imagem de Slid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Espaço Reservado para Anotaçõ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pt-BR" dirty="0">
              <a:ea typeface="ＭＳ Ｐゴシック" panose="020B0600070205080204" pitchFamily="34" charset="-128"/>
            </a:endParaRPr>
          </a:p>
        </p:txBody>
      </p:sp>
      <p:sp>
        <p:nvSpPr>
          <p:cNvPr id="20484" name="Espaço Reservado para Número de Slid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5DF6301-C66E-43B7-B6F2-A352FA228977}" type="slidenum">
              <a:rPr lang="pt-BR" altLang="pt-BR" smtClean="0"/>
              <a:pPr>
                <a:spcBef>
                  <a:spcPct val="0"/>
                </a:spcBef>
              </a:pPr>
              <a:t>232</a:t>
            </a:fld>
            <a:endParaRPr lang="pt-BR" altLang="pt-BR" dirty="0"/>
          </a:p>
        </p:txBody>
      </p:sp>
    </p:spTree>
    <p:extLst>
      <p:ext uri="{BB962C8B-B14F-4D97-AF65-F5344CB8AC3E}">
        <p14:creationId xmlns:p14="http://schemas.microsoft.com/office/powerpoint/2010/main" val="384149922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Espaço Reservado para Imagem de Slid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Espaço Reservado para Anotaçõ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pt-BR" dirty="0">
              <a:ea typeface="ＭＳ Ｐゴシック" panose="020B0600070205080204" pitchFamily="34" charset="-128"/>
            </a:endParaRPr>
          </a:p>
        </p:txBody>
      </p:sp>
      <p:sp>
        <p:nvSpPr>
          <p:cNvPr id="20484" name="Espaço Reservado para Número de Slid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5DF6301-C66E-43B7-B6F2-A352FA228977}" type="slidenum">
              <a:rPr lang="pt-BR" altLang="pt-BR" smtClean="0"/>
              <a:pPr>
                <a:spcBef>
                  <a:spcPct val="0"/>
                </a:spcBef>
              </a:pPr>
              <a:t>233</a:t>
            </a:fld>
            <a:endParaRPr lang="pt-BR" altLang="pt-BR" dirty="0"/>
          </a:p>
        </p:txBody>
      </p:sp>
    </p:spTree>
    <p:extLst>
      <p:ext uri="{BB962C8B-B14F-4D97-AF65-F5344CB8AC3E}">
        <p14:creationId xmlns:p14="http://schemas.microsoft.com/office/powerpoint/2010/main" val="419540470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Espaço Reservado para Imagem de Slid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Espaço Reservado para Anotaçõ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pt-BR" dirty="0">
              <a:ea typeface="ＭＳ Ｐゴシック" panose="020B0600070205080204" pitchFamily="34" charset="-128"/>
            </a:endParaRPr>
          </a:p>
        </p:txBody>
      </p:sp>
      <p:sp>
        <p:nvSpPr>
          <p:cNvPr id="20484" name="Espaço Reservado para Número de Slid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5DF6301-C66E-43B7-B6F2-A352FA228977}" type="slidenum">
              <a:rPr lang="pt-BR" altLang="pt-BR" smtClean="0"/>
              <a:pPr>
                <a:spcBef>
                  <a:spcPct val="0"/>
                </a:spcBef>
              </a:pPr>
              <a:t>234</a:t>
            </a:fld>
            <a:endParaRPr lang="pt-BR" altLang="pt-BR" dirty="0"/>
          </a:p>
        </p:txBody>
      </p:sp>
    </p:spTree>
    <p:extLst>
      <p:ext uri="{BB962C8B-B14F-4D97-AF65-F5344CB8AC3E}">
        <p14:creationId xmlns:p14="http://schemas.microsoft.com/office/powerpoint/2010/main" val="386689287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Espaço Reservado para Imagem de Slid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Espaço Reservado para Anotaçõ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pt-BR" dirty="0">
              <a:ea typeface="ＭＳ Ｐゴシック" panose="020B0600070205080204" pitchFamily="34" charset="-128"/>
            </a:endParaRPr>
          </a:p>
        </p:txBody>
      </p:sp>
      <p:sp>
        <p:nvSpPr>
          <p:cNvPr id="20484" name="Espaço Reservado para Número de Slid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5DF6301-C66E-43B7-B6F2-A352FA228977}" type="slidenum">
              <a:rPr lang="pt-BR" altLang="pt-BR" smtClean="0"/>
              <a:pPr>
                <a:spcBef>
                  <a:spcPct val="0"/>
                </a:spcBef>
              </a:pPr>
              <a:t>235</a:t>
            </a:fld>
            <a:endParaRPr lang="pt-BR" altLang="pt-BR" dirty="0"/>
          </a:p>
        </p:txBody>
      </p:sp>
    </p:spTree>
    <p:extLst>
      <p:ext uri="{BB962C8B-B14F-4D97-AF65-F5344CB8AC3E}">
        <p14:creationId xmlns:p14="http://schemas.microsoft.com/office/powerpoint/2010/main" val="419755836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Espaço Reservado para Imagem de Slid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Espaço Reservado para Anotaçõ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pt-BR" dirty="0">
              <a:ea typeface="ＭＳ Ｐゴシック" panose="020B0600070205080204" pitchFamily="34" charset="-128"/>
            </a:endParaRPr>
          </a:p>
        </p:txBody>
      </p:sp>
      <p:sp>
        <p:nvSpPr>
          <p:cNvPr id="20484" name="Espaço Reservado para Número de Slid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5DF6301-C66E-43B7-B6F2-A352FA228977}" type="slidenum">
              <a:rPr lang="pt-BR" altLang="pt-BR" smtClean="0"/>
              <a:pPr>
                <a:spcBef>
                  <a:spcPct val="0"/>
                </a:spcBef>
              </a:pPr>
              <a:t>236</a:t>
            </a:fld>
            <a:endParaRPr lang="pt-BR" altLang="pt-BR" dirty="0"/>
          </a:p>
        </p:txBody>
      </p:sp>
    </p:spTree>
    <p:extLst>
      <p:ext uri="{BB962C8B-B14F-4D97-AF65-F5344CB8AC3E}">
        <p14:creationId xmlns:p14="http://schemas.microsoft.com/office/powerpoint/2010/main" val="31935102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Espaço Reservado para Imagem de Slid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Espaço Reservado para Anotaçõ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pt-BR" dirty="0">
              <a:ea typeface="ＭＳ Ｐゴシック" panose="020B0600070205080204" pitchFamily="34" charset="-128"/>
            </a:endParaRPr>
          </a:p>
        </p:txBody>
      </p:sp>
      <p:sp>
        <p:nvSpPr>
          <p:cNvPr id="20484" name="Espaço Reservado para Número de Slid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5DF6301-C66E-43B7-B6F2-A352FA228977}" type="slidenum">
              <a:rPr lang="pt-BR" altLang="pt-BR" smtClean="0"/>
              <a:pPr>
                <a:spcBef>
                  <a:spcPct val="0"/>
                </a:spcBef>
              </a:pPr>
              <a:t>237</a:t>
            </a:fld>
            <a:endParaRPr lang="pt-BR" altLang="pt-BR" dirty="0"/>
          </a:p>
        </p:txBody>
      </p:sp>
    </p:spTree>
    <p:extLst>
      <p:ext uri="{BB962C8B-B14F-4D97-AF65-F5344CB8AC3E}">
        <p14:creationId xmlns:p14="http://schemas.microsoft.com/office/powerpoint/2010/main" val="85964330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Espaço Reservado para Imagem de Slid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Espaço Reservado para Anotaçõ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pt-BR" dirty="0">
              <a:ea typeface="ＭＳ Ｐゴシック" panose="020B0600070205080204" pitchFamily="34" charset="-128"/>
            </a:endParaRPr>
          </a:p>
        </p:txBody>
      </p:sp>
      <p:sp>
        <p:nvSpPr>
          <p:cNvPr id="20484" name="Espaço Reservado para Número de Slid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5DF6301-C66E-43B7-B6F2-A352FA228977}" type="slidenum">
              <a:rPr lang="pt-BR" altLang="pt-BR" smtClean="0"/>
              <a:pPr>
                <a:spcBef>
                  <a:spcPct val="0"/>
                </a:spcBef>
              </a:pPr>
              <a:t>238</a:t>
            </a:fld>
            <a:endParaRPr lang="pt-BR" altLang="pt-BR" dirty="0"/>
          </a:p>
        </p:txBody>
      </p:sp>
    </p:spTree>
    <p:extLst>
      <p:ext uri="{BB962C8B-B14F-4D97-AF65-F5344CB8AC3E}">
        <p14:creationId xmlns:p14="http://schemas.microsoft.com/office/powerpoint/2010/main" val="227590496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Espaço Reservado para Imagem de Slid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Espaço Reservado para Anotaçõ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pt-BR" dirty="0">
              <a:ea typeface="ＭＳ Ｐゴシック" panose="020B0600070205080204" pitchFamily="34" charset="-128"/>
            </a:endParaRPr>
          </a:p>
        </p:txBody>
      </p:sp>
      <p:sp>
        <p:nvSpPr>
          <p:cNvPr id="20484" name="Espaço Reservado para Número de Slid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5DF6301-C66E-43B7-B6F2-A352FA228977}" type="slidenum">
              <a:rPr lang="pt-BR" altLang="pt-BR" smtClean="0"/>
              <a:pPr>
                <a:spcBef>
                  <a:spcPct val="0"/>
                </a:spcBef>
              </a:pPr>
              <a:t>239</a:t>
            </a:fld>
            <a:endParaRPr lang="pt-BR" altLang="pt-BR" dirty="0"/>
          </a:p>
        </p:txBody>
      </p:sp>
    </p:spTree>
    <p:extLst>
      <p:ext uri="{BB962C8B-B14F-4D97-AF65-F5344CB8AC3E}">
        <p14:creationId xmlns:p14="http://schemas.microsoft.com/office/powerpoint/2010/main" val="421856439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Espaço Reservado para Imagem de Slid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Espaço Reservado para Anotaçõ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pt-BR" dirty="0">
              <a:ea typeface="ＭＳ Ｐゴシック" panose="020B0600070205080204" pitchFamily="34" charset="-128"/>
            </a:endParaRPr>
          </a:p>
        </p:txBody>
      </p:sp>
      <p:sp>
        <p:nvSpPr>
          <p:cNvPr id="20484" name="Espaço Reservado para Número de Slid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5DF6301-C66E-43B7-B6F2-A352FA228977}" type="slidenum">
              <a:rPr lang="pt-BR" altLang="pt-BR" smtClean="0"/>
              <a:pPr>
                <a:spcBef>
                  <a:spcPct val="0"/>
                </a:spcBef>
              </a:pPr>
              <a:t>240</a:t>
            </a:fld>
            <a:endParaRPr lang="pt-BR" altLang="pt-BR" dirty="0"/>
          </a:p>
        </p:txBody>
      </p:sp>
    </p:spTree>
    <p:extLst>
      <p:ext uri="{BB962C8B-B14F-4D97-AF65-F5344CB8AC3E}">
        <p14:creationId xmlns:p14="http://schemas.microsoft.com/office/powerpoint/2010/main" val="131320974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Espaço Reservado para Imagem de Slid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Espaço Reservado para Anotaçõ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pt-BR">
              <a:ea typeface="ＭＳ Ｐゴシック" panose="020B0600070205080204" pitchFamily="34" charset="-128"/>
            </a:endParaRPr>
          </a:p>
        </p:txBody>
      </p:sp>
      <p:sp>
        <p:nvSpPr>
          <p:cNvPr id="20484" name="Espaço Reservado para Número de Slid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5DF6301-C66E-43B7-B6F2-A352FA228977}" type="slidenum">
              <a:rPr lang="pt-BR" altLang="pt-BR" smtClean="0"/>
              <a:pPr>
                <a:spcBef>
                  <a:spcPct val="0"/>
                </a:spcBef>
              </a:pPr>
              <a:t>241</a:t>
            </a:fld>
            <a:endParaRPr lang="pt-BR" altLang="pt-BR"/>
          </a:p>
        </p:txBody>
      </p:sp>
    </p:spTree>
    <p:extLst>
      <p:ext uri="{BB962C8B-B14F-4D97-AF65-F5344CB8AC3E}">
        <p14:creationId xmlns:p14="http://schemas.microsoft.com/office/powerpoint/2010/main" val="189830735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Espaço Reservado para Imagem de Slid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5955" name="Espaço Reservado para Anotaçõ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pt-BR">
              <a:ea typeface="ＭＳ Ｐゴシック" pitchFamily="34" charset="-128"/>
            </a:endParaRPr>
          </a:p>
        </p:txBody>
      </p:sp>
      <p:sp>
        <p:nvSpPr>
          <p:cNvPr id="125956" name="Espaço Reservado para Número de Slid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spcBef>
                <a:spcPct val="0"/>
              </a:spcBef>
            </a:pPr>
            <a:fld id="{50674B93-3BC3-4E03-AF9A-66BF1033883A}" type="slidenum">
              <a:rPr lang="pt-BR" altLang="pt-BR">
                <a:solidFill>
                  <a:srgbClr val="000000"/>
                </a:solidFill>
                <a:ea typeface="ＭＳ Ｐゴシック" pitchFamily="34" charset="-128"/>
              </a:rPr>
              <a:pPr>
                <a:spcBef>
                  <a:spcPct val="0"/>
                </a:spcBef>
              </a:pPr>
              <a:t>242</a:t>
            </a:fld>
            <a:endParaRPr lang="pt-BR" altLang="pt-BR">
              <a:solidFill>
                <a:srgbClr val="000000"/>
              </a:solidFill>
              <a:ea typeface="ＭＳ Ｐゴシック" pitchFamily="34" charset="-128"/>
            </a:endParaRPr>
          </a:p>
        </p:txBody>
      </p:sp>
    </p:spTree>
    <p:extLst>
      <p:ext uri="{BB962C8B-B14F-4D97-AF65-F5344CB8AC3E}">
        <p14:creationId xmlns:p14="http://schemas.microsoft.com/office/powerpoint/2010/main" val="80164997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Espaço Reservado para Imagem de Slid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Espaço Reservado para Anotaçõ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pt-BR">
              <a:ea typeface="ＭＳ Ｐゴシック" panose="020B0600070205080204" pitchFamily="34" charset="-128"/>
            </a:endParaRPr>
          </a:p>
        </p:txBody>
      </p:sp>
      <p:sp>
        <p:nvSpPr>
          <p:cNvPr id="107524" name="Espaço Reservado para Número de Slid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E216C4C-5B33-4026-8665-63E68CA91193}" type="slidenum">
              <a:rPr kumimoji="0" lang="pt-BR" altLang="pt-BR" sz="1200" b="0" i="0" u="none" strike="noStrike" kern="1200" cap="none" spc="0" normalizeH="0" baseline="0" noProof="0" smtClean="0">
                <a:ln>
                  <a:noFill/>
                </a:ln>
                <a:solidFill>
                  <a:srgbClr val="000000"/>
                </a:solidFill>
                <a:effectLst/>
                <a:uLnTx/>
                <a:uFillTx/>
                <a:latin typeface="Calibri" panose="020F050202020403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243</a:t>
            </a:fld>
            <a:endParaRPr kumimoji="0" lang="pt-BR" altLang="pt-BR" sz="12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49126014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Espaço Reservado para Imagem de Slid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Espaço Reservado para Anotaçõ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pt-BR">
              <a:ea typeface="ＭＳ Ｐゴシック" panose="020B0600070205080204" pitchFamily="34" charset="-128"/>
            </a:endParaRPr>
          </a:p>
        </p:txBody>
      </p:sp>
      <p:sp>
        <p:nvSpPr>
          <p:cNvPr id="20484" name="Espaço Reservado para Número de Slid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5DF6301-C66E-43B7-B6F2-A352FA228977}" type="slidenum">
              <a:rPr lang="pt-BR" altLang="pt-BR" smtClean="0"/>
              <a:pPr>
                <a:spcBef>
                  <a:spcPct val="0"/>
                </a:spcBef>
              </a:pPr>
              <a:t>244</a:t>
            </a:fld>
            <a:endParaRPr lang="pt-BR" altLang="pt-BR"/>
          </a:p>
        </p:txBody>
      </p:sp>
    </p:spTree>
    <p:extLst>
      <p:ext uri="{BB962C8B-B14F-4D97-AF65-F5344CB8AC3E}">
        <p14:creationId xmlns:p14="http://schemas.microsoft.com/office/powerpoint/2010/main" val="2382313883"/>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Espaço Reservado para Imagem de Slid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Espaço Reservado para Anotaçõ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pt-BR" dirty="0">
              <a:ea typeface="ＭＳ Ｐゴシック" panose="020B0600070205080204" pitchFamily="34" charset="-128"/>
            </a:endParaRPr>
          </a:p>
        </p:txBody>
      </p:sp>
      <p:sp>
        <p:nvSpPr>
          <p:cNvPr id="20484" name="Espaço Reservado para Número de Slid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defRPr/>
            </a:pPr>
            <a:fld id="{25DF6301-C66E-43B7-B6F2-A352FA228977}" type="slidenum">
              <a:rPr lang="pt-BR" altLang="pt-BR" smtClean="0">
                <a:solidFill>
                  <a:prstClr val="black"/>
                </a:solidFill>
                <a:cs typeface="Arial" panose="020B0604020202020204" pitchFamily="34" charset="0"/>
              </a:rPr>
              <a:pPr eaLnBrk="1" hangingPunct="1">
                <a:spcBef>
                  <a:spcPct val="0"/>
                </a:spcBef>
                <a:defRPr/>
              </a:pPr>
              <a:t>245</a:t>
            </a:fld>
            <a:endParaRPr lang="pt-BR" altLang="pt-BR">
              <a:solidFill>
                <a:prstClr val="black"/>
              </a:solidFill>
              <a:cs typeface="Arial" panose="020B0604020202020204" pitchFamily="34" charset="0"/>
            </a:endParaRPr>
          </a:p>
        </p:txBody>
      </p:sp>
    </p:spTree>
    <p:extLst>
      <p:ext uri="{BB962C8B-B14F-4D97-AF65-F5344CB8AC3E}">
        <p14:creationId xmlns:p14="http://schemas.microsoft.com/office/powerpoint/2010/main" val="53608341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Espaço Reservado para Imagem de Slid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Espaço Reservado para Anotaçõ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pt-BR">
              <a:ea typeface="ＭＳ Ｐゴシック" panose="020B0600070205080204" pitchFamily="34" charset="-128"/>
            </a:endParaRPr>
          </a:p>
        </p:txBody>
      </p:sp>
      <p:sp>
        <p:nvSpPr>
          <p:cNvPr id="20484" name="Espaço Reservado para Número de Slid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5DF6301-C66E-43B7-B6F2-A352FA228977}" type="slidenum">
              <a:rPr lang="pt-BR" altLang="pt-BR" smtClean="0"/>
              <a:pPr>
                <a:spcBef>
                  <a:spcPct val="0"/>
                </a:spcBef>
              </a:pPr>
              <a:t>246</a:t>
            </a:fld>
            <a:endParaRPr lang="pt-BR" altLang="pt-BR"/>
          </a:p>
        </p:txBody>
      </p:sp>
    </p:spTree>
    <p:extLst>
      <p:ext uri="{BB962C8B-B14F-4D97-AF65-F5344CB8AC3E}">
        <p14:creationId xmlns:p14="http://schemas.microsoft.com/office/powerpoint/2010/main" val="3812714793"/>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Espaço Reservado para Imagem de Slid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Espaço Reservado para Anotaçõ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pt-BR">
              <a:ea typeface="ＭＳ Ｐゴシック" panose="020B0600070205080204" pitchFamily="34" charset="-128"/>
            </a:endParaRPr>
          </a:p>
        </p:txBody>
      </p:sp>
      <p:sp>
        <p:nvSpPr>
          <p:cNvPr id="20484" name="Espaço Reservado para Número de Slid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5DF6301-C66E-43B7-B6F2-A352FA228977}" type="slidenum">
              <a:rPr lang="pt-BR" altLang="pt-BR" smtClean="0"/>
              <a:pPr>
                <a:spcBef>
                  <a:spcPct val="0"/>
                </a:spcBef>
              </a:pPr>
              <a:t>247</a:t>
            </a:fld>
            <a:endParaRPr lang="pt-BR" altLang="pt-BR"/>
          </a:p>
        </p:txBody>
      </p:sp>
    </p:spTree>
    <p:extLst>
      <p:ext uri="{BB962C8B-B14F-4D97-AF65-F5344CB8AC3E}">
        <p14:creationId xmlns:p14="http://schemas.microsoft.com/office/powerpoint/2010/main" val="2695488095"/>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Espaço Reservado para Imagem de Slid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1859" name="Espaço Reservado para Anotaçõ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pt-BR">
              <a:ea typeface="ＭＳ Ｐゴシック" pitchFamily="34" charset="-128"/>
            </a:endParaRPr>
          </a:p>
        </p:txBody>
      </p:sp>
      <p:sp>
        <p:nvSpPr>
          <p:cNvPr id="121860" name="Espaço Reservado para Número de Slid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spcBef>
                <a:spcPct val="0"/>
              </a:spcBef>
            </a:pPr>
            <a:fld id="{EEE7DCB7-79B4-41AE-A42E-477AC237F659}" type="slidenum">
              <a:rPr lang="pt-BR" altLang="pt-BR">
                <a:solidFill>
                  <a:srgbClr val="000000"/>
                </a:solidFill>
                <a:ea typeface="ＭＳ Ｐゴシック" pitchFamily="34" charset="-128"/>
              </a:rPr>
              <a:pPr>
                <a:spcBef>
                  <a:spcPct val="0"/>
                </a:spcBef>
              </a:pPr>
              <a:t>248</a:t>
            </a:fld>
            <a:endParaRPr lang="pt-BR" altLang="pt-BR">
              <a:solidFill>
                <a:srgbClr val="000000"/>
              </a:solidFill>
              <a:ea typeface="ＭＳ Ｐゴシック" pitchFamily="34" charset="-128"/>
            </a:endParaRPr>
          </a:p>
        </p:txBody>
      </p:sp>
    </p:spTree>
    <p:extLst>
      <p:ext uri="{BB962C8B-B14F-4D97-AF65-F5344CB8AC3E}">
        <p14:creationId xmlns:p14="http://schemas.microsoft.com/office/powerpoint/2010/main" val="173936001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Espaço Reservado para Imagem de Slid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3907" name="Espaço Reservado para Anotaçõ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pt-BR">
              <a:ea typeface="ＭＳ Ｐゴシック" pitchFamily="34" charset="-128"/>
            </a:endParaRPr>
          </a:p>
        </p:txBody>
      </p:sp>
      <p:sp>
        <p:nvSpPr>
          <p:cNvPr id="123908" name="Espaço Reservado para Número de Slid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spcBef>
                <a:spcPct val="0"/>
              </a:spcBef>
            </a:pPr>
            <a:fld id="{3401B759-25C1-4367-A254-BD7137EAB7C9}" type="slidenum">
              <a:rPr lang="pt-BR" altLang="pt-BR">
                <a:solidFill>
                  <a:srgbClr val="000000"/>
                </a:solidFill>
                <a:ea typeface="ＭＳ Ｐゴシック" pitchFamily="34" charset="-128"/>
              </a:rPr>
              <a:pPr>
                <a:spcBef>
                  <a:spcPct val="0"/>
                </a:spcBef>
              </a:pPr>
              <a:t>249</a:t>
            </a:fld>
            <a:endParaRPr lang="pt-BR" altLang="pt-BR">
              <a:solidFill>
                <a:srgbClr val="000000"/>
              </a:solidFill>
              <a:ea typeface="ＭＳ Ｐゴシック" pitchFamily="34" charset="-128"/>
            </a:endParaRPr>
          </a:p>
        </p:txBody>
      </p:sp>
    </p:spTree>
    <p:extLst>
      <p:ext uri="{BB962C8B-B14F-4D97-AF65-F5344CB8AC3E}">
        <p14:creationId xmlns:p14="http://schemas.microsoft.com/office/powerpoint/2010/main" val="97917864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Espaço Reservado para Imagem de Slid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3907" name="Espaço Reservado para Anotaçõ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pt-BR">
              <a:ea typeface="ＭＳ Ｐゴシック" pitchFamily="34" charset="-128"/>
            </a:endParaRPr>
          </a:p>
        </p:txBody>
      </p:sp>
      <p:sp>
        <p:nvSpPr>
          <p:cNvPr id="123908" name="Espaço Reservado para Número de Slid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spcBef>
                <a:spcPct val="0"/>
              </a:spcBef>
            </a:pPr>
            <a:fld id="{3401B759-25C1-4367-A254-BD7137EAB7C9}" type="slidenum">
              <a:rPr lang="pt-BR" altLang="pt-BR">
                <a:solidFill>
                  <a:srgbClr val="000000"/>
                </a:solidFill>
                <a:ea typeface="ＭＳ Ｐゴシック" pitchFamily="34" charset="-128"/>
              </a:rPr>
              <a:pPr>
                <a:spcBef>
                  <a:spcPct val="0"/>
                </a:spcBef>
              </a:pPr>
              <a:t>250</a:t>
            </a:fld>
            <a:endParaRPr lang="pt-BR" altLang="pt-BR">
              <a:solidFill>
                <a:srgbClr val="000000"/>
              </a:solidFill>
              <a:ea typeface="ＭＳ Ｐゴシック" pitchFamily="34" charset="-128"/>
            </a:endParaRPr>
          </a:p>
        </p:txBody>
      </p:sp>
    </p:spTree>
    <p:extLst>
      <p:ext uri="{BB962C8B-B14F-4D97-AF65-F5344CB8AC3E}">
        <p14:creationId xmlns:p14="http://schemas.microsoft.com/office/powerpoint/2010/main" val="263797549"/>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Espaço Reservado para Imagem de Slid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Espaço Reservado para Anotaçõ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pt-BR">
              <a:ea typeface="ＭＳ Ｐゴシック" panose="020B0600070205080204" pitchFamily="34" charset="-128"/>
            </a:endParaRPr>
          </a:p>
        </p:txBody>
      </p:sp>
      <p:sp>
        <p:nvSpPr>
          <p:cNvPr id="20484" name="Espaço Reservado para Número de Slid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5DF6301-C66E-43B7-B6F2-A352FA228977}" type="slidenum">
              <a:rPr lang="pt-BR" altLang="pt-BR" smtClean="0"/>
              <a:pPr>
                <a:spcBef>
                  <a:spcPct val="0"/>
                </a:spcBef>
              </a:pPr>
              <a:t>251</a:t>
            </a:fld>
            <a:endParaRPr lang="pt-BR" altLang="pt-BR"/>
          </a:p>
        </p:txBody>
      </p:sp>
    </p:spTree>
    <p:extLst>
      <p:ext uri="{BB962C8B-B14F-4D97-AF65-F5344CB8AC3E}">
        <p14:creationId xmlns:p14="http://schemas.microsoft.com/office/powerpoint/2010/main" val="2353077155"/>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Espaço Reservado para Imagem de Slid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Espaço Reservado para Anotaçõ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pt-BR">
              <a:ea typeface="ＭＳ Ｐゴシック" panose="020B0600070205080204" pitchFamily="34" charset="-128"/>
            </a:endParaRPr>
          </a:p>
        </p:txBody>
      </p:sp>
      <p:sp>
        <p:nvSpPr>
          <p:cNvPr id="20484" name="Espaço Reservado para Número de Slid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5DF6301-C66E-43B7-B6F2-A352FA228977}" type="slidenum">
              <a:rPr lang="pt-BR" altLang="pt-BR" smtClean="0"/>
              <a:pPr>
                <a:spcBef>
                  <a:spcPct val="0"/>
                </a:spcBef>
              </a:pPr>
              <a:t>252</a:t>
            </a:fld>
            <a:endParaRPr lang="pt-BR" altLang="pt-BR"/>
          </a:p>
        </p:txBody>
      </p:sp>
    </p:spTree>
    <p:extLst>
      <p:ext uri="{BB962C8B-B14F-4D97-AF65-F5344CB8AC3E}">
        <p14:creationId xmlns:p14="http://schemas.microsoft.com/office/powerpoint/2010/main" val="2197269125"/>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Espaço Reservado para Imagem de Slid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Espaço Reservado para Anotaçõ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pt-BR">
              <a:ea typeface="ＭＳ Ｐゴシック" panose="020B0600070205080204" pitchFamily="34" charset="-128"/>
            </a:endParaRPr>
          </a:p>
        </p:txBody>
      </p:sp>
      <p:sp>
        <p:nvSpPr>
          <p:cNvPr id="20484" name="Espaço Reservado para Número de Slid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5DF6301-C66E-43B7-B6F2-A352FA228977}" type="slidenum">
              <a:rPr lang="pt-BR" altLang="pt-BR" smtClean="0"/>
              <a:pPr>
                <a:spcBef>
                  <a:spcPct val="0"/>
                </a:spcBef>
              </a:pPr>
              <a:t>253</a:t>
            </a:fld>
            <a:endParaRPr lang="pt-BR" altLang="pt-BR"/>
          </a:p>
        </p:txBody>
      </p:sp>
    </p:spTree>
    <p:extLst>
      <p:ext uri="{BB962C8B-B14F-4D97-AF65-F5344CB8AC3E}">
        <p14:creationId xmlns:p14="http://schemas.microsoft.com/office/powerpoint/2010/main" val="2234729274"/>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Espaço Reservado para Imagem de Slid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Espaço Reservado para Anotaçõ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pt-BR">
              <a:ea typeface="ＭＳ Ｐゴシック" panose="020B0600070205080204" pitchFamily="34" charset="-128"/>
            </a:endParaRPr>
          </a:p>
        </p:txBody>
      </p:sp>
      <p:sp>
        <p:nvSpPr>
          <p:cNvPr id="20484" name="Espaço Reservado para Número de Slid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5DF6301-C66E-43B7-B6F2-A352FA228977}" type="slidenum">
              <a:rPr lang="pt-BR" altLang="pt-BR" smtClean="0"/>
              <a:pPr>
                <a:spcBef>
                  <a:spcPct val="0"/>
                </a:spcBef>
              </a:pPr>
              <a:t>254</a:t>
            </a:fld>
            <a:endParaRPr lang="pt-BR" altLang="pt-BR"/>
          </a:p>
        </p:txBody>
      </p:sp>
    </p:spTree>
    <p:extLst>
      <p:ext uri="{BB962C8B-B14F-4D97-AF65-F5344CB8AC3E}">
        <p14:creationId xmlns:p14="http://schemas.microsoft.com/office/powerpoint/2010/main" val="269934257"/>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Espaço Reservado para Imagem de Slid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Espaço Reservado para Anotaçõ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pt-BR">
              <a:ea typeface="ＭＳ Ｐゴシック" panose="020B0600070205080204" pitchFamily="34" charset="-128"/>
            </a:endParaRPr>
          </a:p>
        </p:txBody>
      </p:sp>
      <p:sp>
        <p:nvSpPr>
          <p:cNvPr id="20484" name="Espaço Reservado para Número de Slid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5DF6301-C66E-43B7-B6F2-A352FA228977}" type="slidenum">
              <a:rPr lang="pt-BR" altLang="pt-BR" smtClean="0"/>
              <a:pPr>
                <a:spcBef>
                  <a:spcPct val="0"/>
                </a:spcBef>
              </a:pPr>
              <a:t>255</a:t>
            </a:fld>
            <a:endParaRPr lang="pt-BR" altLang="pt-BR"/>
          </a:p>
        </p:txBody>
      </p:sp>
    </p:spTree>
    <p:extLst>
      <p:ext uri="{BB962C8B-B14F-4D97-AF65-F5344CB8AC3E}">
        <p14:creationId xmlns:p14="http://schemas.microsoft.com/office/powerpoint/2010/main" val="2544691594"/>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Espaço Reservado para Imagem de Slid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Espaço Reservado para Anotaçõ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pt-BR">
              <a:ea typeface="ＭＳ Ｐゴシック" panose="020B0600070205080204" pitchFamily="34" charset="-128"/>
            </a:endParaRPr>
          </a:p>
        </p:txBody>
      </p:sp>
      <p:sp>
        <p:nvSpPr>
          <p:cNvPr id="20484" name="Espaço Reservado para Número de Slid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25DF6301-C66E-43B7-B6F2-A352FA228977}" type="slidenum">
              <a:rPr kumimoji="0" lang="pt-BR" altLang="pt-BR" sz="1200" b="0" i="0" u="none" strike="noStrike" kern="1200" cap="none" spc="0" normalizeH="0" baseline="0" noProof="0" smtClean="0">
                <a:ln>
                  <a:noFill/>
                </a:ln>
                <a:solidFill>
                  <a:prstClr val="black"/>
                </a:solidFill>
                <a:effectLst/>
                <a:uLnTx/>
                <a:uFillTx/>
                <a:latin typeface="Calibri" panose="020F0502020204030204" pitchFamily="34" charset="0"/>
                <a:ea typeface="ＭＳ Ｐゴシック" panose="020B0600070205080204" pitchFamily="34" charset="-128"/>
                <a:cs typeface="+mn-cs"/>
              </a:rPr>
              <a:pPr marL="0" marR="0" lvl="0" indent="0" algn="r" defTabSz="914400" rtl="0" eaLnBrk="1" fontAlgn="auto" latinLnBrk="0" hangingPunct="1">
                <a:lnSpc>
                  <a:spcPct val="100000"/>
                </a:lnSpc>
                <a:spcBef>
                  <a:spcPct val="0"/>
                </a:spcBef>
                <a:spcAft>
                  <a:spcPts val="0"/>
                </a:spcAft>
                <a:buClrTx/>
                <a:buSzTx/>
                <a:buFontTx/>
                <a:buNone/>
                <a:tabLst/>
                <a:defRPr/>
              </a:pPr>
              <a:t>256</a:t>
            </a:fld>
            <a:endParaRPr kumimoji="0" lang="pt-BR" altLang="pt-BR" sz="12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103759650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Espaço Reservado para Imagem de Slid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Espaço Reservado para Anotaçõ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pt-BR">
              <a:ea typeface="ＭＳ Ｐゴシック" panose="020B0600070205080204" pitchFamily="34" charset="-128"/>
            </a:endParaRPr>
          </a:p>
        </p:txBody>
      </p:sp>
      <p:sp>
        <p:nvSpPr>
          <p:cNvPr id="20484" name="Espaço Reservado para Número de Slid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25DF6301-C66E-43B7-B6F2-A352FA228977}" type="slidenum">
              <a:rPr kumimoji="0" lang="pt-BR" altLang="pt-BR" sz="1200" b="0" i="0" u="none" strike="noStrike" kern="1200" cap="none" spc="0" normalizeH="0" baseline="0" noProof="0" smtClean="0">
                <a:ln>
                  <a:noFill/>
                </a:ln>
                <a:solidFill>
                  <a:prstClr val="black"/>
                </a:solidFill>
                <a:effectLst/>
                <a:uLnTx/>
                <a:uFillTx/>
                <a:latin typeface="Calibri" panose="020F0502020204030204" pitchFamily="34" charset="0"/>
                <a:ea typeface="ＭＳ Ｐゴシック" panose="020B0600070205080204" pitchFamily="34" charset="-128"/>
                <a:cs typeface="+mn-cs"/>
              </a:rPr>
              <a:pPr marL="0" marR="0" lvl="0" indent="0" algn="r" defTabSz="914400" rtl="0" eaLnBrk="1" fontAlgn="auto" latinLnBrk="0" hangingPunct="1">
                <a:lnSpc>
                  <a:spcPct val="100000"/>
                </a:lnSpc>
                <a:spcBef>
                  <a:spcPct val="0"/>
                </a:spcBef>
                <a:spcAft>
                  <a:spcPts val="0"/>
                </a:spcAft>
                <a:buClrTx/>
                <a:buSzTx/>
                <a:buFontTx/>
                <a:buNone/>
                <a:tabLst/>
                <a:defRPr/>
              </a:pPr>
              <a:t>257</a:t>
            </a:fld>
            <a:endParaRPr kumimoji="0" lang="pt-BR" altLang="pt-BR" sz="12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2502673779"/>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Espaço Reservado para Imagem de Slid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Espaço Reservado para Anotaçõ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pt-BR">
              <a:ea typeface="ＭＳ Ｐゴシック" panose="020B0600070205080204" pitchFamily="34" charset="-128"/>
            </a:endParaRPr>
          </a:p>
        </p:txBody>
      </p:sp>
      <p:sp>
        <p:nvSpPr>
          <p:cNvPr id="20484" name="Espaço Reservado para Número de Slid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25DF6301-C66E-43B7-B6F2-A352FA228977}" type="slidenum">
              <a:rPr kumimoji="0" lang="pt-BR" altLang="pt-BR" sz="1200" b="0" i="0" u="none" strike="noStrike" kern="1200" cap="none" spc="0" normalizeH="0" baseline="0" noProof="0" smtClean="0">
                <a:ln>
                  <a:noFill/>
                </a:ln>
                <a:solidFill>
                  <a:prstClr val="black"/>
                </a:solidFill>
                <a:effectLst/>
                <a:uLnTx/>
                <a:uFillTx/>
                <a:latin typeface="Calibri" panose="020F0502020204030204" pitchFamily="34" charset="0"/>
                <a:ea typeface="ＭＳ Ｐゴシック" panose="020B0600070205080204" pitchFamily="34" charset="-128"/>
                <a:cs typeface="+mn-cs"/>
              </a:rPr>
              <a:pPr marL="0" marR="0" lvl="0" indent="0" algn="r" defTabSz="914400" rtl="0" eaLnBrk="1" fontAlgn="auto" latinLnBrk="0" hangingPunct="1">
                <a:lnSpc>
                  <a:spcPct val="100000"/>
                </a:lnSpc>
                <a:spcBef>
                  <a:spcPct val="0"/>
                </a:spcBef>
                <a:spcAft>
                  <a:spcPts val="0"/>
                </a:spcAft>
                <a:buClrTx/>
                <a:buSzTx/>
                <a:buFontTx/>
                <a:buNone/>
                <a:tabLst/>
                <a:defRPr/>
              </a:pPr>
              <a:t>258</a:t>
            </a:fld>
            <a:endParaRPr kumimoji="0" lang="pt-BR" altLang="pt-BR" sz="12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3824883932"/>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Espaço Reservado para Imagem de Slid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Espaço Reservado para Anotaçõ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pt-BR">
              <a:ea typeface="ＭＳ Ｐゴシック" panose="020B0600070205080204" pitchFamily="34" charset="-128"/>
            </a:endParaRPr>
          </a:p>
        </p:txBody>
      </p:sp>
      <p:sp>
        <p:nvSpPr>
          <p:cNvPr id="20484" name="Espaço Reservado para Número de Slid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25DF6301-C66E-43B7-B6F2-A352FA228977}" type="slidenum">
              <a:rPr kumimoji="0" lang="pt-BR" altLang="pt-BR" sz="1200" b="0" i="0" u="none" strike="noStrike" kern="1200" cap="none" spc="0" normalizeH="0" baseline="0" noProof="0" smtClean="0">
                <a:ln>
                  <a:noFill/>
                </a:ln>
                <a:solidFill>
                  <a:prstClr val="black"/>
                </a:solidFill>
                <a:effectLst/>
                <a:uLnTx/>
                <a:uFillTx/>
                <a:latin typeface="Calibri" panose="020F0502020204030204" pitchFamily="34" charset="0"/>
                <a:ea typeface="ＭＳ Ｐゴシック" panose="020B0600070205080204" pitchFamily="34" charset="-128"/>
                <a:cs typeface="+mn-cs"/>
              </a:rPr>
              <a:pPr marL="0" marR="0" lvl="0" indent="0" algn="r" defTabSz="914400" rtl="0" eaLnBrk="1" fontAlgn="auto" latinLnBrk="0" hangingPunct="1">
                <a:lnSpc>
                  <a:spcPct val="100000"/>
                </a:lnSpc>
                <a:spcBef>
                  <a:spcPct val="0"/>
                </a:spcBef>
                <a:spcAft>
                  <a:spcPts val="0"/>
                </a:spcAft>
                <a:buClrTx/>
                <a:buSzTx/>
                <a:buFontTx/>
                <a:buNone/>
                <a:tabLst/>
                <a:defRPr/>
              </a:pPr>
              <a:t>259</a:t>
            </a:fld>
            <a:endParaRPr kumimoji="0" lang="pt-BR" altLang="pt-BR" sz="12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252571404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Espaço Reservado para Imagem de Slid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Espaço Reservado para Anotaçõ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pt-BR">
              <a:ea typeface="ＭＳ Ｐゴシック" panose="020B0600070205080204" pitchFamily="34" charset="-128"/>
            </a:endParaRPr>
          </a:p>
        </p:txBody>
      </p:sp>
      <p:sp>
        <p:nvSpPr>
          <p:cNvPr id="20484" name="Espaço Reservado para Número de Slid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5DF6301-C66E-43B7-B6F2-A352FA228977}" type="slidenum">
              <a:rPr lang="pt-BR" altLang="pt-BR" smtClean="0"/>
              <a:pPr>
                <a:spcBef>
                  <a:spcPct val="0"/>
                </a:spcBef>
              </a:pPr>
              <a:t>260</a:t>
            </a:fld>
            <a:endParaRPr lang="pt-BR" altLang="pt-BR"/>
          </a:p>
        </p:txBody>
      </p:sp>
    </p:spTree>
    <p:extLst>
      <p:ext uri="{BB962C8B-B14F-4D97-AF65-F5344CB8AC3E}">
        <p14:creationId xmlns:p14="http://schemas.microsoft.com/office/powerpoint/2010/main" val="170316978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Espaço Reservado para Imagem de Slid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Espaço Reservado para Anotaçõ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pt-BR">
              <a:ea typeface="ＭＳ Ｐゴシック" panose="020B0600070205080204" pitchFamily="34" charset="-128"/>
            </a:endParaRPr>
          </a:p>
        </p:txBody>
      </p:sp>
      <p:sp>
        <p:nvSpPr>
          <p:cNvPr id="20484" name="Espaço Reservado para Número de Slid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5DF6301-C66E-43B7-B6F2-A352FA228977}" type="slidenum">
              <a:rPr lang="pt-BR" altLang="pt-BR" smtClean="0"/>
              <a:pPr>
                <a:spcBef>
                  <a:spcPct val="0"/>
                </a:spcBef>
              </a:pPr>
              <a:t>261</a:t>
            </a:fld>
            <a:endParaRPr lang="pt-BR" altLang="pt-BR"/>
          </a:p>
        </p:txBody>
      </p:sp>
    </p:spTree>
    <p:extLst>
      <p:ext uri="{BB962C8B-B14F-4D97-AF65-F5344CB8AC3E}">
        <p14:creationId xmlns:p14="http://schemas.microsoft.com/office/powerpoint/2010/main" val="4287954505"/>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Espaço Reservado para Imagem de Slid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Espaço Reservado para Anotaçõ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pt-BR">
              <a:ea typeface="ＭＳ Ｐゴシック" panose="020B0600070205080204" pitchFamily="34" charset="-128"/>
            </a:endParaRPr>
          </a:p>
        </p:txBody>
      </p:sp>
      <p:sp>
        <p:nvSpPr>
          <p:cNvPr id="20484" name="Espaço Reservado para Número de Slid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5DF6301-C66E-43B7-B6F2-A352FA228977}" type="slidenum">
              <a:rPr lang="pt-BR" altLang="pt-BR" smtClean="0"/>
              <a:pPr>
                <a:spcBef>
                  <a:spcPct val="0"/>
                </a:spcBef>
              </a:pPr>
              <a:t>262</a:t>
            </a:fld>
            <a:endParaRPr lang="pt-BR" altLang="pt-BR"/>
          </a:p>
        </p:txBody>
      </p:sp>
    </p:spTree>
    <p:extLst>
      <p:ext uri="{BB962C8B-B14F-4D97-AF65-F5344CB8AC3E}">
        <p14:creationId xmlns:p14="http://schemas.microsoft.com/office/powerpoint/2010/main" val="19043941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ítulo e Conteúdo">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25640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lide de Título">
    <p:spTree>
      <p:nvGrpSpPr>
        <p:cNvPr id="1" name=""/>
        <p:cNvGrpSpPr/>
        <p:nvPr/>
      </p:nvGrpSpPr>
      <p:grpSpPr>
        <a:xfrm>
          <a:off x="0" y="0"/>
          <a:ext cx="0" cy="0"/>
          <a:chOff x="0" y="0"/>
          <a:chExt cx="0" cy="0"/>
        </a:xfrm>
      </p:grpSpPr>
      <p:sp>
        <p:nvSpPr>
          <p:cNvPr id="18" name="Retângulo 17">
            <a:extLst>
              <a:ext uri="{FF2B5EF4-FFF2-40B4-BE49-F238E27FC236}">
                <a16:creationId xmlns:a16="http://schemas.microsoft.com/office/drawing/2014/main" id="{3EC2E83D-067F-4F64-E4A4-B4C23CAA451B}"/>
              </a:ext>
            </a:extLst>
          </p:cNvPr>
          <p:cNvSpPr/>
          <p:nvPr userDrawn="1"/>
        </p:nvSpPr>
        <p:spPr>
          <a:xfrm>
            <a:off x="-1" y="0"/>
            <a:ext cx="12222636" cy="6858000"/>
          </a:xfrm>
          <a:prstGeom prst="rect">
            <a:avLst/>
          </a:prstGeom>
          <a:solidFill>
            <a:srgbClr val="0430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Forma Livre: Forma 21">
            <a:extLst>
              <a:ext uri="{FF2B5EF4-FFF2-40B4-BE49-F238E27FC236}">
                <a16:creationId xmlns:a16="http://schemas.microsoft.com/office/drawing/2014/main" id="{2A281E5C-F26D-590A-2A3E-B616E1B872F3}"/>
              </a:ext>
            </a:extLst>
          </p:cNvPr>
          <p:cNvSpPr/>
          <p:nvPr userDrawn="1"/>
        </p:nvSpPr>
        <p:spPr>
          <a:xfrm>
            <a:off x="6956142" y="477079"/>
            <a:ext cx="1982712" cy="3944707"/>
          </a:xfrm>
          <a:custGeom>
            <a:avLst/>
            <a:gdLst>
              <a:gd name="connsiteX0" fmla="*/ 2413554 w 2422000"/>
              <a:gd name="connsiteY0" fmla="*/ 0 h 4827108"/>
              <a:gd name="connsiteX1" fmla="*/ 2422000 w 2422000"/>
              <a:gd name="connsiteY1" fmla="*/ 427 h 4827108"/>
              <a:gd name="connsiteX2" fmla="*/ 2422000 w 2422000"/>
              <a:gd name="connsiteY2" fmla="*/ 4826682 h 4827108"/>
              <a:gd name="connsiteX3" fmla="*/ 2413554 w 2422000"/>
              <a:gd name="connsiteY3" fmla="*/ 4827108 h 4827108"/>
              <a:gd name="connsiteX4" fmla="*/ 0 w 2422000"/>
              <a:gd name="connsiteY4" fmla="*/ 2413554 h 4827108"/>
              <a:gd name="connsiteX5" fmla="*/ 2413554 w 2422000"/>
              <a:gd name="connsiteY5" fmla="*/ 0 h 4827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22000" h="4827108">
                <a:moveTo>
                  <a:pt x="2413554" y="0"/>
                </a:moveTo>
                <a:lnTo>
                  <a:pt x="2422000" y="427"/>
                </a:lnTo>
                <a:lnTo>
                  <a:pt x="2422000" y="4826682"/>
                </a:lnTo>
                <a:lnTo>
                  <a:pt x="2413554" y="4827108"/>
                </a:lnTo>
                <a:cubicBezTo>
                  <a:pt x="1080585" y="4827108"/>
                  <a:pt x="0" y="3746523"/>
                  <a:pt x="0" y="2413554"/>
                </a:cubicBezTo>
                <a:cubicBezTo>
                  <a:pt x="0" y="1080585"/>
                  <a:pt x="1080585" y="0"/>
                  <a:pt x="2413554" y="0"/>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pt-BR"/>
          </a:p>
        </p:txBody>
      </p:sp>
      <p:pic>
        <p:nvPicPr>
          <p:cNvPr id="30" name="Imagem 29" descr="Pessoas andando na areia&#10;&#10;Descrição gerada automaticamente com confiança baixa">
            <a:extLst>
              <a:ext uri="{FF2B5EF4-FFF2-40B4-BE49-F238E27FC236}">
                <a16:creationId xmlns:a16="http://schemas.microsoft.com/office/drawing/2014/main" id="{9D02CA43-BCC5-928C-7333-AABAD2FA5C7D}"/>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34497"/>
          <a:stretch/>
        </p:blipFill>
        <p:spPr>
          <a:xfrm>
            <a:off x="8924339" y="-1"/>
            <a:ext cx="7643929" cy="7779657"/>
          </a:xfrm>
          <a:prstGeom prst="rect">
            <a:avLst/>
          </a:prstGeom>
        </p:spPr>
      </p:pic>
      <p:pic>
        <p:nvPicPr>
          <p:cNvPr id="13" name="Imagem 12">
            <a:extLst>
              <a:ext uri="{FF2B5EF4-FFF2-40B4-BE49-F238E27FC236}">
                <a16:creationId xmlns:a16="http://schemas.microsoft.com/office/drawing/2014/main" id="{6A3807BC-3EBD-BC0B-C2CB-A02DEBE933C9}"/>
              </a:ext>
            </a:extLst>
          </p:cNvPr>
          <p:cNvPicPr>
            <a:picLocks noChangeAspect="1"/>
          </p:cNvPicPr>
          <p:nvPr userDrawn="1"/>
        </p:nvPicPr>
        <p:blipFill>
          <a:blip r:embed="rId3"/>
          <a:srcRect/>
          <a:stretch/>
        </p:blipFill>
        <p:spPr>
          <a:xfrm>
            <a:off x="10068967" y="627099"/>
            <a:ext cx="1444004" cy="199302"/>
          </a:xfrm>
          <a:prstGeom prst="rect">
            <a:avLst/>
          </a:prstGeom>
        </p:spPr>
      </p:pic>
      <p:pic>
        <p:nvPicPr>
          <p:cNvPr id="14" name="Imagem 13">
            <a:extLst>
              <a:ext uri="{FF2B5EF4-FFF2-40B4-BE49-F238E27FC236}">
                <a16:creationId xmlns:a16="http://schemas.microsoft.com/office/drawing/2014/main" id="{BF4B348E-B4BC-0A57-6083-143D57FBFD08}"/>
              </a:ext>
            </a:extLst>
          </p:cNvPr>
          <p:cNvPicPr>
            <a:picLocks noChangeAspect="1"/>
          </p:cNvPicPr>
          <p:nvPr userDrawn="1"/>
        </p:nvPicPr>
        <p:blipFill>
          <a:blip r:embed="rId4"/>
          <a:srcRect/>
          <a:stretch/>
        </p:blipFill>
        <p:spPr>
          <a:xfrm>
            <a:off x="10068967" y="952894"/>
            <a:ext cx="1444005" cy="231643"/>
          </a:xfrm>
          <a:prstGeom prst="rect">
            <a:avLst/>
          </a:prstGeom>
        </p:spPr>
      </p:pic>
      <p:sp>
        <p:nvSpPr>
          <p:cNvPr id="23" name="Forma Livre: Forma 22">
            <a:extLst>
              <a:ext uri="{FF2B5EF4-FFF2-40B4-BE49-F238E27FC236}">
                <a16:creationId xmlns:a16="http://schemas.microsoft.com/office/drawing/2014/main" id="{7A40359D-232F-A17D-2DC0-5F8B8DD26D77}"/>
              </a:ext>
            </a:extLst>
          </p:cNvPr>
          <p:cNvSpPr/>
          <p:nvPr userDrawn="1"/>
        </p:nvSpPr>
        <p:spPr>
          <a:xfrm rot="10800000">
            <a:off x="8929329" y="2449432"/>
            <a:ext cx="1982712" cy="3944707"/>
          </a:xfrm>
          <a:custGeom>
            <a:avLst/>
            <a:gdLst>
              <a:gd name="connsiteX0" fmla="*/ 2413554 w 2422000"/>
              <a:gd name="connsiteY0" fmla="*/ 0 h 4827108"/>
              <a:gd name="connsiteX1" fmla="*/ 2422000 w 2422000"/>
              <a:gd name="connsiteY1" fmla="*/ 427 h 4827108"/>
              <a:gd name="connsiteX2" fmla="*/ 2422000 w 2422000"/>
              <a:gd name="connsiteY2" fmla="*/ 4826682 h 4827108"/>
              <a:gd name="connsiteX3" fmla="*/ 2413554 w 2422000"/>
              <a:gd name="connsiteY3" fmla="*/ 4827108 h 4827108"/>
              <a:gd name="connsiteX4" fmla="*/ 0 w 2422000"/>
              <a:gd name="connsiteY4" fmla="*/ 2413554 h 4827108"/>
              <a:gd name="connsiteX5" fmla="*/ 2413554 w 2422000"/>
              <a:gd name="connsiteY5" fmla="*/ 0 h 4827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22000" h="4827108">
                <a:moveTo>
                  <a:pt x="2413554" y="0"/>
                </a:moveTo>
                <a:lnTo>
                  <a:pt x="2422000" y="427"/>
                </a:lnTo>
                <a:lnTo>
                  <a:pt x="2422000" y="4826682"/>
                </a:lnTo>
                <a:lnTo>
                  <a:pt x="2413554" y="4827108"/>
                </a:lnTo>
                <a:cubicBezTo>
                  <a:pt x="1080585" y="4827108"/>
                  <a:pt x="0" y="3746523"/>
                  <a:pt x="0" y="2413554"/>
                </a:cubicBezTo>
                <a:cubicBezTo>
                  <a:pt x="0" y="1080585"/>
                  <a:pt x="1080585" y="0"/>
                  <a:pt x="2413554" y="0"/>
                </a:cubicBezTo>
                <a:close/>
              </a:path>
            </a:pathLst>
          </a:cu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pt-BR" dirty="0"/>
          </a:p>
        </p:txBody>
      </p:sp>
      <p:sp>
        <p:nvSpPr>
          <p:cNvPr id="31" name="Forma Livre: Forma 30">
            <a:extLst>
              <a:ext uri="{FF2B5EF4-FFF2-40B4-BE49-F238E27FC236}">
                <a16:creationId xmlns:a16="http://schemas.microsoft.com/office/drawing/2014/main" id="{F472099F-206B-3092-1CA9-94C5E43A3242}"/>
              </a:ext>
            </a:extLst>
          </p:cNvPr>
          <p:cNvSpPr/>
          <p:nvPr userDrawn="1"/>
        </p:nvSpPr>
        <p:spPr>
          <a:xfrm>
            <a:off x="15392136" y="292058"/>
            <a:ext cx="3147747" cy="6262603"/>
          </a:xfrm>
          <a:custGeom>
            <a:avLst/>
            <a:gdLst>
              <a:gd name="connsiteX0" fmla="*/ 2413554 w 2422000"/>
              <a:gd name="connsiteY0" fmla="*/ 0 h 4827108"/>
              <a:gd name="connsiteX1" fmla="*/ 2422000 w 2422000"/>
              <a:gd name="connsiteY1" fmla="*/ 427 h 4827108"/>
              <a:gd name="connsiteX2" fmla="*/ 2422000 w 2422000"/>
              <a:gd name="connsiteY2" fmla="*/ 4826682 h 4827108"/>
              <a:gd name="connsiteX3" fmla="*/ 2413554 w 2422000"/>
              <a:gd name="connsiteY3" fmla="*/ 4827108 h 4827108"/>
              <a:gd name="connsiteX4" fmla="*/ 0 w 2422000"/>
              <a:gd name="connsiteY4" fmla="*/ 2413554 h 4827108"/>
              <a:gd name="connsiteX5" fmla="*/ 2413554 w 2422000"/>
              <a:gd name="connsiteY5" fmla="*/ 0 h 4827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22000" h="4827108">
                <a:moveTo>
                  <a:pt x="2413554" y="0"/>
                </a:moveTo>
                <a:lnTo>
                  <a:pt x="2422000" y="427"/>
                </a:lnTo>
                <a:lnTo>
                  <a:pt x="2422000" y="4826682"/>
                </a:lnTo>
                <a:lnTo>
                  <a:pt x="2413554" y="4827108"/>
                </a:lnTo>
                <a:cubicBezTo>
                  <a:pt x="1080585" y="4827108"/>
                  <a:pt x="0" y="3746523"/>
                  <a:pt x="0" y="2413554"/>
                </a:cubicBezTo>
                <a:cubicBezTo>
                  <a:pt x="0" y="1080585"/>
                  <a:pt x="1080585" y="0"/>
                  <a:pt x="2413554" y="0"/>
                </a:cubicBezTo>
                <a:close/>
              </a:path>
            </a:pathLst>
          </a:cu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pt-BR"/>
          </a:p>
        </p:txBody>
      </p:sp>
    </p:spTree>
    <p:extLst>
      <p:ext uri="{BB962C8B-B14F-4D97-AF65-F5344CB8AC3E}">
        <p14:creationId xmlns:p14="http://schemas.microsoft.com/office/powerpoint/2010/main" val="29474013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ítulo e Conteúdo">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25640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abeçalho da Seção">
    <p:spTree>
      <p:nvGrpSpPr>
        <p:cNvPr id="1" name=""/>
        <p:cNvGrpSpPr/>
        <p:nvPr/>
      </p:nvGrpSpPr>
      <p:grpSpPr>
        <a:xfrm>
          <a:off x="0" y="0"/>
          <a:ext cx="0" cy="0"/>
          <a:chOff x="0" y="0"/>
          <a:chExt cx="0" cy="0"/>
        </a:xfrm>
      </p:grpSpPr>
      <p:sp>
        <p:nvSpPr>
          <p:cNvPr id="9" name="Retângulo 8">
            <a:extLst>
              <a:ext uri="{FF2B5EF4-FFF2-40B4-BE49-F238E27FC236}">
                <a16:creationId xmlns:a16="http://schemas.microsoft.com/office/drawing/2014/main" id="{B6CD4DFE-1132-2977-1F2E-0AB1C451235C}"/>
              </a:ext>
            </a:extLst>
          </p:cNvPr>
          <p:cNvSpPr/>
          <p:nvPr userDrawn="1"/>
        </p:nvSpPr>
        <p:spPr>
          <a:xfrm flipH="1">
            <a:off x="-6" y="6376143"/>
            <a:ext cx="12191999" cy="4818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 name="Imagem 9" descr="Uma imagem contendo relógio, placar&#10;&#10;Descrição gerada automaticamente">
            <a:extLst>
              <a:ext uri="{FF2B5EF4-FFF2-40B4-BE49-F238E27FC236}">
                <a16:creationId xmlns:a16="http://schemas.microsoft.com/office/drawing/2014/main" id="{70FA2B7C-A357-6C51-8A76-8E59C1918018}"/>
              </a:ext>
            </a:extLst>
          </p:cNvPr>
          <p:cNvPicPr>
            <a:picLocks noChangeAspect="1"/>
          </p:cNvPicPr>
          <p:nvPr userDrawn="1"/>
        </p:nvPicPr>
        <p:blipFill>
          <a:blip r:embed="rId2"/>
          <a:stretch>
            <a:fillRect/>
          </a:stretch>
        </p:blipFill>
        <p:spPr>
          <a:xfrm>
            <a:off x="443380" y="6523788"/>
            <a:ext cx="1104206" cy="152403"/>
          </a:xfrm>
          <a:prstGeom prst="rect">
            <a:avLst/>
          </a:prstGeom>
        </p:spPr>
      </p:pic>
      <p:pic>
        <p:nvPicPr>
          <p:cNvPr id="13" name="Imagem 12" descr="Placa azul com letras brancas em fundo preto&#10;&#10;Descrição gerada automaticamente">
            <a:extLst>
              <a:ext uri="{FF2B5EF4-FFF2-40B4-BE49-F238E27FC236}">
                <a16:creationId xmlns:a16="http://schemas.microsoft.com/office/drawing/2014/main" id="{A7684E8A-4E90-2F03-D2FF-F3D23355E388}"/>
              </a:ext>
            </a:extLst>
          </p:cNvPr>
          <p:cNvPicPr>
            <a:picLocks noChangeAspect="1"/>
          </p:cNvPicPr>
          <p:nvPr userDrawn="1"/>
        </p:nvPicPr>
        <p:blipFill>
          <a:blip r:embed="rId3"/>
          <a:stretch>
            <a:fillRect/>
          </a:stretch>
        </p:blipFill>
        <p:spPr>
          <a:xfrm>
            <a:off x="1723384" y="6523788"/>
            <a:ext cx="1104206" cy="177133"/>
          </a:xfrm>
          <a:prstGeom prst="rect">
            <a:avLst/>
          </a:prstGeom>
        </p:spPr>
      </p:pic>
      <p:sp>
        <p:nvSpPr>
          <p:cNvPr id="14" name="Pizza 13">
            <a:extLst>
              <a:ext uri="{FF2B5EF4-FFF2-40B4-BE49-F238E27FC236}">
                <a16:creationId xmlns:a16="http://schemas.microsoft.com/office/drawing/2014/main" id="{D5B5F3D2-551B-5C40-4431-BB1D12032329}"/>
              </a:ext>
            </a:extLst>
          </p:cNvPr>
          <p:cNvSpPr/>
          <p:nvPr userDrawn="1"/>
        </p:nvSpPr>
        <p:spPr>
          <a:xfrm>
            <a:off x="11536347" y="6307723"/>
            <a:ext cx="368468" cy="368468"/>
          </a:xfrm>
          <a:prstGeom prst="pie">
            <a:avLst>
              <a:gd name="adj1" fmla="val 16200192"/>
              <a:gd name="adj2" fmla="val 5399799"/>
            </a:avLst>
          </a:prstGeom>
          <a:solidFill>
            <a:srgbClr val="5FE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pt-BR" dirty="0">
              <a:solidFill>
                <a:schemeClr val="tx1"/>
              </a:solidFill>
            </a:endParaRPr>
          </a:p>
        </p:txBody>
      </p:sp>
      <p:sp>
        <p:nvSpPr>
          <p:cNvPr id="15" name="Pizza 14">
            <a:extLst>
              <a:ext uri="{FF2B5EF4-FFF2-40B4-BE49-F238E27FC236}">
                <a16:creationId xmlns:a16="http://schemas.microsoft.com/office/drawing/2014/main" id="{01965CA8-5F00-52BD-4FD0-958F8199AC56}"/>
              </a:ext>
            </a:extLst>
          </p:cNvPr>
          <p:cNvSpPr/>
          <p:nvPr userDrawn="1"/>
        </p:nvSpPr>
        <p:spPr>
          <a:xfrm>
            <a:off x="11536347" y="6130162"/>
            <a:ext cx="368468" cy="368468"/>
          </a:xfrm>
          <a:prstGeom prst="pie">
            <a:avLst>
              <a:gd name="adj1" fmla="val 5395924"/>
              <a:gd name="adj2" fmla="val 16202197"/>
            </a:avLst>
          </a:prstGeom>
          <a:solidFill>
            <a:srgbClr val="00307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pt-BR" dirty="0">
              <a:solidFill>
                <a:schemeClr val="tx1"/>
              </a:solidFill>
            </a:endParaRPr>
          </a:p>
        </p:txBody>
      </p:sp>
    </p:spTree>
    <p:extLst>
      <p:ext uri="{BB962C8B-B14F-4D97-AF65-F5344CB8AC3E}">
        <p14:creationId xmlns:p14="http://schemas.microsoft.com/office/powerpoint/2010/main" val="6505328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Duas Partes de Conteúdo">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14829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mparação">
    <p:spTree>
      <p:nvGrpSpPr>
        <p:cNvPr id="1" name=""/>
        <p:cNvGrpSpPr/>
        <p:nvPr/>
      </p:nvGrpSpPr>
      <p:grpSpPr>
        <a:xfrm>
          <a:off x="0" y="0"/>
          <a:ext cx="0" cy="0"/>
          <a:chOff x="0" y="0"/>
          <a:chExt cx="0" cy="0"/>
        </a:xfrm>
      </p:grpSpPr>
    </p:spTree>
    <p:extLst>
      <p:ext uri="{BB962C8B-B14F-4D97-AF65-F5344CB8AC3E}">
        <p14:creationId xmlns:p14="http://schemas.microsoft.com/office/powerpoint/2010/main" val="6055693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oment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7551172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Em br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00558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b="1" spc="0" baseline="0">
                <a:solidFill>
                  <a:srgbClr val="023770"/>
                </a:solidFill>
                <a:latin typeface="+mn-lt"/>
              </a:defRPr>
            </a:lvl1pPr>
          </a:lstStyle>
          <a:p>
            <a:r>
              <a:rPr lang="pt-BR"/>
              <a:t>Clique para editar o título mestre</a:t>
            </a:r>
          </a:p>
        </p:txBody>
      </p:sp>
      <p:sp>
        <p:nvSpPr>
          <p:cNvPr id="3" name="Espaço Reservado para Conteúdo 2"/>
          <p:cNvSpPr>
            <a:spLocks noGrp="1"/>
          </p:cNvSpPr>
          <p:nvPr>
            <p:ph idx="1"/>
          </p:nvPr>
        </p:nvSpPr>
        <p:spPr>
          <a:xfrm>
            <a:off x="5183188" y="987425"/>
            <a:ext cx="6172200" cy="4873625"/>
          </a:xfrm>
        </p:spPr>
        <p:txBody>
          <a:bodyPr/>
          <a:lstStyle>
            <a:lvl1pPr>
              <a:defRPr sz="3200" spc="0" baseline="0">
                <a:solidFill>
                  <a:schemeClr val="tx1">
                    <a:lumMod val="65000"/>
                    <a:lumOff val="35000"/>
                  </a:schemeClr>
                </a:solidFill>
                <a:latin typeface="+mn-lt"/>
              </a:defRPr>
            </a:lvl1pPr>
            <a:lvl2pPr>
              <a:defRPr sz="2800" spc="0" baseline="0">
                <a:solidFill>
                  <a:schemeClr val="tx1">
                    <a:lumMod val="65000"/>
                    <a:lumOff val="35000"/>
                  </a:schemeClr>
                </a:solidFill>
                <a:latin typeface="+mn-lt"/>
              </a:defRPr>
            </a:lvl2pPr>
            <a:lvl3pPr>
              <a:defRPr sz="2400" spc="0" baseline="0">
                <a:solidFill>
                  <a:schemeClr val="tx1">
                    <a:lumMod val="65000"/>
                    <a:lumOff val="35000"/>
                  </a:schemeClr>
                </a:solidFill>
                <a:latin typeface="+mn-lt"/>
              </a:defRPr>
            </a:lvl3pPr>
            <a:lvl4pPr>
              <a:defRPr sz="2000" spc="0" baseline="0">
                <a:solidFill>
                  <a:schemeClr val="tx1">
                    <a:lumMod val="65000"/>
                    <a:lumOff val="35000"/>
                  </a:schemeClr>
                </a:solidFill>
                <a:latin typeface="+mn-lt"/>
              </a:defRPr>
            </a:lvl4pPr>
            <a:lvl5pPr>
              <a:defRPr sz="2000" spc="0" baseline="0">
                <a:solidFill>
                  <a:schemeClr val="tx1">
                    <a:lumMod val="65000"/>
                    <a:lumOff val="35000"/>
                  </a:schemeClr>
                </a:solidFill>
                <a:latin typeface="+mn-lt"/>
              </a:defRPr>
            </a:lvl5pPr>
            <a:lvl6pPr>
              <a:defRPr sz="2000"/>
            </a:lvl6pPr>
            <a:lvl7pPr>
              <a:defRPr sz="2000"/>
            </a:lvl7pPr>
            <a:lvl8pPr>
              <a:defRPr sz="2000"/>
            </a:lvl8pPr>
            <a:lvl9pPr>
              <a:defRPr sz="20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spc="0" baseline="0">
                <a:solidFill>
                  <a:srgbClr val="00B6ED"/>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Editar estilos de texto Mestre</a:t>
            </a:r>
          </a:p>
        </p:txBody>
      </p:sp>
      <p:sp>
        <p:nvSpPr>
          <p:cNvPr id="5" name="Espaço Reservado para Data 4"/>
          <p:cNvSpPr>
            <a:spLocks noGrp="1"/>
          </p:cNvSpPr>
          <p:nvPr>
            <p:ph type="dt" sz="half" idx="10"/>
          </p:nvPr>
        </p:nvSpPr>
        <p:spPr/>
        <p:txBody>
          <a:bodyPr/>
          <a:lstStyle/>
          <a:p>
            <a:fld id="{6E8A2C6E-6984-46CD-88F4-677310F4BD70}" type="datetimeFigureOut">
              <a:rPr lang="pt-BR" smtClean="0"/>
              <a:t>24/02/2026</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F7B1E4F4-5424-4C94-93CD-C808B591274D}" type="slidenum">
              <a:rPr lang="pt-BR" smtClean="0"/>
              <a:t>‹nº›</a:t>
            </a:fld>
            <a:endParaRPr lang="pt-BR"/>
          </a:p>
        </p:txBody>
      </p:sp>
      <p:pic>
        <p:nvPicPr>
          <p:cNvPr id="9" name="Imagem 8"/>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7144" y="6368114"/>
            <a:ext cx="12199144" cy="487769"/>
          </a:xfrm>
          <a:prstGeom prst="rect">
            <a:avLst/>
          </a:prstGeom>
        </p:spPr>
      </p:pic>
      <p:sp>
        <p:nvSpPr>
          <p:cNvPr id="8" name="Retângulo 7">
            <a:extLst>
              <a:ext uri="{FF2B5EF4-FFF2-40B4-BE49-F238E27FC236}">
                <a16:creationId xmlns:a16="http://schemas.microsoft.com/office/drawing/2014/main" id="{3855D2C5-CA9F-D83A-3614-04AF9E660251}"/>
              </a:ext>
            </a:extLst>
          </p:cNvPr>
          <p:cNvSpPr/>
          <p:nvPr userDrawn="1"/>
        </p:nvSpPr>
        <p:spPr>
          <a:xfrm>
            <a:off x="8857672" y="6311900"/>
            <a:ext cx="3334327" cy="5550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2" name="Imagem 11" descr="Texto&#10;&#10;Descrição gerada automaticamente">
            <a:extLst>
              <a:ext uri="{FF2B5EF4-FFF2-40B4-BE49-F238E27FC236}">
                <a16:creationId xmlns:a16="http://schemas.microsoft.com/office/drawing/2014/main" id="{88AA1E9B-1642-C261-50D3-7676F1BF616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9227880" y="637144"/>
            <a:ext cx="2743200" cy="781523"/>
          </a:xfrm>
          <a:prstGeom prst="rect">
            <a:avLst/>
          </a:prstGeom>
        </p:spPr>
      </p:pic>
      <p:pic>
        <p:nvPicPr>
          <p:cNvPr id="13" name="Imagem 12" descr="Interface gráfica do usuário&#10;&#10;Descrição gerada automaticamente">
            <a:extLst>
              <a:ext uri="{FF2B5EF4-FFF2-40B4-BE49-F238E27FC236}">
                <a16:creationId xmlns:a16="http://schemas.microsoft.com/office/drawing/2014/main" id="{CC53B2CC-D9AE-EF9E-184E-0D0435F2FE4F}"/>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9307920" y="6148150"/>
            <a:ext cx="2583120" cy="781523"/>
          </a:xfrm>
          <a:prstGeom prst="rect">
            <a:avLst/>
          </a:prstGeom>
        </p:spPr>
      </p:pic>
    </p:spTree>
    <p:extLst>
      <p:ext uri="{BB962C8B-B14F-4D97-AF65-F5344CB8AC3E}">
        <p14:creationId xmlns:p14="http://schemas.microsoft.com/office/powerpoint/2010/main" val="686948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Imagem com Legenda">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3F62B261-32BA-0EEC-99AD-D08FC42A3402}"/>
              </a:ext>
            </a:extLst>
          </p:cNvPr>
          <p:cNvSpPr txBox="1"/>
          <p:nvPr userDrawn="1"/>
        </p:nvSpPr>
        <p:spPr>
          <a:xfrm>
            <a:off x="1273826" y="1056972"/>
            <a:ext cx="6357093" cy="3201197"/>
          </a:xfrm>
          <a:prstGeom prst="rect">
            <a:avLst/>
          </a:prstGeom>
          <a:noFill/>
        </p:spPr>
        <p:txBody>
          <a:bodyPr wrap="square" rtlCol="0">
            <a:spAutoFit/>
          </a:bodyPr>
          <a:lstStyle/>
          <a:p>
            <a:pPr>
              <a:lnSpc>
                <a:spcPts val="6000"/>
              </a:lnSpc>
            </a:pPr>
            <a:r>
              <a:rPr lang="pt-BR" sz="6600" b="1" i="1" dirty="0">
                <a:solidFill>
                  <a:srgbClr val="023770"/>
                </a:solidFill>
                <a:ea typeface="Roboto Black" panose="02000000000000000000" pitchFamily="2" charset="0"/>
              </a:rPr>
              <a:t>Sugestões </a:t>
            </a:r>
          </a:p>
          <a:p>
            <a:pPr>
              <a:lnSpc>
                <a:spcPts val="6000"/>
              </a:lnSpc>
            </a:pPr>
            <a:r>
              <a:rPr lang="pt-BR" sz="6600" b="1" i="1" dirty="0">
                <a:solidFill>
                  <a:srgbClr val="023770"/>
                </a:solidFill>
                <a:ea typeface="Roboto Black" panose="02000000000000000000" pitchFamily="2" charset="0"/>
              </a:rPr>
              <a:t>de projetos e ações para o SEST SENAT? </a:t>
            </a:r>
            <a:endParaRPr lang="pt-BR" sz="6600" i="1" dirty="0">
              <a:solidFill>
                <a:srgbClr val="00B6ED"/>
              </a:solidFill>
              <a:ea typeface="Roboto" panose="02000000000000000000" pitchFamily="2" charset="0"/>
            </a:endParaRPr>
          </a:p>
        </p:txBody>
      </p:sp>
      <p:sp>
        <p:nvSpPr>
          <p:cNvPr id="5" name="Pizza 4">
            <a:extLst>
              <a:ext uri="{FF2B5EF4-FFF2-40B4-BE49-F238E27FC236}">
                <a16:creationId xmlns:a16="http://schemas.microsoft.com/office/drawing/2014/main" id="{6712E14F-FB89-15F5-FDD1-17E1808B07D8}"/>
              </a:ext>
            </a:extLst>
          </p:cNvPr>
          <p:cNvSpPr/>
          <p:nvPr userDrawn="1"/>
        </p:nvSpPr>
        <p:spPr>
          <a:xfrm>
            <a:off x="6629244" y="2968931"/>
            <a:ext cx="4831160" cy="4717573"/>
          </a:xfrm>
          <a:prstGeom prst="pie">
            <a:avLst>
              <a:gd name="adj1" fmla="val 16200192"/>
              <a:gd name="adj2" fmla="val 5399799"/>
            </a:avLst>
          </a:prstGeom>
          <a:solidFill>
            <a:srgbClr val="5FE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pt-BR" dirty="0">
              <a:solidFill>
                <a:schemeClr val="tx1"/>
              </a:solidFill>
            </a:endParaRPr>
          </a:p>
        </p:txBody>
      </p:sp>
      <p:sp>
        <p:nvSpPr>
          <p:cNvPr id="39" name="Pizza 38">
            <a:extLst>
              <a:ext uri="{FF2B5EF4-FFF2-40B4-BE49-F238E27FC236}">
                <a16:creationId xmlns:a16="http://schemas.microsoft.com/office/drawing/2014/main" id="{6A91F2D6-31FE-76F1-DB76-9AD4F922F1D9}"/>
              </a:ext>
            </a:extLst>
          </p:cNvPr>
          <p:cNvSpPr/>
          <p:nvPr userDrawn="1"/>
        </p:nvSpPr>
        <p:spPr>
          <a:xfrm>
            <a:off x="197429" y="312569"/>
            <a:ext cx="368468" cy="368468"/>
          </a:xfrm>
          <a:prstGeom prst="pie">
            <a:avLst>
              <a:gd name="adj1" fmla="val 16200192"/>
              <a:gd name="adj2" fmla="val 5399799"/>
            </a:avLst>
          </a:prstGeom>
          <a:solidFill>
            <a:srgbClr val="5FE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pt-BR" dirty="0">
              <a:solidFill>
                <a:schemeClr val="tx1"/>
              </a:solidFill>
            </a:endParaRPr>
          </a:p>
        </p:txBody>
      </p:sp>
      <p:pic>
        <p:nvPicPr>
          <p:cNvPr id="7" name="Imagem 6" descr="Estação de ônibus&#10;&#10;Descrição gerada automaticamente com confiança média">
            <a:extLst>
              <a:ext uri="{FF2B5EF4-FFF2-40B4-BE49-F238E27FC236}">
                <a16:creationId xmlns:a16="http://schemas.microsoft.com/office/drawing/2014/main" id="{F2982504-A165-9536-DBE8-EB67E3B83B76}"/>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14" t="10220" r="34814" b="2761"/>
          <a:stretch/>
        </p:blipFill>
        <p:spPr>
          <a:xfrm>
            <a:off x="6629243" y="727750"/>
            <a:ext cx="4831161" cy="4812019"/>
          </a:xfrm>
          <a:prstGeom prst="pie">
            <a:avLst>
              <a:gd name="adj1" fmla="val 5394905"/>
              <a:gd name="adj2" fmla="val 16200000"/>
            </a:avLst>
          </a:prstGeom>
        </p:spPr>
      </p:pic>
      <p:sp>
        <p:nvSpPr>
          <p:cNvPr id="9" name="CaixaDeTexto 8">
            <a:extLst>
              <a:ext uri="{FF2B5EF4-FFF2-40B4-BE49-F238E27FC236}">
                <a16:creationId xmlns:a16="http://schemas.microsoft.com/office/drawing/2014/main" id="{8A8994B9-1203-F245-CC3B-C9F7CD6AB452}"/>
              </a:ext>
            </a:extLst>
          </p:cNvPr>
          <p:cNvSpPr txBox="1"/>
          <p:nvPr userDrawn="1"/>
        </p:nvSpPr>
        <p:spPr>
          <a:xfrm>
            <a:off x="1273826" y="4815440"/>
            <a:ext cx="2786332" cy="1285737"/>
          </a:xfrm>
          <a:prstGeom prst="rect">
            <a:avLst/>
          </a:prstGeom>
          <a:noFill/>
        </p:spPr>
        <p:txBody>
          <a:bodyPr wrap="square" rtlCol="0">
            <a:spAutoFit/>
          </a:bodyPr>
          <a:lstStyle/>
          <a:p>
            <a:pPr>
              <a:lnSpc>
                <a:spcPts val="3000"/>
              </a:lnSpc>
            </a:pPr>
            <a:r>
              <a:rPr lang="pt-BR" sz="3200" b="1" dirty="0">
                <a:solidFill>
                  <a:srgbClr val="00B0F0"/>
                </a:solidFill>
                <a:ea typeface="Roboto Black" panose="02000000000000000000" pitchFamily="2" charset="0"/>
              </a:rPr>
              <a:t>Entre em contato conosco </a:t>
            </a:r>
          </a:p>
        </p:txBody>
      </p:sp>
      <p:pic>
        <p:nvPicPr>
          <p:cNvPr id="11" name="Imagem 10">
            <a:extLst>
              <a:ext uri="{FF2B5EF4-FFF2-40B4-BE49-F238E27FC236}">
                <a16:creationId xmlns:a16="http://schemas.microsoft.com/office/drawing/2014/main" id="{D9D0EEE2-45B5-F760-6EEE-C76FC4C5ACA2}"/>
              </a:ext>
            </a:extLst>
          </p:cNvPr>
          <p:cNvPicPr>
            <a:picLocks noChangeAspect="1"/>
          </p:cNvPicPr>
          <p:nvPr userDrawn="1"/>
        </p:nvPicPr>
        <p:blipFill>
          <a:blip r:embed="rId3"/>
          <a:stretch>
            <a:fillRect/>
          </a:stretch>
        </p:blipFill>
        <p:spPr>
          <a:xfrm>
            <a:off x="3147426" y="4884136"/>
            <a:ext cx="1088200" cy="1088200"/>
          </a:xfrm>
          <a:prstGeom prst="rect">
            <a:avLst/>
          </a:prstGeom>
        </p:spPr>
      </p:pic>
    </p:spTree>
    <p:extLst>
      <p:ext uri="{BB962C8B-B14F-4D97-AF65-F5344CB8AC3E}">
        <p14:creationId xmlns:p14="http://schemas.microsoft.com/office/powerpoint/2010/main" val="37719233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1_Imagem com Legenda">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F81DD556-A75A-512C-C6B4-837BA5E89923}"/>
              </a:ext>
            </a:extLst>
          </p:cNvPr>
          <p:cNvSpPr txBox="1"/>
          <p:nvPr userDrawn="1"/>
        </p:nvSpPr>
        <p:spPr>
          <a:xfrm>
            <a:off x="1273826" y="1056972"/>
            <a:ext cx="6357093" cy="3201197"/>
          </a:xfrm>
          <a:prstGeom prst="rect">
            <a:avLst/>
          </a:prstGeom>
          <a:noFill/>
        </p:spPr>
        <p:txBody>
          <a:bodyPr wrap="square" rtlCol="0">
            <a:spAutoFit/>
          </a:bodyPr>
          <a:lstStyle/>
          <a:p>
            <a:pPr>
              <a:lnSpc>
                <a:spcPts val="6000"/>
              </a:lnSpc>
            </a:pPr>
            <a:r>
              <a:rPr lang="pt-BR" sz="6600" b="1" i="1" dirty="0">
                <a:solidFill>
                  <a:srgbClr val="023770"/>
                </a:solidFill>
                <a:ea typeface="Roboto Black" panose="02000000000000000000" pitchFamily="2" charset="0"/>
              </a:rPr>
              <a:t>Sugestões </a:t>
            </a:r>
          </a:p>
          <a:p>
            <a:pPr>
              <a:lnSpc>
                <a:spcPts val="6000"/>
              </a:lnSpc>
            </a:pPr>
            <a:r>
              <a:rPr lang="pt-BR" sz="6600" b="1" i="1" dirty="0">
                <a:solidFill>
                  <a:srgbClr val="023770"/>
                </a:solidFill>
                <a:ea typeface="Roboto Black" panose="02000000000000000000" pitchFamily="2" charset="0"/>
              </a:rPr>
              <a:t>de projetos e ações para o SEST SENAT? </a:t>
            </a:r>
            <a:endParaRPr lang="pt-BR" sz="6600" i="1" dirty="0">
              <a:solidFill>
                <a:srgbClr val="00B6ED"/>
              </a:solidFill>
              <a:ea typeface="Roboto" panose="02000000000000000000" pitchFamily="2" charset="0"/>
            </a:endParaRPr>
          </a:p>
        </p:txBody>
      </p:sp>
      <p:sp>
        <p:nvSpPr>
          <p:cNvPr id="5" name="CaixaDeTexto 4">
            <a:extLst>
              <a:ext uri="{FF2B5EF4-FFF2-40B4-BE49-F238E27FC236}">
                <a16:creationId xmlns:a16="http://schemas.microsoft.com/office/drawing/2014/main" id="{E58C630C-6AE8-BC24-F670-D8856E5EE2F5}"/>
              </a:ext>
            </a:extLst>
          </p:cNvPr>
          <p:cNvSpPr txBox="1"/>
          <p:nvPr userDrawn="1"/>
        </p:nvSpPr>
        <p:spPr>
          <a:xfrm>
            <a:off x="1273826" y="4815440"/>
            <a:ext cx="2786332" cy="1285737"/>
          </a:xfrm>
          <a:prstGeom prst="rect">
            <a:avLst/>
          </a:prstGeom>
          <a:noFill/>
        </p:spPr>
        <p:txBody>
          <a:bodyPr wrap="square" rtlCol="0">
            <a:spAutoFit/>
          </a:bodyPr>
          <a:lstStyle/>
          <a:p>
            <a:pPr>
              <a:lnSpc>
                <a:spcPts val="3000"/>
              </a:lnSpc>
            </a:pPr>
            <a:r>
              <a:rPr lang="pt-BR" sz="3200" b="1" dirty="0">
                <a:solidFill>
                  <a:srgbClr val="00B0F0"/>
                </a:solidFill>
                <a:ea typeface="Roboto Black" panose="02000000000000000000" pitchFamily="2" charset="0"/>
              </a:rPr>
              <a:t>Entre em contato conosco </a:t>
            </a:r>
          </a:p>
        </p:txBody>
      </p:sp>
      <p:pic>
        <p:nvPicPr>
          <p:cNvPr id="2" name="Imagem 1">
            <a:extLst>
              <a:ext uri="{FF2B5EF4-FFF2-40B4-BE49-F238E27FC236}">
                <a16:creationId xmlns:a16="http://schemas.microsoft.com/office/drawing/2014/main" id="{A9680BFA-9321-524F-A0B8-2520C2E66C4D}"/>
              </a:ext>
            </a:extLst>
          </p:cNvPr>
          <p:cNvPicPr>
            <a:picLocks noChangeAspect="1"/>
          </p:cNvPicPr>
          <p:nvPr userDrawn="1"/>
        </p:nvPicPr>
        <p:blipFill>
          <a:blip r:embed="rId2"/>
          <a:stretch>
            <a:fillRect/>
          </a:stretch>
        </p:blipFill>
        <p:spPr>
          <a:xfrm>
            <a:off x="3147426" y="4884136"/>
            <a:ext cx="1088200" cy="1088200"/>
          </a:xfrm>
          <a:prstGeom prst="rect">
            <a:avLst/>
          </a:prstGeom>
        </p:spPr>
      </p:pic>
    </p:spTree>
    <p:extLst>
      <p:ext uri="{BB962C8B-B14F-4D97-AF65-F5344CB8AC3E}">
        <p14:creationId xmlns:p14="http://schemas.microsoft.com/office/powerpoint/2010/main" val="13950279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cSld name="1_Título e conteúdo">
    <p:spTree>
      <p:nvGrpSpPr>
        <p:cNvPr id="1" name=""/>
        <p:cNvGrpSpPr/>
        <p:nvPr/>
      </p:nvGrpSpPr>
      <p:grpSpPr>
        <a:xfrm>
          <a:off x="0" y="0"/>
          <a:ext cx="0" cy="0"/>
          <a:chOff x="0" y="0"/>
          <a:chExt cx="0" cy="0"/>
        </a:xfrm>
      </p:grpSpPr>
      <p:sp>
        <p:nvSpPr>
          <p:cNvPr id="2" name="Título 1"/>
          <p:cNvSpPr>
            <a:spLocks noGrp="1"/>
          </p:cNvSpPr>
          <p:nvPr>
            <p:ph type="title"/>
          </p:nvPr>
        </p:nvSpPr>
        <p:spPr>
          <a:xfrm>
            <a:off x="0" y="224449"/>
            <a:ext cx="12023188" cy="858764"/>
          </a:xfrm>
        </p:spPr>
        <p:txBody>
          <a:bodyPr/>
          <a:lstStyle>
            <a:lvl1pPr>
              <a:defRPr>
                <a:solidFill>
                  <a:schemeClr val="accent1">
                    <a:lumMod val="50000"/>
                  </a:schemeClr>
                </a:solidFill>
                <a:latin typeface="Helvetica" panose="020B0604020202020204" pitchFamily="34" charset="0"/>
                <a:cs typeface="Helvetica" panose="020B0604020202020204" pitchFamily="34" charset="0"/>
              </a:defRPr>
            </a:lvl1pPr>
          </a:lstStyle>
          <a:p>
            <a:r>
              <a:rPr lang="pt-BR"/>
              <a:t>Clique para editar o título mestre</a:t>
            </a:r>
          </a:p>
        </p:txBody>
      </p:sp>
      <p:sp>
        <p:nvSpPr>
          <p:cNvPr id="3" name="Espaço Reservado para Conteúdo 2"/>
          <p:cNvSpPr>
            <a:spLocks noGrp="1"/>
          </p:cNvSpPr>
          <p:nvPr>
            <p:ph idx="1"/>
          </p:nvPr>
        </p:nvSpPr>
        <p:spPr>
          <a:xfrm>
            <a:off x="317694" y="1291053"/>
            <a:ext cx="11705493" cy="4351338"/>
          </a:xfrm>
        </p:spPr>
        <p:txBody>
          <a:bodyPr/>
          <a:lstStyle>
            <a:lvl1pPr>
              <a:defRPr>
                <a:solidFill>
                  <a:schemeClr val="accent1">
                    <a:lumMod val="50000"/>
                  </a:schemeClr>
                </a:solidFill>
                <a:latin typeface="Helvetica" panose="020B0604020202020204" pitchFamily="34" charset="0"/>
                <a:cs typeface="Helvetica" panose="020B0604020202020204" pitchFamily="34" charset="0"/>
              </a:defRPr>
            </a:lvl1pPr>
            <a:lvl2pPr>
              <a:defRPr>
                <a:solidFill>
                  <a:schemeClr val="accent1">
                    <a:lumMod val="50000"/>
                  </a:schemeClr>
                </a:solidFill>
                <a:latin typeface="Helvetica" panose="020B0604020202020204" pitchFamily="34" charset="0"/>
                <a:cs typeface="Helvetica" panose="020B0604020202020204" pitchFamily="34" charset="0"/>
              </a:defRPr>
            </a:lvl2pPr>
            <a:lvl3pPr>
              <a:defRPr>
                <a:solidFill>
                  <a:schemeClr val="accent1">
                    <a:lumMod val="50000"/>
                  </a:schemeClr>
                </a:solidFill>
                <a:latin typeface="Helvetica" panose="020B0604020202020204" pitchFamily="34" charset="0"/>
                <a:cs typeface="Helvetica" panose="020B0604020202020204" pitchFamily="34" charset="0"/>
              </a:defRPr>
            </a:lvl3pPr>
            <a:lvl4pPr>
              <a:defRPr>
                <a:solidFill>
                  <a:schemeClr val="accent1">
                    <a:lumMod val="50000"/>
                  </a:schemeClr>
                </a:solidFill>
                <a:latin typeface="Helvetica" panose="020B0604020202020204" pitchFamily="34" charset="0"/>
                <a:cs typeface="Helvetica" panose="020B0604020202020204" pitchFamily="34" charset="0"/>
              </a:defRPr>
            </a:lvl4pPr>
            <a:lvl5pPr>
              <a:defRPr>
                <a:solidFill>
                  <a:schemeClr val="accent1">
                    <a:lumMod val="50000"/>
                  </a:schemeClr>
                </a:solidFill>
                <a:latin typeface="Helvetica" panose="020B0604020202020204" pitchFamily="34" charset="0"/>
                <a:cs typeface="Helvetica" panose="020B0604020202020204" pitchFamily="34" charset="0"/>
              </a:defRPr>
            </a:lvl5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9642BF85-54FF-46CE-B398-87F998CFD60B}" type="datetimeFigureOut">
              <a:rPr lang="pt-BR" smtClean="0"/>
              <a:t>24/02/2026</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29185252-FBA3-417A-8652-C405B89605D8}" type="slidenum">
              <a:rPr lang="pt-BR" smtClean="0"/>
              <a:t>‹nº›</a:t>
            </a:fld>
            <a:endParaRPr lang="pt-BR"/>
          </a:p>
        </p:txBody>
      </p:sp>
    </p:spTree>
    <p:extLst>
      <p:ext uri="{BB962C8B-B14F-4D97-AF65-F5344CB8AC3E}">
        <p14:creationId xmlns:p14="http://schemas.microsoft.com/office/powerpoint/2010/main" val="27374382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cSld name="1_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914400" y="2130426"/>
            <a:ext cx="10363200" cy="1470025"/>
          </a:xfrm>
        </p:spPr>
        <p:txBody>
          <a:bodyPr/>
          <a:lstStyle/>
          <a:p>
            <a:r>
              <a:rPr lang="pt-BR"/>
              <a:t>Clique para editar o estilo do título mestre</a:t>
            </a:r>
          </a:p>
        </p:txBody>
      </p:sp>
      <p:sp>
        <p:nvSpPr>
          <p:cNvPr id="3" name="Subtítulo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a:t>Clique para editar o estilo do subtítulo mestre</a:t>
            </a:r>
          </a:p>
        </p:txBody>
      </p:sp>
      <p:sp>
        <p:nvSpPr>
          <p:cNvPr id="4" name="Espaço Reservado para Data 3"/>
          <p:cNvSpPr>
            <a:spLocks noGrp="1"/>
          </p:cNvSpPr>
          <p:nvPr>
            <p:ph type="dt" sz="half" idx="10"/>
          </p:nvPr>
        </p:nvSpPr>
        <p:spPr/>
        <p:txBody>
          <a:bodyPr/>
          <a:lstStyle/>
          <a:p>
            <a:fld id="{F417629B-D231-4525-AF20-30FFC10744A4}" type="datetime1">
              <a:rPr lang="pt-BR" smtClean="0"/>
              <a:t>24/02/2026</a:t>
            </a:fld>
            <a:endParaRPr lang="pt-BR"/>
          </a:p>
        </p:txBody>
      </p:sp>
      <p:sp>
        <p:nvSpPr>
          <p:cNvPr id="5" name="Espaço Reservado para Rodapé 4"/>
          <p:cNvSpPr>
            <a:spLocks noGrp="1"/>
          </p:cNvSpPr>
          <p:nvPr>
            <p:ph type="ftr" sz="quarter" idx="11"/>
          </p:nvPr>
        </p:nvSpPr>
        <p:spPr/>
        <p:txBody>
          <a:bodyPr/>
          <a:lstStyle/>
          <a:p>
            <a:r>
              <a:rPr lang="pt-BR"/>
              <a:t>Prof. Johnny Souza</a:t>
            </a:r>
          </a:p>
        </p:txBody>
      </p:sp>
      <p:sp>
        <p:nvSpPr>
          <p:cNvPr id="6" name="Espaço Reservado para Número de Slide 5"/>
          <p:cNvSpPr>
            <a:spLocks noGrp="1"/>
          </p:cNvSpPr>
          <p:nvPr>
            <p:ph type="sldNum" sz="quarter" idx="12"/>
          </p:nvPr>
        </p:nvSpPr>
        <p:spPr/>
        <p:txBody>
          <a:bodyPr/>
          <a:lstStyle/>
          <a:p>
            <a:fld id="{4462C784-1C24-4A56-920A-98D650831DF1}" type="slidenum">
              <a:rPr lang="pt-BR" smtClean="0"/>
              <a:pPr/>
              <a:t>‹nº›</a:t>
            </a:fld>
            <a:endParaRPr lang="pt-BR"/>
          </a:p>
        </p:txBody>
      </p:sp>
      <p:pic>
        <p:nvPicPr>
          <p:cNvPr id="7" name="Picture 4"/>
          <p:cNvPicPr>
            <a:picLocks noChangeAspect="1" noChangeArrowheads="1"/>
          </p:cNvPicPr>
          <p:nvPr userDrawn="1"/>
        </p:nvPicPr>
        <p:blipFill>
          <a:blip r:embed="rId2"/>
          <a:srcRect/>
          <a:stretch>
            <a:fillRect/>
          </a:stretch>
        </p:blipFill>
        <p:spPr bwMode="auto">
          <a:xfrm>
            <a:off x="1" y="1"/>
            <a:ext cx="12192000" cy="6858001"/>
          </a:xfrm>
          <a:prstGeom prst="rect">
            <a:avLst/>
          </a:prstGeom>
          <a:noFill/>
          <a:ln w="9525">
            <a:noFill/>
            <a:miter lim="800000"/>
            <a:headEnd/>
            <a:tailEnd/>
          </a:ln>
          <a:effectLst/>
        </p:spPr>
      </p:pic>
    </p:spTree>
    <p:extLst>
      <p:ext uri="{BB962C8B-B14F-4D97-AF65-F5344CB8AC3E}">
        <p14:creationId xmlns:p14="http://schemas.microsoft.com/office/powerpoint/2010/main" val="30148124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Abre interno - Senac">
    <p:spTree>
      <p:nvGrpSpPr>
        <p:cNvPr id="1" name=""/>
        <p:cNvGrpSpPr/>
        <p:nvPr/>
      </p:nvGrpSpPr>
      <p:grpSpPr>
        <a:xfrm>
          <a:off x="0" y="0"/>
          <a:ext cx="0" cy="0"/>
          <a:chOff x="0" y="0"/>
          <a:chExt cx="0" cy="0"/>
        </a:xfrm>
      </p:grpSpPr>
      <p:sp>
        <p:nvSpPr>
          <p:cNvPr id="8" name="Rectangle 7"/>
          <p:cNvSpPr/>
          <p:nvPr userDrawn="1"/>
        </p:nvSpPr>
        <p:spPr>
          <a:xfrm>
            <a:off x="738910" y="542637"/>
            <a:ext cx="10652605" cy="5795817"/>
          </a:xfrm>
          <a:prstGeom prst="rect">
            <a:avLst/>
          </a:prstGeom>
          <a:solidFill>
            <a:schemeClr val="bg1">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9" name="Title 1"/>
          <p:cNvSpPr>
            <a:spLocks noGrp="1"/>
          </p:cNvSpPr>
          <p:nvPr>
            <p:ph type="ctrTitle"/>
          </p:nvPr>
        </p:nvSpPr>
        <p:spPr>
          <a:xfrm>
            <a:off x="914400" y="2149964"/>
            <a:ext cx="10363200" cy="1470025"/>
          </a:xfrm>
        </p:spPr>
        <p:txBody>
          <a:bodyPr/>
          <a:lstStyle>
            <a:lvl1pPr>
              <a:defRPr>
                <a:solidFill>
                  <a:schemeClr val="tx1"/>
                </a:solidFill>
              </a:defRPr>
            </a:lvl1pPr>
          </a:lstStyle>
          <a:p>
            <a:r>
              <a:rPr lang="pt-BR" dirty="0"/>
              <a:t>Click </a:t>
            </a:r>
            <a:r>
              <a:rPr lang="pt-BR" dirty="0" err="1"/>
              <a:t>to</a:t>
            </a:r>
            <a:r>
              <a:rPr lang="pt-BR" dirty="0"/>
              <a:t> </a:t>
            </a:r>
            <a:r>
              <a:rPr lang="pt-BR" dirty="0" err="1"/>
              <a:t>edit</a:t>
            </a:r>
            <a:r>
              <a:rPr lang="pt-BR" dirty="0"/>
              <a:t> Master </a:t>
            </a:r>
            <a:r>
              <a:rPr lang="pt-BR" dirty="0" err="1"/>
              <a:t>title</a:t>
            </a:r>
            <a:r>
              <a:rPr lang="pt-BR" dirty="0"/>
              <a:t> </a:t>
            </a:r>
            <a:r>
              <a:rPr lang="pt-BR" dirty="0" err="1"/>
              <a:t>style</a:t>
            </a:r>
            <a:endParaRPr lang="en-US" dirty="0"/>
          </a:p>
        </p:txBody>
      </p:sp>
      <p:sp>
        <p:nvSpPr>
          <p:cNvPr id="10" name="Subtitle 2"/>
          <p:cNvSpPr>
            <a:spLocks noGrp="1"/>
          </p:cNvSpPr>
          <p:nvPr>
            <p:ph type="subTitle" idx="1"/>
          </p:nvPr>
        </p:nvSpPr>
        <p:spPr>
          <a:xfrm>
            <a:off x="1828800" y="3905739"/>
            <a:ext cx="8534400" cy="951345"/>
          </a:xfrm>
        </p:spPr>
        <p:txBody>
          <a:bodyPr/>
          <a:lstStyle>
            <a:lvl1pPr marL="0" indent="0" algn="ctr">
              <a:buNone/>
              <a:defRPr>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dirty="0"/>
              <a:t>Click </a:t>
            </a:r>
            <a:r>
              <a:rPr lang="pt-BR" dirty="0" err="1"/>
              <a:t>to</a:t>
            </a:r>
            <a:r>
              <a:rPr lang="pt-BR" dirty="0"/>
              <a:t> </a:t>
            </a:r>
            <a:r>
              <a:rPr lang="pt-BR" dirty="0" err="1"/>
              <a:t>edit</a:t>
            </a:r>
            <a:r>
              <a:rPr lang="pt-BR" dirty="0"/>
              <a:t> Master </a:t>
            </a:r>
            <a:r>
              <a:rPr lang="pt-BR" dirty="0" err="1"/>
              <a:t>subtitle</a:t>
            </a:r>
            <a:r>
              <a:rPr lang="pt-BR" dirty="0"/>
              <a:t> </a:t>
            </a:r>
            <a:r>
              <a:rPr lang="pt-BR" dirty="0" err="1"/>
              <a:t>style</a:t>
            </a:r>
            <a:endParaRPr lang="en-US" dirty="0"/>
          </a:p>
        </p:txBody>
      </p:sp>
    </p:spTree>
    <p:extLst>
      <p:ext uri="{BB962C8B-B14F-4D97-AF65-F5344CB8AC3E}">
        <p14:creationId xmlns:p14="http://schemas.microsoft.com/office/powerpoint/2010/main" val="19752552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5">
          <a:fgClr>
            <a:srgbClr val="E3F2FC"/>
          </a:fgClr>
          <a:bgClr>
            <a:schemeClr val="bg1"/>
          </a:bgClr>
        </a:pattFill>
        <a:effectLst/>
      </p:bgPr>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8A2C6E-6984-46CD-88F4-677310F4BD70}" type="datetimeFigureOut">
              <a:rPr lang="pt-BR" smtClean="0"/>
              <a:t>24/02/2026</a:t>
            </a:fld>
            <a:endParaRPr lang="pt-BR"/>
          </a:p>
        </p:txBody>
      </p:sp>
      <p:sp>
        <p:nvSpPr>
          <p:cNvPr id="5" name="Espaço Reservado para Rodapé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7B1E4F4-5424-4C94-93CD-C808B591274D}" type="slidenum">
              <a:rPr lang="pt-BR" smtClean="0"/>
              <a:t>‹nº›</a:t>
            </a:fld>
            <a:endParaRPr lang="pt-BR"/>
          </a:p>
        </p:txBody>
      </p:sp>
      <p:sp>
        <p:nvSpPr>
          <p:cNvPr id="8" name="CaixaDeTexto 7">
            <a:extLst>
              <a:ext uri="{FF2B5EF4-FFF2-40B4-BE49-F238E27FC236}">
                <a16:creationId xmlns:a16="http://schemas.microsoft.com/office/drawing/2014/main" id="{968A6900-F983-C2B8-1D50-83413FBB2FEF}"/>
              </a:ext>
            </a:extLst>
          </p:cNvPr>
          <p:cNvSpPr txBox="1"/>
          <p:nvPr userDrawn="1">
            <p:extLst>
              <p:ext uri="{1162E1C5-73C7-4A58-AE30-91384D911F3F}">
                <p184:classification xmlns:p184="http://schemas.microsoft.com/office/powerpoint/2018/4/main" val="ftr"/>
              </p:ext>
            </p:extLst>
          </p:nvPr>
        </p:nvSpPr>
        <p:spPr>
          <a:xfrm>
            <a:off x="63500" y="6672580"/>
            <a:ext cx="5981700" cy="121920"/>
          </a:xfrm>
          <a:prstGeom prst="rect">
            <a:avLst/>
          </a:prstGeom>
        </p:spPr>
        <p:txBody>
          <a:bodyPr horzOverflow="overflow" lIns="0" tIns="0" rIns="0" bIns="0">
            <a:spAutoFit/>
          </a:bodyPr>
          <a:lstStyle/>
          <a:p>
            <a:pPr algn="l"/>
            <a:r>
              <a:rPr lang="pt-BR" sz="800">
                <a:solidFill>
                  <a:srgbClr val="000000"/>
                </a:solidFill>
                <a:latin typeface="Calibri" panose="020F0502020204030204" pitchFamily="34" charset="0"/>
                <a:cs typeface="Calibri" panose="020F0502020204030204" pitchFamily="34" charset="0"/>
              </a:rPr>
              <a:t>Este documento foi classificado como informação externa e pode ser compartilhado com pessoas externas à Organização a quem foi destinado. </a:t>
            </a:r>
          </a:p>
        </p:txBody>
      </p:sp>
    </p:spTree>
    <p:extLst>
      <p:ext uri="{BB962C8B-B14F-4D97-AF65-F5344CB8AC3E}">
        <p14:creationId xmlns:p14="http://schemas.microsoft.com/office/powerpoint/2010/main" val="2089946510"/>
      </p:ext>
    </p:extLst>
  </p:cSld>
  <p:clrMap bg1="lt1" tx1="dk1" bg2="lt2" tx2="dk2" accent1="accent1" accent2="accent2" accent3="accent3" accent4="accent4" accent5="accent5" accent6="accent6" hlink="hlink" folHlink="folHlink"/>
  <p:sldLayoutIdLst>
    <p:sldLayoutId id="2147483661"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62" r:id="rId12"/>
    <p:sldLayoutId id="2147483663" r:id="rId13"/>
    <p:sldLayoutId id="2147483664"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8" Type="http://schemas.openxmlformats.org/officeDocument/2006/relationships/image" Target="../media/image21.jpg"/><Relationship Id="rId3" Type="http://schemas.openxmlformats.org/officeDocument/2006/relationships/image" Target="../media/image16.jpg"/><Relationship Id="rId7" Type="http://schemas.openxmlformats.org/officeDocument/2006/relationships/image" Target="../media/image20.png"/><Relationship Id="rId2" Type="http://schemas.openxmlformats.org/officeDocument/2006/relationships/image" Target="../media/image15.jpg"/><Relationship Id="rId1" Type="http://schemas.openxmlformats.org/officeDocument/2006/relationships/slideLayout" Target="../slideLayouts/slideLayout4.xml"/><Relationship Id="rId6" Type="http://schemas.openxmlformats.org/officeDocument/2006/relationships/image" Target="../media/image19.jpg"/><Relationship Id="rId5" Type="http://schemas.openxmlformats.org/officeDocument/2006/relationships/image" Target="../media/image18.jpg"/><Relationship Id="rId4" Type="http://schemas.openxmlformats.org/officeDocument/2006/relationships/image" Target="../media/image17.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24.png"/><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hyperlink" Target="http://www.youtube.com/watch?v=nnRtDuvLoNI" TargetMode="External"/><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image" Target="../media/image31.jpg"/><Relationship Id="rId1" Type="http://schemas.openxmlformats.org/officeDocument/2006/relationships/slideLayout" Target="../slideLayouts/slideLayout4.xml"/><Relationship Id="rId5" Type="http://schemas.openxmlformats.org/officeDocument/2006/relationships/image" Target="../media/image34.jpg"/><Relationship Id="rId4" Type="http://schemas.openxmlformats.org/officeDocument/2006/relationships/image" Target="../media/image33.jpg"/></Relationships>
</file>

<file path=ppt/slides/_rels/slide31.xml.rels><?xml version="1.0" encoding="UTF-8" standalone="yes"?>
<Relationships xmlns="http://schemas.openxmlformats.org/package/2006/relationships"><Relationship Id="rId2" Type="http://schemas.openxmlformats.org/officeDocument/2006/relationships/hyperlink" Target="http://www.youtube.com/watch?feature=player_detailpage&amp;v=6hl5HNdgok0" TargetMode="Externa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image" Target="../media/image40.jpe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image" Target="../media/image42.jpeg"/><Relationship Id="rId1" Type="http://schemas.openxmlformats.org/officeDocument/2006/relationships/slideLayout" Target="../slideLayouts/slideLayout4.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 Id="rId9" Type="http://schemas.openxmlformats.org/officeDocument/2006/relationships/image" Target="../media/image4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image" Target="../media/image51.wmf"/><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oleObject" Target="../embeddings/oleObject1.bin"/><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oleObject" Target="../embeddings/oleObject2.bin"/><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4.xml"/><Relationship Id="rId4" Type="http://schemas.openxmlformats.org/officeDocument/2006/relationships/image" Target="../media/image56.png"/></Relationships>
</file>

<file path=ppt/slides/_rels/slide6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jpeg"/><Relationship Id="rId1" Type="http://schemas.openxmlformats.org/officeDocument/2006/relationships/slideLayout" Target="../slideLayouts/slideLayout4.xml"/><Relationship Id="rId4" Type="http://schemas.openxmlformats.org/officeDocument/2006/relationships/image" Target="../media/image56.png"/></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60.emf"/></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62.emf"/></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6.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4.xml"/></Relationships>
</file>

<file path=ppt/slides/_rels/slide97.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4.xml"/></Relationships>
</file>

<file path=ppt/slides/_rels/slide98.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4.xml"/></Relationships>
</file>

<file path=ppt/slides/_rels/slide104.xml.rels><?xml version="1.0" encoding="UTF-8" standalone="yes"?>
<Relationships xmlns="http://schemas.openxmlformats.org/package/2006/relationships"><Relationship Id="rId8" Type="http://schemas.openxmlformats.org/officeDocument/2006/relationships/image" Target="../media/image72.png"/><Relationship Id="rId13" Type="http://schemas.openxmlformats.org/officeDocument/2006/relationships/image" Target="../media/image77.png"/><Relationship Id="rId3" Type="http://schemas.openxmlformats.org/officeDocument/2006/relationships/image" Target="../media/image67.png"/><Relationship Id="rId7" Type="http://schemas.openxmlformats.org/officeDocument/2006/relationships/image" Target="../media/image71.png"/><Relationship Id="rId12" Type="http://schemas.openxmlformats.org/officeDocument/2006/relationships/image" Target="../media/image76.png"/><Relationship Id="rId2" Type="http://schemas.openxmlformats.org/officeDocument/2006/relationships/image" Target="../media/image65.png"/><Relationship Id="rId1" Type="http://schemas.openxmlformats.org/officeDocument/2006/relationships/slideLayout" Target="../slideLayouts/slideLayout4.xml"/><Relationship Id="rId6" Type="http://schemas.openxmlformats.org/officeDocument/2006/relationships/image" Target="../media/image70.png"/><Relationship Id="rId11" Type="http://schemas.openxmlformats.org/officeDocument/2006/relationships/image" Target="../media/image75.png"/><Relationship Id="rId5" Type="http://schemas.openxmlformats.org/officeDocument/2006/relationships/image" Target="../media/image69.png"/><Relationship Id="rId10" Type="http://schemas.openxmlformats.org/officeDocument/2006/relationships/image" Target="../media/image74.png"/><Relationship Id="rId4" Type="http://schemas.openxmlformats.org/officeDocument/2006/relationships/image" Target="../media/image68.png"/><Relationship Id="rId9" Type="http://schemas.openxmlformats.org/officeDocument/2006/relationships/image" Target="../media/image73.png"/></Relationships>
</file>

<file path=ppt/slides/_rels/slide105.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4.xml"/></Relationships>
</file>

<file path=ppt/slides/_rels/slide106.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4.xml"/></Relationships>
</file>

<file path=ppt/slides/_rels/slide107.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4.xml"/></Relationships>
</file>

<file path=ppt/slides/_rels/slide10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4.xml"/></Relationships>
</file>

<file path=ppt/slides/_rels/slide109.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4.xml"/></Relationships>
</file>

<file path=ppt/slides/_rels/slide110.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4.xml"/></Relationships>
</file>

<file path=ppt/slides/_rels/slide111.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4.xml"/></Relationships>
</file>

<file path=ppt/slides/_rels/slide112.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4.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4.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9.xml.rels><?xml version="1.0" encoding="UTF-8" standalone="yes"?>
<Relationships xmlns="http://schemas.openxmlformats.org/package/2006/relationships"><Relationship Id="rId8" Type="http://schemas.openxmlformats.org/officeDocument/2006/relationships/image" Target="../media/image85.png"/><Relationship Id="rId3" Type="http://schemas.openxmlformats.org/officeDocument/2006/relationships/diagramLayout" Target="../diagrams/layout3.xml"/><Relationship Id="rId7" Type="http://schemas.openxmlformats.org/officeDocument/2006/relationships/image" Target="../media/image84.png"/><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11" Type="http://schemas.openxmlformats.org/officeDocument/2006/relationships/image" Target="../media/image88.png"/><Relationship Id="rId5" Type="http://schemas.openxmlformats.org/officeDocument/2006/relationships/diagramColors" Target="../diagrams/colors3.xml"/><Relationship Id="rId10" Type="http://schemas.openxmlformats.org/officeDocument/2006/relationships/image" Target="../media/image87.png"/><Relationship Id="rId4" Type="http://schemas.openxmlformats.org/officeDocument/2006/relationships/diagramQuickStyle" Target="../diagrams/quickStyle3.xml"/><Relationship Id="rId9" Type="http://schemas.openxmlformats.org/officeDocument/2006/relationships/image" Target="../media/image86.png"/></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121.xml.rels><?xml version="1.0" encoding="UTF-8" standalone="yes"?>
<Relationships xmlns="http://schemas.openxmlformats.org/package/2006/relationships"><Relationship Id="rId3" Type="http://schemas.openxmlformats.org/officeDocument/2006/relationships/hyperlink" Target="http://www2.transportes.gov.br/bit/02-rodo/rodo.html" TargetMode="External"/><Relationship Id="rId2" Type="http://schemas.openxmlformats.org/officeDocument/2006/relationships/image" Target="../media/image89.jpg"/><Relationship Id="rId1" Type="http://schemas.openxmlformats.org/officeDocument/2006/relationships/slideLayout" Target="../slideLayouts/slideLayout4.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3.xml.rels><?xml version="1.0" encoding="UTF-8" standalone="yes"?>
<Relationships xmlns="http://schemas.openxmlformats.org/package/2006/relationships"><Relationship Id="rId3" Type="http://schemas.openxmlformats.org/officeDocument/2006/relationships/image" Target="../media/image90.jp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124.xml.rels><?xml version="1.0" encoding="UTF-8" standalone="yes"?>
<Relationships xmlns="http://schemas.openxmlformats.org/package/2006/relationships"><Relationship Id="rId2" Type="http://schemas.openxmlformats.org/officeDocument/2006/relationships/image" Target="../media/image91.jpg"/><Relationship Id="rId1" Type="http://schemas.openxmlformats.org/officeDocument/2006/relationships/slideLayout" Target="../slideLayouts/slideLayout4.xml"/></Relationships>
</file>

<file path=ppt/slides/_rels/slide125.xml.rels><?xml version="1.0" encoding="UTF-8" standalone="yes"?>
<Relationships xmlns="http://schemas.openxmlformats.org/package/2006/relationships"><Relationship Id="rId2" Type="http://schemas.openxmlformats.org/officeDocument/2006/relationships/image" Target="../media/image92.jpg"/><Relationship Id="rId1" Type="http://schemas.openxmlformats.org/officeDocument/2006/relationships/slideLayout" Target="../slideLayouts/slideLayout4.xml"/></Relationships>
</file>

<file path=ppt/slides/_rels/slide126.xml.rels><?xml version="1.0" encoding="UTF-8" standalone="yes"?>
<Relationships xmlns="http://schemas.openxmlformats.org/package/2006/relationships"><Relationship Id="rId3" Type="http://schemas.openxmlformats.org/officeDocument/2006/relationships/image" Target="../media/image94.jpg"/><Relationship Id="rId2" Type="http://schemas.openxmlformats.org/officeDocument/2006/relationships/image" Target="../media/image93.jpg"/><Relationship Id="rId1" Type="http://schemas.openxmlformats.org/officeDocument/2006/relationships/slideLayout" Target="../slideLayouts/slideLayout4.xml"/></Relationships>
</file>

<file path=ppt/slides/_rels/slide127.xml.rels><?xml version="1.0" encoding="UTF-8" standalone="yes"?>
<Relationships xmlns="http://schemas.openxmlformats.org/package/2006/relationships"><Relationship Id="rId2" Type="http://schemas.openxmlformats.org/officeDocument/2006/relationships/image" Target="../media/image95.jpg"/><Relationship Id="rId1" Type="http://schemas.openxmlformats.org/officeDocument/2006/relationships/slideLayout" Target="../slideLayouts/slideLayout4.xml"/></Relationships>
</file>

<file path=ppt/slides/_rels/slide128.xml.rels><?xml version="1.0" encoding="UTF-8" standalone="yes"?>
<Relationships xmlns="http://schemas.openxmlformats.org/package/2006/relationships"><Relationship Id="rId2" Type="http://schemas.openxmlformats.org/officeDocument/2006/relationships/image" Target="../media/image96.jpeg"/><Relationship Id="rId1" Type="http://schemas.openxmlformats.org/officeDocument/2006/relationships/slideLayout" Target="../slideLayouts/slideLayout4.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0.xml.rels><?xml version="1.0" encoding="UTF-8" standalone="yes"?>
<Relationships xmlns="http://schemas.openxmlformats.org/package/2006/relationships"><Relationship Id="rId3" Type="http://schemas.openxmlformats.org/officeDocument/2006/relationships/image" Target="../media/image98.jpg"/><Relationship Id="rId2" Type="http://schemas.openxmlformats.org/officeDocument/2006/relationships/image" Target="../media/image97.jpg"/><Relationship Id="rId1" Type="http://schemas.openxmlformats.org/officeDocument/2006/relationships/slideLayout" Target="../slideLayouts/slideLayout4.xml"/></Relationships>
</file>

<file path=ppt/slides/_rels/slide131.xml.rels><?xml version="1.0" encoding="UTF-8" standalone="yes"?>
<Relationships xmlns="http://schemas.openxmlformats.org/package/2006/relationships"><Relationship Id="rId3" Type="http://schemas.openxmlformats.org/officeDocument/2006/relationships/image" Target="../media/image100.jpg"/><Relationship Id="rId2" Type="http://schemas.openxmlformats.org/officeDocument/2006/relationships/image" Target="../media/image99.jpg"/><Relationship Id="rId1" Type="http://schemas.openxmlformats.org/officeDocument/2006/relationships/slideLayout" Target="../slideLayouts/slideLayout4.xml"/></Relationships>
</file>

<file path=ppt/slides/_rels/slide132.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4.xml"/><Relationship Id="rId4" Type="http://schemas.openxmlformats.org/officeDocument/2006/relationships/image" Target="../media/image103.png"/></Relationships>
</file>

<file path=ppt/slides/_rels/slide133.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4.xml"/><Relationship Id="rId4" Type="http://schemas.openxmlformats.org/officeDocument/2006/relationships/image" Target="../media/image106.png"/></Relationships>
</file>

<file path=ppt/slides/_rels/slide134.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4.xml"/><Relationship Id="rId4" Type="http://schemas.openxmlformats.org/officeDocument/2006/relationships/image" Target="../media/image109.png"/></Relationships>
</file>

<file path=ppt/slides/_rels/slide135.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4.xml"/><Relationship Id="rId4" Type="http://schemas.openxmlformats.org/officeDocument/2006/relationships/image" Target="../media/image112.png"/></Relationships>
</file>

<file path=ppt/slides/_rels/slide136.xml.rels><?xml version="1.0" encoding="UTF-8" standalone="yes"?>
<Relationships xmlns="http://schemas.openxmlformats.org/package/2006/relationships"><Relationship Id="rId2" Type="http://schemas.openxmlformats.org/officeDocument/2006/relationships/hyperlink" Target="http://www.youtube.com/watch?v=HhGma5MUKgo" TargetMode="External"/><Relationship Id="rId1" Type="http://schemas.openxmlformats.org/officeDocument/2006/relationships/slideLayout" Target="../slideLayouts/slideLayout4.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13.jpeg"/><Relationship Id="rId1" Type="http://schemas.openxmlformats.org/officeDocument/2006/relationships/slideLayout" Target="../slideLayouts/slideLayout4.xml"/></Relationships>
</file>

<file path=ppt/slides/_rels/slide139.xml.rels><?xml version="1.0" encoding="UTF-8" standalone="yes"?>
<Relationships xmlns="http://schemas.openxmlformats.org/package/2006/relationships"><Relationship Id="rId2" Type="http://schemas.openxmlformats.org/officeDocument/2006/relationships/hyperlink" Target="http://www2.transportes.gov.br/bit/03-ferro/ferro.html" TargetMode="External"/><Relationship Id="rId1" Type="http://schemas.openxmlformats.org/officeDocument/2006/relationships/slideLayout" Target="../slideLayouts/slideLayout4.xml"/></Relationships>
</file>

<file path=ppt/slides/_rels/slide140.xml.rels><?xml version="1.0" encoding="UTF-8" standalone="yes"?>
<Relationships xmlns="http://schemas.openxmlformats.org/package/2006/relationships"><Relationship Id="rId2" Type="http://schemas.openxmlformats.org/officeDocument/2006/relationships/image" Target="../media/image114.jpg"/><Relationship Id="rId1" Type="http://schemas.openxmlformats.org/officeDocument/2006/relationships/slideLayout" Target="../slideLayouts/slideLayout4.xml"/></Relationships>
</file>

<file path=ppt/slides/_rels/slide141.xml.rels><?xml version="1.0" encoding="UTF-8" standalone="yes"?>
<Relationships xmlns="http://schemas.openxmlformats.org/package/2006/relationships"><Relationship Id="rId2" Type="http://schemas.openxmlformats.org/officeDocument/2006/relationships/image" Target="../media/image115.jpg"/><Relationship Id="rId1" Type="http://schemas.openxmlformats.org/officeDocument/2006/relationships/slideLayout" Target="../slideLayouts/slideLayout4.xml"/></Relationships>
</file>

<file path=ppt/slides/_rels/slide142.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4.xml"/></Relationships>
</file>

<file path=ppt/slides/_rels/slide143.xml.rels><?xml version="1.0" encoding="UTF-8" standalone="yes"?>
<Relationships xmlns="http://schemas.openxmlformats.org/package/2006/relationships"><Relationship Id="rId3" Type="http://schemas.openxmlformats.org/officeDocument/2006/relationships/image" Target="../media/image118.jpg"/><Relationship Id="rId2" Type="http://schemas.openxmlformats.org/officeDocument/2006/relationships/image" Target="../media/image117.jpg"/><Relationship Id="rId1" Type="http://schemas.openxmlformats.org/officeDocument/2006/relationships/slideLayout" Target="../slideLayouts/slideLayout4.xml"/></Relationships>
</file>

<file path=ppt/slides/_rels/slide144.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9.jpeg"/><Relationship Id="rId1" Type="http://schemas.openxmlformats.org/officeDocument/2006/relationships/slideLayout" Target="../slideLayouts/slideLayout4.xml"/></Relationships>
</file>

<file path=ppt/slides/_rels/slide145.xml.rels><?xml version="1.0" encoding="UTF-8" standalone="yes"?>
<Relationships xmlns="http://schemas.openxmlformats.org/package/2006/relationships"><Relationship Id="rId3" Type="http://schemas.openxmlformats.org/officeDocument/2006/relationships/image" Target="../media/image122.jpg"/><Relationship Id="rId2" Type="http://schemas.openxmlformats.org/officeDocument/2006/relationships/image" Target="../media/image121.JPG"/><Relationship Id="rId1" Type="http://schemas.openxmlformats.org/officeDocument/2006/relationships/slideLayout" Target="../slideLayouts/slideLayout4.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7.xml.rels><?xml version="1.0" encoding="UTF-8" standalone="yes"?>
<Relationships xmlns="http://schemas.openxmlformats.org/package/2006/relationships"><Relationship Id="rId2" Type="http://schemas.openxmlformats.org/officeDocument/2006/relationships/hyperlink" Target="http://www.youtube.com/watch?v=qAWWyGxKI8Q" TargetMode="External"/><Relationship Id="rId1" Type="http://schemas.openxmlformats.org/officeDocument/2006/relationships/slideLayout" Target="../slideLayouts/slideLayout4.xml"/></Relationships>
</file>

<file path=ppt/slides/_rels/slide148.xml.rels><?xml version="1.0" encoding="UTF-8" standalone="yes"?>
<Relationships xmlns="http://schemas.openxmlformats.org/package/2006/relationships"><Relationship Id="rId2" Type="http://schemas.openxmlformats.org/officeDocument/2006/relationships/hyperlink" Target="https://www.youtube.com/watch?v=VjrpCTv-zsM" TargetMode="External"/><Relationship Id="rId1" Type="http://schemas.openxmlformats.org/officeDocument/2006/relationships/slideLayout" Target="../slideLayouts/slideLayout4.xml"/></Relationships>
</file>

<file path=ppt/slides/_rels/slide149.xml.rels><?xml version="1.0" encoding="UTF-8" standalone="yes"?>
<Relationships xmlns="http://schemas.openxmlformats.org/package/2006/relationships"><Relationship Id="rId2" Type="http://schemas.openxmlformats.org/officeDocument/2006/relationships/hyperlink" Target="http://g1.globo.com/globo-news/jornal-globo-news/videos/v/projeto-da-ferrovia-norte-sul-de-mais-de-30-anos-ainda-nao-foi-concluido/6975237/" TargetMode="External"/><Relationship Id="rId1" Type="http://schemas.openxmlformats.org/officeDocument/2006/relationships/slideLayout" Target="../slideLayouts/slideLayout4.xml"/></Relationships>
</file>

<file path=ppt/slides/_rels/slide150.xml.rels><?xml version="1.0" encoding="UTF-8" standalone="yes"?>
<Relationships xmlns="http://schemas.openxmlformats.org/package/2006/relationships"><Relationship Id="rId2" Type="http://schemas.openxmlformats.org/officeDocument/2006/relationships/image" Target="../media/image123.jpg"/><Relationship Id="rId1" Type="http://schemas.openxmlformats.org/officeDocument/2006/relationships/slideLayout" Target="../slideLayouts/slideLayout4.xml"/></Relationships>
</file>

<file path=ppt/slides/_rels/slide151.xml.rels><?xml version="1.0" encoding="UTF-8" standalone="yes"?>
<Relationships xmlns="http://schemas.openxmlformats.org/package/2006/relationships"><Relationship Id="rId3" Type="http://schemas.openxmlformats.org/officeDocument/2006/relationships/hyperlink" Target="http://www.cnt.org.br/Paginas/Atlas-do-Transporte.aspx" TargetMode="External"/><Relationship Id="rId2" Type="http://schemas.openxmlformats.org/officeDocument/2006/relationships/image" Target="../media/image124.jpg"/><Relationship Id="rId1" Type="http://schemas.openxmlformats.org/officeDocument/2006/relationships/slideLayout" Target="../slideLayouts/slideLayout4.xml"/></Relationships>
</file>

<file path=ppt/slides/_rels/slide152.xml.rels><?xml version="1.0" encoding="UTF-8" standalone="yes"?>
<Relationships xmlns="http://schemas.openxmlformats.org/package/2006/relationships"><Relationship Id="rId2" Type="http://schemas.openxmlformats.org/officeDocument/2006/relationships/image" Target="../media/image125.jfif"/><Relationship Id="rId1" Type="http://schemas.openxmlformats.org/officeDocument/2006/relationships/slideLayout" Target="../slideLayouts/slideLayout4.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4.xml.rels><?xml version="1.0" encoding="UTF-8" standalone="yes"?>
<Relationships xmlns="http://schemas.openxmlformats.org/package/2006/relationships"><Relationship Id="rId2" Type="http://schemas.openxmlformats.org/officeDocument/2006/relationships/hyperlink" Target="http://www.youtube.com/watch?v=40qM5xDgL_Y" TargetMode="External"/><Relationship Id="rId1" Type="http://schemas.openxmlformats.org/officeDocument/2006/relationships/slideLayout" Target="../slideLayouts/slideLayout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6.xml.rels><?xml version="1.0" encoding="UTF-8" standalone="yes"?>
<Relationships xmlns="http://schemas.openxmlformats.org/package/2006/relationships"><Relationship Id="rId2" Type="http://schemas.openxmlformats.org/officeDocument/2006/relationships/image" Target="../media/image126.jpg"/><Relationship Id="rId1" Type="http://schemas.openxmlformats.org/officeDocument/2006/relationships/slideLayout" Target="../slideLayouts/slideLayout4.xml"/></Relationships>
</file>

<file path=ppt/slides/_rels/slide157.xml.rels><?xml version="1.0" encoding="UTF-8" standalone="yes"?>
<Relationships xmlns="http://schemas.openxmlformats.org/package/2006/relationships"><Relationship Id="rId3" Type="http://schemas.openxmlformats.org/officeDocument/2006/relationships/hyperlink" Target="http://www.transportes.gov.br/images/bit/Tabelas_Anu&#225;rio_Estat&#237;stico_de_Transportes/10_Mapas/MapaDutoviario.pdf" TargetMode="External"/><Relationship Id="rId2" Type="http://schemas.openxmlformats.org/officeDocument/2006/relationships/image" Target="../media/image127.jpg"/><Relationship Id="rId1" Type="http://schemas.openxmlformats.org/officeDocument/2006/relationships/slideLayout" Target="../slideLayouts/slideLayout4.xml"/></Relationships>
</file>

<file path=ppt/slides/_rels/slide158.xml.rels><?xml version="1.0" encoding="UTF-8" standalone="yes"?>
<Relationships xmlns="http://schemas.openxmlformats.org/package/2006/relationships"><Relationship Id="rId2" Type="http://schemas.openxmlformats.org/officeDocument/2006/relationships/image" Target="../media/image128.jpg"/><Relationship Id="rId1" Type="http://schemas.openxmlformats.org/officeDocument/2006/relationships/slideLayout" Target="../slideLayouts/slideLayout4.xml"/></Relationships>
</file>

<file path=ppt/slides/_rels/slide159.xml.rels><?xml version="1.0" encoding="UTF-8" standalone="yes"?>
<Relationships xmlns="http://schemas.openxmlformats.org/package/2006/relationships"><Relationship Id="rId2" Type="http://schemas.openxmlformats.org/officeDocument/2006/relationships/image" Target="../media/image129.jpg"/><Relationship Id="rId1" Type="http://schemas.openxmlformats.org/officeDocument/2006/relationships/slideLayout" Target="../slideLayouts/slideLayout4.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2.xml.rels><?xml version="1.0" encoding="UTF-8" standalone="yes"?>
<Relationships xmlns="http://schemas.openxmlformats.org/package/2006/relationships"><Relationship Id="rId2" Type="http://schemas.openxmlformats.org/officeDocument/2006/relationships/image" Target="../media/image130.jpg"/><Relationship Id="rId1" Type="http://schemas.openxmlformats.org/officeDocument/2006/relationships/slideLayout" Target="../slideLayouts/slideLayout4.xml"/></Relationships>
</file>

<file path=ppt/slides/_rels/slide163.xml.rels><?xml version="1.0" encoding="UTF-8" standalone="yes"?>
<Relationships xmlns="http://schemas.openxmlformats.org/package/2006/relationships"><Relationship Id="rId3" Type="http://schemas.openxmlformats.org/officeDocument/2006/relationships/image" Target="../media/image131.jpe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132.jpeg"/></Relationships>
</file>

<file path=ppt/slides/_rels/slide164.xml.rels><?xml version="1.0" encoding="UTF-8" standalone="yes"?>
<Relationships xmlns="http://schemas.openxmlformats.org/package/2006/relationships"><Relationship Id="rId3" Type="http://schemas.openxmlformats.org/officeDocument/2006/relationships/hyperlink" Target="http://www2.transportes.gov.br/bit/05-mar/mar.html" TargetMode="External"/><Relationship Id="rId2" Type="http://schemas.openxmlformats.org/officeDocument/2006/relationships/image" Target="../media/image133.jpg"/><Relationship Id="rId1" Type="http://schemas.openxmlformats.org/officeDocument/2006/relationships/slideLayout" Target="../slideLayouts/slideLayout4.xml"/></Relationships>
</file>

<file path=ppt/slides/_rels/slide165.xml.rels><?xml version="1.0" encoding="UTF-8" standalone="yes"?>
<Relationships xmlns="http://schemas.openxmlformats.org/package/2006/relationships"><Relationship Id="rId2" Type="http://schemas.openxmlformats.org/officeDocument/2006/relationships/image" Target="../media/image134.jpg"/><Relationship Id="rId1" Type="http://schemas.openxmlformats.org/officeDocument/2006/relationships/slideLayout" Target="../slideLayouts/slideLayout4.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7.xml.rels><?xml version="1.0" encoding="UTF-8" standalone="yes"?>
<Relationships xmlns="http://schemas.openxmlformats.org/package/2006/relationships"><Relationship Id="rId3" Type="http://schemas.openxmlformats.org/officeDocument/2006/relationships/image" Target="../media/image136.jpeg"/><Relationship Id="rId2" Type="http://schemas.openxmlformats.org/officeDocument/2006/relationships/image" Target="../media/image135.jfif"/><Relationship Id="rId1" Type="http://schemas.openxmlformats.org/officeDocument/2006/relationships/slideLayout" Target="../slideLayouts/slideLayout4.xml"/></Relationships>
</file>

<file path=ppt/slides/_rels/slide168.xml.rels><?xml version="1.0" encoding="UTF-8" standalone="yes"?>
<Relationships xmlns="http://schemas.openxmlformats.org/package/2006/relationships"><Relationship Id="rId3" Type="http://schemas.openxmlformats.org/officeDocument/2006/relationships/image" Target="../media/image138.jpeg"/><Relationship Id="rId2" Type="http://schemas.openxmlformats.org/officeDocument/2006/relationships/image" Target="../media/image137.jpeg"/><Relationship Id="rId1" Type="http://schemas.openxmlformats.org/officeDocument/2006/relationships/slideLayout" Target="../slideLayouts/slideLayout4.xml"/><Relationship Id="rId4" Type="http://schemas.openxmlformats.org/officeDocument/2006/relationships/image" Target="../media/image139.jpeg"/></Relationships>
</file>

<file path=ppt/slides/_rels/slide169.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4.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1.xml.rels><?xml version="1.0" encoding="UTF-8" standalone="yes"?>
<Relationships xmlns="http://schemas.openxmlformats.org/package/2006/relationships"><Relationship Id="rId2" Type="http://schemas.openxmlformats.org/officeDocument/2006/relationships/hyperlink" Target="http://www.youtube.com/watch?v=nwfovIps7Do&amp;list=PLDCFC84D842C8676D&amp;index=97&amp;t=0s" TargetMode="External"/><Relationship Id="rId1" Type="http://schemas.openxmlformats.org/officeDocument/2006/relationships/slideLayout" Target="../slideLayouts/slideLayout4.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17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141.png"/><Relationship Id="rId1" Type="http://schemas.openxmlformats.org/officeDocument/2006/relationships/slideLayout" Target="../slideLayouts/slideLayout4.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6.xml.rels><?xml version="1.0" encoding="UTF-8" standalone="yes"?>
<Relationships xmlns="http://schemas.openxmlformats.org/package/2006/relationships"><Relationship Id="rId3" Type="http://schemas.openxmlformats.org/officeDocument/2006/relationships/hyperlink" Target="http://www.antt.gov.br/index.php/content/view/4963/Multimodal.html" TargetMode="External"/><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177.xml.rels><?xml version="1.0" encoding="UTF-8" standalone="yes"?>
<Relationships xmlns="http://schemas.openxmlformats.org/package/2006/relationships"><Relationship Id="rId3" Type="http://schemas.openxmlformats.org/officeDocument/2006/relationships/hyperlink" Target="http://www.youtube.com/watch?v=-dwqlvkeLMI" TargetMode="External"/><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178.xml.rels><?xml version="1.0" encoding="UTF-8" standalone="yes"?>
<Relationships xmlns="http://schemas.openxmlformats.org/package/2006/relationships"><Relationship Id="rId3" Type="http://schemas.openxmlformats.org/officeDocument/2006/relationships/image" Target="../media/image142.jp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179.xml.rels><?xml version="1.0" encoding="UTF-8" standalone="yes"?>
<Relationships xmlns="http://schemas.openxmlformats.org/package/2006/relationships"><Relationship Id="rId3" Type="http://schemas.openxmlformats.org/officeDocument/2006/relationships/image" Target="../media/image143.jpeg"/><Relationship Id="rId2" Type="http://schemas.openxmlformats.org/officeDocument/2006/relationships/notesSlide" Target="../notesSlides/notesSlide36.xml"/><Relationship Id="rId1" Type="http://schemas.openxmlformats.org/officeDocument/2006/relationships/slideLayout" Target="../slideLayouts/slideLayout4.xml"/><Relationship Id="rId4" Type="http://schemas.microsoft.com/office/2007/relationships/hdphoto" Target="../media/hdphoto2.wdp"/></Relationships>
</file>

<file path=ppt/slides/_rels/slide180.xml.rels><?xml version="1.0" encoding="UTF-8" standalone="yes"?>
<Relationships xmlns="http://schemas.openxmlformats.org/package/2006/relationships"><Relationship Id="rId3" Type="http://schemas.openxmlformats.org/officeDocument/2006/relationships/image" Target="../media/image143.jpeg"/><Relationship Id="rId2" Type="http://schemas.openxmlformats.org/officeDocument/2006/relationships/notesSlide" Target="../notesSlides/notesSlide37.xml"/><Relationship Id="rId1" Type="http://schemas.openxmlformats.org/officeDocument/2006/relationships/slideLayout" Target="../slideLayouts/slideLayout4.xml"/><Relationship Id="rId4" Type="http://schemas.microsoft.com/office/2007/relationships/hdphoto" Target="../media/hdphoto2.wdp"/></Relationships>
</file>

<file path=ppt/slides/_rels/slide181.xml.rels><?xml version="1.0" encoding="UTF-8" standalone="yes"?>
<Relationships xmlns="http://schemas.openxmlformats.org/package/2006/relationships"><Relationship Id="rId3" Type="http://schemas.openxmlformats.org/officeDocument/2006/relationships/image" Target="../media/image143.jpeg"/><Relationship Id="rId2" Type="http://schemas.openxmlformats.org/officeDocument/2006/relationships/notesSlide" Target="../notesSlides/notesSlide38.xml"/><Relationship Id="rId1" Type="http://schemas.openxmlformats.org/officeDocument/2006/relationships/slideLayout" Target="../slideLayouts/slideLayout4.xml"/><Relationship Id="rId4" Type="http://schemas.microsoft.com/office/2007/relationships/hdphoto" Target="../media/hdphoto2.wdp"/></Relationships>
</file>

<file path=ppt/slides/_rels/slide182.xml.rels><?xml version="1.0" encoding="UTF-8" standalone="yes"?>
<Relationships xmlns="http://schemas.openxmlformats.org/package/2006/relationships"><Relationship Id="rId2" Type="http://schemas.openxmlformats.org/officeDocument/2006/relationships/image" Target="../media/image144.JPG"/><Relationship Id="rId1" Type="http://schemas.openxmlformats.org/officeDocument/2006/relationships/slideLayout" Target="../slideLayouts/slideLayout4.xml"/></Relationships>
</file>

<file path=ppt/slides/_rels/slide183.xml.rels><?xml version="1.0" encoding="UTF-8" standalone="yes"?>
<Relationships xmlns="http://schemas.openxmlformats.org/package/2006/relationships"><Relationship Id="rId3" Type="http://schemas.openxmlformats.org/officeDocument/2006/relationships/image" Target="../media/image143.jpeg"/><Relationship Id="rId2" Type="http://schemas.openxmlformats.org/officeDocument/2006/relationships/notesSlide" Target="../notesSlides/notesSlide39.xml"/><Relationship Id="rId1" Type="http://schemas.openxmlformats.org/officeDocument/2006/relationships/slideLayout" Target="../slideLayouts/slideLayout4.xml"/><Relationship Id="rId4" Type="http://schemas.microsoft.com/office/2007/relationships/hdphoto" Target="../media/hdphoto2.wdp"/></Relationships>
</file>

<file path=ppt/slides/_rels/slide184.xml.rels><?xml version="1.0" encoding="UTF-8" standalone="yes"?>
<Relationships xmlns="http://schemas.openxmlformats.org/package/2006/relationships"><Relationship Id="rId3" Type="http://schemas.openxmlformats.org/officeDocument/2006/relationships/image" Target="../media/image143.jpeg"/><Relationship Id="rId2" Type="http://schemas.openxmlformats.org/officeDocument/2006/relationships/notesSlide" Target="../notesSlides/notesSlide40.xml"/><Relationship Id="rId1" Type="http://schemas.openxmlformats.org/officeDocument/2006/relationships/slideLayout" Target="../slideLayouts/slideLayout4.xml"/><Relationship Id="rId4" Type="http://schemas.microsoft.com/office/2007/relationships/hdphoto" Target="../media/hdphoto2.wdp"/></Relationships>
</file>

<file path=ppt/slides/_rels/slide185.xml.rels><?xml version="1.0" encoding="UTF-8" standalone="yes"?>
<Relationships xmlns="http://schemas.openxmlformats.org/package/2006/relationships"><Relationship Id="rId3" Type="http://schemas.openxmlformats.org/officeDocument/2006/relationships/image" Target="../media/image143.jpeg"/><Relationship Id="rId2" Type="http://schemas.openxmlformats.org/officeDocument/2006/relationships/notesSlide" Target="../notesSlides/notesSlide41.xml"/><Relationship Id="rId1" Type="http://schemas.openxmlformats.org/officeDocument/2006/relationships/slideLayout" Target="../slideLayouts/slideLayout4.xml"/><Relationship Id="rId4" Type="http://schemas.microsoft.com/office/2007/relationships/hdphoto" Target="../media/hdphoto2.wdp"/></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7.xml.rels><?xml version="1.0" encoding="UTF-8" standalone="yes"?>
<Relationships xmlns="http://schemas.openxmlformats.org/package/2006/relationships"><Relationship Id="rId3" Type="http://schemas.openxmlformats.org/officeDocument/2006/relationships/image" Target="../media/image145.jp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212.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45.xml"/><Relationship Id="rId1" Type="http://schemas.openxmlformats.org/officeDocument/2006/relationships/slideLayout" Target="../slideLayouts/slideLayout4.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13.xml.rels><?xml version="1.0" encoding="UTF-8" standalone="yes"?>
<Relationships xmlns="http://schemas.openxmlformats.org/package/2006/relationships"><Relationship Id="rId3" Type="http://schemas.openxmlformats.org/officeDocument/2006/relationships/hyperlink" Target="http://www.denatran.gov.br/download/Portarias/2006/PORTARIA86_06.pdf" TargetMode="External"/><Relationship Id="rId2" Type="http://schemas.openxmlformats.org/officeDocument/2006/relationships/notesSlide" Target="../notesSlides/notesSlide46.xml"/><Relationship Id="rId1" Type="http://schemas.openxmlformats.org/officeDocument/2006/relationships/slideLayout" Target="../slideLayouts/slideLayout4.xml"/><Relationship Id="rId5" Type="http://schemas.openxmlformats.org/officeDocument/2006/relationships/image" Target="../media/image146.jpg"/><Relationship Id="rId4" Type="http://schemas.openxmlformats.org/officeDocument/2006/relationships/hyperlink" Target="http://www.antt.gov.br/index.php/content/view/1420/Resolucao_420.html" TargetMode="External"/></Relationships>
</file>

<file path=ppt/slides/_rels/slide214.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notesSlide" Target="../notesSlides/notesSlide47.xml"/><Relationship Id="rId1" Type="http://schemas.openxmlformats.org/officeDocument/2006/relationships/slideLayout" Target="../slideLayouts/slideLayout4.xml"/><Relationship Id="rId6" Type="http://schemas.openxmlformats.org/officeDocument/2006/relationships/comments" Target="../comments/comment1.xml"/><Relationship Id="rId5" Type="http://schemas.openxmlformats.org/officeDocument/2006/relationships/image" Target="../media/image148.png"/><Relationship Id="rId4" Type="http://schemas.openxmlformats.org/officeDocument/2006/relationships/hyperlink" Target="http://www.antt.gov.br/index.php" TargetMode="External"/></Relationships>
</file>

<file path=ppt/slides/_rels/slide21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216.xml.rels><?xml version="1.0" encoding="UTF-8" standalone="yes"?>
<Relationships xmlns="http://schemas.openxmlformats.org/package/2006/relationships"><Relationship Id="rId3" Type="http://schemas.openxmlformats.org/officeDocument/2006/relationships/image" Target="../media/image149.jpg"/><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217.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21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219.xml.rels><?xml version="1.0" encoding="UTF-8" standalone="yes"?>
<Relationships xmlns="http://schemas.openxmlformats.org/package/2006/relationships"><Relationship Id="rId3" Type="http://schemas.openxmlformats.org/officeDocument/2006/relationships/image" Target="../media/image151.jpg"/><Relationship Id="rId7" Type="http://schemas.microsoft.com/office/2007/relationships/hdphoto" Target="../media/hdphoto3.wdp"/><Relationship Id="rId2" Type="http://schemas.openxmlformats.org/officeDocument/2006/relationships/notesSlide" Target="../notesSlides/notesSlide52.xml"/><Relationship Id="rId1" Type="http://schemas.openxmlformats.org/officeDocument/2006/relationships/slideLayout" Target="../slideLayouts/slideLayout4.xml"/><Relationship Id="rId6" Type="http://schemas.openxmlformats.org/officeDocument/2006/relationships/image" Target="../media/image154.png"/><Relationship Id="rId5" Type="http://schemas.openxmlformats.org/officeDocument/2006/relationships/image" Target="../media/image153.jpg"/><Relationship Id="rId4" Type="http://schemas.openxmlformats.org/officeDocument/2006/relationships/image" Target="../media/image152.jpg"/></Relationships>
</file>

<file path=ppt/slides/_rels/slide22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221.xml.rels><?xml version="1.0" encoding="UTF-8" standalone="yes"?>
<Relationships xmlns="http://schemas.openxmlformats.org/package/2006/relationships"><Relationship Id="rId3" Type="http://schemas.openxmlformats.org/officeDocument/2006/relationships/image" Target="../media/image155.jpg"/><Relationship Id="rId2" Type="http://schemas.openxmlformats.org/officeDocument/2006/relationships/notesSlide" Target="../notesSlides/notesSlide54.xml"/><Relationship Id="rId1" Type="http://schemas.openxmlformats.org/officeDocument/2006/relationships/slideLayout" Target="../slideLayouts/slideLayout4.xml"/><Relationship Id="rId4" Type="http://schemas.openxmlformats.org/officeDocument/2006/relationships/image" Target="../media/image156.jpeg"/></Relationships>
</file>

<file path=ppt/slides/_rels/slide222.xml.rels><?xml version="1.0" encoding="UTF-8" standalone="yes"?>
<Relationships xmlns="http://schemas.openxmlformats.org/package/2006/relationships"><Relationship Id="rId3" Type="http://schemas.openxmlformats.org/officeDocument/2006/relationships/image" Target="../media/image157.jpeg"/><Relationship Id="rId2" Type="http://schemas.openxmlformats.org/officeDocument/2006/relationships/notesSlide" Target="../notesSlides/notesSlide55.xml"/><Relationship Id="rId1" Type="http://schemas.openxmlformats.org/officeDocument/2006/relationships/slideLayout" Target="../slideLayouts/slideLayout4.xml"/><Relationship Id="rId4" Type="http://schemas.openxmlformats.org/officeDocument/2006/relationships/image" Target="../media/image156.jpeg"/></Relationships>
</file>

<file path=ppt/slides/_rels/slide223.xml.rels><?xml version="1.0" encoding="UTF-8" standalone="yes"?>
<Relationships xmlns="http://schemas.openxmlformats.org/package/2006/relationships"><Relationship Id="rId3" Type="http://schemas.openxmlformats.org/officeDocument/2006/relationships/hyperlink" Target="http://www.abnt.org.br" TargetMode="External"/><Relationship Id="rId2" Type="http://schemas.openxmlformats.org/officeDocument/2006/relationships/notesSlide" Target="../notesSlides/notesSlide56.xml"/><Relationship Id="rId1" Type="http://schemas.openxmlformats.org/officeDocument/2006/relationships/slideLayout" Target="../slideLayouts/slideLayout4.xml"/><Relationship Id="rId6" Type="http://schemas.microsoft.com/office/2007/relationships/hdphoto" Target="../media/hdphoto4.wdp"/><Relationship Id="rId5" Type="http://schemas.openxmlformats.org/officeDocument/2006/relationships/image" Target="../media/image159.png"/><Relationship Id="rId4" Type="http://schemas.openxmlformats.org/officeDocument/2006/relationships/image" Target="../media/image158.jpeg"/></Relationships>
</file>

<file path=ppt/slides/_rels/slide224.xml.rels><?xml version="1.0" encoding="UTF-8" standalone="yes"?>
<Relationships xmlns="http://schemas.openxmlformats.org/package/2006/relationships"><Relationship Id="rId3" Type="http://schemas.openxmlformats.org/officeDocument/2006/relationships/image" Target="../media/image143.jpeg"/><Relationship Id="rId2" Type="http://schemas.openxmlformats.org/officeDocument/2006/relationships/notesSlide" Target="../notesSlides/notesSlide57.xml"/><Relationship Id="rId1" Type="http://schemas.openxmlformats.org/officeDocument/2006/relationships/slideLayout" Target="../slideLayouts/slideLayout4.xml"/><Relationship Id="rId4" Type="http://schemas.microsoft.com/office/2007/relationships/hdphoto" Target="../media/hdphoto2.wdp"/></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6.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227.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228.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60.xml"/><Relationship Id="rId1" Type="http://schemas.openxmlformats.org/officeDocument/2006/relationships/slideLayout" Target="../slideLayouts/slideLayout4.xml"/><Relationship Id="rId5" Type="http://schemas.openxmlformats.org/officeDocument/2006/relationships/hyperlink" Target="Pintando%20sem%20seguran&#231;a..mp4" TargetMode="External"/><Relationship Id="rId4" Type="http://schemas.openxmlformats.org/officeDocument/2006/relationships/image" Target="../media/image161.png"/></Relationships>
</file>

<file path=ppt/slides/_rels/slide229.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4.xml"/></Relationships>
</file>

<file path=ppt/slides/_rels/slide230.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4.xml"/></Relationships>
</file>

<file path=ppt/slides/_rels/slide231.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4.xml"/></Relationships>
</file>

<file path=ppt/slides/_rels/slide232.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4.xml"/></Relationships>
</file>

<file path=ppt/slides/_rels/slide233.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4.xml"/></Relationships>
</file>

<file path=ppt/slides/_rels/slide234.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4.xml"/></Relationships>
</file>

<file path=ppt/slides/_rels/slide235.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4.xml"/></Relationships>
</file>

<file path=ppt/slides/_rels/slide236.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4.xml"/></Relationships>
</file>

<file path=ppt/slides/_rels/slide237.xml.rels><?xml version="1.0" encoding="UTF-8" standalone="yes"?>
<Relationships xmlns="http://schemas.openxmlformats.org/package/2006/relationships"><Relationship Id="rId3" Type="http://schemas.openxmlformats.org/officeDocument/2006/relationships/image" Target="../media/image162.jpeg"/><Relationship Id="rId2" Type="http://schemas.openxmlformats.org/officeDocument/2006/relationships/notesSlide" Target="../notesSlides/notesSlide69.xml"/><Relationship Id="rId1" Type="http://schemas.openxmlformats.org/officeDocument/2006/relationships/slideLayout" Target="../slideLayouts/slideLayout4.xml"/></Relationships>
</file>

<file path=ppt/slides/_rels/slide238.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4.xml"/></Relationships>
</file>

<file path=ppt/slides/_rels/slide239.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4.xml"/></Relationships>
</file>

<file path=ppt/slides/_rels/slide240.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4.xml"/></Relationships>
</file>

<file path=ppt/slides/_rels/slide241.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4.xml"/></Relationships>
</file>

<file path=ppt/slides/_rels/slide242.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notesSlide" Target="../notesSlides/notesSlide74.xml"/><Relationship Id="rId1" Type="http://schemas.openxmlformats.org/officeDocument/2006/relationships/slideLayout" Target="../slideLayouts/slideLayout4.xml"/></Relationships>
</file>

<file path=ppt/slides/_rels/slide243.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4.xml"/></Relationships>
</file>

<file path=ppt/slides/_rels/slide244.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4.xml"/></Relationships>
</file>

<file path=ppt/slides/_rels/slide245.xml.rels><?xml version="1.0" encoding="UTF-8" standalone="yes"?>
<Relationships xmlns="http://schemas.openxmlformats.org/package/2006/relationships"><Relationship Id="rId3" Type="http://schemas.openxmlformats.org/officeDocument/2006/relationships/image" Target="../media/image164.jpeg"/><Relationship Id="rId2" Type="http://schemas.openxmlformats.org/officeDocument/2006/relationships/notesSlide" Target="../notesSlides/notesSlide77.xml"/><Relationship Id="rId1" Type="http://schemas.openxmlformats.org/officeDocument/2006/relationships/slideLayout" Target="../slideLayouts/slideLayout4.xml"/></Relationships>
</file>

<file path=ppt/slides/_rels/slide246.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4.xml"/></Relationships>
</file>

<file path=ppt/slides/_rels/slide247.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79.xml"/><Relationship Id="rId1" Type="http://schemas.openxmlformats.org/officeDocument/2006/relationships/slideLayout" Target="../slideLayouts/slideLayout4.xml"/></Relationships>
</file>

<file path=ppt/slides/_rels/slide248.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4.xml"/></Relationships>
</file>

<file path=ppt/slides/_rels/slide249.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4.xml"/></Relationships>
</file>

<file path=ppt/slides/_rels/slide250.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4.xml"/></Relationships>
</file>

<file path=ppt/slides/_rels/slide251.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4.xml"/></Relationships>
</file>

<file path=ppt/slides/_rels/slide252.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4.xml"/></Relationships>
</file>

<file path=ppt/slides/_rels/slide253.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4.xml"/></Relationships>
</file>

<file path=ppt/slides/_rels/slide254.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4.xml"/></Relationships>
</file>

<file path=ppt/slides/_rels/slide255.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4.xml"/></Relationships>
</file>

<file path=ppt/slides/_rels/slide256.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notesSlide" Target="../notesSlides/notesSlide88.xml"/><Relationship Id="rId1" Type="http://schemas.openxmlformats.org/officeDocument/2006/relationships/slideLayout" Target="../slideLayouts/slideLayout4.xml"/></Relationships>
</file>

<file path=ppt/slides/_rels/slide257.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notesSlide" Target="../notesSlides/notesSlide89.xml"/><Relationship Id="rId1" Type="http://schemas.openxmlformats.org/officeDocument/2006/relationships/slideLayout" Target="../slideLayouts/slideLayout4.xml"/></Relationships>
</file>

<file path=ppt/slides/_rels/slide258.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notesSlide" Target="../notesSlides/notesSlide90.xml"/><Relationship Id="rId1" Type="http://schemas.openxmlformats.org/officeDocument/2006/relationships/slideLayout" Target="../slideLayouts/slideLayout4.xml"/></Relationships>
</file>

<file path=ppt/slides/_rels/slide259.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notesSlide" Target="../notesSlides/notesSlide91.xml"/><Relationship Id="rId1" Type="http://schemas.openxmlformats.org/officeDocument/2006/relationships/slideLayout" Target="../slideLayouts/slideLayout4.xml"/></Relationships>
</file>

<file path=ppt/slides/_rels/slide260.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4.xml"/></Relationships>
</file>

<file path=ppt/slides/_rels/slide261.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4.xml"/></Relationships>
</file>

<file path=ppt/slides/_rels/slide262.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4.xml"/></Relationships>
</file>

<file path=ppt/slides/_rels/slide26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1.xml"/><Relationship Id="rId4" Type="http://schemas.openxmlformats.org/officeDocument/2006/relationships/image" Target="../media/image5.png"/></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62670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096519-BC9C-4191-9780-5DA0FA1DF47A}"/>
              </a:ext>
            </a:extLst>
          </p:cNvPr>
          <p:cNvSpPr>
            <a:spLocks noGrp="1"/>
          </p:cNvSpPr>
          <p:nvPr>
            <p:ph type="title" idx="4294967295"/>
          </p:nvPr>
        </p:nvSpPr>
        <p:spPr>
          <a:xfrm>
            <a:off x="0" y="223838"/>
            <a:ext cx="12023725" cy="858837"/>
          </a:xfrm>
        </p:spPr>
        <p:txBody>
          <a:bodyPr/>
          <a:lstStyle/>
          <a:p>
            <a:r>
              <a:rPr lang="pt-BR" dirty="0"/>
              <a:t>Áreas da logística e seus salários</a:t>
            </a:r>
          </a:p>
        </p:txBody>
      </p:sp>
      <p:pic>
        <p:nvPicPr>
          <p:cNvPr id="4" name="Imagem 3">
            <a:extLst>
              <a:ext uri="{FF2B5EF4-FFF2-40B4-BE49-F238E27FC236}">
                <a16:creationId xmlns:a16="http://schemas.microsoft.com/office/drawing/2014/main" id="{28245CD7-7999-49B9-AD1E-88D7816C8C0A}"/>
              </a:ext>
            </a:extLst>
          </p:cNvPr>
          <p:cNvPicPr>
            <a:picLocks noChangeAspect="1"/>
          </p:cNvPicPr>
          <p:nvPr/>
        </p:nvPicPr>
        <p:blipFill>
          <a:blip r:embed="rId2"/>
          <a:stretch>
            <a:fillRect/>
          </a:stretch>
        </p:blipFill>
        <p:spPr>
          <a:xfrm>
            <a:off x="169350" y="971581"/>
            <a:ext cx="11854375" cy="5147771"/>
          </a:xfrm>
          <a:prstGeom prst="rect">
            <a:avLst/>
          </a:prstGeom>
        </p:spPr>
      </p:pic>
      <p:sp>
        <p:nvSpPr>
          <p:cNvPr id="7" name="Seta: para Cima 6">
            <a:extLst>
              <a:ext uri="{FF2B5EF4-FFF2-40B4-BE49-F238E27FC236}">
                <a16:creationId xmlns:a16="http://schemas.microsoft.com/office/drawing/2014/main" id="{7E69EB0F-5D1B-44D1-B31C-6B8FDF3D12A2}"/>
              </a:ext>
            </a:extLst>
          </p:cNvPr>
          <p:cNvSpPr/>
          <p:nvPr/>
        </p:nvSpPr>
        <p:spPr>
          <a:xfrm>
            <a:off x="2963534" y="3705726"/>
            <a:ext cx="180473" cy="26469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Seta: para a Esquerda 7">
            <a:extLst>
              <a:ext uri="{FF2B5EF4-FFF2-40B4-BE49-F238E27FC236}">
                <a16:creationId xmlns:a16="http://schemas.microsoft.com/office/drawing/2014/main" id="{5C19F3D4-F9E1-4717-B54F-052DB89754B0}"/>
              </a:ext>
            </a:extLst>
          </p:cNvPr>
          <p:cNvSpPr/>
          <p:nvPr/>
        </p:nvSpPr>
        <p:spPr>
          <a:xfrm>
            <a:off x="3735804" y="3260559"/>
            <a:ext cx="324853" cy="168442"/>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Seta: para Baixo 8">
            <a:extLst>
              <a:ext uri="{FF2B5EF4-FFF2-40B4-BE49-F238E27FC236}">
                <a16:creationId xmlns:a16="http://schemas.microsoft.com/office/drawing/2014/main" id="{DB4A3282-89EC-4B06-B562-0A5BBC7EA96D}"/>
              </a:ext>
            </a:extLst>
          </p:cNvPr>
          <p:cNvSpPr/>
          <p:nvPr/>
        </p:nvSpPr>
        <p:spPr>
          <a:xfrm>
            <a:off x="2675170" y="2310484"/>
            <a:ext cx="378600" cy="60116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Seta: para Cima 9">
            <a:extLst>
              <a:ext uri="{FF2B5EF4-FFF2-40B4-BE49-F238E27FC236}">
                <a16:creationId xmlns:a16="http://schemas.microsoft.com/office/drawing/2014/main" id="{51692193-0B42-41A1-95CA-5DFA29B16F93}"/>
              </a:ext>
            </a:extLst>
          </p:cNvPr>
          <p:cNvSpPr/>
          <p:nvPr/>
        </p:nvSpPr>
        <p:spPr>
          <a:xfrm>
            <a:off x="5113420" y="4331370"/>
            <a:ext cx="228601" cy="276726"/>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Seta: para Baixo 10">
            <a:extLst>
              <a:ext uri="{FF2B5EF4-FFF2-40B4-BE49-F238E27FC236}">
                <a16:creationId xmlns:a16="http://schemas.microsoft.com/office/drawing/2014/main" id="{54CDAECA-5D5E-4198-BBD0-51941F2DDCAA}"/>
              </a:ext>
            </a:extLst>
          </p:cNvPr>
          <p:cNvSpPr/>
          <p:nvPr/>
        </p:nvSpPr>
        <p:spPr>
          <a:xfrm>
            <a:off x="6030354" y="3545467"/>
            <a:ext cx="280171" cy="42495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Seta: para a Direita 11">
            <a:extLst>
              <a:ext uri="{FF2B5EF4-FFF2-40B4-BE49-F238E27FC236}">
                <a16:creationId xmlns:a16="http://schemas.microsoft.com/office/drawing/2014/main" id="{EEE907ED-F23B-4960-81AF-D3C0D4651ACC}"/>
              </a:ext>
            </a:extLst>
          </p:cNvPr>
          <p:cNvSpPr/>
          <p:nvPr/>
        </p:nvSpPr>
        <p:spPr>
          <a:xfrm>
            <a:off x="4199021" y="3636840"/>
            <a:ext cx="388158" cy="16844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Seta: para Cima 12">
            <a:extLst>
              <a:ext uri="{FF2B5EF4-FFF2-40B4-BE49-F238E27FC236}">
                <a16:creationId xmlns:a16="http://schemas.microsoft.com/office/drawing/2014/main" id="{A7751969-8E8D-4B28-B1F0-4B437EF6820D}"/>
              </a:ext>
            </a:extLst>
          </p:cNvPr>
          <p:cNvSpPr/>
          <p:nvPr/>
        </p:nvSpPr>
        <p:spPr>
          <a:xfrm>
            <a:off x="3735804" y="2523751"/>
            <a:ext cx="324853" cy="528968"/>
          </a:xfrm>
          <a:prstGeom prst="upArrow">
            <a:avLst>
              <a:gd name="adj1" fmla="val 42593"/>
              <a:gd name="adj2" fmla="val 10185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932165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500" fill="hold"/>
                                        <p:tgtEl>
                                          <p:spTgt spid="9"/>
                                        </p:tgtEl>
                                        <p:attrNameLst>
                                          <p:attrName>ppt_x</p:attrName>
                                        </p:attrNameLst>
                                      </p:cBhvr>
                                      <p:tavLst>
                                        <p:tav tm="0">
                                          <p:val>
                                            <p:strVal val="#ppt_x"/>
                                          </p:val>
                                        </p:tav>
                                        <p:tav tm="100000">
                                          <p:val>
                                            <p:strVal val="#ppt_x"/>
                                          </p:val>
                                        </p:tav>
                                      </p:tavLst>
                                    </p:anim>
                                    <p:anim calcmode="lin" valueType="num">
                                      <p:cBhvr additive="base">
                                        <p:cTn id="3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 calcmode="lin" valueType="num">
                                      <p:cBhvr additive="base">
                                        <p:cTn id="35" dur="500" fill="hold"/>
                                        <p:tgtEl>
                                          <p:spTgt spid="12"/>
                                        </p:tgtEl>
                                        <p:attrNameLst>
                                          <p:attrName>ppt_x</p:attrName>
                                        </p:attrNameLst>
                                      </p:cBhvr>
                                      <p:tavLst>
                                        <p:tav tm="0">
                                          <p:val>
                                            <p:strVal val="#ppt_x"/>
                                          </p:val>
                                        </p:tav>
                                        <p:tav tm="100000">
                                          <p:val>
                                            <p:strVal val="#ppt_x"/>
                                          </p:val>
                                        </p:tav>
                                      </p:tavLst>
                                    </p:anim>
                                    <p:anim calcmode="lin" valueType="num">
                                      <p:cBhvr additive="base">
                                        <p:cTn id="3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anim calcmode="lin" valueType="num">
                                      <p:cBhvr additive="base">
                                        <p:cTn id="41" dur="500" fill="hold"/>
                                        <p:tgtEl>
                                          <p:spTgt spid="10"/>
                                        </p:tgtEl>
                                        <p:attrNameLst>
                                          <p:attrName>ppt_x</p:attrName>
                                        </p:attrNameLst>
                                      </p:cBhvr>
                                      <p:tavLst>
                                        <p:tav tm="0">
                                          <p:val>
                                            <p:strVal val="#ppt_x"/>
                                          </p:val>
                                        </p:tav>
                                        <p:tav tm="100000">
                                          <p:val>
                                            <p:strVal val="#ppt_x"/>
                                          </p:val>
                                        </p:tav>
                                      </p:tavLst>
                                    </p:anim>
                                    <p:anim calcmode="lin" valueType="num">
                                      <p:cBhvr additive="base">
                                        <p:cTn id="4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 calcmode="lin" valueType="num">
                                      <p:cBhvr additive="base">
                                        <p:cTn id="47" dur="500" fill="hold"/>
                                        <p:tgtEl>
                                          <p:spTgt spid="11"/>
                                        </p:tgtEl>
                                        <p:attrNameLst>
                                          <p:attrName>ppt_x</p:attrName>
                                        </p:attrNameLst>
                                      </p:cBhvr>
                                      <p:tavLst>
                                        <p:tav tm="0">
                                          <p:val>
                                            <p:strVal val="#ppt_x"/>
                                          </p:val>
                                        </p:tav>
                                        <p:tav tm="100000">
                                          <p:val>
                                            <p:strVal val="#ppt_x"/>
                                          </p:val>
                                        </p:tav>
                                      </p:tavLst>
                                    </p:anim>
                                    <p:anim calcmode="lin" valueType="num">
                                      <p:cBhvr additive="base">
                                        <p:cTn id="4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13"/>
                                        </p:tgtEl>
                                        <p:attrNameLst>
                                          <p:attrName>style.visibility</p:attrName>
                                        </p:attrNameLst>
                                      </p:cBhvr>
                                      <p:to>
                                        <p:strVal val="visible"/>
                                      </p:to>
                                    </p:set>
                                    <p:anim calcmode="lin" valueType="num">
                                      <p:cBhvr additive="base">
                                        <p:cTn id="53" dur="500" fill="hold"/>
                                        <p:tgtEl>
                                          <p:spTgt spid="13"/>
                                        </p:tgtEl>
                                        <p:attrNameLst>
                                          <p:attrName>ppt_x</p:attrName>
                                        </p:attrNameLst>
                                      </p:cBhvr>
                                      <p:tavLst>
                                        <p:tav tm="0">
                                          <p:val>
                                            <p:strVal val="#ppt_x"/>
                                          </p:val>
                                        </p:tav>
                                        <p:tav tm="100000">
                                          <p:val>
                                            <p:strVal val="#ppt_x"/>
                                          </p:val>
                                        </p:tav>
                                      </p:tavLst>
                                    </p:anim>
                                    <p:anim calcmode="lin" valueType="num">
                                      <p:cBhvr additive="base">
                                        <p:cTn id="5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animBg="1"/>
      <p:bldP spid="8" grpId="0" animBg="1"/>
      <p:bldP spid="9" grpId="0" animBg="1"/>
      <p:bldP spid="10" grpId="0" animBg="1"/>
      <p:bldP spid="11" grpId="0" animBg="1"/>
      <p:bldP spid="12" grpId="0" animBg="1"/>
      <p:bldP spid="13" grpId="0" animBg="1"/>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360288" y="1455356"/>
            <a:ext cx="11454723" cy="1471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marL="342900" indent="-338138">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rgbClr val="FFFFFF"/>
                </a:solidFill>
                <a:latin typeface="Arial" panose="020B0604020202020204" pitchFamily="34" charset="0"/>
                <a:ea typeface="Microsoft YaHei" panose="020B0503020204020204" pitchFamily="34" charset="-122"/>
              </a:defRPr>
            </a:lvl1pPr>
            <a:lvl2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rgbClr val="FFFFFF"/>
                </a:solidFill>
                <a:latin typeface="Arial" panose="020B0604020202020204" pitchFamily="34" charset="0"/>
                <a:ea typeface="Microsoft YaHei" panose="020B0503020204020204" pitchFamily="34" charset="-122"/>
              </a:defRPr>
            </a:lvl2pPr>
            <a:lvl3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rgbClr val="FFFFFF"/>
                </a:solidFill>
                <a:latin typeface="Arial" panose="020B0604020202020204" pitchFamily="34" charset="0"/>
                <a:ea typeface="Microsoft YaHei" panose="020B0503020204020204" pitchFamily="34" charset="-122"/>
              </a:defRPr>
            </a:lvl3pPr>
            <a:lvl4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rgbClr val="FFFFFF"/>
                </a:solidFill>
                <a:latin typeface="Arial" panose="020B0604020202020204" pitchFamily="34" charset="0"/>
                <a:ea typeface="Microsoft YaHei" panose="020B0503020204020204" pitchFamily="34" charset="-122"/>
              </a:defRPr>
            </a:lvl4pPr>
            <a:lvl5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rgbClr val="FFFFFF"/>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rgbClr val="FFFFFF"/>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rgbClr val="FFFFFF"/>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rgbClr val="FFFFFF"/>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rgbClr val="FFFFFF"/>
                </a:solidFill>
                <a:latin typeface="Arial" panose="020B0604020202020204" pitchFamily="34" charset="0"/>
                <a:ea typeface="Microsoft YaHei" panose="020B0503020204020204" pitchFamily="34" charset="-122"/>
              </a:defRPr>
            </a:lvl9pPr>
          </a:lstStyle>
          <a:p>
            <a:pPr algn="just">
              <a:spcBef>
                <a:spcPts val="400"/>
              </a:spcBef>
            </a:pPr>
            <a:r>
              <a:rPr lang="pt-BR" altLang="pt-BR" sz="3600" i="1" dirty="0">
                <a:solidFill>
                  <a:schemeClr val="accent6"/>
                </a:solidFill>
                <a:latin typeface="Lucida Sans Unicode" panose="020B0602030504020204" pitchFamily="34" charset="0"/>
              </a:rPr>
              <a:t>“</a:t>
            </a:r>
            <a:r>
              <a:rPr lang="pt-BR" altLang="pt-BR" sz="3600" i="1" dirty="0">
                <a:solidFill>
                  <a:schemeClr val="tx1"/>
                </a:solidFill>
                <a:latin typeface="Lucida Sans Unicode" panose="020B0602030504020204" pitchFamily="34" charset="0"/>
              </a:rPr>
              <a:t>Providenciar bens ou serviços corretos no lugar certo, no tempo certo e na condição desejada ao menor custo possível ao cliente.”</a:t>
            </a:r>
          </a:p>
        </p:txBody>
      </p:sp>
      <p:sp>
        <p:nvSpPr>
          <p:cNvPr id="5" name="Text Box 3"/>
          <p:cNvSpPr txBox="1">
            <a:spLocks noChangeArrowheads="1"/>
          </p:cNvSpPr>
          <p:nvPr/>
        </p:nvSpPr>
        <p:spPr bwMode="auto">
          <a:xfrm>
            <a:off x="310842" y="3408735"/>
            <a:ext cx="11479446" cy="17758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marL="342900" indent="-338138">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rgbClr val="FFFFFF"/>
                </a:solidFill>
                <a:latin typeface="Arial" panose="020B0604020202020204" pitchFamily="34" charset="0"/>
                <a:ea typeface="Microsoft YaHei" panose="020B0503020204020204" pitchFamily="34" charset="-122"/>
              </a:defRPr>
            </a:lvl1pPr>
            <a:lvl2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rgbClr val="FFFFFF"/>
                </a:solidFill>
                <a:latin typeface="Arial" panose="020B0604020202020204" pitchFamily="34" charset="0"/>
                <a:ea typeface="Microsoft YaHei" panose="020B0503020204020204" pitchFamily="34" charset="-122"/>
              </a:defRPr>
            </a:lvl2pPr>
            <a:lvl3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rgbClr val="FFFFFF"/>
                </a:solidFill>
                <a:latin typeface="Arial" panose="020B0604020202020204" pitchFamily="34" charset="0"/>
                <a:ea typeface="Microsoft YaHei" panose="020B0503020204020204" pitchFamily="34" charset="-122"/>
              </a:defRPr>
            </a:lvl3pPr>
            <a:lvl4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rgbClr val="FFFFFF"/>
                </a:solidFill>
                <a:latin typeface="Arial" panose="020B0604020202020204" pitchFamily="34" charset="0"/>
                <a:ea typeface="Microsoft YaHei" panose="020B0503020204020204" pitchFamily="34" charset="-122"/>
              </a:defRPr>
            </a:lvl4pPr>
            <a:lvl5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rgbClr val="FFFFFF"/>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rgbClr val="FFFFFF"/>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rgbClr val="FFFFFF"/>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rgbClr val="FFFFFF"/>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rgbClr val="FFFFFF"/>
                </a:solidFill>
                <a:latin typeface="Arial" panose="020B0604020202020204" pitchFamily="34" charset="0"/>
                <a:ea typeface="Microsoft YaHei" panose="020B0503020204020204" pitchFamily="34" charset="-122"/>
              </a:defRPr>
            </a:lvl9pPr>
          </a:lstStyle>
          <a:p>
            <a:pPr algn="just">
              <a:spcBef>
                <a:spcPts val="400"/>
              </a:spcBef>
            </a:pPr>
            <a:r>
              <a:rPr lang="pt-BR" altLang="pt-BR" sz="2400" i="1" dirty="0">
                <a:solidFill>
                  <a:schemeClr val="accent6"/>
                </a:solidFill>
                <a:latin typeface="Lucida Sans Unicode" panose="020B0602030504020204" pitchFamily="34" charset="0"/>
              </a:rPr>
              <a:t>“</a:t>
            </a:r>
            <a:r>
              <a:rPr lang="pt-BR" altLang="pt-BR" sz="3600" i="1" dirty="0">
                <a:solidFill>
                  <a:schemeClr val="tx1"/>
                </a:solidFill>
                <a:latin typeface="Lucida Sans Unicode" panose="020B0602030504020204" pitchFamily="34" charset="0"/>
              </a:rPr>
              <a:t>Colocar ou obter o produto ou serviço certo, no local certo, no momento certo, ao menor custo, compatível com o requisito de serviço necessário e esperado pelo cliente, interno ou externo.”</a:t>
            </a:r>
          </a:p>
        </p:txBody>
      </p:sp>
      <p:sp>
        <p:nvSpPr>
          <p:cNvPr id="6" name="Retângulo 5"/>
          <p:cNvSpPr/>
          <p:nvPr/>
        </p:nvSpPr>
        <p:spPr>
          <a:xfrm>
            <a:off x="1455161" y="729891"/>
            <a:ext cx="9281676" cy="400110"/>
          </a:xfrm>
          <a:prstGeom prst="rect">
            <a:avLst/>
          </a:prstGeom>
        </p:spPr>
        <p:txBody>
          <a:bodyPr wrap="square">
            <a:spAutoFit/>
          </a:bodyPr>
          <a:lstStyle/>
          <a:p>
            <a:pPr algn="ctr">
              <a:buClrTx/>
              <a:buFontTx/>
              <a:buNone/>
            </a:pPr>
            <a:r>
              <a:rPr lang="pt-BR" altLang="pt-BR" sz="2000" b="1" dirty="0">
                <a:solidFill>
                  <a:schemeClr val="accent6"/>
                </a:solidFill>
                <a:latin typeface="Lucida Sans Unicode" panose="020B0602030504020204" pitchFamily="34" charset="0"/>
              </a:rPr>
              <a:t>MISSÃO (OBJETIVO) DA LOGÍSTICA</a:t>
            </a:r>
          </a:p>
        </p:txBody>
      </p:sp>
      <p:sp>
        <p:nvSpPr>
          <p:cNvPr id="7" name="Retângulo 6"/>
          <p:cNvSpPr/>
          <p:nvPr/>
        </p:nvSpPr>
        <p:spPr>
          <a:xfrm>
            <a:off x="2099554" y="141513"/>
            <a:ext cx="7992888" cy="461665"/>
          </a:xfrm>
          <a:prstGeom prst="rect">
            <a:avLst/>
          </a:prstGeom>
        </p:spPr>
        <p:txBody>
          <a:bodyPr wrap="square">
            <a:spAutoFit/>
          </a:body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LOGÍSTICA</a:t>
            </a:r>
            <a:endParaRPr lang="pt-BR" sz="2400" dirty="0">
              <a:latin typeface="Lucida Sans Unicode" panose="020B0602030504020204" pitchFamily="34" charset="0"/>
              <a:cs typeface="Lucida Sans Unicode" panose="020B0602030504020204" pitchFamily="34" charset="0"/>
            </a:endParaRPr>
          </a:p>
        </p:txBody>
      </p:sp>
    </p:spTree>
    <p:extLst>
      <p:ext uri="{BB962C8B-B14F-4D97-AF65-F5344CB8AC3E}">
        <p14:creationId xmlns:p14="http://schemas.microsoft.com/office/powerpoint/2010/main" val="3176921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additive="repl">
                                        <p:cTn id="11" dur="1" fill="hold">
                                          <p:stCondLst>
                                            <p:cond delay="0"/>
                                          </p:stCondLst>
                                        </p:cTn>
                                        <p:tgtEl>
                                          <p:spTgt spid="3">
                                            <p:txEl>
                                              <p:pRg st="0" end="0"/>
                                            </p:txEl>
                                          </p:spTgt>
                                        </p:tgtEl>
                                        <p:attrNameLst>
                                          <p:attrName>style.visibility</p:attrName>
                                        </p:attrNameLst>
                                      </p:cBhvr>
                                      <p:to>
                                        <p:strVal val="visible"/>
                                      </p:to>
                                    </p:set>
                                    <p:animEffect transition="in" filter="diamond(in)">
                                      <p:cBhvr additive="repl">
                                        <p:cTn id="12" dur="2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32" fill="hold" nodeType="clickEffect">
                                  <p:stCondLst>
                                    <p:cond delay="0"/>
                                  </p:stCondLst>
                                  <p:childTnLst>
                                    <p:set>
                                      <p:cBhvr additive="repl">
                                        <p:cTn id="16" dur="1" fill="hold">
                                          <p:stCondLst>
                                            <p:cond delay="0"/>
                                          </p:stCondLst>
                                        </p:cTn>
                                        <p:tgtEl>
                                          <p:spTgt spid="5">
                                            <p:txEl>
                                              <p:pRg st="0" end="0"/>
                                            </p:txEl>
                                          </p:spTgt>
                                        </p:tgtEl>
                                        <p:attrNameLst>
                                          <p:attrName>style.visibility</p:attrName>
                                        </p:attrNameLst>
                                      </p:cBhvr>
                                      <p:to>
                                        <p:strVal val="visible"/>
                                      </p:to>
                                    </p:set>
                                    <p:animEffect transition="in" filter="diamond(out)">
                                      <p:cBhvr additive="repl">
                                        <p:cTn id="17" dur="20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10" name="TextBox 9"/>
          <p:cNvSpPr txBox="1">
            <a:spLocks noChangeArrowheads="1"/>
          </p:cNvSpPr>
          <p:nvPr/>
        </p:nvSpPr>
        <p:spPr bwMode="auto">
          <a:xfrm>
            <a:off x="4128495" y="1252243"/>
            <a:ext cx="3935008" cy="390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defRPr>
            </a:lvl9pPr>
          </a:lstStyle>
          <a:p>
            <a:pPr algn="ctr" eaLnBrk="1" hangingPunct="1">
              <a:lnSpc>
                <a:spcPct val="85000"/>
              </a:lnSpc>
              <a:spcBef>
                <a:spcPct val="0"/>
              </a:spcBef>
              <a:buFontTx/>
              <a:buNone/>
            </a:pPr>
            <a:r>
              <a:rPr lang="pt-BR" altLang="pt-BR" sz="2000" b="1" dirty="0">
                <a:solidFill>
                  <a:schemeClr val="accent6"/>
                </a:solidFill>
                <a:latin typeface="Lucida Sans Unicode" panose="020B0602030504020204" pitchFamily="34" charset="0"/>
                <a:cs typeface="Lucida Sans Unicode" panose="020B0602030504020204" pitchFamily="34" charset="0"/>
              </a:rPr>
              <a:t>CONCEITO DE LOGÍSTICA</a:t>
            </a:r>
          </a:p>
        </p:txBody>
      </p:sp>
      <p:grpSp>
        <p:nvGrpSpPr>
          <p:cNvPr id="14" name="Grupo 13"/>
          <p:cNvGrpSpPr>
            <a:grpSpLocks/>
          </p:cNvGrpSpPr>
          <p:nvPr/>
        </p:nvGrpSpPr>
        <p:grpSpPr bwMode="auto">
          <a:xfrm>
            <a:off x="982662" y="2060576"/>
            <a:ext cx="10226676" cy="3529013"/>
            <a:chOff x="-540568" y="3705109"/>
            <a:chExt cx="10225136" cy="2341837"/>
          </a:xfrm>
        </p:grpSpPr>
        <p:sp>
          <p:nvSpPr>
            <p:cNvPr id="15" name="Rectangle 4"/>
            <p:cNvSpPr/>
            <p:nvPr/>
          </p:nvSpPr>
          <p:spPr>
            <a:xfrm>
              <a:off x="-540568" y="3705109"/>
              <a:ext cx="10225136" cy="2341837"/>
            </a:xfrm>
            <a:prstGeom prst="rect">
              <a:avLst/>
            </a:prstGeom>
            <a:solidFill>
              <a:srgbClr val="031E3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BR">
                <a:solidFill>
                  <a:prstClr val="white"/>
                </a:solidFill>
              </a:endParaRPr>
            </a:p>
          </p:txBody>
        </p:sp>
        <p:sp>
          <p:nvSpPr>
            <p:cNvPr id="17443" name="TextBox 8"/>
            <p:cNvSpPr txBox="1">
              <a:spLocks noChangeArrowheads="1"/>
            </p:cNvSpPr>
            <p:nvPr/>
          </p:nvSpPr>
          <p:spPr bwMode="auto">
            <a:xfrm>
              <a:off x="0" y="3825629"/>
              <a:ext cx="9144000" cy="2221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0" tIns="180000" rIns="90000" bIns="180000"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defRPr>
              </a:lvl9pPr>
            </a:lstStyle>
            <a:p>
              <a:pPr eaLnBrk="1" hangingPunct="1">
                <a:spcBef>
                  <a:spcPct val="0"/>
                </a:spcBef>
                <a:buFontTx/>
                <a:buNone/>
              </a:pPr>
              <a:r>
                <a:rPr lang="pt-BR" altLang="pt-BR" b="1" i="1" dirty="0">
                  <a:solidFill>
                    <a:srgbClr val="FFFFFF"/>
                  </a:solidFill>
                </a:rPr>
                <a:t>Logística </a:t>
              </a:r>
              <a:r>
                <a:rPr lang="pt-BR" altLang="pt-BR" b="1" dirty="0">
                  <a:solidFill>
                    <a:srgbClr val="FFFFFF"/>
                  </a:solidFill>
                </a:rPr>
                <a:t>é o processo de planejar, implementar e controlar</a:t>
              </a:r>
            </a:p>
            <a:p>
              <a:pPr eaLnBrk="1" hangingPunct="1">
                <a:spcBef>
                  <a:spcPct val="0"/>
                </a:spcBef>
                <a:buFontTx/>
                <a:buNone/>
              </a:pPr>
              <a:r>
                <a:rPr lang="pt-BR" altLang="pt-BR" b="1" dirty="0">
                  <a:solidFill>
                    <a:srgbClr val="FFFFFF"/>
                  </a:solidFill>
                </a:rPr>
                <a:t>de maneira eficiente e eficaz o fluxo e a armazenagem de</a:t>
              </a:r>
            </a:p>
            <a:p>
              <a:pPr eaLnBrk="1" hangingPunct="1">
                <a:spcBef>
                  <a:spcPct val="0"/>
                </a:spcBef>
                <a:buFontTx/>
                <a:buNone/>
              </a:pPr>
              <a:r>
                <a:rPr lang="pt-BR" altLang="pt-BR" b="1" dirty="0">
                  <a:solidFill>
                    <a:srgbClr val="FFFFFF"/>
                  </a:solidFill>
                </a:rPr>
                <a:t>produtos, bem como os serviços e informações associados,</a:t>
              </a:r>
            </a:p>
            <a:p>
              <a:pPr eaLnBrk="1" hangingPunct="1">
                <a:spcBef>
                  <a:spcPct val="0"/>
                </a:spcBef>
                <a:buFontTx/>
                <a:buNone/>
              </a:pPr>
              <a:r>
                <a:rPr lang="pt-BR" altLang="pt-BR" b="1" dirty="0">
                  <a:solidFill>
                    <a:srgbClr val="FFFFFF"/>
                  </a:solidFill>
                </a:rPr>
                <a:t>cobrindo desde o ponto de origem até o ponto de consumo,</a:t>
              </a:r>
            </a:p>
            <a:p>
              <a:pPr eaLnBrk="1" hangingPunct="1">
                <a:spcBef>
                  <a:spcPct val="0"/>
                </a:spcBef>
                <a:buFontTx/>
                <a:buNone/>
              </a:pPr>
              <a:r>
                <a:rPr lang="pt-BR" altLang="pt-BR" b="1" dirty="0">
                  <a:solidFill>
                    <a:srgbClr val="FFFFFF"/>
                  </a:solidFill>
                </a:rPr>
                <a:t>com o objetivo de atender os requisitos do cliente.</a:t>
              </a:r>
            </a:p>
            <a:p>
              <a:pPr eaLnBrk="1" hangingPunct="1">
                <a:spcBef>
                  <a:spcPct val="0"/>
                </a:spcBef>
                <a:buFontTx/>
                <a:buNone/>
              </a:pPr>
              <a:endParaRPr lang="pt-BR" altLang="pt-BR" dirty="0">
                <a:solidFill>
                  <a:srgbClr val="FFFFFF"/>
                </a:solidFill>
              </a:endParaRPr>
            </a:p>
            <a:p>
              <a:pPr eaLnBrk="1" hangingPunct="1">
                <a:spcBef>
                  <a:spcPct val="0"/>
                </a:spcBef>
                <a:buFontTx/>
                <a:buNone/>
              </a:pPr>
              <a:r>
                <a:rPr lang="en-US" altLang="pt-BR" dirty="0">
                  <a:solidFill>
                    <a:srgbClr val="FFFFFF"/>
                  </a:solidFill>
                </a:rPr>
                <a:t>(</a:t>
              </a:r>
              <a:r>
                <a:rPr lang="en-US" altLang="pt-BR" i="1" dirty="0">
                  <a:solidFill>
                    <a:srgbClr val="FFFFFF"/>
                  </a:solidFill>
                </a:rPr>
                <a:t>Council of Supply Chain Management Professionals </a:t>
              </a:r>
              <a:r>
                <a:rPr lang="en-US" altLang="pt-BR" dirty="0">
                  <a:solidFill>
                    <a:srgbClr val="FFFFFF"/>
                  </a:solidFill>
                </a:rPr>
                <a:t>– </a:t>
              </a:r>
              <a:r>
                <a:rPr lang="en-US" altLang="pt-BR" i="1" dirty="0">
                  <a:solidFill>
                    <a:srgbClr val="FFFFFF"/>
                  </a:solidFill>
                </a:rPr>
                <a:t>CSCMP</a:t>
              </a:r>
              <a:r>
                <a:rPr lang="en-US" altLang="pt-BR" dirty="0">
                  <a:solidFill>
                    <a:srgbClr val="FFFFFF"/>
                  </a:solidFill>
                </a:rPr>
                <a:t>)</a:t>
              </a:r>
              <a:endParaRPr lang="pt-BR" altLang="pt-BR" dirty="0">
                <a:solidFill>
                  <a:srgbClr val="FFFFFF"/>
                </a:solidFill>
                <a:latin typeface="Trebuchet MS" panose="020B0603020202020204" pitchFamily="34" charset="0"/>
              </a:endParaRPr>
            </a:p>
            <a:p>
              <a:pPr eaLnBrk="1" hangingPunct="1">
                <a:spcBef>
                  <a:spcPct val="0"/>
                </a:spcBef>
                <a:buFontTx/>
                <a:buNone/>
              </a:pPr>
              <a:endParaRPr lang="pt-BR" altLang="pt-BR" b="1" dirty="0">
                <a:solidFill>
                  <a:srgbClr val="DE9719"/>
                </a:solidFill>
                <a:latin typeface="Trebuchet MS" panose="020B0603020202020204" pitchFamily="34" charset="0"/>
              </a:endParaRPr>
            </a:p>
          </p:txBody>
        </p:sp>
      </p:grpSp>
      <p:sp>
        <p:nvSpPr>
          <p:cNvPr id="2" name="Retângulo 1"/>
          <p:cNvSpPr/>
          <p:nvPr/>
        </p:nvSpPr>
        <p:spPr>
          <a:xfrm>
            <a:off x="5208576" y="506706"/>
            <a:ext cx="1774846" cy="420115"/>
          </a:xfrm>
          <a:prstGeom prst="rect">
            <a:avLst/>
          </a:prstGeom>
        </p:spPr>
        <p:txBody>
          <a:bodyPr wrap="none">
            <a:spAutoFit/>
          </a:bodyPr>
          <a:lstStyle/>
          <a:p>
            <a:pPr algn="ctr">
              <a:lnSpc>
                <a:spcPct val="85000"/>
              </a:lnSpc>
              <a:spcBef>
                <a:spcPct val="0"/>
              </a:spcBef>
            </a:pPr>
            <a:r>
              <a:rPr lang="pt-BR" altLang="pt-BR" sz="2400" b="1" dirty="0">
                <a:solidFill>
                  <a:schemeClr val="accent6"/>
                </a:solidFill>
                <a:latin typeface="Lucida Sans Unicode" panose="020B0602030504020204" pitchFamily="34" charset="0"/>
                <a:cs typeface="Lucida Sans Unicode" panose="020B0602030504020204" pitchFamily="34" charset="0"/>
              </a:rPr>
              <a:t>LOGÍSTICA</a:t>
            </a:r>
          </a:p>
        </p:txBody>
      </p:sp>
    </p:spTree>
    <p:extLst>
      <p:ext uri="{BB962C8B-B14F-4D97-AF65-F5344CB8AC3E}">
        <p14:creationId xmlns:p14="http://schemas.microsoft.com/office/powerpoint/2010/main" val="4839852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1250" fill="hold"/>
                                        <p:tgtEl>
                                          <p:spTgt spid="14"/>
                                        </p:tgtEl>
                                        <p:attrNameLst>
                                          <p:attrName>ppt_x</p:attrName>
                                        </p:attrNameLst>
                                      </p:cBhvr>
                                      <p:tavLst>
                                        <p:tav tm="0">
                                          <p:val>
                                            <p:strVal val="0-#ppt_w/2"/>
                                          </p:val>
                                        </p:tav>
                                        <p:tav tm="100000">
                                          <p:val>
                                            <p:strVal val="#ppt_x"/>
                                          </p:val>
                                        </p:tav>
                                      </p:tavLst>
                                    </p:anim>
                                    <p:anim calcmode="lin" valueType="num">
                                      <p:cBhvr additive="base">
                                        <p:cTn id="8" dur="125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0" name="Grupo 19"/>
          <p:cNvGrpSpPr/>
          <p:nvPr/>
        </p:nvGrpSpPr>
        <p:grpSpPr>
          <a:xfrm>
            <a:off x="2243529" y="1725153"/>
            <a:ext cx="7291113" cy="4233183"/>
            <a:chOff x="2243529" y="1725153"/>
            <a:chExt cx="7291113" cy="4233183"/>
          </a:xfrm>
        </p:grpSpPr>
        <p:sp>
          <p:nvSpPr>
            <p:cNvPr id="3" name="Conector reto 2"/>
            <p:cNvSpPr/>
            <p:nvPr/>
          </p:nvSpPr>
          <p:spPr>
            <a:xfrm>
              <a:off x="4300929" y="5253514"/>
              <a:ext cx="4131259" cy="0"/>
            </a:xfrm>
            <a:prstGeom prst="line">
              <a:avLst/>
            </a:prstGeom>
          </p:spPr>
          <p:style>
            <a:lnRef idx="2">
              <a:schemeClr val="accent2">
                <a:hueOff val="0"/>
                <a:satOff val="0"/>
                <a:lumOff val="0"/>
                <a:alphaOff val="0"/>
              </a:schemeClr>
            </a:lnRef>
            <a:fillRef idx="0">
              <a:schemeClr val="accent2">
                <a:hueOff val="0"/>
                <a:satOff val="0"/>
                <a:lumOff val="0"/>
                <a:alphaOff val="0"/>
              </a:schemeClr>
            </a:fillRef>
            <a:effectRef idx="0">
              <a:schemeClr val="accent2">
                <a:hueOff val="0"/>
                <a:satOff val="0"/>
                <a:lumOff val="0"/>
                <a:alphaOff val="0"/>
              </a:schemeClr>
            </a:effectRef>
            <a:fontRef idx="minor">
              <a:schemeClr val="tx1">
                <a:hueOff val="0"/>
                <a:satOff val="0"/>
                <a:lumOff val="0"/>
                <a:alphaOff val="0"/>
              </a:schemeClr>
            </a:fontRef>
          </p:style>
        </p:sp>
        <p:sp>
          <p:nvSpPr>
            <p:cNvPr id="4" name="Conector reto 3"/>
            <p:cNvSpPr/>
            <p:nvPr/>
          </p:nvSpPr>
          <p:spPr>
            <a:xfrm>
              <a:off x="4300929" y="3813334"/>
              <a:ext cx="3538728" cy="0"/>
            </a:xfrm>
            <a:prstGeom prst="line">
              <a:avLst/>
            </a:prstGeom>
          </p:spPr>
          <p:style>
            <a:lnRef idx="2">
              <a:schemeClr val="accent2">
                <a:hueOff val="0"/>
                <a:satOff val="0"/>
                <a:lumOff val="0"/>
                <a:alphaOff val="0"/>
              </a:schemeClr>
            </a:lnRef>
            <a:fillRef idx="0">
              <a:schemeClr val="accent2">
                <a:hueOff val="0"/>
                <a:satOff val="0"/>
                <a:lumOff val="0"/>
                <a:alphaOff val="0"/>
              </a:schemeClr>
            </a:fillRef>
            <a:effectRef idx="0">
              <a:schemeClr val="accent2">
                <a:hueOff val="0"/>
                <a:satOff val="0"/>
                <a:lumOff val="0"/>
                <a:alphaOff val="0"/>
              </a:schemeClr>
            </a:effectRef>
            <a:fontRef idx="minor">
              <a:schemeClr val="tx1">
                <a:hueOff val="0"/>
                <a:satOff val="0"/>
                <a:lumOff val="0"/>
                <a:alphaOff val="0"/>
              </a:schemeClr>
            </a:fontRef>
          </p:style>
        </p:sp>
        <p:sp>
          <p:nvSpPr>
            <p:cNvPr id="5" name="Conector reto 4"/>
            <p:cNvSpPr/>
            <p:nvPr/>
          </p:nvSpPr>
          <p:spPr>
            <a:xfrm>
              <a:off x="4300929" y="2373154"/>
              <a:ext cx="4131259" cy="0"/>
            </a:xfrm>
            <a:prstGeom prst="line">
              <a:avLst/>
            </a:prstGeom>
          </p:spPr>
          <p:style>
            <a:lnRef idx="2">
              <a:schemeClr val="accent2">
                <a:hueOff val="0"/>
                <a:satOff val="0"/>
                <a:lumOff val="0"/>
                <a:alphaOff val="0"/>
              </a:schemeClr>
            </a:lnRef>
            <a:fillRef idx="0">
              <a:schemeClr val="accent2">
                <a:hueOff val="0"/>
                <a:satOff val="0"/>
                <a:lumOff val="0"/>
                <a:alphaOff val="0"/>
              </a:schemeClr>
            </a:fillRef>
            <a:effectRef idx="0">
              <a:schemeClr val="accent2">
                <a:hueOff val="0"/>
                <a:satOff val="0"/>
                <a:lumOff val="0"/>
                <a:alphaOff val="0"/>
              </a:schemeClr>
            </a:effectRef>
            <a:fontRef idx="minor">
              <a:schemeClr val="tx1">
                <a:hueOff val="0"/>
                <a:satOff val="0"/>
                <a:lumOff val="0"/>
                <a:alphaOff val="0"/>
              </a:schemeClr>
            </a:fontRef>
          </p:style>
        </p:sp>
        <p:sp>
          <p:nvSpPr>
            <p:cNvPr id="6" name="Elipse 5"/>
            <p:cNvSpPr/>
            <p:nvPr/>
          </p:nvSpPr>
          <p:spPr>
            <a:xfrm>
              <a:off x="2243529" y="1784326"/>
              <a:ext cx="4114800" cy="4114800"/>
            </a:xfrm>
            <a:prstGeom prst="ellipse">
              <a:avLst/>
            </a:prstGeom>
            <a:solidFill>
              <a:schemeClr val="accent5">
                <a:lumMod val="75000"/>
              </a:schemeClr>
            </a:solidFill>
          </p:spPr>
          <p:style>
            <a:lnRef idx="2">
              <a:schemeClr val="lt1">
                <a:hueOff val="0"/>
                <a:satOff val="0"/>
                <a:lumOff val="0"/>
                <a:alphaOff val="0"/>
              </a:schemeClr>
            </a:lnRef>
            <a:fillRef idx="1">
              <a:scrgbClr r="0" g="0" b="0"/>
            </a:fillRef>
            <a:effectRef idx="0">
              <a:schemeClr val="accent2">
                <a:tint val="50000"/>
                <a:hueOff val="0"/>
                <a:satOff val="0"/>
                <a:lumOff val="0"/>
                <a:alphaOff val="0"/>
              </a:schemeClr>
            </a:effectRef>
            <a:fontRef idx="minor">
              <a:schemeClr val="lt1">
                <a:hueOff val="0"/>
                <a:satOff val="0"/>
                <a:lumOff val="0"/>
                <a:alphaOff val="0"/>
              </a:schemeClr>
            </a:fontRef>
          </p:style>
        </p:sp>
        <p:sp>
          <p:nvSpPr>
            <p:cNvPr id="8" name="Forma livre 7"/>
            <p:cNvSpPr/>
            <p:nvPr/>
          </p:nvSpPr>
          <p:spPr>
            <a:xfrm>
              <a:off x="2521729" y="3366305"/>
              <a:ext cx="3558400" cy="894056"/>
            </a:xfrm>
            <a:custGeom>
              <a:avLst/>
              <a:gdLst>
                <a:gd name="connsiteX0" fmla="*/ 0 w 3558400"/>
                <a:gd name="connsiteY0" fmla="*/ 0 h 894056"/>
                <a:gd name="connsiteX1" fmla="*/ 3558400 w 3558400"/>
                <a:gd name="connsiteY1" fmla="*/ 0 h 894056"/>
                <a:gd name="connsiteX2" fmla="*/ 3558400 w 3558400"/>
                <a:gd name="connsiteY2" fmla="*/ 894056 h 894056"/>
                <a:gd name="connsiteX3" fmla="*/ 0 w 3558400"/>
                <a:gd name="connsiteY3" fmla="*/ 894056 h 894056"/>
                <a:gd name="connsiteX4" fmla="*/ 0 w 3558400"/>
                <a:gd name="connsiteY4" fmla="*/ 0 h 8940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58400" h="894056">
                  <a:moveTo>
                    <a:pt x="0" y="0"/>
                  </a:moveTo>
                  <a:lnTo>
                    <a:pt x="3558400" y="0"/>
                  </a:lnTo>
                  <a:lnTo>
                    <a:pt x="3558400" y="894056"/>
                  </a:lnTo>
                  <a:lnTo>
                    <a:pt x="0" y="894056"/>
                  </a:lnTo>
                  <a:lnTo>
                    <a:pt x="0" y="0"/>
                  </a:lnTo>
                  <a:close/>
                </a:path>
              </a:pathLst>
            </a:custGeom>
            <a:noFill/>
            <a:ln>
              <a:noFill/>
            </a:ln>
            <a:sp3d/>
          </p:spPr>
          <p:style>
            <a:lnRef idx="2">
              <a:scrgbClr r="0" g="0" b="0"/>
            </a:lnRef>
            <a:fillRef idx="1">
              <a:scrgbClr r="0" g="0" b="0"/>
            </a:fillRef>
            <a:effectRef idx="0">
              <a:schemeClr val="accent2">
                <a:hueOff val="0"/>
                <a:satOff val="0"/>
                <a:lumOff val="0"/>
                <a:alphaOff val="0"/>
              </a:schemeClr>
            </a:effectRef>
            <a:fontRef idx="minor">
              <a:schemeClr val="lt1"/>
            </a:fontRef>
          </p:style>
          <p:txBody>
            <a:bodyPr spcFirstLastPara="0" vert="horz" wrap="square" lIns="0" tIns="0" rIns="0" bIns="0" numCol="1" spcCol="1270" anchor="b" anchorCtr="0">
              <a:noAutofit/>
            </a:bodyPr>
            <a:lstStyle/>
            <a:p>
              <a:pPr lvl="0" algn="ctr" defTabSz="2667000">
                <a:lnSpc>
                  <a:spcPct val="90000"/>
                </a:lnSpc>
                <a:spcBef>
                  <a:spcPct val="0"/>
                </a:spcBef>
                <a:spcAft>
                  <a:spcPct val="35000"/>
                </a:spcAft>
              </a:pPr>
              <a:r>
                <a:rPr lang="pt-BR" sz="5400" b="1" kern="1200" dirty="0">
                  <a:latin typeface="Lucida Sans Unicode" panose="020B0602030504020204" pitchFamily="34" charset="0"/>
                  <a:cs typeface="Lucida Sans Unicode" panose="020B0602030504020204" pitchFamily="34" charset="0"/>
                </a:rPr>
                <a:t>PLANEJAR</a:t>
              </a:r>
            </a:p>
          </p:txBody>
        </p:sp>
        <p:sp>
          <p:nvSpPr>
            <p:cNvPr id="9" name="Elipse 8"/>
            <p:cNvSpPr/>
            <p:nvPr/>
          </p:nvSpPr>
          <p:spPr>
            <a:xfrm>
              <a:off x="7532188" y="1725153"/>
              <a:ext cx="1799998" cy="1296001"/>
            </a:xfrm>
            <a:prstGeom prst="ellipse">
              <a:avLst/>
            </a:prstGeom>
            <a:solidFill>
              <a:schemeClr val="tx1"/>
            </a:solidFill>
          </p:spPr>
          <p:style>
            <a:lnRef idx="2">
              <a:schemeClr val="lt1">
                <a:hueOff val="0"/>
                <a:satOff val="0"/>
                <a:lumOff val="0"/>
                <a:alphaOff val="0"/>
              </a:schemeClr>
            </a:lnRef>
            <a:fillRef idx="1">
              <a:scrgbClr r="0" g="0" b="0"/>
            </a:fillRef>
            <a:effectRef idx="0">
              <a:schemeClr val="accent2">
                <a:tint val="50000"/>
                <a:hueOff val="-4800000"/>
                <a:satOff val="-15498"/>
                <a:lumOff val="5776"/>
                <a:alphaOff val="0"/>
              </a:schemeClr>
            </a:effectRef>
            <a:fontRef idx="minor">
              <a:schemeClr val="lt1">
                <a:hueOff val="0"/>
                <a:satOff val="0"/>
                <a:lumOff val="0"/>
                <a:alphaOff val="0"/>
              </a:schemeClr>
            </a:fontRef>
          </p:style>
        </p:sp>
        <p:sp>
          <p:nvSpPr>
            <p:cNvPr id="11" name="Elipse 10"/>
            <p:cNvSpPr/>
            <p:nvPr/>
          </p:nvSpPr>
          <p:spPr>
            <a:xfrm>
              <a:off x="6939657" y="3165333"/>
              <a:ext cx="1799998" cy="1296001"/>
            </a:xfrm>
            <a:prstGeom prst="ellipse">
              <a:avLst/>
            </a:prstGeom>
            <a:solidFill>
              <a:schemeClr val="accent2">
                <a:lumMod val="75000"/>
              </a:schemeClr>
            </a:solidFill>
          </p:spPr>
          <p:style>
            <a:lnRef idx="2">
              <a:schemeClr val="lt1">
                <a:hueOff val="0"/>
                <a:satOff val="0"/>
                <a:lumOff val="0"/>
                <a:alphaOff val="0"/>
              </a:schemeClr>
            </a:lnRef>
            <a:fillRef idx="1">
              <a:scrgbClr r="0" g="0" b="0"/>
            </a:fillRef>
            <a:effectRef idx="0">
              <a:schemeClr val="accent2">
                <a:tint val="50000"/>
                <a:hueOff val="-9600000"/>
                <a:satOff val="-30997"/>
                <a:lumOff val="11552"/>
                <a:alphaOff val="0"/>
              </a:schemeClr>
            </a:effectRef>
            <a:fontRef idx="minor">
              <a:schemeClr val="lt1">
                <a:hueOff val="0"/>
                <a:satOff val="0"/>
                <a:lumOff val="0"/>
                <a:alphaOff val="0"/>
              </a:schemeClr>
            </a:fontRef>
          </p:style>
        </p:sp>
        <p:sp>
          <p:nvSpPr>
            <p:cNvPr id="18" name="Elipse 17"/>
            <p:cNvSpPr/>
            <p:nvPr/>
          </p:nvSpPr>
          <p:spPr>
            <a:xfrm>
              <a:off x="7377587" y="4548692"/>
              <a:ext cx="2109201" cy="1409644"/>
            </a:xfrm>
            <a:prstGeom prst="ellipse">
              <a:avLst/>
            </a:prstGeom>
            <a:solidFill>
              <a:srgbClr val="7030A0"/>
            </a:solidFill>
          </p:spPr>
          <p:style>
            <a:lnRef idx="2">
              <a:schemeClr val="lt1">
                <a:hueOff val="0"/>
                <a:satOff val="0"/>
                <a:lumOff val="0"/>
                <a:alphaOff val="0"/>
              </a:schemeClr>
            </a:lnRef>
            <a:fillRef idx="1">
              <a:scrgbClr r="0" g="0" b="0"/>
            </a:fillRef>
            <a:effectRef idx="0">
              <a:schemeClr val="accent2">
                <a:tint val="50000"/>
                <a:hueOff val="-14400000"/>
                <a:satOff val="-46495"/>
                <a:lumOff val="17328"/>
                <a:alphaOff val="0"/>
              </a:schemeClr>
            </a:effectRef>
            <a:fontRef idx="minor">
              <a:schemeClr val="lt1">
                <a:hueOff val="0"/>
                <a:satOff val="0"/>
                <a:lumOff val="0"/>
                <a:alphaOff val="0"/>
              </a:schemeClr>
            </a:fontRef>
          </p:style>
        </p:sp>
        <p:sp>
          <p:nvSpPr>
            <p:cNvPr id="19467" name="CaixaDeTexto 7"/>
            <p:cNvSpPr txBox="1">
              <a:spLocks noChangeArrowheads="1"/>
            </p:cNvSpPr>
            <p:nvPr/>
          </p:nvSpPr>
          <p:spPr bwMode="auto">
            <a:xfrm>
              <a:off x="7776485" y="2166975"/>
              <a:ext cx="13287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pt-BR"/>
              </a:defPPr>
              <a:lvl1pPr>
                <a:spcBef>
                  <a:spcPct val="0"/>
                </a:spcBef>
                <a:buFontTx/>
                <a:buNone/>
                <a:defRPr sz="2000">
                  <a:solidFill>
                    <a:srgbClr val="FFFFFF"/>
                  </a:solidFill>
                  <a:latin typeface="Arial" panose="020B0604020202020204" pitchFamily="34" charset="0"/>
                </a:defRPr>
              </a:lvl1pPr>
              <a:lvl2pPr marL="742950" indent="-285750">
                <a:spcBef>
                  <a:spcPct val="20000"/>
                </a:spcBef>
                <a:buChar char="–"/>
                <a:defRPr sz="2100">
                  <a:latin typeface="Arial" panose="020B0604020202020204" pitchFamily="34" charset="0"/>
                </a:defRPr>
              </a:lvl2pPr>
              <a:lvl3pPr marL="1143000" indent="-228600">
                <a:spcBef>
                  <a:spcPct val="20000"/>
                </a:spcBef>
                <a:buChar char="•"/>
                <a:defRPr>
                  <a:latin typeface="Arial" panose="020B0604020202020204" pitchFamily="34" charset="0"/>
                </a:defRPr>
              </a:lvl3pPr>
              <a:lvl4pPr marL="1600200" indent="-228600">
                <a:spcBef>
                  <a:spcPct val="20000"/>
                </a:spcBef>
                <a:buChar char="–"/>
                <a:defRPr sz="1500">
                  <a:latin typeface="Arial" panose="020B0604020202020204" pitchFamily="34" charset="0"/>
                </a:defRPr>
              </a:lvl4pPr>
              <a:lvl5pPr marL="2057400" indent="-228600">
                <a:spcBef>
                  <a:spcPct val="20000"/>
                </a:spcBef>
                <a:buChar char="»"/>
                <a:defRPr sz="1500">
                  <a:latin typeface="Arial" panose="020B0604020202020204" pitchFamily="34" charset="0"/>
                </a:defRPr>
              </a:lvl5pPr>
              <a:lvl6pPr marL="2514600" indent="-228600" eaLnBrk="0" fontAlgn="base" hangingPunct="0">
                <a:spcBef>
                  <a:spcPct val="20000"/>
                </a:spcBef>
                <a:spcAft>
                  <a:spcPct val="0"/>
                </a:spcAft>
                <a:buChar char="»"/>
                <a:defRPr sz="1500">
                  <a:latin typeface="Arial" panose="020B0604020202020204" pitchFamily="34" charset="0"/>
                </a:defRPr>
              </a:lvl6pPr>
              <a:lvl7pPr marL="2971800" indent="-228600" eaLnBrk="0" fontAlgn="base" hangingPunct="0">
                <a:spcBef>
                  <a:spcPct val="20000"/>
                </a:spcBef>
                <a:spcAft>
                  <a:spcPct val="0"/>
                </a:spcAft>
                <a:buChar char="»"/>
                <a:defRPr sz="1500">
                  <a:latin typeface="Arial" panose="020B0604020202020204" pitchFamily="34" charset="0"/>
                </a:defRPr>
              </a:lvl7pPr>
              <a:lvl8pPr marL="3429000" indent="-228600" eaLnBrk="0" fontAlgn="base" hangingPunct="0">
                <a:spcBef>
                  <a:spcPct val="20000"/>
                </a:spcBef>
                <a:spcAft>
                  <a:spcPct val="0"/>
                </a:spcAft>
                <a:buChar char="»"/>
                <a:defRPr sz="1500">
                  <a:latin typeface="Arial" panose="020B0604020202020204" pitchFamily="34" charset="0"/>
                </a:defRPr>
              </a:lvl8pPr>
              <a:lvl9pPr marL="3886200" indent="-228600" eaLnBrk="0" fontAlgn="base" hangingPunct="0">
                <a:spcBef>
                  <a:spcPct val="20000"/>
                </a:spcBef>
                <a:spcAft>
                  <a:spcPct val="0"/>
                </a:spcAft>
                <a:buChar char="»"/>
                <a:defRPr sz="1500">
                  <a:latin typeface="Arial" panose="020B0604020202020204" pitchFamily="34" charset="0"/>
                </a:defRPr>
              </a:lvl9pPr>
            </a:lstStyle>
            <a:p>
              <a:pPr algn="ctr"/>
              <a:r>
                <a:rPr lang="pt-BR" altLang="pt-BR" dirty="0">
                  <a:latin typeface="Lucida Sans Unicode" panose="020B0602030504020204" pitchFamily="34" charset="0"/>
                  <a:cs typeface="Lucida Sans Unicode" panose="020B0602030504020204" pitchFamily="34" charset="0"/>
                </a:rPr>
                <a:t>RECEITA</a:t>
              </a:r>
            </a:p>
          </p:txBody>
        </p:sp>
        <p:sp>
          <p:nvSpPr>
            <p:cNvPr id="19468" name="CaixaDeTexto 18"/>
            <p:cNvSpPr txBox="1">
              <a:spLocks noChangeArrowheads="1"/>
            </p:cNvSpPr>
            <p:nvPr/>
          </p:nvSpPr>
          <p:spPr bwMode="auto">
            <a:xfrm>
              <a:off x="7177303" y="3621585"/>
              <a:ext cx="13271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pt-BR"/>
              </a:defPPr>
              <a:lvl1pPr>
                <a:spcBef>
                  <a:spcPct val="0"/>
                </a:spcBef>
                <a:buFontTx/>
                <a:buNone/>
                <a:defRPr sz="2000">
                  <a:solidFill>
                    <a:srgbClr val="FFFFFF"/>
                  </a:solidFill>
                  <a:latin typeface="Arial" panose="020B0604020202020204" pitchFamily="34" charset="0"/>
                </a:defRPr>
              </a:lvl1pPr>
              <a:lvl2pPr marL="742950" indent="-285750">
                <a:spcBef>
                  <a:spcPct val="20000"/>
                </a:spcBef>
                <a:buChar char="–"/>
                <a:defRPr sz="2100">
                  <a:latin typeface="Arial" panose="020B0604020202020204" pitchFamily="34" charset="0"/>
                </a:defRPr>
              </a:lvl2pPr>
              <a:lvl3pPr marL="1143000" indent="-228600">
                <a:spcBef>
                  <a:spcPct val="20000"/>
                </a:spcBef>
                <a:buChar char="•"/>
                <a:defRPr>
                  <a:latin typeface="Arial" panose="020B0604020202020204" pitchFamily="34" charset="0"/>
                </a:defRPr>
              </a:lvl3pPr>
              <a:lvl4pPr marL="1600200" indent="-228600">
                <a:spcBef>
                  <a:spcPct val="20000"/>
                </a:spcBef>
                <a:buChar char="–"/>
                <a:defRPr sz="1500">
                  <a:latin typeface="Arial" panose="020B0604020202020204" pitchFamily="34" charset="0"/>
                </a:defRPr>
              </a:lvl4pPr>
              <a:lvl5pPr marL="2057400" indent="-228600">
                <a:spcBef>
                  <a:spcPct val="20000"/>
                </a:spcBef>
                <a:buChar char="»"/>
                <a:defRPr sz="1500">
                  <a:latin typeface="Arial" panose="020B0604020202020204" pitchFamily="34" charset="0"/>
                </a:defRPr>
              </a:lvl5pPr>
              <a:lvl6pPr marL="2514600" indent="-228600" eaLnBrk="0" fontAlgn="base" hangingPunct="0">
                <a:spcBef>
                  <a:spcPct val="20000"/>
                </a:spcBef>
                <a:spcAft>
                  <a:spcPct val="0"/>
                </a:spcAft>
                <a:buChar char="»"/>
                <a:defRPr sz="1500">
                  <a:latin typeface="Arial" panose="020B0604020202020204" pitchFamily="34" charset="0"/>
                </a:defRPr>
              </a:lvl6pPr>
              <a:lvl7pPr marL="2971800" indent="-228600" eaLnBrk="0" fontAlgn="base" hangingPunct="0">
                <a:spcBef>
                  <a:spcPct val="20000"/>
                </a:spcBef>
                <a:spcAft>
                  <a:spcPct val="0"/>
                </a:spcAft>
                <a:buChar char="»"/>
                <a:defRPr sz="1500">
                  <a:latin typeface="Arial" panose="020B0604020202020204" pitchFamily="34" charset="0"/>
                </a:defRPr>
              </a:lvl7pPr>
              <a:lvl8pPr marL="3429000" indent="-228600" eaLnBrk="0" fontAlgn="base" hangingPunct="0">
                <a:spcBef>
                  <a:spcPct val="20000"/>
                </a:spcBef>
                <a:spcAft>
                  <a:spcPct val="0"/>
                </a:spcAft>
                <a:buChar char="»"/>
                <a:defRPr sz="1500">
                  <a:latin typeface="Arial" panose="020B0604020202020204" pitchFamily="34" charset="0"/>
                </a:defRPr>
              </a:lvl8pPr>
              <a:lvl9pPr marL="3886200" indent="-228600" eaLnBrk="0" fontAlgn="base" hangingPunct="0">
                <a:spcBef>
                  <a:spcPct val="20000"/>
                </a:spcBef>
                <a:spcAft>
                  <a:spcPct val="0"/>
                </a:spcAft>
                <a:buChar char="»"/>
                <a:defRPr sz="1500">
                  <a:latin typeface="Arial" panose="020B0604020202020204" pitchFamily="34" charset="0"/>
                </a:defRPr>
              </a:lvl9pPr>
            </a:lstStyle>
            <a:p>
              <a:pPr algn="ctr"/>
              <a:r>
                <a:rPr lang="pt-BR" altLang="pt-BR" dirty="0">
                  <a:latin typeface="Lucida Sans Unicode" panose="020B0602030504020204" pitchFamily="34" charset="0"/>
                  <a:cs typeface="Lucida Sans Unicode" panose="020B0602030504020204" pitchFamily="34" charset="0"/>
                </a:rPr>
                <a:t>TEMPO</a:t>
              </a:r>
            </a:p>
          </p:txBody>
        </p:sp>
        <p:sp>
          <p:nvSpPr>
            <p:cNvPr id="19469" name="CaixaDeTexto 19"/>
            <p:cNvSpPr txBox="1">
              <a:spLocks noChangeArrowheads="1"/>
            </p:cNvSpPr>
            <p:nvPr/>
          </p:nvSpPr>
          <p:spPr bwMode="auto">
            <a:xfrm>
              <a:off x="7347067" y="5070420"/>
              <a:ext cx="21875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pt-BR"/>
              </a:defPPr>
              <a:lvl1pPr algn="ctr">
                <a:spcBef>
                  <a:spcPct val="0"/>
                </a:spcBef>
                <a:buFontTx/>
                <a:buNone/>
                <a:defRPr sz="2000">
                  <a:solidFill>
                    <a:srgbClr val="FFFFFF"/>
                  </a:solidFill>
                  <a:latin typeface="Arial" panose="020B0604020202020204" pitchFamily="34" charset="0"/>
                </a:defRPr>
              </a:lvl1pPr>
              <a:lvl2pPr marL="742950" indent="-285750">
                <a:spcBef>
                  <a:spcPct val="20000"/>
                </a:spcBef>
                <a:buChar char="–"/>
                <a:defRPr sz="2100">
                  <a:latin typeface="Arial" panose="020B0604020202020204" pitchFamily="34" charset="0"/>
                </a:defRPr>
              </a:lvl2pPr>
              <a:lvl3pPr marL="1143000" indent="-228600">
                <a:spcBef>
                  <a:spcPct val="20000"/>
                </a:spcBef>
                <a:buChar char="•"/>
                <a:defRPr>
                  <a:latin typeface="Arial" panose="020B0604020202020204" pitchFamily="34" charset="0"/>
                </a:defRPr>
              </a:lvl3pPr>
              <a:lvl4pPr marL="1600200" indent="-228600">
                <a:spcBef>
                  <a:spcPct val="20000"/>
                </a:spcBef>
                <a:buChar char="–"/>
                <a:defRPr sz="1500">
                  <a:latin typeface="Arial" panose="020B0604020202020204" pitchFamily="34" charset="0"/>
                </a:defRPr>
              </a:lvl4pPr>
              <a:lvl5pPr marL="2057400" indent="-228600">
                <a:spcBef>
                  <a:spcPct val="20000"/>
                </a:spcBef>
                <a:buChar char="»"/>
                <a:defRPr sz="1500">
                  <a:latin typeface="Arial" panose="020B0604020202020204" pitchFamily="34" charset="0"/>
                </a:defRPr>
              </a:lvl5pPr>
              <a:lvl6pPr marL="2514600" indent="-228600" eaLnBrk="0" fontAlgn="base" hangingPunct="0">
                <a:spcBef>
                  <a:spcPct val="20000"/>
                </a:spcBef>
                <a:spcAft>
                  <a:spcPct val="0"/>
                </a:spcAft>
                <a:buChar char="»"/>
                <a:defRPr sz="1500">
                  <a:latin typeface="Arial" panose="020B0604020202020204" pitchFamily="34" charset="0"/>
                </a:defRPr>
              </a:lvl6pPr>
              <a:lvl7pPr marL="2971800" indent="-228600" eaLnBrk="0" fontAlgn="base" hangingPunct="0">
                <a:spcBef>
                  <a:spcPct val="20000"/>
                </a:spcBef>
                <a:spcAft>
                  <a:spcPct val="0"/>
                </a:spcAft>
                <a:buChar char="»"/>
                <a:defRPr sz="1500">
                  <a:latin typeface="Arial" panose="020B0604020202020204" pitchFamily="34" charset="0"/>
                </a:defRPr>
              </a:lvl7pPr>
              <a:lvl8pPr marL="3429000" indent="-228600" eaLnBrk="0" fontAlgn="base" hangingPunct="0">
                <a:spcBef>
                  <a:spcPct val="20000"/>
                </a:spcBef>
                <a:spcAft>
                  <a:spcPct val="0"/>
                </a:spcAft>
                <a:buChar char="»"/>
                <a:defRPr sz="1500">
                  <a:latin typeface="Arial" panose="020B0604020202020204" pitchFamily="34" charset="0"/>
                </a:defRPr>
              </a:lvl8pPr>
              <a:lvl9pPr marL="3886200" indent="-228600" eaLnBrk="0" fontAlgn="base" hangingPunct="0">
                <a:spcBef>
                  <a:spcPct val="20000"/>
                </a:spcBef>
                <a:spcAft>
                  <a:spcPct val="0"/>
                </a:spcAft>
                <a:buChar char="»"/>
                <a:defRPr sz="1500">
                  <a:latin typeface="Arial" panose="020B0604020202020204" pitchFamily="34" charset="0"/>
                </a:defRPr>
              </a:lvl9pPr>
            </a:lstStyle>
            <a:p>
              <a:r>
                <a:rPr lang="pt-BR" altLang="pt-BR" dirty="0">
                  <a:latin typeface="Lucida Sans Unicode" panose="020B0602030504020204" pitchFamily="34" charset="0"/>
                  <a:cs typeface="Lucida Sans Unicode" panose="020B0602030504020204" pitchFamily="34" charset="0"/>
                </a:rPr>
                <a:t>QUANTIFICÁVEL</a:t>
              </a:r>
            </a:p>
          </p:txBody>
        </p:sp>
      </p:grpSp>
      <p:sp>
        <p:nvSpPr>
          <p:cNvPr id="65" name="Retângulo 64"/>
          <p:cNvSpPr/>
          <p:nvPr/>
        </p:nvSpPr>
        <p:spPr>
          <a:xfrm>
            <a:off x="4120940" y="506706"/>
            <a:ext cx="3950120" cy="420115"/>
          </a:xfrm>
          <a:prstGeom prst="rect">
            <a:avLst/>
          </a:prstGeom>
        </p:spPr>
        <p:txBody>
          <a:bodyPr wrap="none">
            <a:spAutoFit/>
          </a:bodyPr>
          <a:lstStyle/>
          <a:p>
            <a:pPr algn="ctr">
              <a:lnSpc>
                <a:spcPct val="85000"/>
              </a:lnSpc>
              <a:spcBef>
                <a:spcPct val="0"/>
              </a:spcBef>
            </a:pPr>
            <a:r>
              <a:rPr lang="pt-BR" altLang="pt-BR" sz="2400" b="1" dirty="0">
                <a:solidFill>
                  <a:schemeClr val="accent6"/>
                </a:solidFill>
                <a:latin typeface="Lucida Sans Unicode" panose="020B0602030504020204" pitchFamily="34" charset="0"/>
                <a:cs typeface="Lucida Sans Unicode" panose="020B0602030504020204" pitchFamily="34" charset="0"/>
              </a:rPr>
              <a:t>CONCEITO DE LOGÍSTICA</a:t>
            </a:r>
          </a:p>
        </p:txBody>
      </p:sp>
    </p:spTree>
    <p:extLst>
      <p:ext uri="{BB962C8B-B14F-4D97-AF65-F5344CB8AC3E}">
        <p14:creationId xmlns:p14="http://schemas.microsoft.com/office/powerpoint/2010/main" val="360122433"/>
      </p:ext>
    </p:extLst>
  </p:cSld>
  <p:clrMapOvr>
    <a:masterClrMapping/>
  </p:clrMapOvr>
  <p:transition spd="slow">
    <p:push/>
  </p:transition>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82" name="Text Box 8"/>
          <p:cNvSpPr txBox="1">
            <a:spLocks noChangeArrowheads="1"/>
          </p:cNvSpPr>
          <p:nvPr/>
        </p:nvSpPr>
        <p:spPr bwMode="auto">
          <a:xfrm>
            <a:off x="4860925" y="6281739"/>
            <a:ext cx="1841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defRPr>
            </a:lvl9pPr>
          </a:lstStyle>
          <a:p>
            <a:pPr>
              <a:spcBef>
                <a:spcPct val="0"/>
              </a:spcBef>
              <a:buFontTx/>
              <a:buNone/>
            </a:pPr>
            <a:endParaRPr lang="pt-BR" altLang="pt-BR" sz="1200">
              <a:solidFill>
                <a:srgbClr val="000000"/>
              </a:solidFill>
            </a:endParaRPr>
          </a:p>
        </p:txBody>
      </p:sp>
      <p:sp>
        <p:nvSpPr>
          <p:cNvPr id="20484" name="AutoShape 10" descr="9k="/>
          <p:cNvSpPr>
            <a:spLocks noChangeAspect="1" noChangeArrowheads="1"/>
          </p:cNvSpPr>
          <p:nvPr/>
        </p:nvSpPr>
        <p:spPr bwMode="auto">
          <a:xfrm>
            <a:off x="1587500" y="-26988"/>
            <a:ext cx="2628900" cy="1743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defRPr>
            </a:lvl9pPr>
          </a:lstStyle>
          <a:p>
            <a:pPr eaLnBrk="1" hangingPunct="1">
              <a:spcBef>
                <a:spcPct val="0"/>
              </a:spcBef>
              <a:buFontTx/>
              <a:buNone/>
            </a:pPr>
            <a:endParaRPr lang="pt-BR" altLang="pt-BR" sz="1800">
              <a:solidFill>
                <a:srgbClr val="000000"/>
              </a:solidFill>
            </a:endParaRPr>
          </a:p>
        </p:txBody>
      </p:sp>
      <p:sp>
        <p:nvSpPr>
          <p:cNvPr id="20485" name="AutoShape 14" descr="9k="/>
          <p:cNvSpPr>
            <a:spLocks noChangeAspect="1" noChangeArrowheads="1"/>
          </p:cNvSpPr>
          <p:nvPr/>
        </p:nvSpPr>
        <p:spPr bwMode="auto">
          <a:xfrm>
            <a:off x="4814889" y="2538414"/>
            <a:ext cx="2562225" cy="178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defRPr>
            </a:lvl9pPr>
          </a:lstStyle>
          <a:p>
            <a:pPr eaLnBrk="1" hangingPunct="1">
              <a:spcBef>
                <a:spcPct val="0"/>
              </a:spcBef>
              <a:buFontTx/>
              <a:buNone/>
            </a:pPr>
            <a:endParaRPr lang="pt-BR" altLang="pt-BR" sz="1800">
              <a:solidFill>
                <a:srgbClr val="000000"/>
              </a:solidFill>
            </a:endParaRPr>
          </a:p>
        </p:txBody>
      </p:sp>
      <p:grpSp>
        <p:nvGrpSpPr>
          <p:cNvPr id="2" name="Grupo 1"/>
          <p:cNvGrpSpPr/>
          <p:nvPr/>
        </p:nvGrpSpPr>
        <p:grpSpPr>
          <a:xfrm>
            <a:off x="2551670" y="1705947"/>
            <a:ext cx="7140542" cy="4208414"/>
            <a:chOff x="2551670" y="1705947"/>
            <a:chExt cx="7140542" cy="4208414"/>
          </a:xfrm>
        </p:grpSpPr>
        <p:sp>
          <p:nvSpPr>
            <p:cNvPr id="3" name="Conector reto 2"/>
            <p:cNvSpPr/>
            <p:nvPr/>
          </p:nvSpPr>
          <p:spPr>
            <a:xfrm>
              <a:off x="4609070" y="5234308"/>
              <a:ext cx="4131259" cy="0"/>
            </a:xfrm>
            <a:prstGeom prst="line">
              <a:avLst/>
            </a:prstGeom>
          </p:spPr>
          <p:style>
            <a:lnRef idx="2">
              <a:schemeClr val="accent2">
                <a:hueOff val="0"/>
                <a:satOff val="0"/>
                <a:lumOff val="0"/>
                <a:alphaOff val="0"/>
              </a:schemeClr>
            </a:lnRef>
            <a:fillRef idx="0">
              <a:schemeClr val="accent2">
                <a:hueOff val="0"/>
                <a:satOff val="0"/>
                <a:lumOff val="0"/>
                <a:alphaOff val="0"/>
              </a:schemeClr>
            </a:fillRef>
            <a:effectRef idx="0">
              <a:schemeClr val="accent2">
                <a:hueOff val="0"/>
                <a:satOff val="0"/>
                <a:lumOff val="0"/>
                <a:alphaOff val="0"/>
              </a:schemeClr>
            </a:effectRef>
            <a:fontRef idx="minor">
              <a:schemeClr val="tx1">
                <a:hueOff val="0"/>
                <a:satOff val="0"/>
                <a:lumOff val="0"/>
                <a:alphaOff val="0"/>
              </a:schemeClr>
            </a:fontRef>
          </p:style>
        </p:sp>
        <p:sp>
          <p:nvSpPr>
            <p:cNvPr id="4" name="Conector reto 3"/>
            <p:cNvSpPr/>
            <p:nvPr/>
          </p:nvSpPr>
          <p:spPr>
            <a:xfrm>
              <a:off x="4609070" y="3794128"/>
              <a:ext cx="3538728" cy="0"/>
            </a:xfrm>
            <a:prstGeom prst="line">
              <a:avLst/>
            </a:prstGeom>
          </p:spPr>
          <p:style>
            <a:lnRef idx="2">
              <a:schemeClr val="accent2">
                <a:hueOff val="0"/>
                <a:satOff val="0"/>
                <a:lumOff val="0"/>
                <a:alphaOff val="0"/>
              </a:schemeClr>
            </a:lnRef>
            <a:fillRef idx="0">
              <a:schemeClr val="accent2">
                <a:hueOff val="0"/>
                <a:satOff val="0"/>
                <a:lumOff val="0"/>
                <a:alphaOff val="0"/>
              </a:schemeClr>
            </a:fillRef>
            <a:effectRef idx="0">
              <a:schemeClr val="accent2">
                <a:hueOff val="0"/>
                <a:satOff val="0"/>
                <a:lumOff val="0"/>
                <a:alphaOff val="0"/>
              </a:schemeClr>
            </a:effectRef>
            <a:fontRef idx="minor">
              <a:schemeClr val="tx1">
                <a:hueOff val="0"/>
                <a:satOff val="0"/>
                <a:lumOff val="0"/>
                <a:alphaOff val="0"/>
              </a:schemeClr>
            </a:fontRef>
          </p:style>
        </p:sp>
        <p:sp>
          <p:nvSpPr>
            <p:cNvPr id="5" name="Conector reto 4"/>
            <p:cNvSpPr/>
            <p:nvPr/>
          </p:nvSpPr>
          <p:spPr>
            <a:xfrm>
              <a:off x="4609070" y="2353948"/>
              <a:ext cx="4131259" cy="0"/>
            </a:xfrm>
            <a:prstGeom prst="line">
              <a:avLst/>
            </a:prstGeom>
          </p:spPr>
          <p:style>
            <a:lnRef idx="2">
              <a:schemeClr val="accent2">
                <a:hueOff val="0"/>
                <a:satOff val="0"/>
                <a:lumOff val="0"/>
                <a:alphaOff val="0"/>
              </a:schemeClr>
            </a:lnRef>
            <a:fillRef idx="0">
              <a:schemeClr val="accent2">
                <a:hueOff val="0"/>
                <a:satOff val="0"/>
                <a:lumOff val="0"/>
                <a:alphaOff val="0"/>
              </a:schemeClr>
            </a:fillRef>
            <a:effectRef idx="0">
              <a:schemeClr val="accent2">
                <a:hueOff val="0"/>
                <a:satOff val="0"/>
                <a:lumOff val="0"/>
                <a:alphaOff val="0"/>
              </a:schemeClr>
            </a:effectRef>
            <a:fontRef idx="minor">
              <a:schemeClr val="tx1">
                <a:hueOff val="0"/>
                <a:satOff val="0"/>
                <a:lumOff val="0"/>
                <a:alphaOff val="0"/>
              </a:schemeClr>
            </a:fontRef>
          </p:style>
        </p:sp>
        <p:sp>
          <p:nvSpPr>
            <p:cNvPr id="6" name="Elipse 5"/>
            <p:cNvSpPr/>
            <p:nvPr/>
          </p:nvSpPr>
          <p:spPr>
            <a:xfrm>
              <a:off x="2551670" y="1736727"/>
              <a:ext cx="4114800" cy="4114800"/>
            </a:xfrm>
            <a:prstGeom prst="ellipse">
              <a:avLst/>
            </a:prstGeom>
            <a:solidFill>
              <a:schemeClr val="accent5">
                <a:lumMod val="75000"/>
              </a:schemeClr>
            </a:solidFill>
          </p:spPr>
          <p:style>
            <a:lnRef idx="2">
              <a:schemeClr val="lt1">
                <a:hueOff val="0"/>
                <a:satOff val="0"/>
                <a:lumOff val="0"/>
                <a:alphaOff val="0"/>
              </a:schemeClr>
            </a:lnRef>
            <a:fillRef idx="1">
              <a:scrgbClr r="0" g="0" b="0"/>
            </a:fillRef>
            <a:effectRef idx="0">
              <a:schemeClr val="accent2">
                <a:tint val="50000"/>
                <a:hueOff val="0"/>
                <a:satOff val="0"/>
                <a:lumOff val="0"/>
                <a:alphaOff val="0"/>
              </a:schemeClr>
            </a:effectRef>
            <a:fontRef idx="minor">
              <a:schemeClr val="lt1">
                <a:hueOff val="0"/>
                <a:satOff val="0"/>
                <a:lumOff val="0"/>
                <a:alphaOff val="0"/>
              </a:schemeClr>
            </a:fontRef>
          </p:style>
        </p:sp>
        <p:sp>
          <p:nvSpPr>
            <p:cNvPr id="8" name="Forma livre 7"/>
            <p:cNvSpPr/>
            <p:nvPr/>
          </p:nvSpPr>
          <p:spPr>
            <a:xfrm>
              <a:off x="2851557" y="3345102"/>
              <a:ext cx="3515026" cy="898049"/>
            </a:xfrm>
            <a:custGeom>
              <a:avLst/>
              <a:gdLst>
                <a:gd name="connsiteX0" fmla="*/ 0 w 3515026"/>
                <a:gd name="connsiteY0" fmla="*/ 0 h 898049"/>
                <a:gd name="connsiteX1" fmla="*/ 3515026 w 3515026"/>
                <a:gd name="connsiteY1" fmla="*/ 0 h 898049"/>
                <a:gd name="connsiteX2" fmla="*/ 3515026 w 3515026"/>
                <a:gd name="connsiteY2" fmla="*/ 898049 h 898049"/>
                <a:gd name="connsiteX3" fmla="*/ 0 w 3515026"/>
                <a:gd name="connsiteY3" fmla="*/ 898049 h 898049"/>
                <a:gd name="connsiteX4" fmla="*/ 0 w 3515026"/>
                <a:gd name="connsiteY4" fmla="*/ 0 h 8980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15026" h="898049">
                  <a:moveTo>
                    <a:pt x="0" y="0"/>
                  </a:moveTo>
                  <a:lnTo>
                    <a:pt x="3515026" y="0"/>
                  </a:lnTo>
                  <a:lnTo>
                    <a:pt x="3515026" y="898049"/>
                  </a:lnTo>
                  <a:lnTo>
                    <a:pt x="0" y="898049"/>
                  </a:lnTo>
                  <a:lnTo>
                    <a:pt x="0" y="0"/>
                  </a:lnTo>
                  <a:close/>
                </a:path>
              </a:pathLst>
            </a:custGeom>
            <a:noFill/>
            <a:ln>
              <a:noFill/>
            </a:ln>
            <a:sp3d/>
          </p:spPr>
          <p:style>
            <a:lnRef idx="2">
              <a:scrgbClr r="0" g="0" b="0"/>
            </a:lnRef>
            <a:fillRef idx="1">
              <a:scrgbClr r="0" g="0" b="0"/>
            </a:fillRef>
            <a:effectRef idx="0">
              <a:schemeClr val="accent2">
                <a:hueOff val="0"/>
                <a:satOff val="0"/>
                <a:lumOff val="0"/>
                <a:alphaOff val="0"/>
              </a:schemeClr>
            </a:effectRef>
            <a:fontRef idx="minor">
              <a:schemeClr val="lt1"/>
            </a:fontRef>
          </p:style>
          <p:txBody>
            <a:bodyPr spcFirstLastPara="0" vert="horz" wrap="square" lIns="0" tIns="0" rIns="0" bIns="0" numCol="1" spcCol="1270" anchor="b" anchorCtr="0">
              <a:noAutofit/>
            </a:bodyPr>
            <a:lstStyle/>
            <a:p>
              <a:pPr lvl="0" algn="ctr" defTabSz="2667000">
                <a:lnSpc>
                  <a:spcPct val="90000"/>
                </a:lnSpc>
                <a:spcBef>
                  <a:spcPct val="0"/>
                </a:spcBef>
                <a:spcAft>
                  <a:spcPct val="35000"/>
                </a:spcAft>
              </a:pPr>
              <a:r>
                <a:rPr lang="pt-BR" sz="5400" b="1" kern="1200" dirty="0">
                  <a:latin typeface="Lucida Sans Unicode" panose="020B0602030504020204" pitchFamily="34" charset="0"/>
                  <a:ea typeface="Liberation Sans" panose="020B0604020202020204" pitchFamily="34" charset="0"/>
                  <a:cs typeface="Lucida Sans Unicode" panose="020B0602030504020204" pitchFamily="34" charset="0"/>
                </a:rPr>
                <a:t>EXECUTAR</a:t>
              </a:r>
            </a:p>
          </p:txBody>
        </p:sp>
        <p:sp>
          <p:nvSpPr>
            <p:cNvPr id="9" name="Elipse 8"/>
            <p:cNvSpPr/>
            <p:nvPr/>
          </p:nvSpPr>
          <p:spPr>
            <a:xfrm>
              <a:off x="7840330" y="1705947"/>
              <a:ext cx="1799998" cy="1296001"/>
            </a:xfrm>
            <a:prstGeom prst="ellipse">
              <a:avLst/>
            </a:prstGeom>
            <a:solidFill>
              <a:schemeClr val="tx1"/>
            </a:solidFill>
          </p:spPr>
          <p:style>
            <a:lnRef idx="2">
              <a:schemeClr val="lt1">
                <a:hueOff val="0"/>
                <a:satOff val="0"/>
                <a:lumOff val="0"/>
                <a:alphaOff val="0"/>
              </a:schemeClr>
            </a:lnRef>
            <a:fillRef idx="1">
              <a:scrgbClr r="0" g="0" b="0"/>
            </a:fillRef>
            <a:effectRef idx="0">
              <a:schemeClr val="accent2">
                <a:tint val="50000"/>
                <a:hueOff val="-4800000"/>
                <a:satOff val="-15498"/>
                <a:lumOff val="5776"/>
                <a:alphaOff val="0"/>
              </a:schemeClr>
            </a:effectRef>
            <a:fontRef idx="minor">
              <a:schemeClr val="lt1">
                <a:hueOff val="0"/>
                <a:satOff val="0"/>
                <a:lumOff val="0"/>
                <a:alphaOff val="0"/>
              </a:schemeClr>
            </a:fontRef>
          </p:style>
        </p:sp>
        <p:sp>
          <p:nvSpPr>
            <p:cNvPr id="11" name="Elipse 10"/>
            <p:cNvSpPr/>
            <p:nvPr/>
          </p:nvSpPr>
          <p:spPr>
            <a:xfrm>
              <a:off x="7247799" y="3146127"/>
              <a:ext cx="1799998" cy="1296001"/>
            </a:xfrm>
            <a:prstGeom prst="ellipse">
              <a:avLst/>
            </a:prstGeom>
            <a:solidFill>
              <a:schemeClr val="accent2">
                <a:lumMod val="75000"/>
              </a:schemeClr>
            </a:solidFill>
          </p:spPr>
          <p:style>
            <a:lnRef idx="2">
              <a:schemeClr val="lt1">
                <a:hueOff val="0"/>
                <a:satOff val="0"/>
                <a:lumOff val="0"/>
                <a:alphaOff val="0"/>
              </a:schemeClr>
            </a:lnRef>
            <a:fillRef idx="1">
              <a:scrgbClr r="0" g="0" b="0"/>
            </a:fillRef>
            <a:effectRef idx="0">
              <a:schemeClr val="accent2">
                <a:tint val="50000"/>
                <a:hueOff val="-9600000"/>
                <a:satOff val="-30997"/>
                <a:lumOff val="11552"/>
                <a:alphaOff val="0"/>
              </a:schemeClr>
            </a:effectRef>
            <a:fontRef idx="minor">
              <a:schemeClr val="lt1">
                <a:hueOff val="0"/>
                <a:satOff val="0"/>
                <a:lumOff val="0"/>
                <a:alphaOff val="0"/>
              </a:schemeClr>
            </a:fontRef>
          </p:style>
        </p:sp>
        <p:sp>
          <p:nvSpPr>
            <p:cNvPr id="13" name="Elipse 12"/>
            <p:cNvSpPr/>
            <p:nvPr/>
          </p:nvSpPr>
          <p:spPr>
            <a:xfrm>
              <a:off x="7892214" y="4618360"/>
              <a:ext cx="1799998" cy="1296001"/>
            </a:xfrm>
            <a:prstGeom prst="ellipse">
              <a:avLst/>
            </a:prstGeom>
            <a:solidFill>
              <a:srgbClr val="7030A0"/>
            </a:solidFill>
          </p:spPr>
          <p:style>
            <a:lnRef idx="2">
              <a:schemeClr val="lt1">
                <a:hueOff val="0"/>
                <a:satOff val="0"/>
                <a:lumOff val="0"/>
                <a:alphaOff val="0"/>
              </a:schemeClr>
            </a:lnRef>
            <a:fillRef idx="1">
              <a:scrgbClr r="0" g="0" b="0"/>
            </a:fillRef>
            <a:effectRef idx="0">
              <a:schemeClr val="accent2">
                <a:tint val="50000"/>
                <a:hueOff val="-14400000"/>
                <a:satOff val="-46495"/>
                <a:lumOff val="17328"/>
                <a:alphaOff val="0"/>
              </a:schemeClr>
            </a:effectRef>
            <a:fontRef idx="minor">
              <a:schemeClr val="lt1">
                <a:hueOff val="0"/>
                <a:satOff val="0"/>
                <a:lumOff val="0"/>
                <a:alphaOff val="0"/>
              </a:schemeClr>
            </a:fontRef>
          </p:style>
        </p:sp>
      </p:grpSp>
      <p:grpSp>
        <p:nvGrpSpPr>
          <p:cNvPr id="20491" name="Grupo 14"/>
          <p:cNvGrpSpPr>
            <a:grpSpLocks/>
          </p:cNvGrpSpPr>
          <p:nvPr/>
        </p:nvGrpSpPr>
        <p:grpSpPr bwMode="auto">
          <a:xfrm>
            <a:off x="8328025" y="1989139"/>
            <a:ext cx="1682750" cy="663575"/>
            <a:chOff x="1234469" y="1492252"/>
            <a:chExt cx="2633472" cy="1357884"/>
          </a:xfrm>
        </p:grpSpPr>
        <p:sp>
          <p:nvSpPr>
            <p:cNvPr id="16" name="Retângulo 15"/>
            <p:cNvSpPr/>
            <p:nvPr/>
          </p:nvSpPr>
          <p:spPr>
            <a:xfrm>
              <a:off x="1234469" y="1492252"/>
              <a:ext cx="2633472" cy="1357884"/>
            </a:xfrm>
            <a:prstGeom prst="rect">
              <a:avLst/>
            </a:prstGeom>
            <a:noFill/>
            <a:ln>
              <a:noFill/>
            </a:ln>
            <a:sp3d/>
          </p:spPr>
          <p:style>
            <a:lnRef idx="2">
              <a:scrgbClr r="0" g="0" b="0"/>
            </a:lnRef>
            <a:fillRef idx="1">
              <a:scrgbClr r="0" g="0" b="0"/>
            </a:fillRef>
            <a:effectRef idx="0">
              <a:schemeClr val="accent2">
                <a:hueOff val="0"/>
                <a:satOff val="0"/>
                <a:lumOff val="0"/>
                <a:alphaOff val="0"/>
              </a:schemeClr>
            </a:effectRef>
            <a:fontRef idx="minor">
              <a:schemeClr val="lt1"/>
            </a:fontRef>
          </p:style>
        </p:sp>
        <p:sp>
          <p:nvSpPr>
            <p:cNvPr id="17" name="Retângulo 16"/>
            <p:cNvSpPr/>
            <p:nvPr/>
          </p:nvSpPr>
          <p:spPr>
            <a:xfrm>
              <a:off x="1234469" y="1492252"/>
              <a:ext cx="2633472" cy="1357884"/>
            </a:xfrm>
            <a:prstGeom prst="rect">
              <a:avLst/>
            </a:prstGeom>
            <a:sp3d/>
          </p:spPr>
          <p:style>
            <a:lnRef idx="0">
              <a:scrgbClr r="0" g="0" b="0"/>
            </a:lnRef>
            <a:fillRef idx="0">
              <a:scrgbClr r="0" g="0" b="0"/>
            </a:fillRef>
            <a:effectRef idx="0">
              <a:scrgbClr r="0" g="0" b="0"/>
            </a:effectRef>
            <a:fontRef idx="minor">
              <a:schemeClr val="lt1"/>
            </a:fontRef>
          </p:style>
          <p:txBody>
            <a:bodyPr lIns="0" tIns="0" rIns="0" bIns="0" spcCol="1270" anchor="b"/>
            <a:lstStyle/>
            <a:p>
              <a:pPr algn="ctr" defTabSz="2755900">
                <a:lnSpc>
                  <a:spcPct val="90000"/>
                </a:lnSpc>
                <a:spcAft>
                  <a:spcPct val="35000"/>
                </a:spcAft>
                <a:defRPr/>
              </a:pPr>
              <a:endParaRPr lang="pt-BR" sz="6200" dirty="0">
                <a:solidFill>
                  <a:srgbClr val="FFFFFF"/>
                </a:solidFill>
              </a:endParaRPr>
            </a:p>
          </p:txBody>
        </p:sp>
      </p:grpSp>
      <p:sp>
        <p:nvSpPr>
          <p:cNvPr id="20492" name="CaixaDeTexto 7"/>
          <p:cNvSpPr txBox="1">
            <a:spLocks noChangeArrowheads="1"/>
          </p:cNvSpPr>
          <p:nvPr/>
        </p:nvSpPr>
        <p:spPr bwMode="auto">
          <a:xfrm>
            <a:off x="7993235" y="2151882"/>
            <a:ext cx="149418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defRPr>
            </a:lvl9pPr>
          </a:lstStyle>
          <a:p>
            <a:pPr algn="ctr">
              <a:spcBef>
                <a:spcPct val="0"/>
              </a:spcBef>
              <a:buFontTx/>
              <a:buNone/>
            </a:pPr>
            <a:r>
              <a:rPr lang="pt-BR" altLang="pt-BR" sz="2000" dirty="0">
                <a:solidFill>
                  <a:srgbClr val="FFFFFF"/>
                </a:solidFill>
                <a:latin typeface="Lucida Sans Unicode" panose="020B0602030504020204" pitchFamily="34" charset="0"/>
                <a:cs typeface="Lucida Sans Unicode" panose="020B0602030504020204" pitchFamily="34" charset="0"/>
              </a:rPr>
              <a:t>PESSOAS</a:t>
            </a:r>
          </a:p>
        </p:txBody>
      </p:sp>
      <p:sp>
        <p:nvSpPr>
          <p:cNvPr id="20493" name="CaixaDeTexto 18"/>
          <p:cNvSpPr txBox="1">
            <a:spLocks noChangeArrowheads="1"/>
          </p:cNvSpPr>
          <p:nvPr/>
        </p:nvSpPr>
        <p:spPr bwMode="auto">
          <a:xfrm>
            <a:off x="7336170" y="3594073"/>
            <a:ext cx="164966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defRPr>
            </a:lvl9pPr>
          </a:lstStyle>
          <a:p>
            <a:pPr algn="ctr">
              <a:spcBef>
                <a:spcPct val="0"/>
              </a:spcBef>
              <a:buFontTx/>
              <a:buNone/>
            </a:pPr>
            <a:r>
              <a:rPr lang="pt-BR" altLang="pt-BR" sz="2000" dirty="0">
                <a:solidFill>
                  <a:srgbClr val="FFFFFF"/>
                </a:solidFill>
                <a:latin typeface="Lucida Sans Unicode" panose="020B0602030504020204" pitchFamily="34" charset="0"/>
                <a:cs typeface="Lucida Sans Unicode" panose="020B0602030504020204" pitchFamily="34" charset="0"/>
              </a:rPr>
              <a:t>RELAÇÕES</a:t>
            </a:r>
          </a:p>
        </p:txBody>
      </p:sp>
      <p:sp>
        <p:nvSpPr>
          <p:cNvPr id="20494" name="CaixaDeTexto 19"/>
          <p:cNvSpPr txBox="1">
            <a:spLocks noChangeArrowheads="1"/>
          </p:cNvSpPr>
          <p:nvPr/>
        </p:nvSpPr>
        <p:spPr bwMode="auto">
          <a:xfrm>
            <a:off x="8047844" y="5070149"/>
            <a:ext cx="149694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defPPr>
              <a:defRPr lang="pt-BR"/>
            </a:defPPr>
            <a:lvl1pPr>
              <a:spcBef>
                <a:spcPct val="0"/>
              </a:spcBef>
              <a:buFontTx/>
              <a:buNone/>
              <a:defRPr sz="2000">
                <a:solidFill>
                  <a:srgbClr val="FFFFFF"/>
                </a:solidFill>
                <a:latin typeface="Arial" panose="020B0604020202020204" pitchFamily="34" charset="0"/>
              </a:defRPr>
            </a:lvl1pPr>
            <a:lvl2pPr marL="742950" indent="-285750">
              <a:spcBef>
                <a:spcPct val="20000"/>
              </a:spcBef>
              <a:buChar char="–"/>
              <a:defRPr sz="2100">
                <a:latin typeface="Arial" panose="020B0604020202020204" pitchFamily="34" charset="0"/>
              </a:defRPr>
            </a:lvl2pPr>
            <a:lvl3pPr marL="1143000" indent="-228600">
              <a:spcBef>
                <a:spcPct val="20000"/>
              </a:spcBef>
              <a:buChar char="•"/>
              <a:defRPr>
                <a:latin typeface="Arial" panose="020B0604020202020204" pitchFamily="34" charset="0"/>
              </a:defRPr>
            </a:lvl3pPr>
            <a:lvl4pPr marL="1600200" indent="-228600">
              <a:spcBef>
                <a:spcPct val="20000"/>
              </a:spcBef>
              <a:buChar char="–"/>
              <a:defRPr sz="1500">
                <a:latin typeface="Arial" panose="020B0604020202020204" pitchFamily="34" charset="0"/>
              </a:defRPr>
            </a:lvl4pPr>
            <a:lvl5pPr marL="2057400" indent="-228600">
              <a:spcBef>
                <a:spcPct val="20000"/>
              </a:spcBef>
              <a:buChar char="»"/>
              <a:defRPr sz="1500">
                <a:latin typeface="Arial" panose="020B0604020202020204" pitchFamily="34" charset="0"/>
              </a:defRPr>
            </a:lvl5pPr>
            <a:lvl6pPr marL="2514600" indent="-228600" eaLnBrk="0" fontAlgn="base" hangingPunct="0">
              <a:spcBef>
                <a:spcPct val="20000"/>
              </a:spcBef>
              <a:spcAft>
                <a:spcPct val="0"/>
              </a:spcAft>
              <a:buChar char="»"/>
              <a:defRPr sz="1500">
                <a:latin typeface="Arial" panose="020B0604020202020204" pitchFamily="34" charset="0"/>
              </a:defRPr>
            </a:lvl6pPr>
            <a:lvl7pPr marL="2971800" indent="-228600" eaLnBrk="0" fontAlgn="base" hangingPunct="0">
              <a:spcBef>
                <a:spcPct val="20000"/>
              </a:spcBef>
              <a:spcAft>
                <a:spcPct val="0"/>
              </a:spcAft>
              <a:buChar char="»"/>
              <a:defRPr sz="1500">
                <a:latin typeface="Arial" panose="020B0604020202020204" pitchFamily="34" charset="0"/>
              </a:defRPr>
            </a:lvl7pPr>
            <a:lvl8pPr marL="3429000" indent="-228600" eaLnBrk="0" fontAlgn="base" hangingPunct="0">
              <a:spcBef>
                <a:spcPct val="20000"/>
              </a:spcBef>
              <a:spcAft>
                <a:spcPct val="0"/>
              </a:spcAft>
              <a:buChar char="»"/>
              <a:defRPr sz="1500">
                <a:latin typeface="Arial" panose="020B0604020202020204" pitchFamily="34" charset="0"/>
              </a:defRPr>
            </a:lvl8pPr>
            <a:lvl9pPr marL="3886200" indent="-228600" eaLnBrk="0" fontAlgn="base" hangingPunct="0">
              <a:spcBef>
                <a:spcPct val="20000"/>
              </a:spcBef>
              <a:spcAft>
                <a:spcPct val="0"/>
              </a:spcAft>
              <a:buChar char="»"/>
              <a:defRPr sz="1500">
                <a:latin typeface="Arial" panose="020B0604020202020204" pitchFamily="34" charset="0"/>
              </a:defRPr>
            </a:lvl9pPr>
          </a:lstStyle>
          <a:p>
            <a:pPr algn="ctr"/>
            <a:r>
              <a:rPr lang="pt-BR" altLang="pt-BR" dirty="0">
                <a:latin typeface="Lucida Sans Unicode" panose="020B0602030504020204" pitchFamily="34" charset="0"/>
                <a:cs typeface="Lucida Sans Unicode" panose="020B0602030504020204" pitchFamily="34" charset="0"/>
              </a:rPr>
              <a:t>DELEGAR</a:t>
            </a:r>
          </a:p>
        </p:txBody>
      </p:sp>
      <p:sp>
        <p:nvSpPr>
          <p:cNvPr id="54056" name="SMARTInkShape-1595"/>
          <p:cNvSpPr/>
          <p:nvPr/>
        </p:nvSpPr>
        <p:spPr>
          <a:xfrm>
            <a:off x="5668964" y="1333500"/>
            <a:ext cx="15875" cy="0"/>
          </a:xfrm>
          <a:custGeom>
            <a:avLst/>
            <a:gdLst/>
            <a:ahLst/>
            <a:cxnLst/>
            <a:rect l="0" t="0" r="0" b="0"/>
            <a:pathLst>
              <a:path w="15875" h="1">
                <a:moveTo>
                  <a:pt x="0" y="0"/>
                </a:moveTo>
                <a:lnTo>
                  <a:pt x="15874" y="0"/>
                </a:lnTo>
              </a:path>
            </a:pathLst>
          </a:custGeom>
          <a:ln w="19050">
            <a:solidFill>
              <a:srgbClr val="0093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pt-BR"/>
          </a:p>
        </p:txBody>
      </p:sp>
      <p:sp>
        <p:nvSpPr>
          <p:cNvPr id="72" name="Retângulo 71"/>
          <p:cNvSpPr/>
          <p:nvPr/>
        </p:nvSpPr>
        <p:spPr>
          <a:xfrm>
            <a:off x="4377905" y="468693"/>
            <a:ext cx="3950120" cy="406265"/>
          </a:xfrm>
          <a:prstGeom prst="rect">
            <a:avLst/>
          </a:prstGeom>
        </p:spPr>
        <p:txBody>
          <a:bodyPr wrap="none">
            <a:spAutoFit/>
          </a:bodyPr>
          <a:lstStyle/>
          <a:p>
            <a:pPr algn="ctr">
              <a:lnSpc>
                <a:spcPct val="85000"/>
              </a:lnSpc>
              <a:spcBef>
                <a:spcPct val="0"/>
              </a:spcBef>
            </a:pPr>
            <a:r>
              <a:rPr lang="pt-BR" altLang="pt-BR" sz="2400" b="1" dirty="0">
                <a:solidFill>
                  <a:schemeClr val="accent6"/>
                </a:solidFill>
                <a:latin typeface="Lucida Sans Unicode" panose="020B0602030504020204" pitchFamily="34" charset="0"/>
                <a:cs typeface="Lucida Sans Unicode" panose="020B0602030504020204" pitchFamily="34" charset="0"/>
              </a:rPr>
              <a:t>CONCEITO DE LOGÍSTICA</a:t>
            </a:r>
          </a:p>
        </p:txBody>
      </p:sp>
    </p:spTree>
    <p:extLst>
      <p:ext uri="{BB962C8B-B14F-4D97-AF65-F5344CB8AC3E}">
        <p14:creationId xmlns:p14="http://schemas.microsoft.com/office/powerpoint/2010/main" val="1098214011"/>
      </p:ext>
    </p:extLst>
  </p:cSld>
  <p:clrMapOvr>
    <a:masterClrMapping/>
  </p:clrMapOvr>
  <p:transition spd="slow">
    <p:push/>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506" name="Text Box 8"/>
          <p:cNvSpPr txBox="1">
            <a:spLocks noChangeArrowheads="1"/>
          </p:cNvSpPr>
          <p:nvPr/>
        </p:nvSpPr>
        <p:spPr bwMode="auto">
          <a:xfrm>
            <a:off x="4860925" y="6281739"/>
            <a:ext cx="1841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defRPr>
            </a:lvl9pPr>
          </a:lstStyle>
          <a:p>
            <a:pPr>
              <a:spcBef>
                <a:spcPct val="0"/>
              </a:spcBef>
              <a:buFontTx/>
              <a:buNone/>
            </a:pPr>
            <a:endParaRPr lang="pt-BR" altLang="pt-BR" sz="1200">
              <a:solidFill>
                <a:srgbClr val="000000"/>
              </a:solidFill>
            </a:endParaRPr>
          </a:p>
        </p:txBody>
      </p:sp>
      <p:sp>
        <p:nvSpPr>
          <p:cNvPr id="21509" name="AutoShape 14" descr="9k="/>
          <p:cNvSpPr>
            <a:spLocks noChangeAspect="1" noChangeArrowheads="1"/>
          </p:cNvSpPr>
          <p:nvPr/>
        </p:nvSpPr>
        <p:spPr bwMode="auto">
          <a:xfrm>
            <a:off x="4814889" y="2538414"/>
            <a:ext cx="2562225" cy="178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defRPr>
            </a:lvl9pPr>
          </a:lstStyle>
          <a:p>
            <a:pPr eaLnBrk="1" hangingPunct="1">
              <a:spcBef>
                <a:spcPct val="0"/>
              </a:spcBef>
              <a:buFontTx/>
              <a:buNone/>
            </a:pPr>
            <a:endParaRPr lang="pt-BR" altLang="pt-BR" sz="1800">
              <a:solidFill>
                <a:srgbClr val="000000"/>
              </a:solidFill>
            </a:endParaRPr>
          </a:p>
        </p:txBody>
      </p:sp>
      <p:grpSp>
        <p:nvGrpSpPr>
          <p:cNvPr id="2" name="Grupo 1"/>
          <p:cNvGrpSpPr/>
          <p:nvPr/>
        </p:nvGrpSpPr>
        <p:grpSpPr>
          <a:xfrm>
            <a:off x="2356254" y="1574791"/>
            <a:ext cx="7634885" cy="4318866"/>
            <a:chOff x="2356254" y="1574791"/>
            <a:chExt cx="7634885" cy="4318866"/>
          </a:xfrm>
        </p:grpSpPr>
        <p:sp>
          <p:nvSpPr>
            <p:cNvPr id="3" name="Conector reto 2"/>
            <p:cNvSpPr/>
            <p:nvPr/>
          </p:nvSpPr>
          <p:spPr>
            <a:xfrm>
              <a:off x="4698765" y="5174331"/>
              <a:ext cx="4131259" cy="0"/>
            </a:xfrm>
            <a:prstGeom prst="line">
              <a:avLst/>
            </a:prstGeom>
          </p:spPr>
          <p:style>
            <a:lnRef idx="2">
              <a:schemeClr val="accent2">
                <a:hueOff val="0"/>
                <a:satOff val="0"/>
                <a:lumOff val="0"/>
                <a:alphaOff val="0"/>
              </a:schemeClr>
            </a:lnRef>
            <a:fillRef idx="0">
              <a:schemeClr val="accent2">
                <a:hueOff val="0"/>
                <a:satOff val="0"/>
                <a:lumOff val="0"/>
                <a:alphaOff val="0"/>
              </a:schemeClr>
            </a:fillRef>
            <a:effectRef idx="0">
              <a:schemeClr val="accent2">
                <a:hueOff val="0"/>
                <a:satOff val="0"/>
                <a:lumOff val="0"/>
                <a:alphaOff val="0"/>
              </a:schemeClr>
            </a:effectRef>
            <a:fontRef idx="minor">
              <a:schemeClr val="tx1">
                <a:hueOff val="0"/>
                <a:satOff val="0"/>
                <a:lumOff val="0"/>
                <a:alphaOff val="0"/>
              </a:schemeClr>
            </a:fontRef>
          </p:style>
        </p:sp>
        <p:sp>
          <p:nvSpPr>
            <p:cNvPr id="4" name="Conector reto 3"/>
            <p:cNvSpPr/>
            <p:nvPr/>
          </p:nvSpPr>
          <p:spPr>
            <a:xfrm>
              <a:off x="4698765" y="3665911"/>
              <a:ext cx="3538728" cy="0"/>
            </a:xfrm>
            <a:prstGeom prst="line">
              <a:avLst/>
            </a:prstGeom>
          </p:spPr>
          <p:style>
            <a:lnRef idx="2">
              <a:schemeClr val="accent2">
                <a:hueOff val="0"/>
                <a:satOff val="0"/>
                <a:lumOff val="0"/>
                <a:alphaOff val="0"/>
              </a:schemeClr>
            </a:lnRef>
            <a:fillRef idx="0">
              <a:schemeClr val="accent2">
                <a:hueOff val="0"/>
                <a:satOff val="0"/>
                <a:lumOff val="0"/>
                <a:alphaOff val="0"/>
              </a:schemeClr>
            </a:fillRef>
            <a:effectRef idx="0">
              <a:schemeClr val="accent2">
                <a:hueOff val="0"/>
                <a:satOff val="0"/>
                <a:lumOff val="0"/>
                <a:alphaOff val="0"/>
              </a:schemeClr>
            </a:effectRef>
            <a:fontRef idx="minor">
              <a:schemeClr val="tx1">
                <a:hueOff val="0"/>
                <a:satOff val="0"/>
                <a:lumOff val="0"/>
                <a:alphaOff val="0"/>
              </a:schemeClr>
            </a:fontRef>
          </p:style>
        </p:sp>
        <p:sp>
          <p:nvSpPr>
            <p:cNvPr id="5" name="Conector reto 4"/>
            <p:cNvSpPr/>
            <p:nvPr/>
          </p:nvSpPr>
          <p:spPr>
            <a:xfrm>
              <a:off x="4698765" y="2225731"/>
              <a:ext cx="4131259" cy="0"/>
            </a:xfrm>
            <a:prstGeom prst="line">
              <a:avLst/>
            </a:prstGeom>
          </p:spPr>
          <p:style>
            <a:lnRef idx="2">
              <a:schemeClr val="accent2">
                <a:hueOff val="0"/>
                <a:satOff val="0"/>
                <a:lumOff val="0"/>
                <a:alphaOff val="0"/>
              </a:schemeClr>
            </a:lnRef>
            <a:fillRef idx="0">
              <a:schemeClr val="accent2">
                <a:hueOff val="0"/>
                <a:satOff val="0"/>
                <a:lumOff val="0"/>
                <a:alphaOff val="0"/>
              </a:schemeClr>
            </a:fillRef>
            <a:effectRef idx="0">
              <a:schemeClr val="accent2">
                <a:hueOff val="0"/>
                <a:satOff val="0"/>
                <a:lumOff val="0"/>
                <a:alphaOff val="0"/>
              </a:schemeClr>
            </a:effectRef>
            <a:fontRef idx="minor">
              <a:schemeClr val="tx1">
                <a:hueOff val="0"/>
                <a:satOff val="0"/>
                <a:lumOff val="0"/>
                <a:alphaOff val="0"/>
              </a:schemeClr>
            </a:fontRef>
          </p:style>
        </p:sp>
        <p:sp>
          <p:nvSpPr>
            <p:cNvPr id="6" name="Elipse 5"/>
            <p:cNvSpPr/>
            <p:nvPr/>
          </p:nvSpPr>
          <p:spPr>
            <a:xfrm>
              <a:off x="2447517" y="1599458"/>
              <a:ext cx="4114800" cy="4114800"/>
            </a:xfrm>
            <a:prstGeom prst="ellipse">
              <a:avLst/>
            </a:prstGeom>
            <a:solidFill>
              <a:schemeClr val="accent5">
                <a:lumMod val="75000"/>
              </a:schemeClr>
            </a:solidFill>
          </p:spPr>
          <p:style>
            <a:lnRef idx="2">
              <a:schemeClr val="lt1">
                <a:hueOff val="0"/>
                <a:satOff val="0"/>
                <a:lumOff val="0"/>
                <a:alphaOff val="0"/>
              </a:schemeClr>
            </a:lnRef>
            <a:fillRef idx="1">
              <a:scrgbClr r="0" g="0" b="0"/>
            </a:fillRef>
            <a:effectRef idx="0">
              <a:schemeClr val="accent2">
                <a:tint val="50000"/>
                <a:hueOff val="0"/>
                <a:satOff val="0"/>
                <a:lumOff val="0"/>
                <a:alphaOff val="0"/>
              </a:schemeClr>
            </a:effectRef>
            <a:fontRef idx="minor">
              <a:schemeClr val="lt1">
                <a:hueOff val="0"/>
                <a:satOff val="0"/>
                <a:lumOff val="0"/>
                <a:alphaOff val="0"/>
              </a:schemeClr>
            </a:fontRef>
          </p:style>
        </p:sp>
        <p:sp>
          <p:nvSpPr>
            <p:cNvPr id="8" name="Forma livre 7"/>
            <p:cNvSpPr/>
            <p:nvPr/>
          </p:nvSpPr>
          <p:spPr>
            <a:xfrm>
              <a:off x="2356254" y="3184084"/>
              <a:ext cx="4297325" cy="936979"/>
            </a:xfrm>
            <a:custGeom>
              <a:avLst/>
              <a:gdLst>
                <a:gd name="connsiteX0" fmla="*/ 0 w 4297325"/>
                <a:gd name="connsiteY0" fmla="*/ 0 h 936979"/>
                <a:gd name="connsiteX1" fmla="*/ 4297325 w 4297325"/>
                <a:gd name="connsiteY1" fmla="*/ 0 h 936979"/>
                <a:gd name="connsiteX2" fmla="*/ 4297325 w 4297325"/>
                <a:gd name="connsiteY2" fmla="*/ 936979 h 936979"/>
                <a:gd name="connsiteX3" fmla="*/ 0 w 4297325"/>
                <a:gd name="connsiteY3" fmla="*/ 936979 h 936979"/>
                <a:gd name="connsiteX4" fmla="*/ 0 w 4297325"/>
                <a:gd name="connsiteY4" fmla="*/ 0 h 9369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97325" h="936979">
                  <a:moveTo>
                    <a:pt x="0" y="0"/>
                  </a:moveTo>
                  <a:lnTo>
                    <a:pt x="4297325" y="0"/>
                  </a:lnTo>
                  <a:lnTo>
                    <a:pt x="4297325" y="936979"/>
                  </a:lnTo>
                  <a:lnTo>
                    <a:pt x="0" y="936979"/>
                  </a:lnTo>
                  <a:lnTo>
                    <a:pt x="0" y="0"/>
                  </a:lnTo>
                  <a:close/>
                </a:path>
              </a:pathLst>
            </a:custGeom>
            <a:noFill/>
            <a:ln>
              <a:noFill/>
            </a:ln>
            <a:sp3d/>
          </p:spPr>
          <p:style>
            <a:lnRef idx="2">
              <a:scrgbClr r="0" g="0" b="0"/>
            </a:lnRef>
            <a:fillRef idx="1">
              <a:scrgbClr r="0" g="0" b="0"/>
            </a:fillRef>
            <a:effectRef idx="0">
              <a:schemeClr val="accent2">
                <a:hueOff val="0"/>
                <a:satOff val="0"/>
                <a:lumOff val="0"/>
                <a:alphaOff val="0"/>
              </a:schemeClr>
            </a:effectRef>
            <a:fontRef idx="minor">
              <a:schemeClr val="lt1"/>
            </a:fontRef>
          </p:style>
          <p:txBody>
            <a:bodyPr spcFirstLastPara="0" vert="horz" wrap="square" lIns="0" tIns="0" rIns="0" bIns="0" numCol="1" spcCol="1270" anchor="b" anchorCtr="0">
              <a:noAutofit/>
            </a:bodyPr>
            <a:lstStyle/>
            <a:p>
              <a:pPr algn="ctr" defTabSz="2667000">
                <a:lnSpc>
                  <a:spcPct val="90000"/>
                </a:lnSpc>
                <a:spcBef>
                  <a:spcPct val="0"/>
                </a:spcBef>
                <a:spcAft>
                  <a:spcPct val="35000"/>
                </a:spcAft>
              </a:pPr>
              <a:r>
                <a:rPr lang="pt-BR" sz="5400" b="1" dirty="0">
                  <a:latin typeface="Lucida Sans Unicode" panose="020B0602030504020204" pitchFamily="34" charset="0"/>
                  <a:ea typeface="Liberation Sans" panose="020B0604020202020204" pitchFamily="34" charset="0"/>
                  <a:cs typeface="Lucida Sans Unicode" panose="020B0602030504020204" pitchFamily="34" charset="0"/>
                </a:rPr>
                <a:t>CONTROLAR</a:t>
              </a:r>
            </a:p>
          </p:txBody>
        </p:sp>
        <p:sp>
          <p:nvSpPr>
            <p:cNvPr id="9" name="Elipse 8"/>
            <p:cNvSpPr/>
            <p:nvPr/>
          </p:nvSpPr>
          <p:spPr>
            <a:xfrm>
              <a:off x="8057141" y="1574791"/>
              <a:ext cx="1933998" cy="1313903"/>
            </a:xfrm>
            <a:prstGeom prst="ellipse">
              <a:avLst/>
            </a:prstGeom>
            <a:solidFill>
              <a:schemeClr val="tx1"/>
            </a:solidFill>
          </p:spPr>
          <p:style>
            <a:lnRef idx="2">
              <a:schemeClr val="lt1">
                <a:hueOff val="0"/>
                <a:satOff val="0"/>
                <a:lumOff val="0"/>
                <a:alphaOff val="0"/>
              </a:schemeClr>
            </a:lnRef>
            <a:fillRef idx="1">
              <a:scrgbClr r="0" g="0" b="0"/>
            </a:fillRef>
            <a:effectRef idx="0">
              <a:schemeClr val="accent2">
                <a:tint val="50000"/>
                <a:hueOff val="-4800000"/>
                <a:satOff val="-15498"/>
                <a:lumOff val="5776"/>
                <a:alphaOff val="0"/>
              </a:schemeClr>
            </a:effectRef>
            <a:fontRef idx="minor">
              <a:schemeClr val="lt1">
                <a:hueOff val="0"/>
                <a:satOff val="0"/>
                <a:lumOff val="0"/>
                <a:alphaOff val="0"/>
              </a:schemeClr>
            </a:fontRef>
          </p:style>
        </p:sp>
        <p:sp>
          <p:nvSpPr>
            <p:cNvPr id="11" name="Elipse 10"/>
            <p:cNvSpPr/>
            <p:nvPr/>
          </p:nvSpPr>
          <p:spPr>
            <a:xfrm>
              <a:off x="7381026" y="2956934"/>
              <a:ext cx="2065814" cy="1408085"/>
            </a:xfrm>
            <a:prstGeom prst="ellipse">
              <a:avLst/>
            </a:prstGeom>
            <a:solidFill>
              <a:schemeClr val="accent2">
                <a:lumMod val="75000"/>
              </a:schemeClr>
            </a:solidFill>
          </p:spPr>
          <p:style>
            <a:lnRef idx="2">
              <a:schemeClr val="lt1">
                <a:hueOff val="0"/>
                <a:satOff val="0"/>
                <a:lumOff val="0"/>
                <a:alphaOff val="0"/>
              </a:schemeClr>
            </a:lnRef>
            <a:fillRef idx="1">
              <a:scrgbClr r="0" g="0" b="0"/>
            </a:fillRef>
            <a:effectRef idx="0">
              <a:schemeClr val="accent2">
                <a:tint val="50000"/>
                <a:hueOff val="-9600000"/>
                <a:satOff val="-30997"/>
                <a:lumOff val="11552"/>
                <a:alphaOff val="0"/>
              </a:schemeClr>
            </a:effectRef>
            <a:fontRef idx="minor">
              <a:schemeClr val="lt1">
                <a:hueOff val="0"/>
                <a:satOff val="0"/>
                <a:lumOff val="0"/>
                <a:alphaOff val="0"/>
              </a:schemeClr>
            </a:fontRef>
          </p:style>
        </p:sp>
        <p:sp>
          <p:nvSpPr>
            <p:cNvPr id="13" name="Elipse 12"/>
            <p:cNvSpPr/>
            <p:nvPr/>
          </p:nvSpPr>
          <p:spPr>
            <a:xfrm>
              <a:off x="8070035" y="4469635"/>
              <a:ext cx="1921104" cy="1424022"/>
            </a:xfrm>
            <a:prstGeom prst="ellipse">
              <a:avLst/>
            </a:prstGeom>
            <a:solidFill>
              <a:srgbClr val="7030A0"/>
            </a:solidFill>
          </p:spPr>
          <p:style>
            <a:lnRef idx="2">
              <a:schemeClr val="lt1">
                <a:hueOff val="0"/>
                <a:satOff val="0"/>
                <a:lumOff val="0"/>
                <a:alphaOff val="0"/>
              </a:schemeClr>
            </a:lnRef>
            <a:fillRef idx="1">
              <a:scrgbClr r="0" g="0" b="0"/>
            </a:fillRef>
            <a:effectRef idx="0">
              <a:schemeClr val="accent2">
                <a:tint val="50000"/>
                <a:hueOff val="-14400000"/>
                <a:satOff val="-46495"/>
                <a:lumOff val="17328"/>
                <a:alphaOff val="0"/>
              </a:schemeClr>
            </a:effectRef>
            <a:fontRef idx="minor">
              <a:schemeClr val="lt1">
                <a:hueOff val="0"/>
                <a:satOff val="0"/>
                <a:lumOff val="0"/>
                <a:alphaOff val="0"/>
              </a:schemeClr>
            </a:fontRef>
          </p:style>
        </p:sp>
      </p:grpSp>
      <p:grpSp>
        <p:nvGrpSpPr>
          <p:cNvPr id="21515" name="Grupo 14"/>
          <p:cNvGrpSpPr>
            <a:grpSpLocks/>
          </p:cNvGrpSpPr>
          <p:nvPr/>
        </p:nvGrpSpPr>
        <p:grpSpPr bwMode="auto">
          <a:xfrm>
            <a:off x="8328025" y="1989139"/>
            <a:ext cx="1682750" cy="663575"/>
            <a:chOff x="1234469" y="1492252"/>
            <a:chExt cx="2633472" cy="1357884"/>
          </a:xfrm>
        </p:grpSpPr>
        <p:sp>
          <p:nvSpPr>
            <p:cNvPr id="16" name="Retângulo 15"/>
            <p:cNvSpPr/>
            <p:nvPr/>
          </p:nvSpPr>
          <p:spPr>
            <a:xfrm>
              <a:off x="1234469" y="1492252"/>
              <a:ext cx="2633472" cy="1357884"/>
            </a:xfrm>
            <a:prstGeom prst="rect">
              <a:avLst/>
            </a:prstGeom>
            <a:noFill/>
            <a:ln>
              <a:noFill/>
            </a:ln>
            <a:sp3d/>
          </p:spPr>
          <p:style>
            <a:lnRef idx="2">
              <a:scrgbClr r="0" g="0" b="0"/>
            </a:lnRef>
            <a:fillRef idx="1">
              <a:scrgbClr r="0" g="0" b="0"/>
            </a:fillRef>
            <a:effectRef idx="0">
              <a:schemeClr val="accent2">
                <a:hueOff val="0"/>
                <a:satOff val="0"/>
                <a:lumOff val="0"/>
                <a:alphaOff val="0"/>
              </a:schemeClr>
            </a:effectRef>
            <a:fontRef idx="minor">
              <a:schemeClr val="lt1"/>
            </a:fontRef>
          </p:style>
        </p:sp>
        <p:sp>
          <p:nvSpPr>
            <p:cNvPr id="17" name="Retângulo 16"/>
            <p:cNvSpPr/>
            <p:nvPr/>
          </p:nvSpPr>
          <p:spPr>
            <a:xfrm>
              <a:off x="1234469" y="1492252"/>
              <a:ext cx="2633472" cy="1357884"/>
            </a:xfrm>
            <a:prstGeom prst="rect">
              <a:avLst/>
            </a:prstGeom>
            <a:sp3d/>
          </p:spPr>
          <p:style>
            <a:lnRef idx="0">
              <a:scrgbClr r="0" g="0" b="0"/>
            </a:lnRef>
            <a:fillRef idx="0">
              <a:scrgbClr r="0" g="0" b="0"/>
            </a:fillRef>
            <a:effectRef idx="0">
              <a:scrgbClr r="0" g="0" b="0"/>
            </a:effectRef>
            <a:fontRef idx="minor">
              <a:schemeClr val="lt1"/>
            </a:fontRef>
          </p:style>
          <p:txBody>
            <a:bodyPr lIns="0" tIns="0" rIns="0" bIns="0" spcCol="1270" anchor="b"/>
            <a:lstStyle/>
            <a:p>
              <a:pPr algn="ctr" defTabSz="2755900">
                <a:lnSpc>
                  <a:spcPct val="90000"/>
                </a:lnSpc>
                <a:spcAft>
                  <a:spcPct val="35000"/>
                </a:spcAft>
                <a:defRPr/>
              </a:pPr>
              <a:endParaRPr lang="pt-BR" sz="6200" dirty="0">
                <a:solidFill>
                  <a:srgbClr val="FFFFFF"/>
                </a:solidFill>
              </a:endParaRPr>
            </a:p>
          </p:txBody>
        </p:sp>
      </p:grpSp>
      <p:sp>
        <p:nvSpPr>
          <p:cNvPr id="21516" name="CaixaDeTexto 7"/>
          <p:cNvSpPr txBox="1">
            <a:spLocks noChangeArrowheads="1"/>
          </p:cNvSpPr>
          <p:nvPr/>
        </p:nvSpPr>
        <p:spPr bwMode="auto">
          <a:xfrm>
            <a:off x="8360565" y="2025676"/>
            <a:ext cx="13271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pt-BR"/>
            </a:defPPr>
            <a:lvl1pPr>
              <a:spcBef>
                <a:spcPct val="0"/>
              </a:spcBef>
              <a:buFontTx/>
              <a:buNone/>
              <a:defRPr sz="2000">
                <a:solidFill>
                  <a:srgbClr val="FFFFFF"/>
                </a:solidFill>
                <a:latin typeface="Arial" panose="020B0604020202020204" pitchFamily="34" charset="0"/>
              </a:defRPr>
            </a:lvl1pPr>
            <a:lvl2pPr marL="742950" indent="-285750">
              <a:spcBef>
                <a:spcPct val="20000"/>
              </a:spcBef>
              <a:buChar char="–"/>
              <a:defRPr sz="2100">
                <a:latin typeface="Arial" panose="020B0604020202020204" pitchFamily="34" charset="0"/>
              </a:defRPr>
            </a:lvl2pPr>
            <a:lvl3pPr marL="1143000" indent="-228600">
              <a:spcBef>
                <a:spcPct val="20000"/>
              </a:spcBef>
              <a:buChar char="•"/>
              <a:defRPr>
                <a:latin typeface="Arial" panose="020B0604020202020204" pitchFamily="34" charset="0"/>
              </a:defRPr>
            </a:lvl3pPr>
            <a:lvl4pPr marL="1600200" indent="-228600">
              <a:spcBef>
                <a:spcPct val="20000"/>
              </a:spcBef>
              <a:buChar char="–"/>
              <a:defRPr sz="1500">
                <a:latin typeface="Arial" panose="020B0604020202020204" pitchFamily="34" charset="0"/>
              </a:defRPr>
            </a:lvl4pPr>
            <a:lvl5pPr marL="2057400" indent="-228600">
              <a:spcBef>
                <a:spcPct val="20000"/>
              </a:spcBef>
              <a:buChar char="»"/>
              <a:defRPr sz="1500">
                <a:latin typeface="Arial" panose="020B0604020202020204" pitchFamily="34" charset="0"/>
              </a:defRPr>
            </a:lvl5pPr>
            <a:lvl6pPr marL="2514600" indent="-228600" eaLnBrk="0" fontAlgn="base" hangingPunct="0">
              <a:spcBef>
                <a:spcPct val="20000"/>
              </a:spcBef>
              <a:spcAft>
                <a:spcPct val="0"/>
              </a:spcAft>
              <a:buChar char="»"/>
              <a:defRPr sz="1500">
                <a:latin typeface="Arial" panose="020B0604020202020204" pitchFamily="34" charset="0"/>
              </a:defRPr>
            </a:lvl6pPr>
            <a:lvl7pPr marL="2971800" indent="-228600" eaLnBrk="0" fontAlgn="base" hangingPunct="0">
              <a:spcBef>
                <a:spcPct val="20000"/>
              </a:spcBef>
              <a:spcAft>
                <a:spcPct val="0"/>
              </a:spcAft>
              <a:buChar char="»"/>
              <a:defRPr sz="1500">
                <a:latin typeface="Arial" panose="020B0604020202020204" pitchFamily="34" charset="0"/>
              </a:defRPr>
            </a:lvl7pPr>
            <a:lvl8pPr marL="3429000" indent="-228600" eaLnBrk="0" fontAlgn="base" hangingPunct="0">
              <a:spcBef>
                <a:spcPct val="20000"/>
              </a:spcBef>
              <a:spcAft>
                <a:spcPct val="0"/>
              </a:spcAft>
              <a:buChar char="»"/>
              <a:defRPr sz="1500">
                <a:latin typeface="Arial" panose="020B0604020202020204" pitchFamily="34" charset="0"/>
              </a:defRPr>
            </a:lvl8pPr>
            <a:lvl9pPr marL="3886200" indent="-228600" eaLnBrk="0" fontAlgn="base" hangingPunct="0">
              <a:spcBef>
                <a:spcPct val="20000"/>
              </a:spcBef>
              <a:spcAft>
                <a:spcPct val="0"/>
              </a:spcAft>
              <a:buChar char="»"/>
              <a:defRPr sz="1500">
                <a:latin typeface="Arial" panose="020B0604020202020204" pitchFamily="34" charset="0"/>
              </a:defRPr>
            </a:lvl9pPr>
          </a:lstStyle>
          <a:p>
            <a:pPr algn="ctr"/>
            <a:r>
              <a:rPr lang="pt-BR" altLang="pt-BR" dirty="0">
                <a:latin typeface="Lucida Sans Unicode" panose="020B0602030504020204" pitchFamily="34" charset="0"/>
                <a:cs typeface="Lucida Sans Unicode" panose="020B0602030504020204" pitchFamily="34" charset="0"/>
              </a:rPr>
              <a:t>METAS</a:t>
            </a:r>
          </a:p>
        </p:txBody>
      </p:sp>
      <p:sp>
        <p:nvSpPr>
          <p:cNvPr id="21517" name="CaixaDeTexto 18"/>
          <p:cNvSpPr txBox="1">
            <a:spLocks noChangeArrowheads="1"/>
          </p:cNvSpPr>
          <p:nvPr/>
        </p:nvSpPr>
        <p:spPr bwMode="auto">
          <a:xfrm>
            <a:off x="7357711" y="3480668"/>
            <a:ext cx="212253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pt-BR"/>
            </a:defPPr>
            <a:lvl1pPr algn="ctr">
              <a:spcBef>
                <a:spcPct val="0"/>
              </a:spcBef>
              <a:buFontTx/>
              <a:buNone/>
              <a:defRPr sz="2000">
                <a:solidFill>
                  <a:srgbClr val="FFFFFF"/>
                </a:solidFill>
                <a:latin typeface="Arial" panose="020B0604020202020204" pitchFamily="34" charset="0"/>
              </a:defRPr>
            </a:lvl1pPr>
            <a:lvl2pPr marL="742950" indent="-285750">
              <a:spcBef>
                <a:spcPct val="20000"/>
              </a:spcBef>
              <a:buChar char="–"/>
              <a:defRPr sz="2100">
                <a:latin typeface="Arial" panose="020B0604020202020204" pitchFamily="34" charset="0"/>
              </a:defRPr>
            </a:lvl2pPr>
            <a:lvl3pPr marL="1143000" indent="-228600">
              <a:spcBef>
                <a:spcPct val="20000"/>
              </a:spcBef>
              <a:buChar char="•"/>
              <a:defRPr>
                <a:latin typeface="Arial" panose="020B0604020202020204" pitchFamily="34" charset="0"/>
              </a:defRPr>
            </a:lvl3pPr>
            <a:lvl4pPr marL="1600200" indent="-228600">
              <a:spcBef>
                <a:spcPct val="20000"/>
              </a:spcBef>
              <a:buChar char="–"/>
              <a:defRPr sz="1500">
                <a:latin typeface="Arial" panose="020B0604020202020204" pitchFamily="34" charset="0"/>
              </a:defRPr>
            </a:lvl4pPr>
            <a:lvl5pPr marL="2057400" indent="-228600">
              <a:spcBef>
                <a:spcPct val="20000"/>
              </a:spcBef>
              <a:buChar char="»"/>
              <a:defRPr sz="1500">
                <a:latin typeface="Arial" panose="020B0604020202020204" pitchFamily="34" charset="0"/>
              </a:defRPr>
            </a:lvl5pPr>
            <a:lvl6pPr marL="2514600" indent="-228600" eaLnBrk="0" fontAlgn="base" hangingPunct="0">
              <a:spcBef>
                <a:spcPct val="20000"/>
              </a:spcBef>
              <a:spcAft>
                <a:spcPct val="0"/>
              </a:spcAft>
              <a:buChar char="»"/>
              <a:defRPr sz="1500">
                <a:latin typeface="Arial" panose="020B0604020202020204" pitchFamily="34" charset="0"/>
              </a:defRPr>
            </a:lvl6pPr>
            <a:lvl7pPr marL="2971800" indent="-228600" eaLnBrk="0" fontAlgn="base" hangingPunct="0">
              <a:spcBef>
                <a:spcPct val="20000"/>
              </a:spcBef>
              <a:spcAft>
                <a:spcPct val="0"/>
              </a:spcAft>
              <a:buChar char="»"/>
              <a:defRPr sz="1500">
                <a:latin typeface="Arial" panose="020B0604020202020204" pitchFamily="34" charset="0"/>
              </a:defRPr>
            </a:lvl7pPr>
            <a:lvl8pPr marL="3429000" indent="-228600" eaLnBrk="0" fontAlgn="base" hangingPunct="0">
              <a:spcBef>
                <a:spcPct val="20000"/>
              </a:spcBef>
              <a:spcAft>
                <a:spcPct val="0"/>
              </a:spcAft>
              <a:buChar char="»"/>
              <a:defRPr sz="1500">
                <a:latin typeface="Arial" panose="020B0604020202020204" pitchFamily="34" charset="0"/>
              </a:defRPr>
            </a:lvl8pPr>
            <a:lvl9pPr marL="3886200" indent="-228600" eaLnBrk="0" fontAlgn="base" hangingPunct="0">
              <a:spcBef>
                <a:spcPct val="20000"/>
              </a:spcBef>
              <a:spcAft>
                <a:spcPct val="0"/>
              </a:spcAft>
              <a:buChar char="»"/>
              <a:defRPr sz="1500">
                <a:latin typeface="Arial" panose="020B0604020202020204" pitchFamily="34" charset="0"/>
              </a:defRPr>
            </a:lvl9pPr>
          </a:lstStyle>
          <a:p>
            <a:r>
              <a:rPr lang="pt-BR" altLang="pt-BR" dirty="0">
                <a:latin typeface="Lucida Sans Unicode" panose="020B0602030504020204" pitchFamily="34" charset="0"/>
                <a:cs typeface="Lucida Sans Unicode" panose="020B0602030504020204" pitchFamily="34" charset="0"/>
              </a:rPr>
              <a:t>DESEMPENHO</a:t>
            </a:r>
          </a:p>
        </p:txBody>
      </p:sp>
      <p:sp>
        <p:nvSpPr>
          <p:cNvPr id="21518" name="CaixaDeTexto 19"/>
          <p:cNvSpPr txBox="1">
            <a:spLocks noChangeArrowheads="1"/>
          </p:cNvSpPr>
          <p:nvPr/>
        </p:nvSpPr>
        <p:spPr bwMode="auto">
          <a:xfrm>
            <a:off x="8078112" y="4981913"/>
            <a:ext cx="191205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pt-BR"/>
            </a:defPPr>
            <a:lvl1pPr algn="ctr">
              <a:spcBef>
                <a:spcPct val="0"/>
              </a:spcBef>
              <a:buFontTx/>
              <a:buNone/>
              <a:defRPr>
                <a:solidFill>
                  <a:srgbClr val="FFFFFF"/>
                </a:solidFill>
                <a:latin typeface="Arial" panose="020B0604020202020204" pitchFamily="34" charset="0"/>
              </a:defRPr>
            </a:lvl1pPr>
            <a:lvl2pPr marL="742950" indent="-285750">
              <a:spcBef>
                <a:spcPct val="20000"/>
              </a:spcBef>
              <a:buChar char="–"/>
              <a:defRPr sz="2100">
                <a:latin typeface="Arial" panose="020B0604020202020204" pitchFamily="34" charset="0"/>
              </a:defRPr>
            </a:lvl2pPr>
            <a:lvl3pPr marL="1143000" indent="-228600">
              <a:spcBef>
                <a:spcPct val="20000"/>
              </a:spcBef>
              <a:buChar char="•"/>
              <a:defRPr>
                <a:latin typeface="Arial" panose="020B0604020202020204" pitchFamily="34" charset="0"/>
              </a:defRPr>
            </a:lvl3pPr>
            <a:lvl4pPr marL="1600200" indent="-228600">
              <a:spcBef>
                <a:spcPct val="20000"/>
              </a:spcBef>
              <a:buChar char="–"/>
              <a:defRPr sz="1500">
                <a:latin typeface="Arial" panose="020B0604020202020204" pitchFamily="34" charset="0"/>
              </a:defRPr>
            </a:lvl4pPr>
            <a:lvl5pPr marL="2057400" indent="-228600">
              <a:spcBef>
                <a:spcPct val="20000"/>
              </a:spcBef>
              <a:buChar char="»"/>
              <a:defRPr sz="1500">
                <a:latin typeface="Arial" panose="020B0604020202020204" pitchFamily="34" charset="0"/>
              </a:defRPr>
            </a:lvl5pPr>
            <a:lvl6pPr marL="2514600" indent="-228600" eaLnBrk="0" fontAlgn="base" hangingPunct="0">
              <a:spcBef>
                <a:spcPct val="20000"/>
              </a:spcBef>
              <a:spcAft>
                <a:spcPct val="0"/>
              </a:spcAft>
              <a:buChar char="»"/>
              <a:defRPr sz="1500">
                <a:latin typeface="Arial" panose="020B0604020202020204" pitchFamily="34" charset="0"/>
              </a:defRPr>
            </a:lvl6pPr>
            <a:lvl7pPr marL="2971800" indent="-228600" eaLnBrk="0" fontAlgn="base" hangingPunct="0">
              <a:spcBef>
                <a:spcPct val="20000"/>
              </a:spcBef>
              <a:spcAft>
                <a:spcPct val="0"/>
              </a:spcAft>
              <a:buChar char="»"/>
              <a:defRPr sz="1500">
                <a:latin typeface="Arial" panose="020B0604020202020204" pitchFamily="34" charset="0"/>
              </a:defRPr>
            </a:lvl7pPr>
            <a:lvl8pPr marL="3429000" indent="-228600" eaLnBrk="0" fontAlgn="base" hangingPunct="0">
              <a:spcBef>
                <a:spcPct val="20000"/>
              </a:spcBef>
              <a:spcAft>
                <a:spcPct val="0"/>
              </a:spcAft>
              <a:buChar char="»"/>
              <a:defRPr sz="1500">
                <a:latin typeface="Arial" panose="020B0604020202020204" pitchFamily="34" charset="0"/>
              </a:defRPr>
            </a:lvl8pPr>
            <a:lvl9pPr marL="3886200" indent="-228600" eaLnBrk="0" fontAlgn="base" hangingPunct="0">
              <a:spcBef>
                <a:spcPct val="20000"/>
              </a:spcBef>
              <a:spcAft>
                <a:spcPct val="0"/>
              </a:spcAft>
              <a:buChar char="»"/>
              <a:defRPr sz="1500">
                <a:latin typeface="Arial" panose="020B0604020202020204" pitchFamily="34" charset="0"/>
              </a:defRPr>
            </a:lvl9pPr>
          </a:lstStyle>
          <a:p>
            <a:r>
              <a:rPr lang="pt-BR" altLang="pt-BR" sz="2000" dirty="0">
                <a:latin typeface="Lucida Sans Unicode" panose="020B0602030504020204" pitchFamily="34" charset="0"/>
                <a:cs typeface="Lucida Sans Unicode" panose="020B0602030504020204" pitchFamily="34" charset="0"/>
              </a:rPr>
              <a:t>RESULTADOS</a:t>
            </a:r>
          </a:p>
        </p:txBody>
      </p:sp>
      <p:sp>
        <p:nvSpPr>
          <p:cNvPr id="19" name="Retângulo 18"/>
          <p:cNvSpPr/>
          <p:nvPr/>
        </p:nvSpPr>
        <p:spPr>
          <a:xfrm>
            <a:off x="4120940" y="506706"/>
            <a:ext cx="3950120" cy="420115"/>
          </a:xfrm>
          <a:prstGeom prst="rect">
            <a:avLst/>
          </a:prstGeom>
        </p:spPr>
        <p:txBody>
          <a:bodyPr wrap="none">
            <a:spAutoFit/>
          </a:bodyPr>
          <a:lstStyle/>
          <a:p>
            <a:pPr algn="ctr">
              <a:lnSpc>
                <a:spcPct val="85000"/>
              </a:lnSpc>
              <a:spcBef>
                <a:spcPct val="0"/>
              </a:spcBef>
            </a:pPr>
            <a:r>
              <a:rPr lang="pt-BR" altLang="pt-BR" sz="2400" b="1" dirty="0">
                <a:solidFill>
                  <a:schemeClr val="accent6"/>
                </a:solidFill>
                <a:latin typeface="Lucida Sans Unicode" panose="020B0602030504020204" pitchFamily="34" charset="0"/>
                <a:cs typeface="Lucida Sans Unicode" panose="020B0602030504020204" pitchFamily="34" charset="0"/>
              </a:rPr>
              <a:t>CONCEITO DE LOGÍSTICA</a:t>
            </a:r>
          </a:p>
        </p:txBody>
      </p:sp>
    </p:spTree>
    <p:extLst>
      <p:ext uri="{BB962C8B-B14F-4D97-AF65-F5344CB8AC3E}">
        <p14:creationId xmlns:p14="http://schemas.microsoft.com/office/powerpoint/2010/main" val="3789767420"/>
      </p:ext>
    </p:extLst>
  </p:cSld>
  <p:clrMapOvr>
    <a:masterClrMapping/>
  </p:clrMapOvr>
  <p:transition spd="slow">
    <p:push/>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tângulo de cantos arredondados 3"/>
          <p:cNvSpPr/>
          <p:nvPr/>
        </p:nvSpPr>
        <p:spPr>
          <a:xfrm>
            <a:off x="2566989" y="1628775"/>
            <a:ext cx="1730375" cy="723900"/>
          </a:xfrm>
          <a:prstGeom prst="round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r>
              <a:rPr lang="pt-BR" sz="2000" dirty="0">
                <a:solidFill>
                  <a:srgbClr val="FFFFFF"/>
                </a:solidFill>
                <a:latin typeface="Lucida Sans Unicode" panose="020B0602030504020204" pitchFamily="34" charset="0"/>
                <a:cs typeface="Lucida Sans Unicode" panose="020B0602030504020204" pitchFamily="34" charset="0"/>
              </a:rPr>
              <a:t>Fluxo</a:t>
            </a:r>
          </a:p>
        </p:txBody>
      </p:sp>
      <p:sp>
        <p:nvSpPr>
          <p:cNvPr id="18" name="Retângulo de cantos arredondados 17"/>
          <p:cNvSpPr/>
          <p:nvPr/>
        </p:nvSpPr>
        <p:spPr>
          <a:xfrm>
            <a:off x="7669841" y="1624014"/>
            <a:ext cx="2065426" cy="728661"/>
          </a:xfrm>
          <a:prstGeom prst="round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r>
              <a:rPr lang="pt-BR" sz="2000" dirty="0">
                <a:solidFill>
                  <a:srgbClr val="FFFFFF"/>
                </a:solidFill>
                <a:latin typeface="Lucida Sans Unicode" panose="020B0602030504020204" pitchFamily="34" charset="0"/>
                <a:cs typeface="Lucida Sans Unicode" panose="020B0602030504020204" pitchFamily="34" charset="0"/>
              </a:rPr>
              <a:t>Armazenagem</a:t>
            </a:r>
          </a:p>
        </p:txBody>
      </p:sp>
      <p:sp>
        <p:nvSpPr>
          <p:cNvPr id="21" name="Retângulo de cantos arredondados 20"/>
          <p:cNvSpPr/>
          <p:nvPr/>
        </p:nvSpPr>
        <p:spPr>
          <a:xfrm>
            <a:off x="2622825" y="3749841"/>
            <a:ext cx="1620564" cy="724543"/>
          </a:xfrm>
          <a:prstGeom prst="roundRect">
            <a:avLst/>
          </a:prstGeom>
        </p:spPr>
        <p:style>
          <a:lnRef idx="0">
            <a:schemeClr val="accent6"/>
          </a:lnRef>
          <a:fillRef idx="3">
            <a:schemeClr val="accent6"/>
          </a:fillRef>
          <a:effectRef idx="3">
            <a:schemeClr val="accent6"/>
          </a:effectRef>
          <a:fontRef idx="minor">
            <a:schemeClr val="lt1"/>
          </a:fontRef>
        </p:style>
        <p:txBody>
          <a:bodyPr anchor="ctr"/>
          <a:lstStyle/>
          <a:p>
            <a:pPr algn="ctr">
              <a:defRPr/>
            </a:pPr>
            <a:r>
              <a:rPr lang="pt-BR" sz="2000" dirty="0">
                <a:solidFill>
                  <a:srgbClr val="FFFFFF"/>
                </a:solidFill>
                <a:latin typeface="Lucida Sans Unicode" panose="020B0602030504020204" pitchFamily="34" charset="0"/>
                <a:cs typeface="Lucida Sans Unicode" panose="020B0602030504020204" pitchFamily="34" charset="0"/>
              </a:rPr>
              <a:t>Eficácia</a:t>
            </a:r>
          </a:p>
        </p:txBody>
      </p:sp>
      <p:sp>
        <p:nvSpPr>
          <p:cNvPr id="22" name="Retângulo de cantos arredondados 21"/>
          <p:cNvSpPr/>
          <p:nvPr/>
        </p:nvSpPr>
        <p:spPr>
          <a:xfrm>
            <a:off x="7904066" y="3749841"/>
            <a:ext cx="1596975" cy="724543"/>
          </a:xfrm>
          <a:prstGeom prst="roundRect">
            <a:avLst/>
          </a:prstGeom>
        </p:spPr>
        <p:style>
          <a:lnRef idx="0">
            <a:schemeClr val="accent6"/>
          </a:lnRef>
          <a:fillRef idx="3">
            <a:schemeClr val="accent6"/>
          </a:fillRef>
          <a:effectRef idx="3">
            <a:schemeClr val="accent6"/>
          </a:effectRef>
          <a:fontRef idx="minor">
            <a:schemeClr val="lt1"/>
          </a:fontRef>
        </p:style>
        <p:txBody>
          <a:bodyPr anchor="ctr"/>
          <a:lstStyle/>
          <a:p>
            <a:pPr algn="ctr">
              <a:defRPr/>
            </a:pPr>
            <a:r>
              <a:rPr lang="pt-BR" sz="2000" dirty="0">
                <a:solidFill>
                  <a:srgbClr val="FFFFFF"/>
                </a:solidFill>
                <a:latin typeface="Lucida Sans Unicode" panose="020B0602030504020204" pitchFamily="34" charset="0"/>
                <a:cs typeface="Lucida Sans Unicode" panose="020B0602030504020204" pitchFamily="34" charset="0"/>
              </a:rPr>
              <a:t>Eficiência</a:t>
            </a:r>
          </a:p>
        </p:txBody>
      </p:sp>
      <p:sp>
        <p:nvSpPr>
          <p:cNvPr id="5" name="Seta para baixo 4"/>
          <p:cNvSpPr/>
          <p:nvPr/>
        </p:nvSpPr>
        <p:spPr>
          <a:xfrm>
            <a:off x="3303589" y="2370139"/>
            <a:ext cx="161925" cy="606425"/>
          </a:xfrm>
          <a:prstGeom prst="downArrow">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pt-BR">
              <a:solidFill>
                <a:srgbClr val="FFFFFF"/>
              </a:solidFill>
            </a:endParaRPr>
          </a:p>
        </p:txBody>
      </p:sp>
      <p:sp>
        <p:nvSpPr>
          <p:cNvPr id="9" name="CaixaDeTexto 8"/>
          <p:cNvSpPr txBox="1">
            <a:spLocks noChangeArrowheads="1"/>
          </p:cNvSpPr>
          <p:nvPr/>
        </p:nvSpPr>
        <p:spPr bwMode="auto">
          <a:xfrm>
            <a:off x="2377703" y="3012685"/>
            <a:ext cx="201369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defRPr>
            </a:lvl9pPr>
          </a:lstStyle>
          <a:p>
            <a:pPr algn="ctr">
              <a:spcBef>
                <a:spcPct val="0"/>
              </a:spcBef>
              <a:buFontTx/>
              <a:buNone/>
            </a:pPr>
            <a:r>
              <a:rPr lang="pt-BR" altLang="pt-BR" sz="2000" b="1" dirty="0">
                <a:solidFill>
                  <a:srgbClr val="000000"/>
                </a:solidFill>
                <a:latin typeface="Lucida Sans Unicode" panose="020B0602030504020204" pitchFamily="34" charset="0"/>
                <a:cs typeface="Lucida Sans Unicode" panose="020B0602030504020204" pitchFamily="34" charset="0"/>
              </a:rPr>
              <a:t>TRANSPORTAR</a:t>
            </a:r>
          </a:p>
        </p:txBody>
      </p:sp>
      <p:sp>
        <p:nvSpPr>
          <p:cNvPr id="23" name="CaixaDeTexto 22"/>
          <p:cNvSpPr txBox="1">
            <a:spLocks noChangeArrowheads="1"/>
          </p:cNvSpPr>
          <p:nvPr/>
        </p:nvSpPr>
        <p:spPr bwMode="auto">
          <a:xfrm>
            <a:off x="8033139" y="3010086"/>
            <a:ext cx="133882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defRPr>
            </a:lvl9pPr>
          </a:lstStyle>
          <a:p>
            <a:pPr algn="ctr">
              <a:spcBef>
                <a:spcPct val="0"/>
              </a:spcBef>
              <a:buFontTx/>
              <a:buNone/>
            </a:pPr>
            <a:r>
              <a:rPr lang="pt-BR" altLang="pt-BR" sz="2000" b="1" dirty="0">
                <a:solidFill>
                  <a:srgbClr val="000000"/>
                </a:solidFill>
                <a:latin typeface="Lucida Sans Unicode" panose="020B0602030504020204" pitchFamily="34" charset="0"/>
                <a:cs typeface="Lucida Sans Unicode" panose="020B0602030504020204" pitchFamily="34" charset="0"/>
              </a:rPr>
              <a:t>ESTOCAR</a:t>
            </a:r>
          </a:p>
        </p:txBody>
      </p:sp>
      <p:sp>
        <p:nvSpPr>
          <p:cNvPr id="24" name="Seta para baixo 23"/>
          <p:cNvSpPr/>
          <p:nvPr/>
        </p:nvSpPr>
        <p:spPr>
          <a:xfrm>
            <a:off x="8623178" y="2370139"/>
            <a:ext cx="158750" cy="606425"/>
          </a:xfrm>
          <a:prstGeom prst="downArrow">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pt-BR">
              <a:solidFill>
                <a:srgbClr val="FFFFFF"/>
              </a:solidFill>
            </a:endParaRPr>
          </a:p>
        </p:txBody>
      </p:sp>
      <p:sp>
        <p:nvSpPr>
          <p:cNvPr id="12" name="Seta para a esquerda e para a direita 11"/>
          <p:cNvSpPr/>
          <p:nvPr/>
        </p:nvSpPr>
        <p:spPr>
          <a:xfrm>
            <a:off x="4436744" y="3082512"/>
            <a:ext cx="3408362" cy="239712"/>
          </a:xfrm>
          <a:prstGeom prst="leftRightArrow">
            <a:avLst/>
          </a:prstGeom>
        </p:spPr>
        <p:style>
          <a:lnRef idx="1">
            <a:schemeClr val="accent2"/>
          </a:lnRef>
          <a:fillRef idx="3">
            <a:schemeClr val="accent2"/>
          </a:fillRef>
          <a:effectRef idx="2">
            <a:schemeClr val="accent2"/>
          </a:effectRef>
          <a:fontRef idx="minor">
            <a:schemeClr val="lt1"/>
          </a:fontRef>
        </p:style>
        <p:txBody>
          <a:bodyPr anchor="ctr"/>
          <a:lstStyle/>
          <a:p>
            <a:pPr algn="ctr">
              <a:defRPr/>
            </a:pPr>
            <a:endParaRPr lang="pt-BR">
              <a:solidFill>
                <a:srgbClr val="FFFFFF"/>
              </a:solidFill>
            </a:endParaRPr>
          </a:p>
        </p:txBody>
      </p:sp>
      <p:sp>
        <p:nvSpPr>
          <p:cNvPr id="28" name="CaixaDeTexto 27"/>
          <p:cNvSpPr txBox="1">
            <a:spLocks noChangeArrowheads="1"/>
          </p:cNvSpPr>
          <p:nvPr/>
        </p:nvSpPr>
        <p:spPr bwMode="auto">
          <a:xfrm>
            <a:off x="5129228" y="2732963"/>
            <a:ext cx="19335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defRPr>
            </a:lvl9pPr>
          </a:lstStyle>
          <a:p>
            <a:pPr algn="ctr">
              <a:spcBef>
                <a:spcPct val="0"/>
              </a:spcBef>
              <a:buFontTx/>
              <a:buNone/>
            </a:pPr>
            <a:r>
              <a:rPr lang="pt-BR" altLang="pt-BR" b="1" dirty="0">
                <a:solidFill>
                  <a:schemeClr val="accent6"/>
                </a:solidFill>
                <a:latin typeface="Lucida Sans Unicode" panose="020B0602030504020204" pitchFamily="34" charset="0"/>
                <a:cs typeface="Lucida Sans Unicode" panose="020B0602030504020204" pitchFamily="34" charset="0"/>
              </a:rPr>
              <a:t>MANIPULAR</a:t>
            </a:r>
          </a:p>
        </p:txBody>
      </p:sp>
      <p:sp>
        <p:nvSpPr>
          <p:cNvPr id="13" name="Seta para baixo 12"/>
          <p:cNvSpPr/>
          <p:nvPr/>
        </p:nvSpPr>
        <p:spPr>
          <a:xfrm>
            <a:off x="3304047" y="4474384"/>
            <a:ext cx="161007" cy="545623"/>
          </a:xfrm>
          <a:prstGeom prst="downArrow">
            <a:avLst/>
          </a:prstGeom>
        </p:spPr>
        <p:style>
          <a:lnRef idx="0">
            <a:schemeClr val="accent6"/>
          </a:lnRef>
          <a:fillRef idx="3">
            <a:schemeClr val="accent6"/>
          </a:fillRef>
          <a:effectRef idx="3">
            <a:schemeClr val="accent6"/>
          </a:effectRef>
          <a:fontRef idx="minor">
            <a:schemeClr val="lt1"/>
          </a:fontRef>
        </p:style>
        <p:txBody>
          <a:bodyPr anchor="ctr"/>
          <a:lstStyle/>
          <a:p>
            <a:pPr algn="ctr">
              <a:defRPr/>
            </a:pPr>
            <a:endParaRPr lang="pt-BR">
              <a:solidFill>
                <a:srgbClr val="FFFFFF"/>
              </a:solidFill>
            </a:endParaRPr>
          </a:p>
        </p:txBody>
      </p:sp>
      <p:sp>
        <p:nvSpPr>
          <p:cNvPr id="30" name="Seta para baixo 29"/>
          <p:cNvSpPr/>
          <p:nvPr/>
        </p:nvSpPr>
        <p:spPr>
          <a:xfrm>
            <a:off x="8620921" y="4474384"/>
            <a:ext cx="161007" cy="545623"/>
          </a:xfrm>
          <a:prstGeom prst="downArrow">
            <a:avLst/>
          </a:prstGeom>
        </p:spPr>
        <p:style>
          <a:lnRef idx="0">
            <a:schemeClr val="accent6"/>
          </a:lnRef>
          <a:fillRef idx="3">
            <a:schemeClr val="accent6"/>
          </a:fillRef>
          <a:effectRef idx="3">
            <a:schemeClr val="accent6"/>
          </a:effectRef>
          <a:fontRef idx="minor">
            <a:schemeClr val="lt1"/>
          </a:fontRef>
        </p:style>
        <p:txBody>
          <a:bodyPr anchor="ctr"/>
          <a:lstStyle/>
          <a:p>
            <a:pPr algn="ctr">
              <a:defRPr/>
            </a:pPr>
            <a:endParaRPr lang="pt-BR">
              <a:solidFill>
                <a:srgbClr val="FFFFFF"/>
              </a:solidFill>
            </a:endParaRPr>
          </a:p>
        </p:txBody>
      </p:sp>
      <p:sp>
        <p:nvSpPr>
          <p:cNvPr id="14" name="CaixaDeTexto 13"/>
          <p:cNvSpPr txBox="1">
            <a:spLocks noChangeArrowheads="1"/>
          </p:cNvSpPr>
          <p:nvPr/>
        </p:nvSpPr>
        <p:spPr bwMode="auto">
          <a:xfrm>
            <a:off x="2425037" y="5122336"/>
            <a:ext cx="180530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defRPr>
            </a:lvl9pPr>
          </a:lstStyle>
          <a:p>
            <a:pPr algn="ctr">
              <a:spcBef>
                <a:spcPct val="0"/>
              </a:spcBef>
              <a:buFontTx/>
              <a:buNone/>
            </a:pPr>
            <a:r>
              <a:rPr lang="pt-BR" altLang="pt-BR" sz="2000" b="1" dirty="0">
                <a:solidFill>
                  <a:srgbClr val="FF0000"/>
                </a:solidFill>
                <a:latin typeface="Lucida Sans Unicode" panose="020B0602030504020204" pitchFamily="34" charset="0"/>
                <a:cs typeface="Lucida Sans Unicode" panose="020B0602030504020204" pitchFamily="34" charset="0"/>
              </a:rPr>
              <a:t>RESULTADOS</a:t>
            </a:r>
          </a:p>
        </p:txBody>
      </p:sp>
      <p:sp>
        <p:nvSpPr>
          <p:cNvPr id="25" name="CaixaDeTexto 24"/>
          <p:cNvSpPr txBox="1">
            <a:spLocks noChangeArrowheads="1"/>
          </p:cNvSpPr>
          <p:nvPr/>
        </p:nvSpPr>
        <p:spPr bwMode="auto">
          <a:xfrm>
            <a:off x="7807334" y="5122336"/>
            <a:ext cx="180506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defRPr>
            </a:lvl9pPr>
          </a:lstStyle>
          <a:p>
            <a:pPr algn="ctr">
              <a:spcBef>
                <a:spcPct val="0"/>
              </a:spcBef>
              <a:buFontTx/>
              <a:buNone/>
            </a:pPr>
            <a:r>
              <a:rPr lang="pt-BR" altLang="pt-BR" sz="2000" b="1" dirty="0">
                <a:solidFill>
                  <a:srgbClr val="FF0000"/>
                </a:solidFill>
                <a:latin typeface="Lucida Sans Unicode" panose="020B0602030504020204" pitchFamily="34" charset="0"/>
                <a:cs typeface="Lucida Sans Unicode" panose="020B0602030504020204" pitchFamily="34" charset="0"/>
              </a:rPr>
              <a:t>PROCESSOS</a:t>
            </a:r>
          </a:p>
        </p:txBody>
      </p:sp>
      <p:sp>
        <p:nvSpPr>
          <p:cNvPr id="26" name="CaixaDeTexto 25"/>
          <p:cNvSpPr txBox="1">
            <a:spLocks noChangeArrowheads="1"/>
          </p:cNvSpPr>
          <p:nvPr/>
        </p:nvSpPr>
        <p:spPr bwMode="auto">
          <a:xfrm>
            <a:off x="4973460" y="4730164"/>
            <a:ext cx="2020287"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defRPr>
            </a:lvl9pPr>
          </a:lstStyle>
          <a:p>
            <a:pPr algn="ctr">
              <a:spcBef>
                <a:spcPct val="0"/>
              </a:spcBef>
              <a:buFontTx/>
              <a:buNone/>
            </a:pPr>
            <a:r>
              <a:rPr lang="pt-BR" altLang="pt-BR" b="1" dirty="0">
                <a:solidFill>
                  <a:srgbClr val="00B050"/>
                </a:solidFill>
                <a:latin typeface="Lucida Sans Unicode" panose="020B0602030504020204" pitchFamily="34" charset="0"/>
                <a:cs typeface="Lucida Sans Unicode" panose="020B0602030504020204" pitchFamily="34" charset="0"/>
              </a:rPr>
              <a:t>TEMPO</a:t>
            </a:r>
          </a:p>
          <a:p>
            <a:pPr algn="ctr">
              <a:spcBef>
                <a:spcPct val="0"/>
              </a:spcBef>
              <a:buFontTx/>
              <a:buNone/>
            </a:pPr>
            <a:r>
              <a:rPr lang="pt-BR" altLang="pt-BR" b="1" dirty="0">
                <a:solidFill>
                  <a:srgbClr val="00B050"/>
                </a:solidFill>
                <a:latin typeface="Lucida Sans Unicode" panose="020B0602030504020204" pitchFamily="34" charset="0"/>
                <a:cs typeface="Lucida Sans Unicode" panose="020B0602030504020204" pitchFamily="34" charset="0"/>
              </a:rPr>
              <a:t>QUALIDADE</a:t>
            </a:r>
          </a:p>
          <a:p>
            <a:pPr algn="ctr">
              <a:spcBef>
                <a:spcPct val="0"/>
              </a:spcBef>
              <a:buFontTx/>
              <a:buNone/>
            </a:pPr>
            <a:r>
              <a:rPr lang="pt-BR" altLang="pt-BR" b="1" dirty="0">
                <a:solidFill>
                  <a:srgbClr val="00B050"/>
                </a:solidFill>
                <a:latin typeface="Lucida Sans Unicode" panose="020B0602030504020204" pitchFamily="34" charset="0"/>
                <a:cs typeface="Lucida Sans Unicode" panose="020B0602030504020204" pitchFamily="34" charset="0"/>
              </a:rPr>
              <a:t>CUSTOS</a:t>
            </a:r>
          </a:p>
        </p:txBody>
      </p:sp>
      <p:sp>
        <p:nvSpPr>
          <p:cNvPr id="31" name="Seta para a direita 30"/>
          <p:cNvSpPr/>
          <p:nvPr/>
        </p:nvSpPr>
        <p:spPr>
          <a:xfrm>
            <a:off x="4296613" y="4945360"/>
            <a:ext cx="655638" cy="75406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BR">
              <a:solidFill>
                <a:srgbClr val="FFFFFF"/>
              </a:solidFill>
            </a:endParaRPr>
          </a:p>
        </p:txBody>
      </p:sp>
      <p:sp>
        <p:nvSpPr>
          <p:cNvPr id="55296" name="Seta para a esquerda 55295"/>
          <p:cNvSpPr/>
          <p:nvPr/>
        </p:nvSpPr>
        <p:spPr>
          <a:xfrm>
            <a:off x="7126296" y="4961234"/>
            <a:ext cx="681038" cy="738188"/>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BR">
              <a:solidFill>
                <a:srgbClr val="FFFFFF"/>
              </a:solidFill>
            </a:endParaRPr>
          </a:p>
        </p:txBody>
      </p:sp>
      <p:sp>
        <p:nvSpPr>
          <p:cNvPr id="3" name="Seta para a esquerda e para a direita 55306"/>
          <p:cNvSpPr/>
          <p:nvPr/>
        </p:nvSpPr>
        <p:spPr>
          <a:xfrm>
            <a:off x="4496909" y="1897687"/>
            <a:ext cx="2973387" cy="103187"/>
          </a:xfrm>
          <a:prstGeom prst="leftRightArrow">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pt-BR">
              <a:solidFill>
                <a:srgbClr val="FFFFFF"/>
              </a:solidFill>
            </a:endParaRPr>
          </a:p>
        </p:txBody>
      </p:sp>
      <p:sp>
        <p:nvSpPr>
          <p:cNvPr id="114" name="Retângulo 113"/>
          <p:cNvSpPr/>
          <p:nvPr/>
        </p:nvSpPr>
        <p:spPr>
          <a:xfrm>
            <a:off x="4120940" y="506706"/>
            <a:ext cx="3950120" cy="420115"/>
          </a:xfrm>
          <a:prstGeom prst="rect">
            <a:avLst/>
          </a:prstGeom>
        </p:spPr>
        <p:txBody>
          <a:bodyPr wrap="none">
            <a:spAutoFit/>
          </a:bodyPr>
          <a:lstStyle/>
          <a:p>
            <a:pPr algn="ctr">
              <a:lnSpc>
                <a:spcPct val="85000"/>
              </a:lnSpc>
              <a:spcBef>
                <a:spcPct val="0"/>
              </a:spcBef>
            </a:pPr>
            <a:r>
              <a:rPr lang="pt-BR" altLang="pt-BR" sz="2400" b="1" dirty="0">
                <a:solidFill>
                  <a:schemeClr val="accent6"/>
                </a:solidFill>
                <a:latin typeface="Lucida Sans Unicode" panose="020B0602030504020204" pitchFamily="34" charset="0"/>
                <a:cs typeface="Lucida Sans Unicode" panose="020B0602030504020204" pitchFamily="34" charset="0"/>
              </a:rPr>
              <a:t>CONCEITO DE LOGÍSTICA</a:t>
            </a:r>
          </a:p>
        </p:txBody>
      </p:sp>
    </p:spTree>
    <p:extLst>
      <p:ext uri="{BB962C8B-B14F-4D97-AF65-F5344CB8AC3E}">
        <p14:creationId xmlns:p14="http://schemas.microsoft.com/office/powerpoint/2010/main" val="11894461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nodeType="afterGroup">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2000"/>
                                        <p:tgtEl>
                                          <p:spTgt spid="5"/>
                                        </p:tgtEl>
                                      </p:cBhvr>
                                    </p:animEffect>
                                  </p:childTnLst>
                                </p:cTn>
                              </p:par>
                            </p:childTnLst>
                          </p:cTn>
                        </p:par>
                        <p:par>
                          <p:cTn id="12" fill="hold" nodeType="afterGroup">
                            <p:stCondLst>
                              <p:cond delay="2500"/>
                            </p:stCondLst>
                            <p:childTnLst>
                              <p:par>
                                <p:cTn id="13" presetID="10" presetClass="entr" presetSubtype="0"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1500"/>
                                        <p:tgtEl>
                                          <p:spTgt spid="9"/>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1250"/>
                                        <p:tgtEl>
                                          <p:spTgt spid="18"/>
                                        </p:tgtEl>
                                      </p:cBhvr>
                                    </p:animEffect>
                                  </p:childTnLst>
                                </p:cTn>
                              </p:par>
                            </p:childTnLst>
                          </p:cTn>
                        </p:par>
                        <p:par>
                          <p:cTn id="21" fill="hold" nodeType="afterGroup">
                            <p:stCondLst>
                              <p:cond delay="1250"/>
                            </p:stCondLst>
                            <p:childTnLst>
                              <p:par>
                                <p:cTn id="22" presetID="10" presetClass="entr" presetSubtype="0" fill="hold" grpId="0" nodeType="after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fade">
                                      <p:cBhvr>
                                        <p:cTn id="24" dur="1250"/>
                                        <p:tgtEl>
                                          <p:spTgt spid="24"/>
                                        </p:tgtEl>
                                      </p:cBhvr>
                                    </p:animEffect>
                                  </p:childTnLst>
                                </p:cTn>
                              </p:par>
                            </p:childTnLst>
                          </p:cTn>
                        </p:par>
                        <p:par>
                          <p:cTn id="25" fill="hold" nodeType="afterGroup">
                            <p:stCondLst>
                              <p:cond delay="2500"/>
                            </p:stCondLst>
                            <p:childTnLst>
                              <p:par>
                                <p:cTn id="26" presetID="10" presetClass="entr" presetSubtype="0" fill="hold" grpId="0" nodeType="after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fade">
                                      <p:cBhvr>
                                        <p:cTn id="28" dur="1500"/>
                                        <p:tgtEl>
                                          <p:spTgt spid="23"/>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2"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anim calcmode="lin" valueType="num">
                                      <p:cBhvr additive="base">
                                        <p:cTn id="33" dur="1000" fill="hold"/>
                                        <p:tgtEl>
                                          <p:spTgt spid="12"/>
                                        </p:tgtEl>
                                        <p:attrNameLst>
                                          <p:attrName>ppt_x</p:attrName>
                                        </p:attrNameLst>
                                      </p:cBhvr>
                                      <p:tavLst>
                                        <p:tav tm="0">
                                          <p:val>
                                            <p:strVal val="1+#ppt_w/2"/>
                                          </p:val>
                                        </p:tav>
                                        <p:tav tm="100000">
                                          <p:val>
                                            <p:strVal val="#ppt_x"/>
                                          </p:val>
                                        </p:tav>
                                      </p:tavLst>
                                    </p:anim>
                                    <p:anim calcmode="lin" valueType="num">
                                      <p:cBhvr additive="base">
                                        <p:cTn id="34" dur="10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3"/>
                                        </p:tgtEl>
                                        <p:attrNameLst>
                                          <p:attrName>style.visibility</p:attrName>
                                        </p:attrNameLst>
                                      </p:cBhvr>
                                      <p:to>
                                        <p:strVal val="visible"/>
                                      </p:to>
                                    </p:set>
                                    <p:animEffect transition="in" filter="fade">
                                      <p:cBhvr>
                                        <p:cTn id="39" dur="500"/>
                                        <p:tgtEl>
                                          <p:spTgt spid="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fade">
                                      <p:cBhvr>
                                        <p:cTn id="42" dur="1250"/>
                                        <p:tgtEl>
                                          <p:spTgt spid="2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0" presetClass="entr" presetSubtype="0" fill="hold" nodeType="click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1000"/>
                                        <p:tgtEl>
                                          <p:spTgt spid="21"/>
                                        </p:tgtEl>
                                      </p:cBhvr>
                                    </p:animEffect>
                                  </p:childTnLst>
                                </p:cTn>
                              </p:par>
                            </p:childTnLst>
                          </p:cTn>
                        </p:par>
                        <p:par>
                          <p:cTn id="48" fill="hold" nodeType="afterGroup">
                            <p:stCondLst>
                              <p:cond delay="1000"/>
                            </p:stCondLst>
                            <p:childTnLst>
                              <p:par>
                                <p:cTn id="49" presetID="10" presetClass="entr" presetSubtype="0" fill="hold" nodeType="after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1000"/>
                                        <p:tgtEl>
                                          <p:spTgt spid="13"/>
                                        </p:tgtEl>
                                      </p:cBhvr>
                                    </p:animEffect>
                                  </p:childTnLst>
                                </p:cTn>
                              </p:par>
                            </p:childTnLst>
                          </p:cTn>
                        </p:par>
                        <p:par>
                          <p:cTn id="52" fill="hold" nodeType="afterGroup">
                            <p:stCondLst>
                              <p:cond delay="2000"/>
                            </p:stCondLst>
                            <p:childTnLst>
                              <p:par>
                                <p:cTn id="53" presetID="10" presetClass="entr" presetSubtype="0" fill="hold" grpId="0" nodeType="afterEffect">
                                  <p:stCondLst>
                                    <p:cond delay="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1250"/>
                                        <p:tgtEl>
                                          <p:spTgt spid="14"/>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10" presetClass="entr" presetSubtype="0" fill="hold" nodeType="click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500"/>
                                        <p:tgtEl>
                                          <p:spTgt spid="22"/>
                                        </p:tgtEl>
                                      </p:cBhvr>
                                    </p:animEffect>
                                  </p:childTnLst>
                                </p:cTn>
                              </p:par>
                            </p:childTnLst>
                          </p:cTn>
                        </p:par>
                        <p:par>
                          <p:cTn id="61" fill="hold" nodeType="afterGroup">
                            <p:stCondLst>
                              <p:cond delay="500"/>
                            </p:stCondLst>
                            <p:childTnLst>
                              <p:par>
                                <p:cTn id="62" presetID="10" presetClass="entr" presetSubtype="0" fill="hold" nodeType="afterEffect">
                                  <p:stCondLst>
                                    <p:cond delay="0"/>
                                  </p:stCondLst>
                                  <p:childTnLst>
                                    <p:set>
                                      <p:cBhvr>
                                        <p:cTn id="63" dur="1" fill="hold">
                                          <p:stCondLst>
                                            <p:cond delay="0"/>
                                          </p:stCondLst>
                                        </p:cTn>
                                        <p:tgtEl>
                                          <p:spTgt spid="30"/>
                                        </p:tgtEl>
                                        <p:attrNameLst>
                                          <p:attrName>style.visibility</p:attrName>
                                        </p:attrNameLst>
                                      </p:cBhvr>
                                      <p:to>
                                        <p:strVal val="visible"/>
                                      </p:to>
                                    </p:set>
                                    <p:animEffect transition="in" filter="fade">
                                      <p:cBhvr>
                                        <p:cTn id="64" dur="1250"/>
                                        <p:tgtEl>
                                          <p:spTgt spid="30"/>
                                        </p:tgtEl>
                                      </p:cBhvr>
                                    </p:animEffect>
                                  </p:childTnLst>
                                </p:cTn>
                              </p:par>
                            </p:childTnLst>
                          </p:cTn>
                        </p:par>
                        <p:par>
                          <p:cTn id="65" fill="hold" nodeType="afterGroup">
                            <p:stCondLst>
                              <p:cond delay="1750"/>
                            </p:stCondLst>
                            <p:childTnLst>
                              <p:par>
                                <p:cTn id="66" presetID="10" presetClass="entr" presetSubtype="0" fill="hold" grpId="0" nodeType="afterEffect">
                                  <p:stCondLst>
                                    <p:cond delay="0"/>
                                  </p:stCondLst>
                                  <p:childTnLst>
                                    <p:set>
                                      <p:cBhvr>
                                        <p:cTn id="67" dur="1" fill="hold">
                                          <p:stCondLst>
                                            <p:cond delay="0"/>
                                          </p:stCondLst>
                                        </p:cTn>
                                        <p:tgtEl>
                                          <p:spTgt spid="25"/>
                                        </p:tgtEl>
                                        <p:attrNameLst>
                                          <p:attrName>style.visibility</p:attrName>
                                        </p:attrNameLst>
                                      </p:cBhvr>
                                      <p:to>
                                        <p:strVal val="visible"/>
                                      </p:to>
                                    </p:set>
                                    <p:animEffect transition="in" filter="fade">
                                      <p:cBhvr>
                                        <p:cTn id="68" dur="1250"/>
                                        <p:tgtEl>
                                          <p:spTgt spid="25"/>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26"/>
                                        </p:tgtEl>
                                        <p:attrNameLst>
                                          <p:attrName>style.visibility</p:attrName>
                                        </p:attrNameLst>
                                      </p:cBhvr>
                                      <p:to>
                                        <p:strVal val="visible"/>
                                      </p:to>
                                    </p:set>
                                    <p:anim calcmode="lin" valueType="num">
                                      <p:cBhvr additive="base">
                                        <p:cTn id="73" dur="1250" fill="hold"/>
                                        <p:tgtEl>
                                          <p:spTgt spid="26"/>
                                        </p:tgtEl>
                                        <p:attrNameLst>
                                          <p:attrName>ppt_x</p:attrName>
                                        </p:attrNameLst>
                                      </p:cBhvr>
                                      <p:tavLst>
                                        <p:tav tm="0">
                                          <p:val>
                                            <p:strVal val="#ppt_x"/>
                                          </p:val>
                                        </p:tav>
                                        <p:tav tm="100000">
                                          <p:val>
                                            <p:strVal val="#ppt_x"/>
                                          </p:val>
                                        </p:tav>
                                      </p:tavLst>
                                    </p:anim>
                                    <p:anim calcmode="lin" valueType="num">
                                      <p:cBhvr additive="base">
                                        <p:cTn id="74" dur="1250" fill="hold"/>
                                        <p:tgtEl>
                                          <p:spTgt spid="26"/>
                                        </p:tgtEl>
                                        <p:attrNameLst>
                                          <p:attrName>ppt_y</p:attrName>
                                        </p:attrNameLst>
                                      </p:cBhvr>
                                      <p:tavLst>
                                        <p:tav tm="0">
                                          <p:val>
                                            <p:strVal val="1+#ppt_h/2"/>
                                          </p:val>
                                        </p:tav>
                                        <p:tav tm="100000">
                                          <p:val>
                                            <p:strVal val="#ppt_y"/>
                                          </p:val>
                                        </p:tav>
                                      </p:tavLst>
                                    </p:anim>
                                  </p:childTnLst>
                                </p:cTn>
                              </p:par>
                            </p:childTnLst>
                          </p:cTn>
                        </p:par>
                        <p:par>
                          <p:cTn id="75" fill="hold" nodeType="afterGroup">
                            <p:stCondLst>
                              <p:cond delay="1250"/>
                            </p:stCondLst>
                            <p:childTnLst>
                              <p:par>
                                <p:cTn id="76" presetID="10" presetClass="entr" presetSubtype="0" fill="hold" grpId="0" nodeType="afterEffect">
                                  <p:stCondLst>
                                    <p:cond delay="0"/>
                                  </p:stCondLst>
                                  <p:childTnLst>
                                    <p:set>
                                      <p:cBhvr>
                                        <p:cTn id="77" dur="1" fill="hold">
                                          <p:stCondLst>
                                            <p:cond delay="0"/>
                                          </p:stCondLst>
                                        </p:cTn>
                                        <p:tgtEl>
                                          <p:spTgt spid="31"/>
                                        </p:tgtEl>
                                        <p:attrNameLst>
                                          <p:attrName>style.visibility</p:attrName>
                                        </p:attrNameLst>
                                      </p:cBhvr>
                                      <p:to>
                                        <p:strVal val="visible"/>
                                      </p:to>
                                    </p:set>
                                    <p:animEffect transition="in" filter="fade">
                                      <p:cBhvr>
                                        <p:cTn id="78" dur="500"/>
                                        <p:tgtEl>
                                          <p:spTgt spid="31"/>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55296"/>
                                        </p:tgtEl>
                                        <p:attrNameLst>
                                          <p:attrName>style.visibility</p:attrName>
                                        </p:attrNameLst>
                                      </p:cBhvr>
                                      <p:to>
                                        <p:strVal val="visible"/>
                                      </p:to>
                                    </p:set>
                                    <p:animEffect transition="in" filter="fade">
                                      <p:cBhvr>
                                        <p:cTn id="81" dur="1250"/>
                                        <p:tgtEl>
                                          <p:spTgt spid="552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8" grpId="0" animBg="1"/>
      <p:bldP spid="5" grpId="0" animBg="1"/>
      <p:bldP spid="9" grpId="0"/>
      <p:bldP spid="23" grpId="0"/>
      <p:bldP spid="24" grpId="0" animBg="1"/>
      <p:bldP spid="12" grpId="0" animBg="1"/>
      <p:bldP spid="28" grpId="0"/>
      <p:bldP spid="14" grpId="0"/>
      <p:bldP spid="25" grpId="0"/>
      <p:bldP spid="26" grpId="0"/>
      <p:bldP spid="31" grpId="0" animBg="1"/>
      <p:bldP spid="55296" grpId="0" animBg="1"/>
      <p:bldP spid="3" grpId="0" animBg="1"/>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Espaço Reservado para Conteúdo 4"/>
          <p:cNvGraphicFramePr>
            <a:graphicFrameLocks noGrp="1"/>
          </p:cNvGraphicFramePr>
          <p:nvPr>
            <p:ph idx="4294967295"/>
            <p:extLst>
              <p:ext uri="{D42A27DB-BD31-4B8C-83A1-F6EECF244321}">
                <p14:modId xmlns:p14="http://schemas.microsoft.com/office/powerpoint/2010/main" val="3910843887"/>
              </p:ext>
            </p:extLst>
          </p:nvPr>
        </p:nvGraphicFramePr>
        <p:xfrm>
          <a:off x="0" y="1116013"/>
          <a:ext cx="9042400" cy="52419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Retângulo 2"/>
          <p:cNvSpPr/>
          <p:nvPr/>
        </p:nvSpPr>
        <p:spPr>
          <a:xfrm>
            <a:off x="4120942" y="506706"/>
            <a:ext cx="3950120" cy="406265"/>
          </a:xfrm>
          <a:prstGeom prst="rect">
            <a:avLst/>
          </a:prstGeom>
        </p:spPr>
        <p:txBody>
          <a:bodyPr wrap="none">
            <a:spAutoFit/>
          </a:bodyPr>
          <a:lstStyle/>
          <a:p>
            <a:pPr algn="ctr">
              <a:lnSpc>
                <a:spcPct val="85000"/>
              </a:lnSpc>
              <a:spcBef>
                <a:spcPct val="0"/>
              </a:spcBef>
            </a:pPr>
            <a:r>
              <a:rPr lang="pt-BR" altLang="pt-BR" sz="2400" b="1" dirty="0">
                <a:solidFill>
                  <a:schemeClr val="accent6"/>
                </a:solidFill>
                <a:latin typeface="Lucida Sans Unicode" panose="020B0602030504020204" pitchFamily="34" charset="0"/>
                <a:cs typeface="Lucida Sans Unicode" panose="020B0602030504020204" pitchFamily="34" charset="0"/>
              </a:rPr>
              <a:t>CONCEITO DE LOGÍSTICA</a:t>
            </a:r>
          </a:p>
        </p:txBody>
      </p:sp>
    </p:spTree>
    <p:extLst>
      <p:ext uri="{BB962C8B-B14F-4D97-AF65-F5344CB8AC3E}">
        <p14:creationId xmlns:p14="http://schemas.microsoft.com/office/powerpoint/2010/main" val="215062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8)">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AsOne/>
      </p:bldGraphic>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id="{5B4C0B9D-CE64-49AA-BD52-BF72536453B6}"/>
              </a:ext>
            </a:extLst>
          </p:cNvPr>
          <p:cNvSpPr/>
          <p:nvPr/>
        </p:nvSpPr>
        <p:spPr>
          <a:xfrm>
            <a:off x="385011" y="288758"/>
            <a:ext cx="11670631" cy="4832092"/>
          </a:xfrm>
          <a:prstGeom prst="rect">
            <a:avLst/>
          </a:prstGeom>
        </p:spPr>
        <p:txBody>
          <a:bodyPr wrap="square">
            <a:spAutoFit/>
          </a:bodyPr>
          <a:lstStyle/>
          <a:p>
            <a:r>
              <a:rPr lang="pt-BR" sz="4400" dirty="0">
                <a:solidFill>
                  <a:srgbClr val="222222"/>
                </a:solidFill>
                <a:latin typeface="arial" panose="020B0604020202020204" pitchFamily="34" charset="0"/>
              </a:rPr>
              <a:t>A </a:t>
            </a:r>
            <a:r>
              <a:rPr lang="pt-BR" sz="4400" b="1" dirty="0">
                <a:solidFill>
                  <a:srgbClr val="222222"/>
                </a:solidFill>
                <a:latin typeface="arial" panose="020B0604020202020204" pitchFamily="34" charset="0"/>
              </a:rPr>
              <a:t>logística</a:t>
            </a:r>
            <a:r>
              <a:rPr lang="pt-BR" sz="4400" dirty="0">
                <a:solidFill>
                  <a:srgbClr val="222222"/>
                </a:solidFill>
                <a:latin typeface="arial" panose="020B0604020202020204" pitchFamily="34" charset="0"/>
              </a:rPr>
              <a:t> é de extrema importância para que sua empresa tenha êxito na redução de custos e crescimento com eficiência das operações. ... O </a:t>
            </a:r>
            <a:r>
              <a:rPr lang="pt-BR" sz="4400" b="1" dirty="0">
                <a:solidFill>
                  <a:srgbClr val="222222"/>
                </a:solidFill>
                <a:latin typeface="arial" panose="020B0604020202020204" pitchFamily="34" charset="0"/>
              </a:rPr>
              <a:t>planejamento logístico</a:t>
            </a:r>
            <a:r>
              <a:rPr lang="pt-BR" sz="4400" dirty="0">
                <a:solidFill>
                  <a:srgbClr val="222222"/>
                </a:solidFill>
                <a:latin typeface="arial" panose="020B0604020202020204" pitchFamily="34" charset="0"/>
              </a:rPr>
              <a:t> é uma ação que envolve a identificação e compreensão de todas as variáveis que interferem no funcionamento das operações.</a:t>
            </a:r>
            <a:endParaRPr lang="pt-BR" sz="4400" dirty="0"/>
          </a:p>
        </p:txBody>
      </p:sp>
    </p:spTree>
    <p:extLst>
      <p:ext uri="{BB962C8B-B14F-4D97-AF65-F5344CB8AC3E}">
        <p14:creationId xmlns:p14="http://schemas.microsoft.com/office/powerpoint/2010/main" val="22643939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id="{7B064781-5090-49D7-8B3D-204454D9C3FE}"/>
              </a:ext>
            </a:extLst>
          </p:cNvPr>
          <p:cNvSpPr/>
          <p:nvPr/>
        </p:nvSpPr>
        <p:spPr>
          <a:xfrm>
            <a:off x="168441" y="204537"/>
            <a:ext cx="11815011" cy="4154984"/>
          </a:xfrm>
          <a:prstGeom prst="rect">
            <a:avLst/>
          </a:prstGeom>
        </p:spPr>
        <p:txBody>
          <a:bodyPr wrap="square">
            <a:spAutoFit/>
          </a:bodyPr>
          <a:lstStyle/>
          <a:p>
            <a:pPr algn="ctr"/>
            <a:r>
              <a:rPr lang="pt-BR" sz="4400" dirty="0">
                <a:solidFill>
                  <a:srgbClr val="222222"/>
                </a:solidFill>
                <a:latin typeface="arial" panose="020B0604020202020204" pitchFamily="34" charset="0"/>
              </a:rPr>
              <a:t>Uma boa estrutura </a:t>
            </a:r>
            <a:r>
              <a:rPr lang="pt-BR" sz="4400" b="1" dirty="0">
                <a:solidFill>
                  <a:srgbClr val="222222"/>
                </a:solidFill>
                <a:latin typeface="arial" panose="020B0604020202020204" pitchFamily="34" charset="0"/>
              </a:rPr>
              <a:t>logística</a:t>
            </a:r>
            <a:r>
              <a:rPr lang="pt-BR" sz="4400" dirty="0">
                <a:solidFill>
                  <a:srgbClr val="222222"/>
                </a:solidFill>
                <a:latin typeface="arial" panose="020B0604020202020204" pitchFamily="34" charset="0"/>
              </a:rPr>
              <a:t> de uma empresa garante um fluxo bem organizado em que os produtos ou serviços acabados são entregues para os clientes finais. Essa movimentação não envolve somente o produtor, mas também fornecedores e a gestão de estoque</a:t>
            </a:r>
            <a:endParaRPr lang="pt-BR" sz="4400" dirty="0"/>
          </a:p>
        </p:txBody>
      </p:sp>
    </p:spTree>
    <p:extLst>
      <p:ext uri="{BB962C8B-B14F-4D97-AF65-F5344CB8AC3E}">
        <p14:creationId xmlns:p14="http://schemas.microsoft.com/office/powerpoint/2010/main" val="10944689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Elipse 3"/>
          <p:cNvSpPr/>
          <p:nvPr/>
        </p:nvSpPr>
        <p:spPr>
          <a:xfrm>
            <a:off x="3071814" y="1716088"/>
            <a:ext cx="5545137" cy="4640262"/>
          </a:xfrm>
          <a:prstGeom prst="ellipse">
            <a:avLst/>
          </a:prstGeom>
        </p:spPr>
        <p:style>
          <a:lnRef idx="1">
            <a:schemeClr val="accent2"/>
          </a:lnRef>
          <a:fillRef idx="3">
            <a:schemeClr val="accent2"/>
          </a:fillRef>
          <a:effectRef idx="2">
            <a:schemeClr val="accent2"/>
          </a:effectRef>
          <a:fontRef idx="minor">
            <a:schemeClr val="lt1"/>
          </a:fontRef>
        </p:style>
        <p:txBody>
          <a:bodyPr anchor="ctr"/>
          <a:lstStyle/>
          <a:p>
            <a:pPr algn="ctr">
              <a:defRPr/>
            </a:pPr>
            <a:endParaRPr lang="pt-BR"/>
          </a:p>
        </p:txBody>
      </p:sp>
      <p:sp>
        <p:nvSpPr>
          <p:cNvPr id="34823" name="Título 5"/>
          <p:cNvSpPr>
            <a:spLocks noGrp="1"/>
          </p:cNvSpPr>
          <p:nvPr>
            <p:ph type="title" idx="4294967295"/>
          </p:nvPr>
        </p:nvSpPr>
        <p:spPr>
          <a:xfrm>
            <a:off x="0" y="1443038"/>
            <a:ext cx="2560638" cy="601662"/>
          </a:xfrm>
        </p:spPr>
        <p:txBody>
          <a:bodyPr>
            <a:normAutofit/>
          </a:bodyPr>
          <a:lstStyle/>
          <a:p>
            <a:r>
              <a:rPr lang="pt-BR" altLang="pt-BR" sz="2400" b="1" dirty="0">
                <a:solidFill>
                  <a:schemeClr val="accent6"/>
                </a:solidFill>
                <a:latin typeface="Lucida Sans Unicode" panose="020B0602030504020204" pitchFamily="34" charset="0"/>
                <a:cs typeface="Lucida Sans Unicode" panose="020B0602030504020204" pitchFamily="34" charset="0"/>
              </a:rPr>
              <a:t>No passado....</a:t>
            </a:r>
          </a:p>
        </p:txBody>
      </p:sp>
      <p:sp>
        <p:nvSpPr>
          <p:cNvPr id="5" name="Retângulo 4"/>
          <p:cNvSpPr/>
          <p:nvPr/>
        </p:nvSpPr>
        <p:spPr>
          <a:xfrm>
            <a:off x="3503712" y="3501008"/>
            <a:ext cx="1944216" cy="936104"/>
          </a:xfrm>
          <a:prstGeom prst="rect">
            <a:avLst/>
          </a:prstGeom>
          <a:solidFill>
            <a:srgbClr val="FF0000"/>
          </a:solidFill>
        </p:spPr>
        <p:style>
          <a:lnRef idx="0">
            <a:schemeClr val="accent1"/>
          </a:lnRef>
          <a:fillRef idx="3">
            <a:schemeClr val="accent1"/>
          </a:fillRef>
          <a:effectRef idx="3">
            <a:schemeClr val="accent1"/>
          </a:effectRef>
          <a:fontRef idx="minor">
            <a:schemeClr val="lt1"/>
          </a:fontRef>
        </p:style>
        <p:txBody>
          <a:bodyPr anchor="ctr"/>
          <a:lstStyle/>
          <a:p>
            <a:pPr algn="ctr">
              <a:defRPr/>
            </a:pPr>
            <a:r>
              <a:rPr lang="pt-BR" sz="2400" dirty="0">
                <a:latin typeface="Lucida Sans Unicode" panose="020B0602030504020204" pitchFamily="34" charset="0"/>
                <a:cs typeface="Lucida Sans Unicode" panose="020B0602030504020204" pitchFamily="34" charset="0"/>
              </a:rPr>
              <a:t>PRODUÇÃO</a:t>
            </a:r>
          </a:p>
        </p:txBody>
      </p:sp>
      <p:sp>
        <p:nvSpPr>
          <p:cNvPr id="14" name="Retângulo 13"/>
          <p:cNvSpPr/>
          <p:nvPr/>
        </p:nvSpPr>
        <p:spPr>
          <a:xfrm>
            <a:off x="6405006" y="3501008"/>
            <a:ext cx="1944216" cy="936104"/>
          </a:xfrm>
          <a:prstGeom prst="rect">
            <a:avLst/>
          </a:prstGeom>
          <a:solidFill>
            <a:srgbClr val="FF0000"/>
          </a:solidFill>
        </p:spPr>
        <p:style>
          <a:lnRef idx="0">
            <a:schemeClr val="accent1"/>
          </a:lnRef>
          <a:fillRef idx="3">
            <a:schemeClr val="accent1"/>
          </a:fillRef>
          <a:effectRef idx="3">
            <a:schemeClr val="accent1"/>
          </a:effectRef>
          <a:fontRef idx="minor">
            <a:schemeClr val="lt1"/>
          </a:fontRef>
        </p:style>
        <p:txBody>
          <a:bodyPr anchor="ctr"/>
          <a:lstStyle/>
          <a:p>
            <a:pPr algn="ctr">
              <a:defRPr/>
            </a:pPr>
            <a:r>
              <a:rPr lang="pt-BR" sz="2400" dirty="0">
                <a:latin typeface="Lucida Sans Unicode" panose="020B0602030504020204" pitchFamily="34" charset="0"/>
                <a:cs typeface="Lucida Sans Unicode" panose="020B0602030504020204" pitchFamily="34" charset="0"/>
              </a:rPr>
              <a:t>CONSUMO</a:t>
            </a:r>
          </a:p>
        </p:txBody>
      </p:sp>
      <p:sp>
        <p:nvSpPr>
          <p:cNvPr id="49" name="Retângulo 48"/>
          <p:cNvSpPr/>
          <p:nvPr/>
        </p:nvSpPr>
        <p:spPr>
          <a:xfrm>
            <a:off x="4120942" y="506706"/>
            <a:ext cx="3950120" cy="406265"/>
          </a:xfrm>
          <a:prstGeom prst="rect">
            <a:avLst/>
          </a:prstGeom>
        </p:spPr>
        <p:txBody>
          <a:bodyPr wrap="none">
            <a:spAutoFit/>
          </a:bodyPr>
          <a:lstStyle/>
          <a:p>
            <a:pPr algn="ctr">
              <a:lnSpc>
                <a:spcPct val="85000"/>
              </a:lnSpc>
              <a:spcBef>
                <a:spcPct val="0"/>
              </a:spcBef>
            </a:pPr>
            <a:r>
              <a:rPr lang="pt-BR" altLang="pt-BR" sz="2400" b="1" dirty="0">
                <a:solidFill>
                  <a:schemeClr val="accent6"/>
                </a:solidFill>
                <a:latin typeface="Lucida Sans Unicode" panose="020B0602030504020204" pitchFamily="34" charset="0"/>
                <a:cs typeface="Lucida Sans Unicode" panose="020B0602030504020204" pitchFamily="34" charset="0"/>
              </a:rPr>
              <a:t>CONCEITO DE LOGÍSTICA</a:t>
            </a:r>
          </a:p>
        </p:txBody>
      </p:sp>
    </p:spTree>
    <p:extLst>
      <p:ext uri="{BB962C8B-B14F-4D97-AF65-F5344CB8AC3E}">
        <p14:creationId xmlns:p14="http://schemas.microsoft.com/office/powerpoint/2010/main" val="3927411936"/>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4823"/>
                                        </p:tgtEl>
                                        <p:attrNameLst>
                                          <p:attrName>style.visibility</p:attrName>
                                        </p:attrNameLst>
                                      </p:cBhvr>
                                      <p:to>
                                        <p:strVal val="visible"/>
                                      </p:to>
                                    </p:set>
                                    <p:anim calcmode="lin" valueType="num">
                                      <p:cBhvr additive="base">
                                        <p:cTn id="7" dur="500" fill="hold"/>
                                        <p:tgtEl>
                                          <p:spTgt spid="34823"/>
                                        </p:tgtEl>
                                        <p:attrNameLst>
                                          <p:attrName>ppt_x</p:attrName>
                                        </p:attrNameLst>
                                      </p:cBhvr>
                                      <p:tavLst>
                                        <p:tav tm="0">
                                          <p:val>
                                            <p:strVal val="0-#ppt_w/2"/>
                                          </p:val>
                                        </p:tav>
                                        <p:tav tm="100000">
                                          <p:val>
                                            <p:strVal val="#ppt_x"/>
                                          </p:val>
                                        </p:tav>
                                      </p:tavLst>
                                    </p:anim>
                                    <p:anim calcmode="lin" valueType="num">
                                      <p:cBhvr additive="base">
                                        <p:cTn id="8" dur="500" fill="hold"/>
                                        <p:tgtEl>
                                          <p:spTgt spid="3482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6"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1+#ppt_w/2"/>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9"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0-#ppt_w/2"/>
                                          </p:val>
                                        </p:tav>
                                        <p:tav tm="100000">
                                          <p:val>
                                            <p:strVal val="#ppt_x"/>
                                          </p:val>
                                        </p:tav>
                                      </p:tavLst>
                                    </p:anim>
                                    <p:anim calcmode="lin" valueType="num">
                                      <p:cBhvr additive="base">
                                        <p:cTn id="20" dur="500" fill="hold"/>
                                        <p:tgtEl>
                                          <p:spTgt spid="5"/>
                                        </p:tgtEl>
                                        <p:attrNameLst>
                                          <p:attrName>ppt_y</p:attrName>
                                        </p:attrNameLst>
                                      </p:cBhvr>
                                      <p:tavLst>
                                        <p:tav tm="0">
                                          <p:val>
                                            <p:strVal val="0-#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1"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 calcmode="lin" valueType="num">
                                      <p:cBhvr additive="base">
                                        <p:cTn id="25" dur="500" fill="hold"/>
                                        <p:tgtEl>
                                          <p:spTgt spid="14"/>
                                        </p:tgtEl>
                                        <p:attrNameLst>
                                          <p:attrName>ppt_x</p:attrName>
                                        </p:attrNameLst>
                                      </p:cBhvr>
                                      <p:tavLst>
                                        <p:tav tm="0">
                                          <p:val>
                                            <p:strVal val="#ppt_x"/>
                                          </p:val>
                                        </p:tav>
                                        <p:tav tm="100000">
                                          <p:val>
                                            <p:strVal val="#ppt_x"/>
                                          </p:val>
                                        </p:tav>
                                      </p:tavLst>
                                    </p:anim>
                                    <p:anim calcmode="lin" valueType="num">
                                      <p:cBhvr additive="base">
                                        <p:cTn id="26" dur="500" fill="hold"/>
                                        <p:tgtEl>
                                          <p:spTgt spid="1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4823" grpId="0"/>
      <p:bldP spid="5" grpId="0" animBg="1"/>
      <p:bldP spid="14" grpId="0" animBg="1"/>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846" name="Título 5"/>
          <p:cNvSpPr>
            <a:spLocks noGrp="1"/>
          </p:cNvSpPr>
          <p:nvPr>
            <p:ph type="title" idx="4294967295"/>
          </p:nvPr>
        </p:nvSpPr>
        <p:spPr>
          <a:xfrm>
            <a:off x="0" y="927100"/>
            <a:ext cx="2374900" cy="1143000"/>
          </a:xfrm>
        </p:spPr>
        <p:txBody>
          <a:bodyPr>
            <a:normAutofit/>
          </a:bodyPr>
          <a:lstStyle/>
          <a:p>
            <a:r>
              <a:rPr lang="pt-BR" altLang="pt-BR" sz="2400" b="1" dirty="0">
                <a:solidFill>
                  <a:schemeClr val="accent6"/>
                </a:solidFill>
                <a:latin typeface="Lucida Sans Unicode" panose="020B0602030504020204" pitchFamily="34" charset="0"/>
                <a:cs typeface="Lucida Sans Unicode" panose="020B0602030504020204" pitchFamily="34" charset="0"/>
              </a:rPr>
              <a:t>Hoje....</a:t>
            </a:r>
          </a:p>
        </p:txBody>
      </p:sp>
      <p:sp>
        <p:nvSpPr>
          <p:cNvPr id="35848" name="Espaço Reservado para Número de Slide 2"/>
          <p:cNvSpPr>
            <a:spLocks noGrp="1"/>
          </p:cNvSpPr>
          <p:nvPr>
            <p:ph type="sldNum" sz="quarter" idx="4294967295"/>
          </p:nvPr>
        </p:nvSpPr>
        <p:spPr>
          <a:xfrm>
            <a:off x="9448800" y="63563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defRPr>
            </a:lvl9pPr>
          </a:lstStyle>
          <a:p>
            <a:pPr>
              <a:spcBef>
                <a:spcPct val="0"/>
              </a:spcBef>
              <a:buFontTx/>
              <a:buNone/>
            </a:pPr>
            <a:fld id="{C45654EC-8DA2-44AA-9826-B465A033A280}" type="slidenum">
              <a:rPr lang="pt-BR" altLang="pt-BR" sz="1200">
                <a:solidFill>
                  <a:srgbClr val="898989"/>
                </a:solidFill>
                <a:latin typeface="Calibri" panose="020F0502020204030204" pitchFamily="34" charset="0"/>
                <a:ea typeface="MS PGothic" panose="020B0600070205080204" pitchFamily="34" charset="-128"/>
              </a:rPr>
              <a:pPr>
                <a:spcBef>
                  <a:spcPct val="0"/>
                </a:spcBef>
                <a:buFontTx/>
                <a:buNone/>
              </a:pPr>
              <a:t>13</a:t>
            </a:fld>
            <a:endParaRPr lang="pt-BR" altLang="pt-BR" sz="1200">
              <a:solidFill>
                <a:srgbClr val="898989"/>
              </a:solidFill>
              <a:latin typeface="Calibri" panose="020F0502020204030204" pitchFamily="34" charset="0"/>
              <a:ea typeface="MS PGothic" panose="020B0600070205080204" pitchFamily="34" charset="-128"/>
            </a:endParaRPr>
          </a:p>
        </p:txBody>
      </p:sp>
      <p:sp>
        <p:nvSpPr>
          <p:cNvPr id="5" name="Retângulo 4"/>
          <p:cNvSpPr/>
          <p:nvPr/>
        </p:nvSpPr>
        <p:spPr>
          <a:xfrm>
            <a:off x="2003661" y="2406217"/>
            <a:ext cx="1944216" cy="936104"/>
          </a:xfrm>
          <a:prstGeom prst="rect">
            <a:avLst/>
          </a:prstGeom>
        </p:spPr>
        <p:style>
          <a:lnRef idx="0">
            <a:schemeClr val="accent2"/>
          </a:lnRef>
          <a:fillRef idx="3">
            <a:schemeClr val="accent2"/>
          </a:fillRef>
          <a:effectRef idx="3">
            <a:schemeClr val="accent2"/>
          </a:effectRef>
          <a:fontRef idx="minor">
            <a:schemeClr val="lt1"/>
          </a:fontRef>
        </p:style>
        <p:txBody>
          <a:bodyPr anchor="ctr"/>
          <a:lstStyle/>
          <a:p>
            <a:pPr algn="ctr">
              <a:defRPr/>
            </a:pPr>
            <a:r>
              <a:rPr lang="pt-BR" sz="2400" dirty="0">
                <a:latin typeface="Lucida Sans Unicode" panose="020B0602030504020204" pitchFamily="34" charset="0"/>
                <a:cs typeface="Lucida Sans Unicode" panose="020B0602030504020204" pitchFamily="34" charset="0"/>
              </a:rPr>
              <a:t>PRODUÇÃO</a:t>
            </a:r>
          </a:p>
        </p:txBody>
      </p:sp>
      <p:sp>
        <p:nvSpPr>
          <p:cNvPr id="14" name="Retângulo 13"/>
          <p:cNvSpPr/>
          <p:nvPr/>
        </p:nvSpPr>
        <p:spPr>
          <a:xfrm>
            <a:off x="8403668" y="5446440"/>
            <a:ext cx="1944216" cy="936104"/>
          </a:xfrm>
          <a:prstGeom prst="rect">
            <a:avLst/>
          </a:prstGeom>
          <a:solidFill>
            <a:srgbClr val="FF0000"/>
          </a:solidFill>
        </p:spPr>
        <p:style>
          <a:lnRef idx="0">
            <a:schemeClr val="accent2"/>
          </a:lnRef>
          <a:fillRef idx="3">
            <a:schemeClr val="accent2"/>
          </a:fillRef>
          <a:effectRef idx="3">
            <a:schemeClr val="accent2"/>
          </a:effectRef>
          <a:fontRef idx="minor">
            <a:schemeClr val="lt1"/>
          </a:fontRef>
        </p:style>
        <p:txBody>
          <a:bodyPr anchor="ctr"/>
          <a:lstStyle/>
          <a:p>
            <a:pPr algn="ctr">
              <a:defRPr/>
            </a:pPr>
            <a:r>
              <a:rPr lang="pt-BR" sz="2400" dirty="0">
                <a:latin typeface="Lucida Sans Unicode" panose="020B0602030504020204" pitchFamily="34" charset="0"/>
                <a:cs typeface="Lucida Sans Unicode" panose="020B0602030504020204" pitchFamily="34" charset="0"/>
              </a:rPr>
              <a:t>CONSUMO</a:t>
            </a:r>
          </a:p>
        </p:txBody>
      </p:sp>
      <p:sp>
        <p:nvSpPr>
          <p:cNvPr id="13" name="Retângulo 12"/>
          <p:cNvSpPr/>
          <p:nvPr/>
        </p:nvSpPr>
        <p:spPr>
          <a:xfrm>
            <a:off x="8403668" y="2369022"/>
            <a:ext cx="1944216" cy="936104"/>
          </a:xfrm>
          <a:prstGeom prst="rect">
            <a:avLst/>
          </a:prstGeom>
        </p:spPr>
        <p:style>
          <a:lnRef idx="0">
            <a:schemeClr val="accent2"/>
          </a:lnRef>
          <a:fillRef idx="3">
            <a:schemeClr val="accent2"/>
          </a:fillRef>
          <a:effectRef idx="3">
            <a:schemeClr val="accent2"/>
          </a:effectRef>
          <a:fontRef idx="minor">
            <a:schemeClr val="lt1"/>
          </a:fontRef>
        </p:style>
        <p:txBody>
          <a:bodyPr anchor="ctr"/>
          <a:lstStyle/>
          <a:p>
            <a:pPr algn="ctr">
              <a:defRPr/>
            </a:pPr>
            <a:r>
              <a:rPr lang="pt-BR" sz="2400" dirty="0">
                <a:latin typeface="Lucida Sans Unicode" panose="020B0602030504020204" pitchFamily="34" charset="0"/>
                <a:cs typeface="Lucida Sans Unicode" panose="020B0602030504020204" pitchFamily="34" charset="0"/>
              </a:rPr>
              <a:t>PRODUÇÃO</a:t>
            </a:r>
          </a:p>
        </p:txBody>
      </p:sp>
      <p:sp>
        <p:nvSpPr>
          <p:cNvPr id="15" name="Retângulo 14"/>
          <p:cNvSpPr/>
          <p:nvPr/>
        </p:nvSpPr>
        <p:spPr>
          <a:xfrm>
            <a:off x="4953000" y="1430859"/>
            <a:ext cx="1944216" cy="936104"/>
          </a:xfrm>
          <a:prstGeom prst="rect">
            <a:avLst/>
          </a:prstGeom>
        </p:spPr>
        <p:style>
          <a:lnRef idx="0">
            <a:schemeClr val="accent2"/>
          </a:lnRef>
          <a:fillRef idx="3">
            <a:schemeClr val="accent2"/>
          </a:fillRef>
          <a:effectRef idx="3">
            <a:schemeClr val="accent2"/>
          </a:effectRef>
          <a:fontRef idx="minor">
            <a:schemeClr val="lt1"/>
          </a:fontRef>
        </p:style>
        <p:txBody>
          <a:bodyPr anchor="ctr"/>
          <a:lstStyle/>
          <a:p>
            <a:pPr algn="ctr">
              <a:defRPr/>
            </a:pPr>
            <a:r>
              <a:rPr lang="pt-BR" sz="2400" dirty="0">
                <a:latin typeface="Lucida Sans Unicode" panose="020B0602030504020204" pitchFamily="34" charset="0"/>
                <a:cs typeface="Lucida Sans Unicode" panose="020B0602030504020204" pitchFamily="34" charset="0"/>
              </a:rPr>
              <a:t>PRODUÇÃO</a:t>
            </a:r>
          </a:p>
        </p:txBody>
      </p:sp>
      <p:sp>
        <p:nvSpPr>
          <p:cNvPr id="16" name="Retângulo 15"/>
          <p:cNvSpPr/>
          <p:nvPr/>
        </p:nvSpPr>
        <p:spPr>
          <a:xfrm>
            <a:off x="5010537" y="4641465"/>
            <a:ext cx="1944216" cy="936104"/>
          </a:xfrm>
          <a:prstGeom prst="rect">
            <a:avLst/>
          </a:prstGeom>
          <a:solidFill>
            <a:srgbClr val="FF0000"/>
          </a:solidFill>
        </p:spPr>
        <p:style>
          <a:lnRef idx="0">
            <a:schemeClr val="accent2"/>
          </a:lnRef>
          <a:fillRef idx="3">
            <a:schemeClr val="accent2"/>
          </a:fillRef>
          <a:effectRef idx="3">
            <a:schemeClr val="accent2"/>
          </a:effectRef>
          <a:fontRef idx="minor">
            <a:schemeClr val="lt1"/>
          </a:fontRef>
        </p:style>
        <p:txBody>
          <a:bodyPr anchor="ctr"/>
          <a:lstStyle/>
          <a:p>
            <a:pPr algn="ctr">
              <a:defRPr/>
            </a:pPr>
            <a:r>
              <a:rPr lang="pt-BR" sz="2400" dirty="0">
                <a:latin typeface="Lucida Sans Unicode" panose="020B0602030504020204" pitchFamily="34" charset="0"/>
                <a:cs typeface="Lucida Sans Unicode" panose="020B0602030504020204" pitchFamily="34" charset="0"/>
              </a:rPr>
              <a:t>CONSUMO</a:t>
            </a:r>
          </a:p>
        </p:txBody>
      </p:sp>
      <p:sp>
        <p:nvSpPr>
          <p:cNvPr id="17" name="Retângulo 16"/>
          <p:cNvSpPr/>
          <p:nvPr/>
        </p:nvSpPr>
        <p:spPr>
          <a:xfrm>
            <a:off x="2001168" y="5177085"/>
            <a:ext cx="1944216" cy="936104"/>
          </a:xfrm>
          <a:prstGeom prst="rect">
            <a:avLst/>
          </a:prstGeom>
          <a:solidFill>
            <a:srgbClr val="FF0000"/>
          </a:solidFill>
        </p:spPr>
        <p:style>
          <a:lnRef idx="0">
            <a:schemeClr val="accent2"/>
          </a:lnRef>
          <a:fillRef idx="3">
            <a:schemeClr val="accent2"/>
          </a:fillRef>
          <a:effectRef idx="3">
            <a:schemeClr val="accent2"/>
          </a:effectRef>
          <a:fontRef idx="minor">
            <a:schemeClr val="lt1"/>
          </a:fontRef>
        </p:style>
        <p:txBody>
          <a:bodyPr anchor="ctr"/>
          <a:lstStyle/>
          <a:p>
            <a:pPr algn="ctr">
              <a:defRPr/>
            </a:pPr>
            <a:r>
              <a:rPr lang="pt-BR" sz="2400" dirty="0">
                <a:latin typeface="Lucida Sans Unicode" panose="020B0602030504020204" pitchFamily="34" charset="0"/>
                <a:cs typeface="Lucida Sans Unicode" panose="020B0602030504020204" pitchFamily="34" charset="0"/>
              </a:rPr>
              <a:t>CONSUMO</a:t>
            </a:r>
          </a:p>
        </p:txBody>
      </p:sp>
      <p:cxnSp>
        <p:nvCxnSpPr>
          <p:cNvPr id="7" name="Conector reto 6"/>
          <p:cNvCxnSpPr>
            <a:endCxn id="16" idx="0"/>
          </p:cNvCxnSpPr>
          <p:nvPr/>
        </p:nvCxnSpPr>
        <p:spPr>
          <a:xfrm>
            <a:off x="3758001" y="3341688"/>
            <a:ext cx="2224644" cy="1299777"/>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Conector reto 18"/>
          <p:cNvCxnSpPr/>
          <p:nvPr/>
        </p:nvCxnSpPr>
        <p:spPr>
          <a:xfrm>
            <a:off x="2901951" y="3332164"/>
            <a:ext cx="333375" cy="18446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Conector reto 10"/>
          <p:cNvCxnSpPr>
            <a:endCxn id="14" idx="0"/>
          </p:cNvCxnSpPr>
          <p:nvPr/>
        </p:nvCxnSpPr>
        <p:spPr>
          <a:xfrm>
            <a:off x="3944938" y="2959100"/>
            <a:ext cx="5430838" cy="248734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Conector reto 17"/>
          <p:cNvCxnSpPr>
            <a:endCxn id="16" idx="0"/>
          </p:cNvCxnSpPr>
          <p:nvPr/>
        </p:nvCxnSpPr>
        <p:spPr>
          <a:xfrm>
            <a:off x="5905657" y="2366963"/>
            <a:ext cx="76988" cy="2274502"/>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Conector reto 20"/>
          <p:cNvCxnSpPr>
            <a:stCxn id="13" idx="2"/>
            <a:endCxn id="14" idx="0"/>
          </p:cNvCxnSpPr>
          <p:nvPr/>
        </p:nvCxnSpPr>
        <p:spPr>
          <a:xfrm>
            <a:off x="9375776" y="3305126"/>
            <a:ext cx="0" cy="2141314"/>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Conector reto 22"/>
          <p:cNvCxnSpPr/>
          <p:nvPr/>
        </p:nvCxnSpPr>
        <p:spPr>
          <a:xfrm flipH="1">
            <a:off x="3235327" y="2374877"/>
            <a:ext cx="2216509" cy="2801961"/>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Conector reto 24"/>
          <p:cNvCxnSpPr>
            <a:endCxn id="14" idx="0"/>
          </p:cNvCxnSpPr>
          <p:nvPr/>
        </p:nvCxnSpPr>
        <p:spPr>
          <a:xfrm>
            <a:off x="6692257" y="2366963"/>
            <a:ext cx="2683519" cy="3079477"/>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Conector reto 26"/>
          <p:cNvCxnSpPr>
            <a:endCxn id="16" idx="0"/>
          </p:cNvCxnSpPr>
          <p:nvPr/>
        </p:nvCxnSpPr>
        <p:spPr>
          <a:xfrm flipH="1">
            <a:off x="5982645" y="2836864"/>
            <a:ext cx="2387044" cy="1804601"/>
          </a:xfrm>
          <a:prstGeom prst="line">
            <a:avLst/>
          </a:prstGeom>
        </p:spPr>
        <p:style>
          <a:lnRef idx="1">
            <a:schemeClr val="accent1"/>
          </a:lnRef>
          <a:fillRef idx="0">
            <a:schemeClr val="accent1"/>
          </a:fillRef>
          <a:effectRef idx="0">
            <a:schemeClr val="accent1"/>
          </a:effectRef>
          <a:fontRef idx="minor">
            <a:schemeClr val="tx1"/>
          </a:fontRef>
        </p:style>
      </p:cxnSp>
      <p:sp>
        <p:nvSpPr>
          <p:cNvPr id="3" name="CaixaDeTexto 2"/>
          <p:cNvSpPr txBox="1">
            <a:spLocks noChangeArrowheads="1"/>
          </p:cNvSpPr>
          <p:nvPr/>
        </p:nvSpPr>
        <p:spPr bwMode="auto">
          <a:xfrm>
            <a:off x="8168482" y="1305868"/>
            <a:ext cx="330026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defRPr>
            </a:lvl9pPr>
          </a:lstStyle>
          <a:p>
            <a:pPr>
              <a:spcBef>
                <a:spcPct val="0"/>
              </a:spcBef>
              <a:buFontTx/>
              <a:buNone/>
            </a:pPr>
            <a:r>
              <a:rPr lang="pt-BR" altLang="pt-BR" sz="2000" b="1" dirty="0">
                <a:solidFill>
                  <a:schemeClr val="accent6"/>
                </a:solidFill>
                <a:latin typeface="Lucida Sans Unicode" panose="020B0602030504020204" pitchFamily="34" charset="0"/>
                <a:cs typeface="Lucida Sans Unicode" panose="020B0602030504020204" pitchFamily="34" charset="0"/>
              </a:rPr>
              <a:t>POR QUE ESSE MODELO É IMPORTANTE?</a:t>
            </a:r>
          </a:p>
        </p:txBody>
      </p:sp>
      <p:sp>
        <p:nvSpPr>
          <p:cNvPr id="75" name="Retângulo 74"/>
          <p:cNvSpPr/>
          <p:nvPr/>
        </p:nvSpPr>
        <p:spPr>
          <a:xfrm>
            <a:off x="4120942" y="506706"/>
            <a:ext cx="3950120" cy="406265"/>
          </a:xfrm>
          <a:prstGeom prst="rect">
            <a:avLst/>
          </a:prstGeom>
        </p:spPr>
        <p:txBody>
          <a:bodyPr wrap="none">
            <a:spAutoFit/>
          </a:bodyPr>
          <a:lstStyle/>
          <a:p>
            <a:pPr algn="ctr">
              <a:lnSpc>
                <a:spcPct val="85000"/>
              </a:lnSpc>
              <a:spcBef>
                <a:spcPct val="0"/>
              </a:spcBef>
            </a:pPr>
            <a:r>
              <a:rPr lang="pt-BR" altLang="pt-BR" sz="2400" b="1" dirty="0">
                <a:solidFill>
                  <a:schemeClr val="accent6"/>
                </a:solidFill>
                <a:latin typeface="Lucida Sans Unicode" panose="020B0602030504020204" pitchFamily="34" charset="0"/>
                <a:cs typeface="Lucida Sans Unicode" panose="020B0602030504020204" pitchFamily="34" charset="0"/>
              </a:rPr>
              <a:t>CONCEITO DE LOGÍSTICA</a:t>
            </a:r>
          </a:p>
        </p:txBody>
      </p:sp>
    </p:spTree>
    <p:extLst>
      <p:ext uri="{BB962C8B-B14F-4D97-AF65-F5344CB8AC3E}">
        <p14:creationId xmlns:p14="http://schemas.microsoft.com/office/powerpoint/2010/main" val="1114038840"/>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5846"/>
                                        </p:tgtEl>
                                        <p:attrNameLst>
                                          <p:attrName>style.visibility</p:attrName>
                                        </p:attrNameLst>
                                      </p:cBhvr>
                                      <p:to>
                                        <p:strVal val="visible"/>
                                      </p:to>
                                    </p:set>
                                    <p:anim calcmode="lin" valueType="num">
                                      <p:cBhvr additive="base">
                                        <p:cTn id="7" dur="500" fill="hold"/>
                                        <p:tgtEl>
                                          <p:spTgt spid="35846"/>
                                        </p:tgtEl>
                                        <p:attrNameLst>
                                          <p:attrName>ppt_x</p:attrName>
                                        </p:attrNameLst>
                                      </p:cBhvr>
                                      <p:tavLst>
                                        <p:tav tm="0">
                                          <p:val>
                                            <p:strVal val="1+#ppt_w/2"/>
                                          </p:val>
                                        </p:tav>
                                        <p:tav tm="100000">
                                          <p:val>
                                            <p:strVal val="#ppt_x"/>
                                          </p:val>
                                        </p:tav>
                                      </p:tavLst>
                                    </p:anim>
                                    <p:anim calcmode="lin" valueType="num">
                                      <p:cBhvr additive="base">
                                        <p:cTn id="8" dur="500" fill="hold"/>
                                        <p:tgtEl>
                                          <p:spTgt spid="3584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7"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ppt_x</p:attrName>
                                        </p:attrNameLst>
                                      </p:cBhvr>
                                      <p:tavLst>
                                        <p:tav tm="0">
                                          <p:val>
                                            <p:strVal val="#ppt_x"/>
                                          </p:val>
                                        </p:tav>
                                        <p:tav tm="100000">
                                          <p:val>
                                            <p:strVal val="#ppt_x"/>
                                          </p:val>
                                        </p:tav>
                                      </p:tavLst>
                                    </p:anim>
                                    <p:anim calcmode="lin" valueType="num">
                                      <p:cBhvr>
                                        <p:cTn id="15" dur="1000" fill="hold"/>
                                        <p:tgtEl>
                                          <p:spTgt spid="5"/>
                                        </p:tgtEl>
                                        <p:attrNameLst>
                                          <p:attrName>ppt_y</p:attrName>
                                        </p:attrNameLst>
                                      </p:cBhvr>
                                      <p:tavLst>
                                        <p:tav tm="0">
                                          <p:val>
                                            <p:strVal val="#ppt_y-.1"/>
                                          </p:val>
                                        </p:tav>
                                        <p:tav tm="100000">
                                          <p:val>
                                            <p:strVal val="#ppt_y"/>
                                          </p:val>
                                        </p:tav>
                                      </p:tavLst>
                                    </p:anim>
                                  </p:childTnLst>
                                </p:cTn>
                              </p:par>
                              <p:par>
                                <p:cTn id="16" presetID="47" presetClass="entr" presetSubtype="0"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1000"/>
                                        <p:tgtEl>
                                          <p:spTgt spid="15"/>
                                        </p:tgtEl>
                                      </p:cBhvr>
                                    </p:animEffect>
                                    <p:anim calcmode="lin" valueType="num">
                                      <p:cBhvr>
                                        <p:cTn id="19" dur="1000" fill="hold"/>
                                        <p:tgtEl>
                                          <p:spTgt spid="15"/>
                                        </p:tgtEl>
                                        <p:attrNameLst>
                                          <p:attrName>ppt_x</p:attrName>
                                        </p:attrNameLst>
                                      </p:cBhvr>
                                      <p:tavLst>
                                        <p:tav tm="0">
                                          <p:val>
                                            <p:strVal val="#ppt_x"/>
                                          </p:val>
                                        </p:tav>
                                        <p:tav tm="100000">
                                          <p:val>
                                            <p:strVal val="#ppt_x"/>
                                          </p:val>
                                        </p:tav>
                                      </p:tavLst>
                                    </p:anim>
                                    <p:anim calcmode="lin" valueType="num">
                                      <p:cBhvr>
                                        <p:cTn id="20" dur="1000" fill="hold"/>
                                        <p:tgtEl>
                                          <p:spTgt spid="15"/>
                                        </p:tgtEl>
                                        <p:attrNameLst>
                                          <p:attrName>ppt_y</p:attrName>
                                        </p:attrNameLst>
                                      </p:cBhvr>
                                      <p:tavLst>
                                        <p:tav tm="0">
                                          <p:val>
                                            <p:strVal val="#ppt_y-.1"/>
                                          </p:val>
                                        </p:tav>
                                        <p:tav tm="100000">
                                          <p:val>
                                            <p:strVal val="#ppt_y"/>
                                          </p:val>
                                        </p:tav>
                                      </p:tavLst>
                                    </p:anim>
                                  </p:childTnLst>
                                </p:cTn>
                              </p:par>
                              <p:par>
                                <p:cTn id="21" presetID="47"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1000"/>
                                        <p:tgtEl>
                                          <p:spTgt spid="13"/>
                                        </p:tgtEl>
                                      </p:cBhvr>
                                    </p:animEffect>
                                    <p:anim calcmode="lin" valueType="num">
                                      <p:cBhvr>
                                        <p:cTn id="24" dur="1000" fill="hold"/>
                                        <p:tgtEl>
                                          <p:spTgt spid="13"/>
                                        </p:tgtEl>
                                        <p:attrNameLst>
                                          <p:attrName>ppt_x</p:attrName>
                                        </p:attrNameLst>
                                      </p:cBhvr>
                                      <p:tavLst>
                                        <p:tav tm="0">
                                          <p:val>
                                            <p:strVal val="#ppt_x"/>
                                          </p:val>
                                        </p:tav>
                                        <p:tav tm="100000">
                                          <p:val>
                                            <p:strVal val="#ppt_x"/>
                                          </p:val>
                                        </p:tav>
                                      </p:tavLst>
                                    </p:anim>
                                    <p:anim calcmode="lin" valueType="num">
                                      <p:cBhvr>
                                        <p:cTn id="25"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1000"/>
                                        <p:tgtEl>
                                          <p:spTgt spid="17"/>
                                        </p:tgtEl>
                                      </p:cBhvr>
                                    </p:animEffect>
                                    <p:anim calcmode="lin" valueType="num">
                                      <p:cBhvr>
                                        <p:cTn id="31" dur="1000" fill="hold"/>
                                        <p:tgtEl>
                                          <p:spTgt spid="17"/>
                                        </p:tgtEl>
                                        <p:attrNameLst>
                                          <p:attrName>ppt_x</p:attrName>
                                        </p:attrNameLst>
                                      </p:cBhvr>
                                      <p:tavLst>
                                        <p:tav tm="0">
                                          <p:val>
                                            <p:strVal val="#ppt_x"/>
                                          </p:val>
                                        </p:tav>
                                        <p:tav tm="100000">
                                          <p:val>
                                            <p:strVal val="#ppt_x"/>
                                          </p:val>
                                        </p:tav>
                                      </p:tavLst>
                                    </p:anim>
                                    <p:anim calcmode="lin" valueType="num">
                                      <p:cBhvr>
                                        <p:cTn id="32" dur="1000" fill="hold"/>
                                        <p:tgtEl>
                                          <p:spTgt spid="17"/>
                                        </p:tgtEl>
                                        <p:attrNameLst>
                                          <p:attrName>ppt_y</p:attrName>
                                        </p:attrNameLst>
                                      </p:cBhvr>
                                      <p:tavLst>
                                        <p:tav tm="0">
                                          <p:val>
                                            <p:strVal val="#ppt_y+.1"/>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1000"/>
                                        <p:tgtEl>
                                          <p:spTgt spid="16"/>
                                        </p:tgtEl>
                                      </p:cBhvr>
                                    </p:animEffect>
                                    <p:anim calcmode="lin" valueType="num">
                                      <p:cBhvr>
                                        <p:cTn id="36" dur="1000" fill="hold"/>
                                        <p:tgtEl>
                                          <p:spTgt spid="16"/>
                                        </p:tgtEl>
                                        <p:attrNameLst>
                                          <p:attrName>ppt_x</p:attrName>
                                        </p:attrNameLst>
                                      </p:cBhvr>
                                      <p:tavLst>
                                        <p:tav tm="0">
                                          <p:val>
                                            <p:strVal val="#ppt_x"/>
                                          </p:val>
                                        </p:tav>
                                        <p:tav tm="100000">
                                          <p:val>
                                            <p:strVal val="#ppt_x"/>
                                          </p:val>
                                        </p:tav>
                                      </p:tavLst>
                                    </p:anim>
                                    <p:anim calcmode="lin" valueType="num">
                                      <p:cBhvr>
                                        <p:cTn id="37" dur="1000" fill="hold"/>
                                        <p:tgtEl>
                                          <p:spTgt spid="16"/>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1000"/>
                                        <p:tgtEl>
                                          <p:spTgt spid="14"/>
                                        </p:tgtEl>
                                      </p:cBhvr>
                                    </p:animEffect>
                                    <p:anim calcmode="lin" valueType="num">
                                      <p:cBhvr>
                                        <p:cTn id="41" dur="1000" fill="hold"/>
                                        <p:tgtEl>
                                          <p:spTgt spid="14"/>
                                        </p:tgtEl>
                                        <p:attrNameLst>
                                          <p:attrName>ppt_x</p:attrName>
                                        </p:attrNameLst>
                                      </p:cBhvr>
                                      <p:tavLst>
                                        <p:tav tm="0">
                                          <p:val>
                                            <p:strVal val="#ppt_x"/>
                                          </p:val>
                                        </p:tav>
                                        <p:tav tm="100000">
                                          <p:val>
                                            <p:strVal val="#ppt_x"/>
                                          </p:val>
                                        </p:tav>
                                      </p:tavLst>
                                    </p:anim>
                                    <p:anim calcmode="lin" valueType="num">
                                      <p:cBhvr>
                                        <p:cTn id="42"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left)">
                                      <p:cBhvr>
                                        <p:cTn id="47" dur="500"/>
                                        <p:tgtEl>
                                          <p:spTgt spid="19"/>
                                        </p:tgtEl>
                                      </p:cBhvr>
                                    </p:animEffect>
                                  </p:childTnLst>
                                </p:cTn>
                              </p:par>
                              <p:par>
                                <p:cTn id="48" presetID="22" presetClass="entr" presetSubtype="8" fill="hold" nodeType="withEffect">
                                  <p:stCondLst>
                                    <p:cond delay="0"/>
                                  </p:stCondLst>
                                  <p:childTnLst>
                                    <p:set>
                                      <p:cBhvr>
                                        <p:cTn id="49" dur="1" fill="hold">
                                          <p:stCondLst>
                                            <p:cond delay="0"/>
                                          </p:stCondLst>
                                        </p:cTn>
                                        <p:tgtEl>
                                          <p:spTgt spid="7"/>
                                        </p:tgtEl>
                                        <p:attrNameLst>
                                          <p:attrName>style.visibility</p:attrName>
                                        </p:attrNameLst>
                                      </p:cBhvr>
                                      <p:to>
                                        <p:strVal val="visible"/>
                                      </p:to>
                                    </p:set>
                                    <p:animEffect transition="in" filter="wipe(left)">
                                      <p:cBhvr>
                                        <p:cTn id="50" dur="500"/>
                                        <p:tgtEl>
                                          <p:spTgt spid="7"/>
                                        </p:tgtEl>
                                      </p:cBhvr>
                                    </p:animEffect>
                                  </p:childTnLst>
                                </p:cTn>
                              </p:par>
                              <p:par>
                                <p:cTn id="51" presetID="22" presetClass="entr" presetSubtype="8" fill="hold" nodeType="withEffect">
                                  <p:stCondLst>
                                    <p:cond delay="0"/>
                                  </p:stCondLst>
                                  <p:childTnLst>
                                    <p:set>
                                      <p:cBhvr>
                                        <p:cTn id="52" dur="1" fill="hold">
                                          <p:stCondLst>
                                            <p:cond delay="0"/>
                                          </p:stCondLst>
                                        </p:cTn>
                                        <p:tgtEl>
                                          <p:spTgt spid="11"/>
                                        </p:tgtEl>
                                        <p:attrNameLst>
                                          <p:attrName>style.visibility</p:attrName>
                                        </p:attrNameLst>
                                      </p:cBhvr>
                                      <p:to>
                                        <p:strVal val="visible"/>
                                      </p:to>
                                    </p:set>
                                    <p:animEffect transition="in" filter="wipe(left)">
                                      <p:cBhvr>
                                        <p:cTn id="53" dur="500"/>
                                        <p:tgtEl>
                                          <p:spTgt spid="11"/>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1" fill="hold" nodeType="click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wipe(up)">
                                      <p:cBhvr>
                                        <p:cTn id="58" dur="500"/>
                                        <p:tgtEl>
                                          <p:spTgt spid="23"/>
                                        </p:tgtEl>
                                      </p:cBhvr>
                                    </p:animEffect>
                                  </p:childTnLst>
                                </p:cTn>
                              </p:par>
                              <p:par>
                                <p:cTn id="59" presetID="22" presetClass="entr" presetSubtype="1" fill="hold" nodeType="withEffect">
                                  <p:stCondLst>
                                    <p:cond delay="0"/>
                                  </p:stCondLst>
                                  <p:childTnLst>
                                    <p:set>
                                      <p:cBhvr>
                                        <p:cTn id="60" dur="1" fill="hold">
                                          <p:stCondLst>
                                            <p:cond delay="0"/>
                                          </p:stCondLst>
                                        </p:cTn>
                                        <p:tgtEl>
                                          <p:spTgt spid="18"/>
                                        </p:tgtEl>
                                        <p:attrNameLst>
                                          <p:attrName>style.visibility</p:attrName>
                                        </p:attrNameLst>
                                      </p:cBhvr>
                                      <p:to>
                                        <p:strVal val="visible"/>
                                      </p:to>
                                    </p:set>
                                    <p:animEffect transition="in" filter="wipe(up)">
                                      <p:cBhvr>
                                        <p:cTn id="61" dur="500"/>
                                        <p:tgtEl>
                                          <p:spTgt spid="18"/>
                                        </p:tgtEl>
                                      </p:cBhvr>
                                    </p:animEffect>
                                  </p:childTnLst>
                                </p:cTn>
                              </p:par>
                              <p:par>
                                <p:cTn id="62" presetID="22" presetClass="entr" presetSubtype="1" fill="hold"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wipe(up)">
                                      <p:cBhvr>
                                        <p:cTn id="64" dur="500"/>
                                        <p:tgtEl>
                                          <p:spTgt spid="25"/>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2" fill="hold" nodeType="clickEffect">
                                  <p:stCondLst>
                                    <p:cond delay="0"/>
                                  </p:stCondLst>
                                  <p:childTnLst>
                                    <p:set>
                                      <p:cBhvr>
                                        <p:cTn id="68" dur="1" fill="hold">
                                          <p:stCondLst>
                                            <p:cond delay="0"/>
                                          </p:stCondLst>
                                        </p:cTn>
                                        <p:tgtEl>
                                          <p:spTgt spid="27"/>
                                        </p:tgtEl>
                                        <p:attrNameLst>
                                          <p:attrName>style.visibility</p:attrName>
                                        </p:attrNameLst>
                                      </p:cBhvr>
                                      <p:to>
                                        <p:strVal val="visible"/>
                                      </p:to>
                                    </p:set>
                                    <p:animEffect transition="in" filter="wipe(right)">
                                      <p:cBhvr>
                                        <p:cTn id="69" dur="500"/>
                                        <p:tgtEl>
                                          <p:spTgt spid="27"/>
                                        </p:tgtEl>
                                      </p:cBhvr>
                                    </p:animEffect>
                                  </p:childTnLst>
                                </p:cTn>
                              </p:par>
                              <p:par>
                                <p:cTn id="70" presetID="22" presetClass="entr" presetSubtype="2" fill="hold" nodeType="withEffect">
                                  <p:stCondLst>
                                    <p:cond delay="0"/>
                                  </p:stCondLst>
                                  <p:childTnLst>
                                    <p:set>
                                      <p:cBhvr>
                                        <p:cTn id="71" dur="1" fill="hold">
                                          <p:stCondLst>
                                            <p:cond delay="0"/>
                                          </p:stCondLst>
                                        </p:cTn>
                                        <p:tgtEl>
                                          <p:spTgt spid="21"/>
                                        </p:tgtEl>
                                        <p:attrNameLst>
                                          <p:attrName>style.visibility</p:attrName>
                                        </p:attrNameLst>
                                      </p:cBhvr>
                                      <p:to>
                                        <p:strVal val="visible"/>
                                      </p:to>
                                    </p:set>
                                    <p:animEffect transition="in" filter="wipe(right)">
                                      <p:cBhvr>
                                        <p:cTn id="72" dur="500"/>
                                        <p:tgtEl>
                                          <p:spTgt spid="21"/>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3"/>
                                        </p:tgtEl>
                                        <p:attrNameLst>
                                          <p:attrName>style.visibility</p:attrName>
                                        </p:attrNameLst>
                                      </p:cBhvr>
                                      <p:to>
                                        <p:strVal val="visible"/>
                                      </p:to>
                                    </p:set>
                                    <p:animEffect transition="in" filter="fade">
                                      <p:cBhvr>
                                        <p:cTn id="7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6" grpId="0"/>
      <p:bldP spid="5" grpId="0" animBg="1"/>
      <p:bldP spid="14" grpId="0" animBg="1"/>
      <p:bldP spid="13" grpId="0" animBg="1"/>
      <p:bldP spid="15" grpId="0" animBg="1"/>
      <p:bldP spid="16" grpId="0" animBg="1"/>
      <p:bldP spid="17" grpId="0" animBg="1"/>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890" name="CaixaDeTexto 4"/>
          <p:cNvSpPr txBox="1">
            <a:spLocks noChangeArrowheads="1"/>
          </p:cNvSpPr>
          <p:nvPr/>
        </p:nvSpPr>
        <p:spPr bwMode="auto">
          <a:xfrm>
            <a:off x="1081056" y="2234399"/>
            <a:ext cx="1002988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defRPr>
            </a:lvl9pPr>
          </a:lstStyle>
          <a:p>
            <a:pPr algn="ctr">
              <a:buNone/>
            </a:pPr>
            <a:r>
              <a:rPr lang="pt-BR" altLang="pt-BR" sz="2000" dirty="0">
                <a:solidFill>
                  <a:schemeClr val="accent6"/>
                </a:solidFill>
                <a:latin typeface="Lucida Sans Unicode" panose="020B0602030504020204" pitchFamily="34" charset="0"/>
                <a:cs typeface="Lucida Sans Unicode" panose="020B0602030504020204" pitchFamily="34" charset="0"/>
              </a:rPr>
              <a:t>A grande separação física entre produção e consumo exige mais eficiência em:</a:t>
            </a:r>
          </a:p>
        </p:txBody>
      </p:sp>
      <p:sp>
        <p:nvSpPr>
          <p:cNvPr id="37891" name="CaixaDeTexto 9"/>
          <p:cNvSpPr txBox="1">
            <a:spLocks noChangeArrowheads="1"/>
          </p:cNvSpPr>
          <p:nvPr/>
        </p:nvSpPr>
        <p:spPr bwMode="auto">
          <a:xfrm>
            <a:off x="5233854" y="1417118"/>
            <a:ext cx="172429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defRPr>
            </a:lvl9pPr>
          </a:lstStyle>
          <a:p>
            <a:pPr algn="r" eaLnBrk="1" hangingPunct="1">
              <a:spcBef>
                <a:spcPct val="0"/>
              </a:spcBef>
              <a:buFontTx/>
              <a:buNone/>
            </a:pPr>
            <a:r>
              <a:rPr lang="pt-BR" altLang="pt-BR" b="1" dirty="0">
                <a:solidFill>
                  <a:srgbClr val="FF0000"/>
                </a:solidFill>
                <a:latin typeface="Lucida Sans Unicode" panose="020B0602030504020204" pitchFamily="34" charset="0"/>
                <a:cs typeface="Lucida Sans Unicode" panose="020B0602030504020204" pitchFamily="34" charset="0"/>
              </a:rPr>
              <a:t>PORÉM...</a:t>
            </a:r>
          </a:p>
        </p:txBody>
      </p:sp>
      <p:sp>
        <p:nvSpPr>
          <p:cNvPr id="6" name="Espaço Reservado para Conteúdo 5"/>
          <p:cNvSpPr>
            <a:spLocks noGrp="1"/>
          </p:cNvSpPr>
          <p:nvPr>
            <p:ph idx="4294967295"/>
          </p:nvPr>
        </p:nvSpPr>
        <p:spPr>
          <a:xfrm>
            <a:off x="0" y="3203575"/>
            <a:ext cx="3228975" cy="2324100"/>
          </a:xfrm>
        </p:spPr>
        <p:txBody>
          <a:bodyPr>
            <a:normAutofit/>
          </a:bodyPr>
          <a:lstStyle/>
          <a:p>
            <a:pPr>
              <a:lnSpc>
                <a:spcPct val="150000"/>
              </a:lnSpc>
              <a:buFontTx/>
              <a:buAutoNum type="arabicPeriod"/>
            </a:pPr>
            <a:r>
              <a:rPr lang="pt-BR" altLang="pt-BR" sz="2000" dirty="0">
                <a:solidFill>
                  <a:schemeClr val="accent6"/>
                </a:solidFill>
                <a:latin typeface="Lucida Sans Unicode" panose="020B0602030504020204" pitchFamily="34" charset="0"/>
                <a:cs typeface="Lucida Sans Unicode" panose="020B0602030504020204" pitchFamily="34" charset="0"/>
              </a:rPr>
              <a:t> Gerenciar estoques</a:t>
            </a:r>
          </a:p>
          <a:p>
            <a:pPr>
              <a:lnSpc>
                <a:spcPct val="150000"/>
              </a:lnSpc>
              <a:buFontTx/>
              <a:buAutoNum type="arabicPeriod"/>
            </a:pPr>
            <a:r>
              <a:rPr lang="pt-BR" altLang="pt-BR" sz="2000" dirty="0">
                <a:solidFill>
                  <a:schemeClr val="accent6"/>
                </a:solidFill>
                <a:latin typeface="Lucida Sans Unicode" panose="020B0602030504020204" pitchFamily="34" charset="0"/>
                <a:cs typeface="Lucida Sans Unicode" panose="020B0602030504020204" pitchFamily="34" charset="0"/>
              </a:rPr>
              <a:t> Armazenar bens</a:t>
            </a:r>
          </a:p>
          <a:p>
            <a:pPr>
              <a:lnSpc>
                <a:spcPct val="150000"/>
              </a:lnSpc>
              <a:buFontTx/>
              <a:buAutoNum type="arabicPeriod"/>
            </a:pPr>
            <a:r>
              <a:rPr lang="pt-BR" altLang="pt-BR" sz="2000" dirty="0">
                <a:solidFill>
                  <a:schemeClr val="accent6"/>
                </a:solidFill>
                <a:latin typeface="Lucida Sans Unicode" panose="020B0602030504020204" pitchFamily="34" charset="0"/>
                <a:cs typeface="Lucida Sans Unicode" panose="020B0602030504020204" pitchFamily="34" charset="0"/>
              </a:rPr>
              <a:t> Manusear bens</a:t>
            </a:r>
          </a:p>
          <a:p>
            <a:pPr>
              <a:lnSpc>
                <a:spcPct val="150000"/>
              </a:lnSpc>
              <a:buFontTx/>
              <a:buAutoNum type="arabicPeriod"/>
            </a:pPr>
            <a:r>
              <a:rPr lang="pt-BR" altLang="pt-BR" sz="2000" dirty="0">
                <a:solidFill>
                  <a:schemeClr val="accent6"/>
                </a:solidFill>
                <a:latin typeface="Lucida Sans Unicode" panose="020B0602030504020204" pitchFamily="34" charset="0"/>
                <a:cs typeface="Lucida Sans Unicode" panose="020B0602030504020204" pitchFamily="34" charset="0"/>
              </a:rPr>
              <a:t> Transportar bens</a:t>
            </a:r>
          </a:p>
        </p:txBody>
      </p:sp>
      <p:sp>
        <p:nvSpPr>
          <p:cNvPr id="50" name="Retângulo 49"/>
          <p:cNvSpPr/>
          <p:nvPr/>
        </p:nvSpPr>
        <p:spPr>
          <a:xfrm>
            <a:off x="4120942" y="506706"/>
            <a:ext cx="3950120" cy="406265"/>
          </a:xfrm>
          <a:prstGeom prst="rect">
            <a:avLst/>
          </a:prstGeom>
        </p:spPr>
        <p:txBody>
          <a:bodyPr wrap="none">
            <a:spAutoFit/>
          </a:bodyPr>
          <a:lstStyle/>
          <a:p>
            <a:pPr algn="ctr">
              <a:lnSpc>
                <a:spcPct val="85000"/>
              </a:lnSpc>
              <a:spcBef>
                <a:spcPct val="0"/>
              </a:spcBef>
            </a:pPr>
            <a:r>
              <a:rPr lang="pt-BR" altLang="pt-BR" sz="2400" b="1" dirty="0">
                <a:solidFill>
                  <a:schemeClr val="accent6"/>
                </a:solidFill>
                <a:latin typeface="Lucida Sans Unicode" panose="020B0602030504020204" pitchFamily="34" charset="0"/>
                <a:cs typeface="Lucida Sans Unicode" panose="020B0602030504020204" pitchFamily="34" charset="0"/>
              </a:rPr>
              <a:t>CONCEITO DE LOGÍSTICA</a:t>
            </a:r>
          </a:p>
        </p:txBody>
      </p:sp>
      <p:pic>
        <p:nvPicPr>
          <p:cNvPr id="2" name="Imagem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5999" y="2561752"/>
            <a:ext cx="4440097" cy="3555616"/>
          </a:xfrm>
          <a:prstGeom prst="rect">
            <a:avLst/>
          </a:prstGeom>
        </p:spPr>
      </p:pic>
    </p:spTree>
    <p:extLst>
      <p:ext uri="{BB962C8B-B14F-4D97-AF65-F5344CB8AC3E}">
        <p14:creationId xmlns:p14="http://schemas.microsoft.com/office/powerpoint/2010/main" val="4207320634"/>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7891"/>
                                        </p:tgtEl>
                                        <p:attrNameLst>
                                          <p:attrName>style.visibility</p:attrName>
                                        </p:attrNameLst>
                                      </p:cBhvr>
                                      <p:to>
                                        <p:strVal val="visible"/>
                                      </p:to>
                                    </p:set>
                                    <p:animEffect transition="in" filter="wipe(down)">
                                      <p:cBhvr>
                                        <p:cTn id="7" dur="500"/>
                                        <p:tgtEl>
                                          <p:spTgt spid="37891"/>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7890"/>
                                        </p:tgtEl>
                                        <p:attrNameLst>
                                          <p:attrName>style.visibility</p:attrName>
                                        </p:attrNameLst>
                                      </p:cBhvr>
                                      <p:to>
                                        <p:strVal val="visible"/>
                                      </p:to>
                                    </p:set>
                                    <p:animEffect transition="in" filter="fade">
                                      <p:cBhvr>
                                        <p:cTn id="12" dur="1000"/>
                                        <p:tgtEl>
                                          <p:spTgt spid="37890"/>
                                        </p:tgtEl>
                                      </p:cBhvr>
                                    </p:animEffect>
                                    <p:anim calcmode="lin" valueType="num">
                                      <p:cBhvr>
                                        <p:cTn id="13" dur="1000" fill="hold"/>
                                        <p:tgtEl>
                                          <p:spTgt spid="37890"/>
                                        </p:tgtEl>
                                        <p:attrNameLst>
                                          <p:attrName>ppt_x</p:attrName>
                                        </p:attrNameLst>
                                      </p:cBhvr>
                                      <p:tavLst>
                                        <p:tav tm="0">
                                          <p:val>
                                            <p:strVal val="#ppt_x"/>
                                          </p:val>
                                        </p:tav>
                                        <p:tav tm="100000">
                                          <p:val>
                                            <p:strVal val="#ppt_x"/>
                                          </p:val>
                                        </p:tav>
                                      </p:tavLst>
                                    </p:anim>
                                    <p:anim calcmode="lin" valueType="num">
                                      <p:cBhvr>
                                        <p:cTn id="14" dur="1000" fill="hold"/>
                                        <p:tgtEl>
                                          <p:spTgt spid="37890"/>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16" presetClass="entr" presetSubtype="21" fill="hold" nodeType="after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barn(inVertical)">
                                      <p:cBhvr>
                                        <p:cTn id="18" dur="5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6">
                                            <p:txEl>
                                              <p:pRg st="0" end="0"/>
                                            </p:txEl>
                                          </p:spTgt>
                                        </p:tgtEl>
                                        <p:attrNameLst>
                                          <p:attrName>style.visibility</p:attrName>
                                        </p:attrNameLst>
                                      </p:cBhvr>
                                      <p:to>
                                        <p:strVal val="visible"/>
                                      </p:to>
                                    </p:set>
                                    <p:animEffect transition="in" filter="fade">
                                      <p:cBhvr>
                                        <p:cTn id="23" dur="500"/>
                                        <p:tgtEl>
                                          <p:spTgt spid="6">
                                            <p:txEl>
                                              <p:pRg st="0" end="0"/>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0" presetClass="entr" presetSubtype="0" fill="hold" nodeType="clickEffect">
                                  <p:stCondLst>
                                    <p:cond delay="0"/>
                                  </p:stCondLst>
                                  <p:childTnLst>
                                    <p:set>
                                      <p:cBhvr>
                                        <p:cTn id="27" dur="1" fill="hold">
                                          <p:stCondLst>
                                            <p:cond delay="0"/>
                                          </p:stCondLst>
                                        </p:cTn>
                                        <p:tgtEl>
                                          <p:spTgt spid="6">
                                            <p:txEl>
                                              <p:pRg st="1" end="1"/>
                                            </p:txEl>
                                          </p:spTgt>
                                        </p:tgtEl>
                                        <p:attrNameLst>
                                          <p:attrName>style.visibility</p:attrName>
                                        </p:attrNameLst>
                                      </p:cBhvr>
                                      <p:to>
                                        <p:strVal val="visible"/>
                                      </p:to>
                                    </p:set>
                                    <p:animEffect transition="in" filter="fade">
                                      <p:cBhvr>
                                        <p:cTn id="28" dur="500"/>
                                        <p:tgtEl>
                                          <p:spTgt spid="6">
                                            <p:txEl>
                                              <p:pRg st="1" end="1"/>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0" presetClass="entr" presetSubtype="0" fill="hold" nodeType="clickEffect">
                                  <p:stCondLst>
                                    <p:cond delay="0"/>
                                  </p:stCondLst>
                                  <p:childTnLst>
                                    <p:set>
                                      <p:cBhvr>
                                        <p:cTn id="32" dur="1" fill="hold">
                                          <p:stCondLst>
                                            <p:cond delay="0"/>
                                          </p:stCondLst>
                                        </p:cTn>
                                        <p:tgtEl>
                                          <p:spTgt spid="6">
                                            <p:txEl>
                                              <p:pRg st="2" end="2"/>
                                            </p:txEl>
                                          </p:spTgt>
                                        </p:tgtEl>
                                        <p:attrNameLst>
                                          <p:attrName>style.visibility</p:attrName>
                                        </p:attrNameLst>
                                      </p:cBhvr>
                                      <p:to>
                                        <p:strVal val="visible"/>
                                      </p:to>
                                    </p:set>
                                    <p:animEffect transition="in" filter="fade">
                                      <p:cBhvr>
                                        <p:cTn id="33" dur="500"/>
                                        <p:tgtEl>
                                          <p:spTgt spid="6">
                                            <p:txEl>
                                              <p:pRg st="2" end="2"/>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0" presetClass="entr" presetSubtype="0" fill="hold" nodeType="clickEffect">
                                  <p:stCondLst>
                                    <p:cond delay="0"/>
                                  </p:stCondLst>
                                  <p:childTnLst>
                                    <p:set>
                                      <p:cBhvr>
                                        <p:cTn id="37" dur="1" fill="hold">
                                          <p:stCondLst>
                                            <p:cond delay="0"/>
                                          </p:stCondLst>
                                        </p:cTn>
                                        <p:tgtEl>
                                          <p:spTgt spid="6">
                                            <p:txEl>
                                              <p:pRg st="3" end="3"/>
                                            </p:txEl>
                                          </p:spTgt>
                                        </p:tgtEl>
                                        <p:attrNameLst>
                                          <p:attrName>style.visibility</p:attrName>
                                        </p:attrNameLst>
                                      </p:cBhvr>
                                      <p:to>
                                        <p:strVal val="visible"/>
                                      </p:to>
                                    </p:set>
                                    <p:animEffect transition="in" filter="fade">
                                      <p:cBhvr>
                                        <p:cTn id="38"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0" grpId="0"/>
      <p:bldP spid="3789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ítulo 1"/>
          <p:cNvSpPr txBox="1">
            <a:spLocks/>
          </p:cNvSpPr>
          <p:nvPr/>
        </p:nvSpPr>
        <p:spPr>
          <a:xfrm>
            <a:off x="2434801" y="1058929"/>
            <a:ext cx="6955603"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sz="2000" b="1" dirty="0">
                <a:solidFill>
                  <a:schemeClr val="accent6"/>
                </a:solidFill>
                <a:latin typeface="Lucida Sans Unicode" panose="020B0602030504020204" pitchFamily="34" charset="0"/>
                <a:cs typeface="Lucida Sans Unicode" panose="020B0602030504020204" pitchFamily="34" charset="0"/>
              </a:rPr>
              <a:t>LOGÍSTICA: UMA SEQUÊNCIA ORDENADA</a:t>
            </a:r>
          </a:p>
        </p:txBody>
      </p:sp>
      <p:graphicFrame>
        <p:nvGraphicFramePr>
          <p:cNvPr id="4" name="Diagrama 3"/>
          <p:cNvGraphicFramePr/>
          <p:nvPr>
            <p:extLst>
              <p:ext uri="{D42A27DB-BD31-4B8C-83A1-F6EECF244321}">
                <p14:modId xmlns:p14="http://schemas.microsoft.com/office/powerpoint/2010/main" val="3161627770"/>
              </p:ext>
            </p:extLst>
          </p:nvPr>
        </p:nvGraphicFramePr>
        <p:xfrm>
          <a:off x="1848604" y="2116813"/>
          <a:ext cx="8128000" cy="12324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CaixaDeTexto 4"/>
          <p:cNvSpPr txBox="1"/>
          <p:nvPr/>
        </p:nvSpPr>
        <p:spPr>
          <a:xfrm>
            <a:off x="554199" y="4017731"/>
            <a:ext cx="11083602" cy="1015663"/>
          </a:xfrm>
          <a:prstGeom prst="rect">
            <a:avLst/>
          </a:prstGeom>
          <a:noFill/>
        </p:spPr>
        <p:txBody>
          <a:bodyPr wrap="square" rtlCol="0">
            <a:spAutoFit/>
          </a:bodyPr>
          <a:lstStyle/>
          <a:p>
            <a:pPr algn="just"/>
            <a:r>
              <a:rPr lang="pt-BR" sz="2000" dirty="0">
                <a:solidFill>
                  <a:schemeClr val="accent6"/>
                </a:solidFill>
                <a:latin typeface="Lucida Sans Unicode" panose="020B0602030504020204" pitchFamily="34" charset="0"/>
                <a:cs typeface="Lucida Sans Unicode" panose="020B0602030504020204" pitchFamily="34" charset="0"/>
              </a:rPr>
              <a:t>A logística caminha rigorosamente através de processos e atividades executados sequencialmente, em cada empresa e em todas as empresas que, juntas, formam uma cadeia, chegando ao cliente final.</a:t>
            </a:r>
          </a:p>
        </p:txBody>
      </p:sp>
      <p:sp>
        <p:nvSpPr>
          <p:cNvPr id="6" name="CaixaDeTexto 5"/>
          <p:cNvSpPr txBox="1"/>
          <p:nvPr/>
        </p:nvSpPr>
        <p:spPr>
          <a:xfrm>
            <a:off x="4315051" y="3341380"/>
            <a:ext cx="3195105" cy="369332"/>
          </a:xfrm>
          <a:prstGeom prst="rect">
            <a:avLst/>
          </a:prstGeom>
          <a:noFill/>
        </p:spPr>
        <p:txBody>
          <a:bodyPr wrap="none" rtlCol="0">
            <a:spAutoFit/>
          </a:bodyPr>
          <a:lstStyle/>
          <a:p>
            <a:r>
              <a:rPr lang="pt-BR" dirty="0">
                <a:solidFill>
                  <a:schemeClr val="accent6"/>
                </a:solidFill>
                <a:latin typeface="Lucida Sans Unicode" panose="020B0602030504020204" pitchFamily="34" charset="0"/>
                <a:cs typeface="Lucida Sans Unicode" panose="020B0602030504020204" pitchFamily="34" charset="0"/>
              </a:rPr>
              <a:t>Exemplo de uma indústria</a:t>
            </a:r>
          </a:p>
        </p:txBody>
      </p:sp>
      <p:sp>
        <p:nvSpPr>
          <p:cNvPr id="7" name="Retângulo 6"/>
          <p:cNvSpPr/>
          <p:nvPr/>
        </p:nvSpPr>
        <p:spPr>
          <a:xfrm>
            <a:off x="4120940" y="506706"/>
            <a:ext cx="3950120" cy="420115"/>
          </a:xfrm>
          <a:prstGeom prst="rect">
            <a:avLst/>
          </a:prstGeom>
        </p:spPr>
        <p:txBody>
          <a:bodyPr wrap="none">
            <a:spAutoFit/>
          </a:bodyPr>
          <a:lstStyle/>
          <a:p>
            <a:pPr algn="ctr">
              <a:lnSpc>
                <a:spcPct val="85000"/>
              </a:lnSpc>
              <a:spcBef>
                <a:spcPct val="0"/>
              </a:spcBef>
            </a:pPr>
            <a:r>
              <a:rPr lang="pt-BR" altLang="pt-BR" sz="2400" b="1" dirty="0">
                <a:solidFill>
                  <a:schemeClr val="accent6"/>
                </a:solidFill>
                <a:latin typeface="Lucida Sans Unicode" panose="020B0602030504020204" pitchFamily="34" charset="0"/>
                <a:cs typeface="Lucida Sans Unicode" panose="020B0602030504020204" pitchFamily="34" charset="0"/>
              </a:rPr>
              <a:t>CONCEITO DE LOGÍSTICA</a:t>
            </a:r>
          </a:p>
        </p:txBody>
      </p:sp>
      <p:sp>
        <p:nvSpPr>
          <p:cNvPr id="2" name="Retângulo 1"/>
          <p:cNvSpPr/>
          <p:nvPr/>
        </p:nvSpPr>
        <p:spPr>
          <a:xfrm>
            <a:off x="2602174" y="5194056"/>
            <a:ext cx="6987652" cy="1015663"/>
          </a:xfrm>
          <a:prstGeom prst="rect">
            <a:avLst/>
          </a:prstGeom>
          <a:ln>
            <a:solidFill>
              <a:srgbClr val="FF0000"/>
            </a:solidFill>
          </a:ln>
        </p:spPr>
        <p:txBody>
          <a:bodyPr wrap="square">
            <a:spAutoFit/>
          </a:bodyPr>
          <a:lstStyle/>
          <a:p>
            <a:pPr algn="just">
              <a:lnSpc>
                <a:spcPct val="150000"/>
              </a:lnSpc>
            </a:pPr>
            <a:r>
              <a:rPr lang="pt-BR" sz="2000" b="1" i="1" dirty="0">
                <a:solidFill>
                  <a:schemeClr val="accent6"/>
                </a:solidFill>
                <a:latin typeface="Lucida Sans Unicode" panose="020B0602030504020204" pitchFamily="34" charset="0"/>
                <a:cs typeface="Lucida Sans Unicode" panose="020B0602030504020204" pitchFamily="34" charset="0"/>
              </a:rPr>
              <a:t>A LOGÍSTICA PERFEITA É AQUELA QUE FLUI NATURALMENTE, SEM RESISTÊNCIA, ATÉ SEU DESTINO</a:t>
            </a:r>
          </a:p>
        </p:txBody>
      </p:sp>
    </p:spTree>
    <p:extLst>
      <p:ext uri="{BB962C8B-B14F-4D97-AF65-F5344CB8AC3E}">
        <p14:creationId xmlns:p14="http://schemas.microsoft.com/office/powerpoint/2010/main" val="2146902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1000"/>
                                        <p:tgtEl>
                                          <p:spTgt spid="5"/>
                                        </p:tgtEl>
                                      </p:cBhvr>
                                    </p:animEffect>
                                    <p:anim calcmode="lin" valueType="num">
                                      <p:cBhvr>
                                        <p:cTn id="21" dur="1000" fill="hold"/>
                                        <p:tgtEl>
                                          <p:spTgt spid="5"/>
                                        </p:tgtEl>
                                        <p:attrNameLst>
                                          <p:attrName>ppt_x</p:attrName>
                                        </p:attrNameLst>
                                      </p:cBhvr>
                                      <p:tavLst>
                                        <p:tav tm="0">
                                          <p:val>
                                            <p:strVal val="#ppt_x"/>
                                          </p:val>
                                        </p:tav>
                                        <p:tav tm="100000">
                                          <p:val>
                                            <p:strVal val="#ppt_x"/>
                                          </p:val>
                                        </p:tav>
                                      </p:tavLst>
                                    </p:anim>
                                    <p:anim calcmode="lin" valueType="num">
                                      <p:cBhvr>
                                        <p:cTn id="22"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1000"/>
                                        <p:tgtEl>
                                          <p:spTgt spid="2"/>
                                        </p:tgtEl>
                                      </p:cBhvr>
                                    </p:animEffect>
                                    <p:anim calcmode="lin" valueType="num">
                                      <p:cBhvr>
                                        <p:cTn id="28" dur="1000" fill="hold"/>
                                        <p:tgtEl>
                                          <p:spTgt spid="2"/>
                                        </p:tgtEl>
                                        <p:attrNameLst>
                                          <p:attrName>ppt_x</p:attrName>
                                        </p:attrNameLst>
                                      </p:cBhvr>
                                      <p:tavLst>
                                        <p:tav tm="0">
                                          <p:val>
                                            <p:strVal val="#ppt_x"/>
                                          </p:val>
                                        </p:tav>
                                        <p:tav tm="100000">
                                          <p:val>
                                            <p:strVal val="#ppt_x"/>
                                          </p:val>
                                        </p:tav>
                                      </p:tavLst>
                                    </p:anim>
                                    <p:anim calcmode="lin" valueType="num">
                                      <p:cBhvr>
                                        <p:cTn id="2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Graphic spid="4" grpId="0">
        <p:bldAsOne/>
      </p:bldGraphic>
      <p:bldP spid="5" grpId="0"/>
      <p:bldP spid="6" grpId="0"/>
      <p:bldP spid="2" grpId="0" animBg="1"/>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aixaDeTexto 2"/>
          <p:cNvSpPr txBox="1"/>
          <p:nvPr/>
        </p:nvSpPr>
        <p:spPr>
          <a:xfrm>
            <a:off x="2224749" y="421379"/>
            <a:ext cx="7992888" cy="1446550"/>
          </a:xfrm>
          <a:prstGeom prst="rect">
            <a:avLst/>
          </a:prstGeom>
          <a:noFill/>
        </p:spPr>
        <p:txBody>
          <a:bodyPr wrap="square" rtlCol="0">
            <a:spAutoFit/>
          </a:bodyPr>
          <a:lstStyle/>
          <a:p>
            <a:pPr algn="ctr"/>
            <a:r>
              <a:rPr lang="pt-BR" sz="4400" b="1" dirty="0">
                <a:solidFill>
                  <a:schemeClr val="accent6"/>
                </a:solidFill>
                <a:latin typeface="Lucida Sans Unicode" panose="020B0602030504020204" pitchFamily="34" charset="0"/>
                <a:cs typeface="Lucida Sans Unicode" panose="020B0602030504020204" pitchFamily="34" charset="0"/>
              </a:rPr>
              <a:t>CONFERÊNCIA NO PROCESSO LOGÍSTICO</a:t>
            </a:r>
          </a:p>
        </p:txBody>
      </p:sp>
      <p:sp>
        <p:nvSpPr>
          <p:cNvPr id="4" name="Retângulo 3"/>
          <p:cNvSpPr/>
          <p:nvPr/>
        </p:nvSpPr>
        <p:spPr>
          <a:xfrm>
            <a:off x="334813" y="2967335"/>
            <a:ext cx="11522386" cy="1323439"/>
          </a:xfrm>
          <a:prstGeom prst="rect">
            <a:avLst/>
          </a:prstGeom>
          <a:noFill/>
        </p:spPr>
        <p:txBody>
          <a:bodyPr wrap="none" lIns="91440" tIns="45720" rIns="91440" bIns="45720">
            <a:spAutoFit/>
          </a:bodyPr>
          <a:lstStyle/>
          <a:p>
            <a:pPr algn="ctr"/>
            <a:r>
              <a:rPr lang="pt-BR" sz="80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CADEIA DE SUPRIMENTOS </a:t>
            </a:r>
          </a:p>
        </p:txBody>
      </p:sp>
    </p:spTree>
    <p:extLst>
      <p:ext uri="{BB962C8B-B14F-4D97-AF65-F5344CB8AC3E}">
        <p14:creationId xmlns:p14="http://schemas.microsoft.com/office/powerpoint/2010/main" val="1193393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Imagem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4947" y="142674"/>
            <a:ext cx="11916632" cy="6109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tângulo 2"/>
          <p:cNvSpPr/>
          <p:nvPr/>
        </p:nvSpPr>
        <p:spPr>
          <a:xfrm>
            <a:off x="4157810" y="506706"/>
            <a:ext cx="3876382" cy="461665"/>
          </a:xfrm>
          <a:prstGeom prst="rect">
            <a:avLst/>
          </a:prstGeom>
        </p:spPr>
        <p:txBody>
          <a:bodyPr wrap="none">
            <a:spAutoFit/>
          </a:body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LOGÍSTICA EMPRESARIAL</a:t>
            </a:r>
          </a:p>
        </p:txBody>
      </p:sp>
      <p:sp>
        <p:nvSpPr>
          <p:cNvPr id="4" name="CaixaDeTexto 3"/>
          <p:cNvSpPr txBox="1"/>
          <p:nvPr/>
        </p:nvSpPr>
        <p:spPr>
          <a:xfrm>
            <a:off x="5073555" y="6462243"/>
            <a:ext cx="2033517" cy="307777"/>
          </a:xfrm>
          <a:prstGeom prst="rect">
            <a:avLst/>
          </a:prstGeom>
          <a:noFill/>
        </p:spPr>
        <p:txBody>
          <a:bodyPr wrap="square" rtlCol="0">
            <a:spAutoFit/>
          </a:bodyPr>
          <a:lstStyle/>
          <a:p>
            <a:pPr algn="ctr"/>
            <a:r>
              <a:rPr lang="pt-BR" sz="1400" i="1" dirty="0" err="1">
                <a:solidFill>
                  <a:schemeClr val="accent6"/>
                </a:solidFill>
                <a:latin typeface="Lucida Sans Unicode" panose="020B0602030504020204" pitchFamily="34" charset="0"/>
                <a:cs typeface="Lucida Sans Unicode" panose="020B0602030504020204" pitchFamily="34" charset="0"/>
              </a:rPr>
              <a:t>Adap</a:t>
            </a:r>
            <a:r>
              <a:rPr lang="pt-BR" sz="1400" i="1" dirty="0">
                <a:solidFill>
                  <a:schemeClr val="accent6"/>
                </a:solidFill>
                <a:latin typeface="Lucida Sans Unicode" panose="020B0602030504020204" pitchFamily="34" charset="0"/>
                <a:cs typeface="Lucida Sans Unicode" panose="020B0602030504020204" pitchFamily="34" charset="0"/>
              </a:rPr>
              <a:t>. IMAM</a:t>
            </a:r>
          </a:p>
        </p:txBody>
      </p:sp>
    </p:spTree>
    <p:extLst>
      <p:ext uri="{BB962C8B-B14F-4D97-AF65-F5344CB8AC3E}">
        <p14:creationId xmlns:p14="http://schemas.microsoft.com/office/powerpoint/2010/main" val="1544102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 name="Título 1"/>
          <p:cNvSpPr txBox="1">
            <a:spLocks/>
          </p:cNvSpPr>
          <p:nvPr/>
        </p:nvSpPr>
        <p:spPr>
          <a:xfrm>
            <a:off x="2618198" y="65464"/>
            <a:ext cx="6955603"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LOGÍSTICA EMPRESARIAL</a:t>
            </a:r>
          </a:p>
        </p:txBody>
      </p:sp>
      <p:sp>
        <p:nvSpPr>
          <p:cNvPr id="31" name="CaixaDeTexto 30"/>
          <p:cNvSpPr txBox="1"/>
          <p:nvPr/>
        </p:nvSpPr>
        <p:spPr>
          <a:xfrm>
            <a:off x="9328934" y="2547053"/>
            <a:ext cx="1842683" cy="3170099"/>
          </a:xfrm>
          <a:prstGeom prst="rect">
            <a:avLst/>
          </a:prstGeom>
          <a:noFill/>
        </p:spPr>
        <p:txBody>
          <a:bodyPr wrap="square" rtlCol="0">
            <a:spAutoFit/>
          </a:bodyPr>
          <a:lstStyle/>
          <a:p>
            <a:pPr algn="ctr"/>
            <a:r>
              <a:rPr lang="pt-BR" sz="2000" dirty="0"/>
              <a:t>Atender as </a:t>
            </a:r>
            <a:r>
              <a:rPr lang="pt-BR" sz="2000" dirty="0">
                <a:solidFill>
                  <a:srgbClr val="0070C0"/>
                </a:solidFill>
              </a:rPr>
              <a:t>necessidades dos clientes</a:t>
            </a:r>
            <a:r>
              <a:rPr lang="pt-BR" sz="2000" dirty="0"/>
              <a:t>, através da disponibilização de produtos e serviços é a razão de ser de todas as empresas...</a:t>
            </a:r>
            <a:endParaRPr lang="pt-BR" sz="2000" i="1" dirty="0"/>
          </a:p>
        </p:txBody>
      </p:sp>
      <p:pic>
        <p:nvPicPr>
          <p:cNvPr id="32" name="Imagem 3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92105" y="1014010"/>
            <a:ext cx="1498405" cy="149174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3" name="Seta para baixo 32"/>
          <p:cNvSpPr/>
          <p:nvPr/>
        </p:nvSpPr>
        <p:spPr>
          <a:xfrm rot="5400000">
            <a:off x="8872958" y="1546918"/>
            <a:ext cx="445566" cy="466385"/>
          </a:xfrm>
          <a:prstGeom prst="downArrow">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34" name="Imagem 3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43073" y="1083920"/>
            <a:ext cx="1804069" cy="1463542"/>
          </a:xfrm>
          <a:prstGeom prst="rect">
            <a:avLst/>
          </a:prstGeom>
        </p:spPr>
      </p:pic>
      <p:sp>
        <p:nvSpPr>
          <p:cNvPr id="35" name="CaixaDeTexto 34"/>
          <p:cNvSpPr txBox="1"/>
          <p:nvPr/>
        </p:nvSpPr>
        <p:spPr>
          <a:xfrm rot="5400000">
            <a:off x="8230547" y="2725458"/>
            <a:ext cx="1796536" cy="400110"/>
          </a:xfrm>
          <a:prstGeom prst="rect">
            <a:avLst/>
          </a:prstGeom>
          <a:noFill/>
        </p:spPr>
        <p:txBody>
          <a:bodyPr wrap="square" rtlCol="0">
            <a:spAutoFit/>
          </a:bodyPr>
          <a:lstStyle/>
          <a:p>
            <a:r>
              <a:rPr lang="pt-BR" sz="2000" dirty="0">
                <a:solidFill>
                  <a:schemeClr val="tx1">
                    <a:lumMod val="50000"/>
                    <a:lumOff val="50000"/>
                  </a:schemeClr>
                </a:solidFill>
              </a:rPr>
              <a:t>Mas para isso...</a:t>
            </a:r>
            <a:endParaRPr lang="pt-BR" sz="2000" i="1" dirty="0">
              <a:solidFill>
                <a:schemeClr val="tx1">
                  <a:lumMod val="50000"/>
                  <a:lumOff val="50000"/>
                </a:schemeClr>
              </a:solidFill>
            </a:endParaRPr>
          </a:p>
        </p:txBody>
      </p:sp>
      <p:sp>
        <p:nvSpPr>
          <p:cNvPr id="36" name="CaixaDeTexto 35"/>
          <p:cNvSpPr txBox="1"/>
          <p:nvPr/>
        </p:nvSpPr>
        <p:spPr>
          <a:xfrm>
            <a:off x="7070615" y="2577028"/>
            <a:ext cx="1843303" cy="1323439"/>
          </a:xfrm>
          <a:prstGeom prst="rect">
            <a:avLst/>
          </a:prstGeom>
          <a:noFill/>
        </p:spPr>
        <p:txBody>
          <a:bodyPr wrap="square" rtlCol="0">
            <a:spAutoFit/>
          </a:bodyPr>
          <a:lstStyle/>
          <a:p>
            <a:pPr algn="ctr"/>
            <a:r>
              <a:rPr lang="pt-BR" sz="2000" dirty="0"/>
              <a:t>Preciso que as lojas sejam </a:t>
            </a:r>
            <a:r>
              <a:rPr lang="pt-BR" sz="2000" dirty="0">
                <a:solidFill>
                  <a:srgbClr val="0070C0"/>
                </a:solidFill>
              </a:rPr>
              <a:t>abastecidas</a:t>
            </a:r>
            <a:r>
              <a:rPr lang="pt-BR" sz="2000" dirty="0"/>
              <a:t> com produtos...</a:t>
            </a:r>
            <a:endParaRPr lang="pt-BR" sz="2000" i="1" dirty="0"/>
          </a:p>
        </p:txBody>
      </p:sp>
      <p:sp>
        <p:nvSpPr>
          <p:cNvPr id="37" name="Seta para baixo 36"/>
          <p:cNvSpPr/>
          <p:nvPr/>
        </p:nvSpPr>
        <p:spPr>
          <a:xfrm rot="5400000">
            <a:off x="6587065" y="1571270"/>
            <a:ext cx="445566" cy="466385"/>
          </a:xfrm>
          <a:prstGeom prst="downArrow">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8" name="CaixaDeTexto 37"/>
          <p:cNvSpPr txBox="1"/>
          <p:nvPr/>
        </p:nvSpPr>
        <p:spPr>
          <a:xfrm rot="5400000">
            <a:off x="5944654" y="2749810"/>
            <a:ext cx="1796536" cy="400110"/>
          </a:xfrm>
          <a:prstGeom prst="rect">
            <a:avLst/>
          </a:prstGeom>
          <a:noFill/>
        </p:spPr>
        <p:txBody>
          <a:bodyPr wrap="square" rtlCol="0">
            <a:spAutoFit/>
          </a:bodyPr>
          <a:lstStyle/>
          <a:p>
            <a:r>
              <a:rPr lang="pt-BR" sz="2000" dirty="0">
                <a:solidFill>
                  <a:schemeClr val="tx1">
                    <a:lumMod val="50000"/>
                    <a:lumOff val="50000"/>
                  </a:schemeClr>
                </a:solidFill>
              </a:rPr>
              <a:t>Mas para isso...</a:t>
            </a:r>
            <a:endParaRPr lang="pt-BR" sz="2000" i="1" dirty="0">
              <a:solidFill>
                <a:schemeClr val="tx1">
                  <a:lumMod val="50000"/>
                  <a:lumOff val="50000"/>
                </a:schemeClr>
              </a:solidFill>
            </a:endParaRPr>
          </a:p>
        </p:txBody>
      </p:sp>
      <p:pic>
        <p:nvPicPr>
          <p:cNvPr id="39" name="Imagem 3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85186" y="1059138"/>
            <a:ext cx="1876063" cy="1449351"/>
          </a:xfrm>
          <a:prstGeom prst="rect">
            <a:avLst/>
          </a:prstGeom>
        </p:spPr>
      </p:pic>
      <p:sp>
        <p:nvSpPr>
          <p:cNvPr id="40" name="CaixaDeTexto 39"/>
          <p:cNvSpPr txBox="1"/>
          <p:nvPr/>
        </p:nvSpPr>
        <p:spPr>
          <a:xfrm>
            <a:off x="4852884" y="2551409"/>
            <a:ext cx="1691996" cy="1015663"/>
          </a:xfrm>
          <a:prstGeom prst="rect">
            <a:avLst/>
          </a:prstGeom>
          <a:noFill/>
        </p:spPr>
        <p:txBody>
          <a:bodyPr wrap="square" rtlCol="0">
            <a:spAutoFit/>
          </a:bodyPr>
          <a:lstStyle/>
          <a:p>
            <a:pPr algn="ctr"/>
            <a:r>
              <a:rPr lang="pt-BR" sz="2000" dirty="0"/>
              <a:t>Preciso </a:t>
            </a:r>
            <a:r>
              <a:rPr lang="pt-BR" sz="2000" dirty="0">
                <a:solidFill>
                  <a:srgbClr val="0070C0"/>
                </a:solidFill>
              </a:rPr>
              <a:t>entregar</a:t>
            </a:r>
            <a:r>
              <a:rPr lang="pt-BR" sz="2000" dirty="0"/>
              <a:t> as mercadorias...</a:t>
            </a:r>
            <a:endParaRPr lang="pt-BR" sz="2000" i="1" dirty="0"/>
          </a:p>
        </p:txBody>
      </p:sp>
      <p:sp>
        <p:nvSpPr>
          <p:cNvPr id="41" name="Seta para baixo 40"/>
          <p:cNvSpPr/>
          <p:nvPr/>
        </p:nvSpPr>
        <p:spPr>
          <a:xfrm rot="5400000">
            <a:off x="4151062" y="1546918"/>
            <a:ext cx="445566" cy="466385"/>
          </a:xfrm>
          <a:prstGeom prst="downArrow">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2" name="CaixaDeTexto 41"/>
          <p:cNvSpPr txBox="1"/>
          <p:nvPr/>
        </p:nvSpPr>
        <p:spPr>
          <a:xfrm rot="5400000">
            <a:off x="3508651" y="2725458"/>
            <a:ext cx="1796536" cy="400110"/>
          </a:xfrm>
          <a:prstGeom prst="rect">
            <a:avLst/>
          </a:prstGeom>
          <a:noFill/>
        </p:spPr>
        <p:txBody>
          <a:bodyPr wrap="square" rtlCol="0">
            <a:spAutoFit/>
          </a:bodyPr>
          <a:lstStyle/>
          <a:p>
            <a:r>
              <a:rPr lang="pt-BR" sz="2000" dirty="0">
                <a:solidFill>
                  <a:schemeClr val="tx1">
                    <a:lumMod val="50000"/>
                    <a:lumOff val="50000"/>
                  </a:schemeClr>
                </a:solidFill>
              </a:rPr>
              <a:t>Mas para isso...</a:t>
            </a:r>
            <a:endParaRPr lang="pt-BR" sz="2000" i="1" dirty="0">
              <a:solidFill>
                <a:schemeClr val="tx1">
                  <a:lumMod val="50000"/>
                  <a:lumOff val="50000"/>
                </a:schemeClr>
              </a:solidFill>
            </a:endParaRPr>
          </a:p>
        </p:txBody>
      </p:sp>
      <p:pic>
        <p:nvPicPr>
          <p:cNvPr id="43" name="Imagem 4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13652" y="3843384"/>
            <a:ext cx="1110251" cy="1268858"/>
          </a:xfrm>
          <a:prstGeom prst="rect">
            <a:avLst/>
          </a:prstGeom>
        </p:spPr>
      </p:pic>
      <p:sp>
        <p:nvSpPr>
          <p:cNvPr id="44" name="CaixaDeTexto 43"/>
          <p:cNvSpPr txBox="1"/>
          <p:nvPr/>
        </p:nvSpPr>
        <p:spPr>
          <a:xfrm>
            <a:off x="2237657" y="5050598"/>
            <a:ext cx="1691996" cy="1323439"/>
          </a:xfrm>
          <a:prstGeom prst="rect">
            <a:avLst/>
          </a:prstGeom>
          <a:noFill/>
        </p:spPr>
        <p:txBody>
          <a:bodyPr wrap="square" rtlCol="0">
            <a:spAutoFit/>
          </a:bodyPr>
          <a:lstStyle/>
          <a:p>
            <a:pPr algn="ctr"/>
            <a:r>
              <a:rPr lang="pt-BR" sz="2000" dirty="0"/>
              <a:t>Que foram </a:t>
            </a:r>
            <a:r>
              <a:rPr lang="pt-BR" sz="2000" dirty="0">
                <a:solidFill>
                  <a:srgbClr val="0070C0"/>
                </a:solidFill>
              </a:rPr>
              <a:t>fabricadas</a:t>
            </a:r>
            <a:r>
              <a:rPr lang="pt-BR" sz="2000" dirty="0"/>
              <a:t> em algum lugar do planeta...</a:t>
            </a:r>
            <a:endParaRPr lang="pt-BR" sz="2000" i="1" dirty="0"/>
          </a:p>
        </p:txBody>
      </p:sp>
      <p:pic>
        <p:nvPicPr>
          <p:cNvPr id="45" name="Imagem 4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538095" y="1014489"/>
            <a:ext cx="1541381" cy="1541381"/>
          </a:xfrm>
          <a:prstGeom prst="rect">
            <a:avLst/>
          </a:prstGeom>
        </p:spPr>
      </p:pic>
      <p:sp>
        <p:nvSpPr>
          <p:cNvPr id="46" name="CaixaDeTexto 45"/>
          <p:cNvSpPr txBox="1"/>
          <p:nvPr/>
        </p:nvSpPr>
        <p:spPr>
          <a:xfrm>
            <a:off x="2297135" y="2555870"/>
            <a:ext cx="1746494" cy="1015663"/>
          </a:xfrm>
          <a:prstGeom prst="rect">
            <a:avLst/>
          </a:prstGeom>
          <a:noFill/>
        </p:spPr>
        <p:txBody>
          <a:bodyPr wrap="square" rtlCol="0">
            <a:spAutoFit/>
          </a:bodyPr>
          <a:lstStyle/>
          <a:p>
            <a:pPr algn="ctr"/>
            <a:r>
              <a:rPr lang="pt-BR" sz="2000" dirty="0"/>
              <a:t>Que estavam </a:t>
            </a:r>
            <a:r>
              <a:rPr lang="pt-BR" sz="2000" dirty="0">
                <a:solidFill>
                  <a:srgbClr val="0070C0"/>
                </a:solidFill>
              </a:rPr>
              <a:t>armazenadas</a:t>
            </a:r>
            <a:r>
              <a:rPr lang="pt-BR" sz="2000" dirty="0"/>
              <a:t> em algum CD...</a:t>
            </a:r>
            <a:endParaRPr lang="pt-BR" sz="2000" i="1" dirty="0"/>
          </a:p>
        </p:txBody>
      </p:sp>
      <p:sp>
        <p:nvSpPr>
          <p:cNvPr id="47" name="Seta em curva para a direita 46"/>
          <p:cNvSpPr/>
          <p:nvPr/>
        </p:nvSpPr>
        <p:spPr>
          <a:xfrm>
            <a:off x="1458930" y="1504712"/>
            <a:ext cx="985361" cy="3422299"/>
          </a:xfrm>
          <a:prstGeom prst="curvedRightArrow">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8" name="CaixaDeTexto 47"/>
          <p:cNvSpPr txBox="1"/>
          <p:nvPr/>
        </p:nvSpPr>
        <p:spPr>
          <a:xfrm rot="5400000">
            <a:off x="957948" y="2952801"/>
            <a:ext cx="1796536" cy="400110"/>
          </a:xfrm>
          <a:prstGeom prst="rect">
            <a:avLst/>
          </a:prstGeom>
          <a:noFill/>
        </p:spPr>
        <p:txBody>
          <a:bodyPr wrap="square" rtlCol="0">
            <a:spAutoFit/>
          </a:bodyPr>
          <a:lstStyle/>
          <a:p>
            <a:r>
              <a:rPr lang="pt-BR" sz="2000" dirty="0">
                <a:solidFill>
                  <a:schemeClr val="tx1">
                    <a:lumMod val="50000"/>
                    <a:lumOff val="50000"/>
                  </a:schemeClr>
                </a:solidFill>
              </a:rPr>
              <a:t>Mas para isso...</a:t>
            </a:r>
            <a:endParaRPr lang="pt-BR" sz="2000" i="1" dirty="0">
              <a:solidFill>
                <a:schemeClr val="tx1">
                  <a:lumMod val="50000"/>
                  <a:lumOff val="50000"/>
                </a:schemeClr>
              </a:solidFill>
            </a:endParaRPr>
          </a:p>
        </p:txBody>
      </p:sp>
      <p:sp>
        <p:nvSpPr>
          <p:cNvPr id="49" name="Seta para baixo 48"/>
          <p:cNvSpPr/>
          <p:nvPr/>
        </p:nvSpPr>
        <p:spPr>
          <a:xfrm rot="16200000">
            <a:off x="3903673" y="4392388"/>
            <a:ext cx="445566" cy="466385"/>
          </a:xfrm>
          <a:prstGeom prst="downArrow">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0" name="CaixaDeTexto 49"/>
          <p:cNvSpPr txBox="1"/>
          <p:nvPr/>
        </p:nvSpPr>
        <p:spPr>
          <a:xfrm rot="5400000">
            <a:off x="3200745" y="5539481"/>
            <a:ext cx="1796536" cy="400110"/>
          </a:xfrm>
          <a:prstGeom prst="rect">
            <a:avLst/>
          </a:prstGeom>
          <a:noFill/>
        </p:spPr>
        <p:txBody>
          <a:bodyPr wrap="square" rtlCol="0">
            <a:spAutoFit/>
          </a:bodyPr>
          <a:lstStyle/>
          <a:p>
            <a:r>
              <a:rPr lang="pt-BR" sz="2000" dirty="0">
                <a:solidFill>
                  <a:schemeClr val="tx1">
                    <a:lumMod val="50000"/>
                    <a:lumOff val="50000"/>
                  </a:schemeClr>
                </a:solidFill>
              </a:rPr>
              <a:t>Mas para isso...</a:t>
            </a:r>
            <a:endParaRPr lang="pt-BR" sz="2000" i="1" dirty="0">
              <a:solidFill>
                <a:schemeClr val="tx1">
                  <a:lumMod val="50000"/>
                  <a:lumOff val="50000"/>
                </a:schemeClr>
              </a:solidFill>
            </a:endParaRPr>
          </a:p>
        </p:txBody>
      </p:sp>
      <p:pic>
        <p:nvPicPr>
          <p:cNvPr id="51" name="Imagem 50"/>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523107" y="3917887"/>
            <a:ext cx="1509789" cy="1241923"/>
          </a:xfrm>
          <a:prstGeom prst="rect">
            <a:avLst/>
          </a:prstGeom>
        </p:spPr>
      </p:pic>
      <p:sp>
        <p:nvSpPr>
          <p:cNvPr id="52" name="CaixaDeTexto 51"/>
          <p:cNvSpPr txBox="1"/>
          <p:nvPr/>
        </p:nvSpPr>
        <p:spPr>
          <a:xfrm>
            <a:off x="4369923" y="5104487"/>
            <a:ext cx="1764350" cy="1323439"/>
          </a:xfrm>
          <a:prstGeom prst="rect">
            <a:avLst/>
          </a:prstGeom>
          <a:noFill/>
        </p:spPr>
        <p:txBody>
          <a:bodyPr wrap="square" rtlCol="0">
            <a:spAutoFit/>
          </a:bodyPr>
          <a:lstStyle/>
          <a:p>
            <a:pPr algn="ctr"/>
            <a:r>
              <a:rPr lang="pt-BR" sz="2000" dirty="0"/>
              <a:t>Que precisam de insumos </a:t>
            </a:r>
            <a:r>
              <a:rPr lang="pt-BR" sz="2000" dirty="0">
                <a:solidFill>
                  <a:srgbClr val="0070C0"/>
                </a:solidFill>
              </a:rPr>
              <a:t>comprados</a:t>
            </a:r>
            <a:r>
              <a:rPr lang="pt-BR" sz="2000" dirty="0"/>
              <a:t> de fornecedores...</a:t>
            </a:r>
            <a:endParaRPr lang="pt-BR" sz="2000" i="1" dirty="0"/>
          </a:p>
        </p:txBody>
      </p:sp>
      <p:sp>
        <p:nvSpPr>
          <p:cNvPr id="53" name="Seta para baixo 52"/>
          <p:cNvSpPr/>
          <p:nvPr/>
        </p:nvSpPr>
        <p:spPr>
          <a:xfrm rot="16200000">
            <a:off x="6244534" y="4382116"/>
            <a:ext cx="445566" cy="466385"/>
          </a:xfrm>
          <a:prstGeom prst="downArrow">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4" name="CaixaDeTexto 53"/>
          <p:cNvSpPr txBox="1"/>
          <p:nvPr/>
        </p:nvSpPr>
        <p:spPr>
          <a:xfrm rot="5400000">
            <a:off x="5541606" y="5529209"/>
            <a:ext cx="1796536" cy="400110"/>
          </a:xfrm>
          <a:prstGeom prst="rect">
            <a:avLst/>
          </a:prstGeom>
          <a:noFill/>
        </p:spPr>
        <p:txBody>
          <a:bodyPr wrap="square" rtlCol="0">
            <a:spAutoFit/>
          </a:bodyPr>
          <a:lstStyle/>
          <a:p>
            <a:r>
              <a:rPr lang="pt-BR" sz="2000" dirty="0">
                <a:solidFill>
                  <a:schemeClr val="tx1">
                    <a:lumMod val="50000"/>
                    <a:lumOff val="50000"/>
                  </a:schemeClr>
                </a:solidFill>
              </a:rPr>
              <a:t>Mas para isso...</a:t>
            </a:r>
            <a:endParaRPr lang="pt-BR" sz="2000" i="1" dirty="0">
              <a:solidFill>
                <a:schemeClr val="tx1">
                  <a:lumMod val="50000"/>
                  <a:lumOff val="50000"/>
                </a:schemeClr>
              </a:solidFill>
            </a:endParaRPr>
          </a:p>
        </p:txBody>
      </p:sp>
      <p:pic>
        <p:nvPicPr>
          <p:cNvPr id="55" name="Imagem 5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908220" y="4006588"/>
            <a:ext cx="1087065" cy="1162208"/>
          </a:xfrm>
          <a:prstGeom prst="rect">
            <a:avLst/>
          </a:prstGeom>
        </p:spPr>
      </p:pic>
      <p:sp>
        <p:nvSpPr>
          <p:cNvPr id="56" name="CaixaDeTexto 55"/>
          <p:cNvSpPr txBox="1"/>
          <p:nvPr/>
        </p:nvSpPr>
        <p:spPr>
          <a:xfrm>
            <a:off x="6568852" y="5163770"/>
            <a:ext cx="2760018" cy="1323439"/>
          </a:xfrm>
          <a:prstGeom prst="rect">
            <a:avLst/>
          </a:prstGeom>
          <a:noFill/>
        </p:spPr>
        <p:txBody>
          <a:bodyPr wrap="square" rtlCol="0">
            <a:spAutoFit/>
          </a:bodyPr>
          <a:lstStyle/>
          <a:p>
            <a:pPr algn="ctr"/>
            <a:r>
              <a:rPr lang="pt-BR" sz="2000" dirty="0"/>
              <a:t>Insumos que foram disponibilizados para atender as necessidades de seus clientes.</a:t>
            </a:r>
            <a:endParaRPr lang="pt-BR" sz="2000" i="1" dirty="0"/>
          </a:p>
        </p:txBody>
      </p:sp>
    </p:spTree>
    <p:extLst>
      <p:ext uri="{BB962C8B-B14F-4D97-AF65-F5344CB8AC3E}">
        <p14:creationId xmlns:p14="http://schemas.microsoft.com/office/powerpoint/2010/main" val="2481040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right)">
                                      <p:cBhvr>
                                        <p:cTn id="7" dur="500"/>
                                        <p:tgtEl>
                                          <p:spTgt spid="33"/>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35"/>
                                        </p:tgtEl>
                                        <p:attrNameLst>
                                          <p:attrName>style.visibility</p:attrName>
                                        </p:attrNameLst>
                                      </p:cBhvr>
                                      <p:to>
                                        <p:strVal val="visible"/>
                                      </p:to>
                                    </p:set>
                                    <p:animEffect transition="in" filter="wipe(right)">
                                      <p:cBhvr>
                                        <p:cTn id="10" dur="500"/>
                                        <p:tgtEl>
                                          <p:spTgt spid="35"/>
                                        </p:tgtEl>
                                      </p:cBhvr>
                                    </p:animEffect>
                                  </p:childTnLst>
                                </p:cTn>
                              </p:par>
                            </p:childTnLst>
                          </p:cTn>
                        </p:par>
                        <p:par>
                          <p:cTn id="11" fill="hold">
                            <p:stCondLst>
                              <p:cond delay="500"/>
                            </p:stCondLst>
                            <p:childTnLst>
                              <p:par>
                                <p:cTn id="12" presetID="22" presetClass="entr" presetSubtype="2" fill="hold" nodeType="afterEffect">
                                  <p:stCondLst>
                                    <p:cond delay="500"/>
                                  </p:stCondLst>
                                  <p:childTnLst>
                                    <p:set>
                                      <p:cBhvr>
                                        <p:cTn id="13" dur="1" fill="hold">
                                          <p:stCondLst>
                                            <p:cond delay="0"/>
                                          </p:stCondLst>
                                        </p:cTn>
                                        <p:tgtEl>
                                          <p:spTgt spid="34"/>
                                        </p:tgtEl>
                                        <p:attrNameLst>
                                          <p:attrName>style.visibility</p:attrName>
                                        </p:attrNameLst>
                                      </p:cBhvr>
                                      <p:to>
                                        <p:strVal val="visible"/>
                                      </p:to>
                                    </p:set>
                                    <p:animEffect transition="in" filter="wipe(right)">
                                      <p:cBhvr>
                                        <p:cTn id="14" dur="500"/>
                                        <p:tgtEl>
                                          <p:spTgt spid="34"/>
                                        </p:tgtEl>
                                      </p:cBhvr>
                                    </p:animEffect>
                                  </p:childTnLst>
                                </p:cTn>
                              </p:par>
                              <p:par>
                                <p:cTn id="15" presetID="22" presetClass="entr" presetSubtype="2" fill="hold" grpId="0" nodeType="withEffect">
                                  <p:stCondLst>
                                    <p:cond delay="500"/>
                                  </p:stCondLst>
                                  <p:childTnLst>
                                    <p:set>
                                      <p:cBhvr>
                                        <p:cTn id="16" dur="1" fill="hold">
                                          <p:stCondLst>
                                            <p:cond delay="0"/>
                                          </p:stCondLst>
                                        </p:cTn>
                                        <p:tgtEl>
                                          <p:spTgt spid="36"/>
                                        </p:tgtEl>
                                        <p:attrNameLst>
                                          <p:attrName>style.visibility</p:attrName>
                                        </p:attrNameLst>
                                      </p:cBhvr>
                                      <p:to>
                                        <p:strVal val="visible"/>
                                      </p:to>
                                    </p:set>
                                    <p:animEffect transition="in" filter="wipe(right)">
                                      <p:cBhvr>
                                        <p:cTn id="17" dur="500"/>
                                        <p:tgtEl>
                                          <p:spTgt spid="3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grpId="0" nodeType="click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wipe(right)">
                                      <p:cBhvr>
                                        <p:cTn id="22" dur="500"/>
                                        <p:tgtEl>
                                          <p:spTgt spid="37"/>
                                        </p:tgtEl>
                                      </p:cBhvr>
                                    </p:animEffect>
                                  </p:childTnLst>
                                </p:cTn>
                              </p:par>
                              <p:par>
                                <p:cTn id="23" presetID="22" presetClass="entr" presetSubtype="2" fill="hold" grpId="0" nodeType="withEffect">
                                  <p:stCondLst>
                                    <p:cond delay="0"/>
                                  </p:stCondLst>
                                  <p:childTnLst>
                                    <p:set>
                                      <p:cBhvr>
                                        <p:cTn id="24" dur="1" fill="hold">
                                          <p:stCondLst>
                                            <p:cond delay="0"/>
                                          </p:stCondLst>
                                        </p:cTn>
                                        <p:tgtEl>
                                          <p:spTgt spid="38"/>
                                        </p:tgtEl>
                                        <p:attrNameLst>
                                          <p:attrName>style.visibility</p:attrName>
                                        </p:attrNameLst>
                                      </p:cBhvr>
                                      <p:to>
                                        <p:strVal val="visible"/>
                                      </p:to>
                                    </p:set>
                                    <p:animEffect transition="in" filter="wipe(right)">
                                      <p:cBhvr>
                                        <p:cTn id="25" dur="500"/>
                                        <p:tgtEl>
                                          <p:spTgt spid="38"/>
                                        </p:tgtEl>
                                      </p:cBhvr>
                                    </p:animEffect>
                                  </p:childTnLst>
                                </p:cTn>
                              </p:par>
                            </p:childTnLst>
                          </p:cTn>
                        </p:par>
                        <p:par>
                          <p:cTn id="26" fill="hold">
                            <p:stCondLst>
                              <p:cond delay="500"/>
                            </p:stCondLst>
                            <p:childTnLst>
                              <p:par>
                                <p:cTn id="27" presetID="22" presetClass="entr" presetSubtype="2" fill="hold" nodeType="afterEffect">
                                  <p:stCondLst>
                                    <p:cond delay="0"/>
                                  </p:stCondLst>
                                  <p:childTnLst>
                                    <p:set>
                                      <p:cBhvr>
                                        <p:cTn id="28" dur="1" fill="hold">
                                          <p:stCondLst>
                                            <p:cond delay="0"/>
                                          </p:stCondLst>
                                        </p:cTn>
                                        <p:tgtEl>
                                          <p:spTgt spid="39"/>
                                        </p:tgtEl>
                                        <p:attrNameLst>
                                          <p:attrName>style.visibility</p:attrName>
                                        </p:attrNameLst>
                                      </p:cBhvr>
                                      <p:to>
                                        <p:strVal val="visible"/>
                                      </p:to>
                                    </p:set>
                                    <p:animEffect transition="in" filter="wipe(right)">
                                      <p:cBhvr>
                                        <p:cTn id="29" dur="500"/>
                                        <p:tgtEl>
                                          <p:spTgt spid="39"/>
                                        </p:tgtEl>
                                      </p:cBhvr>
                                    </p:animEffect>
                                  </p:childTnLst>
                                </p:cTn>
                              </p:par>
                              <p:par>
                                <p:cTn id="30" presetID="22" presetClass="entr" presetSubtype="2" fill="hold" grpId="0" nodeType="withEffect">
                                  <p:stCondLst>
                                    <p:cond delay="0"/>
                                  </p:stCondLst>
                                  <p:childTnLst>
                                    <p:set>
                                      <p:cBhvr>
                                        <p:cTn id="31" dur="1" fill="hold">
                                          <p:stCondLst>
                                            <p:cond delay="0"/>
                                          </p:stCondLst>
                                        </p:cTn>
                                        <p:tgtEl>
                                          <p:spTgt spid="40"/>
                                        </p:tgtEl>
                                        <p:attrNameLst>
                                          <p:attrName>style.visibility</p:attrName>
                                        </p:attrNameLst>
                                      </p:cBhvr>
                                      <p:to>
                                        <p:strVal val="visible"/>
                                      </p:to>
                                    </p:set>
                                    <p:animEffect transition="in" filter="wipe(right)">
                                      <p:cBhvr>
                                        <p:cTn id="32" dur="500"/>
                                        <p:tgtEl>
                                          <p:spTgt spid="4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2" fill="hold" grpId="0" nodeType="clickEffect">
                                  <p:stCondLst>
                                    <p:cond delay="0"/>
                                  </p:stCondLst>
                                  <p:childTnLst>
                                    <p:set>
                                      <p:cBhvr>
                                        <p:cTn id="36" dur="1" fill="hold">
                                          <p:stCondLst>
                                            <p:cond delay="0"/>
                                          </p:stCondLst>
                                        </p:cTn>
                                        <p:tgtEl>
                                          <p:spTgt spid="41"/>
                                        </p:tgtEl>
                                        <p:attrNameLst>
                                          <p:attrName>style.visibility</p:attrName>
                                        </p:attrNameLst>
                                      </p:cBhvr>
                                      <p:to>
                                        <p:strVal val="visible"/>
                                      </p:to>
                                    </p:set>
                                    <p:animEffect transition="in" filter="wipe(right)">
                                      <p:cBhvr>
                                        <p:cTn id="37" dur="500"/>
                                        <p:tgtEl>
                                          <p:spTgt spid="41"/>
                                        </p:tgtEl>
                                      </p:cBhvr>
                                    </p:animEffect>
                                  </p:childTnLst>
                                </p:cTn>
                              </p:par>
                              <p:par>
                                <p:cTn id="38" presetID="22" presetClass="entr" presetSubtype="2" fill="hold" grpId="0" nodeType="withEffect">
                                  <p:stCondLst>
                                    <p:cond delay="0"/>
                                  </p:stCondLst>
                                  <p:childTnLst>
                                    <p:set>
                                      <p:cBhvr>
                                        <p:cTn id="39" dur="1" fill="hold">
                                          <p:stCondLst>
                                            <p:cond delay="0"/>
                                          </p:stCondLst>
                                        </p:cTn>
                                        <p:tgtEl>
                                          <p:spTgt spid="42"/>
                                        </p:tgtEl>
                                        <p:attrNameLst>
                                          <p:attrName>style.visibility</p:attrName>
                                        </p:attrNameLst>
                                      </p:cBhvr>
                                      <p:to>
                                        <p:strVal val="visible"/>
                                      </p:to>
                                    </p:set>
                                    <p:animEffect transition="in" filter="wipe(right)">
                                      <p:cBhvr>
                                        <p:cTn id="40" dur="500"/>
                                        <p:tgtEl>
                                          <p:spTgt spid="42"/>
                                        </p:tgtEl>
                                      </p:cBhvr>
                                    </p:animEffect>
                                  </p:childTnLst>
                                </p:cTn>
                              </p:par>
                            </p:childTnLst>
                          </p:cTn>
                        </p:par>
                        <p:par>
                          <p:cTn id="41" fill="hold">
                            <p:stCondLst>
                              <p:cond delay="500"/>
                            </p:stCondLst>
                            <p:childTnLst>
                              <p:par>
                                <p:cTn id="42" presetID="22" presetClass="entr" presetSubtype="2" fill="hold" nodeType="afterEffect">
                                  <p:stCondLst>
                                    <p:cond delay="0"/>
                                  </p:stCondLst>
                                  <p:childTnLst>
                                    <p:set>
                                      <p:cBhvr>
                                        <p:cTn id="43" dur="1" fill="hold">
                                          <p:stCondLst>
                                            <p:cond delay="0"/>
                                          </p:stCondLst>
                                        </p:cTn>
                                        <p:tgtEl>
                                          <p:spTgt spid="45"/>
                                        </p:tgtEl>
                                        <p:attrNameLst>
                                          <p:attrName>style.visibility</p:attrName>
                                        </p:attrNameLst>
                                      </p:cBhvr>
                                      <p:to>
                                        <p:strVal val="visible"/>
                                      </p:to>
                                    </p:set>
                                    <p:animEffect transition="in" filter="wipe(right)">
                                      <p:cBhvr>
                                        <p:cTn id="44" dur="500"/>
                                        <p:tgtEl>
                                          <p:spTgt spid="45"/>
                                        </p:tgtEl>
                                      </p:cBhvr>
                                    </p:animEffect>
                                  </p:childTnLst>
                                </p:cTn>
                              </p:par>
                              <p:par>
                                <p:cTn id="45" presetID="22" presetClass="entr" presetSubtype="2" fill="hold" grpId="0" nodeType="withEffect">
                                  <p:stCondLst>
                                    <p:cond delay="0"/>
                                  </p:stCondLst>
                                  <p:childTnLst>
                                    <p:set>
                                      <p:cBhvr>
                                        <p:cTn id="46" dur="1" fill="hold">
                                          <p:stCondLst>
                                            <p:cond delay="0"/>
                                          </p:stCondLst>
                                        </p:cTn>
                                        <p:tgtEl>
                                          <p:spTgt spid="46"/>
                                        </p:tgtEl>
                                        <p:attrNameLst>
                                          <p:attrName>style.visibility</p:attrName>
                                        </p:attrNameLst>
                                      </p:cBhvr>
                                      <p:to>
                                        <p:strVal val="visible"/>
                                      </p:to>
                                    </p:set>
                                    <p:animEffect transition="in" filter="wipe(right)">
                                      <p:cBhvr>
                                        <p:cTn id="47" dur="500"/>
                                        <p:tgtEl>
                                          <p:spTgt spid="4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47"/>
                                        </p:tgtEl>
                                        <p:attrNameLst>
                                          <p:attrName>style.visibility</p:attrName>
                                        </p:attrNameLst>
                                      </p:cBhvr>
                                      <p:to>
                                        <p:strVal val="visible"/>
                                      </p:to>
                                    </p:set>
                                    <p:animEffect transition="in" filter="wipe(up)">
                                      <p:cBhvr>
                                        <p:cTn id="52" dur="500"/>
                                        <p:tgtEl>
                                          <p:spTgt spid="47"/>
                                        </p:tgtEl>
                                      </p:cBhvr>
                                    </p:animEffect>
                                  </p:childTnLst>
                                </p:cTn>
                              </p:par>
                              <p:par>
                                <p:cTn id="53" presetID="21" presetClass="entr" presetSubtype="2" fill="hold" grpId="0" nodeType="withEffect">
                                  <p:stCondLst>
                                    <p:cond delay="0"/>
                                  </p:stCondLst>
                                  <p:childTnLst>
                                    <p:set>
                                      <p:cBhvr>
                                        <p:cTn id="54" dur="1" fill="hold">
                                          <p:stCondLst>
                                            <p:cond delay="0"/>
                                          </p:stCondLst>
                                        </p:cTn>
                                        <p:tgtEl>
                                          <p:spTgt spid="48"/>
                                        </p:tgtEl>
                                        <p:attrNameLst>
                                          <p:attrName>style.visibility</p:attrName>
                                        </p:attrNameLst>
                                      </p:cBhvr>
                                      <p:to>
                                        <p:strVal val="visible"/>
                                      </p:to>
                                    </p:set>
                                    <p:animEffect transition="in" filter="wheel(2)">
                                      <p:cBhvr>
                                        <p:cTn id="55" dur="2000"/>
                                        <p:tgtEl>
                                          <p:spTgt spid="48"/>
                                        </p:tgtEl>
                                      </p:cBhvr>
                                    </p:animEffect>
                                  </p:childTnLst>
                                </p:cTn>
                              </p:par>
                            </p:childTnLst>
                          </p:cTn>
                        </p:par>
                        <p:par>
                          <p:cTn id="56" fill="hold">
                            <p:stCondLst>
                              <p:cond delay="2000"/>
                            </p:stCondLst>
                            <p:childTnLst>
                              <p:par>
                                <p:cTn id="57" presetID="22" presetClass="entr" presetSubtype="8" fill="hold" nodeType="afterEffect">
                                  <p:stCondLst>
                                    <p:cond delay="500"/>
                                  </p:stCondLst>
                                  <p:childTnLst>
                                    <p:set>
                                      <p:cBhvr>
                                        <p:cTn id="58" dur="1" fill="hold">
                                          <p:stCondLst>
                                            <p:cond delay="0"/>
                                          </p:stCondLst>
                                        </p:cTn>
                                        <p:tgtEl>
                                          <p:spTgt spid="43"/>
                                        </p:tgtEl>
                                        <p:attrNameLst>
                                          <p:attrName>style.visibility</p:attrName>
                                        </p:attrNameLst>
                                      </p:cBhvr>
                                      <p:to>
                                        <p:strVal val="visible"/>
                                      </p:to>
                                    </p:set>
                                    <p:animEffect transition="in" filter="wipe(left)">
                                      <p:cBhvr>
                                        <p:cTn id="59" dur="500"/>
                                        <p:tgtEl>
                                          <p:spTgt spid="43"/>
                                        </p:tgtEl>
                                      </p:cBhvr>
                                    </p:animEffect>
                                  </p:childTnLst>
                                </p:cTn>
                              </p:par>
                              <p:par>
                                <p:cTn id="60" presetID="22" presetClass="entr" presetSubtype="8" fill="hold" grpId="0" nodeType="withEffect">
                                  <p:stCondLst>
                                    <p:cond delay="500"/>
                                  </p:stCondLst>
                                  <p:childTnLst>
                                    <p:set>
                                      <p:cBhvr>
                                        <p:cTn id="61" dur="1" fill="hold">
                                          <p:stCondLst>
                                            <p:cond delay="0"/>
                                          </p:stCondLst>
                                        </p:cTn>
                                        <p:tgtEl>
                                          <p:spTgt spid="44"/>
                                        </p:tgtEl>
                                        <p:attrNameLst>
                                          <p:attrName>style.visibility</p:attrName>
                                        </p:attrNameLst>
                                      </p:cBhvr>
                                      <p:to>
                                        <p:strVal val="visible"/>
                                      </p:to>
                                    </p:set>
                                    <p:animEffect transition="in" filter="wipe(left)">
                                      <p:cBhvr>
                                        <p:cTn id="62" dur="500"/>
                                        <p:tgtEl>
                                          <p:spTgt spid="44"/>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wipe(left)">
                                      <p:cBhvr>
                                        <p:cTn id="67" dur="500"/>
                                        <p:tgtEl>
                                          <p:spTgt spid="49"/>
                                        </p:tgtEl>
                                      </p:cBhvr>
                                    </p:animEffect>
                                  </p:childTnLst>
                                </p:cTn>
                              </p:par>
                              <p:par>
                                <p:cTn id="68" presetID="22" presetClass="entr" presetSubtype="8" fill="hold" grpId="0" nodeType="withEffect">
                                  <p:stCondLst>
                                    <p:cond delay="0"/>
                                  </p:stCondLst>
                                  <p:childTnLst>
                                    <p:set>
                                      <p:cBhvr>
                                        <p:cTn id="69" dur="1" fill="hold">
                                          <p:stCondLst>
                                            <p:cond delay="0"/>
                                          </p:stCondLst>
                                        </p:cTn>
                                        <p:tgtEl>
                                          <p:spTgt spid="50"/>
                                        </p:tgtEl>
                                        <p:attrNameLst>
                                          <p:attrName>style.visibility</p:attrName>
                                        </p:attrNameLst>
                                      </p:cBhvr>
                                      <p:to>
                                        <p:strVal val="visible"/>
                                      </p:to>
                                    </p:set>
                                    <p:animEffect transition="in" filter="wipe(left)">
                                      <p:cBhvr>
                                        <p:cTn id="70" dur="500"/>
                                        <p:tgtEl>
                                          <p:spTgt spid="50"/>
                                        </p:tgtEl>
                                      </p:cBhvr>
                                    </p:animEffect>
                                  </p:childTnLst>
                                </p:cTn>
                              </p:par>
                            </p:childTnLst>
                          </p:cTn>
                        </p:par>
                        <p:par>
                          <p:cTn id="71" fill="hold">
                            <p:stCondLst>
                              <p:cond delay="500"/>
                            </p:stCondLst>
                            <p:childTnLst>
                              <p:par>
                                <p:cTn id="72" presetID="22" presetClass="entr" presetSubtype="8" fill="hold" nodeType="afterEffect">
                                  <p:stCondLst>
                                    <p:cond delay="500"/>
                                  </p:stCondLst>
                                  <p:childTnLst>
                                    <p:set>
                                      <p:cBhvr>
                                        <p:cTn id="73" dur="1" fill="hold">
                                          <p:stCondLst>
                                            <p:cond delay="0"/>
                                          </p:stCondLst>
                                        </p:cTn>
                                        <p:tgtEl>
                                          <p:spTgt spid="51"/>
                                        </p:tgtEl>
                                        <p:attrNameLst>
                                          <p:attrName>style.visibility</p:attrName>
                                        </p:attrNameLst>
                                      </p:cBhvr>
                                      <p:to>
                                        <p:strVal val="visible"/>
                                      </p:to>
                                    </p:set>
                                    <p:animEffect transition="in" filter="wipe(left)">
                                      <p:cBhvr>
                                        <p:cTn id="74" dur="500"/>
                                        <p:tgtEl>
                                          <p:spTgt spid="51"/>
                                        </p:tgtEl>
                                      </p:cBhvr>
                                    </p:animEffect>
                                  </p:childTnLst>
                                </p:cTn>
                              </p:par>
                              <p:par>
                                <p:cTn id="75" presetID="22" presetClass="entr" presetSubtype="8" fill="hold" grpId="0" nodeType="withEffect">
                                  <p:stCondLst>
                                    <p:cond delay="500"/>
                                  </p:stCondLst>
                                  <p:childTnLst>
                                    <p:set>
                                      <p:cBhvr>
                                        <p:cTn id="76" dur="1" fill="hold">
                                          <p:stCondLst>
                                            <p:cond delay="0"/>
                                          </p:stCondLst>
                                        </p:cTn>
                                        <p:tgtEl>
                                          <p:spTgt spid="52"/>
                                        </p:tgtEl>
                                        <p:attrNameLst>
                                          <p:attrName>style.visibility</p:attrName>
                                        </p:attrNameLst>
                                      </p:cBhvr>
                                      <p:to>
                                        <p:strVal val="visible"/>
                                      </p:to>
                                    </p:set>
                                    <p:animEffect transition="in" filter="wipe(left)">
                                      <p:cBhvr>
                                        <p:cTn id="77" dur="500"/>
                                        <p:tgtEl>
                                          <p:spTgt spid="52"/>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53"/>
                                        </p:tgtEl>
                                        <p:attrNameLst>
                                          <p:attrName>style.visibility</p:attrName>
                                        </p:attrNameLst>
                                      </p:cBhvr>
                                      <p:to>
                                        <p:strVal val="visible"/>
                                      </p:to>
                                    </p:set>
                                    <p:animEffect transition="in" filter="wipe(left)">
                                      <p:cBhvr>
                                        <p:cTn id="82" dur="500"/>
                                        <p:tgtEl>
                                          <p:spTgt spid="53"/>
                                        </p:tgtEl>
                                      </p:cBhvr>
                                    </p:animEffect>
                                  </p:childTnLst>
                                </p:cTn>
                              </p:par>
                              <p:par>
                                <p:cTn id="83" presetID="22" presetClass="entr" presetSubtype="8" fill="hold" grpId="0" nodeType="withEffect">
                                  <p:stCondLst>
                                    <p:cond delay="0"/>
                                  </p:stCondLst>
                                  <p:childTnLst>
                                    <p:set>
                                      <p:cBhvr>
                                        <p:cTn id="84" dur="1" fill="hold">
                                          <p:stCondLst>
                                            <p:cond delay="0"/>
                                          </p:stCondLst>
                                        </p:cTn>
                                        <p:tgtEl>
                                          <p:spTgt spid="54"/>
                                        </p:tgtEl>
                                        <p:attrNameLst>
                                          <p:attrName>style.visibility</p:attrName>
                                        </p:attrNameLst>
                                      </p:cBhvr>
                                      <p:to>
                                        <p:strVal val="visible"/>
                                      </p:to>
                                    </p:set>
                                    <p:animEffect transition="in" filter="wipe(left)">
                                      <p:cBhvr>
                                        <p:cTn id="85" dur="500"/>
                                        <p:tgtEl>
                                          <p:spTgt spid="54"/>
                                        </p:tgtEl>
                                      </p:cBhvr>
                                    </p:animEffect>
                                  </p:childTnLst>
                                </p:cTn>
                              </p:par>
                            </p:childTnLst>
                          </p:cTn>
                        </p:par>
                        <p:par>
                          <p:cTn id="86" fill="hold">
                            <p:stCondLst>
                              <p:cond delay="500"/>
                            </p:stCondLst>
                            <p:childTnLst>
                              <p:par>
                                <p:cTn id="87" presetID="22" presetClass="entr" presetSubtype="8" fill="hold" nodeType="afterEffect">
                                  <p:stCondLst>
                                    <p:cond delay="500"/>
                                  </p:stCondLst>
                                  <p:childTnLst>
                                    <p:set>
                                      <p:cBhvr>
                                        <p:cTn id="88" dur="1" fill="hold">
                                          <p:stCondLst>
                                            <p:cond delay="0"/>
                                          </p:stCondLst>
                                        </p:cTn>
                                        <p:tgtEl>
                                          <p:spTgt spid="55"/>
                                        </p:tgtEl>
                                        <p:attrNameLst>
                                          <p:attrName>style.visibility</p:attrName>
                                        </p:attrNameLst>
                                      </p:cBhvr>
                                      <p:to>
                                        <p:strVal val="visible"/>
                                      </p:to>
                                    </p:set>
                                    <p:animEffect transition="in" filter="wipe(left)">
                                      <p:cBhvr>
                                        <p:cTn id="89" dur="500"/>
                                        <p:tgtEl>
                                          <p:spTgt spid="55"/>
                                        </p:tgtEl>
                                      </p:cBhvr>
                                    </p:animEffect>
                                  </p:childTnLst>
                                </p:cTn>
                              </p:par>
                              <p:par>
                                <p:cTn id="90" presetID="22" presetClass="entr" presetSubtype="8" fill="hold" grpId="0" nodeType="withEffect">
                                  <p:stCondLst>
                                    <p:cond delay="500"/>
                                  </p:stCondLst>
                                  <p:childTnLst>
                                    <p:set>
                                      <p:cBhvr>
                                        <p:cTn id="91" dur="1" fill="hold">
                                          <p:stCondLst>
                                            <p:cond delay="0"/>
                                          </p:stCondLst>
                                        </p:cTn>
                                        <p:tgtEl>
                                          <p:spTgt spid="56"/>
                                        </p:tgtEl>
                                        <p:attrNameLst>
                                          <p:attrName>style.visibility</p:attrName>
                                        </p:attrNameLst>
                                      </p:cBhvr>
                                      <p:to>
                                        <p:strVal val="visible"/>
                                      </p:to>
                                    </p:set>
                                    <p:animEffect transition="in" filter="wipe(left)">
                                      <p:cBhvr>
                                        <p:cTn id="92"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5" grpId="0"/>
      <p:bldP spid="36" grpId="0"/>
      <p:bldP spid="37" grpId="0" animBg="1"/>
      <p:bldP spid="38" grpId="0"/>
      <p:bldP spid="40" grpId="0"/>
      <p:bldP spid="41" grpId="0" animBg="1"/>
      <p:bldP spid="42" grpId="0"/>
      <p:bldP spid="44" grpId="0"/>
      <p:bldP spid="46" grpId="0"/>
      <p:bldP spid="47" grpId="0" animBg="1"/>
      <p:bldP spid="48" grpId="0"/>
      <p:bldP spid="49" grpId="0" animBg="1"/>
      <p:bldP spid="50" grpId="0"/>
      <p:bldP spid="52" grpId="0"/>
      <p:bldP spid="53" grpId="0" animBg="1"/>
      <p:bldP spid="54" grpId="0"/>
      <p:bldP spid="56" grpId="0"/>
    </p:bld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CaixaDeTexto 1"/>
          <p:cNvSpPr txBox="1"/>
          <p:nvPr/>
        </p:nvSpPr>
        <p:spPr>
          <a:xfrm>
            <a:off x="2020213" y="1565181"/>
            <a:ext cx="7992888" cy="707886"/>
          </a:xfrm>
          <a:prstGeom prst="rect">
            <a:avLst/>
          </a:prstGeom>
          <a:noFill/>
        </p:spPr>
        <p:txBody>
          <a:bodyPr wrap="square" rtlCol="0">
            <a:spAutoFit/>
          </a:bodyPr>
          <a:lstStyle/>
          <a:p>
            <a:pPr algn="ctr"/>
            <a:r>
              <a:rPr lang="pt-BR" sz="4000" b="1" dirty="0">
                <a:solidFill>
                  <a:schemeClr val="accent6"/>
                </a:solidFill>
                <a:latin typeface="Lucida Sans Unicode" panose="020B0602030504020204" pitchFamily="34" charset="0"/>
                <a:cs typeface="Lucida Sans Unicode" panose="020B0602030504020204" pitchFamily="34" charset="0"/>
              </a:rPr>
              <a:t>LOGÍSTICA EMPRESARIAL</a:t>
            </a:r>
          </a:p>
        </p:txBody>
      </p:sp>
      <p:sp>
        <p:nvSpPr>
          <p:cNvPr id="4" name="CaixaDeTexto 3"/>
          <p:cNvSpPr txBox="1"/>
          <p:nvPr/>
        </p:nvSpPr>
        <p:spPr>
          <a:xfrm>
            <a:off x="2020213" y="3369918"/>
            <a:ext cx="7992888" cy="1569660"/>
          </a:xfrm>
          <a:prstGeom prst="rect">
            <a:avLst/>
          </a:prstGeom>
          <a:noFill/>
        </p:spPr>
        <p:txBody>
          <a:bodyPr wrap="square" rtlCol="0">
            <a:spAutoFit/>
          </a:bodyPr>
          <a:lstStyle/>
          <a:p>
            <a:pPr algn="ctr"/>
            <a:r>
              <a:rPr lang="pt-BR" sz="4800" b="1" dirty="0">
                <a:solidFill>
                  <a:schemeClr val="accent6"/>
                </a:solidFill>
                <a:latin typeface="Lucida Sans Unicode" panose="020B0602030504020204" pitchFamily="34" charset="0"/>
                <a:cs typeface="Lucida Sans Unicode" panose="020B0602030504020204" pitchFamily="34" charset="0"/>
              </a:rPr>
              <a:t>ATIVIDADES PRIMÁRIAS E DE APOIO</a:t>
            </a:r>
          </a:p>
        </p:txBody>
      </p:sp>
    </p:spTree>
    <p:extLst>
      <p:ext uri="{BB962C8B-B14F-4D97-AF65-F5344CB8AC3E}">
        <p14:creationId xmlns:p14="http://schemas.microsoft.com/office/powerpoint/2010/main" val="10717460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 name="Imagem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642070" y="3674463"/>
            <a:ext cx="3429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Imagem 3"/>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52845" y="2568816"/>
            <a:ext cx="3800476" cy="271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tângulo 6"/>
          <p:cNvSpPr>
            <a:spLocks noChangeArrowheads="1"/>
          </p:cNvSpPr>
          <p:nvPr/>
        </p:nvSpPr>
        <p:spPr bwMode="auto">
          <a:xfrm>
            <a:off x="1156438" y="5283441"/>
            <a:ext cx="195438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defRPr>
            </a:lvl9pPr>
          </a:lstStyle>
          <a:p>
            <a:pPr>
              <a:spcBef>
                <a:spcPct val="0"/>
              </a:spcBef>
              <a:buFontTx/>
              <a:buNone/>
            </a:pPr>
            <a:r>
              <a:rPr lang="pt-BR" altLang="pt-BR" sz="2000" b="1" dirty="0">
                <a:solidFill>
                  <a:srgbClr val="FF0000"/>
                </a:solidFill>
                <a:latin typeface="Lucida Sans Unicode" panose="020B0602030504020204" pitchFamily="34" charset="0"/>
                <a:cs typeface="Lucida Sans Unicode" panose="020B0602030504020204" pitchFamily="34" charset="0"/>
              </a:rPr>
              <a:t>TRANSPORTES</a:t>
            </a:r>
          </a:p>
        </p:txBody>
      </p:sp>
      <p:sp>
        <p:nvSpPr>
          <p:cNvPr id="46089" name="Espaço Reservado para Número de Slide 2"/>
          <p:cNvSpPr>
            <a:spLocks noGrp="1"/>
          </p:cNvSpPr>
          <p:nvPr>
            <p:ph type="sldNum" sz="quarter" idx="4294967295"/>
          </p:nvPr>
        </p:nvSpPr>
        <p:spPr>
          <a:xfrm>
            <a:off x="9448800" y="63563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defRPr>
            </a:lvl9pPr>
          </a:lstStyle>
          <a:p>
            <a:pPr>
              <a:spcBef>
                <a:spcPct val="0"/>
              </a:spcBef>
              <a:buFontTx/>
              <a:buNone/>
            </a:pPr>
            <a:fld id="{62456C15-1609-4021-A64B-B010F34C3E2A}" type="slidenum">
              <a:rPr lang="pt-BR" altLang="pt-BR" sz="1200">
                <a:solidFill>
                  <a:srgbClr val="898989"/>
                </a:solidFill>
                <a:latin typeface="Calibri" panose="020F0502020204030204" pitchFamily="34" charset="0"/>
                <a:ea typeface="MS PGothic" panose="020B0600070205080204" pitchFamily="34" charset="-128"/>
              </a:rPr>
              <a:pPr>
                <a:spcBef>
                  <a:spcPct val="0"/>
                </a:spcBef>
                <a:buFontTx/>
                <a:buNone/>
              </a:pPr>
              <a:t>20</a:t>
            </a:fld>
            <a:endParaRPr lang="pt-BR" altLang="pt-BR" sz="1200">
              <a:solidFill>
                <a:srgbClr val="898989"/>
              </a:solidFill>
              <a:latin typeface="Calibri" panose="020F0502020204030204" pitchFamily="34" charset="0"/>
              <a:ea typeface="MS PGothic" panose="020B0600070205080204" pitchFamily="34" charset="-128"/>
            </a:endParaRPr>
          </a:p>
        </p:txBody>
      </p:sp>
      <p:sp>
        <p:nvSpPr>
          <p:cNvPr id="15" name="Título 4"/>
          <p:cNvSpPr>
            <a:spLocks noGrp="1"/>
          </p:cNvSpPr>
          <p:nvPr>
            <p:ph type="title" idx="4294967295"/>
          </p:nvPr>
        </p:nvSpPr>
        <p:spPr>
          <a:xfrm>
            <a:off x="189706" y="783731"/>
            <a:ext cx="3214688" cy="563563"/>
          </a:xfrm>
        </p:spPr>
        <p:txBody>
          <a:bodyPr>
            <a:normAutofit/>
          </a:bodyPr>
          <a:lstStyle/>
          <a:p>
            <a:pPr algn="ctr"/>
            <a:r>
              <a:rPr lang="pt-BR" altLang="pt-BR" sz="2000" b="1" dirty="0">
                <a:solidFill>
                  <a:schemeClr val="accent6"/>
                </a:solidFill>
                <a:latin typeface="Lucida Sans Unicode" panose="020B0602030504020204" pitchFamily="34" charset="0"/>
                <a:cs typeface="Lucida Sans Unicode" panose="020B0602030504020204" pitchFamily="34" charset="0"/>
              </a:rPr>
              <a:t>ATIVIDADES PRIMÁRIAS</a:t>
            </a:r>
          </a:p>
        </p:txBody>
      </p:sp>
      <p:sp>
        <p:nvSpPr>
          <p:cNvPr id="16" name="Espaço Reservado para Conteúdo 5"/>
          <p:cNvSpPr>
            <a:spLocks noGrp="1"/>
          </p:cNvSpPr>
          <p:nvPr>
            <p:ph idx="4294967295"/>
          </p:nvPr>
        </p:nvSpPr>
        <p:spPr>
          <a:xfrm>
            <a:off x="189706" y="1398186"/>
            <a:ext cx="12002294" cy="855662"/>
          </a:xfrm>
        </p:spPr>
        <p:txBody>
          <a:bodyPr>
            <a:noAutofit/>
          </a:bodyPr>
          <a:lstStyle/>
          <a:p>
            <a:pPr marL="0" indent="0" algn="just">
              <a:buNone/>
              <a:defRPr/>
            </a:pPr>
            <a:r>
              <a:rPr lang="pt-BR" sz="3200" dirty="0">
                <a:latin typeface="Lucida Sans Unicode" panose="020B0602030504020204" pitchFamily="34" charset="0"/>
                <a:cs typeface="Lucida Sans Unicode" panose="020B0602030504020204" pitchFamily="34" charset="0"/>
              </a:rPr>
              <a:t>São atividades essenciais e primordiais para atingir os objetivos logísticos os quais representam maiores custos:</a:t>
            </a:r>
          </a:p>
        </p:txBody>
      </p:sp>
      <p:sp>
        <p:nvSpPr>
          <p:cNvPr id="46090" name="AutoShape 8" descr="data:image/jpeg;base64,/9j/4AAQSkZJRgABAQAAAQABAAD/2wCEAAkGBxQTEhUUExQWFhQXGCAbGBgXFx0gIRwcHB8cHxofHx4cHSoiHB4lHBwcIjEhJSkrLi4uHCAzODMsNygtLisBCgoKDg0OGxAQGy0kHyQ0LC8sNCwsLCwsLDAvLCwsLCwsLCwsLCwsNCwsLCwsLCwsLCwsLCwsLCwsLCwsLCwsLP/AABEIALgBEgMBIgACEQEDEQH/xAAcAAACAgMBAQAAAAAAAAAAAAAEBQMGAAIHAQj/xABIEAACAgAEAwYEAgcGAwUJAAABAgMRAAQSIQUxQQYTIlFhcTKBkaEjQgcUUmKxwdEVM3KC4fBDkvEWJFOi0hclNGNkc4Oywv/EABoBAAIDAQEAAAAAAAAAAAAAAAMEAQIFAAb/xAAwEQACAgEEAQIEBQQDAQAAAAAAAQIRAwQSITFBIlEFE2FxMoGhsdEUweHwI1JiBv/aAAwDAQACEQMRAD8ApfZCBIw0mcilMWwjMcSFNZJFs1qNqIHiH5sI1zMqakAUhjbLpTSaN7iqOCMnLHFMCjGQK2sg3TDmdWiiRXPfExzeX7x2EagHfSBpG9AhQWs8+Q5C+mBFrQw4DnEMUqFIxSA7x7EjVqNILBrSATfQnrjTK5jK6xriMWkndEUg1sppqJBr05nDns3n4m8KQRJzF6BZAJYAE3YurB8xz3wHN2gdNcZAVlAqmoMRz3XlQ6+nrijLJkH9m6adTFoNc4STR2APiNbVuSBeICtkgnUdxQ7xV0j17wAdOV89tsLcvx1kzAcBDe5DE10J899udYsGeyME02t5UjLKSyorEBlAA2tefM/PEUybQvXgP4MmaJVGDBY4CjkSDSA5Db0wsGjuefvH/wB7zEaQOJWjB8EfiIX05WF2G11sPIYZjLFoly6yDuwzEMq6SxYkGzzI8IoG6rbEXF+GrBIyd5ZUKfHe+oKQPDte551yxG/wTtNpOBMsX905Ao1rZVsbXp1Vq0rR5WD88J89AREXFowIOgBzeo0RqIOw57tv0w6lymWL6GTx6koLdaT8VsWJ1AEVtgfIIrrNHGigmtmF0ASRpY/DVbna7xXc0uS20fPw6NYmDhAiqGUhb3MrhOd9NIwty/CnnklMRZl7whLUHUAaAB5gKNrP8sWaNAYljkrxxBTZ2sCLr/iJ3w7mzceRyTT7Syau7VQepFi66bGz6DAN0rpF+K5FvbCSDL8PymWIDyhmJIUGtmFncbFnoXzo+W1Uz0eU5xxSmlBfdQARsR4CD61uax72kV2dJpDrllUchQ0gVyUVYI68798eS5mR0bZgxHO36DbblgsekV6YtzebeKNJAkghdtMbLmJR4huQBr2q/KjvXLGv9rSsrMHkKpQbXJdE3Q3RtjRokj+sM+pm16NJNbJYGwrqcGZHIP3UjEbkFaPTxIQQedkWPa8WdLs6Ll0mH5WctljIFyzKWCP4KNsGKhmCKu4B257fVRBw2R4y1oAzINAH/wAzSL3o7g1WGGVhlRTptQd6G2/n7+uDnT/3fIPzgCz1sTWL+uKt10Ty1yA8dzx75EJSIxxLHphDINKg6dwW8VHzHTHmRzEbKodsyy6hR1uwLDyDKAD7H3xBkuFvJNH3p1h3UNqs6rNbnngvLcPlGkaiAt6RZpb50L2vFm10QuOaNe18SZiZGjEpkcAMJACS4oGiGA8hy98L8rlUsjNTaSI2AADatS/Ap0q1Ana+mLDw7KMs6MxvxAcz1ZbO+EvGuFF8xLuWPeNud9gxrfrtiFLmiH10S5SODuzqzKivFpLsbI2oKVALEHpey8xgSHgyyfiKYwoIHxAE2TRAYE0KNnpt54Y9m+BqspJ/ZIJPTdcGcM4GGjA0uWB56RX0rnuftijyU6CLHaYo7QKZArExppXSQhTc8yajRQPLbCbLoSD4gzdF0HUwo2QV2FCzucXbNdmCFNBrrahWFh4CyMCFIaiP+ZSrfYnBFNA3FlXLgtdMAcOeHcReJFWnaHd1jckxksCNWnTzN8xRwQez9V4Oew+mG+c4JUcFL4giqd+RC1X1OIeRXR2x0ZPLlTGdAlA3PdFQQp6AExnY74U9o8lGMjC6qdTTP6HTQHkOtYbP2eIG6/cf1x7xvJgwZZABShyeX5iMcpR8HO/Jzj9XWx4duvi3rBGblJXu0LiAG1jZ7o+ZqgTud6xYzwsXyGJTwIkGgt+uL/MXuV2sScL4QrtCrAVINRo71vz8uXTFkaOKNiixjYsAb35gg3e/I9OmJ8hlAhhPPZY1r7/zwRmchpJc1/st/IjA99sttpAC8NB3ob4zDSIrpG45DGYg45xw/JJrKzS93sKIR22N7gL5V88H/wBn5VdGvMTN4fFpg357gapt686GAM/E4lFhtQtTq2Ni9ue3XBQglk8YRV0sNy8aiz8PxOBV1yFYa3AdrGGQlySSo9Zi43DAkRLYAvf4jer7eR5H8aly8E7F4Wkazv3wQX4WsVGTzLfKvLetrw6UMH7yBWouD+sRA+Z5NYO+woXixcd4WZIMvIZIq7uMMe9WrACMb32urNbU18sQ2uDqYvbtBl0ZnGVDBiKX9cn22F7oVv8AN7asDScdieYyDLqgN7GSV+ij4nYsdwTv+0cFZfs/CJFR5MvpIFsJnZbB8W6R7E2NvTDfM9jIT3XdSQUR4tHfNZtUsl9I5tZC8gpxLlGiEmNuwQyuY71mjIZlIAjsAMmnSSbGrZ73vlibtDk0lMUgH/DUMeYJBIFHzo8vLEXC84nDJVMQkYd5pdYVYK1q4DBnkfcbXsCfWhhuOJRxoWMXe+Nwp1la6jatz6HC2RpeoPBN8AL9mpSyyrA5VVBLBCQQABYNURtd4l7PQqmdIC0CTzH7V10wXlu2+ZCrpXw6ANDHaqIO1j5/LliPhXFS0y6yQBv4W8qNVgM8ka7CxhIJ4nmO7zUezeGReQNUxYnfl+UXi19sYA+RlBF6HVvvX8Dir8flVnDobplv3sD+DHFjzfE0ky01eIGK6A6jffy+eJi6BsqQRJUi1KaXlXQgnr5G7r2wbPBEImIQ3XU4F4bIn6vI+iTUN441IJa9udUeXp1wvHFWdDXPXpNqwrVRUcugZd8B3NBqs3yuRg0Wy+MXtv8AL0xC8gGpAhogGtua36+V4a5DI6nYFC6hFJKsR4iyq25FULusET5PKqQx16PhYktsTsvTeztisJNN8t2dLx0j3s9wwZyRo17tCqauWrawP54T9sMgco00JIZTGrAgEX44zVbgbjniwdlM6MtPJIVYxFWQFQWN7Mo0opbdVO9YRduOMLm55GQEBYKNqwshgapqII9QMOVFRXuATlZHJINJpVsEUR7j0wXHxAgH4R8sY+Zym8R3mJ5+OhuOd1XlywyyeXaMS2YopLjCOFYopDFnUkk6rQAGthqA2wuq3UwvO087R8G7vJw5tpGDmSOgCNNMQfK+nLEHaHhaQTAI7HUoZrW6JskbdMMW4ok+VOSOdvNCNQ0ixSEBgVNgiuh5WOZwHw/JCRgjza1jjVBMdXjZfC2zHnqvmTg+TZGNg4qTdCDgzkauVlr8uuHPDpCgaz8TE4kzsMSFxDGoGrSZmTZTqAJIJoj2vDrLz5XTdROL2ZVUDrQ8RG4GE924YaaQonzn731wFKbwfxyeFnjWOFT3bh7AWmrmNjXXrgrj7KLiWBVYiywVQFA3JZ+SbdScdfSRCRXtiV8XI2OXlX88R8SksoAev81wVnciwdFX42RQF1UB4VaR2NE/mAA86wuh1CUB7YKrqCQPFWoKaHM2AbwTa1yyr5XA/wCzGRWbOokisyUxIY7bKauj51gTtJ2z4Tl5xC+TkcxmjpCMCPEAPFJY3pvpgrshBLJO/dgoV0gshKnQx8e+lr2HLb3GOdR9nEfMtNNIdAkBoFdRGoAWDu2rnsOXUcsO49u3lC0ky8duclCmaCwRhVCLYQ7atyb351WECTgCtR6gdf4YP7RSBcxNrVSwY6/Sr60A3L39+eEU3FYmPwgKq8trJB3670BzwDI3LpBYJLtjjIyrzvZRVm6BOwq+uBeMUUI8XiIB8XpR6+YwHkZl7iVgaHeBbAPlfvywLKTtTF9/CoNV5nc7cueIxp3yTNcWjoPDOw5khikB2dFbl+0Af54zEOQ/TRDHFHGMq5CIqg615KAB/DGYe+WhXcziE2nRtpv5f9ftiGFwpDLerrdV6V15YkzES2NLsb6Eb7chQNffB3DMurISZCPTFnKlZFEGelvT4gdgdiCbrfkTQv58sWLhzB8ge7PjiZjRIsoVDH3HeBq60MCcE7KZjN//AA+liOhYbVY8t+XLfFt/7C5vLwnvB3q2NcaNuVbalqja2Ty5+fLFJSSLRiUaXiFsCD4QbBI39brbmf4YY8L4jpDPLJQplVQGvdSboDlq08/XFnP6LswC/jUxoxEbPIQGUE0xFECxWFHaaP8AU5oGllTMgMWKJOW01XP9knny6HEPlndFhz+Y/DLKkirqEniQBaDAn4gT9OQ2xPl8nDm5JmE1zRFR4WASnFn/ABN06b2Mc84rPHOplRFjfcrGhBodOg3sf9MXLs7lVzbyjMudISOWId+hOxJPgZ6UFWUHUOgwCWPbEMptsd5rJx9yxiId411OLsi2ANjYgWa9998RZGeF4w6OpIFMqhrDULUazRq+d0cPeEcNhy6yCC3EiSKUV1IBY3tpUAC9trroOeARk5kUxLLloQ48OlB3wP56JJ1LdjbpWEpbPcZjKQqWSAROIjosA+JESzp1AgJsT4QN99hgnIRvGZUjaAxuRqJaNCUZEO5GnWdWuz4jXTG68OKB6Eksj+As0RTUAW8Q1kE7HmLB6HEe8etGgV2JTvEYikoHxE6gOagXflg+5JWugK5Yy4VkdLlpTG0FAGJltCAQwOrSEYhQByPM+5Az8EBldsnle9if8QSFkRDq3q2N7ctxeGOT4hlJQEkMYVd1HhrbbYAdNxzOJf1KGWRmhmtBGdoyNqKbqaIu6+pxVTlsuidvqPctBPllaMxQQJILcK0knh3IJ20b0efTbCubLwlUV5Wc6rGgqNQaxRCBjpIvkAPXbD3tLBJPHHNAgkmj0j4t9IskWLpiPTcHlgjLw6a/DKqdltCN+g+H7York+GXrb2hFwyKKN2aOLSUoWzHVuvQlzY+HoMKOLoZIJ5zKxYOVoqBV0Su1313Jv2wz45wSNs0z5q5FC0IxqFWoo2HXybr0OFmdWFcsyJmIiyoyKKVW0+JtB1SEkjkOZ5YuouD7tlfxLlUWXIZNnhQxxKqMq2zAMVNWVu96UCz6+9bZLMq+UmjkMe8gKBSyqyryN9LN1ywpzHGe4yQCyQ96ZlK0VKsDHpOtmGlGs7Wb8IoHlgjhuX1xxtNNpaQAlQDYLdNrAF8jQ2PTFpOUVark6KTfJ5FkYAxd3EDUm6nUzAWdJoHw7jbreI+AcK7pmEecOYIB1oilaJNlm30hjZrVucMD2WikEiQyFSoYFmkJojqRqvz96OKoOyuSjmWs13kisxBijQoo3I16m1avYnfocXhjtNz6KTlTSiX7tFMVy8cmXaezJobQzeEb71pob1vQ51ivSLmA0TyCTS6Odcj2d9QRgCSCN0PLrgKWeeCNpFkjeNKU91LMCAxNbbKvXcAdcNez8P60j6pD5rqGvnsN235HocAnTdJfwHgmlbEeZmXXJHmQY9IWqdFLE/FqLLy6bCxeNeNypGZZLkCbEhnGhgCNqCg9TyNjc4tXFJkhIBtmbe9PW9zvy38sJ1KZmWSGSCN0VEa2DXblwbo1toHTri6Vy58FG/TZX+D8QlnnUQqnIRhlN9zGAqajYJUlEGxNk1zw3Ts/L33dxyKKXwgk3XrvfJueHXZnhUX4ndxIiCQikWr0kgFtyTtvV9cJZu02Z/XJooVVREzKD3YJZVZbAJUgfDz354PsjNgt8oovXZvLPkstM8jWRRYqurb2sch9hgPhvYCJ3hzBaMsNL13Z3PxDmbHToOXLE3HJJzllRF1GUBWYGiNQ3aq39tueGXDeNOHMWlbjRWbYig1gb8jZVtgb2Hng+OrrwgU26v3OcdtuDvLm5/xGXUxulFHpt6V5+uKrD2NlvSuYChqtmQ0vMbkHa7r12xZszm5pZpnMbK+s1yqhemr+Xzwp4rx+eAAziTQx0kAReIeXXAXJqVRC7U1bNYOz8kUYidxp1FiSp8XhA208tuR3wFkDoZwzLanQx5El6sgdKBvli9duu1iE5bKqp8QNBWQhSAAl7+GqO2KemRd0mlICGNw7hxpJJ5cgN7W+mIlGpEKVxEXEuDETSBIXdA7BXuPxKCabl1G+PcbvxOiR+K1H4gwAPqBewPljMOJMBvMzeW8IeIFVIBoctxd7/xG2K7mhLEa0Mockra7EX+WxvR2+2GWRzeoIpDEAfAGIBF3vQFjp6UMEZ0d8yqAUCglQrE7nnux26bChz88Ci6dM6gjh3b/ADcbExxZdDp07Qkbc+h5++Nm7ZcSmBJzOkDooC7/AOUA/fC+LgxBJDncUdSA7f8ANibLcEdbCshvzRvtRNYluPgmpCzMRZmdjrWWYjm1vJV789wNsbTysQ5NRMbtVUgeqhbpRt5YYNwCcPqR41sUR4xe1dUO/r88SwdmJmFOVPWwWY/wH3OIlNImMGwXgjo0dFVJ1WdQuq8QoHY6trGLR2D7Svlw6mGWUck0lQF0mqJYgL7Yi4R2Q0Hmx9CQB9K3+uLpw3hPd0SVX10jagBuefKuuAZJxl4CQhJeQL9Uld9YiREdCO7dQ1E70a8LC/PC3OcVKx0JSO7enSIiJaJINqgI+JW22sk4s+d4l3ZpSzgjmm2/Tet1+vT5IM5lcvPrRyVZ9yAwBBvVQs+Zvmvthb/ijLkNtnJek0ynHnjdu7jH4nirxfF1Y7MdJWvTb1wk4hxVnzEjyINTEMdPeEryUUY2UigTt611wf8A9nMqkoJzDq9cjLH186S78qG3n5HHsojlnDzFShUkhmq6IYsDSkAbG258sEWXGuF0C+Vl7ZSZ5+8YK0aDYC5H3sV4vxGNHppFc6w3ynBsxKitliCiudXdvtqpbB07HYk+W+GI7FqG7wTg+skV7ACtrFnbdqUfPFs4DmEgV1YghmBCqUAUb7nxBfLZbxd5sb6ZEcORO2gfh/DpxEqEvEwJNpRJ99Skcq3xJxHszLmI9EmYlZbDUQoojkbVRyvDo8ViN1rrpS2W/wAKg6jvtdAY3TPx3RJB5nbZeniYeFfmcDjsXVB3vfZXuK8PlRk1yySAL4pHZbABsXe/z/0wql4flO7kbu4SxHOgWs7g2bYmtx/pi9f2pAULNKAgNamDAE+SkimPtePcxLCAUDqHdDS8mIo/lrV9sQ4JytSJUmlTRUuy3DmS37tEjKqYxW9kLZ0jZffYmzgrN8NnZywaIITfiRrrrdNzw27N5qNspDUiErCmvxDw+EDffbfbfDNArCwVYehBwR44y4BqbRyPj+beN3AmZakOpl1C2otyU7eFgd7PIYr+SLNNqTXIFvW9GhY2vrR5euOx8Q7MwykloUa21G0B3oC+XOgBiaHhKooUKor4VCih60OvrgnCVJFKt2VPJZMzZLMgCjrjIF6bKV5jfY9OWLBwfKsIzHQ8QXU1netz6DfBjZc1R018/wCuJcuukVQr3P8AXAFj5CufAqzvB43a3Mnls5H0AOFfBIvxXjMuYEaukUSpNJsWDHo3lW58sWXO6hHI6AGRY2KWdtQB0+nOsUuXgmeZ+8/V4r56hJImoqACR3c3MnlQujvgsUvIKTZZuyGQ1v3jtJIYwugu5O5Db1yuq3rCvOdm3kkYM50vP8Oq/EzyEkeVEYL7A55xnZssyKojgjalJOklYwUJJN1X1vFoyUau7Ob2kJHz8Xn+9giXCK2NM4hWMDc2fsv+v8MUHgcxkzOYeiHVmDHTzHILfPbSL6WMXjPZ0HkDQFfTFNVnSVzY0nXsBz1PqW/UAkfPEyZCRsy7E9bxRf0gI7tlobP4kuwA9h0588XsS8+Y2/mMUDtXnJv1uGbLK79xelwlgSHl0I28J3wGE0ppMJJPbaIOH5iaLiKs2ZJMEFq5F6e8FgBTfMydL5k4vGUDzhmlZJHcbsFFFh/lHKq5Yo/BjLNmMxK0UTNIqIO/A1bAC0GwHwDpsCAMdM7P8KdYY0IAZVA23oj2xbuX2R3gWrlsvW8aX198Ziu8W7XpHPLGatJGU/5WI/ljME2lTnPDFbVsGYDoATt/Lniy8FyMhlDMNCdb3bkegv06jFhjyCjb7V/LBayxpsT6f7AxSU3LohRS7Al4YSetYYw8LpfEfCOd0B8z1+eNU4p+yDV7mhdel2B70cbPxUXRViRuLJIHTrZv/CV54XnlSdMPHHatE+UykR+AK3+Gj7/7GCJiEF6XO/KNT/OsCrnYWuztz3Flv/MG/wCaQ4niaM/Cygt1sCr9RoRT8nPvgU8rfQSONLs9fiSomptSe/O/kGxGJxoLNLLQHxS6jV+QdQPoMGoPzCU6RttKVBb1Z9yfRI8Q5iJwFs7sbuRFr5Bx3kh5ckwG33YWl0R5OUEHRProbswQVz3NV9ziXLOSv96JSRyGqr/yk3jXOd4dSSFQpX86MhYb/DGh1kb89IxGsncqPwo4yRpVb0yNdAHS1v8AXbfEO32SqQTlInFNI0IvnpUg/wDM9V98Zlc1MwKsYxGdtJmDbH9wL64W5bJJAVDQt3hNgM41G+hQUR8xj2SK5m1yZhCf+HpOx8gNRoV6YmjiaWLXMf8AujSFdtVEAgcj8YAHzxLxHORIyxyIdQQUI3dQAfRCQT9cC5ruiU0TCOtm1R2b87KEk37YKiiGhwuZieTbRqkES8+viBPttjkczJcuJFRFR0LP4a1FydNkHWl1Vm9hyx7LwsxjQwkEhWwzKh0gczVgDytvXEEeTm1aW7ogVbLKXHiobfFZ8+nriPO56aFjGI2KD4b0Cwf3dHX+mJrwR9TTJZqHUGOaDVyClAav9pXsedAYmhilZykcqDvByYSDUp3onV4hz364Y8Fg1NqngVWrwBlBPvpB/iBgXOZvTxFNKa/w7G4+Iaxpvp09sdfPH9ia45FRtYMrHdoYw+k8rJ3NDmelnfF2m07qpACbMBXhHT0Ufflt0xQBEWED5ggIq1EF+JgGNgb7KD+c+ewOLxMispVaVU3KigK3NnyBsm+vTFlkWPImCmt2NoTZ029fl5gDr6/6nFl4ElR63OmMeV7nyHmcL8nwy2Es1d0QNCg7ybdKPhX1P3w0dWkonSANlUDYDyGNRZPSvcR2c/Q1zmdLciVXoLv5k9TjSOZq8/kMeOh9vbbE+URaLOdMa7u56Dl9SdgMC5bC8ID4vxiLKwGXMt4WtUShbt1rYbKNz8h1xXcv22y0x/DdldTsGDAEH4idtwFBavMDBvHYGzUhOpQiilUopCDopNkUefeXpJuyOWF2Y7Lols6Q2o591pIvajSir6E7HoTjpLFLt8lFKSfRv+j7OCTPZ7NKLikKqjGxdb2Bz+EX8xi7djcn3kDytYDyEjxHkqonI8t1O2Kn2RzUQgkCIqpHIYyVBUa2BO5PXV4d/IDF3yfaDKKv6vFMkk3iPdRMGb4idwOXMc8MpRqvYHbFfF80kYY0TTBR4hvsSfy9KH1xXJ+Mx38L36EH+mBu0HE5GZV7mRbdiNidTGrogbkBTsPI4W5toytEur8zajbz2u6xWoM7dJD2bOo0LshYUQu4HMgnnq8lOIeAOyQgqa1MxP1ofYDFVny6vl5IxIpYujrqDV4Q4N0D+0MLEzOfiUKk0ehdlUFaA/zAHGdr/h8s6qDX5jul1Ucf4zo2YzZZow77aid9hsD5D1w5y8baS40lQCb1Dpz545t2f4jm3mC5hUkBBAIkRVHI2QGsm1G3rjqOeyjx8NnIC6mjKpt+Z/An1LDBdDo3gxbZd/QHqc6yZLj0c+yXYY5iNJyouVRIbYc3AY9fXGY6YmSZAEVX0qNI5chsOmPMPbRXk5eO/ujOALqmYqK/wsACPUXiQ56HoizNVOIlXTY2vXsq31AYb4qOcRpTpeV9X7AYu/zjjpF+eIlgkU6WkWuaxyKJGvzEa2B88A+Svt9uC3zCyycS1D8KCNqO5hlOw/ekZWjHtZxGvE1kvuklLqd6CugB5/iKwBqutYRZs5hfFP3TfsJMRfppiUkD6YybOyrGGngZl6GU0g9ohpB+mIlp4Sdv9yY55rosEfEImLBXvSN/w3NHqCVVlA9dWMinjegskRY8gJUsH21XhNDxuCQU5Mn7sjCOEf8A4492A9R88b8T41llUK79+ANool7qIeX7zfPA3pI+LCLUz8lh0FSbDqefI8t9x6HflttjeCd1IKSEN5g0SPcemKdwziHjDqrRHfu1jalF3dgNYvayfXyxastm82wB3kBNBrV19rOpRhPLicHQ1jy7kH5fPSpqCNQa7K7En1Yb7++JYOKyKCqqFF2dAClr82FMevXEi8OkoApEzNu1LQUerIygH2++A5IC6yd2Apj/ADglkOkmwQaIJG4N/LrgN+4ULHGApB7sItbiLwE+ep6LfKwMbZfiMKllCtCjXYgoMb/akJ1H2FD0wBI0YJUyMCthrQEWNjVNfP0xsUU8pY+YrVqX/wDZQPviVI7gbcP0SBo4mEC7WEGp2snZpG3+Qob7XjTiuSiEQRSsZsEswLSEbjYAWem2w9sC5CKQWyKGJG3dujE79Kbb3wFnbUkMrrXMshAs8/GfjPqBXqenK3yda6CcvwcyAaFVIwfFJI2pjXMUDQHp9WxNNAIM1AkbsobnZ5myCR0r0xv2dziJE9yADWANR2tqAFdSSNhjTjOW7yXLyyfhBWZfE3iYWtUq8yTe1+EVZU7Ym23z0dwkOs1mFkZok1sx3LpYC0eRcciSDYHQG6GF2S4egzmpELOqX4Qvd2dS0K5sPiPT3xtMyiIwwVAigeQAAIvVt1o7VueQvfBvZ7h3cFtIC2hO/wATWQdRA+BT0HM3Z6YmCjXLq+EvcHkm7FGWyEbwZeWVVJjMg1tvR71tlW/GxPIHYc/LFkyuVRRUkQ1khliLEn/FN5k89J8hfTC3s7Ppy6sq3KJJwrHkg71rIHLV5E8sGZJH8TWT5sfM/wA8NyxXO3z7fT+f2F4y4CpLLksbbqfL0GN1n9cBsx5KP6k/1xs6OtaEZgD+I4FhTWwvlz29+XraUtvXLISDIoTIwUczyH8SfIYR9ouIiSoYtLQobvUPG3V6DcugHlv1xv2049+oxKuhnaQfjNp8IUj4LFXtuaPphXFKjNpaEKT1VmBHyYkYYx3BbpIDPnhEeXyG4bu29wT/AOk4LzeaVFOt2jFVZ8/tiHJQgkbkD2B/phhxFoFgZZpGXWrBSwHhatiKYEEGjtg85LoFFCXgPEYct36oYZoZZHcgSDWQ52VlIKkAbV5k4bdq1hHDojlNEDF7qIBDpdRrHhXYkAAkb4qEGVZEv9ehzMZBNlW1AqLoHcKRsSCeRwNxjMZpXAkywmCqFBR2ZRQF6VvY2KugcJJ5blCXL4r/AHgcaxunF1/v5hUnaLNO4K9yfESAumtPIatTCyL2JHtWGmUz+Yk/G8Tq4B0gGt658yTQAtiWHniu8EeJ4cxO8P8AdBbra2slgTR/Kp2rEXD5tC6XbNR7eIvllddXQjTRC+e5ODQwRq5IXlJ3wy7PxoavxImFivEdX11r4h6nxfvYxs5lSVBjHr+Gn8jbD38X72Kbk+MyGTRHmI3s0NKyIfIHSTyurGLd/Ypmj7159EkYUDSoYl6JOqz8N4U1HysclFXb+rGMKlKLkwvKplDZAClPF+cbDcnnVAdDR/eOCe23aUfq+XTK5lGQSKzlXVvhOtLJs7FL3298J8p8P4oh0ybEWin26YqXbDh0KlYspCypeqQoWcXy23YgD3I3w2sb2rZJ/uB3ep7kWk9r86d/1r/yx/8ApxmOa/2WPOT5RP8A+jGYn5eX/t+n+Sbh7BmVy0pGiB3l337sMqD/ADWAfpjJeJyQVEWSNeREBFn/ABMosfLC3OcWnmGktSfsrsv0Gx++F7hfMlvTBq9wBZOEcXRZOaQI3NwolcHblYvc2bo1gnN9qYI2uCHvZf8Axsydbf5V+Ff97Yp4Jvlf8cMFiarVQi9Xb788Q4osTZ3NzStrlcb+e23lQH2GBIkPNUG3NmOy+W/LliWNV/KDKf222Hy6nDHIcCaTfci73+Eew64skQ2RcGzmiRdzINa6tvDVi+fPHY+FSo6kOiBYq0Kq0o58lG3TFCyfCI46saj5kbfTFl4VKA/+JSPnz/lhDXY6SaHNJO20DZniZGZnCswVirV/lrly6YtIIaDSiimTYDzI/wB74o3ElrMX+0pB+RBH8Ti18MmuBOh0kbehIB+2M+cbQ5F8gXDeFJmpQGaFGY7jvafVQ1DQQbN2OnLHnEeGZfKT90T30qgEI1ALfItvbbdAMNOAwrEiSIPEQHLHck89/S+grFL7ZcafP0ZSECzBfw1s90VLC7O51KetC8MYIxfD8AMu5LgsayTMSxncX0CrpHoFIoDEEvHpIpI4taM8nId0fOtzGfM+WF/ZzhozssgM0kAjRSgjRVuyw8elRfLnWGVLHIiGV2bLvqaRl3cGiBfkK5D+eHHixyX4UK8p8ssWejRVCuwE+nVpHxAHZupNXthLxfJiZ8t4tJQgqqi2caeQqyBqFljtsee9Qtl4cyHly5dZZtasjS7g2reCzqGoKxNHaulDDaDhcoQKmmJNA77NnlpG2lOpPLbrt8syWJwzKK75pf3+wzGfoPMplCX0R6JZ1tq1fhwg83Yt8TciSd+XpTLhyxI5VLlke+8zDD4iN9K/srf1wplz6ae4y4KQ34iT4pT+05+9dMF8INSDcUAd/kf93h3HiUee37/2XsBbsh4CD3DL/wDUT2eo/Fbl9cMEIqqoehwl4FKSspshe/loV+01/e8NV1AgAEyt8Cj8o/aPkfLy5+WL5JV12REqnb7tHNlHRIGUak3O1qT9xa72KxbP0fTpPkE2WSQNrdQ6l1ZlCsyiQEDnVGtjz54EyvYpXYZh8pI8y7NFmHieNzpotSsdW/KzXmNhibi2aiycUjLkkysjKFEiFgFF0CFUdLPLDEKjGn39gTtu0D9q+0SZEfq8eV7ppT3lTaCSQR46DlVGoDSKG4NctkfC+PyZp5CY77ulZxGOdH81GunXyxTe3HaJM00axICkSfiTBd5JTuxLkWVHIA+p6jDXspK0CI2Xdxq3sEGqNkeWzAdOmGY6X50XBVdeRbUar5HradfQtGSnXcfxwd2i7Ox8Qy7IG0NFZjpbGugT+bfbaq8yN8Ax9osxQUv3gJG0viGxvrv0xesjwZsuHkMWpnpnMaw0hCgEaXC1X7p3xGqwTwzt/Tr8yui1UNRH08V7nHuxHZyWTv8AL5jvctpjZzcR2Gnxt4gOgAG/1xZRwtHSFkAEco1QklSSlA7gvercAg72Di+8Ltct3pMmXZgxsozLRNhmUBlAretgLIxxjjHbAyzs9gKtBRGihSwN62FVr5DUB0wBNTdrscrYuQviuTysEDqGPfykFwdlFkBh6UDufO8H/rbkWscuk7gx7j7Hf3xRs1nRmDo1HvHIBZhQB5C9INed154KzPZ/Oo6hShfSuyzoG2FfCXB5g9Mdki21Hj7MqmuWPeJcSbw20nhbUQ4bbSNtz6+RwoPa2YhlIA1cyrMv88D5tc2gK5rvQQp0rISdjtYvoaq/TCgdcLPFFybklf0GoTajSZeezmZOZQ2pXuzV6r6AjnWBOLRa5XfSK8IOwrkN/uMC8IQxQK9bSM1HzIC/TYjEmXkJFjqzH5XQ+wGGcaVLaLTfqdg5g/cH0/0xmN/14/tN9/649wTkpwU6WOvjb/Ku/wDpjaKJjsi6fucWDLcDRd2vDSGFVFKABi6RRyKzHwFiPEaP3wbDwItWpi1dWvb64skOWDDZSThjwngU+YNRp4b3dtlHnv1PoLxLaXLOW5ukJcrwyNOfiPry+mGiwOzBUBdjyCb8+XLF84T2PihALhZpBZBf4Aenh6/O8P8AMZ0INbUFA3awAB8+mFpapLpDEdK32yh8N7KSsNeYPdL+zXiP9MQcbhSCdREaXSOZPqDz+vzwbx/t8AGXLDWeXeONh7Kefz++EU+d77LQMx1SjUJDVWbNfYYDlyfNg+OgmPH8uapi/jQp1byb+O388Puzk34RF1TfxA5YVhRPpFaS2xJ3qruvocNPBl1NHzJPPcVjOfVDi7sa8JPgr9lmHyDGvtWOZcdy0/fOqqYl1eHYiwCaNndr59fpjpPZnjOWdGfWfE1jXG4Qcl3NU3iU7DbDIcbaQlI49UQ+IsOfsvQeQwbBP5c3uRTNHfFUzkuT4rnYQwSWtS6SyooavRgAfP6nBXBOO6AEzKkILuUFmYknbVdn2xfuLQZNRqkhUHfZPAelk1QoWNz5jqQMV3tbwZYMhJNITGZCBBEfjYFh4m6hQt86JPl10cThkfCEZqUO2MclwhJWjzjO4yeggH4WfmdMamjuSQWArcnEuf4s0pVIwIoV2SJOSjzJ6sep98VPsVm2kiMDOWWEnQbJGltyF8vFZ+eLbBCFO4O42rFJ8SaLR6slygoWTa/vAX8r6YLTNqdiqkehK19NvlWA9W+55ctv64klIWMyuSAOQAFsetegvc+dDApyUVbLLlnvDc5BF3zO1fjvpQ0SeQ1FR0vp1+WAM723MUhWGOKZX/vO9V72N1zFg7E9DthN2lyn6vmMvmZZT3T5sB0/KIbDNYrxEjUT6UOeLDJwJOKM00KyQuPGyyxjTpdiUIprB0EbVguDEtqyPlsHOTvb4Dp+2T5vLnwmJ0NaIiTqsWrCtwQVPyvCuOYZkSpNIxIAcs7HwoFqiW3suRQ5UGxHnOCPlbhjlBnkbu17rUGj7xatywBSxsOp1CuuIW7LZnI5cvmm7xpJNLsHLELQCA6hv1HXoMF27nZF7SDj3EVyiZeDKqviVw7OtklvEDsR+9z9MDdmcpoj1BRy02NtvbCniWakzMiyNS6SQNIrbl9enthzwslY9P0AAAA6bY1tFh9KdGH8S1CTcd35B8DMsiPGsbOh1KJL0k2Pi07/AEwV/wC1aPK5qYZjIfjHwyNDOzKbAJ8DgDrhbwXiivxGHJhWLM1ah0rc2OdUDvgnt32Cy+XlllkmM7zG9JZVeLUT49IB7xenSqwPWzhJ2vAb4ZjyQg1JUnyIJP0hI0UygyAMDojrSLJ+EBTpC0b33u9zilRhnkYKK8RPt/vyxdcn+h7iLIk0RgdWUMo1srbi9wyij6XhLk8g8JdJF0yq7BxYNMDRFjY7jphXSaaO5155HtbqZKFv7C/L149Ya75rXlsKsfW8TxizywW0e+NlixpxxUzJnn3eBfmaVX5b1VffG/D+ESTIzKVFGqJPkPT1xrxiM0tAkb3WG/BM7FGqrI+i18jvZuzQ571v0Axh/EVPG24I3vh0o5IRTY24vIBkcuiINUf95pWuSBdfqWrfrtiuZOfavTD7NzLMjRwsrs1KoUgmycVfhikSaXBVgaII3B6g+W+F9DNyi93d/uG1UFGSoZ374zDUcObGYepClgaemDIUXmReLk/Hocxtncskjf8Aix+B/tz+temIT2Sy8++Sza6ukU/hb5Gt/offHKcWc4NCbK8RWIh3hEqg/AxIHuOhPoRiy5n9IMXdgxIdQYBon28PmrLY2Nf0wjzXZ3MRK8csTLY+PmvobFjmMVziGRaFwj0pYWo1A36je6wrqItuxjBKlR0L/t5CyErG/edVND56geXyvFP4xxWadrdiV/KB8I9a/wD6PPCyGEEgG6/2fpgrPNpXWWqwKXnZPkPPCjVMZu0BzRACyRz5b+98vXzvbG/CyzKyL8KHUSfXb6n+uNMvkJcxsuyD4mOwB6gt1P7q7+ZGHeYhWFDl1BHIljVnYUaGwHp/O8TKWxV5ZCW5kfCoTq8J+G2J8l6/xrEPazPKqBNWkttqqwAdiTXlzrrWH/BEQQGubkhj19B7UfvhD2m7KyMrSF0aNautiL2FqfXyJwPDFTycl8ktseAntNxWJYI4ci6ukaBVKm/ERVn1AFm+pONezvaDMOO6kjBblF3aEkseldT88Lez3Ai7CKCO3boPIcyT0A8zi/wTR5Be5gKyZnlJPXhj81TzbzP/AED39PBLnkU+dNvgiGVXJASZn8bOc0iJ1LCejP8AtP5AbDpXPFR7XJNmipa31Nqdz0A8h5UarDyKC3LM1nmfMk+Z3u8GSzLHz3J6dPni26uitX2KeH92hpAAoFKOX2GChPvdkD3wMr6nNtX8MS5XLM7FmKxxJu71yHkB1Y8gMUlJRVstQVlkDapJD+EmxPIk9FH7x+w+WNG49HFPFNPIYlF92ADV1SqQBejSzfOjhp2b4f8Ar0ysfw8nESEU14m8t/iJJtj7DF14x2cWfSJFiemB1Mm48JXlup8J5bC6NGsVhicnvl+X0/yc5Vwji+d4YOJ5nTLmkjCg91pTWBvyoHcE1Z8x7Y6Jk+zuZynD5Gy5GYzkv51CrQPMoNgKA263v6YE7R/otycijVE0CIP7zLvq283SQEn1Is/K8caTtZm8lO8eSzs5hViE1mwVBoHQ1qL5+1YZxRcY0Dm1J2dP7K57us9DlJmMjwo0szsxPcsQAkYYmwAGJYXWtlqiuJO1HEJM5lsxGGBRhJpP7sZ8BJut2Ub+uOP5biWZZZEjkclmLt5sTeom+Z3vHvEONZqb8MSP3YoUBp5ftVzN4ZiqXQCTt99DvgEJOXUVR1EH64teQgsVQrqT/vfCPsxlwkKC21EmqHmffHSuCdnyaLqdNWWYkV50B1xqrKoY1Z5+WB5s8q6thH6PezHcZnMZkhBEygoTWvUR49Rq1CqOV142+VxzfCcrOwd44pT5kBsJ+IQS5XKOQ1pVd13RdzroUugglrPk2KZlu30beBsyf2SJEX2IOtYyPLmcYebKt1tHpcOKopHT+KCJY3llUERoWJPkoJO+PmnLZnvQZD8TksfdjZ+5OOsfpI7Z5f8AsyaOKS5ZUCIp5spKhyDyNKTdE88ce4Sw0Ko6DDugacm0IfEl6Egh8eXiSQYixpsyUeTfywmz8lufQAfz/nhvIcScMj1SN3bkyFaJYGgtEFR5mq3xkfEsijV+Da+GJqLryLezcYM6FhSi2N7WACfpdYljLJLqkUrqa9+u9nDOWBUNKKseQ8sacQW4kfyq/wCBxnQl679+DRnzEfrEpAIl2PqP64zFbXPLQ/DT6f64zDYuWmxiN4iefLGwbG2vzGExgOyHaPNQABJSy/sv4h7b7j5EYD4hPw/NknN5VopDzlgPXzZev0bGmm8Rug8sTuaI2pm0XYSZgW4fnIsyo/4cp0uP9+tYEg4UYSx4mJYQigDwmpLJumF2BtYTc49/UyTqBII5EbV62MWPhPaXORjQ7LNFyKzjVY8tXxH53jm4vvslJoP4ZnoGjByzxSoorQpA0+hFbe1YTcZyZkl1A6bHIjy9RthhJw/hmY1fhSZKRxReCtN8/hA236hR7424f2SzsJZocwufy9bDWA4PQHUd/m3ywF6dc7XYT5vuAZaRcuCski3u4UA+VC9tgSNj13q6wNwrJ5jPylUNIB+JI2yqo338h1C8zzJPMScH7HzSu75oNloIzcjyAg9OWrd2IoauXIDoMEce42jxjLZVTFlV6DZpD+055m/I/PyBYYo4uX2Ulkc+F0GTcTigQ5bIfCdpcx+aU+Skcl9vl5kXLQFaBoVyG1f64E4UIV2kD15qRf0P+uH8XDo3U9xMhJ5K9qf4eI+wxLbZFUAd7pLad/Oh9OeAtBJuyL6jDCfKyRWHUhgN63H1H88DizRNDHEEPcanRFvUzAX7/wBMNch2oymS1QZjJMyu5PeEKwYKSFJD0F29eZOAUzRiVplQFxsNQutmuveq+vniyZvhOR4h3Ujs0wj5GCeqG2pCFO24o8jgOOcpZZJdL92XaSir8jjsXxuDNs5y8ZSCKliHhC2QxalG4a+fSivW8WpgbBAuuW9b+vyxU+y/CMlk3cwSMgkYFlmPM8gFdquugs8zix8czUseXkkgiM0oX8OMEDU3TckCup9Bth5AGc4/S/2w03kY6BZNU29+E/Cm37XOvLnsccGaLW52verGCOI5+ZppXmszM7d4Tz1XTfQ7V0rD3gvC6RbFE7/LDWl08sk+RbWamGHGgOCEwx6gQAwK7jnf+l4X5ZKY7NR8v474s+fhBAFbDlhc2T3A9cP5NO7VeDLw6pNNy7Zf+yOWBRZN0ANLqreuo9PXF+iimmQmAgldJVnW1sEE+HUurkR8QxW+AZQd2CfhAA9z5DFjyPFcnGxhnnjSQMRomUAfIuKb3BwrqZ0qY3o8d8pFa/SF23z2UEaEQpI+rUyEt4Ko2hNKbIIbUeXleOd8e47DmYoay4WdEVZJ9VGXSKsqNiTQ8R3xfv0ldlzmZRNHPFZQKibBK6BSGO7M1WRis5r9GmaVYyhDRuVUE+Egsa3F+eMqeS20jSbUas55nzpf17sH5tuPtWD+CPdnCXimY7yWRxyZjQ8h+UfIUMWDg0WmMeuNTRxdpCGva2sNkbEJON2OIrxoNmVFGSGlY3yBONOzN6w2qxfTlv5fMjG+bhJgJH5mCfXE/CI9IAA2vcjysC/rW/rjG+IK3K/Y3PhzSgq9yTOEgmzQB2s+R5Af7/jgGXiNIy6fDvRvfDvjHA9TFwzC96P3r57/ADxWuJ5N0U3RHpjKw5oTaSZp5Mco3wRhzjzAKzHGY0xI6Kr/AExOpwJHidcJhwgOBt1xhTEKsBidWxBJJHEWHoMEplSBXP0xrCbIrYemJ0Y+Lc74qyURUNqFHliMEo+pGZXG2pWo17g4kYDffG8cYO/yxxwanarM1UuidOWmRRv71z+d42X+zp/iD5WT03Qn23AH0wrkam2rHiwfm2BGJ3PyRSHE/Y6atcDx5hD1RqP0Jr6HCyTLMh0yKUbyYEH788Rwu6MWRijeakg/bD2PtdOF0TLHOnk6jf6bX8sXTRHIqi4iyAaXYVyF7fQ7Y3biyOPxYgx/aXY/PqfqMHj+z5qsSZZyd6ooPXc7D2rGcQ7FzIuuNknToUIsk8tjz+ROJ58EceQDh8CS6kDN4hdAAkUG3o0KonkcLcxwmKEseGiA5vUjhjIveIpiAIVH2Gss5IHQgdNr2nAxk4FIAfNFwzAEbCiNIPRRe56n5Y4l2iSIzEQqaGzMSTqYcyBdAdBXOrwtpozlq5xg+eL4TiuF30/1I1E1HEm/3p/kPO0HazN/q8mWzuWVNYoOVZLPsbVvlWKrw3tNnMqKgzMqDlpDEr/ymwPlhrku0eZhXSsrFf2JPGp9Ka9vbGx4lkpiFzGSCO3/ABMo2jf/AO23gxoTx54P1wtf+f4dfo2LQzwkuHT+v8nnE+FI+aSRECRyQxzFRyDONwPSxfzw3XYbYJ4oiIYVQsUECBSwolRYF11rAwN/yxsfClWlg/P17PP/ABTI56iS8IFZLONcvkmeQAAkk9Bhll8veHnZ9wmrTeoig11seeHZulYrilultLhwzKiLLhiPFdKTXPb/AH8sMOLZjueHzyaVYrEzU4DAtWxI5HcjC7s45kYp8SRkBb33rc16eeFn6UO1cMWUzOUqQTMAgtGCkMFNhq0mgehO43xjZPxUz0eGtlo4Vk+MzRuWSQjS1rYBA+R2xZT+lDOtE0MrBxoYK3IqSrKD8tXLFOK1iOJLJwBY4ufQdv0ps0git1XzOLcBQrCLhcNy+ww9nONLTxpNmZrJ7pJEbHETHGzHGmCti6QdO+mGJfNyx/hhjlmAykgrxeBR7O+sn5CP74TZp91HkKw34fIunNsT/d5UlR+8GWvua+ZwhrOeDT+H9bhy8lij08Q/n9q+mFnEcsHStruvkdsJct2lYAakB2qwf5YKPaGJlo6lPqP6Y8n/AE+WDTSPSfMi1RRmcqSDzGx+WPMF55omkdrbxMTy8yT54zHoFLjoynDnsvsfviTXjMZhYITQA3y9zgwKPPHuMxDJSJBIL8ONlkN4zGYijggYwoMe4zFCxGyDmcQPJZ9MeYzEogkDAbY0aj1xmMxJxuoHpeMizkkT6oZGQjqD19uR+ePcZiDhxD25lK6c3BHmI+RpaNeo3U/QYHfgnCM1/dyNk5D+V9lv2YlfkrDGYzBceecHaYPJghkVSQo4x+jLNJ4otGYTp3Zpq/wtz+ROKp/ZUkT/AIkbow5KykH6EXjMZjY0+eU7vxyY+rwRxr0vssXaHh00YhLIQqxKjN0DCzXvWAYsZjMB/wDntVLU6NTn3bX6ivxnDHDqNsfZBcEpG3niy8DUUQq+MqaJ5XW2MxmNXPxES0STmXjs3lBEq0L8NE7b+fvjm/6X+Md7LHl1J0x2zC/zNy+i/wAcZjMZ2Bbsls3NQ9mJJHPGyikbjAn6oEusZjMOSxx7oShll1ZPwyOixwU5xmMxMVUSk3c2ZFlpHvu43euehSa+gxY8t2AzbwR5iMIyuL0atLD0IYAffGYzGRl181llBL8Jp6fSQnFN+SuOp1WQdj5eXtiDMO2hlU/HSmvKw2/zUYzGYR/rMmS9xqw0uPGvSBGAjmMCyAnkPpjMZiuOV8hZqhZWMxmMw9Ygf//Z"/>
          <p:cNvSpPr>
            <a:spLocks noChangeAspect="1" noChangeArrowheads="1"/>
          </p:cNvSpPr>
          <p:nvPr/>
        </p:nvSpPr>
        <p:spPr bwMode="auto">
          <a:xfrm>
            <a:off x="1492250" y="-1365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defRPr>
            </a:lvl9pPr>
          </a:lstStyle>
          <a:p>
            <a:pPr eaLnBrk="1" hangingPunct="1">
              <a:spcBef>
                <a:spcPct val="0"/>
              </a:spcBef>
              <a:buFontTx/>
              <a:buNone/>
            </a:pPr>
            <a:endParaRPr lang="pt-BR" altLang="pt-BR" sz="1800">
              <a:solidFill>
                <a:srgbClr val="000000"/>
              </a:solidFill>
            </a:endParaRPr>
          </a:p>
        </p:txBody>
      </p:sp>
      <p:sp>
        <p:nvSpPr>
          <p:cNvPr id="9" name="Retângulo 8"/>
          <p:cNvSpPr>
            <a:spLocks noChangeArrowheads="1"/>
          </p:cNvSpPr>
          <p:nvPr/>
        </p:nvSpPr>
        <p:spPr bwMode="auto">
          <a:xfrm>
            <a:off x="4344512" y="6023482"/>
            <a:ext cx="402225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defRPr>
            </a:lvl9pPr>
          </a:lstStyle>
          <a:p>
            <a:pPr>
              <a:spcBef>
                <a:spcPct val="0"/>
              </a:spcBef>
              <a:buFontTx/>
              <a:buNone/>
            </a:pPr>
            <a:r>
              <a:rPr lang="pt-BR" altLang="pt-BR" sz="2000" b="1" dirty="0">
                <a:solidFill>
                  <a:srgbClr val="FF0000"/>
                </a:solidFill>
                <a:latin typeface="Lucida Sans Unicode" panose="020B0602030504020204" pitchFamily="34" charset="0"/>
                <a:cs typeface="Lucida Sans Unicode" panose="020B0602030504020204" pitchFamily="34" charset="0"/>
              </a:rPr>
              <a:t>PROCESSAMENTO DE PEDIDOS</a:t>
            </a:r>
          </a:p>
        </p:txBody>
      </p:sp>
      <p:sp>
        <p:nvSpPr>
          <p:cNvPr id="17" name="CaixaDeTexto 16"/>
          <p:cNvSpPr txBox="1"/>
          <p:nvPr/>
        </p:nvSpPr>
        <p:spPr>
          <a:xfrm>
            <a:off x="2099556" y="410350"/>
            <a:ext cx="7992888" cy="461665"/>
          </a:xfrm>
          <a:prstGeom prst="rect">
            <a:avLst/>
          </a:prstGeom>
          <a:noFill/>
        </p:spPr>
        <p:txBody>
          <a:bodyPr wrap="square" rtlCol="0">
            <a:spAutoFit/>
          </a:body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LOGÍSTICA EMPRESARIAL</a:t>
            </a:r>
          </a:p>
        </p:txBody>
      </p:sp>
      <p:grpSp>
        <p:nvGrpSpPr>
          <p:cNvPr id="11" name="Grupo 10"/>
          <p:cNvGrpSpPr/>
          <p:nvPr/>
        </p:nvGrpSpPr>
        <p:grpSpPr>
          <a:xfrm>
            <a:off x="8177919" y="2414588"/>
            <a:ext cx="3829050" cy="2686050"/>
            <a:chOff x="8177919" y="2414588"/>
            <a:chExt cx="3829050" cy="2686050"/>
          </a:xfrm>
        </p:grpSpPr>
        <p:pic>
          <p:nvPicPr>
            <p:cNvPr id="5" name="Imagem 4"/>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8177919" y="2414588"/>
              <a:ext cx="3829050" cy="268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tângulo 9"/>
            <p:cNvSpPr/>
            <p:nvPr/>
          </p:nvSpPr>
          <p:spPr>
            <a:xfrm>
              <a:off x="9398717" y="3044525"/>
              <a:ext cx="2427523" cy="5352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20" name="Retângulo 19"/>
          <p:cNvSpPr>
            <a:spLocks noChangeArrowheads="1"/>
          </p:cNvSpPr>
          <p:nvPr/>
        </p:nvSpPr>
        <p:spPr bwMode="auto">
          <a:xfrm>
            <a:off x="8674998" y="5100638"/>
            <a:ext cx="297228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defRPr>
            </a:lvl9pPr>
          </a:lstStyle>
          <a:p>
            <a:pPr>
              <a:spcBef>
                <a:spcPct val="0"/>
              </a:spcBef>
              <a:buFontTx/>
              <a:buNone/>
            </a:pPr>
            <a:r>
              <a:rPr lang="pt-BR" altLang="pt-BR" sz="2000" b="1" dirty="0">
                <a:solidFill>
                  <a:srgbClr val="FF0000"/>
                </a:solidFill>
                <a:latin typeface="Lucida Sans Unicode" panose="020B0602030504020204" pitchFamily="34" charset="0"/>
                <a:cs typeface="Lucida Sans Unicode" panose="020B0602030504020204" pitchFamily="34" charset="0"/>
              </a:rPr>
              <a:t>GESTÃO DE ESTOQUES</a:t>
            </a:r>
          </a:p>
        </p:txBody>
      </p:sp>
    </p:spTree>
    <p:extLst>
      <p:ext uri="{BB962C8B-B14F-4D97-AF65-F5344CB8AC3E}">
        <p14:creationId xmlns:p14="http://schemas.microsoft.com/office/powerpoint/2010/main" val="2369568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16">
                                            <p:txEl>
                                              <p:pRg st="0" end="0"/>
                                            </p:txEl>
                                          </p:spTgt>
                                        </p:tgtEl>
                                        <p:attrNameLst>
                                          <p:attrName>style.visibility</p:attrName>
                                        </p:attrNameLst>
                                      </p:cBhvr>
                                      <p:to>
                                        <p:strVal val="visible"/>
                                      </p:to>
                                    </p:set>
                                    <p:animEffect transition="in" filter="barn(inVertical)">
                                      <p:cBhvr>
                                        <p:cTn id="14" dur="500"/>
                                        <p:tgtEl>
                                          <p:spTgt spid="16">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par>
                          <p:cTn id="21" fill="hold">
                            <p:stCondLst>
                              <p:cond delay="500"/>
                            </p:stCondLst>
                            <p:childTnLst>
                              <p:par>
                                <p:cTn id="22" presetID="2" presetClass="entr" presetSubtype="4" fill="hold" grpId="0" nodeType="afterEffect">
                                  <p:stCondLst>
                                    <p:cond delay="0"/>
                                  </p:stCondLst>
                                  <p:childTnLst>
                                    <p:set>
                                      <p:cBhvr>
                                        <p:cTn id="23" dur="1" fill="hold">
                                          <p:stCondLst>
                                            <p:cond delay="0"/>
                                          </p:stCondLst>
                                        </p:cTn>
                                        <p:tgtEl>
                                          <p:spTgt spid="20"/>
                                        </p:tgtEl>
                                        <p:attrNameLst>
                                          <p:attrName>style.visibility</p:attrName>
                                        </p:attrNameLst>
                                      </p:cBhvr>
                                      <p:to>
                                        <p:strVal val="visible"/>
                                      </p:to>
                                    </p:set>
                                    <p:anim calcmode="lin" valueType="num">
                                      <p:cBhvr additive="base">
                                        <p:cTn id="24" dur="500" fill="hold"/>
                                        <p:tgtEl>
                                          <p:spTgt spid="20"/>
                                        </p:tgtEl>
                                        <p:attrNameLst>
                                          <p:attrName>ppt_x</p:attrName>
                                        </p:attrNameLst>
                                      </p:cBhvr>
                                      <p:tavLst>
                                        <p:tav tm="0">
                                          <p:val>
                                            <p:strVal val="#ppt_x"/>
                                          </p:val>
                                        </p:tav>
                                        <p:tav tm="100000">
                                          <p:val>
                                            <p:strVal val="#ppt_x"/>
                                          </p:val>
                                        </p:tav>
                                      </p:tavLst>
                                    </p:anim>
                                    <p:anim calcmode="lin" valueType="num">
                                      <p:cBhvr additive="base">
                                        <p:cTn id="25"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6"/>
                                        </p:tgtEl>
                                        <p:attrNameLst>
                                          <p:attrName>style.visibility</p:attrName>
                                        </p:attrNameLst>
                                      </p:cBhvr>
                                      <p:to>
                                        <p:strVal val="visible"/>
                                      </p:to>
                                    </p:set>
                                    <p:anim calcmode="lin" valueType="num">
                                      <p:cBhvr additive="base">
                                        <p:cTn id="30" dur="500" fill="hold"/>
                                        <p:tgtEl>
                                          <p:spTgt spid="6"/>
                                        </p:tgtEl>
                                        <p:attrNameLst>
                                          <p:attrName>ppt_x</p:attrName>
                                        </p:attrNameLst>
                                      </p:cBhvr>
                                      <p:tavLst>
                                        <p:tav tm="0">
                                          <p:val>
                                            <p:strVal val="#ppt_x"/>
                                          </p:val>
                                        </p:tav>
                                        <p:tav tm="100000">
                                          <p:val>
                                            <p:strVal val="#ppt_x"/>
                                          </p:val>
                                        </p:tav>
                                      </p:tavLst>
                                    </p:anim>
                                    <p:anim calcmode="lin" valueType="num">
                                      <p:cBhvr additive="base">
                                        <p:cTn id="31" dur="500" fill="hold"/>
                                        <p:tgtEl>
                                          <p:spTgt spid="6"/>
                                        </p:tgtEl>
                                        <p:attrNameLst>
                                          <p:attrName>ppt_y</p:attrName>
                                        </p:attrNameLst>
                                      </p:cBhvr>
                                      <p:tavLst>
                                        <p:tav tm="0">
                                          <p:val>
                                            <p:strVal val="1+#ppt_h/2"/>
                                          </p:val>
                                        </p:tav>
                                        <p:tav tm="100000">
                                          <p:val>
                                            <p:strVal val="#ppt_y"/>
                                          </p:val>
                                        </p:tav>
                                      </p:tavLst>
                                    </p:anim>
                                  </p:childTnLst>
                                </p:cTn>
                              </p:par>
                            </p:childTnLst>
                          </p:cTn>
                        </p:par>
                        <p:par>
                          <p:cTn id="32" fill="hold">
                            <p:stCondLst>
                              <p:cond delay="500"/>
                            </p:stCondLst>
                            <p:childTnLst>
                              <p:par>
                                <p:cTn id="33" presetID="10" presetClass="entr" presetSubtype="0"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8" fill="hold" nodeType="clickEffect">
                                  <p:stCondLst>
                                    <p:cond delay="0"/>
                                  </p:stCondLst>
                                  <p:childTnLst>
                                    <p:set>
                                      <p:cBhvr>
                                        <p:cTn id="39" dur="1" fill="hold">
                                          <p:stCondLst>
                                            <p:cond delay="0"/>
                                          </p:stCondLst>
                                        </p:cTn>
                                        <p:tgtEl>
                                          <p:spTgt spid="4"/>
                                        </p:tgtEl>
                                        <p:attrNameLst>
                                          <p:attrName>style.visibility</p:attrName>
                                        </p:attrNameLst>
                                      </p:cBhvr>
                                      <p:to>
                                        <p:strVal val="visible"/>
                                      </p:to>
                                    </p:set>
                                    <p:anim calcmode="lin" valueType="num">
                                      <p:cBhvr additive="base">
                                        <p:cTn id="40" dur="500" fill="hold"/>
                                        <p:tgtEl>
                                          <p:spTgt spid="4"/>
                                        </p:tgtEl>
                                        <p:attrNameLst>
                                          <p:attrName>ppt_x</p:attrName>
                                        </p:attrNameLst>
                                      </p:cBhvr>
                                      <p:tavLst>
                                        <p:tav tm="0">
                                          <p:val>
                                            <p:strVal val="0-#ppt_w/2"/>
                                          </p:val>
                                        </p:tav>
                                        <p:tav tm="100000">
                                          <p:val>
                                            <p:strVal val="#ppt_x"/>
                                          </p:val>
                                        </p:tav>
                                      </p:tavLst>
                                    </p:anim>
                                    <p:anim calcmode="lin" valueType="num">
                                      <p:cBhvr additive="base">
                                        <p:cTn id="41" dur="500" fill="hold"/>
                                        <p:tgtEl>
                                          <p:spTgt spid="4"/>
                                        </p:tgtEl>
                                        <p:attrNameLst>
                                          <p:attrName>ppt_y</p:attrName>
                                        </p:attrNameLst>
                                      </p:cBhvr>
                                      <p:tavLst>
                                        <p:tav tm="0">
                                          <p:val>
                                            <p:strVal val="#ppt_y"/>
                                          </p:val>
                                        </p:tav>
                                        <p:tav tm="100000">
                                          <p:val>
                                            <p:strVal val="#ppt_y"/>
                                          </p:val>
                                        </p:tav>
                                      </p:tavLst>
                                    </p:anim>
                                  </p:childTnLst>
                                </p:cTn>
                              </p:par>
                            </p:childTnLst>
                          </p:cTn>
                        </p:par>
                        <p:par>
                          <p:cTn id="42" fill="hold" nodeType="withGroup">
                            <p:stCondLst>
                              <p:cond delay="500"/>
                            </p:stCondLst>
                            <p:childTnLst>
                              <p:par>
                                <p:cTn id="43" presetID="2" presetClass="entr" presetSubtype="4" fill="hold" grpId="0" nodeType="afterEffect">
                                  <p:stCondLst>
                                    <p:cond delay="0"/>
                                  </p:stCondLst>
                                  <p:childTnLst>
                                    <p:set>
                                      <p:cBhvr>
                                        <p:cTn id="44" dur="1" fill="hold">
                                          <p:stCondLst>
                                            <p:cond delay="0"/>
                                          </p:stCondLst>
                                        </p:cTn>
                                        <p:tgtEl>
                                          <p:spTgt spid="7"/>
                                        </p:tgtEl>
                                        <p:attrNameLst>
                                          <p:attrName>style.visibility</p:attrName>
                                        </p:attrNameLst>
                                      </p:cBhvr>
                                      <p:to>
                                        <p:strVal val="visible"/>
                                      </p:to>
                                    </p:set>
                                    <p:anim calcmode="lin" valueType="num">
                                      <p:cBhvr additive="base">
                                        <p:cTn id="45" dur="500" fill="hold"/>
                                        <p:tgtEl>
                                          <p:spTgt spid="7"/>
                                        </p:tgtEl>
                                        <p:attrNameLst>
                                          <p:attrName>ppt_x</p:attrName>
                                        </p:attrNameLst>
                                      </p:cBhvr>
                                      <p:tavLst>
                                        <p:tav tm="0">
                                          <p:val>
                                            <p:strVal val="#ppt_x"/>
                                          </p:val>
                                        </p:tav>
                                        <p:tav tm="100000">
                                          <p:val>
                                            <p:strVal val="#ppt_x"/>
                                          </p:val>
                                        </p:tav>
                                      </p:tavLst>
                                    </p:anim>
                                    <p:anim calcmode="lin" valueType="num">
                                      <p:cBhvr additive="base">
                                        <p:cTn id="4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5" grpId="0"/>
      <p:bldP spid="16" grpId="0" build="p"/>
      <p:bldP spid="9" grpId="0"/>
      <p:bldP spid="20"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8131" name="Rectangle 5"/>
          <p:cNvSpPr>
            <a:spLocks noChangeArrowheads="1"/>
          </p:cNvSpPr>
          <p:nvPr/>
        </p:nvSpPr>
        <p:spPr bwMode="auto">
          <a:xfrm>
            <a:off x="1524000" y="1412875"/>
            <a:ext cx="8280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defRPr>
            </a:lvl9pPr>
          </a:lstStyle>
          <a:p>
            <a:pPr>
              <a:spcBef>
                <a:spcPct val="0"/>
              </a:spcBef>
              <a:buFontTx/>
              <a:buNone/>
            </a:pPr>
            <a:r>
              <a:rPr lang="pt-BR" altLang="pt-BR">
                <a:solidFill>
                  <a:srgbClr val="0000FF"/>
                </a:solidFill>
                <a:latin typeface="Arial Black" panose="020B0A04020102020204" pitchFamily="34" charset="0"/>
              </a:rPr>
              <a:t> </a:t>
            </a:r>
            <a:endParaRPr lang="pt-BR" altLang="pt-BR" sz="3200">
              <a:solidFill>
                <a:srgbClr val="0000FF"/>
              </a:solidFill>
              <a:latin typeface="Arial Black" panose="020B0A04020102020204" pitchFamily="34" charset="0"/>
            </a:endParaRPr>
          </a:p>
        </p:txBody>
      </p:sp>
      <p:sp>
        <p:nvSpPr>
          <p:cNvPr id="48132" name="Text Box 8"/>
          <p:cNvSpPr txBox="1">
            <a:spLocks noChangeArrowheads="1"/>
          </p:cNvSpPr>
          <p:nvPr/>
        </p:nvSpPr>
        <p:spPr bwMode="auto">
          <a:xfrm>
            <a:off x="4860925" y="6281739"/>
            <a:ext cx="1841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defRPr>
            </a:lvl9pPr>
          </a:lstStyle>
          <a:p>
            <a:pPr>
              <a:spcBef>
                <a:spcPct val="0"/>
              </a:spcBef>
              <a:buFontTx/>
              <a:buNone/>
            </a:pPr>
            <a:endParaRPr lang="pt-BR" altLang="pt-BR" sz="1200">
              <a:solidFill>
                <a:srgbClr val="000000"/>
              </a:solidFill>
            </a:endParaRPr>
          </a:p>
        </p:txBody>
      </p:sp>
      <p:sp>
        <p:nvSpPr>
          <p:cNvPr id="48133" name="Text Box 9"/>
          <p:cNvSpPr txBox="1">
            <a:spLocks noChangeArrowheads="1"/>
          </p:cNvSpPr>
          <p:nvPr/>
        </p:nvSpPr>
        <p:spPr bwMode="auto">
          <a:xfrm>
            <a:off x="1431925" y="2513013"/>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defRPr>
            </a:lvl9pPr>
          </a:lstStyle>
          <a:p>
            <a:pPr eaLnBrk="1" hangingPunct="1">
              <a:spcBef>
                <a:spcPct val="0"/>
              </a:spcBef>
              <a:buFontTx/>
              <a:buNone/>
            </a:pPr>
            <a:endParaRPr lang="pt-BR" altLang="pt-BR" sz="1800">
              <a:solidFill>
                <a:srgbClr val="000000"/>
              </a:solidFill>
            </a:endParaRPr>
          </a:p>
        </p:txBody>
      </p:sp>
      <p:sp>
        <p:nvSpPr>
          <p:cNvPr id="48134" name="Rectangle 5"/>
          <p:cNvSpPr>
            <a:spLocks noChangeArrowheads="1"/>
          </p:cNvSpPr>
          <p:nvPr/>
        </p:nvSpPr>
        <p:spPr bwMode="auto">
          <a:xfrm>
            <a:off x="1703388" y="1916113"/>
            <a:ext cx="8280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defRPr>
            </a:lvl9pPr>
          </a:lstStyle>
          <a:p>
            <a:pPr>
              <a:spcBef>
                <a:spcPct val="0"/>
              </a:spcBef>
              <a:buFontTx/>
              <a:buNone/>
            </a:pPr>
            <a:endParaRPr lang="pt-BR" altLang="pt-BR">
              <a:solidFill>
                <a:srgbClr val="0000FF"/>
              </a:solidFill>
              <a:latin typeface="Arial Black" panose="020B0A04020102020204" pitchFamily="34" charset="0"/>
            </a:endParaRPr>
          </a:p>
          <a:p>
            <a:pPr>
              <a:spcBef>
                <a:spcPct val="0"/>
              </a:spcBef>
              <a:buFontTx/>
              <a:buNone/>
            </a:pPr>
            <a:endParaRPr lang="pt-BR" altLang="pt-BR">
              <a:solidFill>
                <a:srgbClr val="0000FF"/>
              </a:solidFill>
              <a:latin typeface="Arial Black" panose="020B0A04020102020204" pitchFamily="34" charset="0"/>
            </a:endParaRPr>
          </a:p>
          <a:p>
            <a:pPr>
              <a:spcBef>
                <a:spcPct val="0"/>
              </a:spcBef>
              <a:buFontTx/>
              <a:buNone/>
            </a:pPr>
            <a:endParaRPr lang="pt-BR" altLang="pt-BR" sz="3200">
              <a:solidFill>
                <a:srgbClr val="0000FF"/>
              </a:solidFill>
              <a:latin typeface="Arial Black" panose="020B0A04020102020204" pitchFamily="34" charset="0"/>
            </a:endParaRPr>
          </a:p>
        </p:txBody>
      </p:sp>
      <p:sp>
        <p:nvSpPr>
          <p:cNvPr id="6" name="Espaço Reservado para Conteúdo 5"/>
          <p:cNvSpPr>
            <a:spLocks noGrp="1"/>
          </p:cNvSpPr>
          <p:nvPr>
            <p:ph idx="4294967295"/>
          </p:nvPr>
        </p:nvSpPr>
        <p:spPr>
          <a:xfrm>
            <a:off x="288925" y="2168048"/>
            <a:ext cx="4756150" cy="2101850"/>
          </a:xfrm>
        </p:spPr>
        <p:txBody>
          <a:bodyPr>
            <a:normAutofit fontScale="25000" lnSpcReduction="20000"/>
          </a:bodyPr>
          <a:lstStyle/>
          <a:p>
            <a:pPr marL="0" indent="0" algn="ctr">
              <a:buNone/>
            </a:pPr>
            <a:r>
              <a:rPr lang="pt-BR" altLang="pt-BR" sz="14400" b="1" dirty="0">
                <a:latin typeface="Arial" panose="020B0604020202020204" pitchFamily="34" charset="0"/>
                <a:cs typeface="Arial" panose="020B0604020202020204" pitchFamily="34" charset="0"/>
              </a:rPr>
              <a:t>TRANSPORTES:</a:t>
            </a:r>
          </a:p>
          <a:p>
            <a:pPr marL="0" indent="0" algn="ctr">
              <a:buNone/>
            </a:pPr>
            <a:r>
              <a:rPr lang="pt-BR" altLang="pt-BR" sz="14400" dirty="0">
                <a:latin typeface="Arial" panose="020B0604020202020204" pitchFamily="34" charset="0"/>
                <a:cs typeface="Arial" panose="020B0604020202020204" pitchFamily="34" charset="0"/>
              </a:rPr>
              <a:t>Representam cerca de dois terços dos custos logísticos para movimentação de matérias-primas ou de seus produtos acabados</a:t>
            </a:r>
            <a:r>
              <a:rPr lang="pt-BR" altLang="pt-BR" sz="14400" b="1" dirty="0">
                <a:latin typeface="Arial" panose="020B0604020202020204" pitchFamily="34" charset="0"/>
                <a:cs typeface="Arial" panose="020B0604020202020204" pitchFamily="34" charset="0"/>
              </a:rPr>
              <a:t>.</a:t>
            </a:r>
          </a:p>
          <a:p>
            <a:pPr marL="0" indent="0" algn="ctr">
              <a:buNone/>
            </a:pPr>
            <a:r>
              <a:rPr lang="pt-BR" altLang="pt-BR" sz="14400" b="1" dirty="0">
                <a:latin typeface="Arial" panose="020B0604020202020204" pitchFamily="34" charset="0"/>
                <a:cs typeface="Arial" panose="020B0604020202020204" pitchFamily="34" charset="0"/>
              </a:rPr>
              <a:t>Agrega valor de lugar.</a:t>
            </a:r>
            <a:endParaRPr lang="pt-BR" altLang="pt-BR" sz="14400" dirty="0">
              <a:latin typeface="Arial" panose="020B0604020202020204" pitchFamily="34" charset="0"/>
              <a:cs typeface="Arial" panose="020B0604020202020204" pitchFamily="34" charset="0"/>
            </a:endParaRPr>
          </a:p>
          <a:p>
            <a:pPr algn="just">
              <a:buFont typeface="Wingdings" panose="05000000000000000000" pitchFamily="2" charset="2"/>
              <a:buChar char="Ø"/>
            </a:pPr>
            <a:endParaRPr lang="pt-BR" altLang="pt-BR" sz="2000" dirty="0">
              <a:solidFill>
                <a:schemeClr val="accent6"/>
              </a:solidFill>
              <a:latin typeface="Lucida Sans Unicode" panose="020B0602030504020204" pitchFamily="34" charset="0"/>
              <a:cs typeface="Lucida Sans Unicode" panose="020B0602030504020204" pitchFamily="34" charset="0"/>
            </a:endParaRPr>
          </a:p>
        </p:txBody>
      </p:sp>
      <p:sp>
        <p:nvSpPr>
          <p:cNvPr id="15" name="Título 4"/>
          <p:cNvSpPr>
            <a:spLocks noGrp="1"/>
          </p:cNvSpPr>
          <p:nvPr>
            <p:ph type="title" idx="4294967295"/>
          </p:nvPr>
        </p:nvSpPr>
        <p:spPr>
          <a:xfrm>
            <a:off x="0" y="1063625"/>
            <a:ext cx="5209674" cy="563563"/>
          </a:xfrm>
        </p:spPr>
        <p:txBody>
          <a:bodyPr>
            <a:noAutofit/>
          </a:bodyPr>
          <a:lstStyle/>
          <a:p>
            <a:pPr algn="ctr"/>
            <a:r>
              <a:rPr lang="pt-BR" altLang="pt-BR" sz="3200" b="1" dirty="0">
                <a:solidFill>
                  <a:schemeClr val="accent6"/>
                </a:solidFill>
                <a:latin typeface="Lucida Sans Unicode" panose="020B0602030504020204" pitchFamily="34" charset="0"/>
                <a:cs typeface="Lucida Sans Unicode" panose="020B0602030504020204" pitchFamily="34" charset="0"/>
              </a:rPr>
              <a:t>ATIVIDADES PRIMÁRIAS</a:t>
            </a:r>
          </a:p>
        </p:txBody>
      </p:sp>
      <p:pic>
        <p:nvPicPr>
          <p:cNvPr id="10" name="Imagem 9"/>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952332" y="2390775"/>
            <a:ext cx="4737100" cy="338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CaixaDeTexto 15"/>
          <p:cNvSpPr txBox="1"/>
          <p:nvPr/>
        </p:nvSpPr>
        <p:spPr>
          <a:xfrm>
            <a:off x="2099556" y="410350"/>
            <a:ext cx="7992888" cy="461665"/>
          </a:xfrm>
          <a:prstGeom prst="rect">
            <a:avLst/>
          </a:prstGeom>
          <a:noFill/>
        </p:spPr>
        <p:txBody>
          <a:bodyPr wrap="square" rtlCol="0">
            <a:spAutoFit/>
          </a:body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LOGÍSTICA EMPRESARIAL</a:t>
            </a:r>
          </a:p>
        </p:txBody>
      </p:sp>
    </p:spTree>
    <p:extLst>
      <p:ext uri="{BB962C8B-B14F-4D97-AF65-F5344CB8AC3E}">
        <p14:creationId xmlns:p14="http://schemas.microsoft.com/office/powerpoint/2010/main" val="67227143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250"/>
                                        <p:tgtEl>
                                          <p:spTgt spid="6">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125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animEffect transition="in" filter="fade">
                                      <p:cBhvr>
                                        <p:cTn id="15" dur="1250"/>
                                        <p:tgtEl>
                                          <p:spTgt spid="6">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xEl>
                                              <p:pRg st="2" end="2"/>
                                            </p:txEl>
                                          </p:spTgt>
                                        </p:tgtEl>
                                        <p:attrNameLst>
                                          <p:attrName>style.visibility</p:attrName>
                                        </p:attrNameLst>
                                      </p:cBhvr>
                                      <p:to>
                                        <p:strVal val="visible"/>
                                      </p:to>
                                    </p:set>
                                    <p:animEffect transition="in" filter="fade">
                                      <p:cBhvr>
                                        <p:cTn id="20" dur="125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49154" name="Group 2"/>
          <p:cNvGrpSpPr>
            <a:grpSpLocks/>
          </p:cNvGrpSpPr>
          <p:nvPr/>
        </p:nvGrpSpPr>
        <p:grpSpPr bwMode="auto">
          <a:xfrm>
            <a:off x="1992314" y="1700213"/>
            <a:ext cx="7920037" cy="1278932"/>
            <a:chOff x="624" y="377"/>
            <a:chExt cx="4512" cy="920"/>
          </a:xfrm>
        </p:grpSpPr>
        <p:sp>
          <p:nvSpPr>
            <p:cNvPr id="49164" name="Text Box 3"/>
            <p:cNvSpPr txBox="1">
              <a:spLocks noChangeArrowheads="1"/>
            </p:cNvSpPr>
            <p:nvPr/>
          </p:nvSpPr>
          <p:spPr bwMode="auto">
            <a:xfrm>
              <a:off x="624" y="1009"/>
              <a:ext cx="45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defRPr>
              </a:lvl9pPr>
            </a:lstStyle>
            <a:p>
              <a:pPr>
                <a:spcBef>
                  <a:spcPct val="50000"/>
                </a:spcBef>
                <a:buFontTx/>
                <a:buNone/>
              </a:pPr>
              <a:endParaRPr lang="pt-BR" altLang="pt-BR" sz="2000" b="1">
                <a:solidFill>
                  <a:srgbClr val="000000"/>
                </a:solidFill>
                <a:latin typeface="Tahoma" panose="020B0604030504040204" pitchFamily="34" charset="0"/>
              </a:endParaRPr>
            </a:p>
          </p:txBody>
        </p:sp>
        <p:sp>
          <p:nvSpPr>
            <p:cNvPr id="49165" name="Rectangle 4"/>
            <p:cNvSpPr>
              <a:spLocks noChangeArrowheads="1"/>
            </p:cNvSpPr>
            <p:nvPr/>
          </p:nvSpPr>
          <p:spPr bwMode="auto">
            <a:xfrm>
              <a:off x="636" y="377"/>
              <a:ext cx="105"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defRPr>
              </a:lvl9pPr>
            </a:lstStyle>
            <a:p>
              <a:pPr>
                <a:spcBef>
                  <a:spcPct val="0"/>
                </a:spcBef>
                <a:buFontTx/>
                <a:buNone/>
              </a:pPr>
              <a:endParaRPr lang="pt-BR" altLang="pt-BR" sz="3600" b="1" i="1">
                <a:solidFill>
                  <a:srgbClr val="000000"/>
                </a:solidFill>
                <a:latin typeface="Tahoma" panose="020B0604030504040204" pitchFamily="34" charset="0"/>
              </a:endParaRPr>
            </a:p>
          </p:txBody>
        </p:sp>
      </p:grpSp>
      <p:sp>
        <p:nvSpPr>
          <p:cNvPr id="49155" name="Rectangle 5"/>
          <p:cNvSpPr>
            <a:spLocks noChangeArrowheads="1"/>
          </p:cNvSpPr>
          <p:nvPr/>
        </p:nvSpPr>
        <p:spPr bwMode="auto">
          <a:xfrm>
            <a:off x="1524000" y="1412875"/>
            <a:ext cx="8280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defRPr>
            </a:lvl9pPr>
          </a:lstStyle>
          <a:p>
            <a:pPr>
              <a:spcBef>
                <a:spcPct val="0"/>
              </a:spcBef>
              <a:buFontTx/>
              <a:buNone/>
            </a:pPr>
            <a:r>
              <a:rPr lang="pt-BR" altLang="pt-BR">
                <a:solidFill>
                  <a:srgbClr val="0000FF"/>
                </a:solidFill>
                <a:latin typeface="Arial Black" panose="020B0A04020102020204" pitchFamily="34" charset="0"/>
              </a:rPr>
              <a:t> </a:t>
            </a:r>
            <a:endParaRPr lang="pt-BR" altLang="pt-BR" sz="3200">
              <a:solidFill>
                <a:srgbClr val="0000FF"/>
              </a:solidFill>
              <a:latin typeface="Arial Black" panose="020B0A04020102020204" pitchFamily="34" charset="0"/>
            </a:endParaRPr>
          </a:p>
        </p:txBody>
      </p:sp>
      <p:sp>
        <p:nvSpPr>
          <p:cNvPr id="49156" name="Text Box 8"/>
          <p:cNvSpPr txBox="1">
            <a:spLocks noChangeArrowheads="1"/>
          </p:cNvSpPr>
          <p:nvPr/>
        </p:nvSpPr>
        <p:spPr bwMode="auto">
          <a:xfrm>
            <a:off x="4860925" y="6281739"/>
            <a:ext cx="1841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defRPr>
            </a:lvl9pPr>
          </a:lstStyle>
          <a:p>
            <a:pPr>
              <a:spcBef>
                <a:spcPct val="0"/>
              </a:spcBef>
              <a:buFontTx/>
              <a:buNone/>
            </a:pPr>
            <a:endParaRPr lang="pt-BR" altLang="pt-BR" sz="1200">
              <a:solidFill>
                <a:srgbClr val="000000"/>
              </a:solidFill>
            </a:endParaRPr>
          </a:p>
        </p:txBody>
      </p:sp>
      <p:sp>
        <p:nvSpPr>
          <p:cNvPr id="49157" name="Text Box 9"/>
          <p:cNvSpPr txBox="1">
            <a:spLocks noChangeArrowheads="1"/>
          </p:cNvSpPr>
          <p:nvPr/>
        </p:nvSpPr>
        <p:spPr bwMode="auto">
          <a:xfrm>
            <a:off x="1431925" y="2513013"/>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defRPr>
            </a:lvl9pPr>
          </a:lstStyle>
          <a:p>
            <a:pPr eaLnBrk="1" hangingPunct="1">
              <a:spcBef>
                <a:spcPct val="0"/>
              </a:spcBef>
              <a:buFontTx/>
              <a:buNone/>
            </a:pPr>
            <a:endParaRPr lang="pt-BR" altLang="pt-BR" sz="1800">
              <a:solidFill>
                <a:srgbClr val="000000"/>
              </a:solidFill>
            </a:endParaRPr>
          </a:p>
        </p:txBody>
      </p:sp>
      <p:sp>
        <p:nvSpPr>
          <p:cNvPr id="49158" name="Rectangle 5"/>
          <p:cNvSpPr>
            <a:spLocks noChangeArrowheads="1"/>
          </p:cNvSpPr>
          <p:nvPr/>
        </p:nvSpPr>
        <p:spPr bwMode="auto">
          <a:xfrm>
            <a:off x="1703388" y="1916113"/>
            <a:ext cx="8280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defRPr>
            </a:lvl9pPr>
          </a:lstStyle>
          <a:p>
            <a:pPr>
              <a:spcBef>
                <a:spcPct val="0"/>
              </a:spcBef>
              <a:buFontTx/>
              <a:buNone/>
            </a:pPr>
            <a:endParaRPr lang="pt-BR" altLang="pt-BR">
              <a:solidFill>
                <a:srgbClr val="0000FF"/>
              </a:solidFill>
              <a:latin typeface="Arial Black" panose="020B0A04020102020204" pitchFamily="34" charset="0"/>
            </a:endParaRPr>
          </a:p>
          <a:p>
            <a:pPr>
              <a:spcBef>
                <a:spcPct val="0"/>
              </a:spcBef>
              <a:buFontTx/>
              <a:buNone/>
            </a:pPr>
            <a:endParaRPr lang="pt-BR" altLang="pt-BR">
              <a:solidFill>
                <a:srgbClr val="0000FF"/>
              </a:solidFill>
              <a:latin typeface="Arial Black" panose="020B0A04020102020204" pitchFamily="34" charset="0"/>
            </a:endParaRPr>
          </a:p>
          <a:p>
            <a:pPr>
              <a:spcBef>
                <a:spcPct val="0"/>
              </a:spcBef>
              <a:buFontTx/>
              <a:buNone/>
            </a:pPr>
            <a:endParaRPr lang="pt-BR" altLang="pt-BR" sz="3200">
              <a:solidFill>
                <a:srgbClr val="0000FF"/>
              </a:solidFill>
              <a:latin typeface="Arial Black" panose="020B0A04020102020204" pitchFamily="34" charset="0"/>
            </a:endParaRPr>
          </a:p>
        </p:txBody>
      </p:sp>
      <p:sp>
        <p:nvSpPr>
          <p:cNvPr id="6" name="Espaço Reservado para Conteúdo 5"/>
          <p:cNvSpPr>
            <a:spLocks noGrp="1"/>
          </p:cNvSpPr>
          <p:nvPr>
            <p:ph idx="4294967295"/>
          </p:nvPr>
        </p:nvSpPr>
        <p:spPr>
          <a:xfrm>
            <a:off x="443313" y="1881976"/>
            <a:ext cx="5909361" cy="4302256"/>
          </a:xfrm>
        </p:spPr>
        <p:txBody>
          <a:bodyPr>
            <a:normAutofit fontScale="55000" lnSpcReduction="20000"/>
          </a:bodyPr>
          <a:lstStyle/>
          <a:p>
            <a:pPr marL="0" indent="0" algn="ctr">
              <a:buNone/>
              <a:defRPr/>
            </a:pPr>
            <a:r>
              <a:rPr lang="pt-BR" altLang="pt-BR" sz="5800" b="1" dirty="0">
                <a:latin typeface="Arial" panose="020B0604020202020204" pitchFamily="34" charset="0"/>
                <a:cs typeface="Arial" panose="020B0604020202020204" pitchFamily="34" charset="0"/>
              </a:rPr>
              <a:t>PROCESSAMENTO DE PEDIDOS:</a:t>
            </a:r>
          </a:p>
          <a:p>
            <a:pPr marL="0" indent="0" algn="ctr">
              <a:buNone/>
              <a:defRPr/>
            </a:pPr>
            <a:r>
              <a:rPr lang="pt-BR" altLang="pt-BR" sz="5800" dirty="0">
                <a:latin typeface="Arial" panose="020B0604020202020204" pitchFamily="34" charset="0"/>
                <a:cs typeface="Arial" panose="020B0604020202020204" pitchFamily="34" charset="0"/>
              </a:rPr>
              <a:t>É atividade que inicia a movimentação de produtos em razão dos pedidos dos clientes. </a:t>
            </a:r>
          </a:p>
          <a:p>
            <a:pPr marL="0" indent="0" algn="ctr">
              <a:buNone/>
              <a:defRPr/>
            </a:pPr>
            <a:endParaRPr lang="pt-BR" altLang="pt-BR" sz="5800" dirty="0">
              <a:latin typeface="Arial" panose="020B0604020202020204" pitchFamily="34" charset="0"/>
              <a:cs typeface="Arial" panose="020B0604020202020204" pitchFamily="34" charset="0"/>
            </a:endParaRPr>
          </a:p>
          <a:p>
            <a:pPr algn="ctr">
              <a:buFont typeface="Wingdings" panose="05000000000000000000" pitchFamily="2" charset="2"/>
              <a:buChar char="ü"/>
              <a:defRPr/>
            </a:pPr>
            <a:r>
              <a:rPr lang="pt-BR" altLang="pt-BR" sz="5800" dirty="0">
                <a:latin typeface="Arial" panose="020B0604020202020204" pitchFamily="34" charset="0"/>
                <a:cs typeface="Arial" panose="020B0604020202020204" pitchFamily="34" charset="0"/>
              </a:rPr>
              <a:t>Relação comercial;</a:t>
            </a:r>
          </a:p>
          <a:p>
            <a:pPr algn="ctr">
              <a:buFont typeface="Wingdings" panose="05000000000000000000" pitchFamily="2" charset="2"/>
              <a:buChar char="ü"/>
              <a:defRPr/>
            </a:pPr>
            <a:r>
              <a:rPr lang="pt-BR" altLang="pt-BR" sz="5800" i="1" dirty="0">
                <a:latin typeface="Arial" panose="020B0604020202020204" pitchFamily="34" charset="0"/>
                <a:cs typeface="Arial" panose="020B0604020202020204" pitchFamily="34" charset="0"/>
              </a:rPr>
              <a:t>Lead time </a:t>
            </a:r>
            <a:r>
              <a:rPr lang="pt-BR" altLang="pt-BR" sz="5800" dirty="0">
                <a:latin typeface="Arial" panose="020B0604020202020204" pitchFamily="34" charset="0"/>
                <a:cs typeface="Arial" panose="020B0604020202020204" pitchFamily="34" charset="0"/>
              </a:rPr>
              <a:t>de produção;</a:t>
            </a:r>
          </a:p>
          <a:p>
            <a:pPr algn="ctr">
              <a:buFont typeface="Wingdings" panose="05000000000000000000" pitchFamily="2" charset="2"/>
              <a:buChar char="ü"/>
              <a:defRPr/>
            </a:pPr>
            <a:r>
              <a:rPr lang="pt-BR" altLang="pt-BR" sz="5800" i="1" dirty="0">
                <a:latin typeface="Arial" panose="020B0604020202020204" pitchFamily="34" charset="0"/>
                <a:cs typeface="Arial" panose="020B0604020202020204" pitchFamily="34" charset="0"/>
              </a:rPr>
              <a:t>Lead time </a:t>
            </a:r>
            <a:r>
              <a:rPr lang="pt-BR" altLang="pt-BR" sz="5800" dirty="0">
                <a:latin typeface="Arial" panose="020B0604020202020204" pitchFamily="34" charset="0"/>
                <a:cs typeface="Arial" panose="020B0604020202020204" pitchFamily="34" charset="0"/>
              </a:rPr>
              <a:t>de entrega. </a:t>
            </a:r>
            <a:endParaRPr lang="pt-BR" altLang="pt-BR" sz="5800" b="1" dirty="0">
              <a:latin typeface="Arial" panose="020B0604020202020204" pitchFamily="34" charset="0"/>
              <a:cs typeface="Arial" panose="020B0604020202020204" pitchFamily="34" charset="0"/>
            </a:endParaRPr>
          </a:p>
          <a:p>
            <a:pPr algn="just">
              <a:buFont typeface="Wingdings" panose="05000000000000000000" pitchFamily="2" charset="2"/>
              <a:buChar char="Ø"/>
              <a:defRPr/>
            </a:pPr>
            <a:endParaRPr lang="pt-BR" altLang="pt-BR" sz="2000" dirty="0">
              <a:solidFill>
                <a:schemeClr val="accent6"/>
              </a:solidFill>
              <a:latin typeface="Lucida Sans Unicode" panose="020B0602030504020204" pitchFamily="34" charset="0"/>
              <a:cs typeface="Lucida Sans Unicode" panose="020B0602030504020204" pitchFamily="34" charset="0"/>
            </a:endParaRPr>
          </a:p>
          <a:p>
            <a:pPr algn="just">
              <a:buFont typeface="Wingdings" panose="05000000000000000000" pitchFamily="2" charset="2"/>
              <a:buChar char="Ø"/>
              <a:defRPr/>
            </a:pPr>
            <a:endParaRPr lang="pt-BR" altLang="pt-BR" sz="2000" dirty="0">
              <a:solidFill>
                <a:schemeClr val="accent6"/>
              </a:solidFill>
              <a:latin typeface="Lucida Sans Unicode" panose="020B0602030504020204" pitchFamily="34" charset="0"/>
              <a:cs typeface="Lucida Sans Unicode" panose="020B0602030504020204" pitchFamily="34" charset="0"/>
            </a:endParaRPr>
          </a:p>
        </p:txBody>
      </p:sp>
      <p:pic>
        <p:nvPicPr>
          <p:cNvPr id="8" name="Imagem 7"/>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829550" y="1818033"/>
            <a:ext cx="5052343" cy="4268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ítulo 4"/>
          <p:cNvSpPr txBox="1">
            <a:spLocks/>
          </p:cNvSpPr>
          <p:nvPr/>
        </p:nvSpPr>
        <p:spPr>
          <a:xfrm>
            <a:off x="4344512" y="1063341"/>
            <a:ext cx="3215640" cy="56336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accent1">
                    <a:lumMod val="50000"/>
                  </a:schemeClr>
                </a:solidFill>
                <a:latin typeface="Helvetica" panose="020B0604020202020204" pitchFamily="34" charset="0"/>
                <a:ea typeface="+mj-ea"/>
                <a:cs typeface="Helvetica" panose="020B0604020202020204" pitchFamily="34" charset="0"/>
              </a:defRPr>
            </a:lvl1pPr>
          </a:lstStyle>
          <a:p>
            <a:pPr algn="ctr"/>
            <a:r>
              <a:rPr lang="pt-BR" altLang="pt-BR" sz="2000" b="1" dirty="0">
                <a:solidFill>
                  <a:schemeClr val="accent6"/>
                </a:solidFill>
                <a:latin typeface="Lucida Sans Unicode" panose="020B0602030504020204" pitchFamily="34" charset="0"/>
                <a:cs typeface="Lucida Sans Unicode" panose="020B0602030504020204" pitchFamily="34" charset="0"/>
              </a:rPr>
              <a:t>ATIVIDADES PRIMÁRIAS</a:t>
            </a:r>
          </a:p>
        </p:txBody>
      </p:sp>
      <p:sp>
        <p:nvSpPr>
          <p:cNvPr id="16" name="CaixaDeTexto 15"/>
          <p:cNvSpPr txBox="1"/>
          <p:nvPr/>
        </p:nvSpPr>
        <p:spPr>
          <a:xfrm>
            <a:off x="2099556" y="410350"/>
            <a:ext cx="7992888" cy="461665"/>
          </a:xfrm>
          <a:prstGeom prst="rect">
            <a:avLst/>
          </a:prstGeom>
          <a:noFill/>
        </p:spPr>
        <p:txBody>
          <a:bodyPr wrap="square" rtlCol="0">
            <a:spAutoFit/>
          </a:body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LOGÍSTICA EMPRESARIAL</a:t>
            </a:r>
          </a:p>
        </p:txBody>
      </p:sp>
    </p:spTree>
    <p:extLst>
      <p:ext uri="{BB962C8B-B14F-4D97-AF65-F5344CB8AC3E}">
        <p14:creationId xmlns:p14="http://schemas.microsoft.com/office/powerpoint/2010/main" val="33588678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250"/>
                                        <p:tgtEl>
                                          <p:spTgt spid="6">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125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animEffect transition="in" filter="fade">
                                      <p:cBhvr>
                                        <p:cTn id="15" dur="1250"/>
                                        <p:tgtEl>
                                          <p:spTgt spid="6">
                                            <p:txEl>
                                              <p:pRg st="1" end="1"/>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xEl>
                                              <p:pRg st="3" end="3"/>
                                            </p:txEl>
                                          </p:spTgt>
                                        </p:tgtEl>
                                        <p:attrNameLst>
                                          <p:attrName>style.visibility</p:attrName>
                                        </p:attrNameLst>
                                      </p:cBhvr>
                                      <p:to>
                                        <p:strVal val="visible"/>
                                      </p:to>
                                    </p:set>
                                    <p:animEffect transition="in" filter="fade">
                                      <p:cBhvr>
                                        <p:cTn id="20" dur="1250"/>
                                        <p:tgtEl>
                                          <p:spTgt spid="6">
                                            <p:txEl>
                                              <p:pRg st="3" end="3"/>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6">
                                            <p:txEl>
                                              <p:pRg st="4" end="4"/>
                                            </p:txEl>
                                          </p:spTgt>
                                        </p:tgtEl>
                                        <p:attrNameLst>
                                          <p:attrName>style.visibility</p:attrName>
                                        </p:attrNameLst>
                                      </p:cBhvr>
                                      <p:to>
                                        <p:strVal val="visible"/>
                                      </p:to>
                                    </p:set>
                                    <p:animEffect transition="in" filter="fade">
                                      <p:cBhvr>
                                        <p:cTn id="25" dur="1250"/>
                                        <p:tgtEl>
                                          <p:spTgt spid="6">
                                            <p:txEl>
                                              <p:pRg st="4" end="4"/>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6">
                                            <p:txEl>
                                              <p:pRg st="5" end="5"/>
                                            </p:txEl>
                                          </p:spTgt>
                                        </p:tgtEl>
                                        <p:attrNameLst>
                                          <p:attrName>style.visibility</p:attrName>
                                        </p:attrNameLst>
                                      </p:cBhvr>
                                      <p:to>
                                        <p:strVal val="visible"/>
                                      </p:to>
                                    </p:set>
                                    <p:animEffect transition="in" filter="fade">
                                      <p:cBhvr>
                                        <p:cTn id="30" dur="125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50178" name="Group 2"/>
          <p:cNvGrpSpPr>
            <a:grpSpLocks/>
          </p:cNvGrpSpPr>
          <p:nvPr/>
        </p:nvGrpSpPr>
        <p:grpSpPr bwMode="auto">
          <a:xfrm>
            <a:off x="1992314" y="1700213"/>
            <a:ext cx="7920037" cy="1278932"/>
            <a:chOff x="624" y="377"/>
            <a:chExt cx="4512" cy="920"/>
          </a:xfrm>
        </p:grpSpPr>
        <p:sp>
          <p:nvSpPr>
            <p:cNvPr id="50195" name="Text Box 3"/>
            <p:cNvSpPr txBox="1">
              <a:spLocks noChangeArrowheads="1"/>
            </p:cNvSpPr>
            <p:nvPr/>
          </p:nvSpPr>
          <p:spPr bwMode="auto">
            <a:xfrm>
              <a:off x="624" y="1009"/>
              <a:ext cx="45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defRPr>
              </a:lvl9pPr>
            </a:lstStyle>
            <a:p>
              <a:pPr>
                <a:spcBef>
                  <a:spcPct val="50000"/>
                </a:spcBef>
                <a:buFontTx/>
                <a:buNone/>
              </a:pPr>
              <a:endParaRPr lang="pt-BR" altLang="pt-BR" sz="2000" b="1">
                <a:solidFill>
                  <a:srgbClr val="000000"/>
                </a:solidFill>
                <a:latin typeface="Tahoma" panose="020B0604030504040204" pitchFamily="34" charset="0"/>
              </a:endParaRPr>
            </a:p>
          </p:txBody>
        </p:sp>
        <p:sp>
          <p:nvSpPr>
            <p:cNvPr id="50196" name="Rectangle 4"/>
            <p:cNvSpPr>
              <a:spLocks noChangeArrowheads="1"/>
            </p:cNvSpPr>
            <p:nvPr/>
          </p:nvSpPr>
          <p:spPr bwMode="auto">
            <a:xfrm>
              <a:off x="636" y="377"/>
              <a:ext cx="105"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defRPr>
              </a:lvl9pPr>
            </a:lstStyle>
            <a:p>
              <a:pPr>
                <a:spcBef>
                  <a:spcPct val="0"/>
                </a:spcBef>
                <a:buFontTx/>
                <a:buNone/>
              </a:pPr>
              <a:endParaRPr lang="pt-BR" altLang="pt-BR" sz="3600" b="1" i="1">
                <a:solidFill>
                  <a:srgbClr val="000000"/>
                </a:solidFill>
                <a:latin typeface="Tahoma" panose="020B0604030504040204" pitchFamily="34" charset="0"/>
              </a:endParaRPr>
            </a:p>
          </p:txBody>
        </p:sp>
      </p:grpSp>
      <p:sp>
        <p:nvSpPr>
          <p:cNvPr id="50179" name="Rectangle 5"/>
          <p:cNvSpPr>
            <a:spLocks noChangeArrowheads="1"/>
          </p:cNvSpPr>
          <p:nvPr/>
        </p:nvSpPr>
        <p:spPr bwMode="auto">
          <a:xfrm>
            <a:off x="1524000" y="1412875"/>
            <a:ext cx="8280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defRPr>
            </a:lvl9pPr>
          </a:lstStyle>
          <a:p>
            <a:pPr>
              <a:spcBef>
                <a:spcPct val="0"/>
              </a:spcBef>
              <a:buFontTx/>
              <a:buNone/>
            </a:pPr>
            <a:r>
              <a:rPr lang="pt-BR" altLang="pt-BR">
                <a:solidFill>
                  <a:srgbClr val="0000FF"/>
                </a:solidFill>
                <a:latin typeface="Arial Black" panose="020B0A04020102020204" pitchFamily="34" charset="0"/>
              </a:rPr>
              <a:t> </a:t>
            </a:r>
            <a:endParaRPr lang="pt-BR" altLang="pt-BR" sz="3200">
              <a:solidFill>
                <a:srgbClr val="0000FF"/>
              </a:solidFill>
              <a:latin typeface="Arial Black" panose="020B0A04020102020204" pitchFamily="34" charset="0"/>
            </a:endParaRPr>
          </a:p>
        </p:txBody>
      </p:sp>
      <p:sp>
        <p:nvSpPr>
          <p:cNvPr id="50180" name="Text Box 8"/>
          <p:cNvSpPr txBox="1">
            <a:spLocks noChangeArrowheads="1"/>
          </p:cNvSpPr>
          <p:nvPr/>
        </p:nvSpPr>
        <p:spPr bwMode="auto">
          <a:xfrm>
            <a:off x="4860925" y="6281739"/>
            <a:ext cx="1841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defRPr>
            </a:lvl9pPr>
          </a:lstStyle>
          <a:p>
            <a:pPr>
              <a:spcBef>
                <a:spcPct val="0"/>
              </a:spcBef>
              <a:buFontTx/>
              <a:buNone/>
            </a:pPr>
            <a:endParaRPr lang="pt-BR" altLang="pt-BR" sz="1200">
              <a:solidFill>
                <a:srgbClr val="000000"/>
              </a:solidFill>
            </a:endParaRPr>
          </a:p>
        </p:txBody>
      </p:sp>
      <p:sp>
        <p:nvSpPr>
          <p:cNvPr id="50181" name="Text Box 9"/>
          <p:cNvSpPr txBox="1">
            <a:spLocks noChangeArrowheads="1"/>
          </p:cNvSpPr>
          <p:nvPr/>
        </p:nvSpPr>
        <p:spPr bwMode="auto">
          <a:xfrm>
            <a:off x="1431925" y="2513013"/>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defRPr>
            </a:lvl9pPr>
          </a:lstStyle>
          <a:p>
            <a:pPr eaLnBrk="1" hangingPunct="1">
              <a:spcBef>
                <a:spcPct val="0"/>
              </a:spcBef>
              <a:buFontTx/>
              <a:buNone/>
            </a:pPr>
            <a:endParaRPr lang="pt-BR" altLang="pt-BR" sz="1800">
              <a:solidFill>
                <a:srgbClr val="000000"/>
              </a:solidFill>
            </a:endParaRPr>
          </a:p>
        </p:txBody>
      </p:sp>
      <p:sp>
        <p:nvSpPr>
          <p:cNvPr id="50182" name="Rectangle 5"/>
          <p:cNvSpPr>
            <a:spLocks noChangeArrowheads="1"/>
          </p:cNvSpPr>
          <p:nvPr/>
        </p:nvSpPr>
        <p:spPr bwMode="auto">
          <a:xfrm>
            <a:off x="1703388" y="1916113"/>
            <a:ext cx="8280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defRPr>
            </a:lvl9pPr>
          </a:lstStyle>
          <a:p>
            <a:pPr>
              <a:spcBef>
                <a:spcPct val="0"/>
              </a:spcBef>
              <a:buFontTx/>
              <a:buNone/>
            </a:pPr>
            <a:endParaRPr lang="pt-BR" altLang="pt-BR">
              <a:solidFill>
                <a:srgbClr val="0000FF"/>
              </a:solidFill>
              <a:latin typeface="Arial Black" panose="020B0A04020102020204" pitchFamily="34" charset="0"/>
            </a:endParaRPr>
          </a:p>
          <a:p>
            <a:pPr>
              <a:spcBef>
                <a:spcPct val="0"/>
              </a:spcBef>
              <a:buFontTx/>
              <a:buNone/>
            </a:pPr>
            <a:endParaRPr lang="pt-BR" altLang="pt-BR">
              <a:solidFill>
                <a:srgbClr val="0000FF"/>
              </a:solidFill>
              <a:latin typeface="Arial Black" panose="020B0A04020102020204" pitchFamily="34" charset="0"/>
            </a:endParaRPr>
          </a:p>
          <a:p>
            <a:pPr>
              <a:spcBef>
                <a:spcPct val="0"/>
              </a:spcBef>
              <a:buFontTx/>
              <a:buNone/>
            </a:pPr>
            <a:endParaRPr lang="pt-BR" altLang="pt-BR" sz="3200">
              <a:solidFill>
                <a:srgbClr val="0000FF"/>
              </a:solidFill>
              <a:latin typeface="Arial Black" panose="020B0A04020102020204" pitchFamily="34" charset="0"/>
            </a:endParaRPr>
          </a:p>
        </p:txBody>
      </p:sp>
      <p:sp>
        <p:nvSpPr>
          <p:cNvPr id="6" name="Espaço Reservado para Conteúdo 5"/>
          <p:cNvSpPr>
            <a:spLocks noGrp="1"/>
          </p:cNvSpPr>
          <p:nvPr>
            <p:ph idx="4294967295"/>
          </p:nvPr>
        </p:nvSpPr>
        <p:spPr>
          <a:xfrm>
            <a:off x="216568" y="1818798"/>
            <a:ext cx="6472990" cy="4462941"/>
          </a:xfrm>
        </p:spPr>
        <p:txBody>
          <a:bodyPr>
            <a:normAutofit/>
          </a:bodyPr>
          <a:lstStyle/>
          <a:p>
            <a:pPr marL="0" indent="0" algn="ctr">
              <a:buNone/>
              <a:defRPr/>
            </a:pPr>
            <a:r>
              <a:rPr lang="pt-BR" sz="3600" b="1" dirty="0">
                <a:latin typeface="Lucida Sans Unicode" panose="020B0602030504020204" pitchFamily="34" charset="0"/>
                <a:cs typeface="Lucida Sans Unicode" panose="020B0602030504020204" pitchFamily="34" charset="0"/>
              </a:rPr>
              <a:t>MANUTENÇÃO DE ESTOQUES:</a:t>
            </a:r>
          </a:p>
          <a:p>
            <a:pPr marL="0" indent="0" algn="ctr">
              <a:buNone/>
              <a:defRPr/>
            </a:pPr>
            <a:r>
              <a:rPr lang="pt-BR" sz="3600" dirty="0">
                <a:latin typeface="Lucida Sans Unicode" panose="020B0602030504020204" pitchFamily="34" charset="0"/>
                <a:cs typeface="Lucida Sans Unicode" panose="020B0602030504020204" pitchFamily="34" charset="0"/>
              </a:rPr>
              <a:t>Para se atingir um grau razoável de disponibilidade de produto é necessário manter o controle de estoque.</a:t>
            </a:r>
          </a:p>
          <a:p>
            <a:pPr marL="0" indent="0" algn="ctr">
              <a:buNone/>
              <a:defRPr/>
            </a:pPr>
            <a:r>
              <a:rPr lang="pt-BR" sz="3600" b="1" dirty="0">
                <a:latin typeface="Lucida Sans Unicode" panose="020B0602030504020204" pitchFamily="34" charset="0"/>
                <a:cs typeface="Lucida Sans Unicode" panose="020B0602030504020204" pitchFamily="34" charset="0"/>
              </a:rPr>
              <a:t>Agrega valor de tempo.</a:t>
            </a:r>
            <a:endParaRPr lang="pt-BR" sz="3600" dirty="0">
              <a:latin typeface="Lucida Sans Unicode" panose="020B0602030504020204" pitchFamily="34" charset="0"/>
              <a:cs typeface="Lucida Sans Unicode" panose="020B0602030504020204" pitchFamily="34" charset="0"/>
            </a:endParaRPr>
          </a:p>
        </p:txBody>
      </p:sp>
      <p:sp>
        <p:nvSpPr>
          <p:cNvPr id="22" name="Título 4"/>
          <p:cNvSpPr>
            <a:spLocks noGrp="1"/>
          </p:cNvSpPr>
          <p:nvPr>
            <p:ph type="title" idx="4294967295"/>
          </p:nvPr>
        </p:nvSpPr>
        <p:spPr>
          <a:xfrm>
            <a:off x="0" y="1063625"/>
            <a:ext cx="3214688" cy="563563"/>
          </a:xfrm>
        </p:spPr>
        <p:txBody>
          <a:bodyPr>
            <a:normAutofit/>
          </a:bodyPr>
          <a:lstStyle/>
          <a:p>
            <a:pPr algn="ctr"/>
            <a:r>
              <a:rPr lang="pt-BR" altLang="pt-BR" sz="2000" b="1" dirty="0">
                <a:solidFill>
                  <a:schemeClr val="accent6"/>
                </a:solidFill>
                <a:latin typeface="Lucida Sans Unicode" panose="020B0602030504020204" pitchFamily="34" charset="0"/>
                <a:cs typeface="Lucida Sans Unicode" panose="020B0602030504020204" pitchFamily="34" charset="0"/>
              </a:rPr>
              <a:t>ATIVIDADES PRIMÁRIAS</a:t>
            </a:r>
          </a:p>
        </p:txBody>
      </p:sp>
      <p:pic>
        <p:nvPicPr>
          <p:cNvPr id="7" name="Imagem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145386" y="1412875"/>
            <a:ext cx="4830716" cy="455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CaixaDeTexto 22"/>
          <p:cNvSpPr txBox="1"/>
          <p:nvPr/>
        </p:nvSpPr>
        <p:spPr>
          <a:xfrm>
            <a:off x="2099556" y="410350"/>
            <a:ext cx="7992888" cy="461665"/>
          </a:xfrm>
          <a:prstGeom prst="rect">
            <a:avLst/>
          </a:prstGeom>
          <a:noFill/>
        </p:spPr>
        <p:txBody>
          <a:bodyPr wrap="square" rtlCol="0">
            <a:spAutoFit/>
          </a:body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LOGÍSTICA EMPRESARIAL</a:t>
            </a:r>
          </a:p>
        </p:txBody>
      </p:sp>
    </p:spTree>
    <p:extLst>
      <p:ext uri="{BB962C8B-B14F-4D97-AF65-F5344CB8AC3E}">
        <p14:creationId xmlns:p14="http://schemas.microsoft.com/office/powerpoint/2010/main" val="271118757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500"/>
                                        <p:tgtEl>
                                          <p:spTgt spid="6">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125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animEffect transition="in" filter="fade">
                                      <p:cBhvr>
                                        <p:cTn id="15" dur="1500"/>
                                        <p:tgtEl>
                                          <p:spTgt spid="6">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xEl>
                                              <p:pRg st="2" end="2"/>
                                            </p:txEl>
                                          </p:spTgt>
                                        </p:tgtEl>
                                        <p:attrNameLst>
                                          <p:attrName>style.visibility</p:attrName>
                                        </p:attrNameLst>
                                      </p:cBhvr>
                                      <p:to>
                                        <p:strVal val="visible"/>
                                      </p:to>
                                    </p:set>
                                    <p:animEffect transition="in" filter="fade">
                                      <p:cBhvr>
                                        <p:cTn id="20" dur="1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4" name="Imagem 2">
            <a:hlinkClick r:id="rId3"/>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93486" y="1607713"/>
            <a:ext cx="11088914" cy="4241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02" name="CaixaDeTexto 4"/>
          <p:cNvSpPr txBox="1">
            <a:spLocks noChangeArrowheads="1"/>
          </p:cNvSpPr>
          <p:nvPr/>
        </p:nvSpPr>
        <p:spPr bwMode="auto">
          <a:xfrm>
            <a:off x="3071814" y="1700214"/>
            <a:ext cx="6429375"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defRPr>
            </a:lvl9pPr>
          </a:lstStyle>
          <a:p>
            <a:pPr eaLnBrk="1" hangingPunct="1">
              <a:spcBef>
                <a:spcPct val="0"/>
              </a:spcBef>
              <a:buFontTx/>
              <a:buNone/>
            </a:pPr>
            <a:endParaRPr lang="pt-BR" altLang="pt-BR" sz="1800">
              <a:solidFill>
                <a:srgbClr val="000000"/>
              </a:solidFill>
              <a:latin typeface="Calibri" panose="020F0502020204030204" pitchFamily="34" charset="0"/>
            </a:endParaRPr>
          </a:p>
          <a:p>
            <a:pPr eaLnBrk="1" hangingPunct="1">
              <a:spcBef>
                <a:spcPct val="0"/>
              </a:spcBef>
              <a:buFontTx/>
              <a:buNone/>
            </a:pPr>
            <a:endParaRPr lang="pt-BR" altLang="pt-BR" sz="1800">
              <a:solidFill>
                <a:srgbClr val="000000"/>
              </a:solidFill>
              <a:latin typeface="Calibri" panose="020F0502020204030204" pitchFamily="34" charset="0"/>
            </a:endParaRPr>
          </a:p>
          <a:p>
            <a:pPr eaLnBrk="1" hangingPunct="1">
              <a:spcBef>
                <a:spcPct val="0"/>
              </a:spcBef>
              <a:buFontTx/>
              <a:buNone/>
            </a:pPr>
            <a:endParaRPr lang="pt-BR" altLang="pt-BR" sz="1800">
              <a:solidFill>
                <a:srgbClr val="000000"/>
              </a:solidFill>
              <a:latin typeface="Calibri" panose="020F0502020204030204" pitchFamily="34" charset="0"/>
            </a:endParaRPr>
          </a:p>
        </p:txBody>
      </p:sp>
      <p:sp>
        <p:nvSpPr>
          <p:cNvPr id="51204" name="Espaço Reservado para Conteúdo 4"/>
          <p:cNvSpPr>
            <a:spLocks noGrp="1"/>
          </p:cNvSpPr>
          <p:nvPr>
            <p:ph idx="4294967295"/>
          </p:nvPr>
        </p:nvSpPr>
        <p:spPr>
          <a:xfrm>
            <a:off x="0" y="1608138"/>
            <a:ext cx="11088688" cy="657225"/>
          </a:xfrm>
          <a:solidFill>
            <a:schemeClr val="bg1"/>
          </a:solidFill>
        </p:spPr>
        <p:txBody>
          <a:bodyPr>
            <a:normAutofit/>
          </a:bodyPr>
          <a:lstStyle/>
          <a:p>
            <a:pPr marL="0" indent="0" algn="just">
              <a:buNone/>
            </a:pPr>
            <a:r>
              <a:rPr lang="pt-BR" altLang="pt-BR" sz="2000" dirty="0">
                <a:solidFill>
                  <a:schemeClr val="accent6"/>
                </a:solidFill>
                <a:latin typeface="Lucida Sans Unicode" panose="020B0602030504020204" pitchFamily="34" charset="0"/>
                <a:cs typeface="Lucida Sans Unicode" panose="020B0602030504020204" pitchFamily="34" charset="0"/>
              </a:rPr>
              <a:t>São as atividades que servem de suporte e que contribuem a satisfação dos consumidores:</a:t>
            </a:r>
          </a:p>
        </p:txBody>
      </p:sp>
      <p:sp>
        <p:nvSpPr>
          <p:cNvPr id="8" name="Título 4"/>
          <p:cNvSpPr>
            <a:spLocks noGrp="1"/>
          </p:cNvSpPr>
          <p:nvPr>
            <p:ph type="title" idx="4294967295"/>
          </p:nvPr>
        </p:nvSpPr>
        <p:spPr>
          <a:xfrm>
            <a:off x="0" y="871538"/>
            <a:ext cx="3214688" cy="563562"/>
          </a:xfrm>
        </p:spPr>
        <p:txBody>
          <a:bodyPr>
            <a:normAutofit/>
          </a:bodyPr>
          <a:lstStyle/>
          <a:p>
            <a:pPr algn="ctr"/>
            <a:r>
              <a:rPr lang="pt-BR" altLang="pt-BR" sz="2000" b="1" dirty="0">
                <a:solidFill>
                  <a:schemeClr val="accent6"/>
                </a:solidFill>
                <a:latin typeface="Lucida Sans Unicode" panose="020B0602030504020204" pitchFamily="34" charset="0"/>
                <a:cs typeface="Lucida Sans Unicode" panose="020B0602030504020204" pitchFamily="34" charset="0"/>
              </a:rPr>
              <a:t>ATIVIDADES DE APOIO</a:t>
            </a:r>
          </a:p>
        </p:txBody>
      </p:sp>
      <p:sp>
        <p:nvSpPr>
          <p:cNvPr id="51207" name="AutoShape 8" descr="data:image/jpeg;base64,/9j/4AAQSkZJRgABAQAAAQABAAD/2wCEAAkGBxQTEhUUExQWFhQXGCAbGBgXFx0gIRwcHB8cHxofHx4cHSoiHB4lHBwcIjEhJSkrLi4uHCAzODMsNygtLisBCgoKDg0OGxAQGy0kHyQ0LC8sNCwsLCwsLDAvLCwsLCwsLCwsLCwsNCwsLCwsLCwsLCwsLCwsLCwsLCwsLCwsLP/AABEIALgBEgMBIgACEQEDEQH/xAAcAAACAgMBAQAAAAAAAAAAAAAEBQMGAAIHAQj/xABIEAACAgAEAwYEAgcGAwUJAAABAgMRAAQSIQUxQQYTIlFhcTKBkaEjQgcUUmKxwdEVM3KC4fBDkvEWJFOi0hclNGNkc4Oywv/EABoBAAIDAQEAAAAAAAAAAAAAAAMEAQIFAAb/xAAwEQACAgEEAQIEBQQDAQAAAAAAAQIRAwQSITFBIlEFE2FxMoGhsdEUweHwI1JiBv/aAAwDAQACEQMRAD8ApfZCBIw0mcilMWwjMcSFNZJFs1qNqIHiH5sI1zMqakAUhjbLpTSaN7iqOCMnLHFMCjGQK2sg3TDmdWiiRXPfExzeX7x2EagHfSBpG9AhQWs8+Q5C+mBFrQw4DnEMUqFIxSA7x7EjVqNILBrSATfQnrjTK5jK6xriMWkndEUg1sppqJBr05nDns3n4m8KQRJzF6BZAJYAE3YurB8xz3wHN2gdNcZAVlAqmoMRz3XlQ6+nrijLJkH9m6adTFoNc4STR2APiNbVuSBeICtkgnUdxQ7xV0j17wAdOV89tsLcvx1kzAcBDe5DE10J899udYsGeyME02t5UjLKSyorEBlAA2tefM/PEUybQvXgP4MmaJVGDBY4CjkSDSA5Db0wsGjuefvH/wB7zEaQOJWjB8EfiIX05WF2G11sPIYZjLFoly6yDuwzEMq6SxYkGzzI8IoG6rbEXF+GrBIyd5ZUKfHe+oKQPDte551yxG/wTtNpOBMsX905Ao1rZVsbXp1Vq0rR5WD88J89AREXFowIOgBzeo0RqIOw57tv0w6lymWL6GTx6koLdaT8VsWJ1AEVtgfIIrrNHGigmtmF0ASRpY/DVbna7xXc0uS20fPw6NYmDhAiqGUhb3MrhOd9NIwty/CnnklMRZl7whLUHUAaAB5gKNrP8sWaNAYljkrxxBTZ2sCLr/iJ3w7mzceRyTT7Syau7VQepFi66bGz6DAN0rpF+K5FvbCSDL8PymWIDyhmJIUGtmFncbFnoXzo+W1Uz0eU5xxSmlBfdQARsR4CD61uax72kV2dJpDrllUchQ0gVyUVYI68798eS5mR0bZgxHO36DbblgsekV6YtzebeKNJAkghdtMbLmJR4huQBr2q/KjvXLGv9rSsrMHkKpQbXJdE3Q3RtjRokj+sM+pm16NJNbJYGwrqcGZHIP3UjEbkFaPTxIQQedkWPa8WdLs6Ll0mH5WctljIFyzKWCP4KNsGKhmCKu4B257fVRBw2R4y1oAzINAH/wAzSL3o7g1WGGVhlRTptQd6G2/n7+uDnT/3fIPzgCz1sTWL+uKt10Ty1yA8dzx75EJSIxxLHphDINKg6dwW8VHzHTHmRzEbKodsyy6hR1uwLDyDKAD7H3xBkuFvJNH3p1h3UNqs6rNbnngvLcPlGkaiAt6RZpb50L2vFm10QuOaNe18SZiZGjEpkcAMJACS4oGiGA8hy98L8rlUsjNTaSI2AADatS/Ap0q1Ana+mLDw7KMs6MxvxAcz1ZbO+EvGuFF8xLuWPeNud9gxrfrtiFLmiH10S5SODuzqzKivFpLsbI2oKVALEHpey8xgSHgyyfiKYwoIHxAE2TRAYE0KNnpt54Y9m+BqspJ/ZIJPTdcGcM4GGjA0uWB56RX0rnuftijyU6CLHaYo7QKZArExppXSQhTc8yajRQPLbCbLoSD4gzdF0HUwo2QV2FCzucXbNdmCFNBrrahWFh4CyMCFIaiP+ZSrfYnBFNA3FlXLgtdMAcOeHcReJFWnaHd1jckxksCNWnTzN8xRwQez9V4Oew+mG+c4JUcFL4giqd+RC1X1OIeRXR2x0ZPLlTGdAlA3PdFQQp6AExnY74U9o8lGMjC6qdTTP6HTQHkOtYbP2eIG6/cf1x7xvJgwZZABShyeX5iMcpR8HO/Jzj9XWx4duvi3rBGblJXu0LiAG1jZ7o+ZqgTud6xYzwsXyGJTwIkGgt+uL/MXuV2sScL4QrtCrAVINRo71vz8uXTFkaOKNiixjYsAb35gg3e/I9OmJ8hlAhhPPZY1r7/zwRmchpJc1/st/IjA99sttpAC8NB3ob4zDSIrpG45DGYg45xw/JJrKzS93sKIR22N7gL5V88H/wBn5VdGvMTN4fFpg357gapt686GAM/E4lFhtQtTq2Ni9ue3XBQglk8YRV0sNy8aiz8PxOBV1yFYa3AdrGGQlySSo9Zi43DAkRLYAvf4jer7eR5H8aly8E7F4Wkazv3wQX4WsVGTzLfKvLetrw6UMH7yBWouD+sRA+Z5NYO+woXixcd4WZIMvIZIq7uMMe9WrACMb32urNbU18sQ2uDqYvbtBl0ZnGVDBiKX9cn22F7oVv8AN7asDScdieYyDLqgN7GSV+ij4nYsdwTv+0cFZfs/CJFR5MvpIFsJnZbB8W6R7E2NvTDfM9jIT3XdSQUR4tHfNZtUsl9I5tZC8gpxLlGiEmNuwQyuY71mjIZlIAjsAMmnSSbGrZ73vlibtDk0lMUgH/DUMeYJBIFHzo8vLEXC84nDJVMQkYd5pdYVYK1q4DBnkfcbXsCfWhhuOJRxoWMXe+Nwp1la6jatz6HC2RpeoPBN8AL9mpSyyrA5VVBLBCQQABYNURtd4l7PQqmdIC0CTzH7V10wXlu2+ZCrpXw6ANDHaqIO1j5/LliPhXFS0y6yQBv4W8qNVgM8ka7CxhIJ4nmO7zUezeGReQNUxYnfl+UXi19sYA+RlBF6HVvvX8Dir8flVnDobplv3sD+DHFjzfE0ky01eIGK6A6jffy+eJi6BsqQRJUi1KaXlXQgnr5G7r2wbPBEImIQ3XU4F4bIn6vI+iTUN441IJa9udUeXp1wvHFWdDXPXpNqwrVRUcugZd8B3NBqs3yuRg0Wy+MXtv8AL0xC8gGpAhogGtua36+V4a5DI6nYFC6hFJKsR4iyq25FULusET5PKqQx16PhYktsTsvTeztisJNN8t2dLx0j3s9wwZyRo17tCqauWrawP54T9sMgco00JIZTGrAgEX44zVbgbjniwdlM6MtPJIVYxFWQFQWN7Mo0opbdVO9YRduOMLm55GQEBYKNqwshgapqII9QMOVFRXuATlZHJINJpVsEUR7j0wXHxAgH4R8sY+Zym8R3mJ5+OhuOd1XlywyyeXaMS2YopLjCOFYopDFnUkk6rQAGthqA2wuq3UwvO087R8G7vJw5tpGDmSOgCNNMQfK+nLEHaHhaQTAI7HUoZrW6JskbdMMW4ok+VOSOdvNCNQ0ixSEBgVNgiuh5WOZwHw/JCRgjza1jjVBMdXjZfC2zHnqvmTg+TZGNg4qTdCDgzkauVlr8uuHPDpCgaz8TE4kzsMSFxDGoGrSZmTZTqAJIJoj2vDrLz5XTdROL2ZVUDrQ8RG4GE924YaaQonzn731wFKbwfxyeFnjWOFT3bh7AWmrmNjXXrgrj7KLiWBVYiywVQFA3JZ+SbdScdfSRCRXtiV8XI2OXlX88R8SksoAev81wVnciwdFX42RQF1UB4VaR2NE/mAA86wuh1CUB7YKrqCQPFWoKaHM2AbwTa1yyr5XA/wCzGRWbOokisyUxIY7bKauj51gTtJ2z4Tl5xC+TkcxmjpCMCPEAPFJY3pvpgrshBLJO/dgoV0gshKnQx8e+lr2HLb3GOdR9nEfMtNNIdAkBoFdRGoAWDu2rnsOXUcsO49u3lC0ky8duclCmaCwRhVCLYQ7atyb351WECTgCtR6gdf4YP7RSBcxNrVSwY6/Sr60A3L39+eEU3FYmPwgKq8trJB3670BzwDI3LpBYJLtjjIyrzvZRVm6BOwq+uBeMUUI8XiIB8XpR6+YwHkZl7iVgaHeBbAPlfvywLKTtTF9/CoNV5nc7cueIxp3yTNcWjoPDOw5khikB2dFbl+0Af54zEOQ/TRDHFHGMq5CIqg615KAB/DGYe+WhXcziE2nRtpv5f9ftiGFwpDLerrdV6V15YkzES2NLsb6Eb7chQNffB3DMurISZCPTFnKlZFEGelvT4gdgdiCbrfkTQv58sWLhzB8ge7PjiZjRIsoVDH3HeBq60MCcE7KZjN//AA+liOhYbVY8t+XLfFt/7C5vLwnvB3q2NcaNuVbalqja2Ty5+fLFJSSLRiUaXiFsCD4QbBI39brbmf4YY8L4jpDPLJQplVQGvdSboDlq08/XFnP6LswC/jUxoxEbPIQGUE0xFECxWFHaaP8AU5oGllTMgMWKJOW01XP9knny6HEPlndFhz+Y/DLKkirqEniQBaDAn4gT9OQ2xPl8nDm5JmE1zRFR4WASnFn/ABN06b2Mc84rPHOplRFjfcrGhBodOg3sf9MXLs7lVzbyjMudISOWId+hOxJPgZ6UFWUHUOgwCWPbEMptsd5rJx9yxiId411OLsi2ANjYgWa9998RZGeF4w6OpIFMqhrDULUazRq+d0cPeEcNhy6yCC3EiSKUV1IBY3tpUAC9trroOeARk5kUxLLloQ48OlB3wP56JJ1LdjbpWEpbPcZjKQqWSAROIjosA+JESzp1AgJsT4QN99hgnIRvGZUjaAxuRqJaNCUZEO5GnWdWuz4jXTG68OKB6Eksj+As0RTUAW8Q1kE7HmLB6HEe8etGgV2JTvEYikoHxE6gOagXflg+5JWugK5Yy4VkdLlpTG0FAGJltCAQwOrSEYhQByPM+5Az8EBldsnle9if8QSFkRDq3q2N7ctxeGOT4hlJQEkMYVd1HhrbbYAdNxzOJf1KGWRmhmtBGdoyNqKbqaIu6+pxVTlsuidvqPctBPllaMxQQJILcK0knh3IJ20b0efTbCubLwlUV5Wc6rGgqNQaxRCBjpIvkAPXbD3tLBJPHHNAgkmj0j4t9IskWLpiPTcHlgjLw6a/DKqdltCN+g+H7York+GXrb2hFwyKKN2aOLSUoWzHVuvQlzY+HoMKOLoZIJ5zKxYOVoqBV0Su1313Jv2wz45wSNs0z5q5FC0IxqFWoo2HXybr0OFmdWFcsyJmIiyoyKKVW0+JtB1SEkjkOZ5YuouD7tlfxLlUWXIZNnhQxxKqMq2zAMVNWVu96UCz6+9bZLMq+UmjkMe8gKBSyqyryN9LN1ywpzHGe4yQCyQ96ZlK0VKsDHpOtmGlGs7Wb8IoHlgjhuX1xxtNNpaQAlQDYLdNrAF8jQ2PTFpOUVark6KTfJ5FkYAxd3EDUm6nUzAWdJoHw7jbreI+AcK7pmEecOYIB1oilaJNlm30hjZrVucMD2WikEiQyFSoYFmkJojqRqvz96OKoOyuSjmWs13kisxBijQoo3I16m1avYnfocXhjtNz6KTlTSiX7tFMVy8cmXaezJobQzeEb71pob1vQ51ivSLmA0TyCTS6Odcj2d9QRgCSCN0PLrgKWeeCNpFkjeNKU91LMCAxNbbKvXcAdcNez8P60j6pD5rqGvnsN235HocAnTdJfwHgmlbEeZmXXJHmQY9IWqdFLE/FqLLy6bCxeNeNypGZZLkCbEhnGhgCNqCg9TyNjc4tXFJkhIBtmbe9PW9zvy38sJ1KZmWSGSCN0VEa2DXblwbo1toHTri6Vy58FG/TZX+D8QlnnUQqnIRhlN9zGAqajYJUlEGxNk1zw3Ts/L33dxyKKXwgk3XrvfJueHXZnhUX4ndxIiCQikWr0kgFtyTtvV9cJZu02Z/XJooVVREzKD3YJZVZbAJUgfDz354PsjNgt8oovXZvLPkstM8jWRRYqurb2sch9hgPhvYCJ3hzBaMsNL13Z3PxDmbHToOXLE3HJJzllRF1GUBWYGiNQ3aq39tueGXDeNOHMWlbjRWbYig1gb8jZVtgb2Hng+OrrwgU26v3OcdtuDvLm5/xGXUxulFHpt6V5+uKrD2NlvSuYChqtmQ0vMbkHa7r12xZszm5pZpnMbK+s1yqhemr+Xzwp4rx+eAAziTQx0kAReIeXXAXJqVRC7U1bNYOz8kUYidxp1FiSp8XhA208tuR3wFkDoZwzLanQx5El6sgdKBvli9duu1iE5bKqp8QNBWQhSAAl7+GqO2KemRd0mlICGNw7hxpJJ5cgN7W+mIlGpEKVxEXEuDETSBIXdA7BXuPxKCabl1G+PcbvxOiR+K1H4gwAPqBewPljMOJMBvMzeW8IeIFVIBoctxd7/xG2K7mhLEa0Mockra7EX+WxvR2+2GWRzeoIpDEAfAGIBF3vQFjp6UMEZ0d8yqAUCglQrE7nnux26bChz88Ci6dM6gjh3b/ADcbExxZdDp07Qkbc+h5++Nm7ZcSmBJzOkDooC7/AOUA/fC+LgxBJDncUdSA7f8ANibLcEdbCshvzRvtRNYluPgmpCzMRZmdjrWWYjm1vJV789wNsbTysQ5NRMbtVUgeqhbpRt5YYNwCcPqR41sUR4xe1dUO/r88SwdmJmFOVPWwWY/wH3OIlNImMGwXgjo0dFVJ1WdQuq8QoHY6trGLR2D7Svlw6mGWUck0lQF0mqJYgL7Yi4R2Q0Hmx9CQB9K3+uLpw3hPd0SVX10jagBuefKuuAZJxl4CQhJeQL9Uld9YiREdCO7dQ1E70a8LC/PC3OcVKx0JSO7enSIiJaJINqgI+JW22sk4s+d4l3ZpSzgjmm2/Tet1+vT5IM5lcvPrRyVZ9yAwBBvVQs+Zvmvthb/ijLkNtnJek0ynHnjdu7jH4nirxfF1Y7MdJWvTb1wk4hxVnzEjyINTEMdPeEryUUY2UigTt611wf8A9nMqkoJzDq9cjLH186S78qG3n5HHsojlnDzFShUkhmq6IYsDSkAbG258sEWXGuF0C+Vl7ZSZ5+8YK0aDYC5H3sV4vxGNHppFc6w3ynBsxKitliCiudXdvtqpbB07HYk+W+GI7FqG7wTg+skV7ACtrFnbdqUfPFs4DmEgV1YghmBCqUAUb7nxBfLZbxd5sb6ZEcORO2gfh/DpxEqEvEwJNpRJ99Skcq3xJxHszLmI9EmYlZbDUQoojkbVRyvDo8ViN1rrpS2W/wAKg6jvtdAY3TPx3RJB5nbZeniYeFfmcDjsXVB3vfZXuK8PlRk1yySAL4pHZbABsXe/z/0wql4flO7kbu4SxHOgWs7g2bYmtx/pi9f2pAULNKAgNamDAE+SkimPtePcxLCAUDqHdDS8mIo/lrV9sQ4JytSJUmlTRUuy3DmS37tEjKqYxW9kLZ0jZffYmzgrN8NnZywaIITfiRrrrdNzw27N5qNspDUiErCmvxDw+EDffbfbfDNArCwVYehBwR44y4BqbRyPj+beN3AmZakOpl1C2otyU7eFgd7PIYr+SLNNqTXIFvW9GhY2vrR5euOx8Q7MwykloUa21G0B3oC+XOgBiaHhKooUKor4VCih60OvrgnCVJFKt2VPJZMzZLMgCjrjIF6bKV5jfY9OWLBwfKsIzHQ8QXU1netz6DfBjZc1R018/wCuJcuukVQr3P8AXAFj5CufAqzvB43a3Mnls5H0AOFfBIvxXjMuYEaukUSpNJsWDHo3lW58sWXO6hHI6AGRY2KWdtQB0+nOsUuXgmeZ+8/V4r56hJImoqACR3c3MnlQujvgsUvIKTZZuyGQ1v3jtJIYwugu5O5Db1yuq3rCvOdm3kkYM50vP8Oq/EzyEkeVEYL7A55xnZssyKojgjalJOklYwUJJN1X1vFoyUau7Ob2kJHz8Xn+9giXCK2NM4hWMDc2fsv+v8MUHgcxkzOYeiHVmDHTzHILfPbSL6WMXjPZ0HkDQFfTFNVnSVzY0nXsBz1PqW/UAkfPEyZCRsy7E9bxRf0gI7tlobP4kuwA9h0588XsS8+Y2/mMUDtXnJv1uGbLK79xelwlgSHl0I28J3wGE0ppMJJPbaIOH5iaLiKs2ZJMEFq5F6e8FgBTfMydL5k4vGUDzhmlZJHcbsFFFh/lHKq5Yo/BjLNmMxK0UTNIqIO/A1bAC0GwHwDpsCAMdM7P8KdYY0IAZVA23oj2xbuX2R3gWrlsvW8aX198Ziu8W7XpHPLGatJGU/5WI/ljME2lTnPDFbVsGYDoATt/Lniy8FyMhlDMNCdb3bkegv06jFhjyCjb7V/LBayxpsT6f7AxSU3LohRS7Al4YSetYYw8LpfEfCOd0B8z1+eNU4p+yDV7mhdel2B70cbPxUXRViRuLJIHTrZv/CV54XnlSdMPHHatE+UykR+AK3+Gj7/7GCJiEF6XO/KNT/OsCrnYWuztz3Flv/MG/wCaQ4niaM/Cygt1sCr9RoRT8nPvgU8rfQSONLs9fiSomptSe/O/kGxGJxoLNLLQHxS6jV+QdQPoMGoPzCU6RttKVBb1Z9yfRI8Q5iJwFs7sbuRFr5Bx3kh5ckwG33YWl0R5OUEHRProbswQVz3NV9ziXLOSv96JSRyGqr/yk3jXOd4dSSFQpX86MhYb/DGh1kb89IxGsncqPwo4yRpVb0yNdAHS1v8AXbfEO32SqQTlInFNI0IvnpUg/wDM9V98Zlc1MwKsYxGdtJmDbH9wL64W5bJJAVDQt3hNgM41G+hQUR8xj2SK5m1yZhCf+HpOx8gNRoV6YmjiaWLXMf8AujSFdtVEAgcj8YAHzxLxHORIyxyIdQQUI3dQAfRCQT9cC5ruiU0TCOtm1R2b87KEk37YKiiGhwuZieTbRqkES8+viBPttjkczJcuJFRFR0LP4a1FydNkHWl1Vm9hyx7LwsxjQwkEhWwzKh0gczVgDytvXEEeTm1aW7ogVbLKXHiobfFZ8+nriPO56aFjGI2KD4b0Cwf3dHX+mJrwR9TTJZqHUGOaDVyClAav9pXsedAYmhilZykcqDvByYSDUp3onV4hz364Y8Fg1NqngVWrwBlBPvpB/iBgXOZvTxFNKa/w7G4+Iaxpvp09sdfPH9ia45FRtYMrHdoYw+k8rJ3NDmelnfF2m07qpACbMBXhHT0Ufflt0xQBEWED5ggIq1EF+JgGNgb7KD+c+ewOLxMispVaVU3KigK3NnyBsm+vTFlkWPImCmt2NoTZ029fl5gDr6/6nFl4ElR63OmMeV7nyHmcL8nwy2Es1d0QNCg7ybdKPhX1P3w0dWkonSANlUDYDyGNRZPSvcR2c/Q1zmdLciVXoLv5k9TjSOZq8/kMeOh9vbbE+URaLOdMa7u56Dl9SdgMC5bC8ID4vxiLKwGXMt4WtUShbt1rYbKNz8h1xXcv22y0x/DdldTsGDAEH4idtwFBavMDBvHYGzUhOpQiilUopCDopNkUefeXpJuyOWF2Y7Lols6Q2o591pIvajSir6E7HoTjpLFLt8lFKSfRv+j7OCTPZ7NKLikKqjGxdb2Bz+EX8xi7djcn3kDytYDyEjxHkqonI8t1O2Kn2RzUQgkCIqpHIYyVBUa2BO5PXV4d/IDF3yfaDKKv6vFMkk3iPdRMGb4idwOXMc8MpRqvYHbFfF80kYY0TTBR4hvsSfy9KH1xXJ+Mx38L36EH+mBu0HE5GZV7mRbdiNidTGrogbkBTsPI4W5toytEur8zajbz2u6xWoM7dJD2bOo0LshYUQu4HMgnnq8lOIeAOyQgqa1MxP1ofYDFVny6vl5IxIpYujrqDV4Q4N0D+0MLEzOfiUKk0ehdlUFaA/zAHGdr/h8s6qDX5jul1Ucf4zo2YzZZow77aid9hsD5D1w5y8baS40lQCb1Dpz545t2f4jm3mC5hUkBBAIkRVHI2QGsm1G3rjqOeyjx8NnIC6mjKpt+Z/An1LDBdDo3gxbZd/QHqc6yZLj0c+yXYY5iNJyouVRIbYc3AY9fXGY6YmSZAEVX0qNI5chsOmPMPbRXk5eO/ujOALqmYqK/wsACPUXiQ56HoizNVOIlXTY2vXsq31AYb4qOcRpTpeV9X7AYu/zjjpF+eIlgkU6WkWuaxyKJGvzEa2B88A+Svt9uC3zCyycS1D8KCNqO5hlOw/ekZWjHtZxGvE1kvuklLqd6CugB5/iKwBqutYRZs5hfFP3TfsJMRfppiUkD6YybOyrGGngZl6GU0g9ohpB+mIlp4Sdv9yY55rosEfEImLBXvSN/w3NHqCVVlA9dWMinjegskRY8gJUsH21XhNDxuCQU5Mn7sjCOEf8A4492A9R88b8T41llUK79+ANool7qIeX7zfPA3pI+LCLUz8lh0FSbDqefI8t9x6HflttjeCd1IKSEN5g0SPcemKdwziHjDqrRHfu1jalF3dgNYvayfXyxastm82wB3kBNBrV19rOpRhPLicHQ1jy7kH5fPSpqCNQa7K7En1Yb7++JYOKyKCqqFF2dAClr82FMevXEi8OkoApEzNu1LQUerIygH2++A5IC6yd2Apj/ADglkOkmwQaIJG4N/LrgN+4ULHGApB7sItbiLwE+ep6LfKwMbZfiMKllCtCjXYgoMb/akJ1H2FD0wBI0YJUyMCthrQEWNjVNfP0xsUU8pY+YrVqX/wDZQPviVI7gbcP0SBo4mEC7WEGp2snZpG3+Qob7XjTiuSiEQRSsZsEswLSEbjYAWem2w9sC5CKQWyKGJG3dujE79Kbb3wFnbUkMrrXMshAs8/GfjPqBXqenK3yda6CcvwcyAaFVIwfFJI2pjXMUDQHp9WxNNAIM1AkbsobnZ5myCR0r0xv2dziJE9yADWANR2tqAFdSSNhjTjOW7yXLyyfhBWZfE3iYWtUq8yTe1+EVZU7Ym23z0dwkOs1mFkZok1sx3LpYC0eRcciSDYHQG6GF2S4egzmpELOqX4Qvd2dS0K5sPiPT3xtMyiIwwVAigeQAAIvVt1o7VueQvfBvZ7h3cFtIC2hO/wATWQdRA+BT0HM3Z6YmCjXLq+EvcHkm7FGWyEbwZeWVVJjMg1tvR71tlW/GxPIHYc/LFkyuVRRUkQ1khliLEn/FN5k89J8hfTC3s7Ppy6sq3KJJwrHkg71rIHLV5E8sGZJH8TWT5sfM/wA8NyxXO3z7fT+f2F4y4CpLLksbbqfL0GN1n9cBsx5KP6k/1xs6OtaEZgD+I4FhTWwvlz29+XraUtvXLISDIoTIwUczyH8SfIYR9ouIiSoYtLQobvUPG3V6DcugHlv1xv2049+oxKuhnaQfjNp8IUj4LFXtuaPphXFKjNpaEKT1VmBHyYkYYx3BbpIDPnhEeXyG4bu29wT/AOk4LzeaVFOt2jFVZ8/tiHJQgkbkD2B/phhxFoFgZZpGXWrBSwHhatiKYEEGjtg85LoFFCXgPEYct36oYZoZZHcgSDWQ52VlIKkAbV5k4bdq1hHDojlNEDF7qIBDpdRrHhXYkAAkb4qEGVZEv9ehzMZBNlW1AqLoHcKRsSCeRwNxjMZpXAkywmCqFBR2ZRQF6VvY2KugcJJ5blCXL4r/AHgcaxunF1/v5hUnaLNO4K9yfESAumtPIatTCyL2JHtWGmUz+Yk/G8Tq4B0gGt658yTQAtiWHniu8EeJ4cxO8P8AdBbra2slgTR/Kp2rEXD5tC6XbNR7eIvllddXQjTRC+e5ODQwRq5IXlJ3wy7PxoavxImFivEdX11r4h6nxfvYxs5lSVBjHr+Gn8jbD38X72Kbk+MyGTRHmI3s0NKyIfIHSTyurGLd/Ypmj7159EkYUDSoYl6JOqz8N4U1HysclFXb+rGMKlKLkwvKplDZAClPF+cbDcnnVAdDR/eOCe23aUfq+XTK5lGQSKzlXVvhOtLJs7FL3298J8p8P4oh0ybEWin26YqXbDh0KlYspCypeqQoWcXy23YgD3I3w2sb2rZJ/uB3ep7kWk9r86d/1r/yx/8ApxmOa/2WPOT5RP8A+jGYn5eX/t+n+Sbh7BmVy0pGiB3l337sMqD/ADWAfpjJeJyQVEWSNeREBFn/ABMosfLC3OcWnmGktSfsrsv0Gx++F7hfMlvTBq9wBZOEcXRZOaQI3NwolcHblYvc2bo1gnN9qYI2uCHvZf8Axsydbf5V+Ff97Yp4Jvlf8cMFiarVQi9Xb788Q4osTZ3NzStrlcb+e23lQH2GBIkPNUG3NmOy+W/LliWNV/KDKf222Hy6nDHIcCaTfci73+Eew64skQ2RcGzmiRdzINa6tvDVi+fPHY+FSo6kOiBYq0Kq0o58lG3TFCyfCI46saj5kbfTFl4VKA/+JSPnz/lhDXY6SaHNJO20DZniZGZnCswVirV/lrly6YtIIaDSiimTYDzI/wB74o3ElrMX+0pB+RBH8Ti18MmuBOh0kbehIB+2M+cbQ5F8gXDeFJmpQGaFGY7jvafVQ1DQQbN2OnLHnEeGZfKT90T30qgEI1ALfItvbbdAMNOAwrEiSIPEQHLHck89/S+grFL7ZcafP0ZSECzBfw1s90VLC7O51KetC8MYIxfD8AMu5LgsayTMSxncX0CrpHoFIoDEEvHpIpI4taM8nId0fOtzGfM+WF/ZzhozssgM0kAjRSgjRVuyw8elRfLnWGVLHIiGV2bLvqaRl3cGiBfkK5D+eHHixyX4UK8p8ssWejRVCuwE+nVpHxAHZupNXthLxfJiZ8t4tJQgqqi2caeQqyBqFljtsee9Qtl4cyHly5dZZtasjS7g2reCzqGoKxNHaulDDaDhcoQKmmJNA77NnlpG2lOpPLbrt8syWJwzKK75pf3+wzGfoPMplCX0R6JZ1tq1fhwg83Yt8TciSd+XpTLhyxI5VLlke+8zDD4iN9K/srf1wplz6ae4y4KQ34iT4pT+05+9dMF8INSDcUAd/kf93h3HiUee37/2XsBbsh4CD3DL/wDUT2eo/Fbl9cMEIqqoehwl4FKSspshe/loV+01/e8NV1AgAEyt8Cj8o/aPkfLy5+WL5JV12REqnb7tHNlHRIGUak3O1qT9xa72KxbP0fTpPkE2WSQNrdQ6l1ZlCsyiQEDnVGtjz54EyvYpXYZh8pI8y7NFmHieNzpotSsdW/KzXmNhibi2aiycUjLkkysjKFEiFgFF0CFUdLPLDEKjGn39gTtu0D9q+0SZEfq8eV7ppT3lTaCSQR46DlVGoDSKG4NctkfC+PyZp5CY77ulZxGOdH81GunXyxTe3HaJM00axICkSfiTBd5JTuxLkWVHIA+p6jDXspK0CI2Xdxq3sEGqNkeWzAdOmGY6X50XBVdeRbUar5HradfQtGSnXcfxwd2i7Ox8Qy7IG0NFZjpbGugT+bfbaq8yN8Ax9osxQUv3gJG0viGxvrv0xesjwZsuHkMWpnpnMaw0hCgEaXC1X7p3xGqwTwzt/Tr8yui1UNRH08V7nHuxHZyWTv8AL5jvctpjZzcR2Gnxt4gOgAG/1xZRwtHSFkAEco1QklSSlA7gvercAg72Di+8Ltct3pMmXZgxsozLRNhmUBlAretgLIxxjjHbAyzs9gKtBRGihSwN62FVr5DUB0wBNTdrscrYuQviuTysEDqGPfykFwdlFkBh6UDufO8H/rbkWscuk7gx7j7Hf3xRs1nRmDo1HvHIBZhQB5C9INed154KzPZ/Oo6hShfSuyzoG2FfCXB5g9Mdki21Hj7MqmuWPeJcSbw20nhbUQ4bbSNtz6+RwoPa2YhlIA1cyrMv88D5tc2gK5rvQQp0rISdjtYvoaq/TCgdcLPFFybklf0GoTajSZeezmZOZQ2pXuzV6r6AjnWBOLRa5XfSK8IOwrkN/uMC8IQxQK9bSM1HzIC/TYjEmXkJFjqzH5XQ+wGGcaVLaLTfqdg5g/cH0/0xmN/14/tN9/649wTkpwU6WOvjb/Ku/wDpjaKJjsi6fucWDLcDRd2vDSGFVFKABi6RRyKzHwFiPEaP3wbDwItWpi1dWvb64skOWDDZSThjwngU+YNRp4b3dtlHnv1PoLxLaXLOW5ukJcrwyNOfiPry+mGiwOzBUBdjyCb8+XLF84T2PihALhZpBZBf4Aenh6/O8P8AMZ0INbUFA3awAB8+mFpapLpDEdK32yh8N7KSsNeYPdL+zXiP9MQcbhSCdREaXSOZPqDz+vzwbx/t8AGXLDWeXeONh7Kefz++EU+d77LQMx1SjUJDVWbNfYYDlyfNg+OgmPH8uapi/jQp1byb+O388Puzk34RF1TfxA5YVhRPpFaS2xJ3qruvocNPBl1NHzJPPcVjOfVDi7sa8JPgr9lmHyDGvtWOZcdy0/fOqqYl1eHYiwCaNndr59fpjpPZnjOWdGfWfE1jXG4Qcl3NU3iU7DbDIcbaQlI49UQ+IsOfsvQeQwbBP5c3uRTNHfFUzkuT4rnYQwSWtS6SyooavRgAfP6nBXBOO6AEzKkILuUFmYknbVdn2xfuLQZNRqkhUHfZPAelk1QoWNz5jqQMV3tbwZYMhJNITGZCBBEfjYFh4m6hQt86JPl10cThkfCEZqUO2MclwhJWjzjO4yeggH4WfmdMamjuSQWArcnEuf4s0pVIwIoV2SJOSjzJ6sep98VPsVm2kiMDOWWEnQbJGltyF8vFZ+eLbBCFO4O42rFJ8SaLR6slygoWTa/vAX8r6YLTNqdiqkehK19NvlWA9W+55ctv64klIWMyuSAOQAFsetegvc+dDApyUVbLLlnvDc5BF3zO1fjvpQ0SeQ1FR0vp1+WAM723MUhWGOKZX/vO9V72N1zFg7E9DthN2lyn6vmMvmZZT3T5sB0/KIbDNYrxEjUT6UOeLDJwJOKM00KyQuPGyyxjTpdiUIprB0EbVguDEtqyPlsHOTvb4Dp+2T5vLnwmJ0NaIiTqsWrCtwQVPyvCuOYZkSpNIxIAcs7HwoFqiW3suRQ5UGxHnOCPlbhjlBnkbu17rUGj7xatywBSxsOp1CuuIW7LZnI5cvmm7xpJNLsHLELQCA6hv1HXoMF27nZF7SDj3EVyiZeDKqviVw7OtklvEDsR+9z9MDdmcpoj1BRy02NtvbCniWakzMiyNS6SQNIrbl9enthzwslY9P0AAAA6bY1tFh9KdGH8S1CTcd35B8DMsiPGsbOh1KJL0k2Pi07/AEwV/wC1aPK5qYZjIfjHwyNDOzKbAJ8DgDrhbwXiivxGHJhWLM1ah0rc2OdUDvgnt32Cy+XlllkmM7zG9JZVeLUT49IB7xenSqwPWzhJ2vAb4ZjyQg1JUnyIJP0hI0UygyAMDojrSLJ+EBTpC0b33u9zilRhnkYKK8RPt/vyxdcn+h7iLIk0RgdWUMo1srbi9wyij6XhLk8g8JdJF0yq7BxYNMDRFjY7jphXSaaO5155HtbqZKFv7C/L149Ya75rXlsKsfW8TxizywW0e+NlixpxxUzJnn3eBfmaVX5b1VffG/D+ESTIzKVFGqJPkPT1xrxiM0tAkb3WG/BM7FGqrI+i18jvZuzQ571v0Axh/EVPG24I3vh0o5IRTY24vIBkcuiINUf95pWuSBdfqWrfrtiuZOfavTD7NzLMjRwsrs1KoUgmycVfhikSaXBVgaII3B6g+W+F9DNyi93d/uG1UFGSoZ374zDUcObGYepClgaemDIUXmReLk/Hocxtncskjf8Aix+B/tz+temIT2Sy8++Sza6ukU/hb5Gt/offHKcWc4NCbK8RWIh3hEqg/AxIHuOhPoRiy5n9IMXdgxIdQYBon28PmrLY2Nf0wjzXZ3MRK8csTLY+PmvobFjmMVziGRaFwj0pYWo1A36je6wrqItuxjBKlR0L/t5CyErG/edVND56geXyvFP4xxWadrdiV/KB8I9a/wD6PPCyGEEgG6/2fpgrPNpXWWqwKXnZPkPPCjVMZu0BzRACyRz5b+98vXzvbG/CyzKyL8KHUSfXb6n+uNMvkJcxsuyD4mOwB6gt1P7q7+ZGHeYhWFDl1BHIljVnYUaGwHp/O8TKWxV5ZCW5kfCoTq8J+G2J8l6/xrEPazPKqBNWkttqqwAdiTXlzrrWH/BEQQGubkhj19B7UfvhD2m7KyMrSF0aNautiL2FqfXyJwPDFTycl8ktseAntNxWJYI4ci6ukaBVKm/ERVn1AFm+pONezvaDMOO6kjBblF3aEkseldT88Lez3Ai7CKCO3boPIcyT0A8zi/wTR5Be5gKyZnlJPXhj81TzbzP/AED39PBLnkU+dNvgiGVXJASZn8bOc0iJ1LCejP8AtP5AbDpXPFR7XJNmipa31Nqdz0A8h5UarDyKC3LM1nmfMk+Z3u8GSzLHz3J6dPni26uitX2KeH92hpAAoFKOX2GChPvdkD3wMr6nNtX8MS5XLM7FmKxxJu71yHkB1Y8gMUlJRVstQVlkDapJD+EmxPIk9FH7x+w+WNG49HFPFNPIYlF92ADV1SqQBejSzfOjhp2b4f8Ar0ysfw8nESEU14m8t/iJJtj7DF14x2cWfSJFiemB1Mm48JXlup8J5bC6NGsVhicnvl+X0/yc5Vwji+d4YOJ5nTLmkjCg91pTWBvyoHcE1Z8x7Y6Jk+zuZynD5Gy5GYzkv51CrQPMoNgKA263v6YE7R/otycijVE0CIP7zLvq283SQEn1Is/K8caTtZm8lO8eSzs5hViE1mwVBoHQ1qL5+1YZxRcY0Dm1J2dP7K57us9DlJmMjwo0szsxPcsQAkYYmwAGJYXWtlqiuJO1HEJM5lsxGGBRhJpP7sZ8BJut2Ub+uOP5biWZZZEjkclmLt5sTeom+Z3vHvEONZqb8MSP3YoUBp5ftVzN4ZiqXQCTt99DvgEJOXUVR1EH64teQgsVQrqT/vfCPsxlwkKC21EmqHmffHSuCdnyaLqdNWWYkV50B1xqrKoY1Z5+WB5s8q6thH6PezHcZnMZkhBEygoTWvUR49Rq1CqOV142+VxzfCcrOwd44pT5kBsJ+IQS5XKOQ1pVd13RdzroUugglrPk2KZlu30beBsyf2SJEX2IOtYyPLmcYebKt1tHpcOKopHT+KCJY3llUERoWJPkoJO+PmnLZnvQZD8TksfdjZ+5OOsfpI7Z5f8AsyaOKS5ZUCIp5spKhyDyNKTdE88ce4Sw0Ko6DDugacm0IfEl6Egh8eXiSQYixpsyUeTfywmz8lufQAfz/nhvIcScMj1SN3bkyFaJYGgtEFR5mq3xkfEsijV+Da+GJqLryLezcYM6FhSi2N7WACfpdYljLJLqkUrqa9+u9nDOWBUNKKseQ8sacQW4kfyq/wCBxnQl679+DRnzEfrEpAIl2PqP64zFbXPLQ/DT6f64zDYuWmxiN4iefLGwbG2vzGExgOyHaPNQABJSy/sv4h7b7j5EYD4hPw/NknN5VopDzlgPXzZev0bGmm8Rug8sTuaI2pm0XYSZgW4fnIsyo/4cp0uP9+tYEg4UYSx4mJYQigDwmpLJumF2BtYTc49/UyTqBII5EbV62MWPhPaXORjQ7LNFyKzjVY8tXxH53jm4vvslJoP4ZnoGjByzxSoorQpA0+hFbe1YTcZyZkl1A6bHIjy9RthhJw/hmY1fhSZKRxReCtN8/hA236hR7424f2SzsJZocwufy9bDWA4PQHUd/m3ywF6dc7XYT5vuAZaRcuCski3u4UA+VC9tgSNj13q6wNwrJ5jPylUNIB+JI2yqo338h1C8zzJPMScH7HzSu75oNloIzcjyAg9OWrd2IoauXIDoMEce42jxjLZVTFlV6DZpD+055m/I/PyBYYo4uX2Ulkc+F0GTcTigQ5bIfCdpcx+aU+Skcl9vl5kXLQFaBoVyG1f64E4UIV2kD15qRf0P+uH8XDo3U9xMhJ5K9qf4eI+wxLbZFUAd7pLad/Oh9OeAtBJuyL6jDCfKyRWHUhgN63H1H88DizRNDHEEPcanRFvUzAX7/wBMNch2oymS1QZjJMyu5PeEKwYKSFJD0F29eZOAUzRiVplQFxsNQutmuveq+vniyZvhOR4h3Ujs0wj5GCeqG2pCFO24o8jgOOcpZZJdL92XaSir8jjsXxuDNs5y8ZSCKliHhC2QxalG4a+fSivW8WpgbBAuuW9b+vyxU+y/CMlk3cwSMgkYFlmPM8gFdquugs8zix8czUseXkkgiM0oX8OMEDU3TckCup9Bth5AGc4/S/2w03kY6BZNU29+E/Cm37XOvLnsccGaLW52verGCOI5+ZppXmszM7d4Tz1XTfQ7V0rD3gvC6RbFE7/LDWl08sk+RbWamGHGgOCEwx6gQAwK7jnf+l4X5ZKY7NR8v474s+fhBAFbDlhc2T3A9cP5NO7VeDLw6pNNy7Zf+yOWBRZN0ANLqreuo9PXF+iimmQmAgldJVnW1sEE+HUurkR8QxW+AZQd2CfhAA9z5DFjyPFcnGxhnnjSQMRomUAfIuKb3BwrqZ0qY3o8d8pFa/SF23z2UEaEQpI+rUyEt4Ko2hNKbIIbUeXleOd8e47DmYoay4WdEVZJ9VGXSKsqNiTQ8R3xfv0ldlzmZRNHPFZQKibBK6BSGO7M1WRis5r9GmaVYyhDRuVUE+Egsa3F+eMqeS20jSbUas55nzpf17sH5tuPtWD+CPdnCXimY7yWRxyZjQ8h+UfIUMWDg0WmMeuNTRxdpCGva2sNkbEJON2OIrxoNmVFGSGlY3yBONOzN6w2qxfTlv5fMjG+bhJgJH5mCfXE/CI9IAA2vcjysC/rW/rjG+IK3K/Y3PhzSgq9yTOEgmzQB2s+R5Af7/jgGXiNIy6fDvRvfDvjHA9TFwzC96P3r57/ADxWuJ5N0U3RHpjKw5oTaSZp5Mco3wRhzjzAKzHGY0xI6Kr/AExOpwJHidcJhwgOBt1xhTEKsBidWxBJJHEWHoMEplSBXP0xrCbIrYemJ0Y+Lc74qyURUNqFHliMEo+pGZXG2pWo17g4kYDffG8cYO/yxxwanarM1UuidOWmRRv71z+d42X+zp/iD5WT03Qn23AH0wrkam2rHiwfm2BGJ3PyRSHE/Y6atcDx5hD1RqP0Jr6HCyTLMh0yKUbyYEH788Rwu6MWRijeakg/bD2PtdOF0TLHOnk6jf6bX8sXTRHIqi4iyAaXYVyF7fQ7Y3biyOPxYgx/aXY/PqfqMHj+z5qsSZZyd6ooPXc7D2rGcQ7FzIuuNknToUIsk8tjz+ROJ58EceQDh8CS6kDN4hdAAkUG3o0KonkcLcxwmKEseGiA5vUjhjIveIpiAIVH2Gss5IHQgdNr2nAxk4FIAfNFwzAEbCiNIPRRe56n5Y4l2iSIzEQqaGzMSTqYcyBdAdBXOrwtpozlq5xg+eL4TiuF30/1I1E1HEm/3p/kPO0HazN/q8mWzuWVNYoOVZLPsbVvlWKrw3tNnMqKgzMqDlpDEr/ymwPlhrku0eZhXSsrFf2JPGp9Ka9vbGx4lkpiFzGSCO3/ABMo2jf/AO23gxoTx54P1wtf+f4dfo2LQzwkuHT+v8nnE+FI+aSRECRyQxzFRyDONwPSxfzw3XYbYJ4oiIYVQsUECBSwolRYF11rAwN/yxsfClWlg/P17PP/ABTI56iS8IFZLONcvkmeQAAkk9Bhll8veHnZ9wmrTeoig11seeHZulYrilultLhwzKiLLhiPFdKTXPb/AH8sMOLZjueHzyaVYrEzU4DAtWxI5HcjC7s45kYp8SRkBb33rc16eeFn6UO1cMWUzOUqQTMAgtGCkMFNhq0mgehO43xjZPxUz0eGtlo4Vk+MzRuWSQjS1rYBA+R2xZT+lDOtE0MrBxoYK3IqSrKD8tXLFOK1iOJLJwBY4ufQdv0ps0git1XzOLcBQrCLhcNy+ww9nONLTxpNmZrJ7pJEbHETHGzHGmCti6QdO+mGJfNyx/hhjlmAykgrxeBR7O+sn5CP74TZp91HkKw34fIunNsT/d5UlR+8GWvua+ZwhrOeDT+H9bhy8lij08Q/n9q+mFnEcsHStruvkdsJct2lYAakB2qwf5YKPaGJlo6lPqP6Y8n/AE+WDTSPSfMi1RRmcqSDzGx+WPMF55omkdrbxMTy8yT54zHoFLjoynDnsvsfviTXjMZhYITQA3y9zgwKPPHuMxDJSJBIL8ONlkN4zGYijggYwoMe4zFCxGyDmcQPJZ9MeYzEogkDAbY0aj1xmMxJxuoHpeMizkkT6oZGQjqD19uR+ePcZiDhxD25lK6c3BHmI+RpaNeo3U/QYHfgnCM1/dyNk5D+V9lv2YlfkrDGYzBceecHaYPJghkVSQo4x+jLNJ4otGYTp3Zpq/wtz+ROKp/ZUkT/AIkbow5KykH6EXjMZjY0+eU7vxyY+rwRxr0vssXaHh00YhLIQqxKjN0DCzXvWAYsZjMB/wDntVLU6NTn3bX6ivxnDHDqNsfZBcEpG3niy8DUUQq+MqaJ5XW2MxmNXPxES0STmXjs3lBEq0L8NE7b+fvjm/6X+Md7LHl1J0x2zC/zNy+i/wAcZjMZ2Bbsls3NQ9mJJHPGyikbjAn6oEusZjMOSxx7oShll1ZPwyOixwU5xmMxMVUSk3c2ZFlpHvu43euehSa+gxY8t2AzbwR5iMIyuL0atLD0IYAffGYzGRl181llBL8Jp6fSQnFN+SuOp1WQdj5eXtiDMO2hlU/HSmvKw2/zUYzGYR/rMmS9xqw0uPGvSBGAjmMCyAnkPpjMZiuOV8hZqhZWMxmMw9Ygf//Z"/>
          <p:cNvSpPr>
            <a:spLocks noChangeAspect="1" noChangeArrowheads="1"/>
          </p:cNvSpPr>
          <p:nvPr/>
        </p:nvSpPr>
        <p:spPr bwMode="auto">
          <a:xfrm>
            <a:off x="1492250" y="-1365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defRPr>
            </a:lvl9pPr>
          </a:lstStyle>
          <a:p>
            <a:pPr eaLnBrk="1" hangingPunct="1">
              <a:spcBef>
                <a:spcPct val="0"/>
              </a:spcBef>
              <a:buFontTx/>
              <a:buNone/>
            </a:pPr>
            <a:endParaRPr lang="pt-BR" altLang="pt-BR" sz="1800">
              <a:solidFill>
                <a:srgbClr val="000000"/>
              </a:solidFill>
            </a:endParaRPr>
          </a:p>
        </p:txBody>
      </p:sp>
      <p:sp>
        <p:nvSpPr>
          <p:cNvPr id="9" name="CaixaDeTexto 8"/>
          <p:cNvSpPr txBox="1"/>
          <p:nvPr/>
        </p:nvSpPr>
        <p:spPr>
          <a:xfrm>
            <a:off x="2099556" y="410350"/>
            <a:ext cx="7992888" cy="461665"/>
          </a:xfrm>
          <a:prstGeom prst="rect">
            <a:avLst/>
          </a:prstGeom>
          <a:noFill/>
        </p:spPr>
        <p:txBody>
          <a:bodyPr wrap="square" rtlCol="0">
            <a:spAutoFit/>
          </a:body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LOGÍSTICA EMPRESARIAL</a:t>
            </a:r>
          </a:p>
        </p:txBody>
      </p:sp>
      <p:sp>
        <p:nvSpPr>
          <p:cNvPr id="3" name="Retângulo 2"/>
          <p:cNvSpPr/>
          <p:nvPr/>
        </p:nvSpPr>
        <p:spPr>
          <a:xfrm>
            <a:off x="493486" y="2650110"/>
            <a:ext cx="11088914" cy="923330"/>
          </a:xfrm>
          <a:prstGeom prst="rect">
            <a:avLst/>
          </a:prstGeom>
          <a:solidFill>
            <a:schemeClr val="bg1"/>
          </a:solidFill>
        </p:spPr>
        <p:txBody>
          <a:bodyPr wrap="square">
            <a:spAutoFit/>
          </a:bodyPr>
          <a:lstStyle/>
          <a:p>
            <a:pPr marL="457200" indent="-457200" algn="just">
              <a:buFont typeface="Wingdings" panose="05000000000000000000" pitchFamily="2" charset="2"/>
              <a:buChar char="ü"/>
              <a:defRPr/>
            </a:pPr>
            <a:r>
              <a:rPr lang="pt-BR" b="1" dirty="0">
                <a:solidFill>
                  <a:schemeClr val="accent6"/>
                </a:solidFill>
                <a:latin typeface="Lucida Sans Unicode" panose="020B0602030504020204" pitchFamily="34" charset="0"/>
                <a:cs typeface="Lucida Sans Unicode" panose="020B0602030504020204" pitchFamily="34" charset="0"/>
              </a:rPr>
              <a:t>Armazenagem:</a:t>
            </a:r>
            <a:endParaRPr lang="pt-BR" dirty="0">
              <a:solidFill>
                <a:schemeClr val="accent6"/>
              </a:solidFill>
              <a:latin typeface="Lucida Sans Unicode" panose="020B0602030504020204" pitchFamily="34" charset="0"/>
              <a:cs typeface="Lucida Sans Unicode" panose="020B0602030504020204" pitchFamily="34" charset="0"/>
            </a:endParaRPr>
          </a:p>
          <a:p>
            <a:pPr algn="just">
              <a:defRPr/>
            </a:pPr>
            <a:r>
              <a:rPr lang="pt-BR" dirty="0">
                <a:solidFill>
                  <a:schemeClr val="accent6"/>
                </a:solidFill>
                <a:latin typeface="Lucida Sans Unicode" panose="020B0602030504020204" pitchFamily="34" charset="0"/>
                <a:cs typeface="Lucida Sans Unicode" panose="020B0602030504020204" pitchFamily="34" charset="0"/>
              </a:rPr>
              <a:t>É atividade que cuida da administração do espaço necessário para acomodar o estoque. Está relacionado a otimização do espaço tridimensional bem como sua localização e arranjo físico. </a:t>
            </a:r>
          </a:p>
        </p:txBody>
      </p:sp>
      <p:sp>
        <p:nvSpPr>
          <p:cNvPr id="12" name="Retângulo 11"/>
          <p:cNvSpPr/>
          <p:nvPr/>
        </p:nvSpPr>
        <p:spPr>
          <a:xfrm>
            <a:off x="493486" y="3788044"/>
            <a:ext cx="11088914" cy="923330"/>
          </a:xfrm>
          <a:prstGeom prst="rect">
            <a:avLst/>
          </a:prstGeom>
          <a:solidFill>
            <a:schemeClr val="bg1"/>
          </a:solidFill>
        </p:spPr>
        <p:txBody>
          <a:bodyPr wrap="square">
            <a:spAutoFit/>
          </a:bodyPr>
          <a:lstStyle/>
          <a:p>
            <a:pPr marL="457200" indent="-457200" algn="just">
              <a:buFont typeface="Wingdings" panose="05000000000000000000" pitchFamily="2" charset="2"/>
              <a:buChar char="ü"/>
              <a:defRPr/>
            </a:pPr>
            <a:r>
              <a:rPr lang="pt-BR" b="1" dirty="0">
                <a:solidFill>
                  <a:schemeClr val="accent6"/>
                </a:solidFill>
                <a:latin typeface="Lucida Sans Unicode" panose="020B0602030504020204" pitchFamily="34" charset="0"/>
                <a:cs typeface="Lucida Sans Unicode" panose="020B0602030504020204" pitchFamily="34" charset="0"/>
              </a:rPr>
              <a:t>Manuseio de materiais:</a:t>
            </a:r>
            <a:endParaRPr lang="pt-BR" dirty="0">
              <a:solidFill>
                <a:schemeClr val="accent6"/>
              </a:solidFill>
              <a:latin typeface="Lucida Sans Unicode" panose="020B0602030504020204" pitchFamily="34" charset="0"/>
              <a:cs typeface="Lucida Sans Unicode" panose="020B0602030504020204" pitchFamily="34" charset="0"/>
            </a:endParaRPr>
          </a:p>
          <a:p>
            <a:pPr algn="just">
              <a:defRPr/>
            </a:pPr>
            <a:r>
              <a:rPr lang="pt-BR" dirty="0">
                <a:solidFill>
                  <a:schemeClr val="accent6"/>
                </a:solidFill>
                <a:latin typeface="Lucida Sans Unicode" panose="020B0602030504020204" pitchFamily="34" charset="0"/>
                <a:cs typeface="Lucida Sans Unicode" panose="020B0602030504020204" pitchFamily="34" charset="0"/>
              </a:rPr>
              <a:t>Pode ser descrito como a movimentação de produtos na área de armazenagem. O seu processo contempla desde o recebimento de produtos sua movimentação e expedição.</a:t>
            </a:r>
          </a:p>
        </p:txBody>
      </p:sp>
      <p:sp>
        <p:nvSpPr>
          <p:cNvPr id="4" name="Retângulo 3"/>
          <p:cNvSpPr/>
          <p:nvPr/>
        </p:nvSpPr>
        <p:spPr>
          <a:xfrm>
            <a:off x="493486" y="4925978"/>
            <a:ext cx="11088914" cy="923330"/>
          </a:xfrm>
          <a:prstGeom prst="rect">
            <a:avLst/>
          </a:prstGeom>
          <a:solidFill>
            <a:schemeClr val="bg1"/>
          </a:solidFill>
        </p:spPr>
        <p:txBody>
          <a:bodyPr wrap="square">
            <a:spAutoFit/>
          </a:bodyPr>
          <a:lstStyle/>
          <a:p>
            <a:pPr marL="457200" indent="-457200" algn="just">
              <a:buFont typeface="Wingdings" panose="05000000000000000000" pitchFamily="2" charset="2"/>
              <a:buChar char="ü"/>
              <a:defRPr/>
            </a:pPr>
            <a:r>
              <a:rPr lang="pt-BR" b="1" dirty="0">
                <a:solidFill>
                  <a:schemeClr val="accent6"/>
                </a:solidFill>
                <a:latin typeface="Lucida Sans Unicode" panose="020B0602030504020204" pitchFamily="34" charset="0"/>
                <a:cs typeface="Lucida Sans Unicode" panose="020B0602030504020204" pitchFamily="34" charset="0"/>
              </a:rPr>
              <a:t>Embalagem de proteção:</a:t>
            </a:r>
            <a:endParaRPr lang="pt-BR" dirty="0">
              <a:solidFill>
                <a:schemeClr val="accent6"/>
              </a:solidFill>
              <a:latin typeface="Lucida Sans Unicode" panose="020B0602030504020204" pitchFamily="34" charset="0"/>
              <a:cs typeface="Lucida Sans Unicode" panose="020B0602030504020204" pitchFamily="34" charset="0"/>
            </a:endParaRPr>
          </a:p>
          <a:p>
            <a:pPr algn="just">
              <a:defRPr/>
            </a:pPr>
            <a:r>
              <a:rPr lang="pt-BR" dirty="0">
                <a:solidFill>
                  <a:schemeClr val="accent6"/>
                </a:solidFill>
                <a:latin typeface="Lucida Sans Unicode" panose="020B0602030504020204" pitchFamily="34" charset="0"/>
                <a:cs typeface="Lucida Sans Unicode" panose="020B0602030504020204" pitchFamily="34" charset="0"/>
              </a:rPr>
              <a:t>Esta atividade se preocupa com a dimensão adequada das embalagens de forma a movimentar os produtos sem danificá-los e facilitar o manuseio. </a:t>
            </a:r>
          </a:p>
        </p:txBody>
      </p:sp>
    </p:spTree>
    <p:extLst>
      <p:ext uri="{BB962C8B-B14F-4D97-AF65-F5344CB8AC3E}">
        <p14:creationId xmlns:p14="http://schemas.microsoft.com/office/powerpoint/2010/main" val="270931973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1000"/>
                                        <p:tgtEl>
                                          <p:spTgt spid="14"/>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51204">
                                            <p:bg/>
                                          </p:spTgt>
                                        </p:tgtEl>
                                        <p:attrNameLst>
                                          <p:attrName>style.visibility</p:attrName>
                                        </p:attrNameLst>
                                      </p:cBhvr>
                                      <p:to>
                                        <p:strVal val="visible"/>
                                      </p:to>
                                    </p:set>
                                    <p:animEffect transition="in" filter="fade">
                                      <p:cBhvr>
                                        <p:cTn id="19" dur="1000"/>
                                        <p:tgtEl>
                                          <p:spTgt spid="51204">
                                            <p:bg/>
                                          </p:spTgt>
                                        </p:tgtEl>
                                      </p:cBhvr>
                                    </p:animEffect>
                                    <p:anim calcmode="lin" valueType="num">
                                      <p:cBhvr>
                                        <p:cTn id="20" dur="1000" fill="hold"/>
                                        <p:tgtEl>
                                          <p:spTgt spid="51204">
                                            <p:bg/>
                                          </p:spTgt>
                                        </p:tgtEl>
                                        <p:attrNameLst>
                                          <p:attrName>ppt_x</p:attrName>
                                        </p:attrNameLst>
                                      </p:cBhvr>
                                      <p:tavLst>
                                        <p:tav tm="0">
                                          <p:val>
                                            <p:strVal val="#ppt_x"/>
                                          </p:val>
                                        </p:tav>
                                        <p:tav tm="100000">
                                          <p:val>
                                            <p:strVal val="#ppt_x"/>
                                          </p:val>
                                        </p:tav>
                                      </p:tavLst>
                                    </p:anim>
                                    <p:anim calcmode="lin" valueType="num">
                                      <p:cBhvr>
                                        <p:cTn id="21" dur="1000" fill="hold"/>
                                        <p:tgtEl>
                                          <p:spTgt spid="51204">
                                            <p:bg/>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51204">
                                            <p:txEl>
                                              <p:pRg st="0" end="0"/>
                                            </p:txEl>
                                          </p:spTgt>
                                        </p:tgtEl>
                                        <p:attrNameLst>
                                          <p:attrName>style.visibility</p:attrName>
                                        </p:attrNameLst>
                                      </p:cBhvr>
                                      <p:to>
                                        <p:strVal val="visible"/>
                                      </p:to>
                                    </p:set>
                                    <p:animEffect transition="in" filter="fade">
                                      <p:cBhvr>
                                        <p:cTn id="24" dur="1000"/>
                                        <p:tgtEl>
                                          <p:spTgt spid="51204">
                                            <p:txEl>
                                              <p:pRg st="0" end="0"/>
                                            </p:txEl>
                                          </p:spTgt>
                                        </p:tgtEl>
                                      </p:cBhvr>
                                    </p:animEffect>
                                    <p:anim calcmode="lin" valueType="num">
                                      <p:cBhvr>
                                        <p:cTn id="25" dur="1000" fill="hold"/>
                                        <p:tgtEl>
                                          <p:spTgt spid="51204">
                                            <p:txEl>
                                              <p:pRg st="0" end="0"/>
                                            </p:txEl>
                                          </p:spTgt>
                                        </p:tgtEl>
                                        <p:attrNameLst>
                                          <p:attrName>ppt_x</p:attrName>
                                        </p:attrNameLst>
                                      </p:cBhvr>
                                      <p:tavLst>
                                        <p:tav tm="0">
                                          <p:val>
                                            <p:strVal val="#ppt_x"/>
                                          </p:val>
                                        </p:tav>
                                        <p:tav tm="100000">
                                          <p:val>
                                            <p:strVal val="#ppt_x"/>
                                          </p:val>
                                        </p:tav>
                                      </p:tavLst>
                                    </p:anim>
                                    <p:anim calcmode="lin" valueType="num">
                                      <p:cBhvr>
                                        <p:cTn id="26" dur="1000" fill="hold"/>
                                        <p:tgtEl>
                                          <p:spTgt spid="5120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
                                        </p:tgtEl>
                                        <p:attrNameLst>
                                          <p:attrName>style.visibility</p:attrName>
                                        </p:attrNameLst>
                                      </p:cBhvr>
                                      <p:to>
                                        <p:strVal val="visible"/>
                                      </p:to>
                                    </p:set>
                                    <p:anim calcmode="lin" valueType="num">
                                      <p:cBhvr additive="base">
                                        <p:cTn id="31" dur="500" fill="hold"/>
                                        <p:tgtEl>
                                          <p:spTgt spid="3"/>
                                        </p:tgtEl>
                                        <p:attrNameLst>
                                          <p:attrName>ppt_x</p:attrName>
                                        </p:attrNameLst>
                                      </p:cBhvr>
                                      <p:tavLst>
                                        <p:tav tm="0">
                                          <p:val>
                                            <p:strVal val="0-#ppt_w/2"/>
                                          </p:val>
                                        </p:tav>
                                        <p:tav tm="100000">
                                          <p:val>
                                            <p:strVal val="#ppt_x"/>
                                          </p:val>
                                        </p:tav>
                                      </p:tavLst>
                                    </p:anim>
                                    <p:anim calcmode="lin" valueType="num">
                                      <p:cBhvr additive="base">
                                        <p:cTn id="32"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additive="base">
                                        <p:cTn id="37" dur="500" fill="hold"/>
                                        <p:tgtEl>
                                          <p:spTgt spid="12"/>
                                        </p:tgtEl>
                                        <p:attrNameLst>
                                          <p:attrName>ppt_x</p:attrName>
                                        </p:attrNameLst>
                                      </p:cBhvr>
                                      <p:tavLst>
                                        <p:tav tm="0">
                                          <p:val>
                                            <p:strVal val="1+#ppt_w/2"/>
                                          </p:val>
                                        </p:tav>
                                        <p:tav tm="100000">
                                          <p:val>
                                            <p:strVal val="#ppt_x"/>
                                          </p:val>
                                        </p:tav>
                                      </p:tavLst>
                                    </p:anim>
                                    <p:anim calcmode="lin" valueType="num">
                                      <p:cBhvr additive="base">
                                        <p:cTn id="38"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4"/>
                                        </p:tgtEl>
                                        <p:attrNameLst>
                                          <p:attrName>style.visibility</p:attrName>
                                        </p:attrNameLst>
                                      </p:cBhvr>
                                      <p:to>
                                        <p:strVal val="visible"/>
                                      </p:to>
                                    </p:set>
                                    <p:anim calcmode="lin" valueType="num">
                                      <p:cBhvr additive="base">
                                        <p:cTn id="43" dur="500" fill="hold"/>
                                        <p:tgtEl>
                                          <p:spTgt spid="4"/>
                                        </p:tgtEl>
                                        <p:attrNameLst>
                                          <p:attrName>ppt_x</p:attrName>
                                        </p:attrNameLst>
                                      </p:cBhvr>
                                      <p:tavLst>
                                        <p:tav tm="0">
                                          <p:val>
                                            <p:strVal val="0-#ppt_w/2"/>
                                          </p:val>
                                        </p:tav>
                                        <p:tav tm="100000">
                                          <p:val>
                                            <p:strVal val="#ppt_x"/>
                                          </p:val>
                                        </p:tav>
                                      </p:tavLst>
                                    </p:anim>
                                    <p:anim calcmode="lin" valueType="num">
                                      <p:cBhvr additive="base">
                                        <p:cTn id="44"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4" grpId="0" uiExpand="1" build="p" animBg="1"/>
      <p:bldP spid="8" grpId="0"/>
      <p:bldP spid="3" grpId="0" animBg="1"/>
      <p:bldP spid="12" grpId="0" animBg="1"/>
      <p:bldP spid="4" grpId="0" animBg="1"/>
    </p:bld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aixaDeTexto 8"/>
          <p:cNvSpPr txBox="1"/>
          <p:nvPr/>
        </p:nvSpPr>
        <p:spPr>
          <a:xfrm>
            <a:off x="2099556" y="410350"/>
            <a:ext cx="7992888" cy="461665"/>
          </a:xfrm>
          <a:prstGeom prst="rect">
            <a:avLst/>
          </a:prstGeom>
          <a:noFill/>
        </p:spPr>
        <p:txBody>
          <a:bodyPr wrap="square" rtlCol="0">
            <a:spAutoFit/>
          </a:body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LOGÍSTICA EMPRESARIAL</a:t>
            </a:r>
          </a:p>
        </p:txBody>
      </p:sp>
      <p:sp>
        <p:nvSpPr>
          <p:cNvPr id="5" name="Retângulo 4"/>
          <p:cNvSpPr/>
          <p:nvPr/>
        </p:nvSpPr>
        <p:spPr>
          <a:xfrm>
            <a:off x="1008743" y="2141754"/>
            <a:ext cx="10174514" cy="3693319"/>
          </a:xfrm>
          <a:prstGeom prst="rect">
            <a:avLst/>
          </a:prstGeom>
        </p:spPr>
        <p:txBody>
          <a:bodyPr wrap="square">
            <a:spAutoFit/>
          </a:bodyPr>
          <a:lstStyle/>
          <a:p>
            <a:pPr marL="457200" indent="-457200" algn="just">
              <a:buFont typeface="Wingdings" panose="05000000000000000000" pitchFamily="2" charset="2"/>
              <a:buChar char="§"/>
              <a:defRPr/>
            </a:pPr>
            <a:r>
              <a:rPr lang="pt-BR" b="1" dirty="0">
                <a:solidFill>
                  <a:schemeClr val="accent6"/>
                </a:solidFill>
                <a:latin typeface="Lucida Sans Unicode" panose="020B0602030504020204" pitchFamily="34" charset="0"/>
                <a:cs typeface="Lucida Sans Unicode" panose="020B0602030504020204" pitchFamily="34" charset="0"/>
              </a:rPr>
              <a:t>LOGÍSTICA INTERNA</a:t>
            </a:r>
            <a:r>
              <a:rPr lang="pt-BR" dirty="0">
                <a:solidFill>
                  <a:schemeClr val="accent6"/>
                </a:solidFill>
                <a:latin typeface="Lucida Sans Unicode" panose="020B0602030504020204" pitchFamily="34" charset="0"/>
                <a:cs typeface="Lucida Sans Unicode" panose="020B0602030504020204" pitchFamily="34" charset="0"/>
              </a:rPr>
              <a:t>: fluxo de materiais (antiga administração de materiais);</a:t>
            </a:r>
          </a:p>
          <a:p>
            <a:pPr algn="just">
              <a:defRPr/>
            </a:pPr>
            <a:endParaRPr lang="pt-BR" dirty="0">
              <a:solidFill>
                <a:schemeClr val="accent6"/>
              </a:solidFill>
              <a:latin typeface="Lucida Sans Unicode" panose="020B0602030504020204" pitchFamily="34" charset="0"/>
              <a:cs typeface="Lucida Sans Unicode" panose="020B0602030504020204" pitchFamily="34" charset="0"/>
            </a:endParaRPr>
          </a:p>
          <a:p>
            <a:pPr marL="457200" indent="-457200" algn="just">
              <a:buFont typeface="Wingdings" panose="05000000000000000000" pitchFamily="2" charset="2"/>
              <a:buChar char="§"/>
              <a:defRPr/>
            </a:pPr>
            <a:r>
              <a:rPr lang="pt-BR" b="1" dirty="0">
                <a:solidFill>
                  <a:schemeClr val="accent6"/>
                </a:solidFill>
                <a:latin typeface="Lucida Sans Unicode" panose="020B0602030504020204" pitchFamily="34" charset="0"/>
                <a:cs typeface="Lucida Sans Unicode" panose="020B0602030504020204" pitchFamily="34" charset="0"/>
              </a:rPr>
              <a:t>LOGÍSTICA CORPORATIVA/EMPRESARIAL: </a:t>
            </a:r>
            <a:r>
              <a:rPr lang="pt-BR" dirty="0">
                <a:solidFill>
                  <a:schemeClr val="accent6"/>
                </a:solidFill>
                <a:latin typeface="Lucida Sans Unicode" panose="020B0602030504020204" pitchFamily="34" charset="0"/>
                <a:cs typeface="Lucida Sans Unicode" panose="020B0602030504020204" pitchFamily="34" charset="0"/>
              </a:rPr>
              <a:t>cuida do fluxo de materiais e informações entre os setores funcionais da empresa e suas unidades;</a:t>
            </a:r>
          </a:p>
          <a:p>
            <a:pPr algn="just">
              <a:defRPr/>
            </a:pPr>
            <a:endParaRPr lang="pt-BR" dirty="0">
              <a:solidFill>
                <a:schemeClr val="accent6"/>
              </a:solidFill>
              <a:latin typeface="Lucida Sans Unicode" panose="020B0602030504020204" pitchFamily="34" charset="0"/>
              <a:cs typeface="Lucida Sans Unicode" panose="020B0602030504020204" pitchFamily="34" charset="0"/>
            </a:endParaRPr>
          </a:p>
          <a:p>
            <a:pPr marL="457200" indent="-457200" algn="just">
              <a:buFont typeface="Wingdings" panose="05000000000000000000" pitchFamily="2" charset="2"/>
              <a:buChar char="§"/>
              <a:defRPr/>
            </a:pPr>
            <a:r>
              <a:rPr lang="pt-BR" b="1" dirty="0">
                <a:solidFill>
                  <a:schemeClr val="accent6"/>
                </a:solidFill>
                <a:latin typeface="Lucida Sans Unicode" panose="020B0602030504020204" pitchFamily="34" charset="0"/>
                <a:cs typeface="Lucida Sans Unicode" panose="020B0602030504020204" pitchFamily="34" charset="0"/>
              </a:rPr>
              <a:t>LOGÍSTICA DA CADEIA DE SUPRIMENTOS</a:t>
            </a:r>
            <a:r>
              <a:rPr lang="pt-BR" dirty="0">
                <a:solidFill>
                  <a:schemeClr val="accent6"/>
                </a:solidFill>
                <a:latin typeface="Lucida Sans Unicode" panose="020B0602030504020204" pitchFamily="34" charset="0"/>
                <a:cs typeface="Lucida Sans Unicode" panose="020B0602030504020204" pitchFamily="34" charset="0"/>
              </a:rPr>
              <a:t>: é o fluxo de materiais e informações entre o consumidor e o fornecedor original;</a:t>
            </a:r>
          </a:p>
          <a:p>
            <a:pPr algn="just">
              <a:defRPr/>
            </a:pPr>
            <a:endParaRPr lang="pt-BR" dirty="0">
              <a:solidFill>
                <a:schemeClr val="accent6"/>
              </a:solidFill>
              <a:latin typeface="Lucida Sans Unicode" panose="020B0602030504020204" pitchFamily="34" charset="0"/>
              <a:cs typeface="Lucida Sans Unicode" panose="020B0602030504020204" pitchFamily="34" charset="0"/>
            </a:endParaRPr>
          </a:p>
          <a:p>
            <a:pPr marL="457200" indent="-457200" algn="just">
              <a:buFont typeface="Wingdings" panose="05000000000000000000" pitchFamily="2" charset="2"/>
              <a:buChar char="§"/>
              <a:defRPr/>
            </a:pPr>
            <a:r>
              <a:rPr lang="pt-BR" b="1" dirty="0">
                <a:solidFill>
                  <a:schemeClr val="accent6"/>
                </a:solidFill>
                <a:latin typeface="Lucida Sans Unicode" panose="020B0602030504020204" pitchFamily="34" charset="0"/>
                <a:cs typeface="Lucida Sans Unicode" panose="020B0602030504020204" pitchFamily="34" charset="0"/>
              </a:rPr>
              <a:t>LOGÍSTICA GLOBAL: </a:t>
            </a:r>
            <a:r>
              <a:rPr lang="pt-BR" dirty="0">
                <a:solidFill>
                  <a:schemeClr val="accent6"/>
                </a:solidFill>
                <a:latin typeface="Lucida Sans Unicode" panose="020B0602030504020204" pitchFamily="34" charset="0"/>
                <a:cs typeface="Lucida Sans Unicode" panose="020B0602030504020204" pitchFamily="34" charset="0"/>
              </a:rPr>
              <a:t>é o fluxo de materiais e informações entre consumidores e fornecedores globais;</a:t>
            </a:r>
          </a:p>
          <a:p>
            <a:pPr algn="just">
              <a:defRPr/>
            </a:pPr>
            <a:endParaRPr lang="pt-BR" dirty="0">
              <a:solidFill>
                <a:schemeClr val="accent6"/>
              </a:solidFill>
              <a:latin typeface="Lucida Sans Unicode" panose="020B0602030504020204" pitchFamily="34" charset="0"/>
              <a:cs typeface="Lucida Sans Unicode" panose="020B0602030504020204" pitchFamily="34" charset="0"/>
            </a:endParaRPr>
          </a:p>
          <a:p>
            <a:pPr marL="457200" indent="-457200" algn="just">
              <a:buFont typeface="Wingdings" panose="05000000000000000000" pitchFamily="2" charset="2"/>
              <a:buChar char="§"/>
              <a:defRPr/>
            </a:pPr>
            <a:r>
              <a:rPr lang="pt-BR" b="1" dirty="0">
                <a:solidFill>
                  <a:schemeClr val="accent6"/>
                </a:solidFill>
                <a:latin typeface="Lucida Sans Unicode" panose="020B0602030504020204" pitchFamily="34" charset="0"/>
                <a:cs typeface="Lucida Sans Unicode" panose="020B0602030504020204" pitchFamily="34" charset="0"/>
              </a:rPr>
              <a:t>LOGÍSTICA REVERSA: </a:t>
            </a:r>
            <a:r>
              <a:rPr lang="pt-BR" dirty="0">
                <a:solidFill>
                  <a:schemeClr val="accent6"/>
                </a:solidFill>
                <a:latin typeface="Lucida Sans Unicode" panose="020B0602030504020204" pitchFamily="34" charset="0"/>
                <a:cs typeface="Lucida Sans Unicode" panose="020B0602030504020204" pitchFamily="34" charset="0"/>
              </a:rPr>
              <a:t>é o fluxo de materiais e informações do consumidor  para o ponto de origem ou descarte.</a:t>
            </a:r>
          </a:p>
        </p:txBody>
      </p:sp>
      <p:sp>
        <p:nvSpPr>
          <p:cNvPr id="13" name="Text Box 7"/>
          <p:cNvSpPr txBox="1">
            <a:spLocks noChangeArrowheads="1"/>
          </p:cNvSpPr>
          <p:nvPr/>
        </p:nvSpPr>
        <p:spPr bwMode="auto">
          <a:xfrm>
            <a:off x="4107315" y="1130523"/>
            <a:ext cx="397737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defRPr>
            </a:lvl9pPr>
          </a:lstStyle>
          <a:p>
            <a:pPr algn="ctr">
              <a:spcBef>
                <a:spcPct val="0"/>
              </a:spcBef>
              <a:buFontTx/>
              <a:buNone/>
            </a:pPr>
            <a:r>
              <a:rPr lang="pt-BR" altLang="pt-BR" sz="2000" b="1" dirty="0">
                <a:solidFill>
                  <a:schemeClr val="accent6"/>
                </a:solidFill>
                <a:latin typeface="Lucida Sans Unicode" panose="020B0602030504020204" pitchFamily="34" charset="0"/>
                <a:cs typeface="Lucida Sans Unicode" panose="020B0602030504020204" pitchFamily="34" charset="0"/>
              </a:rPr>
              <a:t>OS CONTEXTOS DA LOGÍSTICA</a:t>
            </a:r>
          </a:p>
        </p:txBody>
      </p:sp>
    </p:spTree>
    <p:extLst>
      <p:ext uri="{BB962C8B-B14F-4D97-AF65-F5344CB8AC3E}">
        <p14:creationId xmlns:p14="http://schemas.microsoft.com/office/powerpoint/2010/main" val="2198273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xEl>
                                              <p:pRg st="0" end="0"/>
                                            </p:txEl>
                                          </p:spTgt>
                                        </p:tgtEl>
                                        <p:attrNameLst>
                                          <p:attrName>style.visibility</p:attrName>
                                        </p:attrNameLst>
                                      </p:cBhvr>
                                      <p:to>
                                        <p:strVal val="visible"/>
                                      </p:to>
                                    </p:set>
                                    <p:animEffect transition="in" filter="fade">
                                      <p:cBhvr>
                                        <p:cTn id="14" dur="1000"/>
                                        <p:tgtEl>
                                          <p:spTgt spid="5">
                                            <p:txEl>
                                              <p:pRg st="0" end="0"/>
                                            </p:txEl>
                                          </p:spTgt>
                                        </p:tgtEl>
                                      </p:cBhvr>
                                    </p:animEffect>
                                    <p:anim calcmode="lin" valueType="num">
                                      <p:cBhvr>
                                        <p:cTn id="15"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animEffect transition="in" filter="fade">
                                      <p:cBhvr>
                                        <p:cTn id="21" dur="1000"/>
                                        <p:tgtEl>
                                          <p:spTgt spid="5">
                                            <p:txEl>
                                              <p:pRg st="2" end="2"/>
                                            </p:txEl>
                                          </p:spTgt>
                                        </p:tgtEl>
                                      </p:cBhvr>
                                    </p:animEffect>
                                    <p:anim calcmode="lin" valueType="num">
                                      <p:cBhvr>
                                        <p:cTn id="22"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
                                            <p:txEl>
                                              <p:pRg st="4" end="4"/>
                                            </p:txEl>
                                          </p:spTgt>
                                        </p:tgtEl>
                                        <p:attrNameLst>
                                          <p:attrName>style.visibility</p:attrName>
                                        </p:attrNameLst>
                                      </p:cBhvr>
                                      <p:to>
                                        <p:strVal val="visible"/>
                                      </p:to>
                                    </p:set>
                                    <p:animEffect transition="in" filter="fade">
                                      <p:cBhvr>
                                        <p:cTn id="28" dur="1000"/>
                                        <p:tgtEl>
                                          <p:spTgt spid="5">
                                            <p:txEl>
                                              <p:pRg st="4" end="4"/>
                                            </p:txEl>
                                          </p:spTgt>
                                        </p:tgtEl>
                                      </p:cBhvr>
                                    </p:animEffect>
                                    <p:anim calcmode="lin" valueType="num">
                                      <p:cBhvr>
                                        <p:cTn id="29"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5">
                                            <p:txEl>
                                              <p:pRg st="6" end="6"/>
                                            </p:txEl>
                                          </p:spTgt>
                                        </p:tgtEl>
                                        <p:attrNameLst>
                                          <p:attrName>style.visibility</p:attrName>
                                        </p:attrNameLst>
                                      </p:cBhvr>
                                      <p:to>
                                        <p:strVal val="visible"/>
                                      </p:to>
                                    </p:set>
                                    <p:animEffect transition="in" filter="fade">
                                      <p:cBhvr>
                                        <p:cTn id="35" dur="1000"/>
                                        <p:tgtEl>
                                          <p:spTgt spid="5">
                                            <p:txEl>
                                              <p:pRg st="6" end="6"/>
                                            </p:txEl>
                                          </p:spTgt>
                                        </p:tgtEl>
                                      </p:cBhvr>
                                    </p:animEffect>
                                    <p:anim calcmode="lin" valueType="num">
                                      <p:cBhvr>
                                        <p:cTn id="36"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37" dur="10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5">
                                            <p:txEl>
                                              <p:pRg st="8" end="8"/>
                                            </p:txEl>
                                          </p:spTgt>
                                        </p:tgtEl>
                                        <p:attrNameLst>
                                          <p:attrName>style.visibility</p:attrName>
                                        </p:attrNameLst>
                                      </p:cBhvr>
                                      <p:to>
                                        <p:strVal val="visible"/>
                                      </p:to>
                                    </p:set>
                                    <p:animEffect transition="in" filter="fade">
                                      <p:cBhvr>
                                        <p:cTn id="42" dur="1000"/>
                                        <p:tgtEl>
                                          <p:spTgt spid="5">
                                            <p:txEl>
                                              <p:pRg st="8" end="8"/>
                                            </p:txEl>
                                          </p:spTgt>
                                        </p:tgtEl>
                                      </p:cBhvr>
                                    </p:animEffect>
                                    <p:anim calcmode="lin" valueType="num">
                                      <p:cBhvr>
                                        <p:cTn id="43" dur="1000" fill="hold"/>
                                        <p:tgtEl>
                                          <p:spTgt spid="5">
                                            <p:txEl>
                                              <p:pRg st="8" end="8"/>
                                            </p:txEl>
                                          </p:spTgt>
                                        </p:tgtEl>
                                        <p:attrNameLst>
                                          <p:attrName>ppt_x</p:attrName>
                                        </p:attrNameLst>
                                      </p:cBhvr>
                                      <p:tavLst>
                                        <p:tav tm="0">
                                          <p:val>
                                            <p:strVal val="#ppt_x"/>
                                          </p:val>
                                        </p:tav>
                                        <p:tav tm="100000">
                                          <p:val>
                                            <p:strVal val="#ppt_x"/>
                                          </p:val>
                                        </p:tav>
                                      </p:tavLst>
                                    </p:anim>
                                    <p:anim calcmode="lin" valueType="num">
                                      <p:cBhvr>
                                        <p:cTn id="44" dur="1000" fill="hold"/>
                                        <p:tgtEl>
                                          <p:spTgt spid="5">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13" grpId="0"/>
    </p:bld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8370" name="TextBox 9"/>
          <p:cNvSpPr txBox="1">
            <a:spLocks noChangeArrowheads="1"/>
          </p:cNvSpPr>
          <p:nvPr/>
        </p:nvSpPr>
        <p:spPr bwMode="auto">
          <a:xfrm>
            <a:off x="2445544" y="1324611"/>
            <a:ext cx="7300912" cy="427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defRPr>
            </a:lvl9pPr>
          </a:lstStyle>
          <a:p>
            <a:pPr algn="ctr" eaLnBrk="1" hangingPunct="1">
              <a:lnSpc>
                <a:spcPct val="85000"/>
              </a:lnSpc>
              <a:spcBef>
                <a:spcPct val="0"/>
              </a:spcBef>
              <a:buFontTx/>
              <a:buNone/>
            </a:pPr>
            <a:r>
              <a:rPr lang="pt-BR" altLang="pt-BR" sz="2000" b="1" dirty="0">
                <a:solidFill>
                  <a:schemeClr val="accent6"/>
                </a:solidFill>
                <a:latin typeface="Lucida Sans Unicode" panose="020B0602030504020204" pitchFamily="34" charset="0"/>
                <a:cs typeface="Lucida Sans Unicode" panose="020B0602030504020204" pitchFamily="34" charset="0"/>
              </a:rPr>
              <a:t>O PAPEL DA LOGÍSTICA</a:t>
            </a:r>
          </a:p>
        </p:txBody>
      </p:sp>
      <p:sp>
        <p:nvSpPr>
          <p:cNvPr id="9" name="Retângulo 8"/>
          <p:cNvSpPr/>
          <p:nvPr/>
        </p:nvSpPr>
        <p:spPr>
          <a:xfrm>
            <a:off x="2225040" y="2205196"/>
            <a:ext cx="8717280" cy="3939128"/>
          </a:xfrm>
          <a:prstGeom prst="rect">
            <a:avLst/>
          </a:prstGeom>
          <a:noFill/>
          <a:ln>
            <a:noFill/>
          </a:ln>
        </p:spPr>
        <p:style>
          <a:lnRef idx="2">
            <a:schemeClr val="dk1"/>
          </a:lnRef>
          <a:fillRef idx="1">
            <a:schemeClr val="lt1"/>
          </a:fillRef>
          <a:effectRef idx="0">
            <a:schemeClr val="dk1"/>
          </a:effectRef>
          <a:fontRef idx="minor">
            <a:schemeClr val="dk1"/>
          </a:fontRef>
        </p:style>
        <p:txBody>
          <a:bodyPr anchor="ctr"/>
          <a:lstStyle/>
          <a:p>
            <a:pPr marL="457200" indent="-457200" algn="just">
              <a:lnSpc>
                <a:spcPct val="150000"/>
              </a:lnSpc>
              <a:buFont typeface="Courier New" panose="02070309020205020404" pitchFamily="49" charset="0"/>
              <a:buChar char="o"/>
              <a:defRPr/>
            </a:pPr>
            <a:r>
              <a:rPr lang="pt-BR" sz="2000" dirty="0">
                <a:solidFill>
                  <a:schemeClr val="accent6"/>
                </a:solidFill>
                <a:latin typeface="Lucida Sans Unicode" panose="020B0602030504020204" pitchFamily="34" charset="0"/>
                <a:cs typeface="Lucida Sans Unicode" panose="020B0602030504020204" pitchFamily="34" charset="0"/>
              </a:rPr>
              <a:t>Adquirir;</a:t>
            </a:r>
          </a:p>
          <a:p>
            <a:pPr marL="457200" indent="-457200" algn="just">
              <a:lnSpc>
                <a:spcPct val="150000"/>
              </a:lnSpc>
              <a:buFont typeface="Courier New" panose="02070309020205020404" pitchFamily="49" charset="0"/>
              <a:buChar char="o"/>
              <a:defRPr/>
            </a:pPr>
            <a:r>
              <a:rPr lang="pt-BR" sz="2000" dirty="0">
                <a:solidFill>
                  <a:schemeClr val="accent6"/>
                </a:solidFill>
                <a:latin typeface="Lucida Sans Unicode" panose="020B0602030504020204" pitchFamily="34" charset="0"/>
                <a:cs typeface="Lucida Sans Unicode" panose="020B0602030504020204" pitchFamily="34" charset="0"/>
              </a:rPr>
              <a:t>Manusear;</a:t>
            </a:r>
          </a:p>
          <a:p>
            <a:pPr marL="457200" indent="-457200" algn="just">
              <a:lnSpc>
                <a:spcPct val="150000"/>
              </a:lnSpc>
              <a:buFont typeface="Courier New" panose="02070309020205020404" pitchFamily="49" charset="0"/>
              <a:buChar char="o"/>
              <a:defRPr/>
            </a:pPr>
            <a:r>
              <a:rPr lang="pt-BR" sz="2000" dirty="0">
                <a:solidFill>
                  <a:schemeClr val="accent6"/>
                </a:solidFill>
                <a:latin typeface="Lucida Sans Unicode" panose="020B0602030504020204" pitchFamily="34" charset="0"/>
                <a:cs typeface="Lucida Sans Unicode" panose="020B0602030504020204" pitchFamily="34" charset="0"/>
              </a:rPr>
              <a:t>Distribuir;</a:t>
            </a:r>
          </a:p>
          <a:p>
            <a:pPr marL="457200" indent="-457200" algn="just">
              <a:lnSpc>
                <a:spcPct val="150000"/>
              </a:lnSpc>
              <a:buFont typeface="Courier New" panose="02070309020205020404" pitchFamily="49" charset="0"/>
              <a:buChar char="o"/>
              <a:defRPr/>
            </a:pPr>
            <a:r>
              <a:rPr lang="pt-BR" sz="2000" dirty="0">
                <a:solidFill>
                  <a:schemeClr val="accent6"/>
                </a:solidFill>
                <a:latin typeface="Lucida Sans Unicode" panose="020B0602030504020204" pitchFamily="34" charset="0"/>
                <a:cs typeface="Lucida Sans Unicode" panose="020B0602030504020204" pitchFamily="34" charset="0"/>
              </a:rPr>
              <a:t>Transportar;</a:t>
            </a:r>
          </a:p>
          <a:p>
            <a:pPr marL="457200" indent="-457200" algn="just">
              <a:lnSpc>
                <a:spcPct val="150000"/>
              </a:lnSpc>
              <a:buFont typeface="Courier New" panose="02070309020205020404" pitchFamily="49" charset="0"/>
              <a:buChar char="o"/>
              <a:defRPr/>
            </a:pPr>
            <a:r>
              <a:rPr lang="pt-BR" sz="2000" dirty="0">
                <a:solidFill>
                  <a:schemeClr val="accent6"/>
                </a:solidFill>
                <a:latin typeface="Lucida Sans Unicode" panose="020B0602030504020204" pitchFamily="34" charset="0"/>
                <a:cs typeface="Lucida Sans Unicode" panose="020B0602030504020204" pitchFamily="34" charset="0"/>
              </a:rPr>
              <a:t>Reduzir custos;</a:t>
            </a:r>
          </a:p>
          <a:p>
            <a:pPr marL="457200" indent="-457200" algn="just">
              <a:lnSpc>
                <a:spcPct val="150000"/>
              </a:lnSpc>
              <a:buFont typeface="Courier New" panose="02070309020205020404" pitchFamily="49" charset="0"/>
              <a:buChar char="o"/>
              <a:defRPr/>
            </a:pPr>
            <a:r>
              <a:rPr lang="pt-BR" sz="2000" dirty="0">
                <a:solidFill>
                  <a:schemeClr val="accent6"/>
                </a:solidFill>
                <a:latin typeface="Lucida Sans Unicode" panose="020B0602030504020204" pitchFamily="34" charset="0"/>
                <a:cs typeface="Lucida Sans Unicode" panose="020B0602030504020204" pitchFamily="34" charset="0"/>
              </a:rPr>
              <a:t>Controlar de forma eficaz os bens disponíveis;</a:t>
            </a:r>
          </a:p>
          <a:p>
            <a:pPr marL="457200" indent="-457200" algn="just">
              <a:lnSpc>
                <a:spcPct val="150000"/>
              </a:lnSpc>
              <a:buFont typeface="Courier New" panose="02070309020205020404" pitchFamily="49" charset="0"/>
              <a:buChar char="o"/>
              <a:defRPr/>
            </a:pPr>
            <a:r>
              <a:rPr lang="pt-BR" sz="2000" dirty="0">
                <a:solidFill>
                  <a:schemeClr val="accent6"/>
                </a:solidFill>
                <a:latin typeface="Lucida Sans Unicode" panose="020B0602030504020204" pitchFamily="34" charset="0"/>
                <a:cs typeface="Lucida Sans Unicode" panose="020B0602030504020204" pitchFamily="34" charset="0"/>
              </a:rPr>
              <a:t>Registrar, controlar e transmitir dados instantâneos e confiáveis. </a:t>
            </a:r>
          </a:p>
        </p:txBody>
      </p:sp>
      <p:sp>
        <p:nvSpPr>
          <p:cNvPr id="5" name="CaixaDeTexto 4"/>
          <p:cNvSpPr txBox="1"/>
          <p:nvPr/>
        </p:nvSpPr>
        <p:spPr>
          <a:xfrm>
            <a:off x="2099556" y="410350"/>
            <a:ext cx="7992888" cy="461665"/>
          </a:xfrm>
          <a:prstGeom prst="rect">
            <a:avLst/>
          </a:prstGeom>
          <a:noFill/>
        </p:spPr>
        <p:txBody>
          <a:bodyPr wrap="square" rtlCol="0">
            <a:spAutoFit/>
          </a:body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LOGÍSTICA EMPRESARIAL</a:t>
            </a:r>
          </a:p>
        </p:txBody>
      </p:sp>
      <p:pic>
        <p:nvPicPr>
          <p:cNvPr id="7" name="Imagem 6"/>
          <p:cNvPicPr>
            <a:picLocks noChangeAspect="1"/>
          </p:cNvPicPr>
          <p:nvPr/>
        </p:nvPicPr>
        <p:blipFill>
          <a:blip r:embed="rId3"/>
          <a:stretch>
            <a:fillRect/>
          </a:stretch>
        </p:blipFill>
        <p:spPr>
          <a:xfrm>
            <a:off x="5521888" y="1822296"/>
            <a:ext cx="5420432" cy="3045594"/>
          </a:xfrm>
          <a:prstGeom prst="rect">
            <a:avLst/>
          </a:prstGeom>
        </p:spPr>
      </p:pic>
    </p:spTree>
    <p:extLst>
      <p:ext uri="{BB962C8B-B14F-4D97-AF65-F5344CB8AC3E}">
        <p14:creationId xmlns:p14="http://schemas.microsoft.com/office/powerpoint/2010/main" val="1916985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8370"/>
                                        </p:tgtEl>
                                        <p:attrNameLst>
                                          <p:attrName>style.visibility</p:attrName>
                                        </p:attrNameLst>
                                      </p:cBhvr>
                                      <p:to>
                                        <p:strVal val="visible"/>
                                      </p:to>
                                    </p:set>
                                    <p:animEffect transition="in" filter="fade">
                                      <p:cBhvr>
                                        <p:cTn id="7" dur="1000"/>
                                        <p:tgtEl>
                                          <p:spTgt spid="58370"/>
                                        </p:tgtEl>
                                      </p:cBhvr>
                                    </p:animEffect>
                                    <p:anim calcmode="lin" valueType="num">
                                      <p:cBhvr>
                                        <p:cTn id="8" dur="1000" fill="hold"/>
                                        <p:tgtEl>
                                          <p:spTgt spid="58370"/>
                                        </p:tgtEl>
                                        <p:attrNameLst>
                                          <p:attrName>ppt_x</p:attrName>
                                        </p:attrNameLst>
                                      </p:cBhvr>
                                      <p:tavLst>
                                        <p:tav tm="0">
                                          <p:val>
                                            <p:strVal val="#ppt_x"/>
                                          </p:val>
                                        </p:tav>
                                        <p:tav tm="100000">
                                          <p:val>
                                            <p:strVal val="#ppt_x"/>
                                          </p:val>
                                        </p:tav>
                                      </p:tavLst>
                                    </p:anim>
                                    <p:anim calcmode="lin" valueType="num">
                                      <p:cBhvr>
                                        <p:cTn id="9" dur="1000" fill="hold"/>
                                        <p:tgtEl>
                                          <p:spTgt spid="5837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1000"/>
                                        <p:tgtEl>
                                          <p:spTgt spid="7"/>
                                        </p:tgtEl>
                                      </p:cBhvr>
                                    </p:animEffect>
                                    <p:anim calcmode="lin" valueType="num">
                                      <p:cBhvr>
                                        <p:cTn id="14" dur="1000" fill="hold"/>
                                        <p:tgtEl>
                                          <p:spTgt spid="7"/>
                                        </p:tgtEl>
                                        <p:attrNameLst>
                                          <p:attrName>ppt_x</p:attrName>
                                        </p:attrNameLst>
                                      </p:cBhvr>
                                      <p:tavLst>
                                        <p:tav tm="0">
                                          <p:val>
                                            <p:strVal val="#ppt_x"/>
                                          </p:val>
                                        </p:tav>
                                        <p:tav tm="100000">
                                          <p:val>
                                            <p:strVal val="#ppt_x"/>
                                          </p:val>
                                        </p:tav>
                                      </p:tavLst>
                                    </p:anim>
                                    <p:anim calcmode="lin" valueType="num">
                                      <p:cBhvr>
                                        <p:cTn id="15"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9">
                                            <p:txEl>
                                              <p:pRg st="0" end="0"/>
                                            </p:txEl>
                                          </p:spTgt>
                                        </p:tgtEl>
                                        <p:attrNameLst>
                                          <p:attrName>style.visibility</p:attrName>
                                        </p:attrNameLst>
                                      </p:cBhvr>
                                      <p:to>
                                        <p:strVal val="visible"/>
                                      </p:to>
                                    </p:set>
                                    <p:animEffect transition="in" filter="fade">
                                      <p:cBhvr>
                                        <p:cTn id="20" dur="1000"/>
                                        <p:tgtEl>
                                          <p:spTgt spid="9">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9">
                                            <p:txEl>
                                              <p:pRg st="1" end="1"/>
                                            </p:txEl>
                                          </p:spTgt>
                                        </p:tgtEl>
                                        <p:attrNameLst>
                                          <p:attrName>style.visibility</p:attrName>
                                        </p:attrNameLst>
                                      </p:cBhvr>
                                      <p:to>
                                        <p:strVal val="visible"/>
                                      </p:to>
                                    </p:set>
                                    <p:animEffect transition="in" filter="fade">
                                      <p:cBhvr>
                                        <p:cTn id="25" dur="1000"/>
                                        <p:tgtEl>
                                          <p:spTgt spid="9">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9">
                                            <p:txEl>
                                              <p:pRg st="2" end="2"/>
                                            </p:txEl>
                                          </p:spTgt>
                                        </p:tgtEl>
                                        <p:attrNameLst>
                                          <p:attrName>style.visibility</p:attrName>
                                        </p:attrNameLst>
                                      </p:cBhvr>
                                      <p:to>
                                        <p:strVal val="visible"/>
                                      </p:to>
                                    </p:set>
                                    <p:animEffect transition="in" filter="fade">
                                      <p:cBhvr>
                                        <p:cTn id="30" dur="1250"/>
                                        <p:tgtEl>
                                          <p:spTgt spid="9">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9">
                                            <p:txEl>
                                              <p:pRg st="3" end="3"/>
                                            </p:txEl>
                                          </p:spTgt>
                                        </p:tgtEl>
                                        <p:attrNameLst>
                                          <p:attrName>style.visibility</p:attrName>
                                        </p:attrNameLst>
                                      </p:cBhvr>
                                      <p:to>
                                        <p:strVal val="visible"/>
                                      </p:to>
                                    </p:set>
                                    <p:animEffect transition="in" filter="fade">
                                      <p:cBhvr>
                                        <p:cTn id="35" dur="1750"/>
                                        <p:tgtEl>
                                          <p:spTgt spid="9">
                                            <p:txEl>
                                              <p:pRg st="3" end="3"/>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9">
                                            <p:txEl>
                                              <p:pRg st="4" end="4"/>
                                            </p:txEl>
                                          </p:spTgt>
                                        </p:tgtEl>
                                        <p:attrNameLst>
                                          <p:attrName>style.visibility</p:attrName>
                                        </p:attrNameLst>
                                      </p:cBhvr>
                                      <p:to>
                                        <p:strVal val="visible"/>
                                      </p:to>
                                    </p:set>
                                    <p:animEffect transition="in" filter="fade">
                                      <p:cBhvr>
                                        <p:cTn id="40" dur="1750"/>
                                        <p:tgtEl>
                                          <p:spTgt spid="9">
                                            <p:txEl>
                                              <p:pRg st="4" end="4"/>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9">
                                            <p:txEl>
                                              <p:pRg st="5" end="5"/>
                                            </p:txEl>
                                          </p:spTgt>
                                        </p:tgtEl>
                                        <p:attrNameLst>
                                          <p:attrName>style.visibility</p:attrName>
                                        </p:attrNameLst>
                                      </p:cBhvr>
                                      <p:to>
                                        <p:strVal val="visible"/>
                                      </p:to>
                                    </p:set>
                                    <p:animEffect transition="in" filter="fade">
                                      <p:cBhvr>
                                        <p:cTn id="45" dur="1250"/>
                                        <p:tgtEl>
                                          <p:spTgt spid="9">
                                            <p:txEl>
                                              <p:pRg st="5" end="5"/>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9">
                                            <p:txEl>
                                              <p:pRg st="6" end="6"/>
                                            </p:txEl>
                                          </p:spTgt>
                                        </p:tgtEl>
                                        <p:attrNameLst>
                                          <p:attrName>style.visibility</p:attrName>
                                        </p:attrNameLst>
                                      </p:cBhvr>
                                      <p:to>
                                        <p:strVal val="visible"/>
                                      </p:to>
                                    </p:set>
                                    <p:animEffect transition="in" filter="fade">
                                      <p:cBhvr>
                                        <p:cTn id="50" dur="1500"/>
                                        <p:tgtEl>
                                          <p:spTgt spid="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0" grpId="0"/>
    </p:bld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Espaço Reservado para Conteúdo 2"/>
          <p:cNvSpPr txBox="1">
            <a:spLocks/>
          </p:cNvSpPr>
          <p:nvPr/>
        </p:nvSpPr>
        <p:spPr>
          <a:xfrm>
            <a:off x="1601055" y="2330202"/>
            <a:ext cx="8989888" cy="322523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Wingdings" panose="05000000000000000000" pitchFamily="2" charset="2"/>
              <a:buChar char="ü"/>
            </a:pPr>
            <a:r>
              <a:rPr lang="pt-BR" sz="2000" dirty="0">
                <a:solidFill>
                  <a:schemeClr val="accent6"/>
                </a:solidFill>
                <a:latin typeface="Lucida Sans Unicode" panose="020B0602030504020204" pitchFamily="34" charset="0"/>
                <a:ea typeface="Tahoma" panose="020B0604030504040204" pitchFamily="34" charset="0"/>
                <a:cs typeface="Lucida Sans Unicode" panose="020B0602030504020204" pitchFamily="34" charset="0"/>
              </a:rPr>
              <a:t> Também pode ser chamada de </a:t>
            </a:r>
            <a:r>
              <a:rPr lang="pt-BR" sz="2000" b="1" i="1" dirty="0" err="1">
                <a:solidFill>
                  <a:schemeClr val="accent6"/>
                </a:solidFill>
                <a:latin typeface="Lucida Sans Unicode" panose="020B0602030504020204" pitchFamily="34" charset="0"/>
                <a:ea typeface="Tahoma" panose="020B0604030504040204" pitchFamily="34" charset="0"/>
                <a:cs typeface="Lucida Sans Unicode" panose="020B0602030504020204" pitchFamily="34" charset="0"/>
              </a:rPr>
              <a:t>Supply</a:t>
            </a:r>
            <a:r>
              <a:rPr lang="pt-BR" sz="2000" b="1" i="1" dirty="0">
                <a:solidFill>
                  <a:schemeClr val="accent6"/>
                </a:solidFill>
                <a:latin typeface="Lucida Sans Unicode" panose="020B0602030504020204" pitchFamily="34" charset="0"/>
                <a:ea typeface="Tahoma" panose="020B0604030504040204" pitchFamily="34" charset="0"/>
                <a:cs typeface="Lucida Sans Unicode" panose="020B0602030504020204" pitchFamily="34" charset="0"/>
              </a:rPr>
              <a:t> Chain</a:t>
            </a:r>
            <a:r>
              <a:rPr lang="pt-BR" sz="2000" dirty="0">
                <a:solidFill>
                  <a:schemeClr val="accent6"/>
                </a:solidFill>
                <a:latin typeface="Lucida Sans Unicode" panose="020B0602030504020204" pitchFamily="34" charset="0"/>
                <a:ea typeface="Tahoma" panose="020B0604030504040204" pitchFamily="34" charset="0"/>
                <a:cs typeface="Lucida Sans Unicode" panose="020B0602030504020204" pitchFamily="34" charset="0"/>
              </a:rPr>
              <a:t>, </a:t>
            </a:r>
            <a:r>
              <a:rPr lang="pt-BR" sz="2000" b="1" dirty="0">
                <a:solidFill>
                  <a:schemeClr val="accent6"/>
                </a:solidFill>
                <a:latin typeface="Lucida Sans Unicode" panose="020B0602030504020204" pitchFamily="34" charset="0"/>
                <a:ea typeface="Tahoma" panose="020B0604030504040204" pitchFamily="34" charset="0"/>
                <a:cs typeface="Lucida Sans Unicode" panose="020B0602030504020204" pitchFamily="34" charset="0"/>
              </a:rPr>
              <a:t>Cadeia de Operações</a:t>
            </a:r>
            <a:r>
              <a:rPr lang="pt-BR" sz="2000" dirty="0">
                <a:solidFill>
                  <a:schemeClr val="accent6"/>
                </a:solidFill>
                <a:latin typeface="Lucida Sans Unicode" panose="020B0602030504020204" pitchFamily="34" charset="0"/>
                <a:ea typeface="Tahoma" panose="020B0604030504040204" pitchFamily="34" charset="0"/>
                <a:cs typeface="Lucida Sans Unicode" panose="020B0602030504020204" pitchFamily="34" charset="0"/>
              </a:rPr>
              <a:t> ou </a:t>
            </a:r>
            <a:r>
              <a:rPr lang="pt-BR" sz="2000" b="1" dirty="0">
                <a:solidFill>
                  <a:schemeClr val="accent6"/>
                </a:solidFill>
                <a:latin typeface="Lucida Sans Unicode" panose="020B0602030504020204" pitchFamily="34" charset="0"/>
                <a:ea typeface="Tahoma" panose="020B0604030504040204" pitchFamily="34" charset="0"/>
                <a:cs typeface="Lucida Sans Unicode" panose="020B0602030504020204" pitchFamily="34" charset="0"/>
              </a:rPr>
              <a:t>Cadeia de Valor</a:t>
            </a:r>
            <a:r>
              <a:rPr lang="pt-BR" sz="2000" dirty="0">
                <a:solidFill>
                  <a:schemeClr val="accent6"/>
                </a:solidFill>
                <a:latin typeface="Lucida Sans Unicode" panose="020B0602030504020204" pitchFamily="34" charset="0"/>
                <a:ea typeface="Tahoma" panose="020B0604030504040204" pitchFamily="34" charset="0"/>
                <a:cs typeface="Lucida Sans Unicode" panose="020B0602030504020204" pitchFamily="34" charset="0"/>
              </a:rPr>
              <a:t>;</a:t>
            </a:r>
          </a:p>
          <a:p>
            <a:pPr algn="just">
              <a:buFont typeface="Wingdings" panose="05000000000000000000" pitchFamily="2" charset="2"/>
              <a:buChar char="ü"/>
            </a:pPr>
            <a:endParaRPr lang="pt-BR" sz="2000" dirty="0">
              <a:solidFill>
                <a:schemeClr val="accent6"/>
              </a:solidFill>
              <a:latin typeface="Lucida Sans Unicode" panose="020B0602030504020204" pitchFamily="34" charset="0"/>
              <a:ea typeface="Tahoma" panose="020B0604030504040204" pitchFamily="34" charset="0"/>
              <a:cs typeface="Lucida Sans Unicode" panose="020B0602030504020204" pitchFamily="34" charset="0"/>
            </a:endParaRPr>
          </a:p>
          <a:p>
            <a:pPr algn="just">
              <a:buFont typeface="Wingdings" panose="05000000000000000000" pitchFamily="2" charset="2"/>
              <a:buChar char="ü"/>
            </a:pPr>
            <a:r>
              <a:rPr lang="pt-BR" sz="2000" dirty="0">
                <a:solidFill>
                  <a:schemeClr val="accent6"/>
                </a:solidFill>
                <a:latin typeface="Lucida Sans Unicode" panose="020B0602030504020204" pitchFamily="34" charset="0"/>
                <a:ea typeface="Tahoma" panose="020B0604030504040204" pitchFamily="34" charset="0"/>
                <a:cs typeface="Lucida Sans Unicode" panose="020B0602030504020204" pitchFamily="34" charset="0"/>
              </a:rPr>
              <a:t> A gestão de operações ocupa-se da atividade de </a:t>
            </a:r>
            <a:r>
              <a:rPr lang="pt-BR" sz="2000" b="1" dirty="0">
                <a:solidFill>
                  <a:schemeClr val="accent6"/>
                </a:solidFill>
                <a:latin typeface="Lucida Sans Unicode" panose="020B0602030504020204" pitchFamily="34" charset="0"/>
                <a:ea typeface="Tahoma" panose="020B0604030504040204" pitchFamily="34" charset="0"/>
                <a:cs typeface="Lucida Sans Unicode" panose="020B0602030504020204" pitchFamily="34" charset="0"/>
              </a:rPr>
              <a:t>gerenciamento estratégico dos recursos</a:t>
            </a:r>
            <a:r>
              <a:rPr lang="pt-BR" sz="2000" dirty="0">
                <a:solidFill>
                  <a:schemeClr val="accent6"/>
                </a:solidFill>
                <a:latin typeface="Lucida Sans Unicode" panose="020B0602030504020204" pitchFamily="34" charset="0"/>
                <a:ea typeface="Tahoma" panose="020B0604030504040204" pitchFamily="34" charset="0"/>
                <a:cs typeface="Lucida Sans Unicode" panose="020B0602030504020204" pitchFamily="34" charset="0"/>
              </a:rPr>
              <a:t>;</a:t>
            </a:r>
          </a:p>
          <a:p>
            <a:pPr algn="just">
              <a:buFont typeface="Wingdings" panose="05000000000000000000" pitchFamily="2" charset="2"/>
              <a:buChar char="ü"/>
            </a:pPr>
            <a:endParaRPr lang="pt-BR" sz="2000" dirty="0">
              <a:solidFill>
                <a:schemeClr val="accent6"/>
              </a:solidFill>
              <a:latin typeface="Lucida Sans Unicode" panose="020B0602030504020204" pitchFamily="34" charset="0"/>
              <a:ea typeface="Tahoma" panose="020B0604030504040204" pitchFamily="34" charset="0"/>
              <a:cs typeface="Lucida Sans Unicode" panose="020B0602030504020204" pitchFamily="34" charset="0"/>
            </a:endParaRPr>
          </a:p>
          <a:p>
            <a:pPr algn="just">
              <a:buFont typeface="Wingdings" panose="05000000000000000000" pitchFamily="2" charset="2"/>
              <a:buChar char="ü"/>
            </a:pPr>
            <a:r>
              <a:rPr lang="pt-BR" sz="2000" dirty="0">
                <a:solidFill>
                  <a:schemeClr val="accent6"/>
                </a:solidFill>
                <a:latin typeface="Lucida Sans Unicode" panose="020B0602030504020204" pitchFamily="34" charset="0"/>
                <a:ea typeface="Tahoma" panose="020B0604030504040204" pitchFamily="34" charset="0"/>
                <a:cs typeface="Lucida Sans Unicode" panose="020B0602030504020204" pitchFamily="34" charset="0"/>
              </a:rPr>
              <a:t> Também visa a interação dos processos que </a:t>
            </a:r>
            <a:r>
              <a:rPr lang="pt-BR" sz="2000" b="1" dirty="0">
                <a:solidFill>
                  <a:schemeClr val="accent6"/>
                </a:solidFill>
                <a:latin typeface="Lucida Sans Unicode" panose="020B0602030504020204" pitchFamily="34" charset="0"/>
                <a:ea typeface="Tahoma" panose="020B0604030504040204" pitchFamily="34" charset="0"/>
                <a:cs typeface="Lucida Sans Unicode" panose="020B0602030504020204" pitchFamily="34" charset="0"/>
              </a:rPr>
              <a:t>produzem e entregam bens e serviços</a:t>
            </a:r>
            <a:r>
              <a:rPr lang="pt-BR" sz="2000" dirty="0">
                <a:solidFill>
                  <a:schemeClr val="accent6"/>
                </a:solidFill>
                <a:latin typeface="Lucida Sans Unicode" panose="020B0602030504020204" pitchFamily="34" charset="0"/>
                <a:ea typeface="Tahoma" panose="020B0604030504040204" pitchFamily="34" charset="0"/>
                <a:cs typeface="Lucida Sans Unicode" panose="020B0602030504020204" pitchFamily="34" charset="0"/>
              </a:rPr>
              <a:t>, visando atender a necessidade e/ou desejos de </a:t>
            </a:r>
            <a:r>
              <a:rPr lang="pt-BR" sz="2000" b="1" dirty="0">
                <a:solidFill>
                  <a:schemeClr val="accent6"/>
                </a:solidFill>
                <a:latin typeface="Lucida Sans Unicode" panose="020B0602030504020204" pitchFamily="34" charset="0"/>
                <a:ea typeface="Tahoma" panose="020B0604030504040204" pitchFamily="34" charset="0"/>
                <a:cs typeface="Lucida Sans Unicode" panose="020B0602030504020204" pitchFamily="34" charset="0"/>
              </a:rPr>
              <a:t>qualidade, tempo e custo dos clientes</a:t>
            </a:r>
            <a:r>
              <a:rPr lang="pt-BR" sz="2000" dirty="0">
                <a:solidFill>
                  <a:schemeClr val="accent6"/>
                </a:solidFill>
                <a:latin typeface="Lucida Sans Unicode" panose="020B0602030504020204" pitchFamily="34" charset="0"/>
                <a:ea typeface="Tahoma" panose="020B0604030504040204" pitchFamily="34" charset="0"/>
                <a:cs typeface="Lucida Sans Unicode" panose="020B0602030504020204" pitchFamily="34" charset="0"/>
              </a:rPr>
              <a:t>.</a:t>
            </a:r>
          </a:p>
        </p:txBody>
      </p:sp>
      <p:sp>
        <p:nvSpPr>
          <p:cNvPr id="4" name="CaixaDeTexto 3"/>
          <p:cNvSpPr txBox="1"/>
          <p:nvPr/>
        </p:nvSpPr>
        <p:spPr>
          <a:xfrm>
            <a:off x="2926597" y="1234799"/>
            <a:ext cx="6338807" cy="400110"/>
          </a:xfrm>
          <a:prstGeom prst="rect">
            <a:avLst/>
          </a:prstGeom>
          <a:noFill/>
        </p:spPr>
        <p:txBody>
          <a:bodyPr wrap="square" rtlCol="0">
            <a:spAutoFit/>
          </a:bodyPr>
          <a:lstStyle/>
          <a:p>
            <a:pPr algn="ctr"/>
            <a:r>
              <a:rPr lang="pt-BR" sz="2000" b="1" dirty="0">
                <a:solidFill>
                  <a:schemeClr val="accent6"/>
                </a:solidFill>
                <a:latin typeface="Lucida Sans Unicode" panose="020B0602030504020204" pitchFamily="34" charset="0"/>
                <a:cs typeface="Lucida Sans Unicode" panose="020B0602030504020204" pitchFamily="34" charset="0"/>
              </a:rPr>
              <a:t>CADEIA DE SUPRIMENTOS</a:t>
            </a:r>
          </a:p>
        </p:txBody>
      </p:sp>
      <p:sp>
        <p:nvSpPr>
          <p:cNvPr id="5" name="CaixaDeTexto 4"/>
          <p:cNvSpPr txBox="1"/>
          <p:nvPr/>
        </p:nvSpPr>
        <p:spPr>
          <a:xfrm>
            <a:off x="2099556" y="410350"/>
            <a:ext cx="7992888" cy="461665"/>
          </a:xfrm>
          <a:prstGeom prst="rect">
            <a:avLst/>
          </a:prstGeom>
          <a:noFill/>
        </p:spPr>
        <p:txBody>
          <a:bodyPr wrap="square" rtlCol="0">
            <a:spAutoFit/>
          </a:body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LOGÍSTICA EMPRESARIAL</a:t>
            </a:r>
          </a:p>
        </p:txBody>
      </p:sp>
    </p:spTree>
    <p:extLst>
      <p:ext uri="{BB962C8B-B14F-4D97-AF65-F5344CB8AC3E}">
        <p14:creationId xmlns:p14="http://schemas.microsoft.com/office/powerpoint/2010/main" val="2442210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Espaço Reservado para Conteúdo 2"/>
          <p:cNvSpPr txBox="1">
            <a:spLocks/>
          </p:cNvSpPr>
          <p:nvPr/>
        </p:nvSpPr>
        <p:spPr>
          <a:xfrm>
            <a:off x="309095" y="2774323"/>
            <a:ext cx="7021603" cy="230317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Wingdings" panose="05000000000000000000" pitchFamily="2" charset="2"/>
              <a:buChar char="ü"/>
            </a:pPr>
            <a:r>
              <a:rPr lang="pt-BR" sz="2000" dirty="0">
                <a:solidFill>
                  <a:schemeClr val="accent6"/>
                </a:solidFill>
                <a:latin typeface="Lucida Sans Unicode" panose="020B0602030504020204" pitchFamily="34" charset="0"/>
                <a:ea typeface="Tahoma" panose="020B0604030504040204" pitchFamily="34" charset="0"/>
                <a:cs typeface="Lucida Sans Unicode" panose="020B0602030504020204" pitchFamily="34" charset="0"/>
              </a:rPr>
              <a:t> Toda organização, não importa seu segmento, tem dentro de si uma função da Cadeia de Suprimentos, pois gera algum “</a:t>
            </a:r>
            <a:r>
              <a:rPr lang="pt-BR" sz="2000" b="1" dirty="0">
                <a:solidFill>
                  <a:schemeClr val="accent6"/>
                </a:solidFill>
                <a:latin typeface="Lucida Sans Unicode" panose="020B0602030504020204" pitchFamily="34" charset="0"/>
                <a:ea typeface="Tahoma" panose="020B0604030504040204" pitchFamily="34" charset="0"/>
                <a:cs typeface="Lucida Sans Unicode" panose="020B0602030504020204" pitchFamily="34" charset="0"/>
              </a:rPr>
              <a:t>pacote de valor</a:t>
            </a:r>
            <a:r>
              <a:rPr lang="pt-BR" sz="2000" dirty="0">
                <a:solidFill>
                  <a:schemeClr val="accent6"/>
                </a:solidFill>
                <a:latin typeface="Lucida Sans Unicode" panose="020B0602030504020204" pitchFamily="34" charset="0"/>
                <a:ea typeface="Tahoma" panose="020B0604030504040204" pitchFamily="34" charset="0"/>
                <a:cs typeface="Lucida Sans Unicode" panose="020B0602030504020204" pitchFamily="34" charset="0"/>
              </a:rPr>
              <a:t>” para seus clientes;</a:t>
            </a:r>
          </a:p>
          <a:p>
            <a:pPr marL="0" indent="0" algn="just">
              <a:buFont typeface="Arial" panose="020B0604020202020204" pitchFamily="34" charset="0"/>
              <a:buNone/>
            </a:pPr>
            <a:endParaRPr lang="pt-BR" sz="2000" dirty="0">
              <a:solidFill>
                <a:schemeClr val="accent6"/>
              </a:solidFill>
              <a:latin typeface="Lucida Sans Unicode" panose="020B0602030504020204" pitchFamily="34" charset="0"/>
              <a:ea typeface="Tahoma" panose="020B0604030504040204" pitchFamily="34" charset="0"/>
              <a:cs typeface="Lucida Sans Unicode" panose="020B0602030504020204" pitchFamily="34" charset="0"/>
            </a:endParaRPr>
          </a:p>
          <a:p>
            <a:pPr algn="just">
              <a:buFont typeface="Wingdings" panose="05000000000000000000" pitchFamily="2" charset="2"/>
              <a:buChar char="ü"/>
            </a:pPr>
            <a:r>
              <a:rPr lang="pt-BR" sz="2000" dirty="0">
                <a:solidFill>
                  <a:schemeClr val="accent6"/>
                </a:solidFill>
                <a:latin typeface="Lucida Sans Unicode" panose="020B0602030504020204" pitchFamily="34" charset="0"/>
                <a:ea typeface="Tahoma" panose="020B0604030504040204" pitchFamily="34" charset="0"/>
                <a:cs typeface="Lucida Sans Unicode" panose="020B0602030504020204" pitchFamily="34" charset="0"/>
              </a:rPr>
              <a:t> Não se pode esquecer que os </a:t>
            </a:r>
            <a:r>
              <a:rPr lang="pt-BR" sz="2000" b="1" dirty="0">
                <a:solidFill>
                  <a:schemeClr val="accent6"/>
                </a:solidFill>
                <a:latin typeface="Lucida Sans Unicode" panose="020B0602030504020204" pitchFamily="34" charset="0"/>
                <a:ea typeface="Tahoma" panose="020B0604030504040204" pitchFamily="34" charset="0"/>
                <a:cs typeface="Lucida Sans Unicode" panose="020B0602030504020204" pitchFamily="34" charset="0"/>
              </a:rPr>
              <a:t>clientes</a:t>
            </a:r>
            <a:r>
              <a:rPr lang="pt-BR" sz="2000" dirty="0">
                <a:solidFill>
                  <a:schemeClr val="accent6"/>
                </a:solidFill>
                <a:latin typeface="Lucida Sans Unicode" panose="020B0602030504020204" pitchFamily="34" charset="0"/>
                <a:ea typeface="Tahoma" panose="020B0604030504040204" pitchFamily="34" charset="0"/>
                <a:cs typeface="Lucida Sans Unicode" panose="020B0602030504020204" pitchFamily="34" charset="0"/>
              </a:rPr>
              <a:t>, sejam eles internos ou externos, estão </a:t>
            </a:r>
            <a:r>
              <a:rPr lang="pt-BR" sz="2000" b="1" dirty="0">
                <a:solidFill>
                  <a:schemeClr val="accent6"/>
                </a:solidFill>
                <a:latin typeface="Lucida Sans Unicode" panose="020B0602030504020204" pitchFamily="34" charset="0"/>
                <a:ea typeface="Tahoma" panose="020B0604030504040204" pitchFamily="34" charset="0"/>
                <a:cs typeface="Lucida Sans Unicode" panose="020B0602030504020204" pitchFamily="34" charset="0"/>
              </a:rPr>
              <a:t>cada vez mais exigentes</a:t>
            </a:r>
            <a:r>
              <a:rPr lang="pt-BR" sz="2000" dirty="0">
                <a:solidFill>
                  <a:schemeClr val="accent6"/>
                </a:solidFill>
                <a:latin typeface="Lucida Sans Unicode" panose="020B0602030504020204" pitchFamily="34" charset="0"/>
                <a:ea typeface="Tahoma" panose="020B0604030504040204" pitchFamily="34" charset="0"/>
                <a:cs typeface="Lucida Sans Unicode" panose="020B0602030504020204" pitchFamily="34" charset="0"/>
              </a:rPr>
              <a:t>.</a:t>
            </a:r>
          </a:p>
          <a:p>
            <a:pPr algn="just">
              <a:buFont typeface="Wingdings" panose="05000000000000000000" pitchFamily="2" charset="2"/>
              <a:buChar char="ü"/>
            </a:pPr>
            <a:endParaRPr lang="pt-BR" sz="2000" dirty="0">
              <a:solidFill>
                <a:schemeClr val="accent6"/>
              </a:solidFill>
              <a:latin typeface="Lucida Sans Unicode" panose="020B0602030504020204" pitchFamily="34" charset="0"/>
              <a:ea typeface="Tahoma" panose="020B0604030504040204" pitchFamily="34" charset="0"/>
              <a:cs typeface="Lucida Sans Unicode" panose="020B0602030504020204" pitchFamily="34" charset="0"/>
            </a:endParaRPr>
          </a:p>
        </p:txBody>
      </p:sp>
      <p:pic>
        <p:nvPicPr>
          <p:cNvPr id="3" name="Imagem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30698" y="1061237"/>
            <a:ext cx="4604940" cy="5206999"/>
          </a:xfrm>
          <a:prstGeom prst="rect">
            <a:avLst/>
          </a:prstGeom>
        </p:spPr>
      </p:pic>
      <p:sp>
        <p:nvSpPr>
          <p:cNvPr id="5" name="CaixaDeTexto 4"/>
          <p:cNvSpPr txBox="1"/>
          <p:nvPr/>
        </p:nvSpPr>
        <p:spPr>
          <a:xfrm>
            <a:off x="2926596" y="1234799"/>
            <a:ext cx="6338807" cy="400110"/>
          </a:xfrm>
          <a:prstGeom prst="rect">
            <a:avLst/>
          </a:prstGeom>
          <a:noFill/>
        </p:spPr>
        <p:txBody>
          <a:bodyPr wrap="square" rtlCol="0">
            <a:spAutoFit/>
          </a:bodyPr>
          <a:lstStyle/>
          <a:p>
            <a:pPr algn="ctr"/>
            <a:r>
              <a:rPr lang="pt-BR" sz="2000" b="1" dirty="0">
                <a:solidFill>
                  <a:schemeClr val="accent6"/>
                </a:solidFill>
                <a:latin typeface="Lucida Sans Unicode" panose="020B0602030504020204" pitchFamily="34" charset="0"/>
                <a:cs typeface="Lucida Sans Unicode" panose="020B0602030504020204" pitchFamily="34" charset="0"/>
              </a:rPr>
              <a:t>CADEIA DE SUPRIMENTOS</a:t>
            </a:r>
          </a:p>
        </p:txBody>
      </p:sp>
      <p:sp>
        <p:nvSpPr>
          <p:cNvPr id="6" name="CaixaDeTexto 5"/>
          <p:cNvSpPr txBox="1"/>
          <p:nvPr/>
        </p:nvSpPr>
        <p:spPr>
          <a:xfrm>
            <a:off x="2099556" y="410350"/>
            <a:ext cx="7992888" cy="461665"/>
          </a:xfrm>
          <a:prstGeom prst="rect">
            <a:avLst/>
          </a:prstGeom>
          <a:noFill/>
        </p:spPr>
        <p:txBody>
          <a:bodyPr wrap="square" rtlCol="0">
            <a:spAutoFit/>
          </a:body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LOGÍSTICA EMPRESARIAL</a:t>
            </a:r>
          </a:p>
        </p:txBody>
      </p:sp>
    </p:spTree>
    <p:extLst>
      <p:ext uri="{BB962C8B-B14F-4D97-AF65-F5344CB8AC3E}">
        <p14:creationId xmlns:p14="http://schemas.microsoft.com/office/powerpoint/2010/main" val="598818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heel(1)">
                                      <p:cBhvr>
                                        <p:cTn id="13"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Espaço Reservado para Conteúdo 2"/>
          <p:cNvSpPr txBox="1">
            <a:spLocks/>
          </p:cNvSpPr>
          <p:nvPr/>
        </p:nvSpPr>
        <p:spPr>
          <a:xfrm>
            <a:off x="1710734" y="1997155"/>
            <a:ext cx="9339209" cy="40936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ü"/>
            </a:pPr>
            <a:r>
              <a:rPr lang="pt-BR" sz="2000" dirty="0">
                <a:solidFill>
                  <a:schemeClr val="accent6"/>
                </a:solidFill>
                <a:latin typeface="Lucida Sans Unicode" panose="020B0602030504020204" pitchFamily="34" charset="0"/>
                <a:ea typeface="Tahoma" panose="020B0604030504040204" pitchFamily="34" charset="0"/>
                <a:cs typeface="Lucida Sans Unicode" panose="020B0602030504020204" pitchFamily="34" charset="0"/>
              </a:rPr>
              <a:t> </a:t>
            </a:r>
            <a:r>
              <a:rPr lang="pt-BR" sz="2000" b="1" dirty="0">
                <a:solidFill>
                  <a:schemeClr val="accent6"/>
                </a:solidFill>
                <a:latin typeface="Lucida Sans Unicode" panose="020B0602030504020204" pitchFamily="34" charset="0"/>
                <a:ea typeface="Tahoma" panose="020B0604030504040204" pitchFamily="34" charset="0"/>
                <a:cs typeface="Lucida Sans Unicode" panose="020B0602030504020204" pitchFamily="34" charset="0"/>
              </a:rPr>
              <a:t>Afeta diretamente os Custos</a:t>
            </a:r>
            <a:r>
              <a:rPr lang="pt-BR" sz="2000" dirty="0">
                <a:solidFill>
                  <a:schemeClr val="accent6"/>
                </a:solidFill>
                <a:latin typeface="Lucida Sans Unicode" panose="020B0602030504020204" pitchFamily="34" charset="0"/>
                <a:ea typeface="Tahoma" panose="020B0604030504040204" pitchFamily="34" charset="0"/>
                <a:cs typeface="Lucida Sans Unicode" panose="020B0602030504020204" pitchFamily="34" charset="0"/>
              </a:rPr>
              <a:t> da empresa</a:t>
            </a:r>
          </a:p>
          <a:p>
            <a:pPr marL="0" indent="0">
              <a:buNone/>
            </a:pPr>
            <a:endParaRPr lang="pt-BR" sz="2000" dirty="0">
              <a:solidFill>
                <a:schemeClr val="accent6"/>
              </a:solidFill>
              <a:latin typeface="Lucida Sans Unicode" panose="020B0602030504020204" pitchFamily="34" charset="0"/>
              <a:ea typeface="Tahoma" panose="020B0604030504040204" pitchFamily="34" charset="0"/>
              <a:cs typeface="Lucida Sans Unicode" panose="020B0602030504020204" pitchFamily="34" charset="0"/>
            </a:endParaRPr>
          </a:p>
          <a:p>
            <a:pPr>
              <a:buFont typeface="Wingdings" panose="05000000000000000000" pitchFamily="2" charset="2"/>
              <a:buChar char="ü"/>
            </a:pPr>
            <a:r>
              <a:rPr lang="pt-BR" sz="2000" dirty="0">
                <a:solidFill>
                  <a:schemeClr val="accent6"/>
                </a:solidFill>
                <a:latin typeface="Lucida Sans Unicode" panose="020B0602030504020204" pitchFamily="34" charset="0"/>
                <a:ea typeface="Tahoma" panose="020B0604030504040204" pitchFamily="34" charset="0"/>
                <a:cs typeface="Lucida Sans Unicode" panose="020B0602030504020204" pitchFamily="34" charset="0"/>
              </a:rPr>
              <a:t> Proporciona diferentes </a:t>
            </a:r>
            <a:r>
              <a:rPr lang="pt-BR" sz="2000" b="1" dirty="0">
                <a:solidFill>
                  <a:schemeClr val="accent6"/>
                </a:solidFill>
                <a:latin typeface="Lucida Sans Unicode" panose="020B0602030504020204" pitchFamily="34" charset="0"/>
                <a:ea typeface="Tahoma" panose="020B0604030504040204" pitchFamily="34" charset="0"/>
                <a:cs typeface="Lucida Sans Unicode" panose="020B0602030504020204" pitchFamily="34" charset="0"/>
              </a:rPr>
              <a:t>níveis de Serviço ao Cliente </a:t>
            </a:r>
            <a:r>
              <a:rPr lang="pt-BR" sz="2000" dirty="0">
                <a:solidFill>
                  <a:schemeClr val="accent6"/>
                </a:solidFill>
                <a:latin typeface="Lucida Sans Unicode" panose="020B0602030504020204" pitchFamily="34" charset="0"/>
                <a:ea typeface="Tahoma" panose="020B0604030504040204" pitchFamily="34" charset="0"/>
                <a:cs typeface="Lucida Sans Unicode" panose="020B0602030504020204" pitchFamily="34" charset="0"/>
              </a:rPr>
              <a:t>(</a:t>
            </a:r>
            <a:r>
              <a:rPr lang="pt-BR" sz="2000" i="1" dirty="0" err="1">
                <a:solidFill>
                  <a:schemeClr val="accent6"/>
                </a:solidFill>
                <a:latin typeface="Lucida Sans Unicode" panose="020B0602030504020204" pitchFamily="34" charset="0"/>
                <a:ea typeface="Tahoma" panose="020B0604030504040204" pitchFamily="34" charset="0"/>
                <a:cs typeface="Lucida Sans Unicode" panose="020B0602030504020204" pitchFamily="34" charset="0"/>
              </a:rPr>
              <a:t>Customer</a:t>
            </a:r>
            <a:r>
              <a:rPr lang="pt-BR" sz="2000" i="1" dirty="0">
                <a:solidFill>
                  <a:schemeClr val="accent6"/>
                </a:solidFill>
                <a:latin typeface="Lucida Sans Unicode" panose="020B0602030504020204" pitchFamily="34" charset="0"/>
                <a:ea typeface="Tahoma" panose="020B0604030504040204" pitchFamily="34" charset="0"/>
                <a:cs typeface="Lucida Sans Unicode" panose="020B0602030504020204" pitchFamily="34" charset="0"/>
              </a:rPr>
              <a:t> Service</a:t>
            </a:r>
            <a:r>
              <a:rPr lang="pt-BR" sz="2000" dirty="0">
                <a:solidFill>
                  <a:schemeClr val="accent6"/>
                </a:solidFill>
                <a:latin typeface="Lucida Sans Unicode" panose="020B0602030504020204" pitchFamily="34" charset="0"/>
                <a:ea typeface="Tahoma" panose="020B0604030504040204" pitchFamily="34" charset="0"/>
                <a:cs typeface="Lucida Sans Unicode" panose="020B0602030504020204" pitchFamily="34" charset="0"/>
              </a:rPr>
              <a:t>);</a:t>
            </a:r>
          </a:p>
          <a:p>
            <a:pPr marL="0" indent="0">
              <a:buNone/>
            </a:pPr>
            <a:endParaRPr lang="pt-BR" sz="2000" dirty="0">
              <a:solidFill>
                <a:schemeClr val="accent6"/>
              </a:solidFill>
              <a:latin typeface="Lucida Sans Unicode" panose="020B0602030504020204" pitchFamily="34" charset="0"/>
              <a:ea typeface="Tahoma" panose="020B0604030504040204" pitchFamily="34" charset="0"/>
              <a:cs typeface="Lucida Sans Unicode" panose="020B0602030504020204" pitchFamily="34" charset="0"/>
            </a:endParaRPr>
          </a:p>
          <a:p>
            <a:pPr>
              <a:buFont typeface="Wingdings" panose="05000000000000000000" pitchFamily="2" charset="2"/>
              <a:buChar char="ü"/>
            </a:pPr>
            <a:r>
              <a:rPr lang="pt-BR" sz="2000" dirty="0">
                <a:solidFill>
                  <a:schemeClr val="accent6"/>
                </a:solidFill>
                <a:latin typeface="Lucida Sans Unicode" panose="020B0602030504020204" pitchFamily="34" charset="0"/>
                <a:ea typeface="Tahoma" panose="020B0604030504040204" pitchFamily="34" charset="0"/>
                <a:cs typeface="Lucida Sans Unicode" panose="020B0602030504020204" pitchFamily="34" charset="0"/>
              </a:rPr>
              <a:t> Auxilia a penetrar de maneira eficaz em novos mercados (</a:t>
            </a:r>
            <a:r>
              <a:rPr lang="pt-BR" sz="2000" b="1" dirty="0">
                <a:solidFill>
                  <a:schemeClr val="accent6"/>
                </a:solidFill>
                <a:latin typeface="Lucida Sans Unicode" panose="020B0602030504020204" pitchFamily="34" charset="0"/>
                <a:ea typeface="Tahoma" panose="020B0604030504040204" pitchFamily="34" charset="0"/>
                <a:cs typeface="Lucida Sans Unicode" panose="020B0602030504020204" pitchFamily="34" charset="0"/>
              </a:rPr>
              <a:t>novos consumidores</a:t>
            </a:r>
            <a:r>
              <a:rPr lang="pt-BR" sz="2000" dirty="0">
                <a:solidFill>
                  <a:schemeClr val="accent6"/>
                </a:solidFill>
                <a:latin typeface="Lucida Sans Unicode" panose="020B0602030504020204" pitchFamily="34" charset="0"/>
                <a:ea typeface="Tahoma" panose="020B0604030504040204" pitchFamily="34" charset="0"/>
                <a:cs typeface="Lucida Sans Unicode" panose="020B0602030504020204" pitchFamily="34" charset="0"/>
              </a:rPr>
              <a:t>);</a:t>
            </a:r>
          </a:p>
          <a:p>
            <a:pPr marL="0" indent="0">
              <a:buNone/>
            </a:pPr>
            <a:endParaRPr lang="pt-BR" sz="2000" dirty="0">
              <a:solidFill>
                <a:schemeClr val="accent6"/>
              </a:solidFill>
              <a:latin typeface="Lucida Sans Unicode" panose="020B0602030504020204" pitchFamily="34" charset="0"/>
              <a:ea typeface="Tahoma" panose="020B0604030504040204" pitchFamily="34" charset="0"/>
              <a:cs typeface="Lucida Sans Unicode" panose="020B0602030504020204" pitchFamily="34" charset="0"/>
            </a:endParaRPr>
          </a:p>
          <a:p>
            <a:pPr>
              <a:buFont typeface="Wingdings" panose="05000000000000000000" pitchFamily="2" charset="2"/>
              <a:buChar char="ü"/>
            </a:pPr>
            <a:r>
              <a:rPr lang="pt-BR" sz="2000" dirty="0">
                <a:solidFill>
                  <a:schemeClr val="accent6"/>
                </a:solidFill>
                <a:latin typeface="Lucida Sans Unicode" panose="020B0602030504020204" pitchFamily="34" charset="0"/>
                <a:ea typeface="Tahoma" panose="020B0604030504040204" pitchFamily="34" charset="0"/>
                <a:cs typeface="Lucida Sans Unicode" panose="020B0602030504020204" pitchFamily="34" charset="0"/>
              </a:rPr>
              <a:t> Ajuda a aumentar a </a:t>
            </a:r>
            <a:r>
              <a:rPr lang="pt-BR" sz="2000" b="1" dirty="0">
                <a:solidFill>
                  <a:schemeClr val="accent6"/>
                </a:solidFill>
                <a:latin typeface="Lucida Sans Unicode" panose="020B0602030504020204" pitchFamily="34" charset="0"/>
                <a:ea typeface="Tahoma" panose="020B0604030504040204" pitchFamily="34" charset="0"/>
                <a:cs typeface="Lucida Sans Unicode" panose="020B0602030504020204" pitchFamily="34" charset="0"/>
              </a:rPr>
              <a:t>fatia do mercado;</a:t>
            </a:r>
          </a:p>
          <a:p>
            <a:pPr marL="0" indent="0">
              <a:buNone/>
            </a:pPr>
            <a:endParaRPr lang="pt-BR" sz="2000" dirty="0">
              <a:solidFill>
                <a:schemeClr val="accent6"/>
              </a:solidFill>
              <a:latin typeface="Lucida Sans Unicode" panose="020B0602030504020204" pitchFamily="34" charset="0"/>
              <a:ea typeface="Tahoma" panose="020B0604030504040204" pitchFamily="34" charset="0"/>
              <a:cs typeface="Lucida Sans Unicode" panose="020B0602030504020204" pitchFamily="34" charset="0"/>
            </a:endParaRPr>
          </a:p>
          <a:p>
            <a:pPr>
              <a:buFont typeface="Wingdings" panose="05000000000000000000" pitchFamily="2" charset="2"/>
              <a:buChar char="ü"/>
            </a:pPr>
            <a:r>
              <a:rPr lang="pt-BR" sz="2000" dirty="0">
                <a:solidFill>
                  <a:schemeClr val="accent6"/>
                </a:solidFill>
                <a:latin typeface="Lucida Sans Unicode" panose="020B0602030504020204" pitchFamily="34" charset="0"/>
                <a:ea typeface="Tahoma" panose="020B0604030504040204" pitchFamily="34" charset="0"/>
                <a:cs typeface="Lucida Sans Unicode" panose="020B0602030504020204" pitchFamily="34" charset="0"/>
              </a:rPr>
              <a:t> ...aumentando os </a:t>
            </a:r>
            <a:r>
              <a:rPr lang="pt-BR" sz="2000" b="1" dirty="0">
                <a:solidFill>
                  <a:schemeClr val="accent6"/>
                </a:solidFill>
                <a:latin typeface="Lucida Sans Unicode" panose="020B0602030504020204" pitchFamily="34" charset="0"/>
                <a:ea typeface="Tahoma" panose="020B0604030504040204" pitchFamily="34" charset="0"/>
                <a:cs typeface="Lucida Sans Unicode" panose="020B0602030504020204" pitchFamily="34" charset="0"/>
              </a:rPr>
              <a:t>lucros</a:t>
            </a:r>
            <a:r>
              <a:rPr lang="pt-BR" sz="2000" dirty="0">
                <a:solidFill>
                  <a:schemeClr val="accent6"/>
                </a:solidFill>
                <a:latin typeface="Lucida Sans Unicode" panose="020B0602030504020204" pitchFamily="34" charset="0"/>
                <a:ea typeface="Tahoma" panose="020B0604030504040204" pitchFamily="34" charset="0"/>
                <a:cs typeface="Lucida Sans Unicode" panose="020B0602030504020204" pitchFamily="34" charset="0"/>
              </a:rPr>
              <a:t>...</a:t>
            </a:r>
          </a:p>
        </p:txBody>
      </p:sp>
      <p:sp>
        <p:nvSpPr>
          <p:cNvPr id="3" name="CaixaDeTexto 2"/>
          <p:cNvSpPr txBox="1"/>
          <p:nvPr/>
        </p:nvSpPr>
        <p:spPr>
          <a:xfrm>
            <a:off x="3161654" y="216976"/>
            <a:ext cx="6338807" cy="461665"/>
          </a:xfrm>
          <a:prstGeom prst="rect">
            <a:avLst/>
          </a:prstGeom>
          <a:noFill/>
        </p:spPr>
        <p:txBody>
          <a:bodyPr wrap="square" rtlCol="0">
            <a:spAutoFit/>
          </a:body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CADEIA DE SUPRIMENTOS</a:t>
            </a:r>
          </a:p>
        </p:txBody>
      </p:sp>
      <p:sp>
        <p:nvSpPr>
          <p:cNvPr id="4" name="CaixaDeTexto 3"/>
          <p:cNvSpPr txBox="1"/>
          <p:nvPr/>
        </p:nvSpPr>
        <p:spPr>
          <a:xfrm>
            <a:off x="3210934" y="989308"/>
            <a:ext cx="6338807" cy="400110"/>
          </a:xfrm>
          <a:prstGeom prst="rect">
            <a:avLst/>
          </a:prstGeom>
          <a:noFill/>
        </p:spPr>
        <p:txBody>
          <a:bodyPr wrap="square" rtlCol="0">
            <a:spAutoFit/>
          </a:bodyPr>
          <a:lstStyle/>
          <a:p>
            <a:pPr algn="ctr"/>
            <a:r>
              <a:rPr lang="pt-BR" sz="2000" b="1" dirty="0">
                <a:solidFill>
                  <a:schemeClr val="accent6"/>
                </a:solidFill>
                <a:latin typeface="Lucida Sans Unicode" panose="020B0602030504020204" pitchFamily="34" charset="0"/>
                <a:cs typeface="Lucida Sans Unicode" panose="020B0602030504020204" pitchFamily="34" charset="0"/>
              </a:rPr>
              <a:t>IMPORTÂNCIA</a:t>
            </a:r>
          </a:p>
        </p:txBody>
      </p:sp>
    </p:spTree>
    <p:extLst>
      <p:ext uri="{BB962C8B-B14F-4D97-AF65-F5344CB8AC3E}">
        <p14:creationId xmlns:p14="http://schemas.microsoft.com/office/powerpoint/2010/main" val="2491632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Effect transition="in" filter="fade">
                                      <p:cBhvr>
                                        <p:cTn id="13" dur="1000"/>
                                        <p:tgtEl>
                                          <p:spTgt spid="2">
                                            <p:txEl>
                                              <p:pRg st="0" end="0"/>
                                            </p:txEl>
                                          </p:spTgt>
                                        </p:tgtEl>
                                      </p:cBhvr>
                                    </p:animEffect>
                                    <p:anim calcmode="lin" valueType="num">
                                      <p:cBhvr>
                                        <p:cTn id="14"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2">
                                            <p:txEl>
                                              <p:pRg st="2" end="2"/>
                                            </p:txEl>
                                          </p:spTgt>
                                        </p:tgtEl>
                                        <p:attrNameLst>
                                          <p:attrName>style.visibility</p:attrName>
                                        </p:attrNameLst>
                                      </p:cBhvr>
                                      <p:to>
                                        <p:strVal val="visible"/>
                                      </p:to>
                                    </p:set>
                                    <p:animEffect transition="in" filter="fade">
                                      <p:cBhvr>
                                        <p:cTn id="20" dur="1000"/>
                                        <p:tgtEl>
                                          <p:spTgt spid="2">
                                            <p:txEl>
                                              <p:pRg st="2" end="2"/>
                                            </p:txEl>
                                          </p:spTgt>
                                        </p:tgtEl>
                                      </p:cBhvr>
                                    </p:animEffect>
                                    <p:anim calcmode="lin" valueType="num">
                                      <p:cBhvr>
                                        <p:cTn id="21"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2"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fade">
                                      <p:cBhvr>
                                        <p:cTn id="27" dur="1000"/>
                                        <p:tgtEl>
                                          <p:spTgt spid="2">
                                            <p:txEl>
                                              <p:pRg st="4" end="4"/>
                                            </p:txEl>
                                          </p:spTgt>
                                        </p:tgtEl>
                                      </p:cBhvr>
                                    </p:animEffect>
                                    <p:anim calcmode="lin" valueType="num">
                                      <p:cBhvr>
                                        <p:cTn id="28"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2">
                                            <p:txEl>
                                              <p:pRg st="6" end="6"/>
                                            </p:txEl>
                                          </p:spTgt>
                                        </p:tgtEl>
                                        <p:attrNameLst>
                                          <p:attrName>style.visibility</p:attrName>
                                        </p:attrNameLst>
                                      </p:cBhvr>
                                      <p:to>
                                        <p:strVal val="visible"/>
                                      </p:to>
                                    </p:set>
                                    <p:animEffect transition="in" filter="fade">
                                      <p:cBhvr>
                                        <p:cTn id="34" dur="1000"/>
                                        <p:tgtEl>
                                          <p:spTgt spid="2">
                                            <p:txEl>
                                              <p:pRg st="6" end="6"/>
                                            </p:txEl>
                                          </p:spTgt>
                                        </p:tgtEl>
                                      </p:cBhvr>
                                    </p:animEffect>
                                    <p:anim calcmode="lin" valueType="num">
                                      <p:cBhvr>
                                        <p:cTn id="35"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36"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2">
                                            <p:txEl>
                                              <p:pRg st="8" end="8"/>
                                            </p:txEl>
                                          </p:spTgt>
                                        </p:tgtEl>
                                        <p:attrNameLst>
                                          <p:attrName>style.visibility</p:attrName>
                                        </p:attrNameLst>
                                      </p:cBhvr>
                                      <p:to>
                                        <p:strVal val="visible"/>
                                      </p:to>
                                    </p:set>
                                    <p:animEffect transition="in" filter="fade">
                                      <p:cBhvr>
                                        <p:cTn id="41" dur="1000"/>
                                        <p:tgtEl>
                                          <p:spTgt spid="2">
                                            <p:txEl>
                                              <p:pRg st="8" end="8"/>
                                            </p:txEl>
                                          </p:spTgt>
                                        </p:tgtEl>
                                      </p:cBhvr>
                                    </p:animEffect>
                                    <p:anim calcmode="lin" valueType="num">
                                      <p:cBhvr>
                                        <p:cTn id="42"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43" dur="1000" fill="hold"/>
                                        <p:tgtEl>
                                          <p:spTgt spid="2">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Espaço Reservado para Conteúdo 2"/>
          <p:cNvSpPr txBox="1">
            <a:spLocks/>
          </p:cNvSpPr>
          <p:nvPr/>
        </p:nvSpPr>
        <p:spPr>
          <a:xfrm>
            <a:off x="1426394" y="1754739"/>
            <a:ext cx="9339209" cy="380947"/>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pt-BR" sz="1800" b="1" dirty="0">
                <a:solidFill>
                  <a:schemeClr val="accent6"/>
                </a:solidFill>
                <a:latin typeface="Lucida Sans Unicode" panose="020B0602030504020204" pitchFamily="34" charset="0"/>
                <a:ea typeface="Tahoma" panose="020B0604030504040204" pitchFamily="34" charset="0"/>
                <a:cs typeface="Lucida Sans Unicode" panose="020B0602030504020204" pitchFamily="34" charset="0"/>
              </a:rPr>
              <a:t> QUANDO VOCÊ PENSA EM FEDEX, O QUE LHE VEM À MENTE?</a:t>
            </a:r>
          </a:p>
        </p:txBody>
      </p:sp>
      <p:sp>
        <p:nvSpPr>
          <p:cNvPr id="3" name="Título 1"/>
          <p:cNvSpPr txBox="1">
            <a:spLocks/>
          </p:cNvSpPr>
          <p:nvPr/>
        </p:nvSpPr>
        <p:spPr>
          <a:xfrm>
            <a:off x="2735494" y="952253"/>
            <a:ext cx="6721011" cy="61114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sz="2000" b="1" dirty="0">
                <a:solidFill>
                  <a:schemeClr val="accent6"/>
                </a:solidFill>
                <a:latin typeface="Lucida Sans Unicode" panose="020B0602030504020204" pitchFamily="34" charset="0"/>
                <a:cs typeface="Lucida Sans Unicode" panose="020B0602030504020204" pitchFamily="34" charset="0"/>
              </a:rPr>
              <a:t>A LOGÍSTICA DA FEDEX</a:t>
            </a:r>
          </a:p>
        </p:txBody>
      </p:sp>
      <p:pic>
        <p:nvPicPr>
          <p:cNvPr id="4" name="Imagem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0652" y="2256489"/>
            <a:ext cx="2809875" cy="1628775"/>
          </a:xfrm>
          <a:prstGeom prst="rect">
            <a:avLst/>
          </a:prstGeom>
        </p:spPr>
      </p:pic>
      <p:pic>
        <p:nvPicPr>
          <p:cNvPr id="5" name="Imagem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88542" y="4272713"/>
            <a:ext cx="2781300" cy="1647825"/>
          </a:xfrm>
          <a:prstGeom prst="rect">
            <a:avLst/>
          </a:prstGeom>
        </p:spPr>
      </p:pic>
      <p:pic>
        <p:nvPicPr>
          <p:cNvPr id="6" name="Imagem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62837" y="4341988"/>
            <a:ext cx="2476500" cy="1847850"/>
          </a:xfrm>
          <a:prstGeom prst="rect">
            <a:avLst/>
          </a:prstGeom>
        </p:spPr>
      </p:pic>
      <p:sp>
        <p:nvSpPr>
          <p:cNvPr id="7" name="CaixaDeTexto 6"/>
          <p:cNvSpPr txBox="1"/>
          <p:nvPr/>
        </p:nvSpPr>
        <p:spPr>
          <a:xfrm>
            <a:off x="1521461" y="3878249"/>
            <a:ext cx="2528256" cy="369332"/>
          </a:xfrm>
          <a:prstGeom prst="rect">
            <a:avLst/>
          </a:prstGeom>
          <a:noFill/>
        </p:spPr>
        <p:txBody>
          <a:bodyPr wrap="none" rtlCol="0">
            <a:spAutoFit/>
          </a:bodyPr>
          <a:lstStyle/>
          <a:p>
            <a:pPr algn="ctr"/>
            <a:r>
              <a:rPr lang="pt-BR" dirty="0">
                <a:solidFill>
                  <a:prstClr val="black"/>
                </a:solidFill>
                <a:latin typeface="Lucida Sans Unicode" panose="020B0602030504020204" pitchFamily="34" charset="0"/>
                <a:cs typeface="Lucida Sans Unicode" panose="020B0602030504020204" pitchFamily="34" charset="0"/>
              </a:rPr>
              <a:t>Integração Logística?</a:t>
            </a:r>
          </a:p>
        </p:txBody>
      </p:sp>
      <p:pic>
        <p:nvPicPr>
          <p:cNvPr id="8" name="Imagem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04766" y="2370788"/>
            <a:ext cx="3267075" cy="1400175"/>
          </a:xfrm>
          <a:prstGeom prst="rect">
            <a:avLst/>
          </a:prstGeom>
        </p:spPr>
      </p:pic>
      <p:sp>
        <p:nvSpPr>
          <p:cNvPr id="9" name="CaixaDeTexto 8"/>
          <p:cNvSpPr txBox="1"/>
          <p:nvPr/>
        </p:nvSpPr>
        <p:spPr>
          <a:xfrm>
            <a:off x="6114250" y="3759157"/>
            <a:ext cx="2448106" cy="369332"/>
          </a:xfrm>
          <a:prstGeom prst="rect">
            <a:avLst/>
          </a:prstGeom>
          <a:noFill/>
        </p:spPr>
        <p:txBody>
          <a:bodyPr wrap="none" rtlCol="0">
            <a:spAutoFit/>
          </a:bodyPr>
          <a:lstStyle/>
          <a:p>
            <a:pPr algn="ctr"/>
            <a:r>
              <a:rPr lang="pt-BR" dirty="0">
                <a:solidFill>
                  <a:prstClr val="black"/>
                </a:solidFill>
                <a:latin typeface="Lucida Sans Unicode" panose="020B0602030504020204" pitchFamily="34" charset="0"/>
                <a:cs typeface="Lucida Sans Unicode" panose="020B0602030504020204" pitchFamily="34" charset="0"/>
              </a:rPr>
              <a:t>Rapidez na entrega?</a:t>
            </a:r>
          </a:p>
        </p:txBody>
      </p:sp>
      <p:sp>
        <p:nvSpPr>
          <p:cNvPr id="10" name="CaixaDeTexto 9"/>
          <p:cNvSpPr txBox="1"/>
          <p:nvPr/>
        </p:nvSpPr>
        <p:spPr>
          <a:xfrm>
            <a:off x="3551369" y="5920538"/>
            <a:ext cx="3055645" cy="369332"/>
          </a:xfrm>
          <a:prstGeom prst="rect">
            <a:avLst/>
          </a:prstGeom>
          <a:noFill/>
        </p:spPr>
        <p:txBody>
          <a:bodyPr wrap="none" rtlCol="0">
            <a:spAutoFit/>
          </a:bodyPr>
          <a:lstStyle/>
          <a:p>
            <a:pPr algn="ctr"/>
            <a:r>
              <a:rPr lang="pt-BR" dirty="0">
                <a:solidFill>
                  <a:prstClr val="black"/>
                </a:solidFill>
                <a:latin typeface="Lucida Sans Unicode" panose="020B0602030504020204" pitchFamily="34" charset="0"/>
                <a:cs typeface="Lucida Sans Unicode" panose="020B0602030504020204" pitchFamily="34" charset="0"/>
              </a:rPr>
              <a:t>Entregas no mundo todo?</a:t>
            </a:r>
          </a:p>
        </p:txBody>
      </p:sp>
      <p:sp>
        <p:nvSpPr>
          <p:cNvPr id="11" name="CaixaDeTexto 10"/>
          <p:cNvSpPr txBox="1"/>
          <p:nvPr/>
        </p:nvSpPr>
        <p:spPr>
          <a:xfrm>
            <a:off x="2926597" y="216976"/>
            <a:ext cx="6338807" cy="461665"/>
          </a:xfrm>
          <a:prstGeom prst="rect">
            <a:avLst/>
          </a:prstGeom>
          <a:noFill/>
        </p:spPr>
        <p:txBody>
          <a:bodyPr wrap="square" rtlCol="0">
            <a:spAutoFit/>
          </a:body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CADEIA DE SUPRIMENTOS</a:t>
            </a:r>
          </a:p>
        </p:txBody>
      </p:sp>
    </p:spTree>
    <p:extLst>
      <p:ext uri="{BB962C8B-B14F-4D97-AF65-F5344CB8AC3E}">
        <p14:creationId xmlns:p14="http://schemas.microsoft.com/office/powerpoint/2010/main" val="380788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fade">
                                      <p:cBhvr>
                                        <p:cTn id="35" dur="500"/>
                                        <p:tgtEl>
                                          <p:spTgt spid="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500"/>
                                        <p:tgtEl>
                                          <p:spTgt spid="10"/>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6"/>
                                        </p:tgtEl>
                                        <p:attrNameLst>
                                          <p:attrName>style.visibility</p:attrName>
                                        </p:attrNameLst>
                                      </p:cBhvr>
                                      <p:to>
                                        <p:strVal val="visible"/>
                                      </p:to>
                                    </p:set>
                                    <p:animEffect transition="in" filter="fade">
                                      <p:cBhvr>
                                        <p:cTn id="4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7" grpId="0"/>
      <p:bldP spid="9" grpId="0"/>
      <p:bldP spid="10" grpId="0"/>
    </p:bld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tângulo 1"/>
          <p:cNvSpPr/>
          <p:nvPr/>
        </p:nvSpPr>
        <p:spPr>
          <a:xfrm>
            <a:off x="1177870" y="3493292"/>
            <a:ext cx="9887919" cy="400110"/>
          </a:xfrm>
          <a:prstGeom prst="rect">
            <a:avLst/>
          </a:prstGeom>
        </p:spPr>
        <p:txBody>
          <a:bodyPr wrap="square">
            <a:spAutoFit/>
          </a:bodyPr>
          <a:lstStyle/>
          <a:p>
            <a:pPr algn="ctr"/>
            <a:r>
              <a:rPr lang="pt-BR" sz="2000" dirty="0">
                <a:solidFill>
                  <a:schemeClr val="accent6"/>
                </a:solidFill>
                <a:latin typeface="Lucida Sans Unicode" panose="020B0602030504020204" pitchFamily="34" charset="0"/>
                <a:cs typeface="Lucida Sans Unicode" panose="020B0602030504020204" pitchFamily="34" charset="0"/>
                <a:hlinkClick r:id="rId2"/>
              </a:rPr>
              <a:t>www.youtube.com/watch?feature=player_detailpage&amp;v=6hl5HNdgok0</a:t>
            </a:r>
            <a:endParaRPr lang="pt-BR" sz="2000" dirty="0">
              <a:solidFill>
                <a:schemeClr val="accent6"/>
              </a:solidFill>
              <a:latin typeface="Lucida Sans Unicode" panose="020B0602030504020204" pitchFamily="34" charset="0"/>
              <a:cs typeface="Lucida Sans Unicode" panose="020B0602030504020204" pitchFamily="34" charset="0"/>
            </a:endParaRPr>
          </a:p>
        </p:txBody>
      </p:sp>
      <p:sp>
        <p:nvSpPr>
          <p:cNvPr id="4" name="CaixaDeTexto 3"/>
          <p:cNvSpPr txBox="1"/>
          <p:nvPr/>
        </p:nvSpPr>
        <p:spPr>
          <a:xfrm>
            <a:off x="3355382" y="2882685"/>
            <a:ext cx="5532895" cy="400110"/>
          </a:xfrm>
          <a:prstGeom prst="rect">
            <a:avLst/>
          </a:prstGeom>
          <a:noFill/>
        </p:spPr>
        <p:txBody>
          <a:bodyPr wrap="square" rtlCol="0">
            <a:spAutoFit/>
          </a:bodyPr>
          <a:lstStyle/>
          <a:p>
            <a:r>
              <a:rPr lang="pt-BR" sz="2000" dirty="0">
                <a:solidFill>
                  <a:schemeClr val="accent6"/>
                </a:solidFill>
                <a:latin typeface="Lucida Sans Unicode" panose="020B0602030504020204" pitchFamily="34" charset="0"/>
                <a:cs typeface="Lucida Sans Unicode" panose="020B0602030504020204" pitchFamily="34" charset="0"/>
              </a:rPr>
              <a:t>00:15:13 </a:t>
            </a:r>
            <a:r>
              <a:rPr lang="pt-BR" sz="2000" b="1" dirty="0">
                <a:solidFill>
                  <a:schemeClr val="accent6"/>
                </a:solidFill>
                <a:latin typeface="Lucida Sans Unicode" panose="020B0602030504020204" pitchFamily="34" charset="0"/>
                <a:cs typeface="Lucida Sans Unicode" panose="020B0602030504020204" pitchFamily="34" charset="0"/>
              </a:rPr>
              <a:t>A&amp;E MUNDO – LOGÍSTICA FEDEX</a:t>
            </a:r>
            <a:endParaRPr lang="pt-BR" sz="2000" dirty="0">
              <a:solidFill>
                <a:schemeClr val="accent6"/>
              </a:solidFill>
              <a:latin typeface="Lucida Sans Unicode" panose="020B0602030504020204" pitchFamily="34" charset="0"/>
              <a:cs typeface="Lucida Sans Unicode" panose="020B0602030504020204" pitchFamily="34" charset="0"/>
            </a:endParaRPr>
          </a:p>
        </p:txBody>
      </p:sp>
      <p:sp>
        <p:nvSpPr>
          <p:cNvPr id="5" name="CaixaDeTexto 4"/>
          <p:cNvSpPr txBox="1"/>
          <p:nvPr/>
        </p:nvSpPr>
        <p:spPr>
          <a:xfrm>
            <a:off x="2926597" y="216976"/>
            <a:ext cx="6338807" cy="461665"/>
          </a:xfrm>
          <a:prstGeom prst="rect">
            <a:avLst/>
          </a:prstGeom>
          <a:noFill/>
        </p:spPr>
        <p:txBody>
          <a:bodyPr wrap="square" rtlCol="0">
            <a:spAutoFit/>
          </a:body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CADEIA DE SUPRIMENTOS</a:t>
            </a:r>
          </a:p>
        </p:txBody>
      </p:sp>
      <p:sp>
        <p:nvSpPr>
          <p:cNvPr id="6" name="Título 1"/>
          <p:cNvSpPr txBox="1">
            <a:spLocks/>
          </p:cNvSpPr>
          <p:nvPr/>
        </p:nvSpPr>
        <p:spPr>
          <a:xfrm>
            <a:off x="2735495" y="952253"/>
            <a:ext cx="6721011" cy="61114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sz="2000" b="1" dirty="0">
                <a:solidFill>
                  <a:schemeClr val="accent6"/>
                </a:solidFill>
                <a:latin typeface="Lucida Sans Unicode" panose="020B0602030504020204" pitchFamily="34" charset="0"/>
                <a:cs typeface="Lucida Sans Unicode" panose="020B0602030504020204" pitchFamily="34" charset="0"/>
              </a:rPr>
              <a:t>A LOGÍSTICA DA FEDEX</a:t>
            </a:r>
          </a:p>
        </p:txBody>
      </p:sp>
    </p:spTree>
    <p:extLst>
      <p:ext uri="{BB962C8B-B14F-4D97-AF65-F5344CB8AC3E}">
        <p14:creationId xmlns:p14="http://schemas.microsoft.com/office/powerpoint/2010/main" val="2518746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4905" y="207819"/>
            <a:ext cx="10602191" cy="56884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2025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32"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amond(out)">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aixaDeTexto 2"/>
          <p:cNvSpPr txBox="1"/>
          <p:nvPr/>
        </p:nvSpPr>
        <p:spPr>
          <a:xfrm>
            <a:off x="640080" y="1341120"/>
            <a:ext cx="3947160" cy="338554"/>
          </a:xfrm>
          <a:prstGeom prst="rect">
            <a:avLst/>
          </a:prstGeom>
          <a:noFill/>
        </p:spPr>
        <p:txBody>
          <a:bodyPr wrap="square" rtlCol="0">
            <a:spAutoFit/>
          </a:bodyPr>
          <a:lstStyle/>
          <a:p>
            <a:r>
              <a:rPr lang="pt-BR" sz="1600" b="1" dirty="0">
                <a:solidFill>
                  <a:schemeClr val="accent6"/>
                </a:solidFill>
                <a:latin typeface="Lucida Sans Unicode" panose="020B0602030504020204" pitchFamily="34" charset="0"/>
                <a:cs typeface="Lucida Sans Unicode" panose="020B0602030504020204" pitchFamily="34" charset="0"/>
              </a:rPr>
              <a:t>Fragmentação de atividades até 1960</a:t>
            </a:r>
          </a:p>
        </p:txBody>
      </p:sp>
      <p:sp>
        <p:nvSpPr>
          <p:cNvPr id="4" name="CaixaDeTexto 3"/>
          <p:cNvSpPr txBox="1"/>
          <p:nvPr/>
        </p:nvSpPr>
        <p:spPr>
          <a:xfrm>
            <a:off x="5569525" y="1341120"/>
            <a:ext cx="4114800" cy="338554"/>
          </a:xfrm>
          <a:prstGeom prst="rect">
            <a:avLst/>
          </a:prstGeom>
          <a:noFill/>
        </p:spPr>
        <p:txBody>
          <a:bodyPr wrap="square" rtlCol="0">
            <a:spAutoFit/>
          </a:bodyPr>
          <a:lstStyle/>
          <a:p>
            <a:r>
              <a:rPr lang="pt-BR" sz="1600" b="1" dirty="0">
                <a:solidFill>
                  <a:schemeClr val="accent6"/>
                </a:solidFill>
                <a:latin typeface="Lucida Sans Unicode" panose="020B0602030504020204" pitchFamily="34" charset="0"/>
                <a:cs typeface="Lucida Sans Unicode" panose="020B0602030504020204" pitchFamily="34" charset="0"/>
              </a:rPr>
              <a:t>Integração de atividades - 1960/2000</a:t>
            </a:r>
          </a:p>
        </p:txBody>
      </p:sp>
      <p:sp>
        <p:nvSpPr>
          <p:cNvPr id="5" name="Retângulo 4"/>
          <p:cNvSpPr/>
          <p:nvPr/>
        </p:nvSpPr>
        <p:spPr>
          <a:xfrm>
            <a:off x="10321858" y="1341120"/>
            <a:ext cx="867545" cy="338554"/>
          </a:xfrm>
          <a:prstGeom prst="rect">
            <a:avLst/>
          </a:prstGeom>
        </p:spPr>
        <p:txBody>
          <a:bodyPr wrap="none">
            <a:spAutoFit/>
          </a:bodyPr>
          <a:lstStyle/>
          <a:p>
            <a:r>
              <a:rPr lang="pt-BR" sz="1600" b="1" dirty="0">
                <a:solidFill>
                  <a:schemeClr val="accent6"/>
                </a:solidFill>
                <a:latin typeface="Lucida Sans Unicode" panose="020B0602030504020204" pitchFamily="34" charset="0"/>
                <a:cs typeface="Lucida Sans Unicode" panose="020B0602030504020204" pitchFamily="34" charset="0"/>
              </a:rPr>
              <a:t>2000+</a:t>
            </a:r>
          </a:p>
        </p:txBody>
      </p:sp>
      <p:sp>
        <p:nvSpPr>
          <p:cNvPr id="6" name="CaixaDeTexto 5"/>
          <p:cNvSpPr txBox="1"/>
          <p:nvPr/>
        </p:nvSpPr>
        <p:spPr>
          <a:xfrm>
            <a:off x="640080" y="1662290"/>
            <a:ext cx="3307080" cy="338554"/>
          </a:xfrm>
          <a:prstGeom prst="rect">
            <a:avLst/>
          </a:prstGeom>
          <a:noFill/>
        </p:spPr>
        <p:txBody>
          <a:bodyPr wrap="square" rtlCol="0">
            <a:spAutoFit/>
          </a:bodyPr>
          <a:lstStyle/>
          <a:p>
            <a:r>
              <a:rPr lang="pt-BR" sz="1600" dirty="0">
                <a:solidFill>
                  <a:schemeClr val="accent6"/>
                </a:solidFill>
                <a:latin typeface="Lucida Sans Unicode" panose="020B0602030504020204" pitchFamily="34" charset="0"/>
                <a:cs typeface="Lucida Sans Unicode" panose="020B0602030504020204" pitchFamily="34" charset="0"/>
              </a:rPr>
              <a:t>Previsão de demanda</a:t>
            </a:r>
          </a:p>
        </p:txBody>
      </p:sp>
      <p:sp>
        <p:nvSpPr>
          <p:cNvPr id="7" name="CaixaDeTexto 6"/>
          <p:cNvSpPr txBox="1"/>
          <p:nvPr/>
        </p:nvSpPr>
        <p:spPr>
          <a:xfrm>
            <a:off x="640080" y="1909774"/>
            <a:ext cx="3307080" cy="338554"/>
          </a:xfrm>
          <a:prstGeom prst="rect">
            <a:avLst/>
          </a:prstGeom>
          <a:noFill/>
        </p:spPr>
        <p:txBody>
          <a:bodyPr wrap="square" rtlCol="0">
            <a:spAutoFit/>
          </a:bodyPr>
          <a:lstStyle/>
          <a:p>
            <a:r>
              <a:rPr lang="pt-BR" sz="1600" dirty="0">
                <a:solidFill>
                  <a:schemeClr val="accent6"/>
                </a:solidFill>
                <a:latin typeface="Lucida Sans Unicode" panose="020B0602030504020204" pitchFamily="34" charset="0"/>
                <a:cs typeface="Lucida Sans Unicode" panose="020B0602030504020204" pitchFamily="34" charset="0"/>
              </a:rPr>
              <a:t>Compras</a:t>
            </a:r>
          </a:p>
        </p:txBody>
      </p:sp>
      <p:sp>
        <p:nvSpPr>
          <p:cNvPr id="8" name="CaixaDeTexto 7"/>
          <p:cNvSpPr txBox="1"/>
          <p:nvPr/>
        </p:nvSpPr>
        <p:spPr>
          <a:xfrm>
            <a:off x="640080" y="2157258"/>
            <a:ext cx="3307080" cy="338554"/>
          </a:xfrm>
          <a:prstGeom prst="rect">
            <a:avLst/>
          </a:prstGeom>
          <a:noFill/>
        </p:spPr>
        <p:txBody>
          <a:bodyPr wrap="square" rtlCol="0">
            <a:spAutoFit/>
          </a:bodyPr>
          <a:lstStyle/>
          <a:p>
            <a:r>
              <a:rPr lang="pt-BR" sz="1600" dirty="0">
                <a:solidFill>
                  <a:schemeClr val="accent6"/>
                </a:solidFill>
                <a:latin typeface="Lucida Sans Unicode" panose="020B0602030504020204" pitchFamily="34" charset="0"/>
                <a:cs typeface="Lucida Sans Unicode" panose="020B0602030504020204" pitchFamily="34" charset="0"/>
              </a:rPr>
              <a:t>Planejamento de necessidades</a:t>
            </a:r>
          </a:p>
        </p:txBody>
      </p:sp>
      <p:sp>
        <p:nvSpPr>
          <p:cNvPr id="9" name="CaixaDeTexto 8"/>
          <p:cNvSpPr txBox="1"/>
          <p:nvPr/>
        </p:nvSpPr>
        <p:spPr>
          <a:xfrm>
            <a:off x="640080" y="2404742"/>
            <a:ext cx="3307080" cy="338554"/>
          </a:xfrm>
          <a:prstGeom prst="rect">
            <a:avLst/>
          </a:prstGeom>
          <a:noFill/>
        </p:spPr>
        <p:txBody>
          <a:bodyPr wrap="square" rtlCol="0">
            <a:spAutoFit/>
          </a:bodyPr>
          <a:lstStyle/>
          <a:p>
            <a:r>
              <a:rPr lang="pt-BR" sz="1600" dirty="0">
                <a:solidFill>
                  <a:schemeClr val="accent6"/>
                </a:solidFill>
                <a:latin typeface="Lucida Sans Unicode" panose="020B0602030504020204" pitchFamily="34" charset="0"/>
                <a:cs typeface="Lucida Sans Unicode" panose="020B0602030504020204" pitchFamily="34" charset="0"/>
              </a:rPr>
              <a:t>Planejamento da produção</a:t>
            </a:r>
          </a:p>
        </p:txBody>
      </p:sp>
      <p:sp>
        <p:nvSpPr>
          <p:cNvPr id="10" name="CaixaDeTexto 9"/>
          <p:cNvSpPr txBox="1"/>
          <p:nvPr/>
        </p:nvSpPr>
        <p:spPr>
          <a:xfrm>
            <a:off x="640080" y="2652226"/>
            <a:ext cx="3307080" cy="338554"/>
          </a:xfrm>
          <a:prstGeom prst="rect">
            <a:avLst/>
          </a:prstGeom>
          <a:noFill/>
        </p:spPr>
        <p:txBody>
          <a:bodyPr wrap="square" rtlCol="0">
            <a:spAutoFit/>
          </a:bodyPr>
          <a:lstStyle/>
          <a:p>
            <a:r>
              <a:rPr lang="pt-BR" sz="1600" dirty="0">
                <a:solidFill>
                  <a:schemeClr val="accent6"/>
                </a:solidFill>
                <a:latin typeface="Lucida Sans Unicode" panose="020B0602030504020204" pitchFamily="34" charset="0"/>
                <a:cs typeface="Lucida Sans Unicode" panose="020B0602030504020204" pitchFamily="34" charset="0"/>
              </a:rPr>
              <a:t>Estoque de fabricação</a:t>
            </a:r>
          </a:p>
        </p:txBody>
      </p:sp>
      <p:sp>
        <p:nvSpPr>
          <p:cNvPr id="11" name="CaixaDeTexto 10"/>
          <p:cNvSpPr txBox="1"/>
          <p:nvPr/>
        </p:nvSpPr>
        <p:spPr>
          <a:xfrm>
            <a:off x="640080" y="2899710"/>
            <a:ext cx="3307080" cy="338554"/>
          </a:xfrm>
          <a:prstGeom prst="rect">
            <a:avLst/>
          </a:prstGeom>
          <a:noFill/>
        </p:spPr>
        <p:txBody>
          <a:bodyPr wrap="square" rtlCol="0">
            <a:spAutoFit/>
          </a:bodyPr>
          <a:lstStyle/>
          <a:p>
            <a:r>
              <a:rPr lang="pt-BR" sz="1600" dirty="0">
                <a:solidFill>
                  <a:schemeClr val="accent6"/>
                </a:solidFill>
                <a:latin typeface="Lucida Sans Unicode" panose="020B0602030504020204" pitchFamily="34" charset="0"/>
                <a:cs typeface="Lucida Sans Unicode" panose="020B0602030504020204" pitchFamily="34" charset="0"/>
              </a:rPr>
              <a:t>Armazenagem</a:t>
            </a:r>
          </a:p>
        </p:txBody>
      </p:sp>
      <p:sp>
        <p:nvSpPr>
          <p:cNvPr id="12" name="CaixaDeTexto 11"/>
          <p:cNvSpPr txBox="1"/>
          <p:nvPr/>
        </p:nvSpPr>
        <p:spPr>
          <a:xfrm>
            <a:off x="640080" y="3147194"/>
            <a:ext cx="3307080" cy="338554"/>
          </a:xfrm>
          <a:prstGeom prst="rect">
            <a:avLst/>
          </a:prstGeom>
          <a:noFill/>
        </p:spPr>
        <p:txBody>
          <a:bodyPr wrap="square" rtlCol="0">
            <a:spAutoFit/>
          </a:bodyPr>
          <a:lstStyle/>
          <a:p>
            <a:r>
              <a:rPr lang="pt-BR" sz="1600" dirty="0">
                <a:solidFill>
                  <a:schemeClr val="accent6"/>
                </a:solidFill>
                <a:latin typeface="Lucida Sans Unicode" panose="020B0602030504020204" pitchFamily="34" charset="0"/>
                <a:cs typeface="Lucida Sans Unicode" panose="020B0602030504020204" pitchFamily="34" charset="0"/>
              </a:rPr>
              <a:t>Manuseio de Materiais</a:t>
            </a:r>
          </a:p>
        </p:txBody>
      </p:sp>
      <p:sp>
        <p:nvSpPr>
          <p:cNvPr id="13" name="CaixaDeTexto 12"/>
          <p:cNvSpPr txBox="1"/>
          <p:nvPr/>
        </p:nvSpPr>
        <p:spPr>
          <a:xfrm>
            <a:off x="640080" y="3394678"/>
            <a:ext cx="3307080" cy="338554"/>
          </a:xfrm>
          <a:prstGeom prst="rect">
            <a:avLst/>
          </a:prstGeom>
          <a:noFill/>
        </p:spPr>
        <p:txBody>
          <a:bodyPr wrap="square" rtlCol="0">
            <a:spAutoFit/>
          </a:bodyPr>
          <a:lstStyle/>
          <a:p>
            <a:r>
              <a:rPr lang="pt-BR" sz="1600" dirty="0">
                <a:solidFill>
                  <a:schemeClr val="accent6"/>
                </a:solidFill>
                <a:latin typeface="Lucida Sans Unicode" panose="020B0602030504020204" pitchFamily="34" charset="0"/>
                <a:cs typeface="Lucida Sans Unicode" panose="020B0602030504020204" pitchFamily="34" charset="0"/>
              </a:rPr>
              <a:t>Embalagem</a:t>
            </a:r>
          </a:p>
        </p:txBody>
      </p:sp>
      <p:sp>
        <p:nvSpPr>
          <p:cNvPr id="14" name="CaixaDeTexto 13"/>
          <p:cNvSpPr txBox="1"/>
          <p:nvPr/>
        </p:nvSpPr>
        <p:spPr>
          <a:xfrm>
            <a:off x="640080" y="3642162"/>
            <a:ext cx="3307080" cy="338554"/>
          </a:xfrm>
          <a:prstGeom prst="rect">
            <a:avLst/>
          </a:prstGeom>
          <a:noFill/>
        </p:spPr>
        <p:txBody>
          <a:bodyPr wrap="square" rtlCol="0">
            <a:spAutoFit/>
          </a:bodyPr>
          <a:lstStyle/>
          <a:p>
            <a:r>
              <a:rPr lang="pt-BR" sz="1600" dirty="0">
                <a:solidFill>
                  <a:schemeClr val="accent6"/>
                </a:solidFill>
                <a:latin typeface="Lucida Sans Unicode" panose="020B0602030504020204" pitchFamily="34" charset="0"/>
                <a:cs typeface="Lucida Sans Unicode" panose="020B0602030504020204" pitchFamily="34" charset="0"/>
              </a:rPr>
              <a:t>Estoque de produtos acabados</a:t>
            </a:r>
          </a:p>
        </p:txBody>
      </p:sp>
      <p:sp>
        <p:nvSpPr>
          <p:cNvPr id="15" name="CaixaDeTexto 14"/>
          <p:cNvSpPr txBox="1"/>
          <p:nvPr/>
        </p:nvSpPr>
        <p:spPr>
          <a:xfrm>
            <a:off x="640080" y="3889646"/>
            <a:ext cx="3307080" cy="338554"/>
          </a:xfrm>
          <a:prstGeom prst="rect">
            <a:avLst/>
          </a:prstGeom>
          <a:noFill/>
        </p:spPr>
        <p:txBody>
          <a:bodyPr wrap="square" rtlCol="0">
            <a:spAutoFit/>
          </a:bodyPr>
          <a:lstStyle/>
          <a:p>
            <a:r>
              <a:rPr lang="pt-BR" sz="1600" dirty="0">
                <a:solidFill>
                  <a:schemeClr val="accent6"/>
                </a:solidFill>
                <a:latin typeface="Lucida Sans Unicode" panose="020B0602030504020204" pitchFamily="34" charset="0"/>
                <a:cs typeface="Lucida Sans Unicode" panose="020B0602030504020204" pitchFamily="34" charset="0"/>
              </a:rPr>
              <a:t>Planejamento da distribuição</a:t>
            </a:r>
          </a:p>
        </p:txBody>
      </p:sp>
      <p:sp>
        <p:nvSpPr>
          <p:cNvPr id="16" name="CaixaDeTexto 15"/>
          <p:cNvSpPr txBox="1"/>
          <p:nvPr/>
        </p:nvSpPr>
        <p:spPr>
          <a:xfrm>
            <a:off x="640080" y="4137130"/>
            <a:ext cx="3307080" cy="338554"/>
          </a:xfrm>
          <a:prstGeom prst="rect">
            <a:avLst/>
          </a:prstGeom>
          <a:noFill/>
        </p:spPr>
        <p:txBody>
          <a:bodyPr wrap="square" rtlCol="0">
            <a:spAutoFit/>
          </a:bodyPr>
          <a:lstStyle/>
          <a:p>
            <a:r>
              <a:rPr lang="pt-BR" sz="1600" dirty="0">
                <a:solidFill>
                  <a:schemeClr val="accent6"/>
                </a:solidFill>
                <a:latin typeface="Lucida Sans Unicode" panose="020B0602030504020204" pitchFamily="34" charset="0"/>
                <a:cs typeface="Lucida Sans Unicode" panose="020B0602030504020204" pitchFamily="34" charset="0"/>
              </a:rPr>
              <a:t>Processamento de pedidos</a:t>
            </a:r>
          </a:p>
        </p:txBody>
      </p:sp>
      <p:sp>
        <p:nvSpPr>
          <p:cNvPr id="17" name="CaixaDeTexto 16"/>
          <p:cNvSpPr txBox="1"/>
          <p:nvPr/>
        </p:nvSpPr>
        <p:spPr>
          <a:xfrm>
            <a:off x="640080" y="4384614"/>
            <a:ext cx="3307080" cy="338554"/>
          </a:xfrm>
          <a:prstGeom prst="rect">
            <a:avLst/>
          </a:prstGeom>
          <a:noFill/>
        </p:spPr>
        <p:txBody>
          <a:bodyPr wrap="square" rtlCol="0">
            <a:spAutoFit/>
          </a:bodyPr>
          <a:lstStyle/>
          <a:p>
            <a:r>
              <a:rPr lang="pt-BR" sz="1600" dirty="0">
                <a:solidFill>
                  <a:schemeClr val="accent6"/>
                </a:solidFill>
                <a:latin typeface="Lucida Sans Unicode" panose="020B0602030504020204" pitchFamily="34" charset="0"/>
                <a:cs typeface="Lucida Sans Unicode" panose="020B0602030504020204" pitchFamily="34" charset="0"/>
              </a:rPr>
              <a:t>Transporte</a:t>
            </a:r>
          </a:p>
        </p:txBody>
      </p:sp>
      <p:sp>
        <p:nvSpPr>
          <p:cNvPr id="18" name="CaixaDeTexto 17"/>
          <p:cNvSpPr txBox="1"/>
          <p:nvPr/>
        </p:nvSpPr>
        <p:spPr>
          <a:xfrm>
            <a:off x="640080" y="4632098"/>
            <a:ext cx="3307080" cy="338554"/>
          </a:xfrm>
          <a:prstGeom prst="rect">
            <a:avLst/>
          </a:prstGeom>
          <a:noFill/>
        </p:spPr>
        <p:txBody>
          <a:bodyPr wrap="square" rtlCol="0">
            <a:spAutoFit/>
          </a:bodyPr>
          <a:lstStyle/>
          <a:p>
            <a:r>
              <a:rPr lang="pt-BR" sz="1600" dirty="0">
                <a:solidFill>
                  <a:schemeClr val="accent6"/>
                </a:solidFill>
                <a:latin typeface="Lucida Sans Unicode" panose="020B0602030504020204" pitchFamily="34" charset="0"/>
                <a:cs typeface="Lucida Sans Unicode" panose="020B0602030504020204" pitchFamily="34" charset="0"/>
              </a:rPr>
              <a:t>Serviços ao consumidor</a:t>
            </a:r>
          </a:p>
        </p:txBody>
      </p:sp>
      <p:sp>
        <p:nvSpPr>
          <p:cNvPr id="19" name="CaixaDeTexto 18"/>
          <p:cNvSpPr txBox="1"/>
          <p:nvPr/>
        </p:nvSpPr>
        <p:spPr>
          <a:xfrm>
            <a:off x="640080" y="4879582"/>
            <a:ext cx="3307080" cy="338554"/>
          </a:xfrm>
          <a:prstGeom prst="rect">
            <a:avLst/>
          </a:prstGeom>
          <a:noFill/>
        </p:spPr>
        <p:txBody>
          <a:bodyPr wrap="square" rtlCol="0">
            <a:spAutoFit/>
          </a:bodyPr>
          <a:lstStyle/>
          <a:p>
            <a:r>
              <a:rPr lang="pt-BR" sz="1600" dirty="0">
                <a:solidFill>
                  <a:schemeClr val="accent6"/>
                </a:solidFill>
                <a:latin typeface="Lucida Sans Unicode" panose="020B0602030504020204" pitchFamily="34" charset="0"/>
                <a:cs typeface="Lucida Sans Unicode" panose="020B0602030504020204" pitchFamily="34" charset="0"/>
              </a:rPr>
              <a:t>Planejamento estratégico</a:t>
            </a:r>
          </a:p>
        </p:txBody>
      </p:sp>
      <p:sp>
        <p:nvSpPr>
          <p:cNvPr id="20" name="CaixaDeTexto 19"/>
          <p:cNvSpPr txBox="1"/>
          <p:nvPr/>
        </p:nvSpPr>
        <p:spPr>
          <a:xfrm>
            <a:off x="640080" y="5127066"/>
            <a:ext cx="3307080" cy="338554"/>
          </a:xfrm>
          <a:prstGeom prst="rect">
            <a:avLst/>
          </a:prstGeom>
          <a:noFill/>
        </p:spPr>
        <p:txBody>
          <a:bodyPr wrap="square" rtlCol="0">
            <a:spAutoFit/>
          </a:bodyPr>
          <a:lstStyle/>
          <a:p>
            <a:r>
              <a:rPr lang="pt-BR" sz="1600" dirty="0">
                <a:solidFill>
                  <a:schemeClr val="accent6"/>
                </a:solidFill>
                <a:latin typeface="Lucida Sans Unicode" panose="020B0602030504020204" pitchFamily="34" charset="0"/>
                <a:cs typeface="Lucida Sans Unicode" panose="020B0602030504020204" pitchFamily="34" charset="0"/>
              </a:rPr>
              <a:t>Serviços de informação</a:t>
            </a:r>
          </a:p>
        </p:txBody>
      </p:sp>
      <p:sp>
        <p:nvSpPr>
          <p:cNvPr id="21" name="CaixaDeTexto 20"/>
          <p:cNvSpPr txBox="1"/>
          <p:nvPr/>
        </p:nvSpPr>
        <p:spPr>
          <a:xfrm>
            <a:off x="640080" y="5374550"/>
            <a:ext cx="3307080" cy="338554"/>
          </a:xfrm>
          <a:prstGeom prst="rect">
            <a:avLst/>
          </a:prstGeom>
          <a:noFill/>
        </p:spPr>
        <p:txBody>
          <a:bodyPr wrap="square" rtlCol="0">
            <a:spAutoFit/>
          </a:bodyPr>
          <a:lstStyle/>
          <a:p>
            <a:r>
              <a:rPr lang="pt-BR" sz="1600" i="1" dirty="0">
                <a:solidFill>
                  <a:schemeClr val="accent6"/>
                </a:solidFill>
                <a:latin typeface="Lucida Sans Unicode" panose="020B0602030504020204" pitchFamily="34" charset="0"/>
                <a:cs typeface="Lucida Sans Unicode" panose="020B0602030504020204" pitchFamily="34" charset="0"/>
              </a:rPr>
              <a:t>Marketing</a:t>
            </a:r>
            <a:r>
              <a:rPr lang="pt-BR" sz="1600" dirty="0">
                <a:solidFill>
                  <a:schemeClr val="accent6"/>
                </a:solidFill>
                <a:latin typeface="Lucida Sans Unicode" panose="020B0602030504020204" pitchFamily="34" charset="0"/>
                <a:cs typeface="Lucida Sans Unicode" panose="020B0602030504020204" pitchFamily="34" charset="0"/>
              </a:rPr>
              <a:t>/Vendas</a:t>
            </a:r>
          </a:p>
        </p:txBody>
      </p:sp>
      <p:sp>
        <p:nvSpPr>
          <p:cNvPr id="22" name="CaixaDeTexto 21"/>
          <p:cNvSpPr txBox="1"/>
          <p:nvPr/>
        </p:nvSpPr>
        <p:spPr>
          <a:xfrm>
            <a:off x="640080" y="5622039"/>
            <a:ext cx="3307080" cy="338554"/>
          </a:xfrm>
          <a:prstGeom prst="rect">
            <a:avLst/>
          </a:prstGeom>
          <a:noFill/>
        </p:spPr>
        <p:txBody>
          <a:bodyPr wrap="square" rtlCol="0">
            <a:spAutoFit/>
          </a:bodyPr>
          <a:lstStyle/>
          <a:p>
            <a:r>
              <a:rPr lang="pt-BR" sz="1600" dirty="0">
                <a:solidFill>
                  <a:schemeClr val="accent6"/>
                </a:solidFill>
                <a:latin typeface="Lucida Sans Unicode" panose="020B0602030504020204" pitchFamily="34" charset="0"/>
                <a:cs typeface="Lucida Sans Unicode" panose="020B0602030504020204" pitchFamily="34" charset="0"/>
              </a:rPr>
              <a:t>Financeiro</a:t>
            </a:r>
          </a:p>
        </p:txBody>
      </p:sp>
      <p:cxnSp>
        <p:nvCxnSpPr>
          <p:cNvPr id="44" name="Conector reto 43"/>
          <p:cNvCxnSpPr/>
          <p:nvPr/>
        </p:nvCxnSpPr>
        <p:spPr>
          <a:xfrm>
            <a:off x="3830320" y="3289064"/>
            <a:ext cx="179578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Conector reto 45"/>
          <p:cNvCxnSpPr/>
          <p:nvPr/>
        </p:nvCxnSpPr>
        <p:spPr>
          <a:xfrm>
            <a:off x="3830320" y="2794096"/>
            <a:ext cx="378968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Conector reto 46"/>
          <p:cNvCxnSpPr/>
          <p:nvPr/>
        </p:nvCxnSpPr>
        <p:spPr>
          <a:xfrm>
            <a:off x="3830320" y="3784032"/>
            <a:ext cx="378968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6" name="Grupo 145"/>
          <p:cNvGrpSpPr/>
          <p:nvPr/>
        </p:nvGrpSpPr>
        <p:grpSpPr>
          <a:xfrm>
            <a:off x="3830320" y="2535919"/>
            <a:ext cx="855980" cy="258177"/>
            <a:chOff x="3830320" y="2535919"/>
            <a:chExt cx="855980" cy="258177"/>
          </a:xfrm>
        </p:grpSpPr>
        <p:cxnSp>
          <p:nvCxnSpPr>
            <p:cNvPr id="37" name="Conector reto 36"/>
            <p:cNvCxnSpPr/>
            <p:nvPr/>
          </p:nvCxnSpPr>
          <p:spPr>
            <a:xfrm>
              <a:off x="3830320" y="2535919"/>
              <a:ext cx="68834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Conector reto 48"/>
            <p:cNvCxnSpPr/>
            <p:nvPr/>
          </p:nvCxnSpPr>
          <p:spPr>
            <a:xfrm>
              <a:off x="4518660" y="2535919"/>
              <a:ext cx="167640" cy="258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5" name="Grupo 144"/>
          <p:cNvGrpSpPr/>
          <p:nvPr/>
        </p:nvGrpSpPr>
        <p:grpSpPr>
          <a:xfrm>
            <a:off x="3830320" y="2288435"/>
            <a:ext cx="1330960" cy="503655"/>
            <a:chOff x="3830320" y="2288435"/>
            <a:chExt cx="1330960" cy="503655"/>
          </a:xfrm>
        </p:grpSpPr>
        <p:cxnSp>
          <p:nvCxnSpPr>
            <p:cNvPr id="31" name="Conector reto 30"/>
            <p:cNvCxnSpPr/>
            <p:nvPr/>
          </p:nvCxnSpPr>
          <p:spPr>
            <a:xfrm>
              <a:off x="3830320" y="2288435"/>
              <a:ext cx="104648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Conector reto 52"/>
            <p:cNvCxnSpPr/>
            <p:nvPr/>
          </p:nvCxnSpPr>
          <p:spPr>
            <a:xfrm>
              <a:off x="4876800" y="2288435"/>
              <a:ext cx="284480" cy="50365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4" name="Grupo 143"/>
          <p:cNvGrpSpPr/>
          <p:nvPr/>
        </p:nvGrpSpPr>
        <p:grpSpPr>
          <a:xfrm>
            <a:off x="3843020" y="2040951"/>
            <a:ext cx="1827530" cy="752061"/>
            <a:chOff x="3843020" y="2040951"/>
            <a:chExt cx="1827530" cy="752061"/>
          </a:xfrm>
        </p:grpSpPr>
        <p:cxnSp>
          <p:nvCxnSpPr>
            <p:cNvPr id="28" name="Conector reto 27"/>
            <p:cNvCxnSpPr/>
            <p:nvPr/>
          </p:nvCxnSpPr>
          <p:spPr>
            <a:xfrm>
              <a:off x="3843020" y="2040951"/>
              <a:ext cx="137668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Conector reto 56"/>
            <p:cNvCxnSpPr/>
            <p:nvPr/>
          </p:nvCxnSpPr>
          <p:spPr>
            <a:xfrm>
              <a:off x="5219700" y="2051217"/>
              <a:ext cx="450850" cy="74179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3" name="Grupo 142"/>
          <p:cNvGrpSpPr/>
          <p:nvPr/>
        </p:nvGrpSpPr>
        <p:grpSpPr>
          <a:xfrm>
            <a:off x="3830320" y="1801821"/>
            <a:ext cx="2265679" cy="990269"/>
            <a:chOff x="3830320" y="1801821"/>
            <a:chExt cx="2265679" cy="990269"/>
          </a:xfrm>
        </p:grpSpPr>
        <p:cxnSp>
          <p:nvCxnSpPr>
            <p:cNvPr id="24" name="Conector reto 23"/>
            <p:cNvCxnSpPr/>
            <p:nvPr/>
          </p:nvCxnSpPr>
          <p:spPr>
            <a:xfrm>
              <a:off x="3830320" y="1801821"/>
              <a:ext cx="16611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Conector reto 58"/>
            <p:cNvCxnSpPr/>
            <p:nvPr/>
          </p:nvCxnSpPr>
          <p:spPr>
            <a:xfrm>
              <a:off x="5491480" y="1803733"/>
              <a:ext cx="604519" cy="98835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7" name="Grupo 146"/>
          <p:cNvGrpSpPr/>
          <p:nvPr/>
        </p:nvGrpSpPr>
        <p:grpSpPr>
          <a:xfrm>
            <a:off x="3830320" y="3054280"/>
            <a:ext cx="1516380" cy="234784"/>
            <a:chOff x="3830320" y="3054280"/>
            <a:chExt cx="1516380" cy="234784"/>
          </a:xfrm>
        </p:grpSpPr>
        <p:cxnSp>
          <p:nvCxnSpPr>
            <p:cNvPr id="40" name="Conector reto 39"/>
            <p:cNvCxnSpPr/>
            <p:nvPr/>
          </p:nvCxnSpPr>
          <p:spPr>
            <a:xfrm>
              <a:off x="3830320" y="3054280"/>
              <a:ext cx="136398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Conector reto 62"/>
            <p:cNvCxnSpPr/>
            <p:nvPr/>
          </p:nvCxnSpPr>
          <p:spPr>
            <a:xfrm>
              <a:off x="5194300" y="3054280"/>
              <a:ext cx="152400" cy="23478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8" name="Conector reto 67"/>
          <p:cNvCxnSpPr/>
          <p:nvPr/>
        </p:nvCxnSpPr>
        <p:spPr>
          <a:xfrm flipV="1">
            <a:off x="5626100" y="2781561"/>
            <a:ext cx="469899" cy="50549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9" name="Grupo 148"/>
          <p:cNvGrpSpPr/>
          <p:nvPr/>
        </p:nvGrpSpPr>
        <p:grpSpPr>
          <a:xfrm>
            <a:off x="3843020" y="3785120"/>
            <a:ext cx="841375" cy="257022"/>
            <a:chOff x="3843020" y="3785120"/>
            <a:chExt cx="841375" cy="257022"/>
          </a:xfrm>
        </p:grpSpPr>
        <p:cxnSp>
          <p:nvCxnSpPr>
            <p:cNvPr id="38" name="Conector reto 37"/>
            <p:cNvCxnSpPr/>
            <p:nvPr/>
          </p:nvCxnSpPr>
          <p:spPr>
            <a:xfrm>
              <a:off x="3843020" y="4042142"/>
              <a:ext cx="68834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Conector reto 69"/>
            <p:cNvCxnSpPr/>
            <p:nvPr/>
          </p:nvCxnSpPr>
          <p:spPr>
            <a:xfrm flipV="1">
              <a:off x="4531360" y="3785120"/>
              <a:ext cx="153035" cy="25274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0" name="Grupo 149"/>
          <p:cNvGrpSpPr/>
          <p:nvPr/>
        </p:nvGrpSpPr>
        <p:grpSpPr>
          <a:xfrm>
            <a:off x="3830320" y="3797064"/>
            <a:ext cx="1330960" cy="496643"/>
            <a:chOff x="3830320" y="3797064"/>
            <a:chExt cx="1330960" cy="496643"/>
          </a:xfrm>
        </p:grpSpPr>
        <p:cxnSp>
          <p:nvCxnSpPr>
            <p:cNvPr id="32" name="Conector reto 31"/>
            <p:cNvCxnSpPr/>
            <p:nvPr/>
          </p:nvCxnSpPr>
          <p:spPr>
            <a:xfrm>
              <a:off x="3830320" y="4293707"/>
              <a:ext cx="104648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Conector reto 71"/>
            <p:cNvCxnSpPr/>
            <p:nvPr/>
          </p:nvCxnSpPr>
          <p:spPr>
            <a:xfrm flipV="1">
              <a:off x="4876800" y="3797064"/>
              <a:ext cx="284480" cy="49555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2" name="Grupo 151"/>
          <p:cNvGrpSpPr/>
          <p:nvPr/>
        </p:nvGrpSpPr>
        <p:grpSpPr>
          <a:xfrm>
            <a:off x="3843020" y="3784032"/>
            <a:ext cx="2265679" cy="1017343"/>
            <a:chOff x="3843020" y="3784032"/>
            <a:chExt cx="2265679" cy="1017343"/>
          </a:xfrm>
        </p:grpSpPr>
        <p:cxnSp>
          <p:nvCxnSpPr>
            <p:cNvPr id="26" name="Conector reto 25"/>
            <p:cNvCxnSpPr/>
            <p:nvPr/>
          </p:nvCxnSpPr>
          <p:spPr>
            <a:xfrm>
              <a:off x="3843020" y="4799796"/>
              <a:ext cx="16611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Conector reto 75"/>
            <p:cNvCxnSpPr/>
            <p:nvPr/>
          </p:nvCxnSpPr>
          <p:spPr>
            <a:xfrm flipV="1">
              <a:off x="5504180" y="3784032"/>
              <a:ext cx="604519" cy="10173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0" name="Conector reto 89"/>
          <p:cNvCxnSpPr/>
          <p:nvPr/>
        </p:nvCxnSpPr>
        <p:spPr>
          <a:xfrm>
            <a:off x="3871323" y="5010759"/>
            <a:ext cx="52793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53" name="Grupo 152"/>
          <p:cNvGrpSpPr/>
          <p:nvPr/>
        </p:nvGrpSpPr>
        <p:grpSpPr>
          <a:xfrm>
            <a:off x="3858260" y="5010759"/>
            <a:ext cx="4447540" cy="247484"/>
            <a:chOff x="3858260" y="5010759"/>
            <a:chExt cx="4447540" cy="247484"/>
          </a:xfrm>
        </p:grpSpPr>
        <p:cxnSp>
          <p:nvCxnSpPr>
            <p:cNvPr id="92" name="Conector reto 91"/>
            <p:cNvCxnSpPr/>
            <p:nvPr/>
          </p:nvCxnSpPr>
          <p:spPr>
            <a:xfrm>
              <a:off x="3858260" y="5258243"/>
              <a:ext cx="435864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Conector reto 99"/>
            <p:cNvCxnSpPr/>
            <p:nvPr/>
          </p:nvCxnSpPr>
          <p:spPr>
            <a:xfrm flipV="1">
              <a:off x="8216900" y="5010759"/>
              <a:ext cx="88900" cy="24748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4" name="Grupo 153"/>
          <p:cNvGrpSpPr/>
          <p:nvPr/>
        </p:nvGrpSpPr>
        <p:grpSpPr>
          <a:xfrm>
            <a:off x="3843020" y="5010759"/>
            <a:ext cx="4869180" cy="507668"/>
            <a:chOff x="3843020" y="5010759"/>
            <a:chExt cx="4869180" cy="507668"/>
          </a:xfrm>
        </p:grpSpPr>
        <p:cxnSp>
          <p:nvCxnSpPr>
            <p:cNvPr id="96" name="Conector reto 95"/>
            <p:cNvCxnSpPr/>
            <p:nvPr/>
          </p:nvCxnSpPr>
          <p:spPr>
            <a:xfrm>
              <a:off x="3843020" y="5518427"/>
              <a:ext cx="47078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Conector reto 101"/>
            <p:cNvCxnSpPr/>
            <p:nvPr/>
          </p:nvCxnSpPr>
          <p:spPr>
            <a:xfrm flipV="1">
              <a:off x="8550910" y="5010759"/>
              <a:ext cx="161290" cy="50766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1" name="Grupo 150"/>
          <p:cNvGrpSpPr/>
          <p:nvPr/>
        </p:nvGrpSpPr>
        <p:grpSpPr>
          <a:xfrm>
            <a:off x="3817620" y="3784032"/>
            <a:ext cx="1821180" cy="769859"/>
            <a:chOff x="3817620" y="3784032"/>
            <a:chExt cx="1821180" cy="769859"/>
          </a:xfrm>
        </p:grpSpPr>
        <p:cxnSp>
          <p:nvCxnSpPr>
            <p:cNvPr id="29" name="Conector reto 28"/>
            <p:cNvCxnSpPr/>
            <p:nvPr/>
          </p:nvCxnSpPr>
          <p:spPr>
            <a:xfrm>
              <a:off x="3817620" y="4550142"/>
              <a:ext cx="137668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Conector reto 105"/>
            <p:cNvCxnSpPr/>
            <p:nvPr/>
          </p:nvCxnSpPr>
          <p:spPr>
            <a:xfrm flipV="1">
              <a:off x="5194300" y="3784032"/>
              <a:ext cx="444500" cy="76985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7" name="CaixaDeTexto 106"/>
          <p:cNvSpPr txBox="1"/>
          <p:nvPr/>
        </p:nvSpPr>
        <p:spPr>
          <a:xfrm>
            <a:off x="5834380" y="2022231"/>
            <a:ext cx="2103120" cy="830997"/>
          </a:xfrm>
          <a:prstGeom prst="rect">
            <a:avLst/>
          </a:prstGeom>
          <a:noFill/>
        </p:spPr>
        <p:txBody>
          <a:bodyPr wrap="square" rtlCol="0">
            <a:spAutoFit/>
          </a:bodyPr>
          <a:lstStyle/>
          <a:p>
            <a:pPr algn="ctr"/>
            <a:r>
              <a:rPr lang="pt-BR" sz="1600" dirty="0">
                <a:solidFill>
                  <a:schemeClr val="accent6"/>
                </a:solidFill>
                <a:latin typeface="Lucida Sans Unicode" panose="020B0602030504020204" pitchFamily="34" charset="0"/>
                <a:cs typeface="Lucida Sans Unicode" panose="020B0602030504020204" pitchFamily="34" charset="0"/>
              </a:rPr>
              <a:t>Compras/</a:t>
            </a:r>
          </a:p>
          <a:p>
            <a:pPr algn="ctr"/>
            <a:r>
              <a:rPr lang="pt-BR" sz="1600" dirty="0">
                <a:solidFill>
                  <a:schemeClr val="accent6"/>
                </a:solidFill>
                <a:latin typeface="Lucida Sans Unicode" panose="020B0602030504020204" pitchFamily="34" charset="0"/>
                <a:cs typeface="Lucida Sans Unicode" panose="020B0602030504020204" pitchFamily="34" charset="0"/>
              </a:rPr>
              <a:t>Gerenciamento</a:t>
            </a:r>
          </a:p>
          <a:p>
            <a:pPr algn="ctr"/>
            <a:r>
              <a:rPr lang="pt-BR" sz="1600" dirty="0">
                <a:solidFill>
                  <a:schemeClr val="accent6"/>
                </a:solidFill>
                <a:latin typeface="Lucida Sans Unicode" panose="020B0602030504020204" pitchFamily="34" charset="0"/>
                <a:cs typeface="Lucida Sans Unicode" panose="020B0602030504020204" pitchFamily="34" charset="0"/>
              </a:rPr>
              <a:t> de Materiais</a:t>
            </a:r>
          </a:p>
        </p:txBody>
      </p:sp>
      <p:sp>
        <p:nvSpPr>
          <p:cNvPr id="108" name="CaixaDeTexto 107"/>
          <p:cNvSpPr txBox="1"/>
          <p:nvPr/>
        </p:nvSpPr>
        <p:spPr>
          <a:xfrm>
            <a:off x="7960995" y="2987350"/>
            <a:ext cx="1179830" cy="338554"/>
          </a:xfrm>
          <a:prstGeom prst="rect">
            <a:avLst/>
          </a:prstGeom>
          <a:noFill/>
        </p:spPr>
        <p:txBody>
          <a:bodyPr wrap="square" rtlCol="0">
            <a:spAutoFit/>
          </a:bodyPr>
          <a:lstStyle/>
          <a:p>
            <a:pPr algn="ctr"/>
            <a:r>
              <a:rPr lang="pt-BR" sz="1600" dirty="0">
                <a:solidFill>
                  <a:schemeClr val="accent6"/>
                </a:solidFill>
                <a:latin typeface="Lucida Sans Unicode" panose="020B0602030504020204" pitchFamily="34" charset="0"/>
                <a:cs typeface="Lucida Sans Unicode" panose="020B0602030504020204" pitchFamily="34" charset="0"/>
              </a:rPr>
              <a:t>Logística</a:t>
            </a:r>
          </a:p>
        </p:txBody>
      </p:sp>
      <p:sp>
        <p:nvSpPr>
          <p:cNvPr id="109" name="CaixaDeTexto 108"/>
          <p:cNvSpPr txBox="1"/>
          <p:nvPr/>
        </p:nvSpPr>
        <p:spPr>
          <a:xfrm>
            <a:off x="6113779" y="3762518"/>
            <a:ext cx="1490980" cy="584775"/>
          </a:xfrm>
          <a:prstGeom prst="rect">
            <a:avLst/>
          </a:prstGeom>
          <a:noFill/>
        </p:spPr>
        <p:txBody>
          <a:bodyPr wrap="square" rtlCol="0">
            <a:spAutoFit/>
          </a:bodyPr>
          <a:lstStyle/>
          <a:p>
            <a:pPr algn="ctr"/>
            <a:r>
              <a:rPr lang="pt-BR" sz="1600" dirty="0">
                <a:solidFill>
                  <a:schemeClr val="accent6"/>
                </a:solidFill>
                <a:latin typeface="Lucida Sans Unicode" panose="020B0602030504020204" pitchFamily="34" charset="0"/>
                <a:cs typeface="Lucida Sans Unicode" panose="020B0602030504020204" pitchFamily="34" charset="0"/>
              </a:rPr>
              <a:t>Distribuição</a:t>
            </a:r>
          </a:p>
          <a:p>
            <a:pPr algn="ctr"/>
            <a:r>
              <a:rPr lang="pt-BR" sz="1600" dirty="0">
                <a:solidFill>
                  <a:schemeClr val="accent6"/>
                </a:solidFill>
                <a:latin typeface="Lucida Sans Unicode" panose="020B0602030504020204" pitchFamily="34" charset="0"/>
                <a:cs typeface="Lucida Sans Unicode" panose="020B0602030504020204" pitchFamily="34" charset="0"/>
              </a:rPr>
              <a:t>Física</a:t>
            </a:r>
          </a:p>
        </p:txBody>
      </p:sp>
      <p:sp>
        <p:nvSpPr>
          <p:cNvPr id="110" name="CaixaDeTexto 109"/>
          <p:cNvSpPr txBox="1"/>
          <p:nvPr/>
        </p:nvSpPr>
        <p:spPr>
          <a:xfrm>
            <a:off x="9704071" y="3368533"/>
            <a:ext cx="2103120" cy="830997"/>
          </a:xfrm>
          <a:prstGeom prst="rect">
            <a:avLst/>
          </a:prstGeom>
          <a:noFill/>
          <a:ln>
            <a:solidFill>
              <a:schemeClr val="tx1"/>
            </a:solidFill>
          </a:ln>
        </p:spPr>
        <p:txBody>
          <a:bodyPr wrap="square" rtlCol="0">
            <a:spAutoFit/>
          </a:bodyPr>
          <a:lstStyle/>
          <a:p>
            <a:pPr algn="ctr"/>
            <a:r>
              <a:rPr lang="pt-BR" sz="1600" dirty="0">
                <a:solidFill>
                  <a:schemeClr val="accent6"/>
                </a:solidFill>
                <a:latin typeface="Lucida Sans Unicode" panose="020B0602030504020204" pitchFamily="34" charset="0"/>
                <a:cs typeface="Lucida Sans Unicode" panose="020B0602030504020204" pitchFamily="34" charset="0"/>
              </a:rPr>
              <a:t>Gestão</a:t>
            </a:r>
          </a:p>
          <a:p>
            <a:pPr algn="ctr"/>
            <a:r>
              <a:rPr lang="pt-BR" sz="1600" dirty="0">
                <a:solidFill>
                  <a:schemeClr val="accent6"/>
                </a:solidFill>
                <a:latin typeface="Lucida Sans Unicode" panose="020B0602030504020204" pitchFamily="34" charset="0"/>
                <a:cs typeface="Lucida Sans Unicode" panose="020B0602030504020204" pitchFamily="34" charset="0"/>
              </a:rPr>
              <a:t>da Cadeia de Suprimentos</a:t>
            </a:r>
          </a:p>
        </p:txBody>
      </p:sp>
      <p:grpSp>
        <p:nvGrpSpPr>
          <p:cNvPr id="148" name="Grupo 147"/>
          <p:cNvGrpSpPr/>
          <p:nvPr/>
        </p:nvGrpSpPr>
        <p:grpSpPr>
          <a:xfrm>
            <a:off x="3830320" y="3287897"/>
            <a:ext cx="1521460" cy="240549"/>
            <a:chOff x="3830320" y="3287897"/>
            <a:chExt cx="1521460" cy="240549"/>
          </a:xfrm>
        </p:grpSpPr>
        <p:cxnSp>
          <p:nvCxnSpPr>
            <p:cNvPr id="65" name="Conector reto 64"/>
            <p:cNvCxnSpPr/>
            <p:nvPr/>
          </p:nvCxnSpPr>
          <p:spPr>
            <a:xfrm flipV="1">
              <a:off x="5194300" y="3287897"/>
              <a:ext cx="157480" cy="24054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1" name="Conector reto 120"/>
            <p:cNvCxnSpPr/>
            <p:nvPr/>
          </p:nvCxnSpPr>
          <p:spPr>
            <a:xfrm>
              <a:off x="3830320" y="3525855"/>
              <a:ext cx="136398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7" name="Grupo 156"/>
          <p:cNvGrpSpPr/>
          <p:nvPr/>
        </p:nvGrpSpPr>
        <p:grpSpPr>
          <a:xfrm>
            <a:off x="7620000" y="2804789"/>
            <a:ext cx="1504950" cy="977234"/>
            <a:chOff x="7620000" y="2804789"/>
            <a:chExt cx="1504950" cy="977234"/>
          </a:xfrm>
        </p:grpSpPr>
        <p:grpSp>
          <p:nvGrpSpPr>
            <p:cNvPr id="156" name="Grupo 155"/>
            <p:cNvGrpSpPr/>
            <p:nvPr/>
          </p:nvGrpSpPr>
          <p:grpSpPr>
            <a:xfrm>
              <a:off x="7620000" y="2804789"/>
              <a:ext cx="477520" cy="977234"/>
              <a:chOff x="7620000" y="2804789"/>
              <a:chExt cx="477520" cy="977234"/>
            </a:xfrm>
          </p:grpSpPr>
          <p:cxnSp>
            <p:nvCxnSpPr>
              <p:cNvPr id="78" name="Conector reto 77"/>
              <p:cNvCxnSpPr/>
              <p:nvPr/>
            </p:nvCxnSpPr>
            <p:spPr>
              <a:xfrm>
                <a:off x="7620363" y="2804789"/>
                <a:ext cx="469900" cy="4969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Conector reto 79"/>
              <p:cNvCxnSpPr/>
              <p:nvPr/>
            </p:nvCxnSpPr>
            <p:spPr>
              <a:xfrm flipV="1">
                <a:off x="7620000" y="3291073"/>
                <a:ext cx="477520" cy="4909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37" name="Conector reto 136"/>
            <p:cNvCxnSpPr/>
            <p:nvPr/>
          </p:nvCxnSpPr>
          <p:spPr>
            <a:xfrm>
              <a:off x="8084820" y="3300504"/>
              <a:ext cx="104013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8" name="Grupo 157"/>
          <p:cNvGrpSpPr/>
          <p:nvPr/>
        </p:nvGrpSpPr>
        <p:grpSpPr>
          <a:xfrm>
            <a:off x="3830320" y="3303408"/>
            <a:ext cx="5873751" cy="2462508"/>
            <a:chOff x="3830320" y="3303408"/>
            <a:chExt cx="5873751" cy="2462508"/>
          </a:xfrm>
        </p:grpSpPr>
        <p:grpSp>
          <p:nvGrpSpPr>
            <p:cNvPr id="155" name="Grupo 154"/>
            <p:cNvGrpSpPr/>
            <p:nvPr/>
          </p:nvGrpSpPr>
          <p:grpSpPr>
            <a:xfrm>
              <a:off x="3830320" y="3784032"/>
              <a:ext cx="5626099" cy="1981884"/>
              <a:chOff x="3830320" y="3784032"/>
              <a:chExt cx="5626099" cy="1981884"/>
            </a:xfrm>
          </p:grpSpPr>
          <p:cxnSp>
            <p:nvCxnSpPr>
              <p:cNvPr id="98" name="Conector reto 97"/>
              <p:cNvCxnSpPr/>
              <p:nvPr/>
            </p:nvCxnSpPr>
            <p:spPr>
              <a:xfrm>
                <a:off x="3830320" y="5765916"/>
                <a:ext cx="516128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 name="Conector reto 103"/>
              <p:cNvCxnSpPr/>
              <p:nvPr/>
            </p:nvCxnSpPr>
            <p:spPr>
              <a:xfrm flipV="1">
                <a:off x="8991600" y="3784032"/>
                <a:ext cx="464819" cy="198188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2" name="Conector reto 111"/>
            <p:cNvCxnSpPr>
              <a:endCxn id="110" idx="1"/>
            </p:cNvCxnSpPr>
            <p:nvPr/>
          </p:nvCxnSpPr>
          <p:spPr>
            <a:xfrm>
              <a:off x="9464039" y="3784032"/>
              <a:ext cx="24003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Conector reto 138"/>
            <p:cNvCxnSpPr/>
            <p:nvPr/>
          </p:nvCxnSpPr>
          <p:spPr>
            <a:xfrm>
              <a:off x="9124587" y="3303408"/>
              <a:ext cx="326389" cy="48059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41" name="Conector reto 140"/>
          <p:cNvCxnSpPr/>
          <p:nvPr/>
        </p:nvCxnSpPr>
        <p:spPr>
          <a:xfrm>
            <a:off x="5626100" y="3287057"/>
            <a:ext cx="482599" cy="4949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9" name="CaixaDeTexto 158"/>
          <p:cNvSpPr txBox="1"/>
          <p:nvPr/>
        </p:nvSpPr>
        <p:spPr>
          <a:xfrm>
            <a:off x="2926597" y="216976"/>
            <a:ext cx="6338807" cy="461665"/>
          </a:xfrm>
          <a:prstGeom prst="rect">
            <a:avLst/>
          </a:prstGeom>
          <a:noFill/>
        </p:spPr>
        <p:txBody>
          <a:bodyPr wrap="square" rtlCol="0">
            <a:spAutoFit/>
          </a:body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CADEIA DE SUPRIMENTOS</a:t>
            </a:r>
          </a:p>
        </p:txBody>
      </p:sp>
      <p:sp>
        <p:nvSpPr>
          <p:cNvPr id="160" name="TextBox 9"/>
          <p:cNvSpPr txBox="1">
            <a:spLocks noChangeArrowheads="1"/>
          </p:cNvSpPr>
          <p:nvPr/>
        </p:nvSpPr>
        <p:spPr bwMode="auto">
          <a:xfrm>
            <a:off x="2445544" y="729568"/>
            <a:ext cx="7300912" cy="427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defRPr>
            </a:lvl9pPr>
          </a:lstStyle>
          <a:p>
            <a:pPr algn="ctr" eaLnBrk="1" hangingPunct="1">
              <a:lnSpc>
                <a:spcPct val="85000"/>
              </a:lnSpc>
              <a:spcBef>
                <a:spcPct val="0"/>
              </a:spcBef>
              <a:buFontTx/>
              <a:buNone/>
            </a:pPr>
            <a:r>
              <a:rPr lang="pt-BR" altLang="pt-BR" sz="2000" b="1" dirty="0">
                <a:solidFill>
                  <a:schemeClr val="accent6"/>
                </a:solidFill>
                <a:latin typeface="Lucida Sans Unicode" panose="020B0602030504020204" pitchFamily="34" charset="0"/>
                <a:cs typeface="Lucida Sans Unicode" panose="020B0602030504020204" pitchFamily="34" charset="0"/>
              </a:rPr>
              <a:t>GESTÃO DA CADEIA DE SUPRIMENTOS</a:t>
            </a:r>
          </a:p>
        </p:txBody>
      </p:sp>
      <p:sp>
        <p:nvSpPr>
          <p:cNvPr id="161" name="CaixaDeTexto 160"/>
          <p:cNvSpPr txBox="1"/>
          <p:nvPr/>
        </p:nvSpPr>
        <p:spPr>
          <a:xfrm>
            <a:off x="4728210" y="6176875"/>
            <a:ext cx="3289704" cy="307777"/>
          </a:xfrm>
          <a:prstGeom prst="rect">
            <a:avLst/>
          </a:prstGeom>
          <a:noFill/>
        </p:spPr>
        <p:txBody>
          <a:bodyPr wrap="square" rtlCol="0">
            <a:spAutoFit/>
          </a:bodyPr>
          <a:lstStyle/>
          <a:p>
            <a:pPr algn="ctr"/>
            <a:r>
              <a:rPr lang="pt-BR" sz="1400" i="1" dirty="0" err="1">
                <a:solidFill>
                  <a:schemeClr val="accent6"/>
                </a:solidFill>
                <a:latin typeface="Lucida Sans Unicode" panose="020B0602030504020204" pitchFamily="34" charset="0"/>
                <a:cs typeface="Lucida Sans Unicode" panose="020B0602030504020204" pitchFamily="34" charset="0"/>
              </a:rPr>
              <a:t>Adap</a:t>
            </a:r>
            <a:r>
              <a:rPr lang="pt-BR" sz="1400" i="1" dirty="0">
                <a:solidFill>
                  <a:schemeClr val="accent6"/>
                </a:solidFill>
                <a:latin typeface="Lucida Sans Unicode" panose="020B0602030504020204" pitchFamily="34" charset="0"/>
                <a:cs typeface="Lucida Sans Unicode" panose="020B0602030504020204" pitchFamily="34" charset="0"/>
              </a:rPr>
              <a:t>. </a:t>
            </a:r>
            <a:r>
              <a:rPr lang="pt-BR" sz="1400" i="1" dirty="0" err="1">
                <a:solidFill>
                  <a:schemeClr val="accent6"/>
                </a:solidFill>
                <a:latin typeface="Lucida Sans Unicode" panose="020B0602030504020204" pitchFamily="34" charset="0"/>
                <a:cs typeface="Lucida Sans Unicode" panose="020B0602030504020204" pitchFamily="34" charset="0"/>
              </a:rPr>
              <a:t>Ballou</a:t>
            </a:r>
            <a:r>
              <a:rPr lang="pt-BR" sz="1400" i="1" dirty="0">
                <a:solidFill>
                  <a:schemeClr val="accent6"/>
                </a:solidFill>
                <a:latin typeface="Lucida Sans Unicode" panose="020B0602030504020204" pitchFamily="34" charset="0"/>
                <a:cs typeface="Lucida Sans Unicode" panose="020B0602030504020204" pitchFamily="34" charset="0"/>
              </a:rPr>
              <a:t>, 2006</a:t>
            </a:r>
          </a:p>
        </p:txBody>
      </p:sp>
    </p:spTree>
    <p:extLst>
      <p:ext uri="{BB962C8B-B14F-4D97-AF65-F5344CB8AC3E}">
        <p14:creationId xmlns:p14="http://schemas.microsoft.com/office/powerpoint/2010/main" val="2432975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0"/>
                                        </p:tgtEl>
                                        <p:attrNameLst>
                                          <p:attrName>style.visibility</p:attrName>
                                        </p:attrNameLst>
                                      </p:cBhvr>
                                      <p:to>
                                        <p:strVal val="visible"/>
                                      </p:to>
                                    </p:set>
                                    <p:animEffect transition="in" filter="fade">
                                      <p:cBhvr>
                                        <p:cTn id="7" dur="1000"/>
                                        <p:tgtEl>
                                          <p:spTgt spid="160"/>
                                        </p:tgtEl>
                                      </p:cBhvr>
                                    </p:animEffect>
                                    <p:anim calcmode="lin" valueType="num">
                                      <p:cBhvr>
                                        <p:cTn id="8" dur="1000" fill="hold"/>
                                        <p:tgtEl>
                                          <p:spTgt spid="160"/>
                                        </p:tgtEl>
                                        <p:attrNameLst>
                                          <p:attrName>ppt_x</p:attrName>
                                        </p:attrNameLst>
                                      </p:cBhvr>
                                      <p:tavLst>
                                        <p:tav tm="0">
                                          <p:val>
                                            <p:strVal val="#ppt_x"/>
                                          </p:val>
                                        </p:tav>
                                        <p:tav tm="100000">
                                          <p:val>
                                            <p:strVal val="#ppt_x"/>
                                          </p:val>
                                        </p:tav>
                                      </p:tavLst>
                                    </p:anim>
                                    <p:anim calcmode="lin" valueType="num">
                                      <p:cBhvr>
                                        <p:cTn id="9" dur="1000" fill="hold"/>
                                        <p:tgtEl>
                                          <p:spTgt spid="160"/>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0"/>
                                  </p:stCondLst>
                                  <p:childTnLst>
                                    <p:set>
                                      <p:cBhvr>
                                        <p:cTn id="11" dur="1" fill="hold">
                                          <p:stCondLst>
                                            <p:cond delay="0"/>
                                          </p:stCondLst>
                                        </p:cTn>
                                        <p:tgtEl>
                                          <p:spTgt spid="161"/>
                                        </p:tgtEl>
                                        <p:attrNameLst>
                                          <p:attrName>style.visibility</p:attrName>
                                        </p:attrNameLst>
                                      </p:cBhvr>
                                      <p:to>
                                        <p:strVal val="visible"/>
                                      </p:to>
                                    </p:set>
                                    <p:animEffect transition="in" filter="fade">
                                      <p:cBhvr>
                                        <p:cTn id="12" dur="500"/>
                                        <p:tgtEl>
                                          <p:spTgt spid="16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6">
                                            <p:txEl>
                                              <p:pRg st="0" end="0"/>
                                            </p:txEl>
                                          </p:spTgt>
                                        </p:tgtEl>
                                        <p:attrNameLst>
                                          <p:attrName>style.visibility</p:attrName>
                                        </p:attrNameLst>
                                      </p:cBhvr>
                                      <p:to>
                                        <p:strVal val="visible"/>
                                      </p:to>
                                    </p:set>
                                    <p:animEffect transition="in" filter="fade">
                                      <p:cBhvr>
                                        <p:cTn id="22" dur="1000"/>
                                        <p:tgtEl>
                                          <p:spTgt spid="6">
                                            <p:txEl>
                                              <p:pRg st="0" end="0"/>
                                            </p:txEl>
                                          </p:spTgt>
                                        </p:tgtEl>
                                      </p:cBhvr>
                                    </p:animEffect>
                                    <p:anim calcmode="lin" valueType="num">
                                      <p:cBhvr>
                                        <p:cTn id="23"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24"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par>
                          <p:cTn id="25" fill="hold">
                            <p:stCondLst>
                              <p:cond delay="1000"/>
                            </p:stCondLst>
                            <p:childTnLst>
                              <p:par>
                                <p:cTn id="26" presetID="42" presetClass="entr" presetSubtype="0" fill="hold" grpId="0" nodeType="afterEffect">
                                  <p:stCondLst>
                                    <p:cond delay="0"/>
                                  </p:stCondLst>
                                  <p:childTnLst>
                                    <p:set>
                                      <p:cBhvr>
                                        <p:cTn id="27" dur="1" fill="hold">
                                          <p:stCondLst>
                                            <p:cond delay="0"/>
                                          </p:stCondLst>
                                        </p:cTn>
                                        <p:tgtEl>
                                          <p:spTgt spid="7">
                                            <p:txEl>
                                              <p:pRg st="0" end="0"/>
                                            </p:txEl>
                                          </p:spTgt>
                                        </p:tgtEl>
                                        <p:attrNameLst>
                                          <p:attrName>style.visibility</p:attrName>
                                        </p:attrNameLst>
                                      </p:cBhvr>
                                      <p:to>
                                        <p:strVal val="visible"/>
                                      </p:to>
                                    </p:set>
                                    <p:animEffect transition="in" filter="fade">
                                      <p:cBhvr>
                                        <p:cTn id="28" dur="1000"/>
                                        <p:tgtEl>
                                          <p:spTgt spid="7">
                                            <p:txEl>
                                              <p:pRg st="0" end="0"/>
                                            </p:txEl>
                                          </p:spTgt>
                                        </p:tgtEl>
                                      </p:cBhvr>
                                    </p:animEffect>
                                    <p:anim calcmode="lin" valueType="num">
                                      <p:cBhvr>
                                        <p:cTn id="29"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par>
                          <p:cTn id="31" fill="hold">
                            <p:stCondLst>
                              <p:cond delay="2000"/>
                            </p:stCondLst>
                            <p:childTnLst>
                              <p:par>
                                <p:cTn id="32" presetID="42" presetClass="entr" presetSubtype="0" fill="hold" grpId="0" nodeType="afterEffect">
                                  <p:stCondLst>
                                    <p:cond delay="0"/>
                                  </p:stCondLst>
                                  <p:childTnLst>
                                    <p:set>
                                      <p:cBhvr>
                                        <p:cTn id="33" dur="1" fill="hold">
                                          <p:stCondLst>
                                            <p:cond delay="0"/>
                                          </p:stCondLst>
                                        </p:cTn>
                                        <p:tgtEl>
                                          <p:spTgt spid="8">
                                            <p:txEl>
                                              <p:pRg st="0" end="0"/>
                                            </p:txEl>
                                          </p:spTgt>
                                        </p:tgtEl>
                                        <p:attrNameLst>
                                          <p:attrName>style.visibility</p:attrName>
                                        </p:attrNameLst>
                                      </p:cBhvr>
                                      <p:to>
                                        <p:strVal val="visible"/>
                                      </p:to>
                                    </p:set>
                                    <p:animEffect transition="in" filter="fade">
                                      <p:cBhvr>
                                        <p:cTn id="34" dur="1000"/>
                                        <p:tgtEl>
                                          <p:spTgt spid="8">
                                            <p:txEl>
                                              <p:pRg st="0" end="0"/>
                                            </p:txEl>
                                          </p:spTgt>
                                        </p:tgtEl>
                                      </p:cBhvr>
                                    </p:animEffect>
                                    <p:anim calcmode="lin" valueType="num">
                                      <p:cBhvr>
                                        <p:cTn id="35"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36"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par>
                          <p:cTn id="37" fill="hold">
                            <p:stCondLst>
                              <p:cond delay="3000"/>
                            </p:stCondLst>
                            <p:childTnLst>
                              <p:par>
                                <p:cTn id="38" presetID="42" presetClass="entr" presetSubtype="0" fill="hold" grpId="0" nodeType="afterEffect">
                                  <p:stCondLst>
                                    <p:cond delay="0"/>
                                  </p:stCondLst>
                                  <p:childTnLst>
                                    <p:set>
                                      <p:cBhvr>
                                        <p:cTn id="39" dur="1" fill="hold">
                                          <p:stCondLst>
                                            <p:cond delay="0"/>
                                          </p:stCondLst>
                                        </p:cTn>
                                        <p:tgtEl>
                                          <p:spTgt spid="9">
                                            <p:txEl>
                                              <p:pRg st="0" end="0"/>
                                            </p:txEl>
                                          </p:spTgt>
                                        </p:tgtEl>
                                        <p:attrNameLst>
                                          <p:attrName>style.visibility</p:attrName>
                                        </p:attrNameLst>
                                      </p:cBhvr>
                                      <p:to>
                                        <p:strVal val="visible"/>
                                      </p:to>
                                    </p:set>
                                    <p:animEffect transition="in" filter="fade">
                                      <p:cBhvr>
                                        <p:cTn id="40" dur="1000"/>
                                        <p:tgtEl>
                                          <p:spTgt spid="9">
                                            <p:txEl>
                                              <p:pRg st="0" end="0"/>
                                            </p:txEl>
                                          </p:spTgt>
                                        </p:tgtEl>
                                      </p:cBhvr>
                                    </p:animEffect>
                                    <p:anim calcmode="lin" valueType="num">
                                      <p:cBhvr>
                                        <p:cTn id="41"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42"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par>
                          <p:cTn id="43" fill="hold">
                            <p:stCondLst>
                              <p:cond delay="4000"/>
                            </p:stCondLst>
                            <p:childTnLst>
                              <p:par>
                                <p:cTn id="44" presetID="42" presetClass="entr" presetSubtype="0" fill="hold" grpId="0" nodeType="afterEffect">
                                  <p:stCondLst>
                                    <p:cond delay="0"/>
                                  </p:stCondLst>
                                  <p:childTnLst>
                                    <p:set>
                                      <p:cBhvr>
                                        <p:cTn id="45" dur="1" fill="hold">
                                          <p:stCondLst>
                                            <p:cond delay="0"/>
                                          </p:stCondLst>
                                        </p:cTn>
                                        <p:tgtEl>
                                          <p:spTgt spid="10">
                                            <p:txEl>
                                              <p:pRg st="0" end="0"/>
                                            </p:txEl>
                                          </p:spTgt>
                                        </p:tgtEl>
                                        <p:attrNameLst>
                                          <p:attrName>style.visibility</p:attrName>
                                        </p:attrNameLst>
                                      </p:cBhvr>
                                      <p:to>
                                        <p:strVal val="visible"/>
                                      </p:to>
                                    </p:set>
                                    <p:animEffect transition="in" filter="fade">
                                      <p:cBhvr>
                                        <p:cTn id="46" dur="1000"/>
                                        <p:tgtEl>
                                          <p:spTgt spid="10">
                                            <p:txEl>
                                              <p:pRg st="0" end="0"/>
                                            </p:txEl>
                                          </p:spTgt>
                                        </p:tgtEl>
                                      </p:cBhvr>
                                    </p:animEffect>
                                    <p:anim calcmode="lin" valueType="num">
                                      <p:cBhvr>
                                        <p:cTn id="47"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48"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par>
                          <p:cTn id="49" fill="hold">
                            <p:stCondLst>
                              <p:cond delay="5000"/>
                            </p:stCondLst>
                            <p:childTnLst>
                              <p:par>
                                <p:cTn id="50" presetID="42" presetClass="entr" presetSubtype="0" fill="hold" grpId="0" nodeType="afterEffect">
                                  <p:stCondLst>
                                    <p:cond delay="0"/>
                                  </p:stCondLst>
                                  <p:childTnLst>
                                    <p:set>
                                      <p:cBhvr>
                                        <p:cTn id="51" dur="1" fill="hold">
                                          <p:stCondLst>
                                            <p:cond delay="0"/>
                                          </p:stCondLst>
                                        </p:cTn>
                                        <p:tgtEl>
                                          <p:spTgt spid="11">
                                            <p:txEl>
                                              <p:pRg st="0" end="0"/>
                                            </p:txEl>
                                          </p:spTgt>
                                        </p:tgtEl>
                                        <p:attrNameLst>
                                          <p:attrName>style.visibility</p:attrName>
                                        </p:attrNameLst>
                                      </p:cBhvr>
                                      <p:to>
                                        <p:strVal val="visible"/>
                                      </p:to>
                                    </p:set>
                                    <p:animEffect transition="in" filter="fade">
                                      <p:cBhvr>
                                        <p:cTn id="52" dur="1000"/>
                                        <p:tgtEl>
                                          <p:spTgt spid="11">
                                            <p:txEl>
                                              <p:pRg st="0" end="0"/>
                                            </p:txEl>
                                          </p:spTgt>
                                        </p:tgtEl>
                                      </p:cBhvr>
                                    </p:animEffect>
                                    <p:anim calcmode="lin" valueType="num">
                                      <p:cBhvr>
                                        <p:cTn id="53" dur="1000" fill="hold"/>
                                        <p:tgtEl>
                                          <p:spTgt spid="11">
                                            <p:txEl>
                                              <p:pRg st="0" end="0"/>
                                            </p:txEl>
                                          </p:spTgt>
                                        </p:tgtEl>
                                        <p:attrNameLst>
                                          <p:attrName>ppt_x</p:attrName>
                                        </p:attrNameLst>
                                      </p:cBhvr>
                                      <p:tavLst>
                                        <p:tav tm="0">
                                          <p:val>
                                            <p:strVal val="#ppt_x"/>
                                          </p:val>
                                        </p:tav>
                                        <p:tav tm="100000">
                                          <p:val>
                                            <p:strVal val="#ppt_x"/>
                                          </p:val>
                                        </p:tav>
                                      </p:tavLst>
                                    </p:anim>
                                    <p:anim calcmode="lin" valueType="num">
                                      <p:cBhvr>
                                        <p:cTn id="54" dur="1000" fill="hold"/>
                                        <p:tgtEl>
                                          <p:spTgt spid="11">
                                            <p:txEl>
                                              <p:pRg st="0" end="0"/>
                                            </p:txEl>
                                          </p:spTgt>
                                        </p:tgtEl>
                                        <p:attrNameLst>
                                          <p:attrName>ppt_y</p:attrName>
                                        </p:attrNameLst>
                                      </p:cBhvr>
                                      <p:tavLst>
                                        <p:tav tm="0">
                                          <p:val>
                                            <p:strVal val="#ppt_y+.1"/>
                                          </p:val>
                                        </p:tav>
                                        <p:tav tm="100000">
                                          <p:val>
                                            <p:strVal val="#ppt_y"/>
                                          </p:val>
                                        </p:tav>
                                      </p:tavLst>
                                    </p:anim>
                                  </p:childTnLst>
                                </p:cTn>
                              </p:par>
                            </p:childTnLst>
                          </p:cTn>
                        </p:par>
                        <p:par>
                          <p:cTn id="55" fill="hold">
                            <p:stCondLst>
                              <p:cond delay="6000"/>
                            </p:stCondLst>
                            <p:childTnLst>
                              <p:par>
                                <p:cTn id="56" presetID="42" presetClass="entr" presetSubtype="0" fill="hold" grpId="0" nodeType="afterEffect">
                                  <p:stCondLst>
                                    <p:cond delay="0"/>
                                  </p:stCondLst>
                                  <p:childTnLst>
                                    <p:set>
                                      <p:cBhvr>
                                        <p:cTn id="57" dur="1" fill="hold">
                                          <p:stCondLst>
                                            <p:cond delay="0"/>
                                          </p:stCondLst>
                                        </p:cTn>
                                        <p:tgtEl>
                                          <p:spTgt spid="12">
                                            <p:txEl>
                                              <p:pRg st="0" end="0"/>
                                            </p:txEl>
                                          </p:spTgt>
                                        </p:tgtEl>
                                        <p:attrNameLst>
                                          <p:attrName>style.visibility</p:attrName>
                                        </p:attrNameLst>
                                      </p:cBhvr>
                                      <p:to>
                                        <p:strVal val="visible"/>
                                      </p:to>
                                    </p:set>
                                    <p:animEffect transition="in" filter="fade">
                                      <p:cBhvr>
                                        <p:cTn id="58" dur="1000"/>
                                        <p:tgtEl>
                                          <p:spTgt spid="12">
                                            <p:txEl>
                                              <p:pRg st="0" end="0"/>
                                            </p:txEl>
                                          </p:spTgt>
                                        </p:tgtEl>
                                      </p:cBhvr>
                                    </p:animEffect>
                                    <p:anim calcmode="lin" valueType="num">
                                      <p:cBhvr>
                                        <p:cTn id="59" dur="1000" fill="hold"/>
                                        <p:tgtEl>
                                          <p:spTgt spid="12">
                                            <p:txEl>
                                              <p:pRg st="0" end="0"/>
                                            </p:txEl>
                                          </p:spTgt>
                                        </p:tgtEl>
                                        <p:attrNameLst>
                                          <p:attrName>ppt_x</p:attrName>
                                        </p:attrNameLst>
                                      </p:cBhvr>
                                      <p:tavLst>
                                        <p:tav tm="0">
                                          <p:val>
                                            <p:strVal val="#ppt_x"/>
                                          </p:val>
                                        </p:tav>
                                        <p:tav tm="100000">
                                          <p:val>
                                            <p:strVal val="#ppt_x"/>
                                          </p:val>
                                        </p:tav>
                                      </p:tavLst>
                                    </p:anim>
                                    <p:anim calcmode="lin" valueType="num">
                                      <p:cBhvr>
                                        <p:cTn id="60" dur="1000" fill="hold"/>
                                        <p:tgtEl>
                                          <p:spTgt spid="12">
                                            <p:txEl>
                                              <p:pRg st="0" end="0"/>
                                            </p:txEl>
                                          </p:spTgt>
                                        </p:tgtEl>
                                        <p:attrNameLst>
                                          <p:attrName>ppt_y</p:attrName>
                                        </p:attrNameLst>
                                      </p:cBhvr>
                                      <p:tavLst>
                                        <p:tav tm="0">
                                          <p:val>
                                            <p:strVal val="#ppt_y+.1"/>
                                          </p:val>
                                        </p:tav>
                                        <p:tav tm="100000">
                                          <p:val>
                                            <p:strVal val="#ppt_y"/>
                                          </p:val>
                                        </p:tav>
                                      </p:tavLst>
                                    </p:anim>
                                  </p:childTnLst>
                                </p:cTn>
                              </p:par>
                            </p:childTnLst>
                          </p:cTn>
                        </p:par>
                        <p:par>
                          <p:cTn id="61" fill="hold">
                            <p:stCondLst>
                              <p:cond delay="7000"/>
                            </p:stCondLst>
                            <p:childTnLst>
                              <p:par>
                                <p:cTn id="62" presetID="42" presetClass="entr" presetSubtype="0" fill="hold" grpId="0" nodeType="afterEffect">
                                  <p:stCondLst>
                                    <p:cond delay="0"/>
                                  </p:stCondLst>
                                  <p:childTnLst>
                                    <p:set>
                                      <p:cBhvr>
                                        <p:cTn id="63" dur="1" fill="hold">
                                          <p:stCondLst>
                                            <p:cond delay="0"/>
                                          </p:stCondLst>
                                        </p:cTn>
                                        <p:tgtEl>
                                          <p:spTgt spid="13">
                                            <p:txEl>
                                              <p:pRg st="0" end="0"/>
                                            </p:txEl>
                                          </p:spTgt>
                                        </p:tgtEl>
                                        <p:attrNameLst>
                                          <p:attrName>style.visibility</p:attrName>
                                        </p:attrNameLst>
                                      </p:cBhvr>
                                      <p:to>
                                        <p:strVal val="visible"/>
                                      </p:to>
                                    </p:set>
                                    <p:animEffect transition="in" filter="fade">
                                      <p:cBhvr>
                                        <p:cTn id="64" dur="1000"/>
                                        <p:tgtEl>
                                          <p:spTgt spid="13">
                                            <p:txEl>
                                              <p:pRg st="0" end="0"/>
                                            </p:txEl>
                                          </p:spTgt>
                                        </p:tgtEl>
                                      </p:cBhvr>
                                    </p:animEffect>
                                    <p:anim calcmode="lin" valueType="num">
                                      <p:cBhvr>
                                        <p:cTn id="65" dur="1000" fill="hold"/>
                                        <p:tgtEl>
                                          <p:spTgt spid="13">
                                            <p:txEl>
                                              <p:pRg st="0" end="0"/>
                                            </p:txEl>
                                          </p:spTgt>
                                        </p:tgtEl>
                                        <p:attrNameLst>
                                          <p:attrName>ppt_x</p:attrName>
                                        </p:attrNameLst>
                                      </p:cBhvr>
                                      <p:tavLst>
                                        <p:tav tm="0">
                                          <p:val>
                                            <p:strVal val="#ppt_x"/>
                                          </p:val>
                                        </p:tav>
                                        <p:tav tm="100000">
                                          <p:val>
                                            <p:strVal val="#ppt_x"/>
                                          </p:val>
                                        </p:tav>
                                      </p:tavLst>
                                    </p:anim>
                                    <p:anim calcmode="lin" valueType="num">
                                      <p:cBhvr>
                                        <p:cTn id="66" dur="1000" fill="hold"/>
                                        <p:tgtEl>
                                          <p:spTgt spid="13">
                                            <p:txEl>
                                              <p:pRg st="0" end="0"/>
                                            </p:txEl>
                                          </p:spTgt>
                                        </p:tgtEl>
                                        <p:attrNameLst>
                                          <p:attrName>ppt_y</p:attrName>
                                        </p:attrNameLst>
                                      </p:cBhvr>
                                      <p:tavLst>
                                        <p:tav tm="0">
                                          <p:val>
                                            <p:strVal val="#ppt_y+.1"/>
                                          </p:val>
                                        </p:tav>
                                        <p:tav tm="100000">
                                          <p:val>
                                            <p:strVal val="#ppt_y"/>
                                          </p:val>
                                        </p:tav>
                                      </p:tavLst>
                                    </p:anim>
                                  </p:childTnLst>
                                </p:cTn>
                              </p:par>
                            </p:childTnLst>
                          </p:cTn>
                        </p:par>
                        <p:par>
                          <p:cTn id="67" fill="hold">
                            <p:stCondLst>
                              <p:cond delay="8000"/>
                            </p:stCondLst>
                            <p:childTnLst>
                              <p:par>
                                <p:cTn id="68" presetID="42" presetClass="entr" presetSubtype="0" fill="hold" grpId="0" nodeType="afterEffect">
                                  <p:stCondLst>
                                    <p:cond delay="0"/>
                                  </p:stCondLst>
                                  <p:childTnLst>
                                    <p:set>
                                      <p:cBhvr>
                                        <p:cTn id="69" dur="1" fill="hold">
                                          <p:stCondLst>
                                            <p:cond delay="0"/>
                                          </p:stCondLst>
                                        </p:cTn>
                                        <p:tgtEl>
                                          <p:spTgt spid="14">
                                            <p:txEl>
                                              <p:pRg st="0" end="0"/>
                                            </p:txEl>
                                          </p:spTgt>
                                        </p:tgtEl>
                                        <p:attrNameLst>
                                          <p:attrName>style.visibility</p:attrName>
                                        </p:attrNameLst>
                                      </p:cBhvr>
                                      <p:to>
                                        <p:strVal val="visible"/>
                                      </p:to>
                                    </p:set>
                                    <p:animEffect transition="in" filter="fade">
                                      <p:cBhvr>
                                        <p:cTn id="70" dur="1000"/>
                                        <p:tgtEl>
                                          <p:spTgt spid="14">
                                            <p:txEl>
                                              <p:pRg st="0" end="0"/>
                                            </p:txEl>
                                          </p:spTgt>
                                        </p:tgtEl>
                                      </p:cBhvr>
                                    </p:animEffect>
                                    <p:anim calcmode="lin" valueType="num">
                                      <p:cBhvr>
                                        <p:cTn id="71"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72" dur="1000" fill="hold"/>
                                        <p:tgtEl>
                                          <p:spTgt spid="14">
                                            <p:txEl>
                                              <p:pRg st="0" end="0"/>
                                            </p:txEl>
                                          </p:spTgt>
                                        </p:tgtEl>
                                        <p:attrNameLst>
                                          <p:attrName>ppt_y</p:attrName>
                                        </p:attrNameLst>
                                      </p:cBhvr>
                                      <p:tavLst>
                                        <p:tav tm="0">
                                          <p:val>
                                            <p:strVal val="#ppt_y+.1"/>
                                          </p:val>
                                        </p:tav>
                                        <p:tav tm="100000">
                                          <p:val>
                                            <p:strVal val="#ppt_y"/>
                                          </p:val>
                                        </p:tav>
                                      </p:tavLst>
                                    </p:anim>
                                  </p:childTnLst>
                                </p:cTn>
                              </p:par>
                            </p:childTnLst>
                          </p:cTn>
                        </p:par>
                        <p:par>
                          <p:cTn id="73" fill="hold">
                            <p:stCondLst>
                              <p:cond delay="9000"/>
                            </p:stCondLst>
                            <p:childTnLst>
                              <p:par>
                                <p:cTn id="74" presetID="42" presetClass="entr" presetSubtype="0" fill="hold" grpId="0" nodeType="afterEffect">
                                  <p:stCondLst>
                                    <p:cond delay="0"/>
                                  </p:stCondLst>
                                  <p:childTnLst>
                                    <p:set>
                                      <p:cBhvr>
                                        <p:cTn id="75" dur="1" fill="hold">
                                          <p:stCondLst>
                                            <p:cond delay="0"/>
                                          </p:stCondLst>
                                        </p:cTn>
                                        <p:tgtEl>
                                          <p:spTgt spid="15">
                                            <p:txEl>
                                              <p:pRg st="0" end="0"/>
                                            </p:txEl>
                                          </p:spTgt>
                                        </p:tgtEl>
                                        <p:attrNameLst>
                                          <p:attrName>style.visibility</p:attrName>
                                        </p:attrNameLst>
                                      </p:cBhvr>
                                      <p:to>
                                        <p:strVal val="visible"/>
                                      </p:to>
                                    </p:set>
                                    <p:animEffect transition="in" filter="fade">
                                      <p:cBhvr>
                                        <p:cTn id="76" dur="1000"/>
                                        <p:tgtEl>
                                          <p:spTgt spid="15">
                                            <p:txEl>
                                              <p:pRg st="0" end="0"/>
                                            </p:txEl>
                                          </p:spTgt>
                                        </p:tgtEl>
                                      </p:cBhvr>
                                    </p:animEffect>
                                    <p:anim calcmode="lin" valueType="num">
                                      <p:cBhvr>
                                        <p:cTn id="77" dur="1000" fill="hold"/>
                                        <p:tgtEl>
                                          <p:spTgt spid="15">
                                            <p:txEl>
                                              <p:pRg st="0" end="0"/>
                                            </p:txEl>
                                          </p:spTgt>
                                        </p:tgtEl>
                                        <p:attrNameLst>
                                          <p:attrName>ppt_x</p:attrName>
                                        </p:attrNameLst>
                                      </p:cBhvr>
                                      <p:tavLst>
                                        <p:tav tm="0">
                                          <p:val>
                                            <p:strVal val="#ppt_x"/>
                                          </p:val>
                                        </p:tav>
                                        <p:tav tm="100000">
                                          <p:val>
                                            <p:strVal val="#ppt_x"/>
                                          </p:val>
                                        </p:tav>
                                      </p:tavLst>
                                    </p:anim>
                                    <p:anim calcmode="lin" valueType="num">
                                      <p:cBhvr>
                                        <p:cTn id="78" dur="1000" fill="hold"/>
                                        <p:tgtEl>
                                          <p:spTgt spid="15">
                                            <p:txEl>
                                              <p:pRg st="0" end="0"/>
                                            </p:txEl>
                                          </p:spTgt>
                                        </p:tgtEl>
                                        <p:attrNameLst>
                                          <p:attrName>ppt_y</p:attrName>
                                        </p:attrNameLst>
                                      </p:cBhvr>
                                      <p:tavLst>
                                        <p:tav tm="0">
                                          <p:val>
                                            <p:strVal val="#ppt_y+.1"/>
                                          </p:val>
                                        </p:tav>
                                        <p:tav tm="100000">
                                          <p:val>
                                            <p:strVal val="#ppt_y"/>
                                          </p:val>
                                        </p:tav>
                                      </p:tavLst>
                                    </p:anim>
                                  </p:childTnLst>
                                </p:cTn>
                              </p:par>
                            </p:childTnLst>
                          </p:cTn>
                        </p:par>
                        <p:par>
                          <p:cTn id="79" fill="hold">
                            <p:stCondLst>
                              <p:cond delay="10000"/>
                            </p:stCondLst>
                            <p:childTnLst>
                              <p:par>
                                <p:cTn id="80" presetID="42" presetClass="entr" presetSubtype="0" fill="hold" grpId="0" nodeType="afterEffect">
                                  <p:stCondLst>
                                    <p:cond delay="0"/>
                                  </p:stCondLst>
                                  <p:childTnLst>
                                    <p:set>
                                      <p:cBhvr>
                                        <p:cTn id="81" dur="1" fill="hold">
                                          <p:stCondLst>
                                            <p:cond delay="0"/>
                                          </p:stCondLst>
                                        </p:cTn>
                                        <p:tgtEl>
                                          <p:spTgt spid="16">
                                            <p:txEl>
                                              <p:pRg st="0" end="0"/>
                                            </p:txEl>
                                          </p:spTgt>
                                        </p:tgtEl>
                                        <p:attrNameLst>
                                          <p:attrName>style.visibility</p:attrName>
                                        </p:attrNameLst>
                                      </p:cBhvr>
                                      <p:to>
                                        <p:strVal val="visible"/>
                                      </p:to>
                                    </p:set>
                                    <p:animEffect transition="in" filter="fade">
                                      <p:cBhvr>
                                        <p:cTn id="82" dur="1000"/>
                                        <p:tgtEl>
                                          <p:spTgt spid="16">
                                            <p:txEl>
                                              <p:pRg st="0" end="0"/>
                                            </p:txEl>
                                          </p:spTgt>
                                        </p:tgtEl>
                                      </p:cBhvr>
                                    </p:animEffect>
                                    <p:anim calcmode="lin" valueType="num">
                                      <p:cBhvr>
                                        <p:cTn id="83" dur="1000" fill="hold"/>
                                        <p:tgtEl>
                                          <p:spTgt spid="16">
                                            <p:txEl>
                                              <p:pRg st="0" end="0"/>
                                            </p:txEl>
                                          </p:spTgt>
                                        </p:tgtEl>
                                        <p:attrNameLst>
                                          <p:attrName>ppt_x</p:attrName>
                                        </p:attrNameLst>
                                      </p:cBhvr>
                                      <p:tavLst>
                                        <p:tav tm="0">
                                          <p:val>
                                            <p:strVal val="#ppt_x"/>
                                          </p:val>
                                        </p:tav>
                                        <p:tav tm="100000">
                                          <p:val>
                                            <p:strVal val="#ppt_x"/>
                                          </p:val>
                                        </p:tav>
                                      </p:tavLst>
                                    </p:anim>
                                    <p:anim calcmode="lin" valueType="num">
                                      <p:cBhvr>
                                        <p:cTn id="84" dur="1000" fill="hold"/>
                                        <p:tgtEl>
                                          <p:spTgt spid="16">
                                            <p:txEl>
                                              <p:pRg st="0" end="0"/>
                                            </p:txEl>
                                          </p:spTgt>
                                        </p:tgtEl>
                                        <p:attrNameLst>
                                          <p:attrName>ppt_y</p:attrName>
                                        </p:attrNameLst>
                                      </p:cBhvr>
                                      <p:tavLst>
                                        <p:tav tm="0">
                                          <p:val>
                                            <p:strVal val="#ppt_y+.1"/>
                                          </p:val>
                                        </p:tav>
                                        <p:tav tm="100000">
                                          <p:val>
                                            <p:strVal val="#ppt_y"/>
                                          </p:val>
                                        </p:tav>
                                      </p:tavLst>
                                    </p:anim>
                                  </p:childTnLst>
                                </p:cTn>
                              </p:par>
                            </p:childTnLst>
                          </p:cTn>
                        </p:par>
                        <p:par>
                          <p:cTn id="85" fill="hold">
                            <p:stCondLst>
                              <p:cond delay="11000"/>
                            </p:stCondLst>
                            <p:childTnLst>
                              <p:par>
                                <p:cTn id="86" presetID="42" presetClass="entr" presetSubtype="0" fill="hold" grpId="0" nodeType="afterEffect">
                                  <p:stCondLst>
                                    <p:cond delay="0"/>
                                  </p:stCondLst>
                                  <p:childTnLst>
                                    <p:set>
                                      <p:cBhvr>
                                        <p:cTn id="87" dur="1" fill="hold">
                                          <p:stCondLst>
                                            <p:cond delay="0"/>
                                          </p:stCondLst>
                                        </p:cTn>
                                        <p:tgtEl>
                                          <p:spTgt spid="17">
                                            <p:txEl>
                                              <p:pRg st="0" end="0"/>
                                            </p:txEl>
                                          </p:spTgt>
                                        </p:tgtEl>
                                        <p:attrNameLst>
                                          <p:attrName>style.visibility</p:attrName>
                                        </p:attrNameLst>
                                      </p:cBhvr>
                                      <p:to>
                                        <p:strVal val="visible"/>
                                      </p:to>
                                    </p:set>
                                    <p:animEffect transition="in" filter="fade">
                                      <p:cBhvr>
                                        <p:cTn id="88" dur="400"/>
                                        <p:tgtEl>
                                          <p:spTgt spid="17">
                                            <p:txEl>
                                              <p:pRg st="0" end="0"/>
                                            </p:txEl>
                                          </p:spTgt>
                                        </p:tgtEl>
                                      </p:cBhvr>
                                    </p:animEffect>
                                    <p:anim calcmode="lin" valueType="num">
                                      <p:cBhvr>
                                        <p:cTn id="89" dur="400" fill="hold"/>
                                        <p:tgtEl>
                                          <p:spTgt spid="17">
                                            <p:txEl>
                                              <p:pRg st="0" end="0"/>
                                            </p:txEl>
                                          </p:spTgt>
                                        </p:tgtEl>
                                        <p:attrNameLst>
                                          <p:attrName>ppt_x</p:attrName>
                                        </p:attrNameLst>
                                      </p:cBhvr>
                                      <p:tavLst>
                                        <p:tav tm="0">
                                          <p:val>
                                            <p:strVal val="#ppt_x"/>
                                          </p:val>
                                        </p:tav>
                                        <p:tav tm="100000">
                                          <p:val>
                                            <p:strVal val="#ppt_x"/>
                                          </p:val>
                                        </p:tav>
                                      </p:tavLst>
                                    </p:anim>
                                    <p:anim calcmode="lin" valueType="num">
                                      <p:cBhvr>
                                        <p:cTn id="90" dur="400" fill="hold"/>
                                        <p:tgtEl>
                                          <p:spTgt spid="17">
                                            <p:txEl>
                                              <p:pRg st="0" end="0"/>
                                            </p:txEl>
                                          </p:spTgt>
                                        </p:tgtEl>
                                        <p:attrNameLst>
                                          <p:attrName>ppt_y</p:attrName>
                                        </p:attrNameLst>
                                      </p:cBhvr>
                                      <p:tavLst>
                                        <p:tav tm="0">
                                          <p:val>
                                            <p:strVal val="#ppt_y+.1"/>
                                          </p:val>
                                        </p:tav>
                                        <p:tav tm="100000">
                                          <p:val>
                                            <p:strVal val="#ppt_y"/>
                                          </p:val>
                                        </p:tav>
                                      </p:tavLst>
                                    </p:anim>
                                  </p:childTnLst>
                                </p:cTn>
                              </p:par>
                            </p:childTnLst>
                          </p:cTn>
                        </p:par>
                        <p:par>
                          <p:cTn id="91" fill="hold">
                            <p:stCondLst>
                              <p:cond delay="11400"/>
                            </p:stCondLst>
                            <p:childTnLst>
                              <p:par>
                                <p:cTn id="92" presetID="42" presetClass="entr" presetSubtype="0" fill="hold" grpId="0" nodeType="afterEffect">
                                  <p:stCondLst>
                                    <p:cond delay="0"/>
                                  </p:stCondLst>
                                  <p:childTnLst>
                                    <p:set>
                                      <p:cBhvr>
                                        <p:cTn id="93" dur="1" fill="hold">
                                          <p:stCondLst>
                                            <p:cond delay="0"/>
                                          </p:stCondLst>
                                        </p:cTn>
                                        <p:tgtEl>
                                          <p:spTgt spid="18">
                                            <p:txEl>
                                              <p:pRg st="0" end="0"/>
                                            </p:txEl>
                                          </p:spTgt>
                                        </p:tgtEl>
                                        <p:attrNameLst>
                                          <p:attrName>style.visibility</p:attrName>
                                        </p:attrNameLst>
                                      </p:cBhvr>
                                      <p:to>
                                        <p:strVal val="visible"/>
                                      </p:to>
                                    </p:set>
                                    <p:animEffect transition="in" filter="fade">
                                      <p:cBhvr>
                                        <p:cTn id="94" dur="1000"/>
                                        <p:tgtEl>
                                          <p:spTgt spid="18">
                                            <p:txEl>
                                              <p:pRg st="0" end="0"/>
                                            </p:txEl>
                                          </p:spTgt>
                                        </p:tgtEl>
                                      </p:cBhvr>
                                    </p:animEffect>
                                    <p:anim calcmode="lin" valueType="num">
                                      <p:cBhvr>
                                        <p:cTn id="95" dur="1000" fill="hold"/>
                                        <p:tgtEl>
                                          <p:spTgt spid="18">
                                            <p:txEl>
                                              <p:pRg st="0" end="0"/>
                                            </p:txEl>
                                          </p:spTgt>
                                        </p:tgtEl>
                                        <p:attrNameLst>
                                          <p:attrName>ppt_x</p:attrName>
                                        </p:attrNameLst>
                                      </p:cBhvr>
                                      <p:tavLst>
                                        <p:tav tm="0">
                                          <p:val>
                                            <p:strVal val="#ppt_x"/>
                                          </p:val>
                                        </p:tav>
                                        <p:tav tm="100000">
                                          <p:val>
                                            <p:strVal val="#ppt_x"/>
                                          </p:val>
                                        </p:tav>
                                      </p:tavLst>
                                    </p:anim>
                                    <p:anim calcmode="lin" valueType="num">
                                      <p:cBhvr>
                                        <p:cTn id="96" dur="1000" fill="hold"/>
                                        <p:tgtEl>
                                          <p:spTgt spid="18">
                                            <p:txEl>
                                              <p:pRg st="0" end="0"/>
                                            </p:txEl>
                                          </p:spTgt>
                                        </p:tgtEl>
                                        <p:attrNameLst>
                                          <p:attrName>ppt_y</p:attrName>
                                        </p:attrNameLst>
                                      </p:cBhvr>
                                      <p:tavLst>
                                        <p:tav tm="0">
                                          <p:val>
                                            <p:strVal val="#ppt_y+.1"/>
                                          </p:val>
                                        </p:tav>
                                        <p:tav tm="100000">
                                          <p:val>
                                            <p:strVal val="#ppt_y"/>
                                          </p:val>
                                        </p:tav>
                                      </p:tavLst>
                                    </p:anim>
                                  </p:childTnLst>
                                </p:cTn>
                              </p:par>
                            </p:childTnLst>
                          </p:cTn>
                        </p:par>
                        <p:par>
                          <p:cTn id="97" fill="hold">
                            <p:stCondLst>
                              <p:cond delay="12400"/>
                            </p:stCondLst>
                            <p:childTnLst>
                              <p:par>
                                <p:cTn id="98" presetID="42" presetClass="entr" presetSubtype="0" fill="hold" grpId="0" nodeType="afterEffect">
                                  <p:stCondLst>
                                    <p:cond delay="0"/>
                                  </p:stCondLst>
                                  <p:childTnLst>
                                    <p:set>
                                      <p:cBhvr>
                                        <p:cTn id="99" dur="1" fill="hold">
                                          <p:stCondLst>
                                            <p:cond delay="0"/>
                                          </p:stCondLst>
                                        </p:cTn>
                                        <p:tgtEl>
                                          <p:spTgt spid="19">
                                            <p:txEl>
                                              <p:pRg st="0" end="0"/>
                                            </p:txEl>
                                          </p:spTgt>
                                        </p:tgtEl>
                                        <p:attrNameLst>
                                          <p:attrName>style.visibility</p:attrName>
                                        </p:attrNameLst>
                                      </p:cBhvr>
                                      <p:to>
                                        <p:strVal val="visible"/>
                                      </p:to>
                                    </p:set>
                                    <p:animEffect transition="in" filter="fade">
                                      <p:cBhvr>
                                        <p:cTn id="100" dur="1000"/>
                                        <p:tgtEl>
                                          <p:spTgt spid="19">
                                            <p:txEl>
                                              <p:pRg st="0" end="0"/>
                                            </p:txEl>
                                          </p:spTgt>
                                        </p:tgtEl>
                                      </p:cBhvr>
                                    </p:animEffect>
                                    <p:anim calcmode="lin" valueType="num">
                                      <p:cBhvr>
                                        <p:cTn id="101" dur="1000" fill="hold"/>
                                        <p:tgtEl>
                                          <p:spTgt spid="19">
                                            <p:txEl>
                                              <p:pRg st="0" end="0"/>
                                            </p:txEl>
                                          </p:spTgt>
                                        </p:tgtEl>
                                        <p:attrNameLst>
                                          <p:attrName>ppt_x</p:attrName>
                                        </p:attrNameLst>
                                      </p:cBhvr>
                                      <p:tavLst>
                                        <p:tav tm="0">
                                          <p:val>
                                            <p:strVal val="#ppt_x"/>
                                          </p:val>
                                        </p:tav>
                                        <p:tav tm="100000">
                                          <p:val>
                                            <p:strVal val="#ppt_x"/>
                                          </p:val>
                                        </p:tav>
                                      </p:tavLst>
                                    </p:anim>
                                    <p:anim calcmode="lin" valueType="num">
                                      <p:cBhvr>
                                        <p:cTn id="102" dur="1000" fill="hold"/>
                                        <p:tgtEl>
                                          <p:spTgt spid="19">
                                            <p:txEl>
                                              <p:pRg st="0" end="0"/>
                                            </p:txEl>
                                          </p:spTgt>
                                        </p:tgtEl>
                                        <p:attrNameLst>
                                          <p:attrName>ppt_y</p:attrName>
                                        </p:attrNameLst>
                                      </p:cBhvr>
                                      <p:tavLst>
                                        <p:tav tm="0">
                                          <p:val>
                                            <p:strVal val="#ppt_y+.1"/>
                                          </p:val>
                                        </p:tav>
                                        <p:tav tm="100000">
                                          <p:val>
                                            <p:strVal val="#ppt_y"/>
                                          </p:val>
                                        </p:tav>
                                      </p:tavLst>
                                    </p:anim>
                                  </p:childTnLst>
                                </p:cTn>
                              </p:par>
                            </p:childTnLst>
                          </p:cTn>
                        </p:par>
                        <p:par>
                          <p:cTn id="103" fill="hold">
                            <p:stCondLst>
                              <p:cond delay="13400"/>
                            </p:stCondLst>
                            <p:childTnLst>
                              <p:par>
                                <p:cTn id="104" presetID="42" presetClass="entr" presetSubtype="0" fill="hold" grpId="0" nodeType="afterEffect">
                                  <p:stCondLst>
                                    <p:cond delay="0"/>
                                  </p:stCondLst>
                                  <p:childTnLst>
                                    <p:set>
                                      <p:cBhvr>
                                        <p:cTn id="105" dur="1" fill="hold">
                                          <p:stCondLst>
                                            <p:cond delay="0"/>
                                          </p:stCondLst>
                                        </p:cTn>
                                        <p:tgtEl>
                                          <p:spTgt spid="20">
                                            <p:txEl>
                                              <p:pRg st="0" end="0"/>
                                            </p:txEl>
                                          </p:spTgt>
                                        </p:tgtEl>
                                        <p:attrNameLst>
                                          <p:attrName>style.visibility</p:attrName>
                                        </p:attrNameLst>
                                      </p:cBhvr>
                                      <p:to>
                                        <p:strVal val="visible"/>
                                      </p:to>
                                    </p:set>
                                    <p:animEffect transition="in" filter="fade">
                                      <p:cBhvr>
                                        <p:cTn id="106" dur="1000"/>
                                        <p:tgtEl>
                                          <p:spTgt spid="20">
                                            <p:txEl>
                                              <p:pRg st="0" end="0"/>
                                            </p:txEl>
                                          </p:spTgt>
                                        </p:tgtEl>
                                      </p:cBhvr>
                                    </p:animEffect>
                                    <p:anim calcmode="lin" valueType="num">
                                      <p:cBhvr>
                                        <p:cTn id="107" dur="1000" fill="hold"/>
                                        <p:tgtEl>
                                          <p:spTgt spid="20">
                                            <p:txEl>
                                              <p:pRg st="0" end="0"/>
                                            </p:txEl>
                                          </p:spTgt>
                                        </p:tgtEl>
                                        <p:attrNameLst>
                                          <p:attrName>ppt_x</p:attrName>
                                        </p:attrNameLst>
                                      </p:cBhvr>
                                      <p:tavLst>
                                        <p:tav tm="0">
                                          <p:val>
                                            <p:strVal val="#ppt_x"/>
                                          </p:val>
                                        </p:tav>
                                        <p:tav tm="100000">
                                          <p:val>
                                            <p:strVal val="#ppt_x"/>
                                          </p:val>
                                        </p:tav>
                                      </p:tavLst>
                                    </p:anim>
                                    <p:anim calcmode="lin" valueType="num">
                                      <p:cBhvr>
                                        <p:cTn id="108" dur="1000" fill="hold"/>
                                        <p:tgtEl>
                                          <p:spTgt spid="20">
                                            <p:txEl>
                                              <p:pRg st="0" end="0"/>
                                            </p:txEl>
                                          </p:spTgt>
                                        </p:tgtEl>
                                        <p:attrNameLst>
                                          <p:attrName>ppt_y</p:attrName>
                                        </p:attrNameLst>
                                      </p:cBhvr>
                                      <p:tavLst>
                                        <p:tav tm="0">
                                          <p:val>
                                            <p:strVal val="#ppt_y+.1"/>
                                          </p:val>
                                        </p:tav>
                                        <p:tav tm="100000">
                                          <p:val>
                                            <p:strVal val="#ppt_y"/>
                                          </p:val>
                                        </p:tav>
                                      </p:tavLst>
                                    </p:anim>
                                  </p:childTnLst>
                                </p:cTn>
                              </p:par>
                            </p:childTnLst>
                          </p:cTn>
                        </p:par>
                        <p:par>
                          <p:cTn id="109" fill="hold">
                            <p:stCondLst>
                              <p:cond delay="14400"/>
                            </p:stCondLst>
                            <p:childTnLst>
                              <p:par>
                                <p:cTn id="110" presetID="42" presetClass="entr" presetSubtype="0" fill="hold" grpId="0" nodeType="afterEffect">
                                  <p:stCondLst>
                                    <p:cond delay="0"/>
                                  </p:stCondLst>
                                  <p:childTnLst>
                                    <p:set>
                                      <p:cBhvr>
                                        <p:cTn id="111" dur="1" fill="hold">
                                          <p:stCondLst>
                                            <p:cond delay="0"/>
                                          </p:stCondLst>
                                        </p:cTn>
                                        <p:tgtEl>
                                          <p:spTgt spid="21">
                                            <p:txEl>
                                              <p:pRg st="0" end="0"/>
                                            </p:txEl>
                                          </p:spTgt>
                                        </p:tgtEl>
                                        <p:attrNameLst>
                                          <p:attrName>style.visibility</p:attrName>
                                        </p:attrNameLst>
                                      </p:cBhvr>
                                      <p:to>
                                        <p:strVal val="visible"/>
                                      </p:to>
                                    </p:set>
                                    <p:animEffect transition="in" filter="fade">
                                      <p:cBhvr>
                                        <p:cTn id="112" dur="1000"/>
                                        <p:tgtEl>
                                          <p:spTgt spid="21">
                                            <p:txEl>
                                              <p:pRg st="0" end="0"/>
                                            </p:txEl>
                                          </p:spTgt>
                                        </p:tgtEl>
                                      </p:cBhvr>
                                    </p:animEffect>
                                    <p:anim calcmode="lin" valueType="num">
                                      <p:cBhvr>
                                        <p:cTn id="113" dur="1000" fill="hold"/>
                                        <p:tgtEl>
                                          <p:spTgt spid="21">
                                            <p:txEl>
                                              <p:pRg st="0" end="0"/>
                                            </p:txEl>
                                          </p:spTgt>
                                        </p:tgtEl>
                                        <p:attrNameLst>
                                          <p:attrName>ppt_x</p:attrName>
                                        </p:attrNameLst>
                                      </p:cBhvr>
                                      <p:tavLst>
                                        <p:tav tm="0">
                                          <p:val>
                                            <p:strVal val="#ppt_x"/>
                                          </p:val>
                                        </p:tav>
                                        <p:tav tm="100000">
                                          <p:val>
                                            <p:strVal val="#ppt_x"/>
                                          </p:val>
                                        </p:tav>
                                      </p:tavLst>
                                    </p:anim>
                                    <p:anim calcmode="lin" valueType="num">
                                      <p:cBhvr>
                                        <p:cTn id="114" dur="1000" fill="hold"/>
                                        <p:tgtEl>
                                          <p:spTgt spid="21">
                                            <p:txEl>
                                              <p:pRg st="0" end="0"/>
                                            </p:txEl>
                                          </p:spTgt>
                                        </p:tgtEl>
                                        <p:attrNameLst>
                                          <p:attrName>ppt_y</p:attrName>
                                        </p:attrNameLst>
                                      </p:cBhvr>
                                      <p:tavLst>
                                        <p:tav tm="0">
                                          <p:val>
                                            <p:strVal val="#ppt_y+.1"/>
                                          </p:val>
                                        </p:tav>
                                        <p:tav tm="100000">
                                          <p:val>
                                            <p:strVal val="#ppt_y"/>
                                          </p:val>
                                        </p:tav>
                                      </p:tavLst>
                                    </p:anim>
                                  </p:childTnLst>
                                </p:cTn>
                              </p:par>
                            </p:childTnLst>
                          </p:cTn>
                        </p:par>
                        <p:par>
                          <p:cTn id="115" fill="hold">
                            <p:stCondLst>
                              <p:cond delay="15400"/>
                            </p:stCondLst>
                            <p:childTnLst>
                              <p:par>
                                <p:cTn id="116" presetID="42" presetClass="entr" presetSubtype="0" fill="hold" grpId="0" nodeType="afterEffect">
                                  <p:stCondLst>
                                    <p:cond delay="0"/>
                                  </p:stCondLst>
                                  <p:childTnLst>
                                    <p:set>
                                      <p:cBhvr>
                                        <p:cTn id="117" dur="1" fill="hold">
                                          <p:stCondLst>
                                            <p:cond delay="0"/>
                                          </p:stCondLst>
                                        </p:cTn>
                                        <p:tgtEl>
                                          <p:spTgt spid="22">
                                            <p:txEl>
                                              <p:pRg st="0" end="0"/>
                                            </p:txEl>
                                          </p:spTgt>
                                        </p:tgtEl>
                                        <p:attrNameLst>
                                          <p:attrName>style.visibility</p:attrName>
                                        </p:attrNameLst>
                                      </p:cBhvr>
                                      <p:to>
                                        <p:strVal val="visible"/>
                                      </p:to>
                                    </p:set>
                                    <p:animEffect transition="in" filter="fade">
                                      <p:cBhvr>
                                        <p:cTn id="118" dur="1000"/>
                                        <p:tgtEl>
                                          <p:spTgt spid="22">
                                            <p:txEl>
                                              <p:pRg st="0" end="0"/>
                                            </p:txEl>
                                          </p:spTgt>
                                        </p:tgtEl>
                                      </p:cBhvr>
                                    </p:animEffect>
                                    <p:anim calcmode="lin" valueType="num">
                                      <p:cBhvr>
                                        <p:cTn id="119" dur="1000" fill="hold"/>
                                        <p:tgtEl>
                                          <p:spTgt spid="22">
                                            <p:txEl>
                                              <p:pRg st="0" end="0"/>
                                            </p:txEl>
                                          </p:spTgt>
                                        </p:tgtEl>
                                        <p:attrNameLst>
                                          <p:attrName>ppt_x</p:attrName>
                                        </p:attrNameLst>
                                      </p:cBhvr>
                                      <p:tavLst>
                                        <p:tav tm="0">
                                          <p:val>
                                            <p:strVal val="#ppt_x"/>
                                          </p:val>
                                        </p:tav>
                                        <p:tav tm="100000">
                                          <p:val>
                                            <p:strVal val="#ppt_x"/>
                                          </p:val>
                                        </p:tav>
                                      </p:tavLst>
                                    </p:anim>
                                    <p:anim calcmode="lin" valueType="num">
                                      <p:cBhvr>
                                        <p:cTn id="120" dur="1000" fill="hold"/>
                                        <p:tgtEl>
                                          <p:spTgt spid="2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21" fill="hold">
                      <p:stCondLst>
                        <p:cond delay="indefinite"/>
                      </p:stCondLst>
                      <p:childTnLst>
                        <p:par>
                          <p:cTn id="122" fill="hold">
                            <p:stCondLst>
                              <p:cond delay="0"/>
                            </p:stCondLst>
                            <p:childTnLst>
                              <p:par>
                                <p:cTn id="123" presetID="22" presetClass="entr" presetSubtype="8" fill="hold" grpId="0" nodeType="clickEffect">
                                  <p:stCondLst>
                                    <p:cond delay="0"/>
                                  </p:stCondLst>
                                  <p:childTnLst>
                                    <p:set>
                                      <p:cBhvr>
                                        <p:cTn id="124" dur="1" fill="hold">
                                          <p:stCondLst>
                                            <p:cond delay="0"/>
                                          </p:stCondLst>
                                        </p:cTn>
                                        <p:tgtEl>
                                          <p:spTgt spid="4"/>
                                        </p:tgtEl>
                                        <p:attrNameLst>
                                          <p:attrName>style.visibility</p:attrName>
                                        </p:attrNameLst>
                                      </p:cBhvr>
                                      <p:to>
                                        <p:strVal val="visible"/>
                                      </p:to>
                                    </p:set>
                                    <p:animEffect transition="in" filter="wipe(left)">
                                      <p:cBhvr>
                                        <p:cTn id="125" dur="500"/>
                                        <p:tgtEl>
                                          <p:spTgt spid="4"/>
                                        </p:tgtEl>
                                      </p:cBhvr>
                                    </p:animEffect>
                                  </p:childTnLst>
                                </p:cTn>
                              </p:par>
                            </p:childTnLst>
                          </p:cTn>
                        </p:par>
                      </p:childTnLst>
                    </p:cTn>
                  </p:par>
                  <p:par>
                    <p:cTn id="126" fill="hold">
                      <p:stCondLst>
                        <p:cond delay="indefinite"/>
                      </p:stCondLst>
                      <p:childTnLst>
                        <p:par>
                          <p:cTn id="127" fill="hold">
                            <p:stCondLst>
                              <p:cond delay="0"/>
                            </p:stCondLst>
                            <p:childTnLst>
                              <p:par>
                                <p:cTn id="128" presetID="22" presetClass="entr" presetSubtype="8" fill="hold" nodeType="clickEffect">
                                  <p:stCondLst>
                                    <p:cond delay="0"/>
                                  </p:stCondLst>
                                  <p:childTnLst>
                                    <p:set>
                                      <p:cBhvr>
                                        <p:cTn id="129" dur="1" fill="hold">
                                          <p:stCondLst>
                                            <p:cond delay="0"/>
                                          </p:stCondLst>
                                        </p:cTn>
                                        <p:tgtEl>
                                          <p:spTgt spid="143"/>
                                        </p:tgtEl>
                                        <p:attrNameLst>
                                          <p:attrName>style.visibility</p:attrName>
                                        </p:attrNameLst>
                                      </p:cBhvr>
                                      <p:to>
                                        <p:strVal val="visible"/>
                                      </p:to>
                                    </p:set>
                                    <p:animEffect transition="in" filter="wipe(left)">
                                      <p:cBhvr>
                                        <p:cTn id="130" dur="500"/>
                                        <p:tgtEl>
                                          <p:spTgt spid="143"/>
                                        </p:tgtEl>
                                      </p:cBhvr>
                                    </p:animEffect>
                                  </p:childTnLst>
                                </p:cTn>
                              </p:par>
                            </p:childTnLst>
                          </p:cTn>
                        </p:par>
                      </p:childTnLst>
                    </p:cTn>
                  </p:par>
                  <p:par>
                    <p:cTn id="131" fill="hold">
                      <p:stCondLst>
                        <p:cond delay="indefinite"/>
                      </p:stCondLst>
                      <p:childTnLst>
                        <p:par>
                          <p:cTn id="132" fill="hold">
                            <p:stCondLst>
                              <p:cond delay="0"/>
                            </p:stCondLst>
                            <p:childTnLst>
                              <p:par>
                                <p:cTn id="133" presetID="22" presetClass="entr" presetSubtype="8" fill="hold" nodeType="clickEffect">
                                  <p:stCondLst>
                                    <p:cond delay="0"/>
                                  </p:stCondLst>
                                  <p:childTnLst>
                                    <p:set>
                                      <p:cBhvr>
                                        <p:cTn id="134" dur="1" fill="hold">
                                          <p:stCondLst>
                                            <p:cond delay="0"/>
                                          </p:stCondLst>
                                        </p:cTn>
                                        <p:tgtEl>
                                          <p:spTgt spid="144"/>
                                        </p:tgtEl>
                                        <p:attrNameLst>
                                          <p:attrName>style.visibility</p:attrName>
                                        </p:attrNameLst>
                                      </p:cBhvr>
                                      <p:to>
                                        <p:strVal val="visible"/>
                                      </p:to>
                                    </p:set>
                                    <p:animEffect transition="in" filter="wipe(left)">
                                      <p:cBhvr>
                                        <p:cTn id="135" dur="500"/>
                                        <p:tgtEl>
                                          <p:spTgt spid="144"/>
                                        </p:tgtEl>
                                      </p:cBhvr>
                                    </p:animEffect>
                                  </p:childTnLst>
                                </p:cTn>
                              </p:par>
                            </p:childTnLst>
                          </p:cTn>
                        </p:par>
                      </p:childTnLst>
                    </p:cTn>
                  </p:par>
                  <p:par>
                    <p:cTn id="136" fill="hold">
                      <p:stCondLst>
                        <p:cond delay="indefinite"/>
                      </p:stCondLst>
                      <p:childTnLst>
                        <p:par>
                          <p:cTn id="137" fill="hold">
                            <p:stCondLst>
                              <p:cond delay="0"/>
                            </p:stCondLst>
                            <p:childTnLst>
                              <p:par>
                                <p:cTn id="138" presetID="22" presetClass="entr" presetSubtype="8" fill="hold" nodeType="clickEffect">
                                  <p:stCondLst>
                                    <p:cond delay="0"/>
                                  </p:stCondLst>
                                  <p:childTnLst>
                                    <p:set>
                                      <p:cBhvr>
                                        <p:cTn id="139" dur="1" fill="hold">
                                          <p:stCondLst>
                                            <p:cond delay="0"/>
                                          </p:stCondLst>
                                        </p:cTn>
                                        <p:tgtEl>
                                          <p:spTgt spid="145"/>
                                        </p:tgtEl>
                                        <p:attrNameLst>
                                          <p:attrName>style.visibility</p:attrName>
                                        </p:attrNameLst>
                                      </p:cBhvr>
                                      <p:to>
                                        <p:strVal val="visible"/>
                                      </p:to>
                                    </p:set>
                                    <p:animEffect transition="in" filter="wipe(left)">
                                      <p:cBhvr>
                                        <p:cTn id="140" dur="500"/>
                                        <p:tgtEl>
                                          <p:spTgt spid="145"/>
                                        </p:tgtEl>
                                      </p:cBhvr>
                                    </p:animEffect>
                                  </p:childTnLst>
                                </p:cTn>
                              </p:par>
                            </p:childTnLst>
                          </p:cTn>
                        </p:par>
                      </p:childTnLst>
                    </p:cTn>
                  </p:par>
                  <p:par>
                    <p:cTn id="141" fill="hold">
                      <p:stCondLst>
                        <p:cond delay="indefinite"/>
                      </p:stCondLst>
                      <p:childTnLst>
                        <p:par>
                          <p:cTn id="142" fill="hold">
                            <p:stCondLst>
                              <p:cond delay="0"/>
                            </p:stCondLst>
                            <p:childTnLst>
                              <p:par>
                                <p:cTn id="143" presetID="22" presetClass="entr" presetSubtype="8" fill="hold" nodeType="clickEffect">
                                  <p:stCondLst>
                                    <p:cond delay="0"/>
                                  </p:stCondLst>
                                  <p:childTnLst>
                                    <p:set>
                                      <p:cBhvr>
                                        <p:cTn id="144" dur="1" fill="hold">
                                          <p:stCondLst>
                                            <p:cond delay="0"/>
                                          </p:stCondLst>
                                        </p:cTn>
                                        <p:tgtEl>
                                          <p:spTgt spid="146"/>
                                        </p:tgtEl>
                                        <p:attrNameLst>
                                          <p:attrName>style.visibility</p:attrName>
                                        </p:attrNameLst>
                                      </p:cBhvr>
                                      <p:to>
                                        <p:strVal val="visible"/>
                                      </p:to>
                                    </p:set>
                                    <p:animEffect transition="in" filter="wipe(left)">
                                      <p:cBhvr>
                                        <p:cTn id="145" dur="500"/>
                                        <p:tgtEl>
                                          <p:spTgt spid="146"/>
                                        </p:tgtEl>
                                      </p:cBhvr>
                                    </p:animEffect>
                                  </p:childTnLst>
                                </p:cTn>
                              </p:par>
                            </p:childTnLst>
                          </p:cTn>
                        </p:par>
                      </p:childTnLst>
                    </p:cTn>
                  </p:par>
                  <p:par>
                    <p:cTn id="146" fill="hold">
                      <p:stCondLst>
                        <p:cond delay="indefinite"/>
                      </p:stCondLst>
                      <p:childTnLst>
                        <p:par>
                          <p:cTn id="147" fill="hold">
                            <p:stCondLst>
                              <p:cond delay="0"/>
                            </p:stCondLst>
                            <p:childTnLst>
                              <p:par>
                                <p:cTn id="148" presetID="22" presetClass="entr" presetSubtype="8" fill="hold" nodeType="clickEffect">
                                  <p:stCondLst>
                                    <p:cond delay="0"/>
                                  </p:stCondLst>
                                  <p:childTnLst>
                                    <p:set>
                                      <p:cBhvr>
                                        <p:cTn id="149" dur="1" fill="hold">
                                          <p:stCondLst>
                                            <p:cond delay="0"/>
                                          </p:stCondLst>
                                        </p:cTn>
                                        <p:tgtEl>
                                          <p:spTgt spid="44"/>
                                        </p:tgtEl>
                                        <p:attrNameLst>
                                          <p:attrName>style.visibility</p:attrName>
                                        </p:attrNameLst>
                                      </p:cBhvr>
                                      <p:to>
                                        <p:strVal val="visible"/>
                                      </p:to>
                                    </p:set>
                                    <p:animEffect transition="in" filter="wipe(left)">
                                      <p:cBhvr>
                                        <p:cTn id="150" dur="500"/>
                                        <p:tgtEl>
                                          <p:spTgt spid="44"/>
                                        </p:tgtEl>
                                      </p:cBhvr>
                                    </p:animEffect>
                                  </p:childTnLst>
                                </p:cTn>
                              </p:par>
                              <p:par>
                                <p:cTn id="151" presetID="22" presetClass="entr" presetSubtype="8" fill="hold" nodeType="withEffect">
                                  <p:stCondLst>
                                    <p:cond delay="0"/>
                                  </p:stCondLst>
                                  <p:childTnLst>
                                    <p:set>
                                      <p:cBhvr>
                                        <p:cTn id="152" dur="1" fill="hold">
                                          <p:stCondLst>
                                            <p:cond delay="0"/>
                                          </p:stCondLst>
                                        </p:cTn>
                                        <p:tgtEl>
                                          <p:spTgt spid="148"/>
                                        </p:tgtEl>
                                        <p:attrNameLst>
                                          <p:attrName>style.visibility</p:attrName>
                                        </p:attrNameLst>
                                      </p:cBhvr>
                                      <p:to>
                                        <p:strVal val="visible"/>
                                      </p:to>
                                    </p:set>
                                    <p:animEffect transition="in" filter="wipe(left)">
                                      <p:cBhvr>
                                        <p:cTn id="153" dur="500"/>
                                        <p:tgtEl>
                                          <p:spTgt spid="148"/>
                                        </p:tgtEl>
                                      </p:cBhvr>
                                    </p:animEffect>
                                  </p:childTnLst>
                                </p:cTn>
                              </p:par>
                              <p:par>
                                <p:cTn id="154" presetID="22" presetClass="entr" presetSubtype="8" fill="hold" nodeType="withEffect">
                                  <p:stCondLst>
                                    <p:cond delay="0"/>
                                  </p:stCondLst>
                                  <p:childTnLst>
                                    <p:set>
                                      <p:cBhvr>
                                        <p:cTn id="155" dur="1" fill="hold">
                                          <p:stCondLst>
                                            <p:cond delay="0"/>
                                          </p:stCondLst>
                                        </p:cTn>
                                        <p:tgtEl>
                                          <p:spTgt spid="147"/>
                                        </p:tgtEl>
                                        <p:attrNameLst>
                                          <p:attrName>style.visibility</p:attrName>
                                        </p:attrNameLst>
                                      </p:cBhvr>
                                      <p:to>
                                        <p:strVal val="visible"/>
                                      </p:to>
                                    </p:set>
                                    <p:animEffect transition="in" filter="wipe(left)">
                                      <p:cBhvr>
                                        <p:cTn id="156" dur="500"/>
                                        <p:tgtEl>
                                          <p:spTgt spid="147"/>
                                        </p:tgtEl>
                                      </p:cBhvr>
                                    </p:animEffect>
                                  </p:childTnLst>
                                </p:cTn>
                              </p:par>
                            </p:childTnLst>
                          </p:cTn>
                        </p:par>
                      </p:childTnLst>
                    </p:cTn>
                  </p:par>
                  <p:par>
                    <p:cTn id="157" fill="hold">
                      <p:stCondLst>
                        <p:cond delay="indefinite"/>
                      </p:stCondLst>
                      <p:childTnLst>
                        <p:par>
                          <p:cTn id="158" fill="hold">
                            <p:stCondLst>
                              <p:cond delay="0"/>
                            </p:stCondLst>
                            <p:childTnLst>
                              <p:par>
                                <p:cTn id="159" presetID="22" presetClass="entr" presetSubtype="8" fill="hold" nodeType="clickEffect">
                                  <p:stCondLst>
                                    <p:cond delay="0"/>
                                  </p:stCondLst>
                                  <p:childTnLst>
                                    <p:set>
                                      <p:cBhvr>
                                        <p:cTn id="160" dur="1" fill="hold">
                                          <p:stCondLst>
                                            <p:cond delay="0"/>
                                          </p:stCondLst>
                                        </p:cTn>
                                        <p:tgtEl>
                                          <p:spTgt spid="68"/>
                                        </p:tgtEl>
                                        <p:attrNameLst>
                                          <p:attrName>style.visibility</p:attrName>
                                        </p:attrNameLst>
                                      </p:cBhvr>
                                      <p:to>
                                        <p:strVal val="visible"/>
                                      </p:to>
                                    </p:set>
                                    <p:animEffect transition="in" filter="wipe(left)">
                                      <p:cBhvr>
                                        <p:cTn id="161" dur="500"/>
                                        <p:tgtEl>
                                          <p:spTgt spid="68"/>
                                        </p:tgtEl>
                                      </p:cBhvr>
                                    </p:animEffect>
                                  </p:childTnLst>
                                </p:cTn>
                              </p:par>
                            </p:childTnLst>
                          </p:cTn>
                        </p:par>
                      </p:childTnLst>
                    </p:cTn>
                  </p:par>
                  <p:par>
                    <p:cTn id="162" fill="hold">
                      <p:stCondLst>
                        <p:cond delay="indefinite"/>
                      </p:stCondLst>
                      <p:childTnLst>
                        <p:par>
                          <p:cTn id="163" fill="hold">
                            <p:stCondLst>
                              <p:cond delay="0"/>
                            </p:stCondLst>
                            <p:childTnLst>
                              <p:par>
                                <p:cTn id="164" presetID="10" presetClass="entr" presetSubtype="0" fill="hold" grpId="0" nodeType="clickEffect">
                                  <p:stCondLst>
                                    <p:cond delay="0"/>
                                  </p:stCondLst>
                                  <p:childTnLst>
                                    <p:set>
                                      <p:cBhvr>
                                        <p:cTn id="165" dur="1" fill="hold">
                                          <p:stCondLst>
                                            <p:cond delay="0"/>
                                          </p:stCondLst>
                                        </p:cTn>
                                        <p:tgtEl>
                                          <p:spTgt spid="107"/>
                                        </p:tgtEl>
                                        <p:attrNameLst>
                                          <p:attrName>style.visibility</p:attrName>
                                        </p:attrNameLst>
                                      </p:cBhvr>
                                      <p:to>
                                        <p:strVal val="visible"/>
                                      </p:to>
                                    </p:set>
                                    <p:animEffect transition="in" filter="fade">
                                      <p:cBhvr>
                                        <p:cTn id="166" dur="500"/>
                                        <p:tgtEl>
                                          <p:spTgt spid="107"/>
                                        </p:tgtEl>
                                      </p:cBhvr>
                                    </p:animEffect>
                                  </p:childTnLst>
                                </p:cTn>
                              </p:par>
                              <p:par>
                                <p:cTn id="167" presetID="22" presetClass="entr" presetSubtype="8" fill="hold" nodeType="withEffect">
                                  <p:stCondLst>
                                    <p:cond delay="0"/>
                                  </p:stCondLst>
                                  <p:childTnLst>
                                    <p:set>
                                      <p:cBhvr>
                                        <p:cTn id="168" dur="1" fill="hold">
                                          <p:stCondLst>
                                            <p:cond delay="0"/>
                                          </p:stCondLst>
                                        </p:cTn>
                                        <p:tgtEl>
                                          <p:spTgt spid="46"/>
                                        </p:tgtEl>
                                        <p:attrNameLst>
                                          <p:attrName>style.visibility</p:attrName>
                                        </p:attrNameLst>
                                      </p:cBhvr>
                                      <p:to>
                                        <p:strVal val="visible"/>
                                      </p:to>
                                    </p:set>
                                    <p:animEffect transition="in" filter="wipe(left)">
                                      <p:cBhvr>
                                        <p:cTn id="169" dur="500"/>
                                        <p:tgtEl>
                                          <p:spTgt spid="46"/>
                                        </p:tgtEl>
                                      </p:cBhvr>
                                    </p:animEffect>
                                  </p:childTnLst>
                                </p:cTn>
                              </p:par>
                            </p:childTnLst>
                          </p:cTn>
                        </p:par>
                      </p:childTnLst>
                    </p:cTn>
                  </p:par>
                  <p:par>
                    <p:cTn id="170" fill="hold">
                      <p:stCondLst>
                        <p:cond delay="indefinite"/>
                      </p:stCondLst>
                      <p:childTnLst>
                        <p:par>
                          <p:cTn id="171" fill="hold">
                            <p:stCondLst>
                              <p:cond delay="0"/>
                            </p:stCondLst>
                            <p:childTnLst>
                              <p:par>
                                <p:cTn id="172" presetID="22" presetClass="entr" presetSubtype="8" fill="hold" nodeType="clickEffect">
                                  <p:stCondLst>
                                    <p:cond delay="0"/>
                                  </p:stCondLst>
                                  <p:childTnLst>
                                    <p:set>
                                      <p:cBhvr>
                                        <p:cTn id="173" dur="1" fill="hold">
                                          <p:stCondLst>
                                            <p:cond delay="0"/>
                                          </p:stCondLst>
                                        </p:cTn>
                                        <p:tgtEl>
                                          <p:spTgt spid="152"/>
                                        </p:tgtEl>
                                        <p:attrNameLst>
                                          <p:attrName>style.visibility</p:attrName>
                                        </p:attrNameLst>
                                      </p:cBhvr>
                                      <p:to>
                                        <p:strVal val="visible"/>
                                      </p:to>
                                    </p:set>
                                    <p:animEffect transition="in" filter="wipe(left)">
                                      <p:cBhvr>
                                        <p:cTn id="174" dur="500"/>
                                        <p:tgtEl>
                                          <p:spTgt spid="152"/>
                                        </p:tgtEl>
                                      </p:cBhvr>
                                    </p:animEffect>
                                  </p:childTnLst>
                                </p:cTn>
                              </p:par>
                            </p:childTnLst>
                          </p:cTn>
                        </p:par>
                      </p:childTnLst>
                    </p:cTn>
                  </p:par>
                  <p:par>
                    <p:cTn id="175" fill="hold">
                      <p:stCondLst>
                        <p:cond delay="indefinite"/>
                      </p:stCondLst>
                      <p:childTnLst>
                        <p:par>
                          <p:cTn id="176" fill="hold">
                            <p:stCondLst>
                              <p:cond delay="0"/>
                            </p:stCondLst>
                            <p:childTnLst>
                              <p:par>
                                <p:cTn id="177" presetID="22" presetClass="entr" presetSubtype="8" fill="hold" nodeType="clickEffect">
                                  <p:stCondLst>
                                    <p:cond delay="0"/>
                                  </p:stCondLst>
                                  <p:childTnLst>
                                    <p:set>
                                      <p:cBhvr>
                                        <p:cTn id="178" dur="1" fill="hold">
                                          <p:stCondLst>
                                            <p:cond delay="0"/>
                                          </p:stCondLst>
                                        </p:cTn>
                                        <p:tgtEl>
                                          <p:spTgt spid="151"/>
                                        </p:tgtEl>
                                        <p:attrNameLst>
                                          <p:attrName>style.visibility</p:attrName>
                                        </p:attrNameLst>
                                      </p:cBhvr>
                                      <p:to>
                                        <p:strVal val="visible"/>
                                      </p:to>
                                    </p:set>
                                    <p:animEffect transition="in" filter="wipe(left)">
                                      <p:cBhvr>
                                        <p:cTn id="179" dur="500"/>
                                        <p:tgtEl>
                                          <p:spTgt spid="151"/>
                                        </p:tgtEl>
                                      </p:cBhvr>
                                    </p:animEffect>
                                  </p:childTnLst>
                                </p:cTn>
                              </p:par>
                            </p:childTnLst>
                          </p:cTn>
                        </p:par>
                      </p:childTnLst>
                    </p:cTn>
                  </p:par>
                  <p:par>
                    <p:cTn id="180" fill="hold">
                      <p:stCondLst>
                        <p:cond delay="indefinite"/>
                      </p:stCondLst>
                      <p:childTnLst>
                        <p:par>
                          <p:cTn id="181" fill="hold">
                            <p:stCondLst>
                              <p:cond delay="0"/>
                            </p:stCondLst>
                            <p:childTnLst>
                              <p:par>
                                <p:cTn id="182" presetID="22" presetClass="entr" presetSubtype="8" fill="hold" nodeType="clickEffect">
                                  <p:stCondLst>
                                    <p:cond delay="0"/>
                                  </p:stCondLst>
                                  <p:childTnLst>
                                    <p:set>
                                      <p:cBhvr>
                                        <p:cTn id="183" dur="1" fill="hold">
                                          <p:stCondLst>
                                            <p:cond delay="0"/>
                                          </p:stCondLst>
                                        </p:cTn>
                                        <p:tgtEl>
                                          <p:spTgt spid="150"/>
                                        </p:tgtEl>
                                        <p:attrNameLst>
                                          <p:attrName>style.visibility</p:attrName>
                                        </p:attrNameLst>
                                      </p:cBhvr>
                                      <p:to>
                                        <p:strVal val="visible"/>
                                      </p:to>
                                    </p:set>
                                    <p:animEffect transition="in" filter="wipe(left)">
                                      <p:cBhvr>
                                        <p:cTn id="184" dur="500"/>
                                        <p:tgtEl>
                                          <p:spTgt spid="150"/>
                                        </p:tgtEl>
                                      </p:cBhvr>
                                    </p:animEffect>
                                  </p:childTnLst>
                                </p:cTn>
                              </p:par>
                            </p:childTnLst>
                          </p:cTn>
                        </p:par>
                      </p:childTnLst>
                    </p:cTn>
                  </p:par>
                  <p:par>
                    <p:cTn id="185" fill="hold">
                      <p:stCondLst>
                        <p:cond delay="indefinite"/>
                      </p:stCondLst>
                      <p:childTnLst>
                        <p:par>
                          <p:cTn id="186" fill="hold">
                            <p:stCondLst>
                              <p:cond delay="0"/>
                            </p:stCondLst>
                            <p:childTnLst>
                              <p:par>
                                <p:cTn id="187" presetID="22" presetClass="entr" presetSubtype="8" fill="hold" nodeType="clickEffect">
                                  <p:stCondLst>
                                    <p:cond delay="0"/>
                                  </p:stCondLst>
                                  <p:childTnLst>
                                    <p:set>
                                      <p:cBhvr>
                                        <p:cTn id="188" dur="1" fill="hold">
                                          <p:stCondLst>
                                            <p:cond delay="0"/>
                                          </p:stCondLst>
                                        </p:cTn>
                                        <p:tgtEl>
                                          <p:spTgt spid="149"/>
                                        </p:tgtEl>
                                        <p:attrNameLst>
                                          <p:attrName>style.visibility</p:attrName>
                                        </p:attrNameLst>
                                      </p:cBhvr>
                                      <p:to>
                                        <p:strVal val="visible"/>
                                      </p:to>
                                    </p:set>
                                    <p:animEffect transition="in" filter="wipe(left)">
                                      <p:cBhvr>
                                        <p:cTn id="189" dur="500"/>
                                        <p:tgtEl>
                                          <p:spTgt spid="149"/>
                                        </p:tgtEl>
                                      </p:cBhvr>
                                    </p:animEffect>
                                  </p:childTnLst>
                                </p:cTn>
                              </p:par>
                            </p:childTnLst>
                          </p:cTn>
                        </p:par>
                      </p:childTnLst>
                    </p:cTn>
                  </p:par>
                  <p:par>
                    <p:cTn id="190" fill="hold">
                      <p:stCondLst>
                        <p:cond delay="indefinite"/>
                      </p:stCondLst>
                      <p:childTnLst>
                        <p:par>
                          <p:cTn id="191" fill="hold">
                            <p:stCondLst>
                              <p:cond delay="0"/>
                            </p:stCondLst>
                            <p:childTnLst>
                              <p:par>
                                <p:cTn id="192" presetID="22" presetClass="entr" presetSubtype="8" fill="hold" nodeType="clickEffect">
                                  <p:stCondLst>
                                    <p:cond delay="0"/>
                                  </p:stCondLst>
                                  <p:childTnLst>
                                    <p:set>
                                      <p:cBhvr>
                                        <p:cTn id="193" dur="1" fill="hold">
                                          <p:stCondLst>
                                            <p:cond delay="0"/>
                                          </p:stCondLst>
                                        </p:cTn>
                                        <p:tgtEl>
                                          <p:spTgt spid="47"/>
                                        </p:tgtEl>
                                        <p:attrNameLst>
                                          <p:attrName>style.visibility</p:attrName>
                                        </p:attrNameLst>
                                      </p:cBhvr>
                                      <p:to>
                                        <p:strVal val="visible"/>
                                      </p:to>
                                    </p:set>
                                    <p:animEffect transition="in" filter="wipe(left)">
                                      <p:cBhvr>
                                        <p:cTn id="194" dur="500"/>
                                        <p:tgtEl>
                                          <p:spTgt spid="47"/>
                                        </p:tgtEl>
                                      </p:cBhvr>
                                    </p:animEffect>
                                  </p:childTnLst>
                                </p:cTn>
                              </p:par>
                            </p:childTnLst>
                          </p:cTn>
                        </p:par>
                        <p:par>
                          <p:cTn id="195" fill="hold">
                            <p:stCondLst>
                              <p:cond delay="500"/>
                            </p:stCondLst>
                            <p:childTnLst>
                              <p:par>
                                <p:cTn id="196" presetID="22" presetClass="entr" presetSubtype="8" fill="hold" nodeType="afterEffect">
                                  <p:stCondLst>
                                    <p:cond delay="0"/>
                                  </p:stCondLst>
                                  <p:childTnLst>
                                    <p:set>
                                      <p:cBhvr>
                                        <p:cTn id="197" dur="1" fill="hold">
                                          <p:stCondLst>
                                            <p:cond delay="0"/>
                                          </p:stCondLst>
                                        </p:cTn>
                                        <p:tgtEl>
                                          <p:spTgt spid="141"/>
                                        </p:tgtEl>
                                        <p:attrNameLst>
                                          <p:attrName>style.visibility</p:attrName>
                                        </p:attrNameLst>
                                      </p:cBhvr>
                                      <p:to>
                                        <p:strVal val="visible"/>
                                      </p:to>
                                    </p:set>
                                    <p:animEffect transition="in" filter="wipe(left)">
                                      <p:cBhvr>
                                        <p:cTn id="198" dur="500"/>
                                        <p:tgtEl>
                                          <p:spTgt spid="141"/>
                                        </p:tgtEl>
                                      </p:cBhvr>
                                    </p:animEffect>
                                  </p:childTnLst>
                                </p:cTn>
                              </p:par>
                            </p:childTnLst>
                          </p:cTn>
                        </p:par>
                      </p:childTnLst>
                    </p:cTn>
                  </p:par>
                  <p:par>
                    <p:cTn id="199" fill="hold">
                      <p:stCondLst>
                        <p:cond delay="indefinite"/>
                      </p:stCondLst>
                      <p:childTnLst>
                        <p:par>
                          <p:cTn id="200" fill="hold">
                            <p:stCondLst>
                              <p:cond delay="0"/>
                            </p:stCondLst>
                            <p:childTnLst>
                              <p:par>
                                <p:cTn id="201" presetID="10" presetClass="entr" presetSubtype="0" fill="hold" grpId="0" nodeType="clickEffect">
                                  <p:stCondLst>
                                    <p:cond delay="0"/>
                                  </p:stCondLst>
                                  <p:childTnLst>
                                    <p:set>
                                      <p:cBhvr>
                                        <p:cTn id="202" dur="1" fill="hold">
                                          <p:stCondLst>
                                            <p:cond delay="0"/>
                                          </p:stCondLst>
                                        </p:cTn>
                                        <p:tgtEl>
                                          <p:spTgt spid="109"/>
                                        </p:tgtEl>
                                        <p:attrNameLst>
                                          <p:attrName>style.visibility</p:attrName>
                                        </p:attrNameLst>
                                      </p:cBhvr>
                                      <p:to>
                                        <p:strVal val="visible"/>
                                      </p:to>
                                    </p:set>
                                    <p:animEffect transition="in" filter="fade">
                                      <p:cBhvr>
                                        <p:cTn id="203" dur="500"/>
                                        <p:tgtEl>
                                          <p:spTgt spid="109"/>
                                        </p:tgtEl>
                                      </p:cBhvr>
                                    </p:animEffect>
                                  </p:childTnLst>
                                </p:cTn>
                              </p:par>
                            </p:childTnLst>
                          </p:cTn>
                        </p:par>
                      </p:childTnLst>
                    </p:cTn>
                  </p:par>
                  <p:par>
                    <p:cTn id="204" fill="hold">
                      <p:stCondLst>
                        <p:cond delay="indefinite"/>
                      </p:stCondLst>
                      <p:childTnLst>
                        <p:par>
                          <p:cTn id="205" fill="hold">
                            <p:stCondLst>
                              <p:cond delay="0"/>
                            </p:stCondLst>
                            <p:childTnLst>
                              <p:par>
                                <p:cTn id="206" presetID="22" presetClass="entr" presetSubtype="8" fill="hold" nodeType="clickEffect">
                                  <p:stCondLst>
                                    <p:cond delay="0"/>
                                  </p:stCondLst>
                                  <p:childTnLst>
                                    <p:set>
                                      <p:cBhvr>
                                        <p:cTn id="207" dur="1" fill="hold">
                                          <p:stCondLst>
                                            <p:cond delay="0"/>
                                          </p:stCondLst>
                                        </p:cTn>
                                        <p:tgtEl>
                                          <p:spTgt spid="157"/>
                                        </p:tgtEl>
                                        <p:attrNameLst>
                                          <p:attrName>style.visibility</p:attrName>
                                        </p:attrNameLst>
                                      </p:cBhvr>
                                      <p:to>
                                        <p:strVal val="visible"/>
                                      </p:to>
                                    </p:set>
                                    <p:animEffect transition="in" filter="wipe(left)">
                                      <p:cBhvr>
                                        <p:cTn id="208" dur="500"/>
                                        <p:tgtEl>
                                          <p:spTgt spid="157"/>
                                        </p:tgtEl>
                                      </p:cBhvr>
                                    </p:animEffect>
                                  </p:childTnLst>
                                </p:cTn>
                              </p:par>
                            </p:childTnLst>
                          </p:cTn>
                        </p:par>
                      </p:childTnLst>
                    </p:cTn>
                  </p:par>
                  <p:par>
                    <p:cTn id="209" fill="hold">
                      <p:stCondLst>
                        <p:cond delay="indefinite"/>
                      </p:stCondLst>
                      <p:childTnLst>
                        <p:par>
                          <p:cTn id="210" fill="hold">
                            <p:stCondLst>
                              <p:cond delay="0"/>
                            </p:stCondLst>
                            <p:childTnLst>
                              <p:par>
                                <p:cTn id="211" presetID="10" presetClass="entr" presetSubtype="0" fill="hold" grpId="0" nodeType="clickEffect">
                                  <p:stCondLst>
                                    <p:cond delay="0"/>
                                  </p:stCondLst>
                                  <p:childTnLst>
                                    <p:set>
                                      <p:cBhvr>
                                        <p:cTn id="212" dur="1" fill="hold">
                                          <p:stCondLst>
                                            <p:cond delay="0"/>
                                          </p:stCondLst>
                                        </p:cTn>
                                        <p:tgtEl>
                                          <p:spTgt spid="108"/>
                                        </p:tgtEl>
                                        <p:attrNameLst>
                                          <p:attrName>style.visibility</p:attrName>
                                        </p:attrNameLst>
                                      </p:cBhvr>
                                      <p:to>
                                        <p:strVal val="visible"/>
                                      </p:to>
                                    </p:set>
                                    <p:animEffect transition="in" filter="fade">
                                      <p:cBhvr>
                                        <p:cTn id="213" dur="500"/>
                                        <p:tgtEl>
                                          <p:spTgt spid="108"/>
                                        </p:tgtEl>
                                      </p:cBhvr>
                                    </p:animEffect>
                                  </p:childTnLst>
                                </p:cTn>
                              </p:par>
                            </p:childTnLst>
                          </p:cTn>
                        </p:par>
                      </p:childTnLst>
                    </p:cTn>
                  </p:par>
                  <p:par>
                    <p:cTn id="214" fill="hold">
                      <p:stCondLst>
                        <p:cond delay="indefinite"/>
                      </p:stCondLst>
                      <p:childTnLst>
                        <p:par>
                          <p:cTn id="215" fill="hold">
                            <p:stCondLst>
                              <p:cond delay="0"/>
                            </p:stCondLst>
                            <p:childTnLst>
                              <p:par>
                                <p:cTn id="216" presetID="22" presetClass="entr" presetSubtype="8" fill="hold" grpId="0" nodeType="clickEffect">
                                  <p:stCondLst>
                                    <p:cond delay="0"/>
                                  </p:stCondLst>
                                  <p:childTnLst>
                                    <p:set>
                                      <p:cBhvr>
                                        <p:cTn id="217" dur="1" fill="hold">
                                          <p:stCondLst>
                                            <p:cond delay="0"/>
                                          </p:stCondLst>
                                        </p:cTn>
                                        <p:tgtEl>
                                          <p:spTgt spid="5"/>
                                        </p:tgtEl>
                                        <p:attrNameLst>
                                          <p:attrName>style.visibility</p:attrName>
                                        </p:attrNameLst>
                                      </p:cBhvr>
                                      <p:to>
                                        <p:strVal val="visible"/>
                                      </p:to>
                                    </p:set>
                                    <p:animEffect transition="in" filter="wipe(left)">
                                      <p:cBhvr>
                                        <p:cTn id="218" dur="500"/>
                                        <p:tgtEl>
                                          <p:spTgt spid="5"/>
                                        </p:tgtEl>
                                      </p:cBhvr>
                                    </p:animEffect>
                                  </p:childTnLst>
                                </p:cTn>
                              </p:par>
                            </p:childTnLst>
                          </p:cTn>
                        </p:par>
                      </p:childTnLst>
                    </p:cTn>
                  </p:par>
                  <p:par>
                    <p:cTn id="219" fill="hold">
                      <p:stCondLst>
                        <p:cond delay="indefinite"/>
                      </p:stCondLst>
                      <p:childTnLst>
                        <p:par>
                          <p:cTn id="220" fill="hold">
                            <p:stCondLst>
                              <p:cond delay="0"/>
                            </p:stCondLst>
                            <p:childTnLst>
                              <p:par>
                                <p:cTn id="221" presetID="22" presetClass="entr" presetSubtype="8" fill="hold" nodeType="clickEffect">
                                  <p:stCondLst>
                                    <p:cond delay="0"/>
                                  </p:stCondLst>
                                  <p:childTnLst>
                                    <p:set>
                                      <p:cBhvr>
                                        <p:cTn id="222" dur="1" fill="hold">
                                          <p:stCondLst>
                                            <p:cond delay="0"/>
                                          </p:stCondLst>
                                        </p:cTn>
                                        <p:tgtEl>
                                          <p:spTgt spid="90"/>
                                        </p:tgtEl>
                                        <p:attrNameLst>
                                          <p:attrName>style.visibility</p:attrName>
                                        </p:attrNameLst>
                                      </p:cBhvr>
                                      <p:to>
                                        <p:strVal val="visible"/>
                                      </p:to>
                                    </p:set>
                                    <p:animEffect transition="in" filter="wipe(left)">
                                      <p:cBhvr>
                                        <p:cTn id="223" dur="500"/>
                                        <p:tgtEl>
                                          <p:spTgt spid="90"/>
                                        </p:tgtEl>
                                      </p:cBhvr>
                                    </p:animEffect>
                                  </p:childTnLst>
                                </p:cTn>
                              </p:par>
                            </p:childTnLst>
                          </p:cTn>
                        </p:par>
                      </p:childTnLst>
                    </p:cTn>
                  </p:par>
                  <p:par>
                    <p:cTn id="224" fill="hold">
                      <p:stCondLst>
                        <p:cond delay="indefinite"/>
                      </p:stCondLst>
                      <p:childTnLst>
                        <p:par>
                          <p:cTn id="225" fill="hold">
                            <p:stCondLst>
                              <p:cond delay="0"/>
                            </p:stCondLst>
                            <p:childTnLst>
                              <p:par>
                                <p:cTn id="226" presetID="22" presetClass="entr" presetSubtype="8" fill="hold" nodeType="clickEffect">
                                  <p:stCondLst>
                                    <p:cond delay="0"/>
                                  </p:stCondLst>
                                  <p:childTnLst>
                                    <p:set>
                                      <p:cBhvr>
                                        <p:cTn id="227" dur="1" fill="hold">
                                          <p:stCondLst>
                                            <p:cond delay="0"/>
                                          </p:stCondLst>
                                        </p:cTn>
                                        <p:tgtEl>
                                          <p:spTgt spid="153"/>
                                        </p:tgtEl>
                                        <p:attrNameLst>
                                          <p:attrName>style.visibility</p:attrName>
                                        </p:attrNameLst>
                                      </p:cBhvr>
                                      <p:to>
                                        <p:strVal val="visible"/>
                                      </p:to>
                                    </p:set>
                                    <p:animEffect transition="in" filter="wipe(left)">
                                      <p:cBhvr>
                                        <p:cTn id="228" dur="500"/>
                                        <p:tgtEl>
                                          <p:spTgt spid="153"/>
                                        </p:tgtEl>
                                      </p:cBhvr>
                                    </p:animEffect>
                                  </p:childTnLst>
                                </p:cTn>
                              </p:par>
                            </p:childTnLst>
                          </p:cTn>
                        </p:par>
                      </p:childTnLst>
                    </p:cTn>
                  </p:par>
                  <p:par>
                    <p:cTn id="229" fill="hold">
                      <p:stCondLst>
                        <p:cond delay="indefinite"/>
                      </p:stCondLst>
                      <p:childTnLst>
                        <p:par>
                          <p:cTn id="230" fill="hold">
                            <p:stCondLst>
                              <p:cond delay="0"/>
                            </p:stCondLst>
                            <p:childTnLst>
                              <p:par>
                                <p:cTn id="231" presetID="22" presetClass="entr" presetSubtype="8" fill="hold" nodeType="clickEffect">
                                  <p:stCondLst>
                                    <p:cond delay="0"/>
                                  </p:stCondLst>
                                  <p:childTnLst>
                                    <p:set>
                                      <p:cBhvr>
                                        <p:cTn id="232" dur="1" fill="hold">
                                          <p:stCondLst>
                                            <p:cond delay="0"/>
                                          </p:stCondLst>
                                        </p:cTn>
                                        <p:tgtEl>
                                          <p:spTgt spid="154"/>
                                        </p:tgtEl>
                                        <p:attrNameLst>
                                          <p:attrName>style.visibility</p:attrName>
                                        </p:attrNameLst>
                                      </p:cBhvr>
                                      <p:to>
                                        <p:strVal val="visible"/>
                                      </p:to>
                                    </p:set>
                                    <p:animEffect transition="in" filter="wipe(left)">
                                      <p:cBhvr>
                                        <p:cTn id="233" dur="500"/>
                                        <p:tgtEl>
                                          <p:spTgt spid="154"/>
                                        </p:tgtEl>
                                      </p:cBhvr>
                                    </p:animEffect>
                                  </p:childTnLst>
                                </p:cTn>
                              </p:par>
                            </p:childTnLst>
                          </p:cTn>
                        </p:par>
                      </p:childTnLst>
                    </p:cTn>
                  </p:par>
                  <p:par>
                    <p:cTn id="234" fill="hold">
                      <p:stCondLst>
                        <p:cond delay="indefinite"/>
                      </p:stCondLst>
                      <p:childTnLst>
                        <p:par>
                          <p:cTn id="235" fill="hold">
                            <p:stCondLst>
                              <p:cond delay="0"/>
                            </p:stCondLst>
                            <p:childTnLst>
                              <p:par>
                                <p:cTn id="236" presetID="22" presetClass="entr" presetSubtype="8" fill="hold" nodeType="clickEffect">
                                  <p:stCondLst>
                                    <p:cond delay="0"/>
                                  </p:stCondLst>
                                  <p:childTnLst>
                                    <p:set>
                                      <p:cBhvr>
                                        <p:cTn id="237" dur="1" fill="hold">
                                          <p:stCondLst>
                                            <p:cond delay="0"/>
                                          </p:stCondLst>
                                        </p:cTn>
                                        <p:tgtEl>
                                          <p:spTgt spid="158"/>
                                        </p:tgtEl>
                                        <p:attrNameLst>
                                          <p:attrName>style.visibility</p:attrName>
                                        </p:attrNameLst>
                                      </p:cBhvr>
                                      <p:to>
                                        <p:strVal val="visible"/>
                                      </p:to>
                                    </p:set>
                                    <p:animEffect transition="in" filter="wipe(left)">
                                      <p:cBhvr>
                                        <p:cTn id="238" dur="500"/>
                                        <p:tgtEl>
                                          <p:spTgt spid="158"/>
                                        </p:tgtEl>
                                      </p:cBhvr>
                                    </p:animEffect>
                                  </p:childTnLst>
                                </p:cTn>
                              </p:par>
                            </p:childTnLst>
                          </p:cTn>
                        </p:par>
                      </p:childTnLst>
                    </p:cTn>
                  </p:par>
                  <p:par>
                    <p:cTn id="239" fill="hold">
                      <p:stCondLst>
                        <p:cond delay="indefinite"/>
                      </p:stCondLst>
                      <p:childTnLst>
                        <p:par>
                          <p:cTn id="240" fill="hold">
                            <p:stCondLst>
                              <p:cond delay="0"/>
                            </p:stCondLst>
                            <p:childTnLst>
                              <p:par>
                                <p:cTn id="241" presetID="10" presetClass="entr" presetSubtype="0" fill="hold" grpId="0" nodeType="clickEffect">
                                  <p:stCondLst>
                                    <p:cond delay="0"/>
                                  </p:stCondLst>
                                  <p:childTnLst>
                                    <p:set>
                                      <p:cBhvr>
                                        <p:cTn id="242" dur="1" fill="hold">
                                          <p:stCondLst>
                                            <p:cond delay="0"/>
                                          </p:stCondLst>
                                        </p:cTn>
                                        <p:tgtEl>
                                          <p:spTgt spid="110"/>
                                        </p:tgtEl>
                                        <p:attrNameLst>
                                          <p:attrName>style.visibility</p:attrName>
                                        </p:attrNameLst>
                                      </p:cBhvr>
                                      <p:to>
                                        <p:strVal val="visible"/>
                                      </p:to>
                                    </p:set>
                                    <p:animEffect transition="in" filter="fade">
                                      <p:cBhvr>
                                        <p:cTn id="243" dur="500"/>
                                        <p:tgtEl>
                                          <p:spTgt spid="1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build="p"/>
      <p:bldP spid="7" grpId="0" build="p"/>
      <p:bldP spid="8" grpId="0" build="p"/>
      <p:bldP spid="9" grpId="0" build="p"/>
      <p:bldP spid="10" grpId="0" build="p"/>
      <p:bldP spid="11" grpId="0" build="p"/>
      <p:bldP spid="12" grpId="0" build="p"/>
      <p:bldP spid="13" grpId="0" build="p"/>
      <p:bldP spid="14" grpId="0" build="p"/>
      <p:bldP spid="15" grpId="0" build="p"/>
      <p:bldP spid="16" grpId="0" build="p"/>
      <p:bldP spid="17" grpId="0" build="p"/>
      <p:bldP spid="18" grpId="0" build="p"/>
      <p:bldP spid="19" grpId="0" build="p"/>
      <p:bldP spid="20" grpId="0" build="p"/>
      <p:bldP spid="21" grpId="0" build="p"/>
      <p:bldP spid="22" grpId="0" build="p"/>
      <p:bldP spid="107" grpId="0"/>
      <p:bldP spid="108" grpId="0"/>
      <p:bldP spid="109" grpId="0"/>
      <p:bldP spid="110" grpId="0" animBg="1"/>
      <p:bldP spid="160" grpId="0"/>
      <p:bldP spid="161" grpId="0"/>
    </p:bld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Imagem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52786" y="874354"/>
            <a:ext cx="8136611" cy="5299867"/>
          </a:xfrm>
          <a:prstGeom prst="rect">
            <a:avLst/>
          </a:prstGeom>
        </p:spPr>
      </p:pic>
      <p:sp>
        <p:nvSpPr>
          <p:cNvPr id="3" name="CaixaDeTexto 2"/>
          <p:cNvSpPr txBox="1"/>
          <p:nvPr/>
        </p:nvSpPr>
        <p:spPr>
          <a:xfrm>
            <a:off x="3161654" y="216976"/>
            <a:ext cx="6338807" cy="461665"/>
          </a:xfrm>
          <a:prstGeom prst="rect">
            <a:avLst/>
          </a:prstGeom>
          <a:noFill/>
        </p:spPr>
        <p:txBody>
          <a:bodyPr wrap="square" rtlCol="0">
            <a:spAutoFit/>
          </a:body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CADEIA DE SUPRIMENTOS</a:t>
            </a:r>
          </a:p>
        </p:txBody>
      </p:sp>
    </p:spTree>
    <p:extLst>
      <p:ext uri="{BB962C8B-B14F-4D97-AF65-F5344CB8AC3E}">
        <p14:creationId xmlns:p14="http://schemas.microsoft.com/office/powerpoint/2010/main" val="1796145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6" name="Grupo 5"/>
          <p:cNvGrpSpPr/>
          <p:nvPr/>
        </p:nvGrpSpPr>
        <p:grpSpPr>
          <a:xfrm>
            <a:off x="710702" y="-101600"/>
            <a:ext cx="10135098" cy="6116335"/>
            <a:chOff x="1262495" y="547469"/>
            <a:chExt cx="9667010" cy="5437694"/>
          </a:xfrm>
        </p:grpSpPr>
        <p:pic>
          <p:nvPicPr>
            <p:cNvPr id="3"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2495" y="547469"/>
              <a:ext cx="9667010" cy="5437694"/>
            </a:xfrm>
            <a:prstGeom prst="rect">
              <a:avLst/>
            </a:prstGeom>
            <a:noFill/>
            <a:extLst>
              <a:ext uri="{909E8E84-426E-40DD-AFC4-6F175D3DCCD1}">
                <a14:hiddenFill xmlns:a14="http://schemas.microsoft.com/office/drawing/2010/main">
                  <a:solidFill>
                    <a:srgbClr val="FFFFFF"/>
                  </a:solidFill>
                </a14:hiddenFill>
              </a:ext>
            </a:extLst>
          </p:spPr>
        </p:pic>
        <p:sp>
          <p:nvSpPr>
            <p:cNvPr id="2" name="Retângulo 1"/>
            <p:cNvSpPr/>
            <p:nvPr/>
          </p:nvSpPr>
          <p:spPr>
            <a:xfrm>
              <a:off x="1408386" y="1040524"/>
              <a:ext cx="1271752" cy="43617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spTree>
    <p:extLst>
      <p:ext uri="{BB962C8B-B14F-4D97-AF65-F5344CB8AC3E}">
        <p14:creationId xmlns:p14="http://schemas.microsoft.com/office/powerpoint/2010/main" val="3215450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out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 name="Imagem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871538"/>
            <a:ext cx="12191999" cy="4758967"/>
          </a:xfrm>
          <a:prstGeom prst="rect">
            <a:avLst/>
          </a:prstGeom>
        </p:spPr>
      </p:pic>
      <p:sp>
        <p:nvSpPr>
          <p:cNvPr id="4" name="Título 3"/>
          <p:cNvSpPr>
            <a:spLocks noGrp="1"/>
          </p:cNvSpPr>
          <p:nvPr>
            <p:ph type="title" idx="4294967295"/>
          </p:nvPr>
        </p:nvSpPr>
        <p:spPr>
          <a:xfrm>
            <a:off x="0" y="231775"/>
            <a:ext cx="10515600" cy="439738"/>
          </a:xfrm>
        </p:spPr>
        <p:txBody>
          <a:bodyPr>
            <a:normAutofit/>
          </a:body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GESTÃO DA CADEIA DE SUPRIMENTOS</a:t>
            </a:r>
            <a:endParaRPr lang="pt-BR" sz="2400" b="1" i="1" dirty="0">
              <a:solidFill>
                <a:schemeClr val="accent6"/>
              </a:solidFill>
              <a:latin typeface="Lucida Sans Unicode" panose="020B0602030504020204" pitchFamily="34" charset="0"/>
              <a:cs typeface="Lucida Sans Unicode" panose="020B0602030504020204" pitchFamily="34" charset="0"/>
            </a:endParaRPr>
          </a:p>
        </p:txBody>
      </p:sp>
      <p:sp>
        <p:nvSpPr>
          <p:cNvPr id="5" name="Espaço Reservado para Conteúdo 4"/>
          <p:cNvSpPr>
            <a:spLocks noGrp="1"/>
          </p:cNvSpPr>
          <p:nvPr>
            <p:ph idx="4294967295"/>
          </p:nvPr>
        </p:nvSpPr>
        <p:spPr>
          <a:xfrm>
            <a:off x="0" y="1092200"/>
            <a:ext cx="12192000" cy="1841500"/>
          </a:xfrm>
          <a:solidFill>
            <a:schemeClr val="bg1"/>
          </a:solidFill>
          <a:ln>
            <a:noFill/>
          </a:ln>
        </p:spPr>
        <p:style>
          <a:lnRef idx="2">
            <a:schemeClr val="accent5">
              <a:shade val="50000"/>
            </a:schemeClr>
          </a:lnRef>
          <a:fillRef idx="1">
            <a:schemeClr val="accent5"/>
          </a:fillRef>
          <a:effectRef idx="0">
            <a:schemeClr val="accent5"/>
          </a:effectRef>
          <a:fontRef idx="minor">
            <a:schemeClr val="lt1"/>
          </a:fontRef>
        </p:style>
        <p:txBody>
          <a:bodyPr>
            <a:noAutofit/>
          </a:bodyPr>
          <a:lstStyle/>
          <a:p>
            <a:pPr marL="0" indent="0">
              <a:lnSpc>
                <a:spcPct val="150000"/>
              </a:lnSpc>
              <a:buNone/>
            </a:pPr>
            <a:r>
              <a:rPr lang="pt-BR" sz="2000" dirty="0">
                <a:solidFill>
                  <a:schemeClr val="accent6"/>
                </a:solidFill>
                <a:latin typeface="Lucida Sans Unicode" panose="020B0602030504020204" pitchFamily="34" charset="0"/>
                <a:cs typeface="Lucida Sans Unicode" panose="020B0602030504020204" pitchFamily="34" charset="0"/>
              </a:rPr>
              <a:t>“</a:t>
            </a:r>
            <a:r>
              <a:rPr lang="pt-BR" sz="2000" b="1" dirty="0">
                <a:solidFill>
                  <a:schemeClr val="accent6"/>
                </a:solidFill>
                <a:latin typeface="Lucida Sans Unicode" panose="020B0602030504020204" pitchFamily="34" charset="0"/>
                <a:cs typeface="Lucida Sans Unicode" panose="020B0602030504020204" pitchFamily="34" charset="0"/>
              </a:rPr>
              <a:t>Cadeia de Suprimentos </a:t>
            </a:r>
            <a:r>
              <a:rPr lang="pt-BR" sz="2000" dirty="0">
                <a:solidFill>
                  <a:schemeClr val="accent6"/>
                </a:solidFill>
                <a:latin typeface="Lucida Sans Unicode" panose="020B0602030504020204" pitchFamily="34" charset="0"/>
                <a:cs typeface="Lucida Sans Unicode" panose="020B0602030504020204" pitchFamily="34" charset="0"/>
              </a:rPr>
              <a:t>é a integração dos processos industriais e comerciais, partindo do consumidor final e indo até os fornecedores iniciais, gerando produtos, serviços e informações que agreguem valor para o cliente.”</a:t>
            </a:r>
            <a:endParaRPr lang="en-US" sz="2000" i="1" dirty="0">
              <a:solidFill>
                <a:schemeClr val="accent6"/>
              </a:solidFill>
              <a:latin typeface="Lucida Sans Unicode" panose="020B0602030504020204" pitchFamily="34" charset="0"/>
              <a:cs typeface="Lucida Sans Unicode" panose="020B0602030504020204" pitchFamily="34" charset="0"/>
            </a:endParaRPr>
          </a:p>
          <a:p>
            <a:pPr marL="0" indent="0" algn="r">
              <a:buNone/>
            </a:pPr>
            <a:r>
              <a:rPr lang="en-US" sz="1400" i="1" dirty="0">
                <a:solidFill>
                  <a:schemeClr val="accent6"/>
                </a:solidFill>
                <a:latin typeface="Lucida Sans Unicode" panose="020B0602030504020204" pitchFamily="34" charset="0"/>
                <a:cs typeface="Lucida Sans Unicode" panose="020B0602030504020204" pitchFamily="34" charset="0"/>
              </a:rPr>
              <a:t>Council Of Supply Chain Management Professionals (CSCMP),2009</a:t>
            </a:r>
            <a:endParaRPr lang="pt-BR" sz="1400" i="1" dirty="0">
              <a:solidFill>
                <a:schemeClr val="accent6"/>
              </a:solidFill>
              <a:latin typeface="Lucida Sans Unicode" panose="020B0602030504020204" pitchFamily="34" charset="0"/>
              <a:cs typeface="Lucida Sans Unicode" panose="020B0602030504020204" pitchFamily="34" charset="0"/>
            </a:endParaRPr>
          </a:p>
        </p:txBody>
      </p:sp>
      <p:sp>
        <p:nvSpPr>
          <p:cNvPr id="8" name="Espaço Reservado para Conteúdo 4"/>
          <p:cNvSpPr txBox="1">
            <a:spLocks/>
          </p:cNvSpPr>
          <p:nvPr/>
        </p:nvSpPr>
        <p:spPr>
          <a:xfrm>
            <a:off x="0" y="3600043"/>
            <a:ext cx="12192000" cy="1840804"/>
          </a:xfrm>
          <a:prstGeom prst="rect">
            <a:avLst/>
          </a:prstGeom>
          <a:solidFill>
            <a:schemeClr val="bg1"/>
          </a:solidFill>
          <a:ln w="12700" cap="flat" cmpd="sng" algn="ctr">
            <a:noFill/>
            <a:prstDash val="solid"/>
            <a:miter lim="800000"/>
          </a:ln>
        </p:spPr>
        <p:style>
          <a:lnRef idx="2">
            <a:schemeClr val="accent5">
              <a:shade val="50000"/>
            </a:schemeClr>
          </a:lnRef>
          <a:fillRef idx="1">
            <a:schemeClr val="accent5"/>
          </a:fillRef>
          <a:effectRef idx="0">
            <a:schemeClr val="accent5"/>
          </a:effectRef>
          <a:fontRef idx="minor">
            <a:schemeClr val="lt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1">
                    <a:lumMod val="50000"/>
                  </a:schemeClr>
                </a:solidFill>
                <a:latin typeface="Helvetica" panose="020B0604020202020204" pitchFamily="34" charset="0"/>
                <a:ea typeface="+mn-ea"/>
                <a:cs typeface="Helvetica"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Helvetica" panose="020B0604020202020204" pitchFamily="34" charset="0"/>
                <a:ea typeface="+mn-ea"/>
                <a:cs typeface="Helvetica"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1">
                    <a:lumMod val="50000"/>
                  </a:schemeClr>
                </a:solidFill>
                <a:latin typeface="Helvetica" panose="020B0604020202020204" pitchFamily="34" charset="0"/>
                <a:ea typeface="+mn-ea"/>
                <a:cs typeface="Helvetica"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Helvetica" panose="020B0604020202020204" pitchFamily="34" charset="0"/>
                <a:ea typeface="+mn-ea"/>
                <a:cs typeface="Helvetica"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Helvetica" panose="020B0604020202020204" pitchFamily="34" charset="0"/>
                <a:ea typeface="+mn-ea"/>
                <a:cs typeface="Helvetica"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just">
              <a:lnSpc>
                <a:spcPct val="150000"/>
              </a:lnSpc>
              <a:buNone/>
              <a:defRPr/>
            </a:pPr>
            <a:r>
              <a:rPr lang="pt-BR" sz="2000" dirty="0">
                <a:solidFill>
                  <a:schemeClr val="accent6"/>
                </a:solidFill>
                <a:latin typeface="Lucida Sans Unicode" panose="020B0602030504020204" pitchFamily="34" charset="0"/>
                <a:cs typeface="Lucida Sans Unicode" panose="020B0602030504020204" pitchFamily="34" charset="0"/>
              </a:rPr>
              <a:t>“A </a:t>
            </a:r>
            <a:r>
              <a:rPr lang="pt-BR" sz="2000" b="1" dirty="0">
                <a:solidFill>
                  <a:schemeClr val="accent6"/>
                </a:solidFill>
                <a:latin typeface="Lucida Sans Unicode" panose="020B0602030504020204" pitchFamily="34" charset="0"/>
                <a:cs typeface="Lucida Sans Unicode" panose="020B0602030504020204" pitchFamily="34" charset="0"/>
              </a:rPr>
              <a:t>Gestão da Cadeia de Suprimentos</a:t>
            </a:r>
            <a:r>
              <a:rPr lang="pt-BR" sz="2000" dirty="0">
                <a:solidFill>
                  <a:schemeClr val="accent6"/>
                </a:solidFill>
                <a:latin typeface="Lucida Sans Unicode" panose="020B0602030504020204" pitchFamily="34" charset="0"/>
                <a:cs typeface="Lucida Sans Unicode" panose="020B0602030504020204" pitchFamily="34" charset="0"/>
              </a:rPr>
              <a:t> (</a:t>
            </a:r>
            <a:r>
              <a:rPr lang="pt-BR" altLang="pt-BR" sz="2000" i="1" dirty="0" err="1">
                <a:solidFill>
                  <a:schemeClr val="accent6"/>
                </a:solidFill>
                <a:latin typeface="Lucida Sans Unicode" panose="020B0602030504020204" pitchFamily="34" charset="0"/>
                <a:cs typeface="Lucida Sans Unicode" panose="020B0602030504020204" pitchFamily="34" charset="0"/>
              </a:rPr>
              <a:t>Supply</a:t>
            </a:r>
            <a:r>
              <a:rPr lang="pt-BR" altLang="pt-BR" sz="2000" i="1" dirty="0">
                <a:solidFill>
                  <a:schemeClr val="accent6"/>
                </a:solidFill>
                <a:latin typeface="Lucida Sans Unicode" panose="020B0602030504020204" pitchFamily="34" charset="0"/>
                <a:cs typeface="Lucida Sans Unicode" panose="020B0602030504020204" pitchFamily="34" charset="0"/>
              </a:rPr>
              <a:t> Chain Manager),</a:t>
            </a:r>
            <a:r>
              <a:rPr lang="pt-BR" sz="2000" dirty="0">
                <a:solidFill>
                  <a:schemeClr val="accent6"/>
                </a:solidFill>
                <a:latin typeface="Lucida Sans Unicode" panose="020B0602030504020204" pitchFamily="34" charset="0"/>
                <a:cs typeface="Lucida Sans Unicode" panose="020B0602030504020204" pitchFamily="34" charset="0"/>
              </a:rPr>
              <a:t> inclui o planejamento e o gerenciamento de todas as atividades relativas a compra  e aprovisionamento logístico, coordenação e colaboração com parceiros.” </a:t>
            </a:r>
            <a:endParaRPr lang="pt-BR" sz="2000" i="1" dirty="0">
              <a:solidFill>
                <a:schemeClr val="accent6"/>
              </a:solidFill>
              <a:latin typeface="Lucida Sans Unicode" panose="020B0602030504020204" pitchFamily="34" charset="0"/>
              <a:cs typeface="Lucida Sans Unicode" panose="020B0602030504020204" pitchFamily="34" charset="0"/>
            </a:endParaRPr>
          </a:p>
          <a:p>
            <a:pPr marL="0" indent="0" algn="r">
              <a:buNone/>
              <a:defRPr/>
            </a:pPr>
            <a:r>
              <a:rPr lang="pt-BR" sz="1400" i="1" dirty="0">
                <a:solidFill>
                  <a:schemeClr val="accent6"/>
                </a:solidFill>
                <a:latin typeface="Lucida Sans Unicode" panose="020B0602030504020204" pitchFamily="34" charset="0"/>
                <a:cs typeface="Lucida Sans Unicode" panose="020B0602030504020204" pitchFamily="34" charset="0"/>
              </a:rPr>
              <a:t>Novaes, 2004</a:t>
            </a:r>
          </a:p>
        </p:txBody>
      </p:sp>
    </p:spTree>
    <p:extLst>
      <p:ext uri="{BB962C8B-B14F-4D97-AF65-F5344CB8AC3E}">
        <p14:creationId xmlns:p14="http://schemas.microsoft.com/office/powerpoint/2010/main" val="3474094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 presetClass="entr" presetSubtype="32"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box(out)">
                                      <p:cBhvr>
                                        <p:cTn id="14" dur="2000"/>
                                        <p:tgtEl>
                                          <p:spTgt spid="7"/>
                                        </p:tgtEl>
                                      </p:cBhvr>
                                    </p:animEffect>
                                  </p:childTnLst>
                                </p:cTn>
                              </p:par>
                            </p:childTnLst>
                          </p:cTn>
                        </p:par>
                        <p:par>
                          <p:cTn id="15" fill="hold">
                            <p:stCondLst>
                              <p:cond delay="2000"/>
                            </p:stCondLst>
                            <p:childTnLst>
                              <p:par>
                                <p:cTn id="16" presetID="10" presetClass="entr" presetSubtype="0" fill="hold" grpId="0" nodeType="afterEffect">
                                  <p:stCondLst>
                                    <p:cond delay="0"/>
                                  </p:stCondLst>
                                  <p:childTnLst>
                                    <p:set>
                                      <p:cBhvr>
                                        <p:cTn id="17" dur="1" fill="hold">
                                          <p:stCondLst>
                                            <p:cond delay="0"/>
                                          </p:stCondLst>
                                        </p:cTn>
                                        <p:tgtEl>
                                          <p:spTgt spid="5">
                                            <p:txEl>
                                              <p:pRg st="0" end="0"/>
                                            </p:txEl>
                                          </p:spTgt>
                                        </p:tgtEl>
                                        <p:attrNameLst>
                                          <p:attrName>style.visibility</p:attrName>
                                        </p:attrNameLst>
                                      </p:cBhvr>
                                      <p:to>
                                        <p:strVal val="visible"/>
                                      </p:to>
                                    </p:set>
                                    <p:animEffect transition="in" filter="fade">
                                      <p:cBhvr>
                                        <p:cTn id="18" dur="500"/>
                                        <p:tgtEl>
                                          <p:spTgt spid="5">
                                            <p:txEl>
                                              <p:pRg st="0" end="0"/>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animEffect transition="in" filter="fade">
                                      <p:cBhvr>
                                        <p:cTn id="21" dur="500"/>
                                        <p:tgtEl>
                                          <p:spTgt spid="5">
                                            <p:txEl>
                                              <p:pRg st="1" end="1"/>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8">
                                            <p:txEl>
                                              <p:pRg st="0" end="0"/>
                                            </p:txEl>
                                          </p:spTgt>
                                        </p:tgtEl>
                                        <p:attrNameLst>
                                          <p:attrName>style.visibility</p:attrName>
                                        </p:attrNameLst>
                                      </p:cBhvr>
                                      <p:to>
                                        <p:strVal val="visible"/>
                                      </p:to>
                                    </p:set>
                                    <p:animEffect transition="in" filter="fade">
                                      <p:cBhvr>
                                        <p:cTn id="24" dur="500"/>
                                        <p:tgtEl>
                                          <p:spTgt spid="8">
                                            <p:txEl>
                                              <p:pRg st="0" end="0"/>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8">
                                            <p:txEl>
                                              <p:pRg st="1" end="1"/>
                                            </p:txEl>
                                          </p:spTgt>
                                        </p:tgtEl>
                                        <p:attrNameLst>
                                          <p:attrName>style.visibility</p:attrName>
                                        </p:attrNameLst>
                                      </p:cBhvr>
                                      <p:to>
                                        <p:strVal val="visible"/>
                                      </p:to>
                                    </p:set>
                                    <p:animEffect transition="in" filter="fade">
                                      <p:cBhvr>
                                        <p:cTn id="27" dur="500"/>
                                        <p:tgtEl>
                                          <p:spTgt spid="8">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grpId="0" nodeType="clickEffect">
                                  <p:stCondLst>
                                    <p:cond delay="0"/>
                                  </p:stCondLst>
                                  <p:childTnLst>
                                    <p:set>
                                      <p:cBhvr>
                                        <p:cTn id="31" dur="1" fill="hold">
                                          <p:stCondLst>
                                            <p:cond delay="0"/>
                                          </p:stCondLst>
                                        </p:cTn>
                                        <p:tgtEl>
                                          <p:spTgt spid="5">
                                            <p:bg/>
                                          </p:spTgt>
                                        </p:tgtEl>
                                        <p:attrNameLst>
                                          <p:attrName>style.visibility</p:attrName>
                                        </p:attrNameLst>
                                      </p:cBhvr>
                                      <p:to>
                                        <p:strVal val="visible"/>
                                      </p:to>
                                    </p:set>
                                    <p:anim calcmode="lin" valueType="num">
                                      <p:cBhvr additive="base">
                                        <p:cTn id="32" dur="1000" fill="hold"/>
                                        <p:tgtEl>
                                          <p:spTgt spid="5">
                                            <p:bg/>
                                          </p:spTgt>
                                        </p:tgtEl>
                                        <p:attrNameLst>
                                          <p:attrName>ppt_x</p:attrName>
                                        </p:attrNameLst>
                                      </p:cBhvr>
                                      <p:tavLst>
                                        <p:tav tm="0">
                                          <p:val>
                                            <p:strVal val="0-#ppt_w/2"/>
                                          </p:val>
                                        </p:tav>
                                        <p:tav tm="100000">
                                          <p:val>
                                            <p:strVal val="#ppt_x"/>
                                          </p:val>
                                        </p:tav>
                                      </p:tavLst>
                                    </p:anim>
                                    <p:anim calcmode="lin" valueType="num">
                                      <p:cBhvr additive="base">
                                        <p:cTn id="33" dur="1000" fill="hold"/>
                                        <p:tgtEl>
                                          <p:spTgt spid="5">
                                            <p:bg/>
                                          </p:spTgt>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8" fill="hold" grpId="0" nodeType="clickEffect">
                                  <p:stCondLst>
                                    <p:cond delay="0"/>
                                  </p:stCondLst>
                                  <p:childTnLst>
                                    <p:set>
                                      <p:cBhvr>
                                        <p:cTn id="37" dur="1" fill="hold">
                                          <p:stCondLst>
                                            <p:cond delay="0"/>
                                          </p:stCondLst>
                                        </p:cTn>
                                        <p:tgtEl>
                                          <p:spTgt spid="8"/>
                                        </p:tgtEl>
                                        <p:attrNameLst>
                                          <p:attrName>style.visibility</p:attrName>
                                        </p:attrNameLst>
                                      </p:cBhvr>
                                      <p:to>
                                        <p:strVal val="visible"/>
                                      </p:to>
                                    </p:set>
                                    <p:anim calcmode="lin" valueType="num">
                                      <p:cBhvr additive="base">
                                        <p:cTn id="38" dur="500" fill="hold"/>
                                        <p:tgtEl>
                                          <p:spTgt spid="8"/>
                                        </p:tgtEl>
                                        <p:attrNameLst>
                                          <p:attrName>ppt_x</p:attrName>
                                        </p:attrNameLst>
                                      </p:cBhvr>
                                      <p:tavLst>
                                        <p:tav tm="0">
                                          <p:val>
                                            <p:strVal val="0-#ppt_w/2"/>
                                          </p:val>
                                        </p:tav>
                                        <p:tav tm="100000">
                                          <p:val>
                                            <p:strVal val="#ppt_x"/>
                                          </p:val>
                                        </p:tav>
                                      </p:tavLst>
                                    </p:anim>
                                    <p:anim calcmode="lin" valueType="num">
                                      <p:cBhvr additive="base">
                                        <p:cTn id="39"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uiExpand="1" build="p" animBg="1"/>
      <p:bldP spid="8" grpId="0" animBg="1"/>
    </p:bld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ext Box 2"/>
          <p:cNvSpPr txBox="1">
            <a:spLocks noChangeArrowheads="1"/>
          </p:cNvSpPr>
          <p:nvPr/>
        </p:nvSpPr>
        <p:spPr bwMode="auto">
          <a:xfrm>
            <a:off x="700812" y="1278620"/>
            <a:ext cx="10805016" cy="1815882"/>
          </a:xfrm>
          <a:prstGeom prst="rect">
            <a:avLst/>
          </a:prstGeom>
        </p:spPr>
        <p:txBody>
          <a:bodyPr wrap="square">
            <a:spAutoFit/>
          </a:bodyPr>
          <a:lstStyle>
            <a:defPPr>
              <a:defRPr lang="pt-BR"/>
            </a:defPPr>
            <a:lvl1pPr algn="just">
              <a:spcBef>
                <a:spcPts val="400"/>
              </a:spcBef>
              <a:defRPr sz="2000" i="1">
                <a:solidFill>
                  <a:schemeClr val="accent6"/>
                </a:solidFill>
                <a:latin typeface="Lucida Sans Unicode" panose="020B0602030504020204" pitchFamily="34" charset="0"/>
              </a:defRPr>
            </a:lvl1pPr>
          </a:lstStyle>
          <a:p>
            <a:r>
              <a:rPr lang="pt-BR" altLang="pt-BR" sz="2800" dirty="0">
                <a:solidFill>
                  <a:schemeClr val="tx1"/>
                </a:solidFill>
              </a:rPr>
              <a:t>“Gerenciamento da Cadeia de Suprimentos engloba o planejamento e a gestão de todas as atividades envolvidas no abastecimento e suprimento, transformação, e todas as atividades de gestão de logística...</a:t>
            </a:r>
          </a:p>
        </p:txBody>
      </p:sp>
      <p:sp>
        <p:nvSpPr>
          <p:cNvPr id="7" name="Retângulo 6"/>
          <p:cNvSpPr/>
          <p:nvPr/>
        </p:nvSpPr>
        <p:spPr>
          <a:xfrm>
            <a:off x="1353539" y="714459"/>
            <a:ext cx="9281676" cy="400110"/>
          </a:xfrm>
          <a:prstGeom prst="rect">
            <a:avLst/>
          </a:prstGeom>
        </p:spPr>
        <p:txBody>
          <a:bodyPr wrap="square">
            <a:spAutoFit/>
          </a:bodyPr>
          <a:lstStyle/>
          <a:p>
            <a:pPr algn="ctr">
              <a:buClrTx/>
              <a:buFontTx/>
              <a:buNone/>
            </a:pPr>
            <a:r>
              <a:rPr lang="pt-BR" altLang="pt-BR" sz="2000" b="1" dirty="0">
                <a:solidFill>
                  <a:schemeClr val="accent6"/>
                </a:solidFill>
                <a:latin typeface="Lucida Sans Unicode" panose="020B0602030504020204" pitchFamily="34" charset="0"/>
              </a:rPr>
              <a:t>DEFINIÇÃO DE GESTÃO DA CADEIA DE SUPRIMENTOS (</a:t>
            </a:r>
            <a:r>
              <a:rPr lang="pt-BR" altLang="pt-BR" sz="2000" b="1" i="1" dirty="0">
                <a:solidFill>
                  <a:schemeClr val="accent6"/>
                </a:solidFill>
                <a:latin typeface="Lucida Sans Unicode" panose="020B0602030504020204" pitchFamily="34" charset="0"/>
              </a:rPr>
              <a:t>SCM) </a:t>
            </a:r>
            <a:r>
              <a:rPr lang="pt-BR" altLang="pt-BR" sz="2000" dirty="0">
                <a:solidFill>
                  <a:schemeClr val="accent6"/>
                </a:solidFill>
                <a:latin typeface="Lucida Sans Unicode" panose="020B0602030504020204" pitchFamily="34" charset="0"/>
              </a:rPr>
              <a:t>:</a:t>
            </a:r>
            <a:endParaRPr lang="pt-BR" altLang="pt-BR" sz="2000" b="1" dirty="0">
              <a:solidFill>
                <a:schemeClr val="accent6"/>
              </a:solidFill>
              <a:latin typeface="Lucida Sans Unicode" panose="020B0602030504020204" pitchFamily="34" charset="0"/>
            </a:endParaRPr>
          </a:p>
        </p:txBody>
      </p:sp>
      <p:sp>
        <p:nvSpPr>
          <p:cNvPr id="2" name="Retângulo 1"/>
          <p:cNvSpPr/>
          <p:nvPr/>
        </p:nvSpPr>
        <p:spPr>
          <a:xfrm>
            <a:off x="6103320" y="6081106"/>
            <a:ext cx="5539829" cy="307777"/>
          </a:xfrm>
          <a:prstGeom prst="rect">
            <a:avLst/>
          </a:prstGeom>
        </p:spPr>
        <p:txBody>
          <a:bodyPr wrap="square">
            <a:spAutoFit/>
          </a:bodyPr>
          <a:lstStyle/>
          <a:p>
            <a:r>
              <a:rPr lang="pt-BR" altLang="pt-BR" sz="1400" b="1" dirty="0">
                <a:latin typeface="Lucida Sans Unicode" panose="020B0602030504020204" pitchFamily="34" charset="0"/>
              </a:rPr>
              <a:t>CSCMP</a:t>
            </a:r>
            <a:r>
              <a:rPr lang="pt-BR" altLang="pt-BR" sz="1400" dirty="0">
                <a:latin typeface="Lucida Sans Unicode" panose="020B0602030504020204" pitchFamily="34" charset="0"/>
              </a:rPr>
              <a:t> (</a:t>
            </a:r>
            <a:r>
              <a:rPr lang="pt-BR" altLang="pt-BR" sz="1400" i="1" dirty="0" err="1">
                <a:latin typeface="Lucida Sans Unicode" panose="020B0602030504020204" pitchFamily="34" charset="0"/>
              </a:rPr>
              <a:t>Council</a:t>
            </a:r>
            <a:r>
              <a:rPr lang="pt-BR" altLang="pt-BR" sz="1400" i="1" dirty="0">
                <a:latin typeface="Lucida Sans Unicode" panose="020B0602030504020204" pitchFamily="34" charset="0"/>
              </a:rPr>
              <a:t> </a:t>
            </a:r>
            <a:r>
              <a:rPr lang="pt-BR" altLang="pt-BR" sz="1400" i="1" dirty="0" err="1">
                <a:latin typeface="Lucida Sans Unicode" panose="020B0602030504020204" pitchFamily="34" charset="0"/>
              </a:rPr>
              <a:t>of</a:t>
            </a:r>
            <a:r>
              <a:rPr lang="pt-BR" altLang="pt-BR" sz="1400" i="1" dirty="0">
                <a:latin typeface="Lucida Sans Unicode" panose="020B0602030504020204" pitchFamily="34" charset="0"/>
              </a:rPr>
              <a:t> </a:t>
            </a:r>
            <a:r>
              <a:rPr lang="pt-BR" altLang="pt-BR" sz="1400" i="1" dirty="0" err="1">
                <a:latin typeface="Lucida Sans Unicode" panose="020B0602030504020204" pitchFamily="34" charset="0"/>
              </a:rPr>
              <a:t>Supply</a:t>
            </a:r>
            <a:r>
              <a:rPr lang="pt-BR" altLang="pt-BR" sz="1400" i="1" dirty="0">
                <a:latin typeface="Lucida Sans Unicode" panose="020B0602030504020204" pitchFamily="34" charset="0"/>
              </a:rPr>
              <a:t> Chain Management </a:t>
            </a:r>
            <a:r>
              <a:rPr lang="pt-BR" altLang="pt-BR" sz="1400" i="1" dirty="0" err="1">
                <a:latin typeface="Lucida Sans Unicode" panose="020B0602030504020204" pitchFamily="34" charset="0"/>
              </a:rPr>
              <a:t>Profissionals</a:t>
            </a:r>
            <a:r>
              <a:rPr lang="pt-BR" altLang="pt-BR" sz="1400" dirty="0">
                <a:latin typeface="Lucida Sans Unicode" panose="020B0602030504020204" pitchFamily="34" charset="0"/>
              </a:rPr>
              <a:t>)</a:t>
            </a:r>
            <a:endParaRPr lang="pt-BR" sz="1400" dirty="0"/>
          </a:p>
        </p:txBody>
      </p:sp>
      <p:sp>
        <p:nvSpPr>
          <p:cNvPr id="9" name="Título 3"/>
          <p:cNvSpPr>
            <a:spLocks noGrp="1"/>
          </p:cNvSpPr>
          <p:nvPr>
            <p:ph type="title" idx="4294967295"/>
          </p:nvPr>
        </p:nvSpPr>
        <p:spPr>
          <a:xfrm>
            <a:off x="845520" y="110670"/>
            <a:ext cx="10515600" cy="439738"/>
          </a:xfrm>
        </p:spPr>
        <p:txBody>
          <a:bodyPr>
            <a:normAutofit/>
          </a:body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GESTÃO DA CADEIA DE SUPRIMENTOS</a:t>
            </a:r>
            <a:endParaRPr lang="pt-BR" sz="2400" b="1" i="1" dirty="0">
              <a:solidFill>
                <a:schemeClr val="accent6"/>
              </a:solidFill>
              <a:latin typeface="Lucida Sans Unicode" panose="020B0602030504020204" pitchFamily="34" charset="0"/>
              <a:cs typeface="Lucida Sans Unicode" panose="020B0602030504020204" pitchFamily="34" charset="0"/>
            </a:endParaRPr>
          </a:p>
        </p:txBody>
      </p:sp>
      <p:sp>
        <p:nvSpPr>
          <p:cNvPr id="3" name="Retângulo 2"/>
          <p:cNvSpPr/>
          <p:nvPr/>
        </p:nvSpPr>
        <p:spPr>
          <a:xfrm>
            <a:off x="579508" y="3286789"/>
            <a:ext cx="10781612" cy="2677656"/>
          </a:xfrm>
          <a:prstGeom prst="rect">
            <a:avLst/>
          </a:prstGeom>
        </p:spPr>
        <p:txBody>
          <a:bodyPr wrap="square">
            <a:spAutoFit/>
          </a:bodyPr>
          <a:lstStyle/>
          <a:p>
            <a:pPr algn="just">
              <a:spcBef>
                <a:spcPts val="400"/>
              </a:spcBef>
            </a:pPr>
            <a:r>
              <a:rPr lang="pt-BR" altLang="pt-BR" sz="2800" i="1" dirty="0">
                <a:latin typeface="Lucida Sans Unicode" panose="020B0602030504020204" pitchFamily="34" charset="0"/>
              </a:rPr>
              <a:t>...importante, também inclui a coordenação e colaboração com os parceiros de canal, que podem ser fornecedores, intermediários, terceiros prestadores de serviços e clientes. Em essência, o Gerenciamento da Cadeia de Suprimentos integra a gestão da oferta e da demanda internamente e entre empresas.”</a:t>
            </a:r>
          </a:p>
        </p:txBody>
      </p:sp>
    </p:spTree>
    <p:extLst>
      <p:ext uri="{BB962C8B-B14F-4D97-AF65-F5344CB8AC3E}">
        <p14:creationId xmlns:p14="http://schemas.microsoft.com/office/powerpoint/2010/main" val="380234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2" presetClass="entr" presetSubtype="4"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53" presetClass="entr" presetSubtype="16"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p:cTn id="18" dur="500" fill="hold"/>
                                        <p:tgtEl>
                                          <p:spTgt spid="6"/>
                                        </p:tgtEl>
                                        <p:attrNameLst>
                                          <p:attrName>ppt_w</p:attrName>
                                        </p:attrNameLst>
                                      </p:cBhvr>
                                      <p:tavLst>
                                        <p:tav tm="0">
                                          <p:val>
                                            <p:fltVal val="0"/>
                                          </p:val>
                                        </p:tav>
                                        <p:tav tm="100000">
                                          <p:val>
                                            <p:strVal val="#ppt_w"/>
                                          </p:val>
                                        </p:tav>
                                      </p:tavLst>
                                    </p:anim>
                                    <p:anim calcmode="lin" valueType="num">
                                      <p:cBhvr>
                                        <p:cTn id="19" dur="500" fill="hold"/>
                                        <p:tgtEl>
                                          <p:spTgt spid="6"/>
                                        </p:tgtEl>
                                        <p:attrNameLst>
                                          <p:attrName>ppt_h</p:attrName>
                                        </p:attrNameLst>
                                      </p:cBhvr>
                                      <p:tavLst>
                                        <p:tav tm="0">
                                          <p:val>
                                            <p:fltVal val="0"/>
                                          </p:val>
                                        </p:tav>
                                        <p:tav tm="100000">
                                          <p:val>
                                            <p:strVal val="#ppt_h"/>
                                          </p:val>
                                        </p:tav>
                                      </p:tavLst>
                                    </p:anim>
                                    <p:animEffect transition="in" filter="fade">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p:cTn id="25" dur="500" fill="hold"/>
                                        <p:tgtEl>
                                          <p:spTgt spid="3"/>
                                        </p:tgtEl>
                                        <p:attrNameLst>
                                          <p:attrName>ppt_w</p:attrName>
                                        </p:attrNameLst>
                                      </p:cBhvr>
                                      <p:tavLst>
                                        <p:tav tm="0">
                                          <p:val>
                                            <p:fltVal val="0"/>
                                          </p:val>
                                        </p:tav>
                                        <p:tav tm="100000">
                                          <p:val>
                                            <p:strVal val="#ppt_w"/>
                                          </p:val>
                                        </p:tav>
                                      </p:tavLst>
                                    </p:anim>
                                    <p:anim calcmode="lin" valueType="num">
                                      <p:cBhvr>
                                        <p:cTn id="26" dur="500" fill="hold"/>
                                        <p:tgtEl>
                                          <p:spTgt spid="3"/>
                                        </p:tgtEl>
                                        <p:attrNameLst>
                                          <p:attrName>ppt_h</p:attrName>
                                        </p:attrNameLst>
                                      </p:cBhvr>
                                      <p:tavLst>
                                        <p:tav tm="0">
                                          <p:val>
                                            <p:fltVal val="0"/>
                                          </p:val>
                                        </p:tav>
                                        <p:tav tm="100000">
                                          <p:val>
                                            <p:strVal val="#ppt_h"/>
                                          </p:val>
                                        </p:tav>
                                      </p:tavLst>
                                    </p:anim>
                                    <p:animEffect transition="in" filter="fade">
                                      <p:cBhvr>
                                        <p:cTn id="2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2" grpId="0"/>
      <p:bldP spid="3" grpId="0"/>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Retângulo 5"/>
          <p:cNvSpPr/>
          <p:nvPr/>
        </p:nvSpPr>
        <p:spPr>
          <a:xfrm>
            <a:off x="286347" y="3048699"/>
            <a:ext cx="11769295" cy="2243738"/>
          </a:xfrm>
          <a:prstGeom prst="rect">
            <a:avLst/>
          </a:prstGeom>
          <a:noFill/>
          <a:ln>
            <a:no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marL="342900" indent="-342900" algn="just">
              <a:lnSpc>
                <a:spcPct val="150000"/>
              </a:lnSpc>
              <a:buFont typeface="Arial" panose="020B0604020202020204" pitchFamily="34" charset="0"/>
              <a:buChar char="•"/>
              <a:defRPr/>
            </a:pPr>
            <a:r>
              <a:rPr lang="pt-BR" sz="3200" dirty="0">
                <a:solidFill>
                  <a:schemeClr val="tx1"/>
                </a:solidFill>
                <a:latin typeface="Lucida Sans Unicode" panose="020B0602030504020204" pitchFamily="34" charset="0"/>
                <a:cs typeface="Lucida Sans Unicode" panose="020B0602030504020204" pitchFamily="34" charset="0"/>
              </a:rPr>
              <a:t>Mudanças na economia da produção:</a:t>
            </a:r>
          </a:p>
          <a:p>
            <a:pPr marL="457200" indent="-457200" algn="just">
              <a:lnSpc>
                <a:spcPct val="150000"/>
              </a:lnSpc>
              <a:buAutoNum type="alphaLcParenR"/>
              <a:defRPr/>
            </a:pPr>
            <a:r>
              <a:rPr lang="pt-BR" sz="3200" dirty="0">
                <a:solidFill>
                  <a:schemeClr val="tx1"/>
                </a:solidFill>
                <a:latin typeface="Lucida Sans Unicode" panose="020B0602030504020204" pitchFamily="34" charset="0"/>
                <a:cs typeface="Lucida Sans Unicode" panose="020B0602030504020204" pitchFamily="34" charset="0"/>
              </a:rPr>
              <a:t>Produtos mais complexos – problemas da eficiência/custos;</a:t>
            </a:r>
          </a:p>
          <a:p>
            <a:pPr marL="457200" indent="-457200" algn="just">
              <a:lnSpc>
                <a:spcPct val="150000"/>
              </a:lnSpc>
              <a:buAutoNum type="alphaLcParenR"/>
              <a:defRPr/>
            </a:pPr>
            <a:r>
              <a:rPr lang="pt-BR" sz="3200" dirty="0">
                <a:solidFill>
                  <a:schemeClr val="tx1"/>
                </a:solidFill>
                <a:latin typeface="Lucida Sans Unicode" panose="020B0602030504020204" pitchFamily="34" charset="0"/>
                <a:cs typeface="Lucida Sans Unicode" panose="020B0602030504020204" pitchFamily="34" charset="0"/>
              </a:rPr>
              <a:t>Economia de escala de fornecedores.</a:t>
            </a:r>
          </a:p>
          <a:p>
            <a:pPr marL="457200" indent="-457200" algn="just">
              <a:lnSpc>
                <a:spcPct val="150000"/>
              </a:lnSpc>
              <a:buFont typeface="Arial" panose="020B0604020202020204" pitchFamily="34" charset="0"/>
              <a:buChar char="•"/>
              <a:defRPr/>
            </a:pPr>
            <a:r>
              <a:rPr lang="pt-BR" sz="3200" dirty="0">
                <a:solidFill>
                  <a:schemeClr val="tx1"/>
                </a:solidFill>
                <a:latin typeface="Lucida Sans Unicode" panose="020B0602030504020204" pitchFamily="34" charset="0"/>
                <a:cs typeface="Lucida Sans Unicode" panose="020B0602030504020204" pitchFamily="34" charset="0"/>
              </a:rPr>
              <a:t>Mudanças na tecnologia da comunicação.</a:t>
            </a:r>
          </a:p>
        </p:txBody>
      </p:sp>
      <p:sp>
        <p:nvSpPr>
          <p:cNvPr id="7" name="Título 3"/>
          <p:cNvSpPr txBox="1">
            <a:spLocks/>
          </p:cNvSpPr>
          <p:nvPr/>
        </p:nvSpPr>
        <p:spPr>
          <a:xfrm>
            <a:off x="838200" y="231438"/>
            <a:ext cx="10515600" cy="94226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accent1">
                    <a:lumMod val="50000"/>
                  </a:schemeClr>
                </a:solidFill>
                <a:latin typeface="Helvetica" panose="020B0604020202020204" pitchFamily="34" charset="0"/>
                <a:ea typeface="+mj-ea"/>
                <a:cs typeface="Helvetica" panose="020B0604020202020204" pitchFamily="34" charset="0"/>
              </a:defRPr>
            </a:lvl1p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GESTÃO DA CADEIA DE SUPRIMENTOS</a:t>
            </a:r>
            <a:endParaRPr lang="pt-BR" sz="2400" b="1" i="1" dirty="0">
              <a:solidFill>
                <a:schemeClr val="accent6"/>
              </a:solidFill>
              <a:latin typeface="Lucida Sans Unicode" panose="020B0602030504020204" pitchFamily="34" charset="0"/>
              <a:cs typeface="Lucida Sans Unicode" panose="020B0602030504020204" pitchFamily="34" charset="0"/>
            </a:endParaRPr>
          </a:p>
        </p:txBody>
      </p:sp>
      <p:sp>
        <p:nvSpPr>
          <p:cNvPr id="3" name="Retângulo 2"/>
          <p:cNvSpPr/>
          <p:nvPr/>
        </p:nvSpPr>
        <p:spPr>
          <a:xfrm>
            <a:off x="286347" y="1173707"/>
            <a:ext cx="11067453" cy="523220"/>
          </a:xfrm>
          <a:prstGeom prst="rect">
            <a:avLst/>
          </a:prstGeom>
        </p:spPr>
        <p:txBody>
          <a:bodyPr wrap="none">
            <a:spAutoFit/>
          </a:bodyPr>
          <a:lstStyle/>
          <a:p>
            <a:pPr algn="ctr">
              <a:defRPr/>
            </a:pPr>
            <a:r>
              <a:rPr lang="pt-BR" sz="2800" b="1" dirty="0">
                <a:latin typeface="Lucida Sans Unicode" panose="020B0602030504020204" pitchFamily="34" charset="0"/>
                <a:cs typeface="Lucida Sans Unicode" panose="020B0602030504020204" pitchFamily="34" charset="0"/>
              </a:rPr>
              <a:t>FATORES PARA A </a:t>
            </a:r>
            <a:r>
              <a:rPr lang="pt-BR" sz="2800" b="1" i="1" dirty="0">
                <a:latin typeface="Lucida Sans Unicode" panose="020B0602030504020204" pitchFamily="34" charset="0"/>
                <a:cs typeface="Lucida Sans Unicode" panose="020B0602030504020204" pitchFamily="34" charset="0"/>
              </a:rPr>
              <a:t>NOVA</a:t>
            </a:r>
            <a:r>
              <a:rPr lang="pt-BR" sz="2800" b="1" dirty="0">
                <a:latin typeface="Lucida Sans Unicode" panose="020B0602030504020204" pitchFamily="34" charset="0"/>
                <a:cs typeface="Lucida Sans Unicode" panose="020B0602030504020204" pitchFamily="34" charset="0"/>
              </a:rPr>
              <a:t> GESTÃO DE CADEIA DE SUPRIMENTOS</a:t>
            </a:r>
            <a:r>
              <a:rPr lang="pt-BR" sz="2800" dirty="0">
                <a:latin typeface="Lucida Sans Unicode" panose="020B0602030504020204" pitchFamily="34" charset="0"/>
                <a:cs typeface="Lucida Sans Unicode" panose="020B0602030504020204" pitchFamily="34" charset="0"/>
              </a:rPr>
              <a:t>:</a:t>
            </a:r>
          </a:p>
        </p:txBody>
      </p:sp>
    </p:spTree>
    <p:extLst>
      <p:ext uri="{BB962C8B-B14F-4D97-AF65-F5344CB8AC3E}">
        <p14:creationId xmlns:p14="http://schemas.microsoft.com/office/powerpoint/2010/main" val="874836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1000" fill="hold"/>
                                        <p:tgtEl>
                                          <p:spTgt spid="6"/>
                                        </p:tgtEl>
                                        <p:attrNameLst>
                                          <p:attrName>ppt_x</p:attrName>
                                        </p:attrNameLst>
                                      </p:cBhvr>
                                      <p:tavLst>
                                        <p:tav tm="0">
                                          <p:val>
                                            <p:strVal val="0-#ppt_w/2"/>
                                          </p:val>
                                        </p:tav>
                                        <p:tav tm="100000">
                                          <p:val>
                                            <p:strVal val="#ppt_x"/>
                                          </p:val>
                                        </p:tav>
                                      </p:tavLst>
                                    </p:anim>
                                    <p:anim calcmode="lin" valueType="num">
                                      <p:cBhvr additive="base">
                                        <p:cTn id="14" dur="10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 grpId="0"/>
    </p:bld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4" name="Grupo 23"/>
          <p:cNvGrpSpPr/>
          <p:nvPr/>
        </p:nvGrpSpPr>
        <p:grpSpPr>
          <a:xfrm>
            <a:off x="734408" y="881830"/>
            <a:ext cx="10723185" cy="4982490"/>
            <a:chOff x="734408" y="881830"/>
            <a:chExt cx="10723185" cy="4982490"/>
          </a:xfrm>
        </p:grpSpPr>
        <p:pic>
          <p:nvPicPr>
            <p:cNvPr id="2" name="Imagem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4408" y="881830"/>
              <a:ext cx="10723185" cy="4982490"/>
            </a:xfrm>
            <a:prstGeom prst="rect">
              <a:avLst/>
            </a:prstGeom>
            <a:noFill/>
          </p:spPr>
        </p:pic>
        <p:cxnSp>
          <p:nvCxnSpPr>
            <p:cNvPr id="4" name="Conector de seta reta 3"/>
            <p:cNvCxnSpPr/>
            <p:nvPr/>
          </p:nvCxnSpPr>
          <p:spPr>
            <a:xfrm flipV="1">
              <a:off x="3000777" y="2511380"/>
              <a:ext cx="8280000" cy="327600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6" name="Título 3"/>
          <p:cNvSpPr txBox="1">
            <a:spLocks/>
          </p:cNvSpPr>
          <p:nvPr/>
        </p:nvSpPr>
        <p:spPr>
          <a:xfrm>
            <a:off x="838200" y="231439"/>
            <a:ext cx="10515600" cy="44007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accent1">
                    <a:lumMod val="50000"/>
                  </a:schemeClr>
                </a:solidFill>
                <a:latin typeface="Helvetica" panose="020B0604020202020204" pitchFamily="34" charset="0"/>
                <a:ea typeface="+mj-ea"/>
                <a:cs typeface="Helvetica" panose="020B0604020202020204" pitchFamily="34" charset="0"/>
              </a:defRPr>
            </a:lvl1p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GESTÃO DA CADEIA DE SUPRIMENTOS</a:t>
            </a:r>
            <a:endParaRPr lang="pt-BR" sz="2400" b="1" i="1" dirty="0">
              <a:solidFill>
                <a:schemeClr val="accent6"/>
              </a:solidFill>
              <a:latin typeface="Lucida Sans Unicode" panose="020B0602030504020204" pitchFamily="34" charset="0"/>
              <a:cs typeface="Lucida Sans Unicode" panose="020B0602030504020204" pitchFamily="34" charset="0"/>
            </a:endParaRPr>
          </a:p>
        </p:txBody>
      </p:sp>
      <p:sp>
        <p:nvSpPr>
          <p:cNvPr id="16" name="Título 3"/>
          <p:cNvSpPr txBox="1">
            <a:spLocks/>
          </p:cNvSpPr>
          <p:nvPr/>
        </p:nvSpPr>
        <p:spPr>
          <a:xfrm>
            <a:off x="838200" y="928912"/>
            <a:ext cx="10515600" cy="440074"/>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accent1">
                    <a:lumMod val="50000"/>
                  </a:schemeClr>
                </a:solidFill>
                <a:latin typeface="Helvetica" panose="020B0604020202020204" pitchFamily="34" charset="0"/>
                <a:ea typeface="+mj-ea"/>
                <a:cs typeface="Helvetica" panose="020B0604020202020204" pitchFamily="34" charset="0"/>
              </a:defRPr>
            </a:lvl1p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PROCESSO DE GERENCIAMENTO</a:t>
            </a:r>
            <a:endParaRPr lang="pt-BR" sz="2400" b="1" i="1" dirty="0">
              <a:solidFill>
                <a:schemeClr val="accent6"/>
              </a:solidFill>
              <a:latin typeface="Lucida Sans Unicode" panose="020B0602030504020204" pitchFamily="34" charset="0"/>
              <a:cs typeface="Lucida Sans Unicode" panose="020B0602030504020204" pitchFamily="34" charset="0"/>
            </a:endParaRPr>
          </a:p>
        </p:txBody>
      </p:sp>
      <p:sp>
        <p:nvSpPr>
          <p:cNvPr id="10" name="CaixaDeTexto 9"/>
          <p:cNvSpPr txBox="1"/>
          <p:nvPr/>
        </p:nvSpPr>
        <p:spPr>
          <a:xfrm>
            <a:off x="7634343" y="4031087"/>
            <a:ext cx="4176999" cy="1754326"/>
          </a:xfrm>
          <a:prstGeom prst="rect">
            <a:avLst/>
          </a:prstGeom>
          <a:solidFill>
            <a:schemeClr val="bg1"/>
          </a:solidFill>
          <a:ln>
            <a:solidFill>
              <a:srgbClr val="FF0000"/>
            </a:solidFill>
          </a:ln>
        </p:spPr>
        <p:txBody>
          <a:bodyPr wrap="square" rtlCol="0">
            <a:spAutoFit/>
          </a:bodyPr>
          <a:lstStyle/>
          <a:p>
            <a:pPr algn="just"/>
            <a:r>
              <a:rPr lang="pt-BR" dirty="0">
                <a:solidFill>
                  <a:schemeClr val="accent6"/>
                </a:solidFill>
                <a:latin typeface="Lucida Sans Unicode" panose="020B0602030504020204" pitchFamily="34" charset="0"/>
                <a:cs typeface="Lucida Sans Unicode" panose="020B0602030504020204" pitchFamily="34" charset="0"/>
              </a:rPr>
              <a:t>A missão do Gerenciamento Logístico é planejar e coordenar todas as atividades necessárias para atingir os níveis desejados de qualidade e de serviços prestados ao menor custo possível.</a:t>
            </a:r>
          </a:p>
        </p:txBody>
      </p:sp>
    </p:spTree>
    <p:extLst>
      <p:ext uri="{BB962C8B-B14F-4D97-AF65-F5344CB8AC3E}">
        <p14:creationId xmlns:p14="http://schemas.microsoft.com/office/powerpoint/2010/main" val="1491024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2" presetClass="entr" presetSubtype="4" fill="hold" nodeType="withEffect">
                                  <p:stCondLst>
                                    <p:cond delay="0"/>
                                  </p:stCondLst>
                                  <p:childTnLst>
                                    <p:set>
                                      <p:cBhvr>
                                        <p:cTn id="11" dur="1" fill="hold">
                                          <p:stCondLst>
                                            <p:cond delay="0"/>
                                          </p:stCondLst>
                                        </p:cTn>
                                        <p:tgtEl>
                                          <p:spTgt spid="24"/>
                                        </p:tgtEl>
                                        <p:attrNameLst>
                                          <p:attrName>style.visibility</p:attrName>
                                        </p:attrNameLst>
                                      </p:cBhvr>
                                      <p:to>
                                        <p:strVal val="visible"/>
                                      </p:to>
                                    </p:set>
                                    <p:anim calcmode="lin" valueType="num">
                                      <p:cBhvr additive="base">
                                        <p:cTn id="12" dur="500" fill="hold"/>
                                        <p:tgtEl>
                                          <p:spTgt spid="24"/>
                                        </p:tgtEl>
                                        <p:attrNameLst>
                                          <p:attrName>ppt_x</p:attrName>
                                        </p:attrNameLst>
                                      </p:cBhvr>
                                      <p:tavLst>
                                        <p:tav tm="0">
                                          <p:val>
                                            <p:strVal val="#ppt_x"/>
                                          </p:val>
                                        </p:tav>
                                        <p:tav tm="100000">
                                          <p:val>
                                            <p:strVal val="#ppt_x"/>
                                          </p:val>
                                        </p:tav>
                                      </p:tavLst>
                                    </p:anim>
                                    <p:anim calcmode="lin" valueType="num">
                                      <p:cBhvr additive="base">
                                        <p:cTn id="13"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0" grpId="0" animBg="1"/>
    </p:bld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6" name="Picture 2" descr="Resultado de imagem para produtividad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552911"/>
            <a:ext cx="6096000" cy="2857500"/>
          </a:xfrm>
          <a:prstGeom prst="rect">
            <a:avLst/>
          </a:prstGeom>
          <a:noFill/>
          <a:extLst>
            <a:ext uri="{909E8E84-426E-40DD-AFC4-6F175D3DCCD1}">
              <a14:hiddenFill xmlns:a14="http://schemas.microsoft.com/office/drawing/2010/main">
                <a:solidFill>
                  <a:srgbClr val="FFFFFF"/>
                </a:solidFill>
              </a14:hiddenFill>
            </a:ext>
          </a:extLst>
        </p:spPr>
      </p:pic>
      <p:sp>
        <p:nvSpPr>
          <p:cNvPr id="6" name="Retângulo 5"/>
          <p:cNvSpPr/>
          <p:nvPr/>
        </p:nvSpPr>
        <p:spPr>
          <a:xfrm>
            <a:off x="6667743" y="4073229"/>
            <a:ext cx="6148061" cy="1853275"/>
          </a:xfrm>
          <a:prstGeom prst="rect">
            <a:avLst/>
          </a:prstGeom>
          <a:noFill/>
          <a:ln>
            <a:no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marL="457200" indent="-457200" algn="just">
              <a:lnSpc>
                <a:spcPct val="150000"/>
              </a:lnSpc>
              <a:buFont typeface="Courier New" panose="02070309020205020404" pitchFamily="49" charset="0"/>
              <a:buChar char="o"/>
              <a:defRPr/>
            </a:pPr>
            <a:r>
              <a:rPr lang="pt-BR" sz="2800" dirty="0">
                <a:solidFill>
                  <a:schemeClr val="tx1"/>
                </a:solidFill>
                <a:latin typeface="Lucida Sans Unicode" panose="020B0602030504020204" pitchFamily="34" charset="0"/>
                <a:cs typeface="Lucida Sans Unicode" panose="020B0602030504020204" pitchFamily="34" charset="0"/>
              </a:rPr>
              <a:t>Maximizar valor;</a:t>
            </a:r>
          </a:p>
          <a:p>
            <a:pPr marL="457200" indent="-457200" algn="just">
              <a:lnSpc>
                <a:spcPct val="150000"/>
              </a:lnSpc>
              <a:buFont typeface="Courier New" panose="02070309020205020404" pitchFamily="49" charset="0"/>
              <a:buChar char="o"/>
              <a:defRPr/>
            </a:pPr>
            <a:r>
              <a:rPr lang="pt-BR" sz="2800" dirty="0">
                <a:solidFill>
                  <a:schemeClr val="tx1"/>
                </a:solidFill>
                <a:latin typeface="Lucida Sans Unicode" panose="020B0602030504020204" pitchFamily="34" charset="0"/>
                <a:cs typeface="Lucida Sans Unicode" panose="020B0602030504020204" pitchFamily="34" charset="0"/>
              </a:rPr>
              <a:t>Maximizar produtividade;</a:t>
            </a:r>
          </a:p>
          <a:p>
            <a:pPr marL="457200" indent="-457200" algn="just">
              <a:lnSpc>
                <a:spcPct val="150000"/>
              </a:lnSpc>
              <a:buFont typeface="Courier New" panose="02070309020205020404" pitchFamily="49" charset="0"/>
              <a:buChar char="o"/>
              <a:defRPr/>
            </a:pPr>
            <a:r>
              <a:rPr lang="pt-BR" sz="2800" dirty="0">
                <a:solidFill>
                  <a:schemeClr val="tx1"/>
                </a:solidFill>
                <a:latin typeface="Lucida Sans Unicode" panose="020B0602030504020204" pitchFamily="34" charset="0"/>
                <a:cs typeface="Lucida Sans Unicode" panose="020B0602030504020204" pitchFamily="34" charset="0"/>
              </a:rPr>
              <a:t>Ganhar em eficiência e eficácia.</a:t>
            </a:r>
          </a:p>
        </p:txBody>
      </p:sp>
      <p:sp>
        <p:nvSpPr>
          <p:cNvPr id="5" name="Título 3"/>
          <p:cNvSpPr txBox="1">
            <a:spLocks/>
          </p:cNvSpPr>
          <p:nvPr/>
        </p:nvSpPr>
        <p:spPr>
          <a:xfrm>
            <a:off x="838200" y="231439"/>
            <a:ext cx="10515600" cy="44007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accent1">
                    <a:lumMod val="50000"/>
                  </a:schemeClr>
                </a:solidFill>
                <a:latin typeface="Helvetica" panose="020B0604020202020204" pitchFamily="34" charset="0"/>
                <a:ea typeface="+mj-ea"/>
                <a:cs typeface="Helvetica" panose="020B0604020202020204" pitchFamily="34" charset="0"/>
              </a:defRPr>
            </a:lvl1p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GESTÃO DA CADEIA DE SUPRIMENTOS</a:t>
            </a:r>
            <a:endParaRPr lang="pt-BR" sz="2400" b="1" i="1" dirty="0">
              <a:solidFill>
                <a:schemeClr val="accent6"/>
              </a:solidFill>
              <a:latin typeface="Lucida Sans Unicode" panose="020B0602030504020204" pitchFamily="34" charset="0"/>
              <a:cs typeface="Lucida Sans Unicode" panose="020B0602030504020204" pitchFamily="34" charset="0"/>
            </a:endParaRPr>
          </a:p>
        </p:txBody>
      </p:sp>
      <p:sp>
        <p:nvSpPr>
          <p:cNvPr id="7" name="Título 3"/>
          <p:cNvSpPr txBox="1">
            <a:spLocks/>
          </p:cNvSpPr>
          <p:nvPr/>
        </p:nvSpPr>
        <p:spPr>
          <a:xfrm>
            <a:off x="0" y="1340561"/>
            <a:ext cx="10515600" cy="44007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accent1">
                    <a:lumMod val="50000"/>
                  </a:schemeClr>
                </a:solidFill>
                <a:latin typeface="Helvetica" panose="020B0604020202020204" pitchFamily="34" charset="0"/>
                <a:ea typeface="+mj-ea"/>
                <a:cs typeface="Helvetica" panose="020B0604020202020204" pitchFamily="34" charset="0"/>
              </a:defRPr>
            </a:lvl1pPr>
          </a:lstStyle>
          <a:p>
            <a:pPr algn="ctr"/>
            <a:r>
              <a:rPr lang="pt-BR" b="1" dirty="0">
                <a:solidFill>
                  <a:schemeClr val="tx1"/>
                </a:solidFill>
                <a:latin typeface="Lucida Sans Unicode" panose="020B0602030504020204" pitchFamily="34" charset="0"/>
                <a:cs typeface="Lucida Sans Unicode" panose="020B0602030504020204" pitchFamily="34" charset="0"/>
              </a:rPr>
              <a:t>OBJETIVOS</a:t>
            </a:r>
            <a:endParaRPr lang="pt-BR" b="1" i="1" dirty="0">
              <a:solidFill>
                <a:schemeClr val="tx1"/>
              </a:solidFill>
              <a:latin typeface="Lucida Sans Unicode" panose="020B0602030504020204" pitchFamily="34" charset="0"/>
              <a:cs typeface="Lucida Sans Unicode" panose="020B0602030504020204" pitchFamily="34" charset="0"/>
            </a:endParaRPr>
          </a:p>
        </p:txBody>
      </p:sp>
      <p:pic>
        <p:nvPicPr>
          <p:cNvPr id="3" name="Imagem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89137" y="813003"/>
            <a:ext cx="4105275" cy="3118736"/>
          </a:xfrm>
          <a:prstGeom prst="rect">
            <a:avLst/>
          </a:prstGeom>
        </p:spPr>
      </p:pic>
    </p:spTree>
    <p:extLst>
      <p:ext uri="{BB962C8B-B14F-4D97-AF65-F5344CB8AC3E}">
        <p14:creationId xmlns:p14="http://schemas.microsoft.com/office/powerpoint/2010/main" val="2414630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randombar(horizontal)">
                                      <p:cBhvr>
                                        <p:cTn id="14" dur="500"/>
                                        <p:tgtEl>
                                          <p:spTgt spid="3"/>
                                        </p:tgtEl>
                                      </p:cBhvr>
                                    </p:animEffect>
                                  </p:childTnLst>
                                </p:cTn>
                              </p:par>
                              <p:par>
                                <p:cTn id="15" presetID="14" presetClass="entr" presetSubtype="5" fill="hold" nodeType="withEffect">
                                  <p:stCondLst>
                                    <p:cond delay="0"/>
                                  </p:stCondLst>
                                  <p:childTnLst>
                                    <p:set>
                                      <p:cBhvr>
                                        <p:cTn id="16" dur="1" fill="hold">
                                          <p:stCondLst>
                                            <p:cond delay="0"/>
                                          </p:stCondLst>
                                        </p:cTn>
                                        <p:tgtEl>
                                          <p:spTgt spid="1026"/>
                                        </p:tgtEl>
                                        <p:attrNameLst>
                                          <p:attrName>style.visibility</p:attrName>
                                        </p:attrNameLst>
                                      </p:cBhvr>
                                      <p:to>
                                        <p:strVal val="visible"/>
                                      </p:to>
                                    </p:set>
                                    <p:animEffect transition="in" filter="randombar(vertical)">
                                      <p:cBhvr>
                                        <p:cTn id="17" dur="500"/>
                                        <p:tgtEl>
                                          <p:spTgt spid="1026"/>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000"/>
                                        <p:tgtEl>
                                          <p:spTgt spid="6"/>
                                        </p:tgtEl>
                                      </p:cBhvr>
                                    </p:animEffect>
                                    <p:anim calcmode="lin" valueType="num">
                                      <p:cBhvr>
                                        <p:cTn id="23" dur="1000" fill="hold"/>
                                        <p:tgtEl>
                                          <p:spTgt spid="6"/>
                                        </p:tgtEl>
                                        <p:attrNameLst>
                                          <p:attrName>ppt_x</p:attrName>
                                        </p:attrNameLst>
                                      </p:cBhvr>
                                      <p:tavLst>
                                        <p:tav tm="0">
                                          <p:val>
                                            <p:strVal val="#ppt_x"/>
                                          </p:val>
                                        </p:tav>
                                        <p:tav tm="100000">
                                          <p:val>
                                            <p:strVal val="#ppt_x"/>
                                          </p:val>
                                        </p:tav>
                                      </p:tavLst>
                                    </p:anim>
                                    <p:anim calcmode="lin" valueType="num">
                                      <p:cBhvr>
                                        <p:cTn id="2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ítulo 3"/>
          <p:cNvSpPr txBox="1">
            <a:spLocks/>
          </p:cNvSpPr>
          <p:nvPr/>
        </p:nvSpPr>
        <p:spPr>
          <a:xfrm>
            <a:off x="838200" y="231439"/>
            <a:ext cx="10515600" cy="44007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accent1">
                    <a:lumMod val="50000"/>
                  </a:schemeClr>
                </a:solidFill>
                <a:latin typeface="Helvetica" panose="020B0604020202020204" pitchFamily="34" charset="0"/>
                <a:ea typeface="+mj-ea"/>
                <a:cs typeface="Helvetica" panose="020B0604020202020204" pitchFamily="34" charset="0"/>
              </a:defRPr>
            </a:lvl1p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GESTÃO DA CADEIA DE SUPRIMENTOS</a:t>
            </a:r>
            <a:endParaRPr lang="pt-BR" sz="2400" b="1" i="1" dirty="0">
              <a:solidFill>
                <a:schemeClr val="accent6"/>
              </a:solidFill>
              <a:latin typeface="Lucida Sans Unicode" panose="020B0602030504020204" pitchFamily="34" charset="0"/>
              <a:cs typeface="Lucida Sans Unicode" panose="020B0602030504020204" pitchFamily="34" charset="0"/>
            </a:endParaRPr>
          </a:p>
        </p:txBody>
      </p:sp>
      <p:sp>
        <p:nvSpPr>
          <p:cNvPr id="5" name="Título 3"/>
          <p:cNvSpPr txBox="1">
            <a:spLocks/>
          </p:cNvSpPr>
          <p:nvPr/>
        </p:nvSpPr>
        <p:spPr>
          <a:xfrm>
            <a:off x="693821" y="822808"/>
            <a:ext cx="10515600" cy="44007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accent1">
                    <a:lumMod val="50000"/>
                  </a:schemeClr>
                </a:solidFill>
                <a:latin typeface="Helvetica" panose="020B0604020202020204" pitchFamily="34" charset="0"/>
                <a:ea typeface="+mj-ea"/>
                <a:cs typeface="Helvetica" panose="020B0604020202020204" pitchFamily="34" charset="0"/>
              </a:defRPr>
            </a:lvl1pPr>
          </a:lstStyle>
          <a:p>
            <a:pPr algn="ctr"/>
            <a:r>
              <a:rPr lang="pt-BR" sz="2000" b="1" dirty="0">
                <a:solidFill>
                  <a:schemeClr val="accent6"/>
                </a:solidFill>
                <a:latin typeface="Lucida Sans Unicode" panose="020B0602030504020204" pitchFamily="34" charset="0"/>
                <a:cs typeface="Lucida Sans Unicode" panose="020B0602030504020204" pitchFamily="34" charset="0"/>
              </a:rPr>
              <a:t>MODELAGEM</a:t>
            </a:r>
            <a:endParaRPr lang="pt-BR" sz="2000" b="1" i="1" dirty="0">
              <a:solidFill>
                <a:schemeClr val="accent6"/>
              </a:solidFill>
              <a:latin typeface="Lucida Sans Unicode" panose="020B0602030504020204" pitchFamily="34" charset="0"/>
              <a:cs typeface="Lucida Sans Unicode" panose="020B0602030504020204" pitchFamily="34" charset="0"/>
            </a:endParaRPr>
          </a:p>
        </p:txBody>
      </p:sp>
      <p:sp>
        <p:nvSpPr>
          <p:cNvPr id="6" name="CaixaDeTexto 5"/>
          <p:cNvSpPr txBox="1"/>
          <p:nvPr/>
        </p:nvSpPr>
        <p:spPr>
          <a:xfrm>
            <a:off x="336042" y="1620991"/>
            <a:ext cx="11563190" cy="4616648"/>
          </a:xfrm>
          <a:prstGeom prst="rect">
            <a:avLst/>
          </a:prstGeom>
          <a:noFill/>
        </p:spPr>
        <p:txBody>
          <a:bodyPr wrap="square" rtlCol="0">
            <a:spAutoFit/>
          </a:bodyPr>
          <a:lstStyle/>
          <a:p>
            <a:pPr marL="285750" indent="-285750">
              <a:lnSpc>
                <a:spcPct val="150000"/>
              </a:lnSpc>
              <a:buFont typeface="Wingdings" panose="05000000000000000000" pitchFamily="2" charset="2"/>
              <a:buChar char="§"/>
            </a:pPr>
            <a:r>
              <a:rPr lang="pt-BR" sz="2800" dirty="0">
                <a:latin typeface="Lucida Sans Unicode" panose="020B0602030504020204" pitchFamily="34" charset="0"/>
                <a:cs typeface="Lucida Sans Unicode" panose="020B0602030504020204" pitchFamily="34" charset="0"/>
              </a:rPr>
              <a:t>Previsão e planejamento do equilíbrio entre </a:t>
            </a:r>
            <a:r>
              <a:rPr lang="pt-BR" sz="2800" b="1" dirty="0">
                <a:latin typeface="Lucida Sans Unicode" panose="020B0602030504020204" pitchFamily="34" charset="0"/>
                <a:cs typeface="Lucida Sans Unicode" panose="020B0602030504020204" pitchFamily="34" charset="0"/>
              </a:rPr>
              <a:t>oferta e demanda</a:t>
            </a:r>
            <a:r>
              <a:rPr lang="pt-BR" sz="2800" dirty="0">
                <a:latin typeface="Lucida Sans Unicode" panose="020B0602030504020204" pitchFamily="34" charset="0"/>
                <a:cs typeface="Lucida Sans Unicode" panose="020B0602030504020204" pitchFamily="34" charset="0"/>
              </a:rPr>
              <a:t>;</a:t>
            </a:r>
          </a:p>
          <a:p>
            <a:pPr marL="285750" indent="-285750">
              <a:lnSpc>
                <a:spcPct val="150000"/>
              </a:lnSpc>
              <a:buFont typeface="Wingdings" panose="05000000000000000000" pitchFamily="2" charset="2"/>
              <a:buChar char="§"/>
            </a:pPr>
            <a:r>
              <a:rPr lang="pt-BR" sz="2800" dirty="0">
                <a:latin typeface="Lucida Sans Unicode" panose="020B0602030504020204" pitchFamily="34" charset="0"/>
                <a:cs typeface="Lucida Sans Unicode" panose="020B0602030504020204" pitchFamily="34" charset="0"/>
              </a:rPr>
              <a:t>Localização de fornecedores de matérias-primas;</a:t>
            </a:r>
          </a:p>
          <a:p>
            <a:pPr marL="285750" indent="-285750">
              <a:lnSpc>
                <a:spcPct val="150000"/>
              </a:lnSpc>
              <a:buFont typeface="Wingdings" panose="05000000000000000000" pitchFamily="2" charset="2"/>
              <a:buChar char="§"/>
            </a:pPr>
            <a:r>
              <a:rPr lang="pt-BR" sz="2800" dirty="0">
                <a:latin typeface="Lucida Sans Unicode" panose="020B0602030504020204" pitchFamily="34" charset="0"/>
                <a:cs typeface="Lucida Sans Unicode" panose="020B0602030504020204" pitchFamily="34" charset="0"/>
              </a:rPr>
              <a:t>Fabricação;</a:t>
            </a:r>
          </a:p>
          <a:p>
            <a:pPr marL="285750" indent="-285750">
              <a:lnSpc>
                <a:spcPct val="150000"/>
              </a:lnSpc>
              <a:buFont typeface="Wingdings" panose="05000000000000000000" pitchFamily="2" charset="2"/>
              <a:buChar char="§"/>
            </a:pPr>
            <a:r>
              <a:rPr lang="pt-BR" sz="2800" dirty="0">
                <a:latin typeface="Lucida Sans Unicode" panose="020B0602030504020204" pitchFamily="34" charset="0"/>
                <a:cs typeface="Lucida Sans Unicode" panose="020B0602030504020204" pitchFamily="34" charset="0"/>
              </a:rPr>
              <a:t>Armazenagem;</a:t>
            </a:r>
          </a:p>
          <a:p>
            <a:pPr marL="285750" indent="-285750">
              <a:lnSpc>
                <a:spcPct val="150000"/>
              </a:lnSpc>
              <a:buFont typeface="Wingdings" panose="05000000000000000000" pitchFamily="2" charset="2"/>
              <a:buChar char="§"/>
            </a:pPr>
            <a:r>
              <a:rPr lang="pt-BR" sz="2800" dirty="0">
                <a:latin typeface="Lucida Sans Unicode" panose="020B0602030504020204" pitchFamily="34" charset="0"/>
                <a:cs typeface="Lucida Sans Unicode" panose="020B0602030504020204" pitchFamily="34" charset="0"/>
              </a:rPr>
              <a:t>Entrega;</a:t>
            </a:r>
          </a:p>
          <a:p>
            <a:pPr marL="285750" indent="-285750">
              <a:lnSpc>
                <a:spcPct val="150000"/>
              </a:lnSpc>
              <a:buFont typeface="Wingdings" panose="05000000000000000000" pitchFamily="2" charset="2"/>
              <a:buChar char="§"/>
            </a:pPr>
            <a:r>
              <a:rPr lang="pt-BR" sz="2800" dirty="0">
                <a:latin typeface="Lucida Sans Unicode" panose="020B0602030504020204" pitchFamily="34" charset="0"/>
                <a:cs typeface="Lucida Sans Unicode" panose="020B0602030504020204" pitchFamily="34" charset="0"/>
              </a:rPr>
              <a:t>Devolução;</a:t>
            </a:r>
          </a:p>
          <a:p>
            <a:pPr marL="285750" indent="-285750">
              <a:lnSpc>
                <a:spcPct val="150000"/>
              </a:lnSpc>
              <a:buFont typeface="Wingdings" panose="05000000000000000000" pitchFamily="2" charset="2"/>
              <a:buChar char="§"/>
            </a:pPr>
            <a:r>
              <a:rPr lang="pt-BR" sz="2800" i="1" dirty="0">
                <a:latin typeface="Lucida Sans Unicode" panose="020B0602030504020204" pitchFamily="34" charset="0"/>
                <a:cs typeface="Lucida Sans Unicode" panose="020B0602030504020204" pitchFamily="34" charset="0"/>
              </a:rPr>
              <a:t>Feedback</a:t>
            </a:r>
            <a:r>
              <a:rPr lang="pt-BR" sz="2800" dirty="0">
                <a:latin typeface="Lucida Sans Unicode" panose="020B0602030504020204" pitchFamily="34" charset="0"/>
                <a:cs typeface="Lucida Sans Unicode" panose="020B0602030504020204" pitchFamily="34" charset="0"/>
              </a:rPr>
              <a:t> (SAC – melhoria de processos)</a:t>
            </a:r>
            <a:r>
              <a:rPr lang="pt-BR" sz="2800" i="1" dirty="0">
                <a:latin typeface="Lucida Sans Unicode" panose="020B0602030504020204" pitchFamily="34" charset="0"/>
                <a:cs typeface="Lucida Sans Unicode" panose="020B0602030504020204" pitchFamily="34" charset="0"/>
              </a:rPr>
              <a:t>.</a:t>
            </a:r>
            <a:endParaRPr lang="pt-BR" sz="2800" dirty="0">
              <a:latin typeface="Lucida Sans Unicode" panose="020B0602030504020204" pitchFamily="34" charset="0"/>
              <a:cs typeface="Lucida Sans Unicode" panose="020B0602030504020204" pitchFamily="34" charset="0"/>
            </a:endParaRPr>
          </a:p>
        </p:txBody>
      </p:sp>
    </p:spTree>
    <p:extLst>
      <p:ext uri="{BB962C8B-B14F-4D97-AF65-F5344CB8AC3E}">
        <p14:creationId xmlns:p14="http://schemas.microsoft.com/office/powerpoint/2010/main" val="194778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xEl>
                                              <p:pRg st="0" end="0"/>
                                            </p:txEl>
                                          </p:spTgt>
                                        </p:tgtEl>
                                        <p:attrNameLst>
                                          <p:attrName>style.visibility</p:attrName>
                                        </p:attrNameLst>
                                      </p:cBhvr>
                                      <p:to>
                                        <p:strVal val="visible"/>
                                      </p:to>
                                    </p:set>
                                    <p:animEffect transition="in" filter="fade">
                                      <p:cBhvr>
                                        <p:cTn id="14" dur="1000"/>
                                        <p:tgtEl>
                                          <p:spTgt spid="6">
                                            <p:txEl>
                                              <p:pRg st="0" end="0"/>
                                            </p:txEl>
                                          </p:spTgt>
                                        </p:tgtEl>
                                      </p:cBhvr>
                                    </p:animEffect>
                                    <p:anim calcmode="lin" valueType="num">
                                      <p:cBhvr>
                                        <p:cTn id="15"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animEffect transition="in" filter="fade">
                                      <p:cBhvr>
                                        <p:cTn id="21" dur="1000"/>
                                        <p:tgtEl>
                                          <p:spTgt spid="6">
                                            <p:txEl>
                                              <p:pRg st="1" end="1"/>
                                            </p:txEl>
                                          </p:spTgt>
                                        </p:tgtEl>
                                      </p:cBhvr>
                                    </p:animEffect>
                                    <p:anim calcmode="lin" valueType="num">
                                      <p:cBhvr>
                                        <p:cTn id="22"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xEl>
                                              <p:pRg st="2" end="2"/>
                                            </p:txEl>
                                          </p:spTgt>
                                        </p:tgtEl>
                                        <p:attrNameLst>
                                          <p:attrName>style.visibility</p:attrName>
                                        </p:attrNameLst>
                                      </p:cBhvr>
                                      <p:to>
                                        <p:strVal val="visible"/>
                                      </p:to>
                                    </p:set>
                                    <p:animEffect transition="in" filter="fade">
                                      <p:cBhvr>
                                        <p:cTn id="28" dur="1000"/>
                                        <p:tgtEl>
                                          <p:spTgt spid="6">
                                            <p:txEl>
                                              <p:pRg st="2" end="2"/>
                                            </p:txEl>
                                          </p:spTgt>
                                        </p:tgtEl>
                                      </p:cBhvr>
                                    </p:animEffect>
                                    <p:anim calcmode="lin" valueType="num">
                                      <p:cBhvr>
                                        <p:cTn id="29"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6">
                                            <p:txEl>
                                              <p:pRg st="3" end="3"/>
                                            </p:txEl>
                                          </p:spTgt>
                                        </p:tgtEl>
                                        <p:attrNameLst>
                                          <p:attrName>style.visibility</p:attrName>
                                        </p:attrNameLst>
                                      </p:cBhvr>
                                      <p:to>
                                        <p:strVal val="visible"/>
                                      </p:to>
                                    </p:set>
                                    <p:animEffect transition="in" filter="fade">
                                      <p:cBhvr>
                                        <p:cTn id="35" dur="1000"/>
                                        <p:tgtEl>
                                          <p:spTgt spid="6">
                                            <p:txEl>
                                              <p:pRg st="3" end="3"/>
                                            </p:txEl>
                                          </p:spTgt>
                                        </p:tgtEl>
                                      </p:cBhvr>
                                    </p:animEffect>
                                    <p:anim calcmode="lin" valueType="num">
                                      <p:cBhvr>
                                        <p:cTn id="36"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6">
                                            <p:txEl>
                                              <p:pRg st="4" end="4"/>
                                            </p:txEl>
                                          </p:spTgt>
                                        </p:tgtEl>
                                        <p:attrNameLst>
                                          <p:attrName>style.visibility</p:attrName>
                                        </p:attrNameLst>
                                      </p:cBhvr>
                                      <p:to>
                                        <p:strVal val="visible"/>
                                      </p:to>
                                    </p:set>
                                    <p:animEffect transition="in" filter="fade">
                                      <p:cBhvr>
                                        <p:cTn id="42" dur="1000"/>
                                        <p:tgtEl>
                                          <p:spTgt spid="6">
                                            <p:txEl>
                                              <p:pRg st="4" end="4"/>
                                            </p:txEl>
                                          </p:spTgt>
                                        </p:tgtEl>
                                      </p:cBhvr>
                                    </p:animEffect>
                                    <p:anim calcmode="lin" valueType="num">
                                      <p:cBhvr>
                                        <p:cTn id="43"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6">
                                            <p:txEl>
                                              <p:pRg st="5" end="5"/>
                                            </p:txEl>
                                          </p:spTgt>
                                        </p:tgtEl>
                                        <p:attrNameLst>
                                          <p:attrName>style.visibility</p:attrName>
                                        </p:attrNameLst>
                                      </p:cBhvr>
                                      <p:to>
                                        <p:strVal val="visible"/>
                                      </p:to>
                                    </p:set>
                                    <p:animEffect transition="in" filter="fade">
                                      <p:cBhvr>
                                        <p:cTn id="49" dur="1000"/>
                                        <p:tgtEl>
                                          <p:spTgt spid="6">
                                            <p:txEl>
                                              <p:pRg st="5" end="5"/>
                                            </p:txEl>
                                          </p:spTgt>
                                        </p:tgtEl>
                                      </p:cBhvr>
                                    </p:animEffect>
                                    <p:anim calcmode="lin" valueType="num">
                                      <p:cBhvr>
                                        <p:cTn id="50"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6">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6">
                                            <p:txEl>
                                              <p:pRg st="6" end="6"/>
                                            </p:txEl>
                                          </p:spTgt>
                                        </p:tgtEl>
                                        <p:attrNameLst>
                                          <p:attrName>style.visibility</p:attrName>
                                        </p:attrNameLst>
                                      </p:cBhvr>
                                      <p:to>
                                        <p:strVal val="visible"/>
                                      </p:to>
                                    </p:set>
                                    <p:animEffect transition="in" filter="fade">
                                      <p:cBhvr>
                                        <p:cTn id="56" dur="1000"/>
                                        <p:tgtEl>
                                          <p:spTgt spid="6">
                                            <p:txEl>
                                              <p:pRg st="6" end="6"/>
                                            </p:txEl>
                                          </p:spTgt>
                                        </p:tgtEl>
                                      </p:cBhvr>
                                    </p:animEffect>
                                    <p:anim calcmode="lin" valueType="num">
                                      <p:cBhvr>
                                        <p:cTn id="57"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6">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build="p"/>
    </p:bld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ítulo 3"/>
          <p:cNvSpPr txBox="1">
            <a:spLocks/>
          </p:cNvSpPr>
          <p:nvPr/>
        </p:nvSpPr>
        <p:spPr>
          <a:xfrm>
            <a:off x="838200" y="231439"/>
            <a:ext cx="10515600" cy="44007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accent1">
                    <a:lumMod val="50000"/>
                  </a:schemeClr>
                </a:solidFill>
                <a:latin typeface="Helvetica" panose="020B0604020202020204" pitchFamily="34" charset="0"/>
                <a:ea typeface="+mj-ea"/>
                <a:cs typeface="Helvetica" panose="020B0604020202020204" pitchFamily="34" charset="0"/>
              </a:defRPr>
            </a:lvl1p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GESTÃO DA CADEIA DE SUPRIMENTOS</a:t>
            </a:r>
            <a:endParaRPr lang="pt-BR" sz="2400" b="1" i="1" dirty="0">
              <a:solidFill>
                <a:schemeClr val="accent6"/>
              </a:solidFill>
              <a:latin typeface="Lucida Sans Unicode" panose="020B0602030504020204" pitchFamily="34" charset="0"/>
              <a:cs typeface="Lucida Sans Unicode" panose="020B0602030504020204" pitchFamily="34" charset="0"/>
            </a:endParaRPr>
          </a:p>
        </p:txBody>
      </p:sp>
      <p:sp>
        <p:nvSpPr>
          <p:cNvPr id="2" name="CaixaDeTexto 1"/>
          <p:cNvSpPr txBox="1"/>
          <p:nvPr/>
        </p:nvSpPr>
        <p:spPr>
          <a:xfrm>
            <a:off x="227323" y="1237892"/>
            <a:ext cx="11737353" cy="5262979"/>
          </a:xfrm>
          <a:prstGeom prst="rect">
            <a:avLst/>
          </a:prstGeom>
          <a:noFill/>
        </p:spPr>
        <p:txBody>
          <a:bodyPr wrap="square" rtlCol="0">
            <a:spAutoFit/>
          </a:bodyPr>
          <a:lstStyle/>
          <a:p>
            <a:pPr marL="285750" indent="-285750" algn="just">
              <a:buFont typeface="Arial" panose="020B0604020202020204" pitchFamily="34" charset="0"/>
              <a:buChar char="•"/>
            </a:pPr>
            <a:r>
              <a:rPr lang="pt-BR" sz="2400" dirty="0">
                <a:latin typeface="Lucida Sans Unicode" panose="020B0602030504020204" pitchFamily="34" charset="0"/>
                <a:cs typeface="Lucida Sans Unicode" panose="020B0602030504020204" pitchFamily="34" charset="0"/>
              </a:rPr>
              <a:t>Gerenciar a </a:t>
            </a:r>
            <a:r>
              <a:rPr lang="pt-BR" sz="2400" b="1" dirty="0">
                <a:latin typeface="Lucida Sans Unicode" panose="020B0602030504020204" pitchFamily="34" charset="0"/>
                <a:cs typeface="Lucida Sans Unicode" panose="020B0602030504020204" pitchFamily="34" charset="0"/>
              </a:rPr>
              <a:t>colaboração e a comunicação </a:t>
            </a:r>
            <a:r>
              <a:rPr lang="pt-BR" sz="2400" dirty="0">
                <a:latin typeface="Lucida Sans Unicode" panose="020B0602030504020204" pitchFamily="34" charset="0"/>
                <a:cs typeface="Lucida Sans Unicode" panose="020B0602030504020204" pitchFamily="34" charset="0"/>
              </a:rPr>
              <a:t>entre os elos, informando-os das intenções de modificar ou melhorar algum processo de fabricação;</a:t>
            </a:r>
          </a:p>
          <a:p>
            <a:pPr algn="just"/>
            <a:endParaRPr lang="pt-BR" sz="2400" dirty="0">
              <a:latin typeface="Lucida Sans Unicode" panose="020B0602030504020204" pitchFamily="34" charset="0"/>
              <a:cs typeface="Lucida Sans Unicode" panose="020B0602030504020204" pitchFamily="34" charset="0"/>
            </a:endParaRPr>
          </a:p>
          <a:p>
            <a:pPr marL="285750" indent="-285750" algn="just">
              <a:buFont typeface="Arial" panose="020B0604020202020204" pitchFamily="34" charset="0"/>
              <a:buChar char="•"/>
            </a:pPr>
            <a:r>
              <a:rPr lang="pt-BR" sz="2400" dirty="0">
                <a:latin typeface="Lucida Sans Unicode" panose="020B0602030504020204" pitchFamily="34" charset="0"/>
                <a:cs typeface="Lucida Sans Unicode" panose="020B0602030504020204" pitchFamily="34" charset="0"/>
              </a:rPr>
              <a:t>Manter os </a:t>
            </a:r>
            <a:r>
              <a:rPr lang="pt-BR" sz="2400" b="1" dirty="0">
                <a:latin typeface="Lucida Sans Unicode" panose="020B0602030504020204" pitchFamily="34" charset="0"/>
                <a:cs typeface="Lucida Sans Unicode" panose="020B0602030504020204" pitchFamily="34" charset="0"/>
              </a:rPr>
              <a:t>níveis de estoques tão baixos quanto possível</a:t>
            </a:r>
            <a:r>
              <a:rPr lang="pt-BR" sz="2400" dirty="0">
                <a:latin typeface="Lucida Sans Unicode" panose="020B0602030504020204" pitchFamily="34" charset="0"/>
                <a:cs typeface="Lucida Sans Unicode" panose="020B0602030504020204" pitchFamily="34" charset="0"/>
              </a:rPr>
              <a:t> (segurança), utilizando processos de suprimento e produção que diminuam a sua necessidade;</a:t>
            </a:r>
          </a:p>
          <a:p>
            <a:pPr algn="just"/>
            <a:endParaRPr lang="pt-BR" sz="2400" dirty="0">
              <a:latin typeface="Lucida Sans Unicode" panose="020B0602030504020204" pitchFamily="34" charset="0"/>
              <a:cs typeface="Lucida Sans Unicode" panose="020B0602030504020204" pitchFamily="34" charset="0"/>
            </a:endParaRPr>
          </a:p>
          <a:p>
            <a:pPr marL="285750" indent="-285750" algn="just">
              <a:buFont typeface="Arial" panose="020B0604020202020204" pitchFamily="34" charset="0"/>
              <a:buChar char="•"/>
            </a:pPr>
            <a:r>
              <a:rPr lang="pt-BR" sz="2400" dirty="0">
                <a:latin typeface="Lucida Sans Unicode" panose="020B0602030504020204" pitchFamily="34" charset="0"/>
                <a:cs typeface="Lucida Sans Unicode" panose="020B0602030504020204" pitchFamily="34" charset="0"/>
              </a:rPr>
              <a:t>Considerar o uso da terceirização </a:t>
            </a:r>
            <a:r>
              <a:rPr lang="pt-BR" sz="2400" i="1" dirty="0">
                <a:latin typeface="Lucida Sans Unicode" panose="020B0602030504020204" pitchFamily="34" charset="0"/>
                <a:cs typeface="Lucida Sans Unicode" panose="020B0602030504020204" pitchFamily="34" charset="0"/>
              </a:rPr>
              <a:t>(outsourcing);</a:t>
            </a:r>
          </a:p>
          <a:p>
            <a:pPr algn="just"/>
            <a:endParaRPr lang="pt-BR" sz="2400" dirty="0">
              <a:latin typeface="Lucida Sans Unicode" panose="020B0602030504020204" pitchFamily="34" charset="0"/>
              <a:cs typeface="Lucida Sans Unicode" panose="020B0602030504020204" pitchFamily="34" charset="0"/>
            </a:endParaRPr>
          </a:p>
          <a:p>
            <a:pPr marL="285750" indent="-285750" algn="just">
              <a:buFont typeface="Arial" panose="020B0604020202020204" pitchFamily="34" charset="0"/>
              <a:buChar char="•"/>
            </a:pPr>
            <a:r>
              <a:rPr lang="pt-BR" sz="2400" dirty="0">
                <a:latin typeface="Lucida Sans Unicode" panose="020B0602030504020204" pitchFamily="34" charset="0"/>
                <a:cs typeface="Lucida Sans Unicode" panose="020B0602030504020204" pitchFamily="34" charset="0"/>
              </a:rPr>
              <a:t>Investir em </a:t>
            </a:r>
            <a:r>
              <a:rPr lang="pt-BR" sz="2400" b="1" dirty="0">
                <a:latin typeface="Lucida Sans Unicode" panose="020B0602030504020204" pitchFamily="34" charset="0"/>
                <a:cs typeface="Lucida Sans Unicode" panose="020B0602030504020204" pitchFamily="34" charset="0"/>
              </a:rPr>
              <a:t>TI</a:t>
            </a:r>
            <a:r>
              <a:rPr lang="pt-BR" sz="2400" dirty="0">
                <a:latin typeface="Lucida Sans Unicode" panose="020B0602030504020204" pitchFamily="34" charset="0"/>
                <a:cs typeface="Lucida Sans Unicode" panose="020B0602030504020204" pitchFamily="34" charset="0"/>
              </a:rPr>
              <a:t> nas interações com fornecedores e clientes (redução de tempos de pedidos / entregas; relacionamento mais próximo);</a:t>
            </a:r>
          </a:p>
          <a:p>
            <a:pPr algn="just"/>
            <a:endParaRPr lang="pt-BR" sz="2400" dirty="0">
              <a:latin typeface="Lucida Sans Unicode" panose="020B0602030504020204" pitchFamily="34" charset="0"/>
              <a:cs typeface="Lucida Sans Unicode" panose="020B0602030504020204" pitchFamily="34" charset="0"/>
            </a:endParaRPr>
          </a:p>
          <a:p>
            <a:pPr marL="285750" indent="-285750" algn="just">
              <a:buFont typeface="Arial" panose="020B0604020202020204" pitchFamily="34" charset="0"/>
              <a:buChar char="•"/>
            </a:pPr>
            <a:r>
              <a:rPr lang="pt-BR" sz="2400" dirty="0">
                <a:latin typeface="Lucida Sans Unicode" panose="020B0602030504020204" pitchFamily="34" charset="0"/>
                <a:cs typeface="Lucida Sans Unicode" panose="020B0602030504020204" pitchFamily="34" charset="0"/>
              </a:rPr>
              <a:t>Tomar decisões sobre volume de compras </a:t>
            </a:r>
            <a:r>
              <a:rPr lang="pt-BR" sz="2400" b="1" dirty="0">
                <a:latin typeface="Lucida Sans Unicode" panose="020B0602030504020204" pitchFamily="34" charset="0"/>
                <a:cs typeface="Lucida Sans Unicode" panose="020B0602030504020204" pitchFamily="34" charset="0"/>
              </a:rPr>
              <a:t>com base em cálculos</a:t>
            </a:r>
            <a:r>
              <a:rPr lang="pt-BR" sz="2400" dirty="0">
                <a:latin typeface="Lucida Sans Unicode" panose="020B0602030504020204" pitchFamily="34" charset="0"/>
                <a:cs typeface="Lucida Sans Unicode" panose="020B0602030504020204" pitchFamily="34" charset="0"/>
              </a:rPr>
              <a:t> e não em pressão / intuição;</a:t>
            </a:r>
          </a:p>
        </p:txBody>
      </p:sp>
      <p:sp>
        <p:nvSpPr>
          <p:cNvPr id="6" name="Título 3"/>
          <p:cNvSpPr txBox="1">
            <a:spLocks/>
          </p:cNvSpPr>
          <p:nvPr/>
        </p:nvSpPr>
        <p:spPr>
          <a:xfrm>
            <a:off x="741947" y="671513"/>
            <a:ext cx="10515600" cy="44007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accent1">
                    <a:lumMod val="50000"/>
                  </a:schemeClr>
                </a:solidFill>
                <a:latin typeface="Helvetica" panose="020B0604020202020204" pitchFamily="34" charset="0"/>
                <a:ea typeface="+mj-ea"/>
                <a:cs typeface="Helvetica" panose="020B0604020202020204" pitchFamily="34" charset="0"/>
              </a:defRPr>
            </a:lvl1pPr>
          </a:lstStyle>
          <a:p>
            <a:pPr algn="ctr"/>
            <a:r>
              <a:rPr lang="pt-BR" sz="2000" b="1" dirty="0">
                <a:solidFill>
                  <a:schemeClr val="accent6"/>
                </a:solidFill>
                <a:latin typeface="Lucida Sans Unicode" panose="020B0602030504020204" pitchFamily="34" charset="0"/>
                <a:cs typeface="Lucida Sans Unicode" panose="020B0602030504020204" pitchFamily="34" charset="0"/>
              </a:rPr>
              <a:t>IMPLEMENTAÇÃO</a:t>
            </a:r>
            <a:endParaRPr lang="pt-BR" sz="2000" b="1" i="1" dirty="0">
              <a:solidFill>
                <a:schemeClr val="accent6"/>
              </a:solidFill>
              <a:latin typeface="Lucida Sans Unicode" panose="020B0602030504020204" pitchFamily="34" charset="0"/>
              <a:cs typeface="Lucida Sans Unicode" panose="020B0602030504020204" pitchFamily="34" charset="0"/>
            </a:endParaRPr>
          </a:p>
        </p:txBody>
      </p:sp>
    </p:spTree>
    <p:extLst>
      <p:ext uri="{BB962C8B-B14F-4D97-AF65-F5344CB8AC3E}">
        <p14:creationId xmlns:p14="http://schemas.microsoft.com/office/powerpoint/2010/main" val="3574799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2"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6" fill="hold" grpId="0"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 calcmode="lin" valueType="num">
                                      <p:cBhvr additive="base">
                                        <p:cTn id="13" dur="500" fill="hold"/>
                                        <p:tgtEl>
                                          <p:spTgt spid="2">
                                            <p:txEl>
                                              <p:pRg st="0" end="0"/>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6"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6" fill="hold" grpId="0" nodeType="clickEffect">
                                  <p:stCondLst>
                                    <p:cond delay="0"/>
                                  </p:stCondLst>
                                  <p:childTnLst>
                                    <p:set>
                                      <p:cBhvr>
                                        <p:cTn id="24" dur="1" fill="hold">
                                          <p:stCondLst>
                                            <p:cond delay="0"/>
                                          </p:stCondLst>
                                        </p:cTn>
                                        <p:tgtEl>
                                          <p:spTgt spid="2">
                                            <p:txEl>
                                              <p:pRg st="4" end="4"/>
                                            </p:txEl>
                                          </p:spTgt>
                                        </p:tgtEl>
                                        <p:attrNameLst>
                                          <p:attrName>style.visibility</p:attrName>
                                        </p:attrNameLst>
                                      </p:cBhvr>
                                      <p:to>
                                        <p:strVal val="visible"/>
                                      </p:to>
                                    </p:set>
                                    <p:anim calcmode="lin" valueType="num">
                                      <p:cBhvr additive="base">
                                        <p:cTn id="25" dur="500" fill="hold"/>
                                        <p:tgtEl>
                                          <p:spTgt spid="2">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6"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anim calcmode="lin" valueType="num">
                                      <p:cBhvr additive="base">
                                        <p:cTn id="31" dur="500" fill="hold"/>
                                        <p:tgtEl>
                                          <p:spTgt spid="2">
                                            <p:txEl>
                                              <p:pRg st="6" end="6"/>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6" fill="hold" grpId="0" nodeType="clickEffect">
                                  <p:stCondLst>
                                    <p:cond delay="0"/>
                                  </p:stCondLst>
                                  <p:childTnLst>
                                    <p:set>
                                      <p:cBhvr>
                                        <p:cTn id="36" dur="1" fill="hold">
                                          <p:stCondLst>
                                            <p:cond delay="0"/>
                                          </p:stCondLst>
                                        </p:cTn>
                                        <p:tgtEl>
                                          <p:spTgt spid="2">
                                            <p:txEl>
                                              <p:pRg st="8" end="8"/>
                                            </p:txEl>
                                          </p:spTgt>
                                        </p:tgtEl>
                                        <p:attrNameLst>
                                          <p:attrName>style.visibility</p:attrName>
                                        </p:attrNameLst>
                                      </p:cBhvr>
                                      <p:to>
                                        <p:strVal val="visible"/>
                                      </p:to>
                                    </p:set>
                                    <p:anim calcmode="lin" valueType="num">
                                      <p:cBhvr additive="base">
                                        <p:cTn id="37" dur="500" fill="hold"/>
                                        <p:tgtEl>
                                          <p:spTgt spid="2">
                                            <p:txEl>
                                              <p:pRg st="8" end="8"/>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2">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6" grpId="0"/>
    </p:bld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ítulo 3"/>
          <p:cNvSpPr txBox="1">
            <a:spLocks/>
          </p:cNvSpPr>
          <p:nvPr/>
        </p:nvSpPr>
        <p:spPr>
          <a:xfrm>
            <a:off x="838200" y="231439"/>
            <a:ext cx="10515600" cy="44007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accent1">
                    <a:lumMod val="50000"/>
                  </a:schemeClr>
                </a:solidFill>
                <a:latin typeface="Helvetica" panose="020B0604020202020204" pitchFamily="34" charset="0"/>
                <a:ea typeface="+mj-ea"/>
                <a:cs typeface="Helvetica" panose="020B0604020202020204" pitchFamily="34" charset="0"/>
              </a:defRPr>
            </a:lvl1p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GESTÃO DA CADEIA DE SUPRIMENTOS</a:t>
            </a:r>
            <a:endParaRPr lang="pt-BR" sz="2400" b="1" i="1" dirty="0">
              <a:solidFill>
                <a:schemeClr val="accent6"/>
              </a:solidFill>
              <a:latin typeface="Lucida Sans Unicode" panose="020B0602030504020204" pitchFamily="34" charset="0"/>
              <a:cs typeface="Lucida Sans Unicode" panose="020B0602030504020204" pitchFamily="34" charset="0"/>
            </a:endParaRPr>
          </a:p>
        </p:txBody>
      </p:sp>
      <p:sp>
        <p:nvSpPr>
          <p:cNvPr id="4" name="CaixaDeTexto 3"/>
          <p:cNvSpPr txBox="1"/>
          <p:nvPr/>
        </p:nvSpPr>
        <p:spPr>
          <a:xfrm>
            <a:off x="185942" y="1848381"/>
            <a:ext cx="11833605" cy="3785652"/>
          </a:xfrm>
          <a:prstGeom prst="rect">
            <a:avLst/>
          </a:prstGeom>
          <a:noFill/>
        </p:spPr>
        <p:txBody>
          <a:bodyPr wrap="square" rtlCol="0">
            <a:spAutoFit/>
          </a:bodyPr>
          <a:lstStyle/>
          <a:p>
            <a:pPr marL="285750" indent="-285750" algn="just">
              <a:buFont typeface="Arial" panose="020B0604020202020204" pitchFamily="34" charset="0"/>
              <a:buChar char="•"/>
            </a:pPr>
            <a:r>
              <a:rPr lang="pt-BR" sz="2400" dirty="0">
                <a:latin typeface="Lucida Sans Unicode" panose="020B0602030504020204" pitchFamily="34" charset="0"/>
                <a:cs typeface="Lucida Sans Unicode" panose="020B0602030504020204" pitchFamily="34" charset="0"/>
              </a:rPr>
              <a:t>Estabelecer a Cadeia de Suprimentos e seus integrantes a partir da escolha da </a:t>
            </a:r>
            <a:r>
              <a:rPr lang="pt-BR" sz="2400" b="1" dirty="0">
                <a:latin typeface="Lucida Sans Unicode" panose="020B0602030504020204" pitchFamily="34" charset="0"/>
                <a:cs typeface="Lucida Sans Unicode" panose="020B0602030504020204" pitchFamily="34" charset="0"/>
              </a:rPr>
              <a:t>empresa foco</a:t>
            </a:r>
            <a:r>
              <a:rPr lang="pt-BR" sz="2400" dirty="0">
                <a:latin typeface="Lucida Sans Unicode" panose="020B0602030504020204" pitchFamily="34" charset="0"/>
                <a:cs typeface="Lucida Sans Unicode" panose="020B0602030504020204" pitchFamily="34" charset="0"/>
              </a:rPr>
              <a:t> (que nem sempre é a maior ou melhor);</a:t>
            </a:r>
          </a:p>
          <a:p>
            <a:pPr algn="just"/>
            <a:endParaRPr lang="pt-BR" sz="2400" dirty="0">
              <a:latin typeface="Lucida Sans Unicode" panose="020B0602030504020204" pitchFamily="34" charset="0"/>
              <a:cs typeface="Lucida Sans Unicode" panose="020B0602030504020204" pitchFamily="34" charset="0"/>
            </a:endParaRPr>
          </a:p>
          <a:p>
            <a:pPr marL="285750" indent="-285750" algn="just">
              <a:buFont typeface="Arial" panose="020B0604020202020204" pitchFamily="34" charset="0"/>
              <a:buChar char="•"/>
            </a:pPr>
            <a:r>
              <a:rPr lang="pt-BR" sz="2400" dirty="0">
                <a:latin typeface="Lucida Sans Unicode" panose="020B0602030504020204" pitchFamily="34" charset="0"/>
                <a:cs typeface="Lucida Sans Unicode" panose="020B0602030504020204" pitchFamily="34" charset="0"/>
              </a:rPr>
              <a:t>Determinar a empresa foco </a:t>
            </a:r>
            <a:r>
              <a:rPr lang="pt-BR" sz="2400" b="1" dirty="0">
                <a:latin typeface="Lucida Sans Unicode" panose="020B0602030504020204" pitchFamily="34" charset="0"/>
                <a:cs typeface="Lucida Sans Unicode" panose="020B0602030504020204" pitchFamily="34" charset="0"/>
              </a:rPr>
              <a:t>pelo segmento e produto</a:t>
            </a:r>
            <a:r>
              <a:rPr lang="pt-BR" sz="2400" dirty="0">
                <a:latin typeface="Lucida Sans Unicode" panose="020B0602030504020204" pitchFamily="34" charset="0"/>
                <a:cs typeface="Lucida Sans Unicode" panose="020B0602030504020204" pitchFamily="34" charset="0"/>
              </a:rPr>
              <a:t> onde as ações gerenciais e o trabalho colaborativo entre fornecedores e clientes será integrado e desenvolvido com o objetivo de </a:t>
            </a:r>
            <a:r>
              <a:rPr lang="pt-BR" sz="2400" b="1" dirty="0">
                <a:latin typeface="Lucida Sans Unicode" panose="020B0602030504020204" pitchFamily="34" charset="0"/>
                <a:cs typeface="Lucida Sans Unicode" panose="020B0602030504020204" pitchFamily="34" charset="0"/>
              </a:rPr>
              <a:t>conquistar os melhores resultados para os envolvidos</a:t>
            </a:r>
            <a:r>
              <a:rPr lang="pt-BR" sz="2400" dirty="0">
                <a:latin typeface="Lucida Sans Unicode" panose="020B0602030504020204" pitchFamily="34" charset="0"/>
                <a:cs typeface="Lucida Sans Unicode" panose="020B0602030504020204" pitchFamily="34" charset="0"/>
              </a:rPr>
              <a:t>;</a:t>
            </a:r>
          </a:p>
          <a:p>
            <a:pPr algn="just"/>
            <a:endParaRPr lang="pt-BR" sz="2400" dirty="0">
              <a:latin typeface="Lucida Sans Unicode" panose="020B0602030504020204" pitchFamily="34" charset="0"/>
              <a:cs typeface="Lucida Sans Unicode" panose="020B0602030504020204" pitchFamily="34" charset="0"/>
            </a:endParaRPr>
          </a:p>
          <a:p>
            <a:pPr marL="285750" indent="-285750" algn="just">
              <a:buFont typeface="Arial" panose="020B0604020202020204" pitchFamily="34" charset="0"/>
              <a:buChar char="•"/>
            </a:pPr>
            <a:r>
              <a:rPr lang="pt-BR" sz="2400" dirty="0">
                <a:latin typeface="Lucida Sans Unicode" panose="020B0602030504020204" pitchFamily="34" charset="0"/>
                <a:cs typeface="Lucida Sans Unicode" panose="020B0602030504020204" pitchFamily="34" charset="0"/>
              </a:rPr>
              <a:t>Fornecedores e clientes são considerados parceiros e fazem parte de uma </a:t>
            </a:r>
            <a:r>
              <a:rPr lang="pt-BR" sz="2400" b="1" dirty="0">
                <a:latin typeface="Lucida Sans Unicode" panose="020B0602030504020204" pitchFamily="34" charset="0"/>
                <a:cs typeface="Lucida Sans Unicode" panose="020B0602030504020204" pitchFamily="34" charset="0"/>
              </a:rPr>
              <a:t>estratégia conjunta</a:t>
            </a:r>
            <a:r>
              <a:rPr lang="pt-BR" sz="2400" dirty="0">
                <a:latin typeface="Lucida Sans Unicode" panose="020B0602030504020204" pitchFamily="34" charset="0"/>
                <a:cs typeface="Lucida Sans Unicode" panose="020B0602030504020204" pitchFamily="34" charset="0"/>
              </a:rPr>
              <a:t>, podendo concorrer em outras cadeias.</a:t>
            </a:r>
          </a:p>
        </p:txBody>
      </p:sp>
      <p:sp>
        <p:nvSpPr>
          <p:cNvPr id="6" name="Título 3"/>
          <p:cNvSpPr txBox="1">
            <a:spLocks/>
          </p:cNvSpPr>
          <p:nvPr/>
        </p:nvSpPr>
        <p:spPr>
          <a:xfrm>
            <a:off x="844944" y="819873"/>
            <a:ext cx="10515600" cy="44007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accent1">
                    <a:lumMod val="50000"/>
                  </a:schemeClr>
                </a:solidFill>
                <a:latin typeface="Helvetica" panose="020B0604020202020204" pitchFamily="34" charset="0"/>
                <a:ea typeface="+mj-ea"/>
                <a:cs typeface="Helvetica" panose="020B0604020202020204" pitchFamily="34" charset="0"/>
              </a:defRPr>
            </a:lvl1pPr>
          </a:lstStyle>
          <a:p>
            <a:pPr algn="ctr"/>
            <a:r>
              <a:rPr lang="pt-BR" sz="2000" b="1" dirty="0">
                <a:solidFill>
                  <a:schemeClr val="accent6"/>
                </a:solidFill>
                <a:latin typeface="Lucida Sans Unicode" panose="020B0602030504020204" pitchFamily="34" charset="0"/>
                <a:cs typeface="Lucida Sans Unicode" panose="020B0602030504020204" pitchFamily="34" charset="0"/>
              </a:rPr>
              <a:t>IMPLEMENTAÇÃO</a:t>
            </a:r>
            <a:endParaRPr lang="pt-BR" sz="2000" b="1" i="1" dirty="0">
              <a:solidFill>
                <a:schemeClr val="accent6"/>
              </a:solidFill>
              <a:latin typeface="Lucida Sans Unicode" panose="020B0602030504020204" pitchFamily="34" charset="0"/>
              <a:cs typeface="Lucida Sans Unicode" panose="020B0602030504020204" pitchFamily="34" charset="0"/>
            </a:endParaRPr>
          </a:p>
        </p:txBody>
      </p:sp>
    </p:spTree>
    <p:extLst>
      <p:ext uri="{BB962C8B-B14F-4D97-AF65-F5344CB8AC3E}">
        <p14:creationId xmlns:p14="http://schemas.microsoft.com/office/powerpoint/2010/main" val="1614415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2"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2" fill="hold" grpId="0"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 calcmode="lin" valueType="num">
                                      <p:cBhvr additive="base">
                                        <p:cTn id="13" dur="500" fill="hold"/>
                                        <p:tgtEl>
                                          <p:spTgt spid="4">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2"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 calcmode="lin" valueType="num">
                                      <p:cBhvr additive="base">
                                        <p:cTn id="19" dur="500" fill="hold"/>
                                        <p:tgtEl>
                                          <p:spTgt spid="4">
                                            <p:txEl>
                                              <p:pRg st="4" end="4"/>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ítulo 3"/>
          <p:cNvSpPr txBox="1">
            <a:spLocks/>
          </p:cNvSpPr>
          <p:nvPr/>
        </p:nvSpPr>
        <p:spPr>
          <a:xfrm>
            <a:off x="838200" y="231439"/>
            <a:ext cx="10515600" cy="44007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accent1">
                    <a:lumMod val="50000"/>
                  </a:schemeClr>
                </a:solidFill>
                <a:latin typeface="Helvetica" panose="020B0604020202020204" pitchFamily="34" charset="0"/>
                <a:ea typeface="+mj-ea"/>
                <a:cs typeface="Helvetica" panose="020B0604020202020204" pitchFamily="34" charset="0"/>
              </a:defRPr>
            </a:lvl1p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GESTÃO DA CADEIA DE SUPRIMENTOS</a:t>
            </a:r>
            <a:endParaRPr lang="pt-BR" sz="2400" b="1" i="1" dirty="0">
              <a:solidFill>
                <a:schemeClr val="accent6"/>
              </a:solidFill>
              <a:latin typeface="Lucida Sans Unicode" panose="020B0602030504020204" pitchFamily="34" charset="0"/>
              <a:cs typeface="Lucida Sans Unicode" panose="020B0602030504020204" pitchFamily="34" charset="0"/>
            </a:endParaRPr>
          </a:p>
        </p:txBody>
      </p:sp>
      <p:sp>
        <p:nvSpPr>
          <p:cNvPr id="2" name="CaixaDeTexto 1"/>
          <p:cNvSpPr txBox="1"/>
          <p:nvPr/>
        </p:nvSpPr>
        <p:spPr>
          <a:xfrm>
            <a:off x="421470" y="1258961"/>
            <a:ext cx="11646204" cy="5201424"/>
          </a:xfrm>
          <a:prstGeom prst="rect">
            <a:avLst/>
          </a:prstGeom>
          <a:noFill/>
        </p:spPr>
        <p:txBody>
          <a:bodyPr wrap="square" rtlCol="0">
            <a:spAutoFit/>
          </a:bodyPr>
          <a:lstStyle/>
          <a:p>
            <a:pPr marL="285750" indent="-285750">
              <a:lnSpc>
                <a:spcPct val="150000"/>
              </a:lnSpc>
              <a:buFont typeface="Wingdings" panose="05000000000000000000" pitchFamily="2" charset="2"/>
              <a:buChar char="v"/>
            </a:pPr>
            <a:r>
              <a:rPr lang="pt-BR" sz="3200" b="1" dirty="0">
                <a:latin typeface="Lucida Sans Unicode" panose="020B0602030504020204" pitchFamily="34" charset="0"/>
                <a:cs typeface="Lucida Sans Unicode" panose="020B0602030504020204" pitchFamily="34" charset="0"/>
              </a:rPr>
              <a:t>Cadeia Interna</a:t>
            </a:r>
            <a:r>
              <a:rPr lang="pt-BR" sz="3200" dirty="0">
                <a:latin typeface="Lucida Sans Unicode" panose="020B0602030504020204" pitchFamily="34" charset="0"/>
                <a:cs typeface="Lucida Sans Unicode" panose="020B0602030504020204" pitchFamily="34" charset="0"/>
              </a:rPr>
              <a:t> – fluxo de informações e de materiais entre departamentos, células ou setores internos à empresa;</a:t>
            </a:r>
          </a:p>
          <a:p>
            <a:pPr marL="285750" indent="-285750">
              <a:lnSpc>
                <a:spcPct val="150000"/>
              </a:lnSpc>
              <a:buFont typeface="Wingdings" panose="05000000000000000000" pitchFamily="2" charset="2"/>
              <a:buChar char="v"/>
            </a:pPr>
            <a:r>
              <a:rPr lang="pt-BR" sz="3200" b="1" dirty="0">
                <a:latin typeface="Lucida Sans Unicode" panose="020B0602030504020204" pitchFamily="34" charset="0"/>
                <a:cs typeface="Lucida Sans Unicode" panose="020B0602030504020204" pitchFamily="34" charset="0"/>
              </a:rPr>
              <a:t>Cadeia imediata</a:t>
            </a:r>
            <a:r>
              <a:rPr lang="pt-BR" sz="3200" dirty="0">
                <a:latin typeface="Lucida Sans Unicode" panose="020B0602030504020204" pitchFamily="34" charset="0"/>
                <a:cs typeface="Lucida Sans Unicode" panose="020B0602030504020204" pitchFamily="34" charset="0"/>
              </a:rPr>
              <a:t> – fornecedores e clientes imediatos.</a:t>
            </a:r>
          </a:p>
          <a:p>
            <a:pPr marL="285750" indent="-285750">
              <a:lnSpc>
                <a:spcPct val="150000"/>
              </a:lnSpc>
              <a:buFont typeface="Wingdings" panose="05000000000000000000" pitchFamily="2" charset="2"/>
              <a:buChar char="v"/>
            </a:pPr>
            <a:r>
              <a:rPr lang="pt-BR" sz="3200" b="1" dirty="0">
                <a:latin typeface="Lucida Sans Unicode" panose="020B0602030504020204" pitchFamily="34" charset="0"/>
                <a:cs typeface="Lucida Sans Unicode" panose="020B0602030504020204" pitchFamily="34" charset="0"/>
              </a:rPr>
              <a:t>Cadeia total</a:t>
            </a:r>
            <a:r>
              <a:rPr lang="pt-BR" sz="3200" dirty="0">
                <a:latin typeface="Lucida Sans Unicode" panose="020B0602030504020204" pitchFamily="34" charset="0"/>
                <a:cs typeface="Lucida Sans Unicode" panose="020B0602030504020204" pitchFamily="34" charset="0"/>
              </a:rPr>
              <a:t> – composta por todas as cadeias imediatas que compõem determinado setor industrial ou de serviços.</a:t>
            </a:r>
            <a:endParaRPr lang="pt-BR" sz="3200" b="1" dirty="0">
              <a:latin typeface="Lucida Sans Unicode" panose="020B0602030504020204" pitchFamily="34" charset="0"/>
              <a:cs typeface="Lucida Sans Unicode" panose="020B0602030504020204" pitchFamily="34" charset="0"/>
            </a:endParaRPr>
          </a:p>
        </p:txBody>
      </p:sp>
      <p:sp>
        <p:nvSpPr>
          <p:cNvPr id="7" name="Título 3"/>
          <p:cNvSpPr txBox="1">
            <a:spLocks/>
          </p:cNvSpPr>
          <p:nvPr/>
        </p:nvSpPr>
        <p:spPr>
          <a:xfrm>
            <a:off x="838200" y="818887"/>
            <a:ext cx="10515600" cy="44007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accent1">
                    <a:lumMod val="50000"/>
                  </a:schemeClr>
                </a:solidFill>
                <a:latin typeface="Helvetica" panose="020B0604020202020204" pitchFamily="34" charset="0"/>
                <a:ea typeface="+mj-ea"/>
                <a:cs typeface="Helvetica" panose="020B0604020202020204" pitchFamily="34" charset="0"/>
              </a:defRPr>
            </a:lvl1pPr>
          </a:lstStyle>
          <a:p>
            <a:pPr algn="ctr"/>
            <a:r>
              <a:rPr lang="pt-BR" sz="2000" b="1" dirty="0">
                <a:solidFill>
                  <a:schemeClr val="accent6"/>
                </a:solidFill>
                <a:latin typeface="Lucida Sans Unicode" panose="020B0602030504020204" pitchFamily="34" charset="0"/>
                <a:cs typeface="Lucida Sans Unicode" panose="020B0602030504020204" pitchFamily="34" charset="0"/>
              </a:rPr>
              <a:t>CLASSIFICAÇÃO</a:t>
            </a:r>
            <a:endParaRPr lang="pt-BR" sz="2000" b="1" i="1" dirty="0">
              <a:solidFill>
                <a:schemeClr val="accent6"/>
              </a:solidFill>
              <a:latin typeface="Lucida Sans Unicode" panose="020B0602030504020204" pitchFamily="34" charset="0"/>
              <a:cs typeface="Lucida Sans Unicode" panose="020B0602030504020204" pitchFamily="34" charset="0"/>
            </a:endParaRPr>
          </a:p>
        </p:txBody>
      </p:sp>
    </p:spTree>
    <p:extLst>
      <p:ext uri="{BB962C8B-B14F-4D97-AF65-F5344CB8AC3E}">
        <p14:creationId xmlns:p14="http://schemas.microsoft.com/office/powerpoint/2010/main" val="867058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1"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ipe(up)">
                                      <p:cBhvr>
                                        <p:cTn id="1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ítulo 3"/>
          <p:cNvSpPr txBox="1">
            <a:spLocks/>
          </p:cNvSpPr>
          <p:nvPr/>
        </p:nvSpPr>
        <p:spPr>
          <a:xfrm>
            <a:off x="838200" y="231439"/>
            <a:ext cx="10515600" cy="44007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accent1">
                    <a:lumMod val="50000"/>
                  </a:schemeClr>
                </a:solidFill>
                <a:latin typeface="Helvetica" panose="020B0604020202020204" pitchFamily="34" charset="0"/>
                <a:ea typeface="+mj-ea"/>
                <a:cs typeface="Helvetica" panose="020B0604020202020204" pitchFamily="34" charset="0"/>
              </a:defRPr>
            </a:lvl1p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GESTÃO DA CADEIA DE SUPRIMENTOS</a:t>
            </a:r>
            <a:endParaRPr lang="pt-BR" sz="2400" b="1" i="1" dirty="0">
              <a:solidFill>
                <a:schemeClr val="accent6"/>
              </a:solidFill>
              <a:latin typeface="Lucida Sans Unicode" panose="020B0602030504020204" pitchFamily="34" charset="0"/>
              <a:cs typeface="Lucida Sans Unicode" panose="020B0602030504020204" pitchFamily="34" charset="0"/>
            </a:endParaRPr>
          </a:p>
        </p:txBody>
      </p:sp>
      <p:grpSp>
        <p:nvGrpSpPr>
          <p:cNvPr id="107" name="Grupo 106"/>
          <p:cNvGrpSpPr/>
          <p:nvPr/>
        </p:nvGrpSpPr>
        <p:grpSpPr>
          <a:xfrm>
            <a:off x="4427910" y="2596250"/>
            <a:ext cx="4311687" cy="2735752"/>
            <a:chOff x="4427910" y="2596250"/>
            <a:chExt cx="4311687" cy="2735752"/>
          </a:xfrm>
        </p:grpSpPr>
        <p:grpSp>
          <p:nvGrpSpPr>
            <p:cNvPr id="105" name="Grupo 104"/>
            <p:cNvGrpSpPr/>
            <p:nvPr/>
          </p:nvGrpSpPr>
          <p:grpSpPr>
            <a:xfrm>
              <a:off x="4427910" y="2596250"/>
              <a:ext cx="4311687" cy="2735752"/>
              <a:chOff x="4427910" y="2596250"/>
              <a:chExt cx="4311687" cy="2735752"/>
            </a:xfrm>
          </p:grpSpPr>
          <p:grpSp>
            <p:nvGrpSpPr>
              <p:cNvPr id="104" name="Grupo 103"/>
              <p:cNvGrpSpPr/>
              <p:nvPr/>
            </p:nvGrpSpPr>
            <p:grpSpPr>
              <a:xfrm>
                <a:off x="4427910" y="2596250"/>
                <a:ext cx="4311687" cy="2735752"/>
                <a:chOff x="4427910" y="2596250"/>
                <a:chExt cx="4311687" cy="2735752"/>
              </a:xfrm>
            </p:grpSpPr>
            <p:sp>
              <p:nvSpPr>
                <p:cNvPr id="5" name="Retângulo 4"/>
                <p:cNvSpPr/>
                <p:nvPr/>
              </p:nvSpPr>
              <p:spPr>
                <a:xfrm>
                  <a:off x="4700152" y="3081853"/>
                  <a:ext cx="3530317" cy="196357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Retângulo 7"/>
                <p:cNvSpPr/>
                <p:nvPr/>
              </p:nvSpPr>
              <p:spPr>
                <a:xfrm>
                  <a:off x="4427910" y="2596250"/>
                  <a:ext cx="4311687" cy="2735752"/>
                </a:xfrm>
                <a:prstGeom prst="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1" name="Retângulo 20"/>
                <p:cNvSpPr/>
                <p:nvPr/>
              </p:nvSpPr>
              <p:spPr>
                <a:xfrm>
                  <a:off x="5062660" y="3558040"/>
                  <a:ext cx="763464" cy="357272"/>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3" name="Retângulo 22"/>
                <p:cNvSpPr/>
                <p:nvPr/>
              </p:nvSpPr>
              <p:spPr>
                <a:xfrm>
                  <a:off x="6172699" y="3851515"/>
                  <a:ext cx="763464" cy="53998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4" name="Retângulo 23"/>
                <p:cNvSpPr/>
                <p:nvPr/>
              </p:nvSpPr>
              <p:spPr>
                <a:xfrm>
                  <a:off x="5061078" y="4391498"/>
                  <a:ext cx="763464" cy="357272"/>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5" name="Retângulo 24"/>
                <p:cNvSpPr/>
                <p:nvPr/>
              </p:nvSpPr>
              <p:spPr>
                <a:xfrm>
                  <a:off x="7189722" y="4201581"/>
                  <a:ext cx="763464" cy="357272"/>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6" name="Retângulo 25"/>
                <p:cNvSpPr/>
                <p:nvPr/>
              </p:nvSpPr>
              <p:spPr>
                <a:xfrm>
                  <a:off x="7189722" y="3747643"/>
                  <a:ext cx="763464" cy="357272"/>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89" name="Conector de seta reta 88"/>
                <p:cNvCxnSpPr/>
                <p:nvPr/>
              </p:nvCxnSpPr>
              <p:spPr>
                <a:xfrm>
                  <a:off x="5842145" y="3689308"/>
                  <a:ext cx="330554" cy="29704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1" name="Conector de seta reta 90"/>
                <p:cNvCxnSpPr/>
                <p:nvPr/>
              </p:nvCxnSpPr>
              <p:spPr>
                <a:xfrm flipV="1">
                  <a:off x="5831328" y="4295940"/>
                  <a:ext cx="372630" cy="352215"/>
                </a:xfrm>
                <a:prstGeom prst="straightConnector1">
                  <a:avLst/>
                </a:prstGeom>
                <a:ln w="2857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93" name="Conector de seta reta 92"/>
                <p:cNvCxnSpPr>
                  <a:endCxn id="26" idx="1"/>
                </p:cNvCxnSpPr>
                <p:nvPr/>
              </p:nvCxnSpPr>
              <p:spPr>
                <a:xfrm flipV="1">
                  <a:off x="6947481" y="3926279"/>
                  <a:ext cx="242241" cy="117751"/>
                </a:xfrm>
                <a:prstGeom prst="straightConnector1">
                  <a:avLst/>
                </a:prstGeom>
                <a:ln w="2857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cxnSp>
            <p:nvCxnSpPr>
              <p:cNvPr id="95" name="Conector de seta reta 94"/>
              <p:cNvCxnSpPr>
                <a:endCxn id="25" idx="1"/>
              </p:cNvCxnSpPr>
              <p:nvPr/>
            </p:nvCxnSpPr>
            <p:spPr>
              <a:xfrm>
                <a:off x="6936163" y="4282777"/>
                <a:ext cx="253559" cy="9744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20" name="CaixaDeTexto 119"/>
            <p:cNvSpPr txBox="1"/>
            <p:nvPr/>
          </p:nvSpPr>
          <p:spPr>
            <a:xfrm>
              <a:off x="4851215" y="2666912"/>
              <a:ext cx="2489570" cy="338554"/>
            </a:xfrm>
            <a:prstGeom prst="rect">
              <a:avLst/>
            </a:prstGeom>
            <a:noFill/>
          </p:spPr>
          <p:txBody>
            <a:bodyPr wrap="square" rtlCol="0">
              <a:spAutoFit/>
            </a:bodyPr>
            <a:lstStyle/>
            <a:p>
              <a:pPr algn="ctr"/>
              <a:r>
                <a:rPr lang="pt-BR" sz="1600" b="1" dirty="0">
                  <a:solidFill>
                    <a:schemeClr val="accent6"/>
                  </a:solidFill>
                  <a:latin typeface="Lucida Sans Unicode" panose="020B0602030504020204" pitchFamily="34" charset="0"/>
                  <a:cs typeface="Lucida Sans Unicode" panose="020B0602030504020204" pitchFamily="34" charset="0"/>
                </a:rPr>
                <a:t>CADEIA INTERNA</a:t>
              </a:r>
            </a:p>
          </p:txBody>
        </p:sp>
      </p:grpSp>
      <p:grpSp>
        <p:nvGrpSpPr>
          <p:cNvPr id="108" name="Grupo 107"/>
          <p:cNvGrpSpPr/>
          <p:nvPr/>
        </p:nvGrpSpPr>
        <p:grpSpPr>
          <a:xfrm>
            <a:off x="1894785" y="2200419"/>
            <a:ext cx="8166498" cy="3571875"/>
            <a:chOff x="1894785" y="2200419"/>
            <a:chExt cx="8166498" cy="3571875"/>
          </a:xfrm>
        </p:grpSpPr>
        <p:sp>
          <p:nvSpPr>
            <p:cNvPr id="16" name="Retângulo 15"/>
            <p:cNvSpPr/>
            <p:nvPr/>
          </p:nvSpPr>
          <p:spPr>
            <a:xfrm>
              <a:off x="3275043" y="5035172"/>
              <a:ext cx="857250" cy="485631"/>
            </a:xfrm>
            <a:prstGeom prst="rect">
              <a:avLst/>
            </a:prstGeom>
            <a:solidFill>
              <a:srgbClr val="CC66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Retângulo 16"/>
            <p:cNvSpPr/>
            <p:nvPr/>
          </p:nvSpPr>
          <p:spPr>
            <a:xfrm>
              <a:off x="3266860" y="3409478"/>
              <a:ext cx="857250" cy="485631"/>
            </a:xfrm>
            <a:prstGeom prst="rect">
              <a:avLst/>
            </a:prstGeom>
            <a:solidFill>
              <a:srgbClr val="CC66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 name="Retângulo 17"/>
            <p:cNvSpPr/>
            <p:nvPr/>
          </p:nvSpPr>
          <p:spPr>
            <a:xfrm>
              <a:off x="3275043" y="2596631"/>
              <a:ext cx="857250" cy="485631"/>
            </a:xfrm>
            <a:prstGeom prst="rect">
              <a:avLst/>
            </a:prstGeom>
            <a:solidFill>
              <a:srgbClr val="CC66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2" name="Retângulo 31"/>
            <p:cNvSpPr/>
            <p:nvPr/>
          </p:nvSpPr>
          <p:spPr>
            <a:xfrm>
              <a:off x="3266860" y="4222325"/>
              <a:ext cx="857250" cy="485631"/>
            </a:xfrm>
            <a:prstGeom prst="rect">
              <a:avLst/>
            </a:prstGeom>
            <a:solidFill>
              <a:srgbClr val="CC66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9" name="Retângulo 38"/>
            <p:cNvSpPr/>
            <p:nvPr/>
          </p:nvSpPr>
          <p:spPr>
            <a:xfrm>
              <a:off x="2050704" y="3820821"/>
              <a:ext cx="857250" cy="485631"/>
            </a:xfrm>
            <a:prstGeom prst="rect">
              <a:avLst/>
            </a:prstGeom>
            <a:solidFill>
              <a:srgbClr val="CC66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72" name="Conector de seta reta 71"/>
            <p:cNvCxnSpPr/>
            <p:nvPr/>
          </p:nvCxnSpPr>
          <p:spPr>
            <a:xfrm>
              <a:off x="4137338" y="2740623"/>
              <a:ext cx="562814" cy="57044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Conector de seta reta 73"/>
            <p:cNvCxnSpPr/>
            <p:nvPr/>
          </p:nvCxnSpPr>
          <p:spPr>
            <a:xfrm flipV="1">
              <a:off x="4139386" y="4748770"/>
              <a:ext cx="560766" cy="50766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Conector de seta reta 84"/>
            <p:cNvCxnSpPr/>
            <p:nvPr/>
          </p:nvCxnSpPr>
          <p:spPr>
            <a:xfrm>
              <a:off x="4124110" y="3535847"/>
              <a:ext cx="584053" cy="22365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Conector de seta reta 86"/>
            <p:cNvCxnSpPr/>
            <p:nvPr/>
          </p:nvCxnSpPr>
          <p:spPr>
            <a:xfrm flipV="1">
              <a:off x="4125833" y="4350399"/>
              <a:ext cx="582330" cy="149954"/>
            </a:xfrm>
            <a:prstGeom prst="straightConnector1">
              <a:avLst/>
            </a:prstGeom>
            <a:ln w="190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119" name="CaixaDeTexto 118"/>
            <p:cNvSpPr txBox="1"/>
            <p:nvPr/>
          </p:nvSpPr>
          <p:spPr>
            <a:xfrm>
              <a:off x="4772858" y="2239422"/>
              <a:ext cx="2489570" cy="338554"/>
            </a:xfrm>
            <a:prstGeom prst="rect">
              <a:avLst/>
            </a:prstGeom>
            <a:noFill/>
          </p:spPr>
          <p:txBody>
            <a:bodyPr wrap="square" rtlCol="0">
              <a:spAutoFit/>
            </a:bodyPr>
            <a:lstStyle/>
            <a:p>
              <a:pPr algn="ctr"/>
              <a:r>
                <a:rPr lang="pt-BR" sz="1600" b="1" dirty="0">
                  <a:solidFill>
                    <a:srgbClr val="CC6600"/>
                  </a:solidFill>
                  <a:latin typeface="Lucida Sans Unicode" panose="020B0602030504020204" pitchFamily="34" charset="0"/>
                  <a:cs typeface="Lucida Sans Unicode" panose="020B0602030504020204" pitchFamily="34" charset="0"/>
                </a:rPr>
                <a:t>CADEIA IMEDIATA</a:t>
              </a:r>
            </a:p>
          </p:txBody>
        </p:sp>
        <p:grpSp>
          <p:nvGrpSpPr>
            <p:cNvPr id="102" name="Grupo 101"/>
            <p:cNvGrpSpPr/>
            <p:nvPr/>
          </p:nvGrpSpPr>
          <p:grpSpPr>
            <a:xfrm>
              <a:off x="1894785" y="2200419"/>
              <a:ext cx="8166498" cy="3571875"/>
              <a:chOff x="1894785" y="2200419"/>
              <a:chExt cx="8166498" cy="3571875"/>
            </a:xfrm>
          </p:grpSpPr>
          <p:sp>
            <p:nvSpPr>
              <p:cNvPr id="22" name="Retângulo 21"/>
              <p:cNvSpPr/>
              <p:nvPr/>
            </p:nvSpPr>
            <p:spPr>
              <a:xfrm>
                <a:off x="3119953" y="2200419"/>
                <a:ext cx="6941330" cy="3571875"/>
              </a:xfrm>
              <a:prstGeom prst="rect">
                <a:avLst/>
              </a:prstGeom>
              <a:noFill/>
              <a:ln w="28575">
                <a:solidFill>
                  <a:srgbClr val="CC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151" name="Retângulo 5150"/>
              <p:cNvSpPr/>
              <p:nvPr/>
            </p:nvSpPr>
            <p:spPr>
              <a:xfrm>
                <a:off x="1894785" y="3570658"/>
                <a:ext cx="1235777" cy="988195"/>
              </a:xfrm>
              <a:prstGeom prst="rect">
                <a:avLst/>
              </a:prstGeom>
              <a:noFill/>
              <a:ln w="28575">
                <a:solidFill>
                  <a:srgbClr val="CC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97" name="Conector reto 96"/>
              <p:cNvCxnSpPr/>
              <p:nvPr/>
            </p:nvCxnSpPr>
            <p:spPr>
              <a:xfrm>
                <a:off x="3130562" y="3584306"/>
                <a:ext cx="2" cy="97200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79" name="Conector de seta reta 78"/>
            <p:cNvCxnSpPr>
              <a:stCxn id="39" idx="3"/>
              <a:endCxn id="5" idx="1"/>
            </p:cNvCxnSpPr>
            <p:nvPr/>
          </p:nvCxnSpPr>
          <p:spPr>
            <a:xfrm>
              <a:off x="2907954" y="4063637"/>
              <a:ext cx="1792198" cy="1"/>
            </a:xfrm>
            <a:prstGeom prst="straightConnector1">
              <a:avLst/>
            </a:prstGeom>
            <a:ln w="190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61" name="Conector de seta reta 60"/>
            <p:cNvCxnSpPr>
              <a:endCxn id="32" idx="1"/>
            </p:cNvCxnSpPr>
            <p:nvPr/>
          </p:nvCxnSpPr>
          <p:spPr>
            <a:xfrm>
              <a:off x="2911347" y="4255562"/>
              <a:ext cx="355513" cy="20957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2" name="Grupo 111"/>
          <p:cNvGrpSpPr/>
          <p:nvPr/>
        </p:nvGrpSpPr>
        <p:grpSpPr>
          <a:xfrm>
            <a:off x="8230469" y="2442854"/>
            <a:ext cx="1640847" cy="3146611"/>
            <a:chOff x="8230469" y="2442854"/>
            <a:chExt cx="1640847" cy="3146611"/>
          </a:xfrm>
        </p:grpSpPr>
        <p:sp>
          <p:nvSpPr>
            <p:cNvPr id="11" name="Retângulo 10"/>
            <p:cNvSpPr/>
            <p:nvPr/>
          </p:nvSpPr>
          <p:spPr>
            <a:xfrm>
              <a:off x="9014066" y="3820821"/>
              <a:ext cx="857250" cy="485631"/>
            </a:xfrm>
            <a:prstGeom prst="rect">
              <a:avLst/>
            </a:prstGeom>
            <a:solidFill>
              <a:srgbClr val="CC66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Retângulo 11"/>
            <p:cNvSpPr/>
            <p:nvPr/>
          </p:nvSpPr>
          <p:spPr>
            <a:xfrm>
              <a:off x="9001988" y="2442854"/>
              <a:ext cx="857250" cy="485631"/>
            </a:xfrm>
            <a:prstGeom prst="rect">
              <a:avLst/>
            </a:prstGeom>
            <a:solidFill>
              <a:srgbClr val="CC66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Retângulo 12"/>
            <p:cNvSpPr/>
            <p:nvPr/>
          </p:nvSpPr>
          <p:spPr>
            <a:xfrm>
              <a:off x="8966482" y="5103834"/>
              <a:ext cx="857250" cy="485631"/>
            </a:xfrm>
            <a:prstGeom prst="rect">
              <a:avLst/>
            </a:prstGeom>
            <a:solidFill>
              <a:srgbClr val="CC66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01" name="Conector de seta reta 100"/>
            <p:cNvCxnSpPr>
              <a:stCxn id="5" idx="3"/>
              <a:endCxn id="12" idx="1"/>
            </p:cNvCxnSpPr>
            <p:nvPr/>
          </p:nvCxnSpPr>
          <p:spPr>
            <a:xfrm flipV="1">
              <a:off x="8230469" y="2685670"/>
              <a:ext cx="771519" cy="1377968"/>
            </a:xfrm>
            <a:prstGeom prst="straightConnector1">
              <a:avLst/>
            </a:prstGeom>
            <a:ln w="190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Conector de seta reta 102"/>
            <p:cNvCxnSpPr>
              <a:stCxn id="5" idx="3"/>
              <a:endCxn id="13" idx="1"/>
            </p:cNvCxnSpPr>
            <p:nvPr/>
          </p:nvCxnSpPr>
          <p:spPr>
            <a:xfrm>
              <a:off x="8230469" y="4063638"/>
              <a:ext cx="736013" cy="1283012"/>
            </a:xfrm>
            <a:prstGeom prst="straightConnector1">
              <a:avLst/>
            </a:prstGeom>
            <a:ln w="190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Conector de seta reta 105"/>
            <p:cNvCxnSpPr>
              <a:stCxn id="5" idx="3"/>
              <a:endCxn id="11" idx="1"/>
            </p:cNvCxnSpPr>
            <p:nvPr/>
          </p:nvCxnSpPr>
          <p:spPr>
            <a:xfrm flipV="1">
              <a:off x="8230469" y="4063637"/>
              <a:ext cx="783597" cy="1"/>
            </a:xfrm>
            <a:prstGeom prst="straightConnector1">
              <a:avLst/>
            </a:prstGeom>
            <a:ln w="190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sp>
        <p:nvSpPr>
          <p:cNvPr id="7" name="Título 3"/>
          <p:cNvSpPr txBox="1">
            <a:spLocks/>
          </p:cNvSpPr>
          <p:nvPr/>
        </p:nvSpPr>
        <p:spPr>
          <a:xfrm>
            <a:off x="838200" y="838312"/>
            <a:ext cx="10515600" cy="44007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accent1">
                    <a:lumMod val="50000"/>
                  </a:schemeClr>
                </a:solidFill>
                <a:latin typeface="Helvetica" panose="020B0604020202020204" pitchFamily="34" charset="0"/>
                <a:ea typeface="+mj-ea"/>
                <a:cs typeface="Helvetica" panose="020B0604020202020204" pitchFamily="34" charset="0"/>
              </a:defRPr>
            </a:lvl1pPr>
          </a:lstStyle>
          <a:p>
            <a:pPr algn="ctr"/>
            <a:r>
              <a:rPr lang="pt-BR" sz="2000" b="1" dirty="0">
                <a:solidFill>
                  <a:schemeClr val="accent6"/>
                </a:solidFill>
                <a:latin typeface="Lucida Sans Unicode" panose="020B0602030504020204" pitchFamily="34" charset="0"/>
                <a:cs typeface="Lucida Sans Unicode" panose="020B0602030504020204" pitchFamily="34" charset="0"/>
              </a:rPr>
              <a:t>CLASSIFICAÇÃO</a:t>
            </a:r>
            <a:endParaRPr lang="pt-BR" sz="2000" b="1" i="1" dirty="0">
              <a:solidFill>
                <a:schemeClr val="accent6"/>
              </a:solidFill>
              <a:latin typeface="Lucida Sans Unicode" panose="020B0602030504020204" pitchFamily="34" charset="0"/>
              <a:cs typeface="Lucida Sans Unicode" panose="020B0602030504020204" pitchFamily="34" charset="0"/>
            </a:endParaRPr>
          </a:p>
        </p:txBody>
      </p:sp>
      <p:grpSp>
        <p:nvGrpSpPr>
          <p:cNvPr id="121" name="Grupo 120"/>
          <p:cNvGrpSpPr/>
          <p:nvPr/>
        </p:nvGrpSpPr>
        <p:grpSpPr>
          <a:xfrm>
            <a:off x="457200" y="1616011"/>
            <a:ext cx="10896600" cy="4329353"/>
            <a:chOff x="457200" y="1616011"/>
            <a:chExt cx="10896600" cy="4329353"/>
          </a:xfrm>
        </p:grpSpPr>
        <p:sp>
          <p:nvSpPr>
            <p:cNvPr id="5136" name="CaixaDeTexto 5135"/>
            <p:cNvSpPr txBox="1"/>
            <p:nvPr/>
          </p:nvSpPr>
          <p:spPr>
            <a:xfrm>
              <a:off x="4762637" y="1733421"/>
              <a:ext cx="2489570" cy="338554"/>
            </a:xfrm>
            <a:prstGeom prst="rect">
              <a:avLst/>
            </a:prstGeom>
            <a:noFill/>
          </p:spPr>
          <p:txBody>
            <a:bodyPr wrap="square" rtlCol="0">
              <a:spAutoFit/>
            </a:bodyPr>
            <a:lstStyle/>
            <a:p>
              <a:pPr algn="ctr"/>
              <a:r>
                <a:rPr lang="pt-BR" sz="1600" b="1" dirty="0">
                  <a:latin typeface="Lucida Sans Unicode" panose="020B0602030504020204" pitchFamily="34" charset="0"/>
                  <a:cs typeface="Lucida Sans Unicode" panose="020B0602030504020204" pitchFamily="34" charset="0"/>
                </a:rPr>
                <a:t>CADEIA TOTAL</a:t>
              </a:r>
            </a:p>
          </p:txBody>
        </p:sp>
        <p:grpSp>
          <p:nvGrpSpPr>
            <p:cNvPr id="117" name="Grupo 116"/>
            <p:cNvGrpSpPr/>
            <p:nvPr/>
          </p:nvGrpSpPr>
          <p:grpSpPr>
            <a:xfrm>
              <a:off x="457200" y="1616011"/>
              <a:ext cx="10896600" cy="4329353"/>
              <a:chOff x="457200" y="1616011"/>
              <a:chExt cx="10896600" cy="4329353"/>
            </a:xfrm>
          </p:grpSpPr>
          <p:sp>
            <p:nvSpPr>
              <p:cNvPr id="4" name="Retângulo 3"/>
              <p:cNvSpPr/>
              <p:nvPr/>
            </p:nvSpPr>
            <p:spPr>
              <a:xfrm>
                <a:off x="457200" y="1616011"/>
                <a:ext cx="10896600" cy="432935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9" name="Retângulo 18"/>
              <p:cNvSpPr/>
              <p:nvPr/>
            </p:nvSpPr>
            <p:spPr>
              <a:xfrm>
                <a:off x="682517" y="4222324"/>
                <a:ext cx="857250" cy="48563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0" name="Retângulo 19"/>
              <p:cNvSpPr/>
              <p:nvPr/>
            </p:nvSpPr>
            <p:spPr>
              <a:xfrm>
                <a:off x="706098" y="3409477"/>
                <a:ext cx="857250" cy="48563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8" name="Retângulo 37"/>
              <p:cNvSpPr/>
              <p:nvPr/>
            </p:nvSpPr>
            <p:spPr>
              <a:xfrm>
                <a:off x="2057299" y="4661288"/>
                <a:ext cx="857250" cy="48563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0" name="Retângulo 39"/>
              <p:cNvSpPr/>
              <p:nvPr/>
            </p:nvSpPr>
            <p:spPr>
              <a:xfrm>
                <a:off x="2062748" y="2960717"/>
                <a:ext cx="857250" cy="48563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50" name="Conector de seta reta 49"/>
              <p:cNvCxnSpPr>
                <a:stCxn id="20" idx="3"/>
              </p:cNvCxnSpPr>
              <p:nvPr/>
            </p:nvCxnSpPr>
            <p:spPr>
              <a:xfrm flipV="1">
                <a:off x="1563348" y="3455663"/>
                <a:ext cx="539582" cy="196630"/>
              </a:xfrm>
              <a:prstGeom prst="straightConnector1">
                <a:avLst/>
              </a:prstGeom>
              <a:ln w="190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52" name="Conector de seta reta 51"/>
              <p:cNvCxnSpPr/>
              <p:nvPr/>
            </p:nvCxnSpPr>
            <p:spPr>
              <a:xfrm flipV="1">
                <a:off x="1539767" y="4242152"/>
                <a:ext cx="507544" cy="184230"/>
              </a:xfrm>
              <a:prstGeom prst="straightConnector1">
                <a:avLst/>
              </a:prstGeom>
              <a:ln w="190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53" name="Conector de seta reta 52"/>
              <p:cNvCxnSpPr>
                <a:stCxn id="40" idx="3"/>
              </p:cNvCxnSpPr>
              <p:nvPr/>
            </p:nvCxnSpPr>
            <p:spPr>
              <a:xfrm flipV="1">
                <a:off x="2919998" y="2976435"/>
                <a:ext cx="393834" cy="227098"/>
              </a:xfrm>
              <a:prstGeom prst="straightConnector1">
                <a:avLst/>
              </a:prstGeom>
              <a:ln w="190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70" name="Conector de seta reta 69"/>
              <p:cNvCxnSpPr/>
              <p:nvPr/>
            </p:nvCxnSpPr>
            <p:spPr>
              <a:xfrm>
                <a:off x="1539767" y="4556306"/>
                <a:ext cx="534102" cy="17976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Conector de seta reta 65"/>
              <p:cNvCxnSpPr/>
              <p:nvPr/>
            </p:nvCxnSpPr>
            <p:spPr>
              <a:xfrm>
                <a:off x="1570936" y="3736358"/>
                <a:ext cx="1695924" cy="1647"/>
              </a:xfrm>
              <a:prstGeom prst="straightConnector1">
                <a:avLst/>
              </a:prstGeom>
              <a:ln w="190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57" name="Conector de seta reta 56"/>
              <p:cNvCxnSpPr>
                <a:endCxn id="17" idx="1"/>
              </p:cNvCxnSpPr>
              <p:nvPr/>
            </p:nvCxnSpPr>
            <p:spPr>
              <a:xfrm>
                <a:off x="2922489" y="3409477"/>
                <a:ext cx="344371" cy="24281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Conector de seta reta 55"/>
              <p:cNvCxnSpPr/>
              <p:nvPr/>
            </p:nvCxnSpPr>
            <p:spPr>
              <a:xfrm flipV="1">
                <a:off x="2922489" y="4721307"/>
                <a:ext cx="391343" cy="183016"/>
              </a:xfrm>
              <a:prstGeom prst="straightConnector1">
                <a:avLst/>
              </a:prstGeom>
              <a:ln w="190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64" name="Conector de seta reta 63"/>
              <p:cNvCxnSpPr/>
              <p:nvPr/>
            </p:nvCxnSpPr>
            <p:spPr>
              <a:xfrm>
                <a:off x="2914549" y="5045423"/>
                <a:ext cx="365539" cy="24694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118" name="Grupo 117"/>
          <p:cNvGrpSpPr/>
          <p:nvPr/>
        </p:nvGrpSpPr>
        <p:grpSpPr>
          <a:xfrm>
            <a:off x="9820179" y="2951193"/>
            <a:ext cx="1611910" cy="2170558"/>
            <a:chOff x="9820179" y="2951193"/>
            <a:chExt cx="1611910" cy="2170558"/>
          </a:xfrm>
        </p:grpSpPr>
        <p:sp>
          <p:nvSpPr>
            <p:cNvPr id="15" name="Retângulo 14"/>
            <p:cNvSpPr/>
            <p:nvPr/>
          </p:nvSpPr>
          <p:spPr>
            <a:xfrm>
              <a:off x="10269665" y="3820821"/>
              <a:ext cx="857250" cy="485631"/>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11" name="Conector de seta reta 110"/>
            <p:cNvCxnSpPr/>
            <p:nvPr/>
          </p:nvCxnSpPr>
          <p:spPr>
            <a:xfrm>
              <a:off x="9854665" y="2951193"/>
              <a:ext cx="431935" cy="90032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Conector de seta reta 112"/>
            <p:cNvCxnSpPr/>
            <p:nvPr/>
          </p:nvCxnSpPr>
          <p:spPr>
            <a:xfrm flipV="1">
              <a:off x="9820179" y="4295940"/>
              <a:ext cx="466421" cy="82581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Conector de seta reta 115"/>
            <p:cNvCxnSpPr>
              <a:stCxn id="11" idx="3"/>
              <a:endCxn id="15" idx="1"/>
            </p:cNvCxnSpPr>
            <p:nvPr/>
          </p:nvCxnSpPr>
          <p:spPr>
            <a:xfrm>
              <a:off x="9871316" y="4063637"/>
              <a:ext cx="398349" cy="0"/>
            </a:xfrm>
            <a:prstGeom prst="straightConnector1">
              <a:avLst/>
            </a:prstGeom>
            <a:ln w="190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149" name="CaixaDeTexto 148"/>
            <p:cNvSpPr txBox="1"/>
            <p:nvPr/>
          </p:nvSpPr>
          <p:spPr>
            <a:xfrm>
              <a:off x="10100127" y="4518574"/>
              <a:ext cx="1331962" cy="309666"/>
            </a:xfrm>
            <a:prstGeom prst="rect">
              <a:avLst/>
            </a:prstGeom>
            <a:noFill/>
          </p:spPr>
          <p:txBody>
            <a:bodyPr wrap="square" rtlCol="0">
              <a:spAutoFit/>
            </a:bodyPr>
            <a:lstStyle/>
            <a:p>
              <a:pPr algn="ctr"/>
              <a:r>
                <a:rPr lang="pt-BR" sz="1400" b="1" dirty="0">
                  <a:latin typeface="Lucida Sans Unicode" panose="020B0602030504020204" pitchFamily="34" charset="0"/>
                  <a:cs typeface="Lucida Sans Unicode" panose="020B0602030504020204" pitchFamily="34" charset="0"/>
                </a:rPr>
                <a:t>Cliente Final</a:t>
              </a:r>
            </a:p>
          </p:txBody>
        </p:sp>
      </p:grpSp>
      <p:grpSp>
        <p:nvGrpSpPr>
          <p:cNvPr id="122" name="Grupo 121"/>
          <p:cNvGrpSpPr/>
          <p:nvPr/>
        </p:nvGrpSpPr>
        <p:grpSpPr>
          <a:xfrm>
            <a:off x="1018321" y="1879268"/>
            <a:ext cx="10089046" cy="312104"/>
            <a:chOff x="1018321" y="1879268"/>
            <a:chExt cx="10089046" cy="312104"/>
          </a:xfrm>
        </p:grpSpPr>
        <p:sp>
          <p:nvSpPr>
            <p:cNvPr id="155" name="CaixaDeTexto 154"/>
            <p:cNvSpPr txBox="1"/>
            <p:nvPr/>
          </p:nvSpPr>
          <p:spPr>
            <a:xfrm>
              <a:off x="1018321" y="1879268"/>
              <a:ext cx="1629636" cy="307777"/>
            </a:xfrm>
            <a:prstGeom prst="rect">
              <a:avLst/>
            </a:prstGeom>
            <a:noFill/>
          </p:spPr>
          <p:txBody>
            <a:bodyPr wrap="square" rtlCol="0">
              <a:spAutoFit/>
            </a:bodyPr>
            <a:lstStyle/>
            <a:p>
              <a:pPr algn="ctr"/>
              <a:r>
                <a:rPr lang="pt-BR" sz="1400" b="1" dirty="0">
                  <a:latin typeface="Lucida Sans Unicode" panose="020B0602030504020204" pitchFamily="34" charset="0"/>
                  <a:cs typeface="Lucida Sans Unicode" panose="020B0602030504020204" pitchFamily="34" charset="0"/>
                </a:rPr>
                <a:t>Fornecimento</a:t>
              </a:r>
            </a:p>
          </p:txBody>
        </p:sp>
        <p:sp>
          <p:nvSpPr>
            <p:cNvPr id="156" name="CaixaDeTexto 155"/>
            <p:cNvSpPr txBox="1"/>
            <p:nvPr/>
          </p:nvSpPr>
          <p:spPr>
            <a:xfrm>
              <a:off x="9477731" y="1883595"/>
              <a:ext cx="1629636" cy="307777"/>
            </a:xfrm>
            <a:prstGeom prst="rect">
              <a:avLst/>
            </a:prstGeom>
            <a:noFill/>
          </p:spPr>
          <p:txBody>
            <a:bodyPr wrap="square" rtlCol="0">
              <a:spAutoFit/>
            </a:bodyPr>
            <a:lstStyle/>
            <a:p>
              <a:pPr algn="ctr"/>
              <a:r>
                <a:rPr lang="pt-BR" sz="1400" b="1" dirty="0">
                  <a:latin typeface="Lucida Sans Unicode" panose="020B0602030504020204" pitchFamily="34" charset="0"/>
                  <a:cs typeface="Lucida Sans Unicode" panose="020B0602030504020204" pitchFamily="34" charset="0"/>
                </a:rPr>
                <a:t>Distribuição</a:t>
              </a:r>
            </a:p>
          </p:txBody>
        </p:sp>
      </p:grpSp>
    </p:spTree>
    <p:extLst>
      <p:ext uri="{BB962C8B-B14F-4D97-AF65-F5344CB8AC3E}">
        <p14:creationId xmlns:p14="http://schemas.microsoft.com/office/powerpoint/2010/main" val="1218113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107"/>
                                        </p:tgtEl>
                                        <p:attrNameLst>
                                          <p:attrName>style.visibility</p:attrName>
                                        </p:attrNameLst>
                                      </p:cBhvr>
                                      <p:to>
                                        <p:strVal val="visible"/>
                                      </p:to>
                                    </p:set>
                                    <p:animEffect transition="in" filter="barn(outVertical)">
                                      <p:cBhvr>
                                        <p:cTn id="7" dur="500"/>
                                        <p:tgtEl>
                                          <p:spTgt spid="10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8"/>
                                        </p:tgtEl>
                                        <p:attrNameLst>
                                          <p:attrName>style.visibility</p:attrName>
                                        </p:attrNameLst>
                                      </p:cBhvr>
                                      <p:to>
                                        <p:strVal val="visible"/>
                                      </p:to>
                                    </p:set>
                                    <p:animEffect transition="in" filter="wipe(left)">
                                      <p:cBhvr>
                                        <p:cTn id="12" dur="500"/>
                                        <p:tgtEl>
                                          <p:spTgt spid="10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12"/>
                                        </p:tgtEl>
                                        <p:attrNameLst>
                                          <p:attrName>style.visibility</p:attrName>
                                        </p:attrNameLst>
                                      </p:cBhvr>
                                      <p:to>
                                        <p:strVal val="visible"/>
                                      </p:to>
                                    </p:set>
                                    <p:animEffect transition="in" filter="wipe(left)">
                                      <p:cBhvr>
                                        <p:cTn id="17" dur="500"/>
                                        <p:tgtEl>
                                          <p:spTgt spid="1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21"/>
                                        </p:tgtEl>
                                        <p:attrNameLst>
                                          <p:attrName>style.visibility</p:attrName>
                                        </p:attrNameLst>
                                      </p:cBhvr>
                                      <p:to>
                                        <p:strVal val="visible"/>
                                      </p:to>
                                    </p:set>
                                    <p:animEffect transition="in" filter="wipe(left)">
                                      <p:cBhvr>
                                        <p:cTn id="22" dur="500"/>
                                        <p:tgtEl>
                                          <p:spTgt spid="121"/>
                                        </p:tgtEl>
                                      </p:cBhvr>
                                    </p:animEffec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122"/>
                                        </p:tgtEl>
                                        <p:attrNameLst>
                                          <p:attrName>style.visibility</p:attrName>
                                        </p:attrNameLst>
                                      </p:cBhvr>
                                      <p:to>
                                        <p:strVal val="visible"/>
                                      </p:to>
                                    </p:set>
                                    <p:animEffect transition="in" filter="fade">
                                      <p:cBhvr>
                                        <p:cTn id="27" dur="1000"/>
                                        <p:tgtEl>
                                          <p:spTgt spid="122"/>
                                        </p:tgtEl>
                                      </p:cBhvr>
                                    </p:animEffect>
                                    <p:anim calcmode="lin" valueType="num">
                                      <p:cBhvr>
                                        <p:cTn id="28" dur="1000" fill="hold"/>
                                        <p:tgtEl>
                                          <p:spTgt spid="122"/>
                                        </p:tgtEl>
                                        <p:attrNameLst>
                                          <p:attrName>ppt_x</p:attrName>
                                        </p:attrNameLst>
                                      </p:cBhvr>
                                      <p:tavLst>
                                        <p:tav tm="0">
                                          <p:val>
                                            <p:strVal val="#ppt_x"/>
                                          </p:val>
                                        </p:tav>
                                        <p:tav tm="100000">
                                          <p:val>
                                            <p:strVal val="#ppt_x"/>
                                          </p:val>
                                        </p:tav>
                                      </p:tavLst>
                                    </p:anim>
                                    <p:anim calcmode="lin" valueType="num">
                                      <p:cBhvr>
                                        <p:cTn id="29" dur="1000" fill="hold"/>
                                        <p:tgtEl>
                                          <p:spTgt spid="122"/>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118"/>
                                        </p:tgtEl>
                                        <p:attrNameLst>
                                          <p:attrName>style.visibility</p:attrName>
                                        </p:attrNameLst>
                                      </p:cBhvr>
                                      <p:to>
                                        <p:strVal val="visible"/>
                                      </p:to>
                                    </p:set>
                                    <p:animEffect transition="in" filter="wipe(left)">
                                      <p:cBhvr>
                                        <p:cTn id="34" dur="500"/>
                                        <p:tgtEl>
                                          <p:spTgt spid="1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ítulo 3"/>
          <p:cNvSpPr txBox="1">
            <a:spLocks/>
          </p:cNvSpPr>
          <p:nvPr/>
        </p:nvSpPr>
        <p:spPr>
          <a:xfrm>
            <a:off x="838200" y="231439"/>
            <a:ext cx="10515600" cy="44007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accent1">
                    <a:lumMod val="50000"/>
                  </a:schemeClr>
                </a:solidFill>
                <a:latin typeface="Helvetica" panose="020B0604020202020204" pitchFamily="34" charset="0"/>
                <a:ea typeface="+mj-ea"/>
                <a:cs typeface="Helvetica" panose="020B0604020202020204" pitchFamily="34" charset="0"/>
              </a:defRPr>
            </a:lvl1p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GESTÃO DA CADEIA DE SUPRIMENTOS</a:t>
            </a:r>
            <a:endParaRPr lang="pt-BR" sz="2400" b="1" i="1" dirty="0">
              <a:solidFill>
                <a:schemeClr val="accent6"/>
              </a:solidFill>
              <a:latin typeface="Lucida Sans Unicode" panose="020B0602030504020204" pitchFamily="34" charset="0"/>
              <a:cs typeface="Lucida Sans Unicode" panose="020B0602030504020204" pitchFamily="34" charset="0"/>
            </a:endParaRPr>
          </a:p>
        </p:txBody>
      </p:sp>
      <p:sp>
        <p:nvSpPr>
          <p:cNvPr id="4" name="Título 3"/>
          <p:cNvSpPr txBox="1">
            <a:spLocks/>
          </p:cNvSpPr>
          <p:nvPr/>
        </p:nvSpPr>
        <p:spPr>
          <a:xfrm>
            <a:off x="838200" y="1448365"/>
            <a:ext cx="10515600" cy="44007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accent1">
                    <a:lumMod val="50000"/>
                  </a:schemeClr>
                </a:solidFill>
                <a:latin typeface="Helvetica" panose="020B0604020202020204" pitchFamily="34" charset="0"/>
                <a:ea typeface="+mj-ea"/>
                <a:cs typeface="Helvetica" panose="020B0604020202020204" pitchFamily="34" charset="0"/>
              </a:defRPr>
            </a:lvl1pPr>
          </a:lstStyle>
          <a:p>
            <a:pPr algn="ctr"/>
            <a:r>
              <a:rPr lang="pt-BR" sz="2400" b="1" dirty="0">
                <a:solidFill>
                  <a:srgbClr val="FF0000"/>
                </a:solidFill>
                <a:latin typeface="Lucida Sans Unicode" panose="020B0602030504020204" pitchFamily="34" charset="0"/>
                <a:cs typeface="Lucida Sans Unicode" panose="020B0602030504020204" pitchFamily="34" charset="0"/>
              </a:rPr>
              <a:t>ATIVIDADE (EM GRUPOS)</a:t>
            </a:r>
            <a:endParaRPr lang="pt-BR" sz="2400" b="1" i="1" dirty="0">
              <a:solidFill>
                <a:srgbClr val="FF0000"/>
              </a:solidFill>
              <a:latin typeface="Lucida Sans Unicode" panose="020B0602030504020204" pitchFamily="34" charset="0"/>
              <a:cs typeface="Lucida Sans Unicode" panose="020B0602030504020204" pitchFamily="34" charset="0"/>
            </a:endParaRPr>
          </a:p>
        </p:txBody>
      </p:sp>
      <p:sp>
        <p:nvSpPr>
          <p:cNvPr id="5" name="Título 3"/>
          <p:cNvSpPr txBox="1">
            <a:spLocks/>
          </p:cNvSpPr>
          <p:nvPr/>
        </p:nvSpPr>
        <p:spPr>
          <a:xfrm>
            <a:off x="2035791" y="3183906"/>
            <a:ext cx="8120418" cy="93771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accent1">
                    <a:lumMod val="50000"/>
                  </a:schemeClr>
                </a:solidFill>
                <a:latin typeface="Helvetica" panose="020B0604020202020204" pitchFamily="34" charset="0"/>
                <a:ea typeface="+mj-ea"/>
                <a:cs typeface="Helvetica" panose="020B0604020202020204" pitchFamily="34" charset="0"/>
              </a:defRPr>
            </a:lvl1pPr>
          </a:lstStyle>
          <a:p>
            <a:pPr algn="just"/>
            <a:r>
              <a:rPr lang="pt-BR" sz="2000" b="1" dirty="0">
                <a:solidFill>
                  <a:schemeClr val="accent6"/>
                </a:solidFill>
                <a:latin typeface="Lucida Sans Unicode" panose="020B0602030504020204" pitchFamily="34" charset="0"/>
                <a:cs typeface="Lucida Sans Unicode" panose="020B0602030504020204" pitchFamily="34" charset="0"/>
              </a:rPr>
              <a:t>ESQUEMATIZE A CADEIA DE SUPRIMENTOS DA </a:t>
            </a:r>
            <a:r>
              <a:rPr lang="pt-BR" sz="2000" b="1" i="1" dirty="0">
                <a:solidFill>
                  <a:schemeClr val="accent6"/>
                </a:solidFill>
                <a:latin typeface="Lucida Sans Unicode" panose="020B0602030504020204" pitchFamily="34" charset="0"/>
                <a:cs typeface="Lucida Sans Unicode" panose="020B0602030504020204" pitchFamily="34" charset="0"/>
              </a:rPr>
              <a:t>PERDIGÃO</a:t>
            </a:r>
            <a:r>
              <a:rPr lang="pt-BR" sz="2000" b="1" dirty="0">
                <a:solidFill>
                  <a:schemeClr val="accent6"/>
                </a:solidFill>
                <a:latin typeface="Lucida Sans Unicode" panose="020B0602030504020204" pitchFamily="34" charset="0"/>
                <a:cs typeface="Lucida Sans Unicode" panose="020B0602030504020204" pitchFamily="34" charset="0"/>
              </a:rPr>
              <a:t>, PARA O PRODUTO “CORTE DE FRANGO CONGELADO”</a:t>
            </a:r>
            <a:endParaRPr lang="pt-BR" sz="2000" b="1" i="1" dirty="0">
              <a:solidFill>
                <a:schemeClr val="accent6"/>
              </a:solidFill>
              <a:latin typeface="Lucida Sans Unicode" panose="020B0602030504020204" pitchFamily="34" charset="0"/>
              <a:cs typeface="Lucida Sans Unicode" panose="020B0602030504020204" pitchFamily="34" charset="0"/>
            </a:endParaRPr>
          </a:p>
        </p:txBody>
      </p:sp>
    </p:spTree>
    <p:extLst>
      <p:ext uri="{BB962C8B-B14F-4D97-AF65-F5344CB8AC3E}">
        <p14:creationId xmlns:p14="http://schemas.microsoft.com/office/powerpoint/2010/main" val="3556301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ítulo 3"/>
          <p:cNvSpPr txBox="1">
            <a:spLocks/>
          </p:cNvSpPr>
          <p:nvPr/>
        </p:nvSpPr>
        <p:spPr>
          <a:xfrm>
            <a:off x="838200" y="231439"/>
            <a:ext cx="10515600" cy="44007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accent1">
                    <a:lumMod val="50000"/>
                  </a:schemeClr>
                </a:solidFill>
                <a:latin typeface="Helvetica" panose="020B0604020202020204" pitchFamily="34" charset="0"/>
                <a:ea typeface="+mj-ea"/>
                <a:cs typeface="Helvetica" panose="020B0604020202020204" pitchFamily="34" charset="0"/>
              </a:defRPr>
            </a:lvl1p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PERDIGÃO - CADEIA DE SUPRIMENTOS</a:t>
            </a:r>
            <a:endParaRPr lang="pt-BR" sz="2400" b="1" i="1" dirty="0">
              <a:solidFill>
                <a:schemeClr val="accent6"/>
              </a:solidFill>
              <a:latin typeface="Lucida Sans Unicode" panose="020B0602030504020204" pitchFamily="34" charset="0"/>
              <a:cs typeface="Lucida Sans Unicode" panose="020B0602030504020204" pitchFamily="34" charset="0"/>
            </a:endParaRPr>
          </a:p>
        </p:txBody>
      </p:sp>
      <p:pic>
        <p:nvPicPr>
          <p:cNvPr id="1026" name="Picture 2" descr="Resultado de imagem para ATRMAZEM"/>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042727" y="3316536"/>
            <a:ext cx="1521724" cy="119106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m relacionad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20542" y="1160409"/>
            <a:ext cx="1583756" cy="1579282"/>
          </a:xfrm>
          <a:prstGeom prst="rect">
            <a:avLst/>
          </a:prstGeom>
          <a:noFill/>
          <a:extLst>
            <a:ext uri="{909E8E84-426E-40DD-AFC4-6F175D3DCCD1}">
              <a14:hiddenFill xmlns:a14="http://schemas.microsoft.com/office/drawing/2010/main">
                <a:solidFill>
                  <a:srgbClr val="FFFFFF"/>
                </a:solidFill>
              </a14:hiddenFill>
            </a:ext>
          </a:extLst>
        </p:spPr>
      </p:pic>
      <p:pic>
        <p:nvPicPr>
          <p:cNvPr id="2" name="Imagem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0782" y="1162284"/>
            <a:ext cx="1812842" cy="1479280"/>
          </a:xfrm>
          <a:prstGeom prst="rect">
            <a:avLst/>
          </a:prstGeom>
        </p:spPr>
      </p:pic>
      <p:pic>
        <p:nvPicPr>
          <p:cNvPr id="4" name="Imagem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34961" y="3948197"/>
            <a:ext cx="2086768" cy="2167027"/>
          </a:xfrm>
          <a:prstGeom prst="rect">
            <a:avLst/>
          </a:prstGeom>
        </p:spPr>
      </p:pic>
      <p:pic>
        <p:nvPicPr>
          <p:cNvPr id="7" name="Imagem 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268903" y="5222774"/>
            <a:ext cx="2543898" cy="930231"/>
          </a:xfrm>
          <a:prstGeom prst="rect">
            <a:avLst/>
          </a:prstGeom>
        </p:spPr>
      </p:pic>
      <p:pic>
        <p:nvPicPr>
          <p:cNvPr id="3" name="Imagem 2"/>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89027" y="3577279"/>
            <a:ext cx="1737629" cy="1607714"/>
          </a:xfrm>
          <a:prstGeom prst="rect">
            <a:avLst/>
          </a:prstGeom>
        </p:spPr>
      </p:pic>
      <p:pic>
        <p:nvPicPr>
          <p:cNvPr id="8" name="Imagem 7"/>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252657" y="910655"/>
            <a:ext cx="1208599" cy="1517178"/>
          </a:xfrm>
          <a:prstGeom prst="rect">
            <a:avLst/>
          </a:prstGeom>
        </p:spPr>
      </p:pic>
      <p:pic>
        <p:nvPicPr>
          <p:cNvPr id="9" name="Imagem 8"/>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180093" y="880577"/>
            <a:ext cx="1536352" cy="1895312"/>
          </a:xfrm>
          <a:prstGeom prst="rect">
            <a:avLst/>
          </a:prstGeom>
        </p:spPr>
      </p:pic>
      <p:sp>
        <p:nvSpPr>
          <p:cNvPr id="10" name="CaixaDeTexto 9"/>
          <p:cNvSpPr txBox="1"/>
          <p:nvPr/>
        </p:nvSpPr>
        <p:spPr>
          <a:xfrm>
            <a:off x="272048" y="2627397"/>
            <a:ext cx="1981576" cy="584775"/>
          </a:xfrm>
          <a:prstGeom prst="rect">
            <a:avLst/>
          </a:prstGeom>
          <a:noFill/>
        </p:spPr>
        <p:txBody>
          <a:bodyPr wrap="square" rtlCol="0">
            <a:spAutoFit/>
          </a:bodyPr>
          <a:lstStyle/>
          <a:p>
            <a:pPr algn="ctr"/>
            <a:r>
              <a:rPr lang="pt-BR" sz="1600" b="1" dirty="0">
                <a:solidFill>
                  <a:schemeClr val="accent6"/>
                </a:solidFill>
                <a:latin typeface="Lucida Sans Unicode" panose="020B0602030504020204" pitchFamily="34" charset="0"/>
                <a:cs typeface="Lucida Sans Unicode" panose="020B0602030504020204" pitchFamily="34" charset="0"/>
              </a:rPr>
              <a:t>FÁBRICAS DE RAÇÃO</a:t>
            </a:r>
          </a:p>
        </p:txBody>
      </p:sp>
      <p:sp>
        <p:nvSpPr>
          <p:cNvPr id="15" name="CaixaDeTexto 14"/>
          <p:cNvSpPr txBox="1"/>
          <p:nvPr/>
        </p:nvSpPr>
        <p:spPr>
          <a:xfrm>
            <a:off x="2421632" y="2675523"/>
            <a:ext cx="1981576" cy="338554"/>
          </a:xfrm>
          <a:prstGeom prst="rect">
            <a:avLst/>
          </a:prstGeom>
          <a:noFill/>
        </p:spPr>
        <p:txBody>
          <a:bodyPr wrap="square" rtlCol="0">
            <a:spAutoFit/>
          </a:bodyPr>
          <a:lstStyle/>
          <a:p>
            <a:pPr algn="ctr"/>
            <a:r>
              <a:rPr lang="pt-BR" sz="1600" b="1" dirty="0">
                <a:solidFill>
                  <a:schemeClr val="accent6"/>
                </a:solidFill>
                <a:latin typeface="Lucida Sans Unicode" panose="020B0602030504020204" pitchFamily="34" charset="0"/>
                <a:cs typeface="Lucida Sans Unicode" panose="020B0602030504020204" pitchFamily="34" charset="0"/>
              </a:rPr>
              <a:t>INCUBATÓRIOS</a:t>
            </a:r>
          </a:p>
        </p:txBody>
      </p:sp>
      <p:sp>
        <p:nvSpPr>
          <p:cNvPr id="16" name="CaixaDeTexto 15"/>
          <p:cNvSpPr txBox="1"/>
          <p:nvPr/>
        </p:nvSpPr>
        <p:spPr>
          <a:xfrm>
            <a:off x="1001538" y="5222774"/>
            <a:ext cx="1644929" cy="584775"/>
          </a:xfrm>
          <a:prstGeom prst="rect">
            <a:avLst/>
          </a:prstGeom>
          <a:noFill/>
        </p:spPr>
        <p:txBody>
          <a:bodyPr wrap="square" rtlCol="0">
            <a:spAutoFit/>
          </a:bodyPr>
          <a:lstStyle/>
          <a:p>
            <a:pPr algn="ctr"/>
            <a:r>
              <a:rPr lang="pt-BR" sz="1600" b="1" dirty="0">
                <a:solidFill>
                  <a:schemeClr val="accent6"/>
                </a:solidFill>
                <a:latin typeface="Lucida Sans Unicode" panose="020B0602030504020204" pitchFamily="34" charset="0"/>
                <a:cs typeface="Lucida Sans Unicode" panose="020B0602030504020204" pitchFamily="34" charset="0"/>
              </a:rPr>
              <a:t>PRODUTORES INTEGRADOS</a:t>
            </a:r>
          </a:p>
        </p:txBody>
      </p:sp>
      <p:sp>
        <p:nvSpPr>
          <p:cNvPr id="17" name="CaixaDeTexto 16"/>
          <p:cNvSpPr txBox="1"/>
          <p:nvPr/>
        </p:nvSpPr>
        <p:spPr>
          <a:xfrm>
            <a:off x="4140153" y="6121701"/>
            <a:ext cx="1981576" cy="338554"/>
          </a:xfrm>
          <a:prstGeom prst="rect">
            <a:avLst/>
          </a:prstGeom>
          <a:noFill/>
        </p:spPr>
        <p:txBody>
          <a:bodyPr wrap="square" rtlCol="0">
            <a:spAutoFit/>
          </a:bodyPr>
          <a:lstStyle/>
          <a:p>
            <a:pPr algn="ctr"/>
            <a:r>
              <a:rPr lang="pt-BR" sz="1600" b="1" dirty="0">
                <a:solidFill>
                  <a:schemeClr val="accent6"/>
                </a:solidFill>
                <a:latin typeface="Lucida Sans Unicode" panose="020B0602030504020204" pitchFamily="34" charset="0"/>
                <a:cs typeface="Lucida Sans Unicode" panose="020B0602030504020204" pitchFamily="34" charset="0"/>
              </a:rPr>
              <a:t>FÁBRICAS</a:t>
            </a:r>
          </a:p>
        </p:txBody>
      </p:sp>
      <p:sp>
        <p:nvSpPr>
          <p:cNvPr id="18" name="CaixaDeTexto 17"/>
          <p:cNvSpPr txBox="1"/>
          <p:nvPr/>
        </p:nvSpPr>
        <p:spPr>
          <a:xfrm>
            <a:off x="7509184" y="6148197"/>
            <a:ext cx="1981576" cy="338554"/>
          </a:xfrm>
          <a:prstGeom prst="rect">
            <a:avLst/>
          </a:prstGeom>
          <a:noFill/>
        </p:spPr>
        <p:txBody>
          <a:bodyPr wrap="square" rtlCol="0">
            <a:spAutoFit/>
          </a:bodyPr>
          <a:lstStyle/>
          <a:p>
            <a:pPr algn="ctr"/>
            <a:r>
              <a:rPr lang="pt-BR" sz="1600" b="1" dirty="0">
                <a:solidFill>
                  <a:schemeClr val="accent6"/>
                </a:solidFill>
                <a:latin typeface="Lucida Sans Unicode" panose="020B0602030504020204" pitchFamily="34" charset="0"/>
                <a:cs typeface="Lucida Sans Unicode" panose="020B0602030504020204" pitchFamily="34" charset="0"/>
              </a:rPr>
              <a:t>CDS</a:t>
            </a:r>
          </a:p>
        </p:txBody>
      </p:sp>
      <p:sp>
        <p:nvSpPr>
          <p:cNvPr id="19" name="CaixaDeTexto 18"/>
          <p:cNvSpPr txBox="1"/>
          <p:nvPr/>
        </p:nvSpPr>
        <p:spPr>
          <a:xfrm>
            <a:off x="9812801" y="4594689"/>
            <a:ext cx="1981576" cy="338554"/>
          </a:xfrm>
          <a:prstGeom prst="rect">
            <a:avLst/>
          </a:prstGeom>
          <a:noFill/>
        </p:spPr>
        <p:txBody>
          <a:bodyPr wrap="square" rtlCol="0">
            <a:spAutoFit/>
          </a:bodyPr>
          <a:lstStyle/>
          <a:p>
            <a:pPr algn="ctr"/>
            <a:r>
              <a:rPr lang="pt-BR" sz="1600" b="1" dirty="0">
                <a:solidFill>
                  <a:schemeClr val="accent6"/>
                </a:solidFill>
                <a:latin typeface="Lucida Sans Unicode" panose="020B0602030504020204" pitchFamily="34" charset="0"/>
                <a:cs typeface="Lucida Sans Unicode" panose="020B0602030504020204" pitchFamily="34" charset="0"/>
              </a:rPr>
              <a:t>ATACADISTAS</a:t>
            </a:r>
          </a:p>
        </p:txBody>
      </p:sp>
      <p:sp>
        <p:nvSpPr>
          <p:cNvPr id="20" name="CaixaDeTexto 19"/>
          <p:cNvSpPr txBox="1"/>
          <p:nvPr/>
        </p:nvSpPr>
        <p:spPr>
          <a:xfrm>
            <a:off x="8866168" y="2459563"/>
            <a:ext cx="1981576" cy="338554"/>
          </a:xfrm>
          <a:prstGeom prst="rect">
            <a:avLst/>
          </a:prstGeom>
          <a:noFill/>
        </p:spPr>
        <p:txBody>
          <a:bodyPr wrap="square" rtlCol="0">
            <a:spAutoFit/>
          </a:bodyPr>
          <a:lstStyle/>
          <a:p>
            <a:pPr algn="ctr"/>
            <a:r>
              <a:rPr lang="pt-BR" sz="1600" b="1" dirty="0">
                <a:solidFill>
                  <a:schemeClr val="accent6"/>
                </a:solidFill>
                <a:latin typeface="Lucida Sans Unicode" panose="020B0602030504020204" pitchFamily="34" charset="0"/>
                <a:cs typeface="Lucida Sans Unicode" panose="020B0602030504020204" pitchFamily="34" charset="0"/>
              </a:rPr>
              <a:t>VAREJISTAS</a:t>
            </a:r>
          </a:p>
        </p:txBody>
      </p:sp>
      <p:sp>
        <p:nvSpPr>
          <p:cNvPr id="21" name="CaixaDeTexto 20"/>
          <p:cNvSpPr txBox="1"/>
          <p:nvPr/>
        </p:nvSpPr>
        <p:spPr>
          <a:xfrm>
            <a:off x="5855271" y="2851874"/>
            <a:ext cx="1981576" cy="338554"/>
          </a:xfrm>
          <a:prstGeom prst="rect">
            <a:avLst/>
          </a:prstGeom>
          <a:noFill/>
        </p:spPr>
        <p:txBody>
          <a:bodyPr wrap="square" rtlCol="0">
            <a:spAutoFit/>
          </a:bodyPr>
          <a:lstStyle/>
          <a:p>
            <a:pPr algn="ctr"/>
            <a:r>
              <a:rPr lang="pt-BR" sz="1600" b="1" dirty="0">
                <a:solidFill>
                  <a:schemeClr val="accent6"/>
                </a:solidFill>
                <a:latin typeface="Lucida Sans Unicode" panose="020B0602030504020204" pitchFamily="34" charset="0"/>
                <a:cs typeface="Lucida Sans Unicode" panose="020B0602030504020204" pitchFamily="34" charset="0"/>
              </a:rPr>
              <a:t>CONSUMIDORES</a:t>
            </a:r>
          </a:p>
        </p:txBody>
      </p:sp>
      <p:sp>
        <p:nvSpPr>
          <p:cNvPr id="11" name="Seta para Baixo 10"/>
          <p:cNvSpPr/>
          <p:nvPr/>
        </p:nvSpPr>
        <p:spPr>
          <a:xfrm rot="2213141">
            <a:off x="2728371" y="3207413"/>
            <a:ext cx="287122" cy="691266"/>
          </a:xfrm>
          <a:prstGeom prst="down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3" name="Seta para Baixo 22"/>
          <p:cNvSpPr/>
          <p:nvPr/>
        </p:nvSpPr>
        <p:spPr>
          <a:xfrm rot="19575057">
            <a:off x="943741" y="3200784"/>
            <a:ext cx="302001" cy="696444"/>
          </a:xfrm>
          <a:prstGeom prst="down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5" name="Seta para Baixo 24"/>
          <p:cNvSpPr/>
          <p:nvPr/>
        </p:nvSpPr>
        <p:spPr>
          <a:xfrm rot="18343503">
            <a:off x="3141087" y="5176869"/>
            <a:ext cx="307815" cy="676583"/>
          </a:xfrm>
          <a:prstGeom prst="down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Seta para a Direita 12"/>
          <p:cNvSpPr/>
          <p:nvPr/>
        </p:nvSpPr>
        <p:spPr>
          <a:xfrm>
            <a:off x="6383913" y="5370789"/>
            <a:ext cx="732392" cy="288245"/>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7" name="Seta para Baixo 26"/>
          <p:cNvSpPr/>
          <p:nvPr/>
        </p:nvSpPr>
        <p:spPr>
          <a:xfrm rot="14285276">
            <a:off x="10314367" y="4982816"/>
            <a:ext cx="272515" cy="718831"/>
          </a:xfrm>
          <a:prstGeom prst="down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8" name="Seta para Baixo 27"/>
          <p:cNvSpPr/>
          <p:nvPr/>
        </p:nvSpPr>
        <p:spPr>
          <a:xfrm rot="8316963">
            <a:off x="10743975" y="2493236"/>
            <a:ext cx="296353" cy="583162"/>
          </a:xfrm>
          <a:prstGeom prst="down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9" name="Seta para a Direita 28"/>
          <p:cNvSpPr/>
          <p:nvPr/>
        </p:nvSpPr>
        <p:spPr>
          <a:xfrm rot="10800000">
            <a:off x="8088056" y="1848015"/>
            <a:ext cx="732392" cy="288245"/>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3618334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up)">
                                      <p:cBhvr>
                                        <p:cTn id="13" dur="500"/>
                                        <p:tgtEl>
                                          <p:spTgt spid="2"/>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up)">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1028"/>
                                        </p:tgtEl>
                                        <p:attrNameLst>
                                          <p:attrName>style.visibility</p:attrName>
                                        </p:attrNameLst>
                                      </p:cBhvr>
                                      <p:to>
                                        <p:strVal val="visible"/>
                                      </p:to>
                                    </p:set>
                                    <p:animEffect transition="in" filter="wipe(up)">
                                      <p:cBhvr>
                                        <p:cTn id="21" dur="500"/>
                                        <p:tgtEl>
                                          <p:spTgt spid="1028"/>
                                        </p:tgtEl>
                                      </p:cBhvr>
                                    </p:animEffect>
                                  </p:childTnLst>
                                </p:cTn>
                              </p:par>
                              <p:par>
                                <p:cTn id="22" presetID="22" presetClass="entr" presetSubtype="1"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wipe(up)">
                                      <p:cBhvr>
                                        <p:cTn id="24" dur="500"/>
                                        <p:tgtEl>
                                          <p:spTgt spid="15"/>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wipe(up)">
                                      <p:cBhvr>
                                        <p:cTn id="29" dur="500"/>
                                        <p:tgtEl>
                                          <p:spTgt spid="23"/>
                                        </p:tgtEl>
                                      </p:cBhvr>
                                    </p:animEffect>
                                  </p:childTnLst>
                                </p:cTn>
                              </p:par>
                              <p:par>
                                <p:cTn id="30" presetID="22" presetClass="entr" presetSubtype="1"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up)">
                                      <p:cBhvr>
                                        <p:cTn id="32" dur="500"/>
                                        <p:tgtEl>
                                          <p:spTgt spid="11"/>
                                        </p:tgtEl>
                                      </p:cBhvr>
                                    </p:animEffect>
                                  </p:childTnLst>
                                </p:cTn>
                              </p:par>
                            </p:childTnLst>
                          </p:cTn>
                        </p:par>
                        <p:par>
                          <p:cTn id="33" fill="hold">
                            <p:stCondLst>
                              <p:cond delay="500"/>
                            </p:stCondLst>
                            <p:childTnLst>
                              <p:par>
                                <p:cTn id="34" presetID="22" presetClass="entr" presetSubtype="1" fill="hold" nodeType="after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wipe(up)">
                                      <p:cBhvr>
                                        <p:cTn id="36" dur="500"/>
                                        <p:tgtEl>
                                          <p:spTgt spid="3"/>
                                        </p:tgtEl>
                                      </p:cBhvr>
                                    </p:animEffect>
                                  </p:childTnLst>
                                </p:cTn>
                              </p:par>
                              <p:par>
                                <p:cTn id="37" presetID="22" presetClass="entr" presetSubtype="1"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wipe(up)">
                                      <p:cBhvr>
                                        <p:cTn id="39" dur="500"/>
                                        <p:tgtEl>
                                          <p:spTgt spid="16"/>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25"/>
                                        </p:tgtEl>
                                        <p:attrNameLst>
                                          <p:attrName>style.visibility</p:attrName>
                                        </p:attrNameLst>
                                      </p:cBhvr>
                                      <p:to>
                                        <p:strVal val="visible"/>
                                      </p:to>
                                    </p:set>
                                    <p:animEffect transition="in" filter="wipe(left)">
                                      <p:cBhvr>
                                        <p:cTn id="44" dur="500"/>
                                        <p:tgtEl>
                                          <p:spTgt spid="25"/>
                                        </p:tgtEl>
                                      </p:cBhvr>
                                    </p:animEffect>
                                  </p:childTnLst>
                                </p:cTn>
                              </p:par>
                            </p:childTnLst>
                          </p:cTn>
                        </p:par>
                        <p:par>
                          <p:cTn id="45" fill="hold">
                            <p:stCondLst>
                              <p:cond delay="500"/>
                            </p:stCondLst>
                            <p:childTnLst>
                              <p:par>
                                <p:cTn id="46" presetID="22" presetClass="entr" presetSubtype="8" fill="hold" nodeType="afterEffect">
                                  <p:stCondLst>
                                    <p:cond delay="0"/>
                                  </p:stCondLst>
                                  <p:childTnLst>
                                    <p:set>
                                      <p:cBhvr>
                                        <p:cTn id="47" dur="1" fill="hold">
                                          <p:stCondLst>
                                            <p:cond delay="0"/>
                                          </p:stCondLst>
                                        </p:cTn>
                                        <p:tgtEl>
                                          <p:spTgt spid="4"/>
                                        </p:tgtEl>
                                        <p:attrNameLst>
                                          <p:attrName>style.visibility</p:attrName>
                                        </p:attrNameLst>
                                      </p:cBhvr>
                                      <p:to>
                                        <p:strVal val="visible"/>
                                      </p:to>
                                    </p:set>
                                    <p:animEffect transition="in" filter="wipe(left)">
                                      <p:cBhvr>
                                        <p:cTn id="48" dur="500"/>
                                        <p:tgtEl>
                                          <p:spTgt spid="4"/>
                                        </p:tgtEl>
                                      </p:cBhvr>
                                    </p:animEffect>
                                  </p:childTnLst>
                                </p:cTn>
                              </p:par>
                              <p:par>
                                <p:cTn id="49" presetID="22" presetClass="entr" presetSubtype="8"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wipe(left)">
                                      <p:cBhvr>
                                        <p:cTn id="51" dur="500"/>
                                        <p:tgtEl>
                                          <p:spTgt spid="17"/>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13"/>
                                        </p:tgtEl>
                                        <p:attrNameLst>
                                          <p:attrName>style.visibility</p:attrName>
                                        </p:attrNameLst>
                                      </p:cBhvr>
                                      <p:to>
                                        <p:strVal val="visible"/>
                                      </p:to>
                                    </p:set>
                                    <p:animEffect transition="in" filter="wipe(left)">
                                      <p:cBhvr>
                                        <p:cTn id="56" dur="500"/>
                                        <p:tgtEl>
                                          <p:spTgt spid="13"/>
                                        </p:tgtEl>
                                      </p:cBhvr>
                                    </p:animEffect>
                                  </p:childTnLst>
                                </p:cTn>
                              </p:par>
                            </p:childTnLst>
                          </p:cTn>
                        </p:par>
                        <p:par>
                          <p:cTn id="57" fill="hold">
                            <p:stCondLst>
                              <p:cond delay="500"/>
                            </p:stCondLst>
                            <p:childTnLst>
                              <p:par>
                                <p:cTn id="58" presetID="22" presetClass="entr" presetSubtype="8" fill="hold" nodeType="afterEffect">
                                  <p:stCondLst>
                                    <p:cond delay="0"/>
                                  </p:stCondLst>
                                  <p:childTnLst>
                                    <p:set>
                                      <p:cBhvr>
                                        <p:cTn id="59" dur="1" fill="hold">
                                          <p:stCondLst>
                                            <p:cond delay="0"/>
                                          </p:stCondLst>
                                        </p:cTn>
                                        <p:tgtEl>
                                          <p:spTgt spid="7"/>
                                        </p:tgtEl>
                                        <p:attrNameLst>
                                          <p:attrName>style.visibility</p:attrName>
                                        </p:attrNameLst>
                                      </p:cBhvr>
                                      <p:to>
                                        <p:strVal val="visible"/>
                                      </p:to>
                                    </p:set>
                                    <p:animEffect transition="in" filter="wipe(left)">
                                      <p:cBhvr>
                                        <p:cTn id="60" dur="500"/>
                                        <p:tgtEl>
                                          <p:spTgt spid="7"/>
                                        </p:tgtEl>
                                      </p:cBhvr>
                                    </p:animEffect>
                                  </p:childTnLst>
                                </p:cTn>
                              </p:par>
                              <p:par>
                                <p:cTn id="61" presetID="22" presetClass="entr" presetSubtype="8" fill="hold" grpId="0" nodeType="withEffect">
                                  <p:stCondLst>
                                    <p:cond delay="0"/>
                                  </p:stCondLst>
                                  <p:childTnLst>
                                    <p:set>
                                      <p:cBhvr>
                                        <p:cTn id="62" dur="1" fill="hold">
                                          <p:stCondLst>
                                            <p:cond delay="0"/>
                                          </p:stCondLst>
                                        </p:cTn>
                                        <p:tgtEl>
                                          <p:spTgt spid="18"/>
                                        </p:tgtEl>
                                        <p:attrNameLst>
                                          <p:attrName>style.visibility</p:attrName>
                                        </p:attrNameLst>
                                      </p:cBhvr>
                                      <p:to>
                                        <p:strVal val="visible"/>
                                      </p:to>
                                    </p:set>
                                    <p:animEffect transition="in" filter="wipe(left)">
                                      <p:cBhvr>
                                        <p:cTn id="63" dur="500"/>
                                        <p:tgtEl>
                                          <p:spTgt spid="18"/>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4" fill="hold" grpId="0" nodeType="clickEffect">
                                  <p:stCondLst>
                                    <p:cond delay="0"/>
                                  </p:stCondLst>
                                  <p:childTnLst>
                                    <p:set>
                                      <p:cBhvr>
                                        <p:cTn id="67" dur="1" fill="hold">
                                          <p:stCondLst>
                                            <p:cond delay="0"/>
                                          </p:stCondLst>
                                        </p:cTn>
                                        <p:tgtEl>
                                          <p:spTgt spid="27"/>
                                        </p:tgtEl>
                                        <p:attrNameLst>
                                          <p:attrName>style.visibility</p:attrName>
                                        </p:attrNameLst>
                                      </p:cBhvr>
                                      <p:to>
                                        <p:strVal val="visible"/>
                                      </p:to>
                                    </p:set>
                                    <p:animEffect transition="in" filter="wipe(down)">
                                      <p:cBhvr>
                                        <p:cTn id="68" dur="500"/>
                                        <p:tgtEl>
                                          <p:spTgt spid="27"/>
                                        </p:tgtEl>
                                      </p:cBhvr>
                                    </p:animEffect>
                                  </p:childTnLst>
                                </p:cTn>
                              </p:par>
                            </p:childTnLst>
                          </p:cTn>
                        </p:par>
                        <p:par>
                          <p:cTn id="69" fill="hold">
                            <p:stCondLst>
                              <p:cond delay="500"/>
                            </p:stCondLst>
                            <p:childTnLst>
                              <p:par>
                                <p:cTn id="70" presetID="22" presetClass="entr" presetSubtype="4" fill="hold" grpId="0" nodeType="afterEffect">
                                  <p:stCondLst>
                                    <p:cond delay="0"/>
                                  </p:stCondLst>
                                  <p:childTnLst>
                                    <p:set>
                                      <p:cBhvr>
                                        <p:cTn id="71" dur="1" fill="hold">
                                          <p:stCondLst>
                                            <p:cond delay="0"/>
                                          </p:stCondLst>
                                        </p:cTn>
                                        <p:tgtEl>
                                          <p:spTgt spid="19"/>
                                        </p:tgtEl>
                                        <p:attrNameLst>
                                          <p:attrName>style.visibility</p:attrName>
                                        </p:attrNameLst>
                                      </p:cBhvr>
                                      <p:to>
                                        <p:strVal val="visible"/>
                                      </p:to>
                                    </p:set>
                                    <p:animEffect transition="in" filter="wipe(down)">
                                      <p:cBhvr>
                                        <p:cTn id="72" dur="500"/>
                                        <p:tgtEl>
                                          <p:spTgt spid="19"/>
                                        </p:tgtEl>
                                      </p:cBhvr>
                                    </p:animEffect>
                                  </p:childTnLst>
                                </p:cTn>
                              </p:par>
                              <p:par>
                                <p:cTn id="73" presetID="22" presetClass="entr" presetSubtype="4" fill="hold" nodeType="withEffect">
                                  <p:stCondLst>
                                    <p:cond delay="0"/>
                                  </p:stCondLst>
                                  <p:childTnLst>
                                    <p:set>
                                      <p:cBhvr>
                                        <p:cTn id="74" dur="1" fill="hold">
                                          <p:stCondLst>
                                            <p:cond delay="0"/>
                                          </p:stCondLst>
                                        </p:cTn>
                                        <p:tgtEl>
                                          <p:spTgt spid="1026"/>
                                        </p:tgtEl>
                                        <p:attrNameLst>
                                          <p:attrName>style.visibility</p:attrName>
                                        </p:attrNameLst>
                                      </p:cBhvr>
                                      <p:to>
                                        <p:strVal val="visible"/>
                                      </p:to>
                                    </p:set>
                                    <p:animEffect transition="in" filter="wipe(down)">
                                      <p:cBhvr>
                                        <p:cTn id="75" dur="500"/>
                                        <p:tgtEl>
                                          <p:spTgt spid="1026"/>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2" fill="hold" grpId="0" nodeType="clickEffect">
                                  <p:stCondLst>
                                    <p:cond delay="0"/>
                                  </p:stCondLst>
                                  <p:childTnLst>
                                    <p:set>
                                      <p:cBhvr>
                                        <p:cTn id="79" dur="1" fill="hold">
                                          <p:stCondLst>
                                            <p:cond delay="0"/>
                                          </p:stCondLst>
                                        </p:cTn>
                                        <p:tgtEl>
                                          <p:spTgt spid="28"/>
                                        </p:tgtEl>
                                        <p:attrNameLst>
                                          <p:attrName>style.visibility</p:attrName>
                                        </p:attrNameLst>
                                      </p:cBhvr>
                                      <p:to>
                                        <p:strVal val="visible"/>
                                      </p:to>
                                    </p:set>
                                    <p:animEffect transition="in" filter="wipe(right)">
                                      <p:cBhvr>
                                        <p:cTn id="80" dur="500"/>
                                        <p:tgtEl>
                                          <p:spTgt spid="28"/>
                                        </p:tgtEl>
                                      </p:cBhvr>
                                    </p:animEffect>
                                  </p:childTnLst>
                                </p:cTn>
                              </p:par>
                            </p:childTnLst>
                          </p:cTn>
                        </p:par>
                        <p:par>
                          <p:cTn id="81" fill="hold">
                            <p:stCondLst>
                              <p:cond delay="500"/>
                            </p:stCondLst>
                            <p:childTnLst>
                              <p:par>
                                <p:cTn id="82" presetID="22" presetClass="entr" presetSubtype="2" fill="hold" grpId="0" nodeType="afterEffect">
                                  <p:stCondLst>
                                    <p:cond delay="0"/>
                                  </p:stCondLst>
                                  <p:childTnLst>
                                    <p:set>
                                      <p:cBhvr>
                                        <p:cTn id="83" dur="1" fill="hold">
                                          <p:stCondLst>
                                            <p:cond delay="0"/>
                                          </p:stCondLst>
                                        </p:cTn>
                                        <p:tgtEl>
                                          <p:spTgt spid="20"/>
                                        </p:tgtEl>
                                        <p:attrNameLst>
                                          <p:attrName>style.visibility</p:attrName>
                                        </p:attrNameLst>
                                      </p:cBhvr>
                                      <p:to>
                                        <p:strVal val="visible"/>
                                      </p:to>
                                    </p:set>
                                    <p:animEffect transition="in" filter="wipe(right)">
                                      <p:cBhvr>
                                        <p:cTn id="84" dur="500"/>
                                        <p:tgtEl>
                                          <p:spTgt spid="20"/>
                                        </p:tgtEl>
                                      </p:cBhvr>
                                    </p:animEffect>
                                  </p:childTnLst>
                                </p:cTn>
                              </p:par>
                              <p:par>
                                <p:cTn id="85" presetID="22" presetClass="entr" presetSubtype="2" fill="hold" nodeType="withEffect">
                                  <p:stCondLst>
                                    <p:cond delay="0"/>
                                  </p:stCondLst>
                                  <p:childTnLst>
                                    <p:set>
                                      <p:cBhvr>
                                        <p:cTn id="86" dur="1" fill="hold">
                                          <p:stCondLst>
                                            <p:cond delay="0"/>
                                          </p:stCondLst>
                                        </p:cTn>
                                        <p:tgtEl>
                                          <p:spTgt spid="8"/>
                                        </p:tgtEl>
                                        <p:attrNameLst>
                                          <p:attrName>style.visibility</p:attrName>
                                        </p:attrNameLst>
                                      </p:cBhvr>
                                      <p:to>
                                        <p:strVal val="visible"/>
                                      </p:to>
                                    </p:set>
                                    <p:animEffect transition="in" filter="wipe(right)">
                                      <p:cBhvr>
                                        <p:cTn id="87" dur="500"/>
                                        <p:tgtEl>
                                          <p:spTgt spid="8"/>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2" fill="hold" grpId="0" nodeType="clickEffect">
                                  <p:stCondLst>
                                    <p:cond delay="0"/>
                                  </p:stCondLst>
                                  <p:childTnLst>
                                    <p:set>
                                      <p:cBhvr>
                                        <p:cTn id="91" dur="1" fill="hold">
                                          <p:stCondLst>
                                            <p:cond delay="0"/>
                                          </p:stCondLst>
                                        </p:cTn>
                                        <p:tgtEl>
                                          <p:spTgt spid="29"/>
                                        </p:tgtEl>
                                        <p:attrNameLst>
                                          <p:attrName>style.visibility</p:attrName>
                                        </p:attrNameLst>
                                      </p:cBhvr>
                                      <p:to>
                                        <p:strVal val="visible"/>
                                      </p:to>
                                    </p:set>
                                    <p:animEffect transition="in" filter="wipe(right)">
                                      <p:cBhvr>
                                        <p:cTn id="92" dur="500"/>
                                        <p:tgtEl>
                                          <p:spTgt spid="29"/>
                                        </p:tgtEl>
                                      </p:cBhvr>
                                    </p:animEffect>
                                  </p:childTnLst>
                                </p:cTn>
                              </p:par>
                            </p:childTnLst>
                          </p:cTn>
                        </p:par>
                        <p:par>
                          <p:cTn id="93" fill="hold">
                            <p:stCondLst>
                              <p:cond delay="500"/>
                            </p:stCondLst>
                            <p:childTnLst>
                              <p:par>
                                <p:cTn id="94" presetID="22" presetClass="entr" presetSubtype="1" fill="hold" nodeType="afterEffect">
                                  <p:stCondLst>
                                    <p:cond delay="0"/>
                                  </p:stCondLst>
                                  <p:childTnLst>
                                    <p:set>
                                      <p:cBhvr>
                                        <p:cTn id="95" dur="1" fill="hold">
                                          <p:stCondLst>
                                            <p:cond delay="0"/>
                                          </p:stCondLst>
                                        </p:cTn>
                                        <p:tgtEl>
                                          <p:spTgt spid="9"/>
                                        </p:tgtEl>
                                        <p:attrNameLst>
                                          <p:attrName>style.visibility</p:attrName>
                                        </p:attrNameLst>
                                      </p:cBhvr>
                                      <p:to>
                                        <p:strVal val="visible"/>
                                      </p:to>
                                    </p:set>
                                    <p:animEffect transition="in" filter="wipe(up)">
                                      <p:cBhvr>
                                        <p:cTn id="96" dur="500"/>
                                        <p:tgtEl>
                                          <p:spTgt spid="9"/>
                                        </p:tgtEl>
                                      </p:cBhvr>
                                    </p:animEffect>
                                  </p:childTnLst>
                                </p:cTn>
                              </p:par>
                              <p:par>
                                <p:cTn id="97" presetID="22" presetClass="entr" presetSubtype="1" fill="hold" grpId="0" nodeType="withEffect">
                                  <p:stCondLst>
                                    <p:cond delay="0"/>
                                  </p:stCondLst>
                                  <p:childTnLst>
                                    <p:set>
                                      <p:cBhvr>
                                        <p:cTn id="98" dur="1" fill="hold">
                                          <p:stCondLst>
                                            <p:cond delay="0"/>
                                          </p:stCondLst>
                                        </p:cTn>
                                        <p:tgtEl>
                                          <p:spTgt spid="21"/>
                                        </p:tgtEl>
                                        <p:attrNameLst>
                                          <p:attrName>style.visibility</p:attrName>
                                        </p:attrNameLst>
                                      </p:cBhvr>
                                      <p:to>
                                        <p:strVal val="visible"/>
                                      </p:to>
                                    </p:set>
                                    <p:animEffect transition="in" filter="wipe(up)">
                                      <p:cBhvr>
                                        <p:cTn id="9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P spid="15" grpId="0"/>
      <p:bldP spid="16" grpId="0"/>
      <p:bldP spid="17" grpId="0"/>
      <p:bldP spid="18" grpId="0"/>
      <p:bldP spid="19" grpId="0"/>
      <p:bldP spid="20" grpId="0"/>
      <p:bldP spid="21" grpId="0"/>
      <p:bldP spid="11" grpId="0" animBg="1"/>
      <p:bldP spid="23" grpId="0" animBg="1"/>
      <p:bldP spid="25" grpId="0" animBg="1"/>
      <p:bldP spid="13" grpId="0" animBg="1"/>
      <p:bldP spid="27" grpId="0" animBg="1"/>
      <p:bldP spid="28" grpId="0" animBg="1"/>
      <p:bldP spid="29" grpId="0" animBg="1"/>
    </p:bld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72" name="CaixaDeTexto 11"/>
          <p:cNvSpPr txBox="1">
            <a:spLocks noChangeArrowheads="1"/>
          </p:cNvSpPr>
          <p:nvPr/>
        </p:nvSpPr>
        <p:spPr bwMode="auto">
          <a:xfrm>
            <a:off x="7799222" y="5243382"/>
            <a:ext cx="18224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fontAlgn="base">
              <a:spcBef>
                <a:spcPct val="20000"/>
              </a:spcBef>
              <a:spcAft>
                <a:spcPct val="0"/>
              </a:spcAft>
              <a:buChar char="»"/>
              <a:defRPr sz="1500">
                <a:solidFill>
                  <a:schemeClr val="tx1"/>
                </a:solidFill>
                <a:latin typeface="Arial" panose="020B0604020202020204" pitchFamily="34" charset="0"/>
              </a:defRPr>
            </a:lvl6pPr>
            <a:lvl7pPr marL="2971800" indent="-228600" fontAlgn="base">
              <a:spcBef>
                <a:spcPct val="20000"/>
              </a:spcBef>
              <a:spcAft>
                <a:spcPct val="0"/>
              </a:spcAft>
              <a:buChar char="»"/>
              <a:defRPr sz="1500">
                <a:solidFill>
                  <a:schemeClr val="tx1"/>
                </a:solidFill>
                <a:latin typeface="Arial" panose="020B0604020202020204" pitchFamily="34" charset="0"/>
              </a:defRPr>
            </a:lvl7pPr>
            <a:lvl8pPr marL="3429000" indent="-228600" fontAlgn="base">
              <a:spcBef>
                <a:spcPct val="20000"/>
              </a:spcBef>
              <a:spcAft>
                <a:spcPct val="0"/>
              </a:spcAft>
              <a:buChar char="»"/>
              <a:defRPr sz="1500">
                <a:solidFill>
                  <a:schemeClr val="tx1"/>
                </a:solidFill>
                <a:latin typeface="Arial" panose="020B0604020202020204" pitchFamily="34" charset="0"/>
              </a:defRPr>
            </a:lvl8pPr>
            <a:lvl9pPr marL="3886200" indent="-228600" fontAlgn="base">
              <a:spcBef>
                <a:spcPct val="20000"/>
              </a:spcBef>
              <a:spcAft>
                <a:spcPct val="0"/>
              </a:spcAft>
              <a:buChar char="»"/>
              <a:defRPr sz="1500">
                <a:solidFill>
                  <a:schemeClr val="tx1"/>
                </a:solidFill>
                <a:latin typeface="Arial" panose="020B0604020202020204" pitchFamily="34" charset="0"/>
              </a:defRPr>
            </a:lvl9pPr>
          </a:lstStyle>
          <a:p>
            <a:pPr algn="ctr">
              <a:spcBef>
                <a:spcPct val="0"/>
              </a:spcBef>
              <a:buFontTx/>
              <a:buNone/>
            </a:pPr>
            <a:r>
              <a:rPr lang="pt-BR" altLang="pt-BR" sz="1800" b="1" dirty="0">
                <a:latin typeface="Lucida Sans Unicode" panose="020B0602030504020204" pitchFamily="34" charset="0"/>
                <a:cs typeface="Lucida Sans Unicode" panose="020B0602030504020204" pitchFamily="34" charset="0"/>
              </a:rPr>
              <a:t>5. LATA DE CERVEJA</a:t>
            </a:r>
          </a:p>
        </p:txBody>
      </p:sp>
      <p:sp>
        <p:nvSpPr>
          <p:cNvPr id="16" name="Elipse 15"/>
          <p:cNvSpPr/>
          <p:nvPr/>
        </p:nvSpPr>
        <p:spPr bwMode="auto">
          <a:xfrm>
            <a:off x="7870198" y="4781715"/>
            <a:ext cx="1680498" cy="1564589"/>
          </a:xfrm>
          <a:prstGeom prst="ellipse">
            <a:avLst/>
          </a:prstGeom>
          <a:solidFill>
            <a:srgbClr val="00B0F0"/>
          </a:solidFill>
          <a:ln>
            <a:headEnd type="none" w="med" len="med"/>
            <a:tailEnd type="none" w="med" len="med"/>
          </a:ln>
        </p:spPr>
        <p:style>
          <a:lnRef idx="2">
            <a:schemeClr val="accent6">
              <a:shade val="50000"/>
            </a:schemeClr>
          </a:lnRef>
          <a:fillRef idx="1">
            <a:schemeClr val="accent6"/>
          </a:fillRef>
          <a:effectRef idx="0">
            <a:schemeClr val="accent6"/>
          </a:effectRef>
          <a:fontRef idx="minor">
            <a:schemeClr val="lt1"/>
          </a:fontRef>
        </p:style>
        <p:txBody>
          <a:bodyPr wrap="none" anchor="t"/>
          <a:lstStyle/>
          <a:p>
            <a:pPr algn="ctr" eaLnBrk="1" hangingPunct="1">
              <a:defRPr/>
            </a:pPr>
            <a:r>
              <a:rPr lang="pt-BR" sz="5400" b="1" dirty="0">
                <a:solidFill>
                  <a:schemeClr val="bg1"/>
                </a:solidFill>
              </a:rPr>
              <a:t>5</a:t>
            </a:r>
          </a:p>
          <a:p>
            <a:pPr algn="ctr" eaLnBrk="1" hangingPunct="1">
              <a:defRPr/>
            </a:pPr>
            <a:endParaRPr lang="pt-BR" sz="1600" b="1" dirty="0">
              <a:solidFill>
                <a:schemeClr val="bg1"/>
              </a:solidFill>
            </a:endParaRPr>
          </a:p>
        </p:txBody>
      </p:sp>
      <p:sp>
        <p:nvSpPr>
          <p:cNvPr id="15363" name="CaixaDeTexto 11"/>
          <p:cNvSpPr txBox="1">
            <a:spLocks noChangeArrowheads="1"/>
          </p:cNvSpPr>
          <p:nvPr/>
        </p:nvSpPr>
        <p:spPr bwMode="auto">
          <a:xfrm>
            <a:off x="3480186" y="4921762"/>
            <a:ext cx="182245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fontAlgn="base">
              <a:spcBef>
                <a:spcPct val="20000"/>
              </a:spcBef>
              <a:spcAft>
                <a:spcPct val="0"/>
              </a:spcAft>
              <a:buChar char="»"/>
              <a:defRPr sz="1500">
                <a:solidFill>
                  <a:schemeClr val="tx1"/>
                </a:solidFill>
                <a:latin typeface="Arial" panose="020B0604020202020204" pitchFamily="34" charset="0"/>
              </a:defRPr>
            </a:lvl6pPr>
            <a:lvl7pPr marL="2971800" indent="-228600" fontAlgn="base">
              <a:spcBef>
                <a:spcPct val="20000"/>
              </a:spcBef>
              <a:spcAft>
                <a:spcPct val="0"/>
              </a:spcAft>
              <a:buChar char="»"/>
              <a:defRPr sz="1500">
                <a:solidFill>
                  <a:schemeClr val="tx1"/>
                </a:solidFill>
                <a:latin typeface="Arial" panose="020B0604020202020204" pitchFamily="34" charset="0"/>
              </a:defRPr>
            </a:lvl7pPr>
            <a:lvl8pPr marL="3429000" indent="-228600" fontAlgn="base">
              <a:spcBef>
                <a:spcPct val="20000"/>
              </a:spcBef>
              <a:spcAft>
                <a:spcPct val="0"/>
              </a:spcAft>
              <a:buChar char="»"/>
              <a:defRPr sz="1500">
                <a:solidFill>
                  <a:schemeClr val="tx1"/>
                </a:solidFill>
                <a:latin typeface="Arial" panose="020B0604020202020204" pitchFamily="34" charset="0"/>
              </a:defRPr>
            </a:lvl8pPr>
            <a:lvl9pPr marL="3886200" indent="-228600" fontAlgn="base">
              <a:spcBef>
                <a:spcPct val="20000"/>
              </a:spcBef>
              <a:spcAft>
                <a:spcPct val="0"/>
              </a:spcAft>
              <a:buChar char="»"/>
              <a:defRPr sz="1500">
                <a:solidFill>
                  <a:schemeClr val="tx1"/>
                </a:solidFill>
                <a:latin typeface="Arial" panose="020B0604020202020204" pitchFamily="34" charset="0"/>
              </a:defRPr>
            </a:lvl9pPr>
          </a:lstStyle>
          <a:p>
            <a:pPr algn="ctr">
              <a:spcBef>
                <a:spcPct val="0"/>
              </a:spcBef>
              <a:buFontTx/>
              <a:buNone/>
            </a:pPr>
            <a:r>
              <a:rPr lang="pt-BR" altLang="pt-BR" sz="1800" b="1" dirty="0">
                <a:latin typeface="Lucida Sans Unicode" panose="020B0602030504020204" pitchFamily="34" charset="0"/>
                <a:cs typeface="Lucida Sans Unicode" panose="020B0602030504020204" pitchFamily="34" charset="0"/>
              </a:rPr>
              <a:t>3. GARRAFA DE VINHO CHILENO</a:t>
            </a:r>
          </a:p>
        </p:txBody>
      </p:sp>
      <p:sp>
        <p:nvSpPr>
          <p:cNvPr id="9" name="Elipse 8"/>
          <p:cNvSpPr/>
          <p:nvPr/>
        </p:nvSpPr>
        <p:spPr bwMode="auto">
          <a:xfrm>
            <a:off x="3567707" y="4571274"/>
            <a:ext cx="1647409" cy="1524557"/>
          </a:xfrm>
          <a:prstGeom prst="ellipse">
            <a:avLst/>
          </a:prstGeom>
          <a:solidFill>
            <a:srgbClr val="00B050"/>
          </a:solidFill>
          <a:ln>
            <a:headEnd type="none" w="med" len="med"/>
            <a:tailEnd type="none" w="med" len="med"/>
          </a:ln>
        </p:spPr>
        <p:style>
          <a:lnRef idx="2">
            <a:schemeClr val="accent6">
              <a:shade val="50000"/>
            </a:schemeClr>
          </a:lnRef>
          <a:fillRef idx="1">
            <a:schemeClr val="accent6"/>
          </a:fillRef>
          <a:effectRef idx="0">
            <a:schemeClr val="accent6"/>
          </a:effectRef>
          <a:fontRef idx="minor">
            <a:schemeClr val="lt1"/>
          </a:fontRef>
        </p:style>
        <p:txBody>
          <a:bodyPr wrap="none" anchor="t"/>
          <a:lstStyle/>
          <a:p>
            <a:pPr algn="ctr" eaLnBrk="1" hangingPunct="1">
              <a:defRPr/>
            </a:pPr>
            <a:r>
              <a:rPr lang="pt-BR" sz="5400" b="1" dirty="0">
                <a:solidFill>
                  <a:schemeClr val="bg1"/>
                </a:solidFill>
              </a:rPr>
              <a:t>3</a:t>
            </a:r>
          </a:p>
          <a:p>
            <a:pPr algn="ctr" eaLnBrk="1" hangingPunct="1">
              <a:defRPr/>
            </a:pPr>
            <a:endParaRPr lang="pt-BR" sz="1600" b="1" dirty="0">
              <a:solidFill>
                <a:schemeClr val="bg1"/>
              </a:solidFill>
            </a:endParaRPr>
          </a:p>
        </p:txBody>
      </p:sp>
      <p:sp>
        <p:nvSpPr>
          <p:cNvPr id="15371" name="CaixaDeTexto 11"/>
          <p:cNvSpPr txBox="1">
            <a:spLocks noChangeArrowheads="1"/>
          </p:cNvSpPr>
          <p:nvPr/>
        </p:nvSpPr>
        <p:spPr bwMode="auto">
          <a:xfrm>
            <a:off x="8949895" y="2950969"/>
            <a:ext cx="18224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fontAlgn="base">
              <a:spcBef>
                <a:spcPct val="20000"/>
              </a:spcBef>
              <a:spcAft>
                <a:spcPct val="0"/>
              </a:spcAft>
              <a:buChar char="»"/>
              <a:defRPr sz="1500">
                <a:solidFill>
                  <a:schemeClr val="tx1"/>
                </a:solidFill>
                <a:latin typeface="Arial" panose="020B0604020202020204" pitchFamily="34" charset="0"/>
              </a:defRPr>
            </a:lvl6pPr>
            <a:lvl7pPr marL="2971800" indent="-228600" fontAlgn="base">
              <a:spcBef>
                <a:spcPct val="20000"/>
              </a:spcBef>
              <a:spcAft>
                <a:spcPct val="0"/>
              </a:spcAft>
              <a:buChar char="»"/>
              <a:defRPr sz="1500">
                <a:solidFill>
                  <a:schemeClr val="tx1"/>
                </a:solidFill>
                <a:latin typeface="Arial" panose="020B0604020202020204" pitchFamily="34" charset="0"/>
              </a:defRPr>
            </a:lvl7pPr>
            <a:lvl8pPr marL="3429000" indent="-228600" fontAlgn="base">
              <a:spcBef>
                <a:spcPct val="20000"/>
              </a:spcBef>
              <a:spcAft>
                <a:spcPct val="0"/>
              </a:spcAft>
              <a:buChar char="»"/>
              <a:defRPr sz="1500">
                <a:solidFill>
                  <a:schemeClr val="tx1"/>
                </a:solidFill>
                <a:latin typeface="Arial" panose="020B0604020202020204" pitchFamily="34" charset="0"/>
              </a:defRPr>
            </a:lvl8pPr>
            <a:lvl9pPr marL="3886200" indent="-228600" fontAlgn="base">
              <a:spcBef>
                <a:spcPct val="20000"/>
              </a:spcBef>
              <a:spcAft>
                <a:spcPct val="0"/>
              </a:spcAft>
              <a:buChar char="»"/>
              <a:defRPr sz="1500">
                <a:solidFill>
                  <a:schemeClr val="tx1"/>
                </a:solidFill>
                <a:latin typeface="Arial" panose="020B0604020202020204" pitchFamily="34" charset="0"/>
              </a:defRPr>
            </a:lvl9pPr>
          </a:lstStyle>
          <a:p>
            <a:pPr algn="ctr">
              <a:spcBef>
                <a:spcPct val="0"/>
              </a:spcBef>
              <a:buFontTx/>
              <a:buNone/>
            </a:pPr>
            <a:r>
              <a:rPr lang="pt-BR" altLang="pt-BR" sz="1800" b="1" dirty="0">
                <a:latin typeface="Lucida Sans Unicode" panose="020B0602030504020204" pitchFamily="34" charset="0"/>
                <a:cs typeface="Lucida Sans Unicode" panose="020B0602030504020204" pitchFamily="34" charset="0"/>
              </a:rPr>
              <a:t>4. CAIXA DE LEITE</a:t>
            </a:r>
          </a:p>
        </p:txBody>
      </p:sp>
      <p:sp>
        <p:nvSpPr>
          <p:cNvPr id="15" name="Elipse 14"/>
          <p:cNvSpPr/>
          <p:nvPr/>
        </p:nvSpPr>
        <p:spPr bwMode="auto">
          <a:xfrm>
            <a:off x="9053166" y="2500348"/>
            <a:ext cx="1615909" cy="1511300"/>
          </a:xfrm>
          <a:prstGeom prst="ellipse">
            <a:avLst/>
          </a:prstGeom>
          <a:solidFill>
            <a:srgbClr val="FFC000"/>
          </a:solidFill>
          <a:ln>
            <a:headEnd type="none" w="med" len="med"/>
            <a:tailEnd type="none" w="med" len="med"/>
          </a:ln>
        </p:spPr>
        <p:style>
          <a:lnRef idx="2">
            <a:schemeClr val="accent6">
              <a:shade val="50000"/>
            </a:schemeClr>
          </a:lnRef>
          <a:fillRef idx="1">
            <a:schemeClr val="accent6"/>
          </a:fillRef>
          <a:effectRef idx="0">
            <a:schemeClr val="accent6"/>
          </a:effectRef>
          <a:fontRef idx="minor">
            <a:schemeClr val="lt1"/>
          </a:fontRef>
        </p:style>
        <p:txBody>
          <a:bodyPr wrap="none" anchor="t"/>
          <a:lstStyle/>
          <a:p>
            <a:pPr algn="ctr" eaLnBrk="1" hangingPunct="1">
              <a:defRPr/>
            </a:pPr>
            <a:r>
              <a:rPr lang="pt-BR" sz="5400" b="1" dirty="0">
                <a:solidFill>
                  <a:schemeClr val="bg1"/>
                </a:solidFill>
              </a:rPr>
              <a:t>4</a:t>
            </a:r>
          </a:p>
          <a:p>
            <a:pPr algn="ctr" eaLnBrk="1" hangingPunct="1">
              <a:defRPr/>
            </a:pPr>
            <a:endParaRPr lang="pt-BR" sz="1600" b="1" dirty="0">
              <a:solidFill>
                <a:schemeClr val="bg1"/>
              </a:solidFill>
            </a:endParaRPr>
          </a:p>
        </p:txBody>
      </p:sp>
      <p:sp>
        <p:nvSpPr>
          <p:cNvPr id="15364" name="CaixaDeTexto 12"/>
          <p:cNvSpPr txBox="1">
            <a:spLocks noChangeArrowheads="1"/>
          </p:cNvSpPr>
          <p:nvPr/>
        </p:nvSpPr>
        <p:spPr bwMode="auto">
          <a:xfrm>
            <a:off x="5578722" y="3707507"/>
            <a:ext cx="15113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fontAlgn="base">
              <a:spcBef>
                <a:spcPct val="20000"/>
              </a:spcBef>
              <a:spcAft>
                <a:spcPct val="0"/>
              </a:spcAft>
              <a:buChar char="»"/>
              <a:defRPr sz="1500">
                <a:solidFill>
                  <a:schemeClr val="tx1"/>
                </a:solidFill>
                <a:latin typeface="Arial" panose="020B0604020202020204" pitchFamily="34" charset="0"/>
              </a:defRPr>
            </a:lvl6pPr>
            <a:lvl7pPr marL="2971800" indent="-228600" fontAlgn="base">
              <a:spcBef>
                <a:spcPct val="20000"/>
              </a:spcBef>
              <a:spcAft>
                <a:spcPct val="0"/>
              </a:spcAft>
              <a:buChar char="»"/>
              <a:defRPr sz="1500">
                <a:solidFill>
                  <a:schemeClr val="tx1"/>
                </a:solidFill>
                <a:latin typeface="Arial" panose="020B0604020202020204" pitchFamily="34" charset="0"/>
              </a:defRPr>
            </a:lvl7pPr>
            <a:lvl8pPr marL="3429000" indent="-228600" fontAlgn="base">
              <a:spcBef>
                <a:spcPct val="20000"/>
              </a:spcBef>
              <a:spcAft>
                <a:spcPct val="0"/>
              </a:spcAft>
              <a:buChar char="»"/>
              <a:defRPr sz="1500">
                <a:solidFill>
                  <a:schemeClr val="tx1"/>
                </a:solidFill>
                <a:latin typeface="Arial" panose="020B0604020202020204" pitchFamily="34" charset="0"/>
              </a:defRPr>
            </a:lvl8pPr>
            <a:lvl9pPr marL="3886200" indent="-228600" fontAlgn="base">
              <a:spcBef>
                <a:spcPct val="20000"/>
              </a:spcBef>
              <a:spcAft>
                <a:spcPct val="0"/>
              </a:spcAft>
              <a:buChar char="»"/>
              <a:defRPr sz="1500">
                <a:solidFill>
                  <a:schemeClr val="tx1"/>
                </a:solidFill>
                <a:latin typeface="Arial" panose="020B0604020202020204" pitchFamily="34" charset="0"/>
              </a:defRPr>
            </a:lvl9pPr>
          </a:lstStyle>
          <a:p>
            <a:pPr algn="ctr">
              <a:spcBef>
                <a:spcPct val="0"/>
              </a:spcBef>
              <a:buFontTx/>
              <a:buNone/>
            </a:pPr>
            <a:r>
              <a:rPr lang="pt-BR" altLang="pt-BR" sz="1800" b="1" dirty="0">
                <a:latin typeface="Lucida Sans Unicode" panose="020B0602030504020204" pitchFamily="34" charset="0"/>
                <a:cs typeface="Lucida Sans Unicode" panose="020B0602030504020204" pitchFamily="34" charset="0"/>
              </a:rPr>
              <a:t>2. PÉ DE ALFACE</a:t>
            </a:r>
          </a:p>
        </p:txBody>
      </p:sp>
      <p:sp>
        <p:nvSpPr>
          <p:cNvPr id="15365" name="CaixaDeTexto 5"/>
          <p:cNvSpPr txBox="1">
            <a:spLocks noChangeArrowheads="1"/>
          </p:cNvSpPr>
          <p:nvPr/>
        </p:nvSpPr>
        <p:spPr bwMode="auto">
          <a:xfrm>
            <a:off x="1784447" y="3325715"/>
            <a:ext cx="17832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fontAlgn="base">
              <a:spcBef>
                <a:spcPct val="20000"/>
              </a:spcBef>
              <a:spcAft>
                <a:spcPct val="0"/>
              </a:spcAft>
              <a:buChar char="»"/>
              <a:defRPr sz="1500">
                <a:solidFill>
                  <a:schemeClr val="tx1"/>
                </a:solidFill>
                <a:latin typeface="Arial" panose="020B0604020202020204" pitchFamily="34" charset="0"/>
              </a:defRPr>
            </a:lvl6pPr>
            <a:lvl7pPr marL="2971800" indent="-228600" fontAlgn="base">
              <a:spcBef>
                <a:spcPct val="20000"/>
              </a:spcBef>
              <a:spcAft>
                <a:spcPct val="0"/>
              </a:spcAft>
              <a:buChar char="»"/>
              <a:defRPr sz="1500">
                <a:solidFill>
                  <a:schemeClr val="tx1"/>
                </a:solidFill>
                <a:latin typeface="Arial" panose="020B0604020202020204" pitchFamily="34" charset="0"/>
              </a:defRPr>
            </a:lvl7pPr>
            <a:lvl8pPr marL="3429000" indent="-228600" fontAlgn="base">
              <a:spcBef>
                <a:spcPct val="20000"/>
              </a:spcBef>
              <a:spcAft>
                <a:spcPct val="0"/>
              </a:spcAft>
              <a:buChar char="»"/>
              <a:defRPr sz="1500">
                <a:solidFill>
                  <a:schemeClr val="tx1"/>
                </a:solidFill>
                <a:latin typeface="Arial" panose="020B0604020202020204" pitchFamily="34" charset="0"/>
              </a:defRPr>
            </a:lvl8pPr>
            <a:lvl9pPr marL="3886200" indent="-228600" fontAlgn="base">
              <a:spcBef>
                <a:spcPct val="20000"/>
              </a:spcBef>
              <a:spcAft>
                <a:spcPct val="0"/>
              </a:spcAft>
              <a:buChar char="»"/>
              <a:defRPr sz="1500">
                <a:solidFill>
                  <a:schemeClr val="tx1"/>
                </a:solidFill>
                <a:latin typeface="Arial" panose="020B0604020202020204" pitchFamily="34" charset="0"/>
              </a:defRPr>
            </a:lvl9pPr>
          </a:lstStyle>
          <a:p>
            <a:pPr algn="ctr">
              <a:spcBef>
                <a:spcPct val="0"/>
              </a:spcBef>
              <a:buFontTx/>
              <a:buNone/>
            </a:pPr>
            <a:r>
              <a:rPr lang="pt-BR" altLang="pt-BR" sz="1800" b="1" dirty="0">
                <a:latin typeface="Lucida Sans Unicode" panose="020B0602030504020204" pitchFamily="34" charset="0"/>
                <a:cs typeface="Lucida Sans Unicode" panose="020B0602030504020204" pitchFamily="34" charset="0"/>
              </a:rPr>
              <a:t>1. CAIXA DE BISCOITOS</a:t>
            </a:r>
          </a:p>
        </p:txBody>
      </p:sp>
      <p:sp>
        <p:nvSpPr>
          <p:cNvPr id="5" name="Elipse 4"/>
          <p:cNvSpPr/>
          <p:nvPr/>
        </p:nvSpPr>
        <p:spPr bwMode="auto">
          <a:xfrm>
            <a:off x="1902293" y="2888499"/>
            <a:ext cx="1577893" cy="1481138"/>
          </a:xfrm>
          <a:prstGeom prst="ellipse">
            <a:avLst/>
          </a:prstGeom>
          <a:ln>
            <a:headEnd type="none" w="med" len="med"/>
            <a:tailEnd type="none" w="med" len="med"/>
          </a:ln>
        </p:spPr>
        <p:style>
          <a:lnRef idx="2">
            <a:schemeClr val="accent6">
              <a:shade val="50000"/>
            </a:schemeClr>
          </a:lnRef>
          <a:fillRef idx="1">
            <a:schemeClr val="accent6"/>
          </a:fillRef>
          <a:effectRef idx="0">
            <a:schemeClr val="accent6"/>
          </a:effectRef>
          <a:fontRef idx="minor">
            <a:schemeClr val="lt1"/>
          </a:fontRef>
        </p:style>
        <p:txBody>
          <a:bodyPr wrap="none" anchor="t"/>
          <a:lstStyle/>
          <a:p>
            <a:pPr algn="ctr" eaLnBrk="1" hangingPunct="1">
              <a:defRPr/>
            </a:pPr>
            <a:r>
              <a:rPr lang="pt-BR" sz="5400" b="1" dirty="0">
                <a:solidFill>
                  <a:schemeClr val="bg1"/>
                </a:solidFill>
              </a:rPr>
              <a:t>1</a:t>
            </a:r>
          </a:p>
          <a:p>
            <a:pPr algn="ctr" eaLnBrk="1" hangingPunct="1">
              <a:defRPr/>
            </a:pPr>
            <a:endParaRPr lang="pt-BR" sz="1600" b="1" dirty="0">
              <a:solidFill>
                <a:schemeClr val="bg1"/>
              </a:solidFill>
            </a:endParaRPr>
          </a:p>
        </p:txBody>
      </p:sp>
      <p:sp>
        <p:nvSpPr>
          <p:cNvPr id="18" name="Título 3"/>
          <p:cNvSpPr txBox="1">
            <a:spLocks/>
          </p:cNvSpPr>
          <p:nvPr/>
        </p:nvSpPr>
        <p:spPr>
          <a:xfrm>
            <a:off x="838200" y="231439"/>
            <a:ext cx="10515600" cy="44007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accent1">
                    <a:lumMod val="50000"/>
                  </a:schemeClr>
                </a:solidFill>
                <a:latin typeface="Helvetica" panose="020B0604020202020204" pitchFamily="34" charset="0"/>
                <a:ea typeface="+mj-ea"/>
                <a:cs typeface="Helvetica" panose="020B0604020202020204" pitchFamily="34" charset="0"/>
              </a:defRPr>
            </a:lvl1p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GESTÃO DA CADEIA DE SUPRIMENTOS</a:t>
            </a:r>
            <a:endParaRPr lang="pt-BR" sz="2400" b="1" i="1" dirty="0">
              <a:solidFill>
                <a:schemeClr val="accent6"/>
              </a:solidFill>
              <a:latin typeface="Lucida Sans Unicode" panose="020B0602030504020204" pitchFamily="34" charset="0"/>
              <a:cs typeface="Lucida Sans Unicode" panose="020B0602030504020204" pitchFamily="34" charset="0"/>
            </a:endParaRPr>
          </a:p>
        </p:txBody>
      </p:sp>
      <p:sp>
        <p:nvSpPr>
          <p:cNvPr id="20" name="Título 3"/>
          <p:cNvSpPr txBox="1">
            <a:spLocks/>
          </p:cNvSpPr>
          <p:nvPr/>
        </p:nvSpPr>
        <p:spPr>
          <a:xfrm>
            <a:off x="838200" y="1026613"/>
            <a:ext cx="10515600" cy="7036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accent1">
                    <a:lumMod val="50000"/>
                  </a:schemeClr>
                </a:solidFill>
                <a:latin typeface="Helvetica" panose="020B0604020202020204" pitchFamily="34" charset="0"/>
                <a:ea typeface="+mj-ea"/>
                <a:cs typeface="Helvetica" panose="020B0604020202020204" pitchFamily="34" charset="0"/>
              </a:defRPr>
            </a:lvl1pPr>
          </a:lstStyle>
          <a:p>
            <a:pPr algn="ctr"/>
            <a:r>
              <a:rPr lang="pt-BR" sz="2400" b="1" dirty="0">
                <a:solidFill>
                  <a:srgbClr val="FF0000"/>
                </a:solidFill>
                <a:latin typeface="Lucida Sans Unicode" panose="020B0602030504020204" pitchFamily="34" charset="0"/>
                <a:cs typeface="Lucida Sans Unicode" panose="020B0602030504020204" pitchFamily="34" charset="0"/>
              </a:rPr>
              <a:t>ATIVIDADE (</a:t>
            </a:r>
            <a:r>
              <a:rPr lang="pt-BR" altLang="pt-BR" sz="2400" b="1" dirty="0">
                <a:solidFill>
                  <a:srgbClr val="FF0000"/>
                </a:solidFill>
                <a:latin typeface="Lucida Sans Unicode" panose="020B0602030504020204" pitchFamily="34" charset="0"/>
                <a:cs typeface="Lucida Sans Unicode" panose="020B0602030504020204" pitchFamily="34" charset="0"/>
              </a:rPr>
              <a:t>EM GRUPOS)</a:t>
            </a:r>
          </a:p>
        </p:txBody>
      </p:sp>
      <p:sp>
        <p:nvSpPr>
          <p:cNvPr id="21" name="Espaço Reservado para Conteúdo 5"/>
          <p:cNvSpPr txBox="1">
            <a:spLocks/>
          </p:cNvSpPr>
          <p:nvPr/>
        </p:nvSpPr>
        <p:spPr>
          <a:xfrm>
            <a:off x="2207028" y="1795272"/>
            <a:ext cx="7777943" cy="63299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1">
                    <a:lumMod val="50000"/>
                  </a:schemeClr>
                </a:solidFill>
                <a:latin typeface="Helvetica" panose="020B0604020202020204" pitchFamily="34" charset="0"/>
                <a:ea typeface="+mn-ea"/>
                <a:cs typeface="Helvetica"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Helvetica" panose="020B0604020202020204" pitchFamily="34" charset="0"/>
                <a:ea typeface="+mn-ea"/>
                <a:cs typeface="Helvetica"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1">
                    <a:lumMod val="50000"/>
                  </a:schemeClr>
                </a:solidFill>
                <a:latin typeface="Helvetica" panose="020B0604020202020204" pitchFamily="34" charset="0"/>
                <a:ea typeface="+mn-ea"/>
                <a:cs typeface="Helvetica"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Helvetica" panose="020B0604020202020204" pitchFamily="34" charset="0"/>
                <a:ea typeface="+mn-ea"/>
                <a:cs typeface="Helvetica"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Helvetica" panose="020B0604020202020204" pitchFamily="34" charset="0"/>
                <a:ea typeface="+mn-ea"/>
                <a:cs typeface="Helvetica"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pt-BR" altLang="pt-BR" sz="2000" b="1" dirty="0">
                <a:solidFill>
                  <a:schemeClr val="accent6"/>
                </a:solidFill>
                <a:latin typeface="Lucida Sans Unicode" panose="020B0602030504020204" pitchFamily="34" charset="0"/>
                <a:cs typeface="Lucida Sans Unicode" panose="020B0602030504020204" pitchFamily="34" charset="0"/>
              </a:rPr>
              <a:t>ESTRUTURAR UMA CADEIA LOGÍSTICA, DESDE A ORIGEM ATÉ O CONSUMIDOR FINAL PARA OS SEGUINTES PRODUTOS:</a:t>
            </a:r>
          </a:p>
        </p:txBody>
      </p:sp>
      <p:sp>
        <p:nvSpPr>
          <p:cNvPr id="8" name="Elipse 7"/>
          <p:cNvSpPr/>
          <p:nvPr/>
        </p:nvSpPr>
        <p:spPr bwMode="auto">
          <a:xfrm>
            <a:off x="5507407" y="3224260"/>
            <a:ext cx="1653930" cy="1613621"/>
          </a:xfrm>
          <a:prstGeom prst="ellipse">
            <a:avLst/>
          </a:prstGeom>
          <a:solidFill>
            <a:srgbClr val="FF0000"/>
          </a:solidFill>
          <a:ln>
            <a:headEnd type="none" w="med" len="med"/>
            <a:tailEnd type="none" w="med" len="med"/>
          </a:ln>
        </p:spPr>
        <p:style>
          <a:lnRef idx="2">
            <a:schemeClr val="accent6">
              <a:shade val="50000"/>
            </a:schemeClr>
          </a:lnRef>
          <a:fillRef idx="1">
            <a:schemeClr val="accent6"/>
          </a:fillRef>
          <a:effectRef idx="0">
            <a:schemeClr val="accent6"/>
          </a:effectRef>
          <a:fontRef idx="minor">
            <a:schemeClr val="lt1"/>
          </a:fontRef>
        </p:style>
        <p:txBody>
          <a:bodyPr wrap="none" anchor="t"/>
          <a:lstStyle/>
          <a:p>
            <a:pPr algn="ctr" eaLnBrk="1" hangingPunct="1">
              <a:defRPr/>
            </a:pPr>
            <a:r>
              <a:rPr lang="pt-BR" sz="5400" b="1" dirty="0">
                <a:solidFill>
                  <a:schemeClr val="bg1"/>
                </a:solidFill>
              </a:rPr>
              <a:t>2</a:t>
            </a:r>
          </a:p>
          <a:p>
            <a:pPr algn="ctr" eaLnBrk="1" hangingPunct="1">
              <a:defRPr/>
            </a:pPr>
            <a:endParaRPr lang="pt-BR" sz="1600" b="1" dirty="0">
              <a:solidFill>
                <a:schemeClr val="bg1"/>
              </a:solidFill>
            </a:endParaRPr>
          </a:p>
        </p:txBody>
      </p:sp>
    </p:spTree>
    <p:extLst>
      <p:ext uri="{BB962C8B-B14F-4D97-AF65-F5344CB8AC3E}">
        <p14:creationId xmlns:p14="http://schemas.microsoft.com/office/powerpoint/2010/main" val="362107901"/>
      </p:ext>
    </p:extLst>
  </p:cSld>
  <p:clrMapOvr>
    <a:masterClrMapping/>
  </p:clrMapOvr>
  <p:transition>
    <p:pull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1000"/>
                                        <p:tgtEl>
                                          <p:spTgt spid="20"/>
                                        </p:tgtEl>
                                      </p:cBhvr>
                                    </p:animEffect>
                                    <p:anim calcmode="lin" valueType="num">
                                      <p:cBhvr>
                                        <p:cTn id="8" dur="1000" fill="hold"/>
                                        <p:tgtEl>
                                          <p:spTgt spid="20"/>
                                        </p:tgtEl>
                                        <p:attrNameLst>
                                          <p:attrName>ppt_x</p:attrName>
                                        </p:attrNameLst>
                                      </p:cBhvr>
                                      <p:tavLst>
                                        <p:tav tm="0">
                                          <p:val>
                                            <p:strVal val="#ppt_x"/>
                                          </p:val>
                                        </p:tav>
                                        <p:tav tm="100000">
                                          <p:val>
                                            <p:strVal val="#ppt_x"/>
                                          </p:val>
                                        </p:tav>
                                      </p:tavLst>
                                    </p:anim>
                                    <p:anim calcmode="lin" valueType="num">
                                      <p:cBhvr>
                                        <p:cTn id="9"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8" fill="hold" grpId="0" nodeType="clickEffect">
                                  <p:stCondLst>
                                    <p:cond delay="0"/>
                                  </p:stCondLst>
                                  <p:childTnLst>
                                    <p:set>
                                      <p:cBhvr>
                                        <p:cTn id="13" dur="1" fill="hold">
                                          <p:stCondLst>
                                            <p:cond delay="0"/>
                                          </p:stCondLst>
                                        </p:cTn>
                                        <p:tgtEl>
                                          <p:spTgt spid="21"/>
                                        </p:tgtEl>
                                        <p:attrNameLst>
                                          <p:attrName>style.visibility</p:attrName>
                                        </p:attrNameLst>
                                      </p:cBhvr>
                                      <p:to>
                                        <p:strVal val="visible"/>
                                      </p:to>
                                    </p:set>
                                    <p:anim calcmode="lin" valueType="num">
                                      <p:cBhvr additive="base">
                                        <p:cTn id="14" dur="500" fill="hold"/>
                                        <p:tgtEl>
                                          <p:spTgt spid="21"/>
                                        </p:tgtEl>
                                        <p:attrNameLst>
                                          <p:attrName>ppt_x</p:attrName>
                                        </p:attrNameLst>
                                      </p:cBhvr>
                                      <p:tavLst>
                                        <p:tav tm="0">
                                          <p:val>
                                            <p:strVal val="0-#ppt_w/2"/>
                                          </p:val>
                                        </p:tav>
                                        <p:tav tm="100000">
                                          <p:val>
                                            <p:strVal val="#ppt_x"/>
                                          </p:val>
                                        </p:tav>
                                      </p:tavLst>
                                    </p:anim>
                                    <p:anim calcmode="lin" valueType="num">
                                      <p:cBhvr additive="base">
                                        <p:cTn id="15"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1"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par>
                                <p:cTn id="21" presetID="10" presetClass="entr" presetSubtype="0" fill="hold" grpId="1"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10" presetClass="entr" presetSubtype="0" fill="hold" grpId="1"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grpId="1"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500"/>
                                        <p:tgtEl>
                                          <p:spTgt spid="15"/>
                                        </p:tgtEl>
                                      </p:cBhvr>
                                    </p:animEffect>
                                  </p:childTnLst>
                                </p:cTn>
                              </p:par>
                              <p:par>
                                <p:cTn id="30" presetID="10" presetClass="entr" presetSubtype="0" fill="hold" grpId="1"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5365"/>
                                        </p:tgtEl>
                                        <p:attrNameLst>
                                          <p:attrName>style.visibility</p:attrName>
                                        </p:attrNameLst>
                                      </p:cBhvr>
                                      <p:to>
                                        <p:strVal val="visible"/>
                                      </p:to>
                                    </p:set>
                                    <p:animEffect transition="in" filter="fade">
                                      <p:cBhvr>
                                        <p:cTn id="37" dur="500"/>
                                        <p:tgtEl>
                                          <p:spTgt spid="1536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364"/>
                                        </p:tgtEl>
                                        <p:attrNameLst>
                                          <p:attrName>style.visibility</p:attrName>
                                        </p:attrNameLst>
                                      </p:cBhvr>
                                      <p:to>
                                        <p:strVal val="visible"/>
                                      </p:to>
                                    </p:set>
                                    <p:animEffect transition="in" filter="fade">
                                      <p:cBhvr>
                                        <p:cTn id="40" dur="500"/>
                                        <p:tgtEl>
                                          <p:spTgt spid="1536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5371"/>
                                        </p:tgtEl>
                                        <p:attrNameLst>
                                          <p:attrName>style.visibility</p:attrName>
                                        </p:attrNameLst>
                                      </p:cBhvr>
                                      <p:to>
                                        <p:strVal val="visible"/>
                                      </p:to>
                                    </p:set>
                                    <p:animEffect transition="in" filter="fade">
                                      <p:cBhvr>
                                        <p:cTn id="43" dur="500"/>
                                        <p:tgtEl>
                                          <p:spTgt spid="15371"/>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5372"/>
                                        </p:tgtEl>
                                        <p:attrNameLst>
                                          <p:attrName>style.visibility</p:attrName>
                                        </p:attrNameLst>
                                      </p:cBhvr>
                                      <p:to>
                                        <p:strVal val="visible"/>
                                      </p:to>
                                    </p:set>
                                    <p:animEffect transition="in" filter="fade">
                                      <p:cBhvr>
                                        <p:cTn id="46" dur="500"/>
                                        <p:tgtEl>
                                          <p:spTgt spid="15372"/>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5363"/>
                                        </p:tgtEl>
                                        <p:attrNameLst>
                                          <p:attrName>style.visibility</p:attrName>
                                        </p:attrNameLst>
                                      </p:cBhvr>
                                      <p:to>
                                        <p:strVal val="visible"/>
                                      </p:to>
                                    </p:set>
                                    <p:animEffect transition="in" filter="fade">
                                      <p:cBhvr>
                                        <p:cTn id="49" dur="500"/>
                                        <p:tgtEl>
                                          <p:spTgt spid="15363"/>
                                        </p:tgtEl>
                                      </p:cBhvr>
                                    </p:animEffect>
                                  </p:childTnLst>
                                </p:cTn>
                              </p:par>
                            </p:childTnLst>
                          </p:cTn>
                        </p:par>
                      </p:childTnLst>
                    </p:cTn>
                  </p:par>
                  <p:par>
                    <p:cTn id="50" fill="hold">
                      <p:stCondLst>
                        <p:cond delay="indefinite"/>
                      </p:stCondLst>
                      <p:childTnLst>
                        <p:par>
                          <p:cTn id="51" fill="hold">
                            <p:stCondLst>
                              <p:cond delay="0"/>
                            </p:stCondLst>
                            <p:childTnLst>
                              <p:par>
                                <p:cTn id="52" presetID="2" presetClass="exit" presetSubtype="4" fill="hold" grpId="0" nodeType="clickEffect">
                                  <p:stCondLst>
                                    <p:cond delay="0"/>
                                  </p:stCondLst>
                                  <p:childTnLst>
                                    <p:anim calcmode="lin" valueType="num">
                                      <p:cBhvr additive="base">
                                        <p:cTn id="53" dur="500"/>
                                        <p:tgtEl>
                                          <p:spTgt spid="5"/>
                                        </p:tgtEl>
                                        <p:attrNameLst>
                                          <p:attrName>ppt_x</p:attrName>
                                        </p:attrNameLst>
                                      </p:cBhvr>
                                      <p:tavLst>
                                        <p:tav tm="0">
                                          <p:val>
                                            <p:strVal val="ppt_x"/>
                                          </p:val>
                                        </p:tav>
                                        <p:tav tm="100000">
                                          <p:val>
                                            <p:strVal val="ppt_x"/>
                                          </p:val>
                                        </p:tav>
                                      </p:tavLst>
                                    </p:anim>
                                    <p:anim calcmode="lin" valueType="num">
                                      <p:cBhvr additive="base">
                                        <p:cTn id="54" dur="500"/>
                                        <p:tgtEl>
                                          <p:spTgt spid="5"/>
                                        </p:tgtEl>
                                        <p:attrNameLst>
                                          <p:attrName>ppt_y</p:attrName>
                                        </p:attrNameLst>
                                      </p:cBhvr>
                                      <p:tavLst>
                                        <p:tav tm="0">
                                          <p:val>
                                            <p:strVal val="ppt_y"/>
                                          </p:val>
                                        </p:tav>
                                        <p:tav tm="100000">
                                          <p:val>
                                            <p:strVal val="1+ppt_h/2"/>
                                          </p:val>
                                        </p:tav>
                                      </p:tavLst>
                                    </p:anim>
                                    <p:set>
                                      <p:cBhvr>
                                        <p:cTn id="55" dur="1" fill="hold">
                                          <p:stCondLst>
                                            <p:cond delay="499"/>
                                          </p:stCondLst>
                                        </p:cTn>
                                        <p:tgtEl>
                                          <p:spTgt spid="5"/>
                                        </p:tgtEl>
                                        <p:attrNameLst>
                                          <p:attrName>style.visibility</p:attrName>
                                        </p:attrNameLst>
                                      </p:cBhvr>
                                      <p:to>
                                        <p:strVal val="hidden"/>
                                      </p:to>
                                    </p:set>
                                  </p:childTnLst>
                                </p:cTn>
                              </p:par>
                            </p:childTnLst>
                          </p:cTn>
                        </p:par>
                      </p:childTnLst>
                    </p:cTn>
                  </p:par>
                  <p:par>
                    <p:cTn id="56" fill="hold" nodeType="clickPar">
                      <p:stCondLst>
                        <p:cond delay="indefinite"/>
                      </p:stCondLst>
                      <p:childTnLst>
                        <p:par>
                          <p:cTn id="57" fill="hold" nodeType="withGroup">
                            <p:stCondLst>
                              <p:cond delay="0"/>
                            </p:stCondLst>
                            <p:childTnLst>
                              <p:par>
                                <p:cTn id="58" presetID="2" presetClass="exit" presetSubtype="4" fill="hold" grpId="0" nodeType="clickEffect">
                                  <p:stCondLst>
                                    <p:cond delay="0"/>
                                  </p:stCondLst>
                                  <p:childTnLst>
                                    <p:anim calcmode="lin" valueType="num">
                                      <p:cBhvr additive="base">
                                        <p:cTn id="59" dur="500"/>
                                        <p:tgtEl>
                                          <p:spTgt spid="8"/>
                                        </p:tgtEl>
                                        <p:attrNameLst>
                                          <p:attrName>ppt_x</p:attrName>
                                        </p:attrNameLst>
                                      </p:cBhvr>
                                      <p:tavLst>
                                        <p:tav tm="0">
                                          <p:val>
                                            <p:strVal val="ppt_x"/>
                                          </p:val>
                                        </p:tav>
                                        <p:tav tm="100000">
                                          <p:val>
                                            <p:strVal val="ppt_x"/>
                                          </p:val>
                                        </p:tav>
                                      </p:tavLst>
                                    </p:anim>
                                    <p:anim calcmode="lin" valueType="num">
                                      <p:cBhvr additive="base">
                                        <p:cTn id="60" dur="500"/>
                                        <p:tgtEl>
                                          <p:spTgt spid="8"/>
                                        </p:tgtEl>
                                        <p:attrNameLst>
                                          <p:attrName>ppt_y</p:attrName>
                                        </p:attrNameLst>
                                      </p:cBhvr>
                                      <p:tavLst>
                                        <p:tav tm="0">
                                          <p:val>
                                            <p:strVal val="ppt_y"/>
                                          </p:val>
                                        </p:tav>
                                        <p:tav tm="100000">
                                          <p:val>
                                            <p:strVal val="1+ppt_h/2"/>
                                          </p:val>
                                        </p:tav>
                                      </p:tavLst>
                                    </p:anim>
                                    <p:set>
                                      <p:cBhvr>
                                        <p:cTn id="61" dur="1" fill="hold">
                                          <p:stCondLst>
                                            <p:cond delay="499"/>
                                          </p:stCondLst>
                                        </p:cTn>
                                        <p:tgtEl>
                                          <p:spTgt spid="8"/>
                                        </p:tgtEl>
                                        <p:attrNameLst>
                                          <p:attrName>style.visibility</p:attrName>
                                        </p:attrNameLst>
                                      </p:cBhvr>
                                      <p:to>
                                        <p:strVal val="hidden"/>
                                      </p:to>
                                    </p:set>
                                  </p:childTnLst>
                                </p:cTn>
                              </p:par>
                            </p:childTnLst>
                          </p:cTn>
                        </p:par>
                      </p:childTnLst>
                    </p:cTn>
                  </p:par>
                  <p:par>
                    <p:cTn id="62" fill="hold" nodeType="clickPar">
                      <p:stCondLst>
                        <p:cond delay="indefinite"/>
                      </p:stCondLst>
                      <p:childTnLst>
                        <p:par>
                          <p:cTn id="63" fill="hold" nodeType="withGroup">
                            <p:stCondLst>
                              <p:cond delay="0"/>
                            </p:stCondLst>
                            <p:childTnLst>
                              <p:par>
                                <p:cTn id="64" presetID="2" presetClass="exit" presetSubtype="4" fill="hold" grpId="0" nodeType="clickEffect">
                                  <p:stCondLst>
                                    <p:cond delay="0"/>
                                  </p:stCondLst>
                                  <p:childTnLst>
                                    <p:anim calcmode="lin" valueType="num">
                                      <p:cBhvr additive="base">
                                        <p:cTn id="65" dur="500"/>
                                        <p:tgtEl>
                                          <p:spTgt spid="9"/>
                                        </p:tgtEl>
                                        <p:attrNameLst>
                                          <p:attrName>ppt_x</p:attrName>
                                        </p:attrNameLst>
                                      </p:cBhvr>
                                      <p:tavLst>
                                        <p:tav tm="0">
                                          <p:val>
                                            <p:strVal val="ppt_x"/>
                                          </p:val>
                                        </p:tav>
                                        <p:tav tm="100000">
                                          <p:val>
                                            <p:strVal val="ppt_x"/>
                                          </p:val>
                                        </p:tav>
                                      </p:tavLst>
                                    </p:anim>
                                    <p:anim calcmode="lin" valueType="num">
                                      <p:cBhvr additive="base">
                                        <p:cTn id="66" dur="500"/>
                                        <p:tgtEl>
                                          <p:spTgt spid="9"/>
                                        </p:tgtEl>
                                        <p:attrNameLst>
                                          <p:attrName>ppt_y</p:attrName>
                                        </p:attrNameLst>
                                      </p:cBhvr>
                                      <p:tavLst>
                                        <p:tav tm="0">
                                          <p:val>
                                            <p:strVal val="ppt_y"/>
                                          </p:val>
                                        </p:tav>
                                        <p:tav tm="100000">
                                          <p:val>
                                            <p:strVal val="1+ppt_h/2"/>
                                          </p:val>
                                        </p:tav>
                                      </p:tavLst>
                                    </p:anim>
                                    <p:set>
                                      <p:cBhvr>
                                        <p:cTn id="67" dur="1" fill="hold">
                                          <p:stCondLst>
                                            <p:cond delay="499"/>
                                          </p:stCondLst>
                                        </p:cTn>
                                        <p:tgtEl>
                                          <p:spTgt spid="9"/>
                                        </p:tgtEl>
                                        <p:attrNameLst>
                                          <p:attrName>style.visibility</p:attrName>
                                        </p:attrNameLst>
                                      </p:cBhvr>
                                      <p:to>
                                        <p:strVal val="hidden"/>
                                      </p:to>
                                    </p:set>
                                  </p:childTnLst>
                                </p:cTn>
                              </p:par>
                            </p:childTnLst>
                          </p:cTn>
                        </p:par>
                      </p:childTnLst>
                    </p:cTn>
                  </p:par>
                  <p:par>
                    <p:cTn id="68" fill="hold" nodeType="clickPar">
                      <p:stCondLst>
                        <p:cond delay="indefinite"/>
                      </p:stCondLst>
                      <p:childTnLst>
                        <p:par>
                          <p:cTn id="69" fill="hold" nodeType="withGroup">
                            <p:stCondLst>
                              <p:cond delay="0"/>
                            </p:stCondLst>
                            <p:childTnLst>
                              <p:par>
                                <p:cTn id="70" presetID="2" presetClass="exit" presetSubtype="4" fill="hold" grpId="0" nodeType="clickEffect">
                                  <p:stCondLst>
                                    <p:cond delay="0"/>
                                  </p:stCondLst>
                                  <p:childTnLst>
                                    <p:anim calcmode="lin" valueType="num">
                                      <p:cBhvr additive="base">
                                        <p:cTn id="71" dur="500"/>
                                        <p:tgtEl>
                                          <p:spTgt spid="15"/>
                                        </p:tgtEl>
                                        <p:attrNameLst>
                                          <p:attrName>ppt_x</p:attrName>
                                        </p:attrNameLst>
                                      </p:cBhvr>
                                      <p:tavLst>
                                        <p:tav tm="0">
                                          <p:val>
                                            <p:strVal val="ppt_x"/>
                                          </p:val>
                                        </p:tav>
                                        <p:tav tm="100000">
                                          <p:val>
                                            <p:strVal val="ppt_x"/>
                                          </p:val>
                                        </p:tav>
                                      </p:tavLst>
                                    </p:anim>
                                    <p:anim calcmode="lin" valueType="num">
                                      <p:cBhvr additive="base">
                                        <p:cTn id="72" dur="500"/>
                                        <p:tgtEl>
                                          <p:spTgt spid="15"/>
                                        </p:tgtEl>
                                        <p:attrNameLst>
                                          <p:attrName>ppt_y</p:attrName>
                                        </p:attrNameLst>
                                      </p:cBhvr>
                                      <p:tavLst>
                                        <p:tav tm="0">
                                          <p:val>
                                            <p:strVal val="ppt_y"/>
                                          </p:val>
                                        </p:tav>
                                        <p:tav tm="100000">
                                          <p:val>
                                            <p:strVal val="1+ppt_h/2"/>
                                          </p:val>
                                        </p:tav>
                                      </p:tavLst>
                                    </p:anim>
                                    <p:set>
                                      <p:cBhvr>
                                        <p:cTn id="73" dur="1" fill="hold">
                                          <p:stCondLst>
                                            <p:cond delay="499"/>
                                          </p:stCondLst>
                                        </p:cTn>
                                        <p:tgtEl>
                                          <p:spTgt spid="15"/>
                                        </p:tgtEl>
                                        <p:attrNameLst>
                                          <p:attrName>style.visibility</p:attrName>
                                        </p:attrNameLst>
                                      </p:cBhvr>
                                      <p:to>
                                        <p:strVal val="hidden"/>
                                      </p:to>
                                    </p:set>
                                  </p:childTnLst>
                                </p:cTn>
                              </p:par>
                            </p:childTnLst>
                          </p:cTn>
                        </p:par>
                      </p:childTnLst>
                    </p:cTn>
                  </p:par>
                  <p:par>
                    <p:cTn id="74" fill="hold" nodeType="clickPar">
                      <p:stCondLst>
                        <p:cond delay="indefinite"/>
                      </p:stCondLst>
                      <p:childTnLst>
                        <p:par>
                          <p:cTn id="75" fill="hold" nodeType="withGroup">
                            <p:stCondLst>
                              <p:cond delay="0"/>
                            </p:stCondLst>
                            <p:childTnLst>
                              <p:par>
                                <p:cTn id="76" presetID="2" presetClass="exit" presetSubtype="4" fill="hold" grpId="0" nodeType="clickEffect">
                                  <p:stCondLst>
                                    <p:cond delay="0"/>
                                  </p:stCondLst>
                                  <p:childTnLst>
                                    <p:anim calcmode="lin" valueType="num">
                                      <p:cBhvr additive="base">
                                        <p:cTn id="77" dur="500"/>
                                        <p:tgtEl>
                                          <p:spTgt spid="16"/>
                                        </p:tgtEl>
                                        <p:attrNameLst>
                                          <p:attrName>ppt_x</p:attrName>
                                        </p:attrNameLst>
                                      </p:cBhvr>
                                      <p:tavLst>
                                        <p:tav tm="0">
                                          <p:val>
                                            <p:strVal val="ppt_x"/>
                                          </p:val>
                                        </p:tav>
                                        <p:tav tm="100000">
                                          <p:val>
                                            <p:strVal val="ppt_x"/>
                                          </p:val>
                                        </p:tav>
                                      </p:tavLst>
                                    </p:anim>
                                    <p:anim calcmode="lin" valueType="num">
                                      <p:cBhvr additive="base">
                                        <p:cTn id="78" dur="500"/>
                                        <p:tgtEl>
                                          <p:spTgt spid="16"/>
                                        </p:tgtEl>
                                        <p:attrNameLst>
                                          <p:attrName>ppt_y</p:attrName>
                                        </p:attrNameLst>
                                      </p:cBhvr>
                                      <p:tavLst>
                                        <p:tav tm="0">
                                          <p:val>
                                            <p:strVal val="ppt_y"/>
                                          </p:val>
                                        </p:tav>
                                        <p:tav tm="100000">
                                          <p:val>
                                            <p:strVal val="1+ppt_h/2"/>
                                          </p:val>
                                        </p:tav>
                                      </p:tavLst>
                                    </p:anim>
                                    <p:set>
                                      <p:cBhvr>
                                        <p:cTn id="79" dur="1" fill="hold">
                                          <p:stCondLst>
                                            <p:cond delay="499"/>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72" grpId="0"/>
      <p:bldP spid="16" grpId="0" animBg="1"/>
      <p:bldP spid="16" grpId="1" animBg="1"/>
      <p:bldP spid="15363" grpId="0"/>
      <p:bldP spid="9" grpId="0" animBg="1"/>
      <p:bldP spid="9" grpId="1" animBg="1"/>
      <p:bldP spid="15371" grpId="0"/>
      <p:bldP spid="15" grpId="0" animBg="1"/>
      <p:bldP spid="15" grpId="1" animBg="1"/>
      <p:bldP spid="15364" grpId="0"/>
      <p:bldP spid="15365" grpId="0"/>
      <p:bldP spid="5" grpId="0" animBg="1"/>
      <p:bldP spid="5" grpId="1" animBg="1"/>
      <p:bldP spid="20" grpId="0"/>
      <p:bldP spid="21" grpId="0"/>
      <p:bldP spid="8" grpId="0" animBg="1"/>
      <p:bldP spid="8" grpId="1" animBg="1"/>
    </p:bld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25989" name="Rectangle 5"/>
          <p:cNvSpPr>
            <a:spLocks noChangeArrowheads="1"/>
          </p:cNvSpPr>
          <p:nvPr/>
        </p:nvSpPr>
        <p:spPr bwMode="auto">
          <a:xfrm>
            <a:off x="1524000" y="1412875"/>
            <a:ext cx="8280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defRPr>
            </a:lvl9pPr>
          </a:lstStyle>
          <a:p>
            <a:pPr>
              <a:spcBef>
                <a:spcPct val="0"/>
              </a:spcBef>
              <a:buFontTx/>
              <a:buNone/>
            </a:pPr>
            <a:r>
              <a:rPr lang="pt-BR" altLang="pt-BR">
                <a:solidFill>
                  <a:schemeClr val="hlink"/>
                </a:solidFill>
                <a:latin typeface="Arial Black" panose="020B0A04020102020204" pitchFamily="34" charset="0"/>
              </a:rPr>
              <a:t> </a:t>
            </a:r>
            <a:endParaRPr lang="pt-BR" altLang="pt-BR" sz="3200">
              <a:solidFill>
                <a:schemeClr val="hlink"/>
              </a:solidFill>
              <a:latin typeface="Arial Black" panose="020B0A04020102020204" pitchFamily="34" charset="0"/>
            </a:endParaRPr>
          </a:p>
        </p:txBody>
      </p:sp>
      <p:sp>
        <p:nvSpPr>
          <p:cNvPr id="60421" name="Text Box 8"/>
          <p:cNvSpPr txBox="1">
            <a:spLocks noChangeArrowheads="1"/>
          </p:cNvSpPr>
          <p:nvPr/>
        </p:nvSpPr>
        <p:spPr bwMode="auto">
          <a:xfrm>
            <a:off x="4860925" y="6281739"/>
            <a:ext cx="1841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defRPr>
            </a:lvl9pPr>
          </a:lstStyle>
          <a:p>
            <a:pPr>
              <a:spcBef>
                <a:spcPct val="0"/>
              </a:spcBef>
              <a:buFontTx/>
              <a:buNone/>
            </a:pPr>
            <a:endParaRPr lang="pt-BR" altLang="pt-BR" sz="1200"/>
          </a:p>
        </p:txBody>
      </p:sp>
      <p:sp>
        <p:nvSpPr>
          <p:cNvPr id="60422" name="Text Box 9"/>
          <p:cNvSpPr txBox="1">
            <a:spLocks noChangeArrowheads="1"/>
          </p:cNvSpPr>
          <p:nvPr/>
        </p:nvSpPr>
        <p:spPr bwMode="auto">
          <a:xfrm>
            <a:off x="1431925" y="2513013"/>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defRPr>
            </a:lvl9pPr>
          </a:lstStyle>
          <a:p>
            <a:pPr eaLnBrk="1" hangingPunct="1">
              <a:spcBef>
                <a:spcPct val="0"/>
              </a:spcBef>
              <a:buFontTx/>
              <a:buNone/>
            </a:pPr>
            <a:endParaRPr lang="pt-BR" altLang="pt-BR" sz="1800"/>
          </a:p>
        </p:txBody>
      </p:sp>
      <p:sp>
        <p:nvSpPr>
          <p:cNvPr id="3" name="Rectangle 5"/>
          <p:cNvSpPr>
            <a:spLocks noChangeArrowheads="1"/>
          </p:cNvSpPr>
          <p:nvPr/>
        </p:nvSpPr>
        <p:spPr bwMode="auto">
          <a:xfrm>
            <a:off x="1701800" y="1858756"/>
            <a:ext cx="8280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defRPr>
            </a:lvl9pPr>
          </a:lstStyle>
          <a:p>
            <a:pPr>
              <a:spcBef>
                <a:spcPct val="0"/>
              </a:spcBef>
              <a:buFontTx/>
              <a:buNone/>
            </a:pPr>
            <a:endParaRPr lang="pt-BR" altLang="pt-BR">
              <a:solidFill>
                <a:schemeClr val="hlink"/>
              </a:solidFill>
              <a:latin typeface="Arial Black" panose="020B0A04020102020204" pitchFamily="34" charset="0"/>
            </a:endParaRPr>
          </a:p>
          <a:p>
            <a:pPr>
              <a:spcBef>
                <a:spcPct val="0"/>
              </a:spcBef>
              <a:buFontTx/>
              <a:buNone/>
            </a:pPr>
            <a:endParaRPr lang="pt-BR" altLang="pt-BR">
              <a:solidFill>
                <a:schemeClr val="hlink"/>
              </a:solidFill>
              <a:latin typeface="Arial Black" panose="020B0A04020102020204" pitchFamily="34" charset="0"/>
            </a:endParaRPr>
          </a:p>
          <a:p>
            <a:pPr>
              <a:spcBef>
                <a:spcPct val="0"/>
              </a:spcBef>
              <a:buFontTx/>
              <a:buNone/>
            </a:pPr>
            <a:endParaRPr lang="pt-BR" altLang="pt-BR" sz="3200">
              <a:solidFill>
                <a:schemeClr val="hlink"/>
              </a:solidFill>
              <a:latin typeface="Arial Black" panose="020B0A04020102020204" pitchFamily="34" charset="0"/>
            </a:endParaRPr>
          </a:p>
        </p:txBody>
      </p:sp>
      <p:sp>
        <p:nvSpPr>
          <p:cNvPr id="60426" name="Espaço Reservado para Número de Slide 4"/>
          <p:cNvSpPr>
            <a:spLocks noGrp="1"/>
          </p:cNvSpPr>
          <p:nvPr>
            <p:ph type="sldNum" sz="quarter" idx="429496729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defRPr>
            </a:lvl9pPr>
          </a:lstStyle>
          <a:p>
            <a:pPr>
              <a:spcBef>
                <a:spcPct val="0"/>
              </a:spcBef>
              <a:buFontTx/>
              <a:buNone/>
            </a:pPr>
            <a:fld id="{9EDC8498-B956-4E50-9633-E39A87ED7DFC}" type="slidenum">
              <a:rPr lang="pt-BR" altLang="pt-BR" sz="1200">
                <a:solidFill>
                  <a:srgbClr val="898989"/>
                </a:solidFill>
                <a:latin typeface="Calibri" panose="020F0502020204030204" pitchFamily="34" charset="0"/>
                <a:ea typeface="MS PGothic" panose="020B0600070205080204" pitchFamily="34" charset="-128"/>
              </a:rPr>
              <a:pPr>
                <a:spcBef>
                  <a:spcPct val="0"/>
                </a:spcBef>
                <a:buFontTx/>
                <a:buNone/>
              </a:pPr>
              <a:t>49</a:t>
            </a:fld>
            <a:endParaRPr lang="pt-BR" altLang="pt-BR" sz="1200">
              <a:solidFill>
                <a:srgbClr val="898989"/>
              </a:solidFill>
              <a:latin typeface="Calibri" panose="020F0502020204030204" pitchFamily="34" charset="0"/>
              <a:ea typeface="MS PGothic" panose="020B0600070205080204" pitchFamily="34" charset="-128"/>
            </a:endParaRPr>
          </a:p>
        </p:txBody>
      </p:sp>
      <p:sp>
        <p:nvSpPr>
          <p:cNvPr id="5" name="Retângulo 4"/>
          <p:cNvSpPr/>
          <p:nvPr/>
        </p:nvSpPr>
        <p:spPr>
          <a:xfrm>
            <a:off x="704850" y="2577894"/>
            <a:ext cx="11554691" cy="3000821"/>
          </a:xfrm>
          <a:prstGeom prst="rect">
            <a:avLst/>
          </a:prstGeom>
        </p:spPr>
        <p:txBody>
          <a:bodyPr wrap="square">
            <a:spAutoFit/>
          </a:bodyPr>
          <a:lstStyle/>
          <a:p>
            <a:pPr marL="285750" indent="-285750" eaLnBrk="0" fontAlgn="base" hangingPunct="0">
              <a:lnSpc>
                <a:spcPct val="150000"/>
              </a:lnSpc>
              <a:spcBef>
                <a:spcPct val="0"/>
              </a:spcBef>
              <a:spcAft>
                <a:spcPct val="0"/>
              </a:spcAft>
              <a:buFontTx/>
              <a:buChar char="-"/>
            </a:pPr>
            <a:r>
              <a:rPr lang="pt-BR" dirty="0" err="1">
                <a:solidFill>
                  <a:schemeClr val="accent6"/>
                </a:solidFill>
                <a:latin typeface="Lucida Sans Unicode" panose="020B0602030504020204" pitchFamily="34" charset="0"/>
                <a:cs typeface="Lucida Sans Unicode" panose="020B0602030504020204" pitchFamily="34" charset="0"/>
              </a:rPr>
              <a:t>Ballou</a:t>
            </a:r>
            <a:r>
              <a:rPr lang="pt-BR" dirty="0">
                <a:solidFill>
                  <a:schemeClr val="accent6"/>
                </a:solidFill>
                <a:latin typeface="Lucida Sans Unicode" panose="020B0602030504020204" pitchFamily="34" charset="0"/>
                <a:cs typeface="Lucida Sans Unicode" panose="020B0602030504020204" pitchFamily="34" charset="0"/>
              </a:rPr>
              <a:t>, Ronald H. </a:t>
            </a:r>
            <a:r>
              <a:rPr lang="pt-BR" b="1" dirty="0">
                <a:solidFill>
                  <a:schemeClr val="accent6"/>
                </a:solidFill>
                <a:latin typeface="Lucida Sans Unicode" panose="020B0602030504020204" pitchFamily="34" charset="0"/>
                <a:cs typeface="Lucida Sans Unicode" panose="020B0602030504020204" pitchFamily="34" charset="0"/>
              </a:rPr>
              <a:t>Gerenciamento da Cadeia de Suprimentos / Logística Empresarial</a:t>
            </a:r>
            <a:r>
              <a:rPr lang="pt-BR" dirty="0">
                <a:solidFill>
                  <a:schemeClr val="accent6"/>
                </a:solidFill>
                <a:latin typeface="Lucida Sans Unicode" panose="020B0602030504020204" pitchFamily="34" charset="0"/>
                <a:cs typeface="Lucida Sans Unicode" panose="020B0602030504020204" pitchFamily="34" charset="0"/>
              </a:rPr>
              <a:t>, 5ª ed., </a:t>
            </a:r>
            <a:r>
              <a:rPr lang="pt-BR" dirty="0" err="1">
                <a:solidFill>
                  <a:schemeClr val="accent6"/>
                </a:solidFill>
                <a:latin typeface="Lucida Sans Unicode" panose="020B0602030504020204" pitchFamily="34" charset="0"/>
                <a:cs typeface="Lucida Sans Unicode" panose="020B0602030504020204" pitchFamily="34" charset="0"/>
              </a:rPr>
              <a:t>Bookman</a:t>
            </a:r>
            <a:r>
              <a:rPr lang="pt-BR" dirty="0">
                <a:solidFill>
                  <a:schemeClr val="accent6"/>
                </a:solidFill>
                <a:latin typeface="Lucida Sans Unicode" panose="020B0602030504020204" pitchFamily="34" charset="0"/>
                <a:cs typeface="Lucida Sans Unicode" panose="020B0602030504020204" pitchFamily="34" charset="0"/>
              </a:rPr>
              <a:t>, 2006.</a:t>
            </a:r>
            <a:endParaRPr lang="pt-BR" altLang="pt-BR" dirty="0">
              <a:solidFill>
                <a:schemeClr val="accent6"/>
              </a:solidFill>
              <a:latin typeface="Lucida Sans Unicode" panose="020B0602030504020204" pitchFamily="34" charset="0"/>
              <a:cs typeface="Lucida Sans Unicode" panose="020B0602030504020204" pitchFamily="34" charset="0"/>
            </a:endParaRPr>
          </a:p>
          <a:p>
            <a:pPr marL="285750" lvl="0" indent="-285750" eaLnBrk="0" fontAlgn="base" hangingPunct="0">
              <a:lnSpc>
                <a:spcPct val="150000"/>
              </a:lnSpc>
              <a:spcBef>
                <a:spcPct val="0"/>
              </a:spcBef>
              <a:spcAft>
                <a:spcPct val="0"/>
              </a:spcAft>
              <a:buFontTx/>
              <a:buChar char="-"/>
            </a:pPr>
            <a:r>
              <a:rPr lang="pt-BR" altLang="pt-BR" dirty="0" err="1">
                <a:solidFill>
                  <a:schemeClr val="accent6"/>
                </a:solidFill>
                <a:latin typeface="Lucida Sans Unicode" panose="020B0602030504020204" pitchFamily="34" charset="0"/>
                <a:cs typeface="Lucida Sans Unicode" panose="020B0602030504020204" pitchFamily="34" charset="0"/>
              </a:rPr>
              <a:t>Ballou</a:t>
            </a:r>
            <a:r>
              <a:rPr lang="pt-BR" altLang="pt-BR" dirty="0">
                <a:solidFill>
                  <a:schemeClr val="accent6"/>
                </a:solidFill>
                <a:latin typeface="Lucida Sans Unicode" panose="020B0602030504020204" pitchFamily="34" charset="0"/>
                <a:cs typeface="Lucida Sans Unicode" panose="020B0602030504020204" pitchFamily="34" charset="0"/>
              </a:rPr>
              <a:t>, Ronald H. </a:t>
            </a:r>
            <a:r>
              <a:rPr lang="pt-BR" altLang="pt-BR" b="1" dirty="0">
                <a:solidFill>
                  <a:schemeClr val="accent6"/>
                </a:solidFill>
                <a:latin typeface="Lucida Sans Unicode" panose="020B0602030504020204" pitchFamily="34" charset="0"/>
                <a:cs typeface="Lucida Sans Unicode" panose="020B0602030504020204" pitchFamily="34" charset="0"/>
              </a:rPr>
              <a:t>Logística Empresarial</a:t>
            </a:r>
            <a:r>
              <a:rPr lang="pt-BR" altLang="pt-BR" dirty="0">
                <a:solidFill>
                  <a:schemeClr val="accent6"/>
                </a:solidFill>
                <a:latin typeface="Lucida Sans Unicode" panose="020B0602030504020204" pitchFamily="34" charset="0"/>
                <a:cs typeface="Lucida Sans Unicode" panose="020B0602030504020204" pitchFamily="34" charset="0"/>
              </a:rPr>
              <a:t>. Atlas, 2014</a:t>
            </a:r>
          </a:p>
          <a:p>
            <a:pPr marL="285750" indent="-285750" eaLnBrk="0" fontAlgn="base" hangingPunct="0">
              <a:lnSpc>
                <a:spcPct val="150000"/>
              </a:lnSpc>
              <a:spcBef>
                <a:spcPct val="0"/>
              </a:spcBef>
              <a:spcAft>
                <a:spcPct val="0"/>
              </a:spcAft>
              <a:buFontTx/>
              <a:buChar char="-"/>
            </a:pPr>
            <a:r>
              <a:rPr lang="pt-BR" altLang="pt-BR" dirty="0" err="1">
                <a:solidFill>
                  <a:schemeClr val="accent6"/>
                </a:solidFill>
                <a:latin typeface="Lucida Sans Unicode" panose="020B0602030504020204" pitchFamily="34" charset="0"/>
                <a:cs typeface="Lucida Sans Unicode" panose="020B0602030504020204" pitchFamily="34" charset="0"/>
              </a:rPr>
              <a:t>Caxito</a:t>
            </a:r>
            <a:r>
              <a:rPr lang="pt-BR" altLang="pt-BR" dirty="0">
                <a:solidFill>
                  <a:schemeClr val="accent6"/>
                </a:solidFill>
                <a:latin typeface="Lucida Sans Unicode" panose="020B0602030504020204" pitchFamily="34" charset="0"/>
                <a:cs typeface="Lucida Sans Unicode" panose="020B0602030504020204" pitchFamily="34" charset="0"/>
              </a:rPr>
              <a:t>, Fabiano. </a:t>
            </a:r>
            <a:r>
              <a:rPr lang="pt-BR" altLang="pt-BR" b="1" dirty="0">
                <a:solidFill>
                  <a:schemeClr val="accent6"/>
                </a:solidFill>
                <a:latin typeface="Lucida Sans Unicode" panose="020B0602030504020204" pitchFamily="34" charset="0"/>
                <a:cs typeface="Lucida Sans Unicode" panose="020B0602030504020204" pitchFamily="34" charset="0"/>
              </a:rPr>
              <a:t>Logística empresarial - Administração</a:t>
            </a:r>
            <a:r>
              <a:rPr lang="pt-BR" altLang="pt-BR" dirty="0">
                <a:solidFill>
                  <a:schemeClr val="accent6"/>
                </a:solidFill>
                <a:latin typeface="Lucida Sans Unicode" panose="020B0602030504020204" pitchFamily="34" charset="0"/>
                <a:cs typeface="Lucida Sans Unicode" panose="020B0602030504020204" pitchFamily="34" charset="0"/>
              </a:rPr>
              <a:t>. 2ª ed.; Saraiva, 2014.</a:t>
            </a:r>
          </a:p>
          <a:p>
            <a:pPr marL="285750" indent="-285750" eaLnBrk="0" fontAlgn="base" hangingPunct="0">
              <a:lnSpc>
                <a:spcPct val="150000"/>
              </a:lnSpc>
              <a:spcBef>
                <a:spcPct val="0"/>
              </a:spcBef>
              <a:spcAft>
                <a:spcPct val="0"/>
              </a:spcAft>
              <a:buFontTx/>
              <a:buChar char="-"/>
            </a:pPr>
            <a:r>
              <a:rPr lang="pt-BR" dirty="0">
                <a:solidFill>
                  <a:schemeClr val="accent6"/>
                </a:solidFill>
                <a:latin typeface="Lucida Sans Unicode" panose="020B0602030504020204" pitchFamily="34" charset="0"/>
                <a:cs typeface="Lucida Sans Unicode" panose="020B0602030504020204" pitchFamily="34" charset="0"/>
              </a:rPr>
              <a:t>Novaes, Antônio G. </a:t>
            </a:r>
            <a:r>
              <a:rPr lang="pt-BR" b="1" dirty="0">
                <a:solidFill>
                  <a:schemeClr val="accent6"/>
                </a:solidFill>
                <a:latin typeface="Lucida Sans Unicode" panose="020B0602030504020204" pitchFamily="34" charset="0"/>
                <a:cs typeface="Lucida Sans Unicode" panose="020B0602030504020204" pitchFamily="34" charset="0"/>
              </a:rPr>
              <a:t>Logística e Gerenciamento da Cadeia de Distribuição</a:t>
            </a:r>
            <a:r>
              <a:rPr lang="pt-BR" dirty="0">
                <a:solidFill>
                  <a:schemeClr val="accent6"/>
                </a:solidFill>
                <a:latin typeface="Lucida Sans Unicode" panose="020B0602030504020204" pitchFamily="34" charset="0"/>
                <a:cs typeface="Lucida Sans Unicode" panose="020B0602030504020204" pitchFamily="34" charset="0"/>
              </a:rPr>
              <a:t>. 2ª ed., Campus, 2004.</a:t>
            </a:r>
          </a:p>
          <a:p>
            <a:pPr marL="285750" indent="-285750" eaLnBrk="0" fontAlgn="base" hangingPunct="0">
              <a:lnSpc>
                <a:spcPct val="150000"/>
              </a:lnSpc>
              <a:spcBef>
                <a:spcPct val="0"/>
              </a:spcBef>
              <a:spcAft>
                <a:spcPct val="0"/>
              </a:spcAft>
              <a:buFontTx/>
              <a:buChar char="-"/>
            </a:pPr>
            <a:r>
              <a:rPr lang="pt-BR" dirty="0">
                <a:solidFill>
                  <a:schemeClr val="accent6"/>
                </a:solidFill>
                <a:latin typeface="Lucida Sans Unicode" panose="020B0602030504020204" pitchFamily="34" charset="0"/>
                <a:cs typeface="Lucida Sans Unicode" panose="020B0602030504020204" pitchFamily="34" charset="0"/>
              </a:rPr>
              <a:t>Saldanha, Orlando J. </a:t>
            </a:r>
            <a:r>
              <a:rPr lang="pt-BR" b="1" dirty="0">
                <a:solidFill>
                  <a:schemeClr val="accent6"/>
                </a:solidFill>
                <a:latin typeface="Lucida Sans Unicode" panose="020B0602030504020204" pitchFamily="34" charset="0"/>
                <a:cs typeface="Lucida Sans Unicode" panose="020B0602030504020204" pitchFamily="34" charset="0"/>
              </a:rPr>
              <a:t>Aulas</a:t>
            </a:r>
            <a:r>
              <a:rPr lang="pt-BR" dirty="0">
                <a:solidFill>
                  <a:schemeClr val="accent6"/>
                </a:solidFill>
                <a:latin typeface="Lucida Sans Unicode" panose="020B0602030504020204" pitchFamily="34" charset="0"/>
                <a:cs typeface="Lucida Sans Unicode" panose="020B0602030504020204" pitchFamily="34" charset="0"/>
              </a:rPr>
              <a:t>. 2017</a:t>
            </a:r>
          </a:p>
          <a:p>
            <a:pPr marL="285750" indent="-285750" eaLnBrk="0" fontAlgn="base" hangingPunct="0">
              <a:lnSpc>
                <a:spcPct val="150000"/>
              </a:lnSpc>
              <a:spcBef>
                <a:spcPct val="0"/>
              </a:spcBef>
              <a:spcAft>
                <a:spcPct val="0"/>
              </a:spcAft>
              <a:buFontTx/>
              <a:buChar char="-"/>
            </a:pPr>
            <a:r>
              <a:rPr lang="pt-BR" dirty="0">
                <a:solidFill>
                  <a:schemeClr val="accent6"/>
                </a:solidFill>
                <a:latin typeface="Lucida Sans Unicode" panose="020B0602030504020204" pitchFamily="34" charset="0"/>
                <a:cs typeface="Lucida Sans Unicode" panose="020B0602030504020204" pitchFamily="34" charset="0"/>
              </a:rPr>
              <a:t>Souza, Johnny R. </a:t>
            </a:r>
            <a:r>
              <a:rPr lang="pt-BR" b="1" dirty="0">
                <a:solidFill>
                  <a:schemeClr val="accent6"/>
                </a:solidFill>
                <a:latin typeface="Lucida Sans Unicode" panose="020B0602030504020204" pitchFamily="34" charset="0"/>
                <a:cs typeface="Lucida Sans Unicode" panose="020B0602030504020204" pitchFamily="34" charset="0"/>
              </a:rPr>
              <a:t>Aulas</a:t>
            </a:r>
            <a:r>
              <a:rPr lang="pt-BR" dirty="0">
                <a:solidFill>
                  <a:schemeClr val="accent6"/>
                </a:solidFill>
                <a:latin typeface="Lucida Sans Unicode" panose="020B0602030504020204" pitchFamily="34" charset="0"/>
                <a:cs typeface="Lucida Sans Unicode" panose="020B0602030504020204" pitchFamily="34" charset="0"/>
              </a:rPr>
              <a:t>. 2017</a:t>
            </a:r>
            <a:endParaRPr lang="pt-BR" altLang="pt-BR" dirty="0">
              <a:solidFill>
                <a:schemeClr val="accent6"/>
              </a:solidFill>
              <a:latin typeface="Lucida Sans Unicode" panose="020B0602030504020204" pitchFamily="34" charset="0"/>
              <a:cs typeface="Lucida Sans Unicode" panose="020B0602030504020204" pitchFamily="34" charset="0"/>
            </a:endParaRPr>
          </a:p>
        </p:txBody>
      </p:sp>
      <p:sp>
        <p:nvSpPr>
          <p:cNvPr id="14" name="CaixaDeTexto 13"/>
          <p:cNvSpPr txBox="1"/>
          <p:nvPr/>
        </p:nvSpPr>
        <p:spPr>
          <a:xfrm>
            <a:off x="704850" y="1815894"/>
            <a:ext cx="2257425" cy="400110"/>
          </a:xfrm>
          <a:prstGeom prst="rect">
            <a:avLst/>
          </a:prstGeom>
          <a:noFill/>
        </p:spPr>
        <p:txBody>
          <a:bodyPr wrap="square" rtlCol="0">
            <a:spAutoFit/>
          </a:bodyPr>
          <a:lstStyle/>
          <a:p>
            <a:r>
              <a:rPr lang="pt-BR" sz="2000" b="1" dirty="0">
                <a:solidFill>
                  <a:schemeClr val="accent6"/>
                </a:solidFill>
                <a:latin typeface="Lucida Sans Unicode" panose="020B0602030504020204" pitchFamily="34" charset="0"/>
                <a:cs typeface="Lucida Sans Unicode" panose="020B0602030504020204" pitchFamily="34" charset="0"/>
              </a:rPr>
              <a:t>REFERÊNCIAS</a:t>
            </a:r>
          </a:p>
        </p:txBody>
      </p:sp>
    </p:spTree>
    <p:extLst>
      <p:ext uri="{BB962C8B-B14F-4D97-AF65-F5344CB8AC3E}">
        <p14:creationId xmlns:p14="http://schemas.microsoft.com/office/powerpoint/2010/main" val="8927698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25989"/>
                                        </p:tgtEl>
                                        <p:attrNameLst>
                                          <p:attrName>style.visibility</p:attrName>
                                        </p:attrNameLst>
                                      </p:cBhvr>
                                      <p:to>
                                        <p:strVal val="visible"/>
                                      </p:to>
                                    </p:set>
                                    <p:anim calcmode="lin" valueType="num">
                                      <p:cBhvr additive="base">
                                        <p:cTn id="7" dur="500" fill="hold"/>
                                        <p:tgtEl>
                                          <p:spTgt spid="425989"/>
                                        </p:tgtEl>
                                        <p:attrNameLst>
                                          <p:attrName>ppt_x</p:attrName>
                                        </p:attrNameLst>
                                      </p:cBhvr>
                                      <p:tavLst>
                                        <p:tav tm="0">
                                          <p:val>
                                            <p:strVal val="0-#ppt_w/2"/>
                                          </p:val>
                                        </p:tav>
                                        <p:tav tm="100000">
                                          <p:val>
                                            <p:strVal val="#ppt_x"/>
                                          </p:val>
                                        </p:tav>
                                      </p:tavLst>
                                    </p:anim>
                                    <p:anim calcmode="lin" valueType="num">
                                      <p:cBhvr additive="base">
                                        <p:cTn id="8" dur="500" fill="hold"/>
                                        <p:tgtEl>
                                          <p:spTgt spid="42598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nodePh="1">
                                  <p:stCondLst>
                                    <p:cond delay="0"/>
                                  </p:stCondLst>
                                  <p:endCondLst>
                                    <p:cond evt="begin" delay="0">
                                      <p:tn val="11"/>
                                    </p:cond>
                                  </p:end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0-#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5989" grpId="0" autoUpdateAnimBg="0"/>
      <p:bldP spid="3" grpId="0"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6298" y="836484"/>
            <a:ext cx="8124092" cy="53591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ítulo 3"/>
          <p:cNvSpPr txBox="1">
            <a:spLocks/>
          </p:cNvSpPr>
          <p:nvPr/>
        </p:nvSpPr>
        <p:spPr>
          <a:xfrm>
            <a:off x="838200" y="231439"/>
            <a:ext cx="10515600" cy="44007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accent1">
                    <a:lumMod val="50000"/>
                  </a:schemeClr>
                </a:solidFill>
                <a:latin typeface="Helvetica" panose="020B0604020202020204" pitchFamily="34" charset="0"/>
                <a:ea typeface="+mj-ea"/>
                <a:cs typeface="Helvetica" panose="020B0604020202020204" pitchFamily="34" charset="0"/>
              </a:defRPr>
            </a:lvl1p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GESTÃO DA CADEIA DE SUPRIMENTOS</a:t>
            </a:r>
            <a:endParaRPr lang="pt-BR" sz="2400" b="1" i="1" dirty="0">
              <a:solidFill>
                <a:schemeClr val="accent6"/>
              </a:solidFill>
              <a:latin typeface="Lucida Sans Unicode" panose="020B0602030504020204" pitchFamily="34" charset="0"/>
              <a:cs typeface="Lucida Sans Unicode" panose="020B0602030504020204" pitchFamily="34" charset="0"/>
            </a:endParaRPr>
          </a:p>
        </p:txBody>
      </p:sp>
    </p:spTree>
    <p:extLst>
      <p:ext uri="{BB962C8B-B14F-4D97-AF65-F5344CB8AC3E}">
        <p14:creationId xmlns:p14="http://schemas.microsoft.com/office/powerpoint/2010/main" val="99866960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25989" name="Rectangle 5"/>
          <p:cNvSpPr>
            <a:spLocks noChangeArrowheads="1"/>
          </p:cNvSpPr>
          <p:nvPr/>
        </p:nvSpPr>
        <p:spPr bwMode="auto">
          <a:xfrm>
            <a:off x="1524000" y="1412875"/>
            <a:ext cx="8280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defRPr>
            </a:lvl9pPr>
          </a:lstStyle>
          <a:p>
            <a:pPr>
              <a:spcBef>
                <a:spcPct val="0"/>
              </a:spcBef>
              <a:buFontTx/>
              <a:buNone/>
            </a:pPr>
            <a:r>
              <a:rPr lang="pt-BR" altLang="pt-BR">
                <a:solidFill>
                  <a:schemeClr val="hlink"/>
                </a:solidFill>
                <a:latin typeface="Arial Black" panose="020B0A04020102020204" pitchFamily="34" charset="0"/>
              </a:rPr>
              <a:t> </a:t>
            </a:r>
            <a:endParaRPr lang="pt-BR" altLang="pt-BR" sz="3200">
              <a:solidFill>
                <a:schemeClr val="hlink"/>
              </a:solidFill>
              <a:latin typeface="Arial Black" panose="020B0A04020102020204" pitchFamily="34" charset="0"/>
            </a:endParaRPr>
          </a:p>
        </p:txBody>
      </p:sp>
      <p:sp>
        <p:nvSpPr>
          <p:cNvPr id="60421" name="Text Box 8"/>
          <p:cNvSpPr txBox="1">
            <a:spLocks noChangeArrowheads="1"/>
          </p:cNvSpPr>
          <p:nvPr/>
        </p:nvSpPr>
        <p:spPr bwMode="auto">
          <a:xfrm>
            <a:off x="4860925" y="6281739"/>
            <a:ext cx="1841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defRPr>
            </a:lvl9pPr>
          </a:lstStyle>
          <a:p>
            <a:pPr>
              <a:spcBef>
                <a:spcPct val="0"/>
              </a:spcBef>
              <a:buFontTx/>
              <a:buNone/>
            </a:pPr>
            <a:endParaRPr lang="pt-BR" altLang="pt-BR" sz="1200"/>
          </a:p>
        </p:txBody>
      </p:sp>
      <p:sp>
        <p:nvSpPr>
          <p:cNvPr id="60422" name="Text Box 9"/>
          <p:cNvSpPr txBox="1">
            <a:spLocks noChangeArrowheads="1"/>
          </p:cNvSpPr>
          <p:nvPr/>
        </p:nvSpPr>
        <p:spPr bwMode="auto">
          <a:xfrm>
            <a:off x="1431925" y="2513013"/>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defRPr>
            </a:lvl9pPr>
          </a:lstStyle>
          <a:p>
            <a:pPr eaLnBrk="1" hangingPunct="1">
              <a:spcBef>
                <a:spcPct val="0"/>
              </a:spcBef>
              <a:buFontTx/>
              <a:buNone/>
            </a:pPr>
            <a:endParaRPr lang="pt-BR" altLang="pt-BR" sz="1800"/>
          </a:p>
        </p:txBody>
      </p:sp>
      <p:sp>
        <p:nvSpPr>
          <p:cNvPr id="3" name="Rectangle 5"/>
          <p:cNvSpPr>
            <a:spLocks noChangeArrowheads="1"/>
          </p:cNvSpPr>
          <p:nvPr/>
        </p:nvSpPr>
        <p:spPr bwMode="auto">
          <a:xfrm>
            <a:off x="1701800" y="1858756"/>
            <a:ext cx="8280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5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5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5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500">
                <a:solidFill>
                  <a:schemeClr val="tx1"/>
                </a:solidFill>
                <a:latin typeface="Arial" panose="020B0604020202020204" pitchFamily="34" charset="0"/>
              </a:defRPr>
            </a:lvl9pPr>
          </a:lstStyle>
          <a:p>
            <a:pPr>
              <a:spcBef>
                <a:spcPct val="0"/>
              </a:spcBef>
              <a:buFontTx/>
              <a:buNone/>
            </a:pPr>
            <a:endParaRPr lang="pt-BR" altLang="pt-BR">
              <a:solidFill>
                <a:schemeClr val="hlink"/>
              </a:solidFill>
              <a:latin typeface="Arial Black" panose="020B0A04020102020204" pitchFamily="34" charset="0"/>
            </a:endParaRPr>
          </a:p>
          <a:p>
            <a:pPr>
              <a:spcBef>
                <a:spcPct val="0"/>
              </a:spcBef>
              <a:buFontTx/>
              <a:buNone/>
            </a:pPr>
            <a:endParaRPr lang="pt-BR" altLang="pt-BR">
              <a:solidFill>
                <a:schemeClr val="hlink"/>
              </a:solidFill>
              <a:latin typeface="Arial Black" panose="020B0A04020102020204" pitchFamily="34" charset="0"/>
            </a:endParaRPr>
          </a:p>
          <a:p>
            <a:pPr>
              <a:spcBef>
                <a:spcPct val="0"/>
              </a:spcBef>
              <a:buFontTx/>
              <a:buNone/>
            </a:pPr>
            <a:endParaRPr lang="pt-BR" altLang="pt-BR" sz="3200">
              <a:solidFill>
                <a:schemeClr val="hlink"/>
              </a:solidFill>
              <a:latin typeface="Arial Black" panose="020B0A04020102020204" pitchFamily="34" charset="0"/>
            </a:endParaRPr>
          </a:p>
        </p:txBody>
      </p:sp>
      <p:sp>
        <p:nvSpPr>
          <p:cNvPr id="9" name="Título 3"/>
          <p:cNvSpPr txBox="1">
            <a:spLocks/>
          </p:cNvSpPr>
          <p:nvPr/>
        </p:nvSpPr>
        <p:spPr>
          <a:xfrm>
            <a:off x="838200" y="231439"/>
            <a:ext cx="10515600" cy="44007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accent1">
                    <a:lumMod val="50000"/>
                  </a:schemeClr>
                </a:solidFill>
                <a:latin typeface="Helvetica" panose="020B0604020202020204" pitchFamily="34" charset="0"/>
                <a:ea typeface="+mj-ea"/>
                <a:cs typeface="Helvetica" panose="020B0604020202020204" pitchFamily="34" charset="0"/>
              </a:defRPr>
            </a:lvl1p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GESTÃO DA CADEIA DE SUPRIMENTOS</a:t>
            </a:r>
            <a:endParaRPr lang="pt-BR" sz="2400" b="1" i="1" dirty="0">
              <a:solidFill>
                <a:schemeClr val="accent6"/>
              </a:solidFill>
              <a:latin typeface="Lucida Sans Unicode" panose="020B0602030504020204" pitchFamily="34" charset="0"/>
              <a:cs typeface="Lucida Sans Unicode" panose="020B0602030504020204" pitchFamily="34" charset="0"/>
            </a:endParaRPr>
          </a:p>
        </p:txBody>
      </p:sp>
      <p:sp>
        <p:nvSpPr>
          <p:cNvPr id="10" name="Título 3"/>
          <p:cNvSpPr txBox="1">
            <a:spLocks/>
          </p:cNvSpPr>
          <p:nvPr/>
        </p:nvSpPr>
        <p:spPr>
          <a:xfrm>
            <a:off x="838200" y="1448365"/>
            <a:ext cx="10515600" cy="44007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accent1">
                    <a:lumMod val="50000"/>
                  </a:schemeClr>
                </a:solidFill>
                <a:latin typeface="Helvetica" panose="020B0604020202020204" pitchFamily="34" charset="0"/>
                <a:ea typeface="+mj-ea"/>
                <a:cs typeface="Helvetica" panose="020B0604020202020204" pitchFamily="34" charset="0"/>
              </a:defRPr>
            </a:lvl1pPr>
          </a:lstStyle>
          <a:p>
            <a:pPr algn="ctr"/>
            <a:r>
              <a:rPr lang="pt-BR" sz="2400" b="1" dirty="0">
                <a:solidFill>
                  <a:srgbClr val="FF0000"/>
                </a:solidFill>
                <a:latin typeface="Lucida Sans Unicode" panose="020B0602030504020204" pitchFamily="34" charset="0"/>
                <a:cs typeface="Lucida Sans Unicode" panose="020B0602030504020204" pitchFamily="34" charset="0"/>
              </a:rPr>
              <a:t>ATIVIDADE</a:t>
            </a:r>
            <a:endParaRPr lang="pt-BR" sz="2400" b="1" i="1" dirty="0">
              <a:solidFill>
                <a:srgbClr val="FF0000"/>
              </a:solidFill>
              <a:latin typeface="Lucida Sans Unicode" panose="020B0602030504020204" pitchFamily="34" charset="0"/>
              <a:cs typeface="Lucida Sans Unicode" panose="020B0602030504020204" pitchFamily="34" charset="0"/>
            </a:endParaRPr>
          </a:p>
        </p:txBody>
      </p:sp>
      <p:sp>
        <p:nvSpPr>
          <p:cNvPr id="12" name="Espaço Reservado para Conteúdo 5"/>
          <p:cNvSpPr txBox="1">
            <a:spLocks/>
          </p:cNvSpPr>
          <p:nvPr/>
        </p:nvSpPr>
        <p:spPr>
          <a:xfrm>
            <a:off x="2477068" y="2879725"/>
            <a:ext cx="8229600" cy="272802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1">
                    <a:lumMod val="50000"/>
                  </a:schemeClr>
                </a:solidFill>
                <a:latin typeface="Helvetica" panose="020B0604020202020204" pitchFamily="34" charset="0"/>
                <a:ea typeface="+mn-ea"/>
                <a:cs typeface="Helvetica"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Helvetica" panose="020B0604020202020204" pitchFamily="34" charset="0"/>
                <a:ea typeface="+mn-ea"/>
                <a:cs typeface="Helvetica"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1">
                    <a:lumMod val="50000"/>
                  </a:schemeClr>
                </a:solidFill>
                <a:latin typeface="Helvetica" panose="020B0604020202020204" pitchFamily="34" charset="0"/>
                <a:ea typeface="+mn-ea"/>
                <a:cs typeface="Helvetica"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Helvetica" panose="020B0604020202020204" pitchFamily="34" charset="0"/>
                <a:ea typeface="+mn-ea"/>
                <a:cs typeface="Helvetica"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Helvetica" panose="020B0604020202020204" pitchFamily="34" charset="0"/>
                <a:ea typeface="+mn-ea"/>
                <a:cs typeface="Helvetica"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altLang="pt-BR" sz="2000" b="1" dirty="0">
                <a:solidFill>
                  <a:schemeClr val="accent6"/>
                </a:solidFill>
                <a:latin typeface="Lucida Sans Unicode" panose="020B0602030504020204" pitchFamily="34" charset="0"/>
                <a:cs typeface="Lucida Sans Unicode" panose="020B0602030504020204" pitchFamily="34" charset="0"/>
              </a:rPr>
              <a:t>EM GRUPOS (5 PESSOAS);</a:t>
            </a:r>
          </a:p>
          <a:p>
            <a:r>
              <a:rPr lang="pt-BR" altLang="pt-BR" sz="2000" b="1" dirty="0">
                <a:solidFill>
                  <a:schemeClr val="accent6"/>
                </a:solidFill>
                <a:latin typeface="Lucida Sans Unicode" panose="020B0602030504020204" pitchFamily="34" charset="0"/>
                <a:cs typeface="Lucida Sans Unicode" panose="020B0602030504020204" pitchFamily="34" charset="0"/>
              </a:rPr>
              <a:t>ESTRUTURAR UMA CADEIA LOGÍSTICA, DESDE A ORIGEM ATÉ O CONSUMIDOR FINAL;</a:t>
            </a:r>
          </a:p>
          <a:p>
            <a:r>
              <a:rPr lang="pt-BR" altLang="pt-BR" sz="2000" b="1" dirty="0">
                <a:solidFill>
                  <a:schemeClr val="accent6"/>
                </a:solidFill>
                <a:latin typeface="Lucida Sans Unicode" panose="020B0602030504020204" pitchFamily="34" charset="0"/>
                <a:cs typeface="Lucida Sans Unicode" panose="020B0602030504020204" pitchFamily="34" charset="0"/>
              </a:rPr>
              <a:t>APRESENTAÇÃO EM </a:t>
            </a:r>
            <a:r>
              <a:rPr lang="pt-BR" altLang="pt-BR" sz="2000" b="1" i="1" dirty="0">
                <a:solidFill>
                  <a:schemeClr val="accent6"/>
                </a:solidFill>
                <a:latin typeface="Lucida Sans Unicode" panose="020B0602030504020204" pitchFamily="34" charset="0"/>
                <a:cs typeface="Lucida Sans Unicode" panose="020B0602030504020204" pitchFamily="34" charset="0"/>
              </a:rPr>
              <a:t>POWER POINT </a:t>
            </a:r>
            <a:r>
              <a:rPr lang="pt-BR" altLang="pt-BR" sz="2000" b="1" dirty="0">
                <a:solidFill>
                  <a:schemeClr val="accent6"/>
                </a:solidFill>
                <a:latin typeface="Lucida Sans Unicode" panose="020B0602030504020204" pitchFamily="34" charset="0"/>
                <a:cs typeface="Lucida Sans Unicode" panose="020B0602030504020204" pitchFamily="34" charset="0"/>
              </a:rPr>
              <a:t>;</a:t>
            </a:r>
          </a:p>
          <a:p>
            <a:pPr marL="0" indent="0">
              <a:buNone/>
            </a:pPr>
            <a:endParaRPr lang="pt-BR" altLang="pt-BR" sz="2000" b="1" dirty="0">
              <a:solidFill>
                <a:schemeClr val="accent6"/>
              </a:solidFill>
              <a:latin typeface="Lucida Sans Unicode" panose="020B0602030504020204" pitchFamily="34" charset="0"/>
              <a:cs typeface="Lucida Sans Unicode" panose="020B0602030504020204" pitchFamily="34" charset="0"/>
            </a:endParaRPr>
          </a:p>
          <a:p>
            <a:r>
              <a:rPr lang="pt-BR" altLang="pt-BR" sz="2000" b="1" dirty="0">
                <a:solidFill>
                  <a:schemeClr val="accent6"/>
                </a:solidFill>
                <a:latin typeface="Lucida Sans Unicode" panose="020B0602030504020204" pitchFamily="34" charset="0"/>
                <a:cs typeface="Lucida Sans Unicode" panose="020B0602030504020204" pitchFamily="34" charset="0"/>
              </a:rPr>
              <a:t>DICAS IMPORTANTES QUANTO À APRESENTAÇÃO. </a:t>
            </a:r>
          </a:p>
        </p:txBody>
      </p:sp>
    </p:spTree>
    <p:extLst>
      <p:ext uri="{BB962C8B-B14F-4D97-AF65-F5344CB8AC3E}">
        <p14:creationId xmlns:p14="http://schemas.microsoft.com/office/powerpoint/2010/main" val="386334443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25989"/>
                                        </p:tgtEl>
                                        <p:attrNameLst>
                                          <p:attrName>style.visibility</p:attrName>
                                        </p:attrNameLst>
                                      </p:cBhvr>
                                      <p:to>
                                        <p:strVal val="visible"/>
                                      </p:to>
                                    </p:set>
                                    <p:anim calcmode="lin" valueType="num">
                                      <p:cBhvr additive="base">
                                        <p:cTn id="7" dur="500" fill="hold"/>
                                        <p:tgtEl>
                                          <p:spTgt spid="425989"/>
                                        </p:tgtEl>
                                        <p:attrNameLst>
                                          <p:attrName>ppt_x</p:attrName>
                                        </p:attrNameLst>
                                      </p:cBhvr>
                                      <p:tavLst>
                                        <p:tav tm="0">
                                          <p:val>
                                            <p:strVal val="0-#ppt_w/2"/>
                                          </p:val>
                                        </p:tav>
                                        <p:tav tm="100000">
                                          <p:val>
                                            <p:strVal val="#ppt_x"/>
                                          </p:val>
                                        </p:tav>
                                      </p:tavLst>
                                    </p:anim>
                                    <p:anim calcmode="lin" valueType="num">
                                      <p:cBhvr additive="base">
                                        <p:cTn id="8" dur="500" fill="hold"/>
                                        <p:tgtEl>
                                          <p:spTgt spid="42598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nodePh="1">
                                  <p:stCondLst>
                                    <p:cond delay="0"/>
                                  </p:stCondLst>
                                  <p:endCondLst>
                                    <p:cond evt="begin" delay="0">
                                      <p:tn val="11"/>
                                    </p:cond>
                                  </p:end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0-#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1000"/>
                                        <p:tgtEl>
                                          <p:spTgt spid="10"/>
                                        </p:tgtEl>
                                      </p:cBhvr>
                                    </p:animEffect>
                                    <p:anim calcmode="lin" valueType="num">
                                      <p:cBhvr>
                                        <p:cTn id="20" dur="1000" fill="hold"/>
                                        <p:tgtEl>
                                          <p:spTgt spid="10"/>
                                        </p:tgtEl>
                                        <p:attrNameLst>
                                          <p:attrName>ppt_x</p:attrName>
                                        </p:attrNameLst>
                                      </p:cBhvr>
                                      <p:tavLst>
                                        <p:tav tm="0">
                                          <p:val>
                                            <p:strVal val="#ppt_x"/>
                                          </p:val>
                                        </p:tav>
                                        <p:tav tm="100000">
                                          <p:val>
                                            <p:strVal val="#ppt_x"/>
                                          </p:val>
                                        </p:tav>
                                      </p:tavLst>
                                    </p:anim>
                                    <p:anim calcmode="lin" valueType="num">
                                      <p:cBhvr>
                                        <p:cTn id="2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5989" grpId="0" autoUpdateAnimBg="0"/>
      <p:bldP spid="3" grpId="0" autoUpdateAnimBg="0"/>
      <p:bldP spid="10" grpId="0"/>
    </p:bldLst>
  </p:timing>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2" name="CaixaDeTexto 11"/>
          <p:cNvSpPr txBox="1">
            <a:spLocks noChangeArrowheads="1"/>
          </p:cNvSpPr>
          <p:nvPr/>
        </p:nvSpPr>
        <p:spPr bwMode="auto">
          <a:xfrm>
            <a:off x="7912101" y="4089447"/>
            <a:ext cx="18224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fontAlgn="base">
              <a:spcBef>
                <a:spcPct val="20000"/>
              </a:spcBef>
              <a:spcAft>
                <a:spcPct val="0"/>
              </a:spcAft>
              <a:buChar char="»"/>
              <a:defRPr sz="1500">
                <a:solidFill>
                  <a:schemeClr val="tx1"/>
                </a:solidFill>
                <a:latin typeface="Arial" panose="020B0604020202020204" pitchFamily="34" charset="0"/>
              </a:defRPr>
            </a:lvl6pPr>
            <a:lvl7pPr marL="2971800" indent="-228600" fontAlgn="base">
              <a:spcBef>
                <a:spcPct val="20000"/>
              </a:spcBef>
              <a:spcAft>
                <a:spcPct val="0"/>
              </a:spcAft>
              <a:buChar char="»"/>
              <a:defRPr sz="1500">
                <a:solidFill>
                  <a:schemeClr val="tx1"/>
                </a:solidFill>
                <a:latin typeface="Arial" panose="020B0604020202020204" pitchFamily="34" charset="0"/>
              </a:defRPr>
            </a:lvl7pPr>
            <a:lvl8pPr marL="3429000" indent="-228600" fontAlgn="base">
              <a:spcBef>
                <a:spcPct val="20000"/>
              </a:spcBef>
              <a:spcAft>
                <a:spcPct val="0"/>
              </a:spcAft>
              <a:buChar char="»"/>
              <a:defRPr sz="1500">
                <a:solidFill>
                  <a:schemeClr val="tx1"/>
                </a:solidFill>
                <a:latin typeface="Arial" panose="020B0604020202020204" pitchFamily="34" charset="0"/>
              </a:defRPr>
            </a:lvl8pPr>
            <a:lvl9pPr marL="3886200" indent="-228600" fontAlgn="base">
              <a:spcBef>
                <a:spcPct val="20000"/>
              </a:spcBef>
              <a:spcAft>
                <a:spcPct val="0"/>
              </a:spcAft>
              <a:buChar char="»"/>
              <a:defRPr sz="1500">
                <a:solidFill>
                  <a:schemeClr val="tx1"/>
                </a:solidFill>
                <a:latin typeface="Arial" panose="020B0604020202020204" pitchFamily="34" charset="0"/>
              </a:defRPr>
            </a:lvl9pPr>
          </a:lstStyle>
          <a:p>
            <a:pPr algn="ctr">
              <a:spcBef>
                <a:spcPct val="0"/>
              </a:spcBef>
              <a:buFontTx/>
              <a:buNone/>
            </a:pPr>
            <a:r>
              <a:rPr lang="pt-BR" altLang="pt-BR" sz="1800" dirty="0"/>
              <a:t>LIGA DE BÁRIO</a:t>
            </a:r>
          </a:p>
        </p:txBody>
      </p:sp>
      <p:sp>
        <p:nvSpPr>
          <p:cNvPr id="15363" name="CaixaDeTexto 11"/>
          <p:cNvSpPr txBox="1">
            <a:spLocks noChangeArrowheads="1"/>
          </p:cNvSpPr>
          <p:nvPr/>
        </p:nvSpPr>
        <p:spPr bwMode="auto">
          <a:xfrm>
            <a:off x="2966244" y="4475848"/>
            <a:ext cx="18224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fontAlgn="base">
              <a:spcBef>
                <a:spcPct val="20000"/>
              </a:spcBef>
              <a:spcAft>
                <a:spcPct val="0"/>
              </a:spcAft>
              <a:buChar char="»"/>
              <a:defRPr sz="1500">
                <a:solidFill>
                  <a:schemeClr val="tx1"/>
                </a:solidFill>
                <a:latin typeface="Arial" panose="020B0604020202020204" pitchFamily="34" charset="0"/>
              </a:defRPr>
            </a:lvl6pPr>
            <a:lvl7pPr marL="2971800" indent="-228600" fontAlgn="base">
              <a:spcBef>
                <a:spcPct val="20000"/>
              </a:spcBef>
              <a:spcAft>
                <a:spcPct val="0"/>
              </a:spcAft>
              <a:buChar char="»"/>
              <a:defRPr sz="1500">
                <a:solidFill>
                  <a:schemeClr val="tx1"/>
                </a:solidFill>
                <a:latin typeface="Arial" panose="020B0604020202020204" pitchFamily="34" charset="0"/>
              </a:defRPr>
            </a:lvl7pPr>
            <a:lvl8pPr marL="3429000" indent="-228600" fontAlgn="base">
              <a:spcBef>
                <a:spcPct val="20000"/>
              </a:spcBef>
              <a:spcAft>
                <a:spcPct val="0"/>
              </a:spcAft>
              <a:buChar char="»"/>
              <a:defRPr sz="1500">
                <a:solidFill>
                  <a:schemeClr val="tx1"/>
                </a:solidFill>
                <a:latin typeface="Arial" panose="020B0604020202020204" pitchFamily="34" charset="0"/>
              </a:defRPr>
            </a:lvl8pPr>
            <a:lvl9pPr marL="3886200" indent="-228600" fontAlgn="base">
              <a:spcBef>
                <a:spcPct val="20000"/>
              </a:spcBef>
              <a:spcAft>
                <a:spcPct val="0"/>
              </a:spcAft>
              <a:buChar char="»"/>
              <a:defRPr sz="1500">
                <a:solidFill>
                  <a:schemeClr val="tx1"/>
                </a:solidFill>
                <a:latin typeface="Arial" panose="020B0604020202020204" pitchFamily="34" charset="0"/>
              </a:defRPr>
            </a:lvl9pPr>
          </a:lstStyle>
          <a:p>
            <a:pPr>
              <a:spcBef>
                <a:spcPct val="0"/>
              </a:spcBef>
              <a:buFontTx/>
              <a:buNone/>
            </a:pPr>
            <a:r>
              <a:rPr lang="pt-BR" altLang="pt-BR" sz="1800" dirty="0"/>
              <a:t>COBRE</a:t>
            </a:r>
          </a:p>
        </p:txBody>
      </p:sp>
      <p:sp>
        <p:nvSpPr>
          <p:cNvPr id="15364" name="CaixaDeTexto 12"/>
          <p:cNvSpPr txBox="1">
            <a:spLocks noChangeArrowheads="1"/>
          </p:cNvSpPr>
          <p:nvPr/>
        </p:nvSpPr>
        <p:spPr bwMode="auto">
          <a:xfrm>
            <a:off x="5505235" y="2874963"/>
            <a:ext cx="15113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fontAlgn="base">
              <a:spcBef>
                <a:spcPct val="20000"/>
              </a:spcBef>
              <a:spcAft>
                <a:spcPct val="0"/>
              </a:spcAft>
              <a:buChar char="»"/>
              <a:defRPr sz="1500">
                <a:solidFill>
                  <a:schemeClr val="tx1"/>
                </a:solidFill>
                <a:latin typeface="Arial" panose="020B0604020202020204" pitchFamily="34" charset="0"/>
              </a:defRPr>
            </a:lvl6pPr>
            <a:lvl7pPr marL="2971800" indent="-228600" fontAlgn="base">
              <a:spcBef>
                <a:spcPct val="20000"/>
              </a:spcBef>
              <a:spcAft>
                <a:spcPct val="0"/>
              </a:spcAft>
              <a:buChar char="»"/>
              <a:defRPr sz="1500">
                <a:solidFill>
                  <a:schemeClr val="tx1"/>
                </a:solidFill>
                <a:latin typeface="Arial" panose="020B0604020202020204" pitchFamily="34" charset="0"/>
              </a:defRPr>
            </a:lvl7pPr>
            <a:lvl8pPr marL="3429000" indent="-228600" fontAlgn="base">
              <a:spcBef>
                <a:spcPct val="20000"/>
              </a:spcBef>
              <a:spcAft>
                <a:spcPct val="0"/>
              </a:spcAft>
              <a:buChar char="»"/>
              <a:defRPr sz="1500">
                <a:solidFill>
                  <a:schemeClr val="tx1"/>
                </a:solidFill>
                <a:latin typeface="Arial" panose="020B0604020202020204" pitchFamily="34" charset="0"/>
              </a:defRPr>
            </a:lvl8pPr>
            <a:lvl9pPr marL="3886200" indent="-228600" fontAlgn="base">
              <a:spcBef>
                <a:spcPct val="20000"/>
              </a:spcBef>
              <a:spcAft>
                <a:spcPct val="0"/>
              </a:spcAft>
              <a:buChar char="»"/>
              <a:defRPr sz="1500">
                <a:solidFill>
                  <a:schemeClr val="tx1"/>
                </a:solidFill>
                <a:latin typeface="Arial" panose="020B0604020202020204" pitchFamily="34" charset="0"/>
              </a:defRPr>
            </a:lvl9pPr>
          </a:lstStyle>
          <a:p>
            <a:pPr algn="ctr">
              <a:spcBef>
                <a:spcPct val="0"/>
              </a:spcBef>
              <a:buFontTx/>
              <a:buNone/>
            </a:pPr>
            <a:r>
              <a:rPr lang="pt-BR" altLang="pt-BR" sz="1800" dirty="0"/>
              <a:t>CHUMBO</a:t>
            </a:r>
          </a:p>
        </p:txBody>
      </p:sp>
      <p:sp>
        <p:nvSpPr>
          <p:cNvPr id="15365" name="CaixaDeTexto 5"/>
          <p:cNvSpPr txBox="1">
            <a:spLocks noChangeArrowheads="1"/>
          </p:cNvSpPr>
          <p:nvPr/>
        </p:nvSpPr>
        <p:spPr bwMode="auto">
          <a:xfrm>
            <a:off x="2063750" y="2332039"/>
            <a:ext cx="15113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fontAlgn="base">
              <a:spcBef>
                <a:spcPct val="20000"/>
              </a:spcBef>
              <a:spcAft>
                <a:spcPct val="0"/>
              </a:spcAft>
              <a:buChar char="»"/>
              <a:defRPr sz="1500">
                <a:solidFill>
                  <a:schemeClr val="tx1"/>
                </a:solidFill>
                <a:latin typeface="Arial" panose="020B0604020202020204" pitchFamily="34" charset="0"/>
              </a:defRPr>
            </a:lvl6pPr>
            <a:lvl7pPr marL="2971800" indent="-228600" fontAlgn="base">
              <a:spcBef>
                <a:spcPct val="20000"/>
              </a:spcBef>
              <a:spcAft>
                <a:spcPct val="0"/>
              </a:spcAft>
              <a:buChar char="»"/>
              <a:defRPr sz="1500">
                <a:solidFill>
                  <a:schemeClr val="tx1"/>
                </a:solidFill>
                <a:latin typeface="Arial" panose="020B0604020202020204" pitchFamily="34" charset="0"/>
              </a:defRPr>
            </a:lvl7pPr>
            <a:lvl8pPr marL="3429000" indent="-228600" fontAlgn="base">
              <a:spcBef>
                <a:spcPct val="20000"/>
              </a:spcBef>
              <a:spcAft>
                <a:spcPct val="0"/>
              </a:spcAft>
              <a:buChar char="»"/>
              <a:defRPr sz="1500">
                <a:solidFill>
                  <a:schemeClr val="tx1"/>
                </a:solidFill>
                <a:latin typeface="Arial" panose="020B0604020202020204" pitchFamily="34" charset="0"/>
              </a:defRPr>
            </a:lvl8pPr>
            <a:lvl9pPr marL="3886200" indent="-228600" fontAlgn="base">
              <a:spcBef>
                <a:spcPct val="20000"/>
              </a:spcBef>
              <a:spcAft>
                <a:spcPct val="0"/>
              </a:spcAft>
              <a:buChar char="»"/>
              <a:defRPr sz="1500">
                <a:solidFill>
                  <a:schemeClr val="tx1"/>
                </a:solidFill>
                <a:latin typeface="Arial" panose="020B0604020202020204" pitchFamily="34" charset="0"/>
              </a:defRPr>
            </a:lvl9pPr>
          </a:lstStyle>
          <a:p>
            <a:pPr>
              <a:spcBef>
                <a:spcPct val="0"/>
              </a:spcBef>
              <a:buFontTx/>
              <a:buNone/>
            </a:pPr>
            <a:r>
              <a:rPr lang="pt-BR" altLang="pt-BR" sz="1800"/>
              <a:t>ARGILA</a:t>
            </a:r>
          </a:p>
        </p:txBody>
      </p:sp>
      <p:sp>
        <p:nvSpPr>
          <p:cNvPr id="5" name="Elipse 4"/>
          <p:cNvSpPr/>
          <p:nvPr/>
        </p:nvSpPr>
        <p:spPr bwMode="auto">
          <a:xfrm>
            <a:off x="1861343" y="2026337"/>
            <a:ext cx="1577893" cy="1481138"/>
          </a:xfrm>
          <a:prstGeom prst="ellipse">
            <a:avLst/>
          </a:prstGeom>
          <a:ln>
            <a:headEnd type="none" w="med" len="med"/>
            <a:tailEnd type="none" w="med" len="med"/>
          </a:ln>
        </p:spPr>
        <p:style>
          <a:lnRef idx="2">
            <a:schemeClr val="accent6">
              <a:shade val="50000"/>
            </a:schemeClr>
          </a:lnRef>
          <a:fillRef idx="1">
            <a:schemeClr val="accent6"/>
          </a:fillRef>
          <a:effectRef idx="0">
            <a:schemeClr val="accent6"/>
          </a:effectRef>
          <a:fontRef idx="minor">
            <a:schemeClr val="lt1"/>
          </a:fontRef>
        </p:style>
        <p:txBody>
          <a:bodyPr wrap="none" anchor="t"/>
          <a:lstStyle/>
          <a:p>
            <a:pPr algn="ctr" eaLnBrk="1" hangingPunct="1">
              <a:defRPr/>
            </a:pPr>
            <a:r>
              <a:rPr lang="pt-BR" sz="5400" b="1" dirty="0">
                <a:solidFill>
                  <a:schemeClr val="bg1"/>
                </a:solidFill>
              </a:rPr>
              <a:t>1</a:t>
            </a:r>
          </a:p>
          <a:p>
            <a:pPr algn="ctr" eaLnBrk="1" hangingPunct="1">
              <a:defRPr/>
            </a:pPr>
            <a:endParaRPr lang="pt-BR" sz="1600" b="1" dirty="0">
              <a:solidFill>
                <a:schemeClr val="bg1"/>
              </a:solidFill>
            </a:endParaRPr>
          </a:p>
        </p:txBody>
      </p:sp>
      <p:sp>
        <p:nvSpPr>
          <p:cNvPr id="8" name="Elipse 7"/>
          <p:cNvSpPr/>
          <p:nvPr/>
        </p:nvSpPr>
        <p:spPr bwMode="auto">
          <a:xfrm>
            <a:off x="5396492" y="2190717"/>
            <a:ext cx="1653930" cy="1613621"/>
          </a:xfrm>
          <a:prstGeom prst="ellipse">
            <a:avLst/>
          </a:prstGeom>
          <a:ln>
            <a:headEnd type="none" w="med" len="med"/>
            <a:tailEnd type="none" w="med" len="med"/>
          </a:ln>
        </p:spPr>
        <p:style>
          <a:lnRef idx="2">
            <a:schemeClr val="accent6">
              <a:shade val="50000"/>
            </a:schemeClr>
          </a:lnRef>
          <a:fillRef idx="1">
            <a:schemeClr val="accent6"/>
          </a:fillRef>
          <a:effectRef idx="0">
            <a:schemeClr val="accent6"/>
          </a:effectRef>
          <a:fontRef idx="minor">
            <a:schemeClr val="lt1"/>
          </a:fontRef>
        </p:style>
        <p:txBody>
          <a:bodyPr wrap="none" anchor="t"/>
          <a:lstStyle/>
          <a:p>
            <a:pPr algn="ctr" eaLnBrk="1" hangingPunct="1">
              <a:defRPr/>
            </a:pPr>
            <a:r>
              <a:rPr lang="pt-BR" sz="5400" b="1" dirty="0">
                <a:solidFill>
                  <a:schemeClr val="bg1"/>
                </a:solidFill>
              </a:rPr>
              <a:t>2</a:t>
            </a:r>
          </a:p>
          <a:p>
            <a:pPr algn="ctr" eaLnBrk="1" hangingPunct="1">
              <a:defRPr/>
            </a:pPr>
            <a:endParaRPr lang="pt-BR" sz="1600" b="1" dirty="0">
              <a:solidFill>
                <a:schemeClr val="bg1"/>
              </a:solidFill>
            </a:endParaRPr>
          </a:p>
        </p:txBody>
      </p:sp>
      <p:sp>
        <p:nvSpPr>
          <p:cNvPr id="9" name="Elipse 8"/>
          <p:cNvSpPr/>
          <p:nvPr/>
        </p:nvSpPr>
        <p:spPr bwMode="auto">
          <a:xfrm>
            <a:off x="2747170" y="3975490"/>
            <a:ext cx="1647409" cy="1524557"/>
          </a:xfrm>
          <a:prstGeom prst="ellipse">
            <a:avLst/>
          </a:prstGeom>
          <a:ln>
            <a:headEnd type="none" w="med" len="med"/>
            <a:tailEnd type="none" w="med" len="med"/>
          </a:ln>
        </p:spPr>
        <p:style>
          <a:lnRef idx="2">
            <a:schemeClr val="accent6">
              <a:shade val="50000"/>
            </a:schemeClr>
          </a:lnRef>
          <a:fillRef idx="1">
            <a:schemeClr val="accent6"/>
          </a:fillRef>
          <a:effectRef idx="0">
            <a:schemeClr val="accent6"/>
          </a:effectRef>
          <a:fontRef idx="minor">
            <a:schemeClr val="lt1"/>
          </a:fontRef>
        </p:style>
        <p:txBody>
          <a:bodyPr wrap="none" anchor="t"/>
          <a:lstStyle/>
          <a:p>
            <a:pPr algn="ctr" eaLnBrk="1" hangingPunct="1">
              <a:defRPr/>
            </a:pPr>
            <a:r>
              <a:rPr lang="pt-BR" sz="5400" b="1" dirty="0">
                <a:solidFill>
                  <a:schemeClr val="bg1"/>
                </a:solidFill>
              </a:rPr>
              <a:t>3</a:t>
            </a:r>
          </a:p>
          <a:p>
            <a:pPr algn="ctr" eaLnBrk="1" hangingPunct="1">
              <a:defRPr/>
            </a:pPr>
            <a:endParaRPr lang="pt-BR" sz="1600" b="1" dirty="0">
              <a:solidFill>
                <a:schemeClr val="bg1"/>
              </a:solidFill>
            </a:endParaRPr>
          </a:p>
        </p:txBody>
      </p:sp>
      <p:sp>
        <p:nvSpPr>
          <p:cNvPr id="15371" name="CaixaDeTexto 11"/>
          <p:cNvSpPr txBox="1">
            <a:spLocks noChangeArrowheads="1"/>
          </p:cNvSpPr>
          <p:nvPr/>
        </p:nvSpPr>
        <p:spPr bwMode="auto">
          <a:xfrm>
            <a:off x="7970840" y="2231304"/>
            <a:ext cx="18224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fontAlgn="base">
              <a:spcBef>
                <a:spcPct val="20000"/>
              </a:spcBef>
              <a:spcAft>
                <a:spcPct val="0"/>
              </a:spcAft>
              <a:buChar char="»"/>
              <a:defRPr sz="1500">
                <a:solidFill>
                  <a:schemeClr val="tx1"/>
                </a:solidFill>
                <a:latin typeface="Arial" panose="020B0604020202020204" pitchFamily="34" charset="0"/>
              </a:defRPr>
            </a:lvl6pPr>
            <a:lvl7pPr marL="2971800" indent="-228600" fontAlgn="base">
              <a:spcBef>
                <a:spcPct val="20000"/>
              </a:spcBef>
              <a:spcAft>
                <a:spcPct val="0"/>
              </a:spcAft>
              <a:buChar char="»"/>
              <a:defRPr sz="1500">
                <a:solidFill>
                  <a:schemeClr val="tx1"/>
                </a:solidFill>
                <a:latin typeface="Arial" panose="020B0604020202020204" pitchFamily="34" charset="0"/>
              </a:defRPr>
            </a:lvl7pPr>
            <a:lvl8pPr marL="3429000" indent="-228600" fontAlgn="base">
              <a:spcBef>
                <a:spcPct val="20000"/>
              </a:spcBef>
              <a:spcAft>
                <a:spcPct val="0"/>
              </a:spcAft>
              <a:buChar char="»"/>
              <a:defRPr sz="1500">
                <a:solidFill>
                  <a:schemeClr val="tx1"/>
                </a:solidFill>
                <a:latin typeface="Arial" panose="020B0604020202020204" pitchFamily="34" charset="0"/>
              </a:defRPr>
            </a:lvl8pPr>
            <a:lvl9pPr marL="3886200" indent="-228600" fontAlgn="base">
              <a:spcBef>
                <a:spcPct val="20000"/>
              </a:spcBef>
              <a:spcAft>
                <a:spcPct val="0"/>
              </a:spcAft>
              <a:buChar char="»"/>
              <a:defRPr sz="1500">
                <a:solidFill>
                  <a:schemeClr val="tx1"/>
                </a:solidFill>
                <a:latin typeface="Arial" panose="020B0604020202020204" pitchFamily="34" charset="0"/>
              </a:defRPr>
            </a:lvl9pPr>
          </a:lstStyle>
          <a:p>
            <a:pPr algn="ctr">
              <a:spcBef>
                <a:spcPct val="0"/>
              </a:spcBef>
              <a:buFontTx/>
              <a:buNone/>
            </a:pPr>
            <a:r>
              <a:rPr lang="pt-BR" altLang="pt-BR" sz="1800" dirty="0"/>
              <a:t>LÁTEX</a:t>
            </a:r>
          </a:p>
        </p:txBody>
      </p:sp>
      <p:sp>
        <p:nvSpPr>
          <p:cNvPr id="15372" name="CaixaDeTexto 11"/>
          <p:cNvSpPr txBox="1">
            <a:spLocks noChangeArrowheads="1"/>
          </p:cNvSpPr>
          <p:nvPr/>
        </p:nvSpPr>
        <p:spPr bwMode="auto">
          <a:xfrm>
            <a:off x="5842000" y="5232400"/>
            <a:ext cx="18224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1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500">
                <a:solidFill>
                  <a:schemeClr val="tx1"/>
                </a:solidFill>
                <a:latin typeface="Arial" panose="020B0604020202020204" pitchFamily="34" charset="0"/>
              </a:defRPr>
            </a:lvl4pPr>
            <a:lvl5pPr marL="2057400" indent="-228600">
              <a:spcBef>
                <a:spcPct val="20000"/>
              </a:spcBef>
              <a:buChar char="»"/>
              <a:defRPr sz="1500">
                <a:solidFill>
                  <a:schemeClr val="tx1"/>
                </a:solidFill>
                <a:latin typeface="Arial" panose="020B0604020202020204" pitchFamily="34" charset="0"/>
              </a:defRPr>
            </a:lvl5pPr>
            <a:lvl6pPr marL="2514600" indent="-228600" fontAlgn="base">
              <a:spcBef>
                <a:spcPct val="20000"/>
              </a:spcBef>
              <a:spcAft>
                <a:spcPct val="0"/>
              </a:spcAft>
              <a:buChar char="»"/>
              <a:defRPr sz="1500">
                <a:solidFill>
                  <a:schemeClr val="tx1"/>
                </a:solidFill>
                <a:latin typeface="Arial" panose="020B0604020202020204" pitchFamily="34" charset="0"/>
              </a:defRPr>
            </a:lvl6pPr>
            <a:lvl7pPr marL="2971800" indent="-228600" fontAlgn="base">
              <a:spcBef>
                <a:spcPct val="20000"/>
              </a:spcBef>
              <a:spcAft>
                <a:spcPct val="0"/>
              </a:spcAft>
              <a:buChar char="»"/>
              <a:defRPr sz="1500">
                <a:solidFill>
                  <a:schemeClr val="tx1"/>
                </a:solidFill>
                <a:latin typeface="Arial" panose="020B0604020202020204" pitchFamily="34" charset="0"/>
              </a:defRPr>
            </a:lvl7pPr>
            <a:lvl8pPr marL="3429000" indent="-228600" fontAlgn="base">
              <a:spcBef>
                <a:spcPct val="20000"/>
              </a:spcBef>
              <a:spcAft>
                <a:spcPct val="0"/>
              </a:spcAft>
              <a:buChar char="»"/>
              <a:defRPr sz="1500">
                <a:solidFill>
                  <a:schemeClr val="tx1"/>
                </a:solidFill>
                <a:latin typeface="Arial" panose="020B0604020202020204" pitchFamily="34" charset="0"/>
              </a:defRPr>
            </a:lvl8pPr>
            <a:lvl9pPr marL="3886200" indent="-228600" fontAlgn="base">
              <a:spcBef>
                <a:spcPct val="20000"/>
              </a:spcBef>
              <a:spcAft>
                <a:spcPct val="0"/>
              </a:spcAft>
              <a:buChar char="»"/>
              <a:defRPr sz="1500">
                <a:solidFill>
                  <a:schemeClr val="tx1"/>
                </a:solidFill>
                <a:latin typeface="Arial" panose="020B0604020202020204" pitchFamily="34" charset="0"/>
              </a:defRPr>
            </a:lvl9pPr>
          </a:lstStyle>
          <a:p>
            <a:pPr>
              <a:spcBef>
                <a:spcPct val="0"/>
              </a:spcBef>
              <a:buFontTx/>
              <a:buNone/>
            </a:pPr>
            <a:r>
              <a:rPr lang="pt-BR" altLang="pt-BR" sz="1800"/>
              <a:t>ALUMÍNIO</a:t>
            </a:r>
          </a:p>
        </p:txBody>
      </p:sp>
      <p:sp>
        <p:nvSpPr>
          <p:cNvPr id="15" name="Elipse 14"/>
          <p:cNvSpPr/>
          <p:nvPr/>
        </p:nvSpPr>
        <p:spPr bwMode="auto">
          <a:xfrm>
            <a:off x="8005763" y="1712960"/>
            <a:ext cx="1615909" cy="1511300"/>
          </a:xfrm>
          <a:prstGeom prst="ellipse">
            <a:avLst/>
          </a:prstGeom>
          <a:ln>
            <a:headEnd type="none" w="med" len="med"/>
            <a:tailEnd type="none" w="med" len="med"/>
          </a:ln>
        </p:spPr>
        <p:style>
          <a:lnRef idx="2">
            <a:schemeClr val="accent6">
              <a:shade val="50000"/>
            </a:schemeClr>
          </a:lnRef>
          <a:fillRef idx="1">
            <a:schemeClr val="accent6"/>
          </a:fillRef>
          <a:effectRef idx="0">
            <a:schemeClr val="accent6"/>
          </a:effectRef>
          <a:fontRef idx="minor">
            <a:schemeClr val="lt1"/>
          </a:fontRef>
        </p:style>
        <p:txBody>
          <a:bodyPr wrap="none" anchor="t"/>
          <a:lstStyle/>
          <a:p>
            <a:pPr algn="ctr" eaLnBrk="1" hangingPunct="1">
              <a:defRPr/>
            </a:pPr>
            <a:r>
              <a:rPr lang="pt-BR" sz="5400" b="1" dirty="0">
                <a:solidFill>
                  <a:schemeClr val="bg1"/>
                </a:solidFill>
              </a:rPr>
              <a:t>4</a:t>
            </a:r>
          </a:p>
          <a:p>
            <a:pPr algn="ctr" eaLnBrk="1" hangingPunct="1">
              <a:defRPr/>
            </a:pPr>
            <a:endParaRPr lang="pt-BR" sz="1600" b="1" dirty="0">
              <a:solidFill>
                <a:schemeClr val="bg1"/>
              </a:solidFill>
            </a:endParaRPr>
          </a:p>
        </p:txBody>
      </p:sp>
      <p:sp>
        <p:nvSpPr>
          <p:cNvPr id="16" name="Elipse 15"/>
          <p:cNvSpPr/>
          <p:nvPr/>
        </p:nvSpPr>
        <p:spPr bwMode="auto">
          <a:xfrm>
            <a:off x="5716590" y="4845736"/>
            <a:ext cx="1680498" cy="1564589"/>
          </a:xfrm>
          <a:prstGeom prst="ellipse">
            <a:avLst/>
          </a:prstGeom>
          <a:ln>
            <a:headEnd type="none" w="med" len="med"/>
            <a:tailEnd type="none" w="med" len="med"/>
          </a:ln>
        </p:spPr>
        <p:style>
          <a:lnRef idx="2">
            <a:schemeClr val="accent6">
              <a:shade val="50000"/>
            </a:schemeClr>
          </a:lnRef>
          <a:fillRef idx="1">
            <a:schemeClr val="accent6"/>
          </a:fillRef>
          <a:effectRef idx="0">
            <a:schemeClr val="accent6"/>
          </a:effectRef>
          <a:fontRef idx="minor">
            <a:schemeClr val="lt1"/>
          </a:fontRef>
        </p:style>
        <p:txBody>
          <a:bodyPr wrap="none" anchor="t"/>
          <a:lstStyle/>
          <a:p>
            <a:pPr algn="ctr" eaLnBrk="1" hangingPunct="1">
              <a:defRPr/>
            </a:pPr>
            <a:r>
              <a:rPr lang="pt-BR" sz="5400" b="1" dirty="0">
                <a:solidFill>
                  <a:schemeClr val="bg1"/>
                </a:solidFill>
              </a:rPr>
              <a:t>5</a:t>
            </a:r>
          </a:p>
          <a:p>
            <a:pPr algn="ctr" eaLnBrk="1" hangingPunct="1">
              <a:defRPr/>
            </a:pPr>
            <a:endParaRPr lang="pt-BR" sz="1600" b="1" dirty="0">
              <a:solidFill>
                <a:schemeClr val="bg1"/>
              </a:solidFill>
            </a:endParaRPr>
          </a:p>
        </p:txBody>
      </p:sp>
      <p:sp>
        <p:nvSpPr>
          <p:cNvPr id="17" name="Elipse 16"/>
          <p:cNvSpPr/>
          <p:nvPr/>
        </p:nvSpPr>
        <p:spPr bwMode="auto">
          <a:xfrm>
            <a:off x="8199724" y="3686816"/>
            <a:ext cx="1615908" cy="1545584"/>
          </a:xfrm>
          <a:prstGeom prst="ellipse">
            <a:avLst/>
          </a:prstGeom>
          <a:ln>
            <a:headEnd type="none" w="med" len="med"/>
            <a:tailEnd type="none" w="med" len="med"/>
          </a:ln>
        </p:spPr>
        <p:style>
          <a:lnRef idx="2">
            <a:schemeClr val="accent6">
              <a:shade val="50000"/>
            </a:schemeClr>
          </a:lnRef>
          <a:fillRef idx="1">
            <a:schemeClr val="accent6"/>
          </a:fillRef>
          <a:effectRef idx="0">
            <a:schemeClr val="accent6"/>
          </a:effectRef>
          <a:fontRef idx="minor">
            <a:schemeClr val="lt1"/>
          </a:fontRef>
        </p:style>
        <p:txBody>
          <a:bodyPr wrap="none" anchor="t"/>
          <a:lstStyle/>
          <a:p>
            <a:pPr algn="ctr" eaLnBrk="1" hangingPunct="1">
              <a:defRPr/>
            </a:pPr>
            <a:r>
              <a:rPr lang="pt-BR" sz="5400" b="1" dirty="0">
                <a:solidFill>
                  <a:schemeClr val="bg1"/>
                </a:solidFill>
              </a:rPr>
              <a:t>6</a:t>
            </a:r>
          </a:p>
          <a:p>
            <a:pPr algn="ctr" eaLnBrk="1" hangingPunct="1">
              <a:defRPr/>
            </a:pPr>
            <a:endParaRPr lang="pt-BR" sz="1600" b="1" dirty="0">
              <a:solidFill>
                <a:schemeClr val="bg1"/>
              </a:solidFill>
            </a:endParaRPr>
          </a:p>
        </p:txBody>
      </p:sp>
      <p:sp>
        <p:nvSpPr>
          <p:cNvPr id="18" name="Título 3"/>
          <p:cNvSpPr txBox="1">
            <a:spLocks/>
          </p:cNvSpPr>
          <p:nvPr/>
        </p:nvSpPr>
        <p:spPr>
          <a:xfrm>
            <a:off x="838200" y="231439"/>
            <a:ext cx="10515600" cy="44007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accent1">
                    <a:lumMod val="50000"/>
                  </a:schemeClr>
                </a:solidFill>
                <a:latin typeface="Helvetica" panose="020B0604020202020204" pitchFamily="34" charset="0"/>
                <a:ea typeface="+mj-ea"/>
                <a:cs typeface="Helvetica" panose="020B0604020202020204" pitchFamily="34" charset="0"/>
              </a:defRPr>
            </a:lvl1p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GESTÃO DA CADEIA DE SUPRIMENTOS</a:t>
            </a:r>
            <a:endParaRPr lang="pt-BR" sz="2400" b="1" i="1" dirty="0">
              <a:solidFill>
                <a:schemeClr val="accent6"/>
              </a:solidFill>
              <a:latin typeface="Lucida Sans Unicode" panose="020B0602030504020204" pitchFamily="34" charset="0"/>
              <a:cs typeface="Lucida Sans Unicode" panose="020B0602030504020204" pitchFamily="34" charset="0"/>
            </a:endParaRPr>
          </a:p>
        </p:txBody>
      </p:sp>
      <p:sp>
        <p:nvSpPr>
          <p:cNvPr id="19" name="Título 3"/>
          <p:cNvSpPr txBox="1">
            <a:spLocks/>
          </p:cNvSpPr>
          <p:nvPr/>
        </p:nvSpPr>
        <p:spPr>
          <a:xfrm>
            <a:off x="838200" y="1448365"/>
            <a:ext cx="10515600" cy="44007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accent1">
                    <a:lumMod val="50000"/>
                  </a:schemeClr>
                </a:solidFill>
                <a:latin typeface="Helvetica" panose="020B0604020202020204" pitchFamily="34" charset="0"/>
                <a:ea typeface="+mj-ea"/>
                <a:cs typeface="Helvetica" panose="020B0604020202020204" pitchFamily="34" charset="0"/>
              </a:defRPr>
            </a:lvl1pPr>
          </a:lstStyle>
          <a:p>
            <a:pPr algn="ctr"/>
            <a:r>
              <a:rPr lang="pt-BR" sz="2400" b="1" dirty="0">
                <a:solidFill>
                  <a:srgbClr val="FF0000"/>
                </a:solidFill>
                <a:latin typeface="Lucida Sans Unicode" panose="020B0602030504020204" pitchFamily="34" charset="0"/>
                <a:cs typeface="Lucida Sans Unicode" panose="020B0602030504020204" pitchFamily="34" charset="0"/>
              </a:rPr>
              <a:t>ATIVIDADE</a:t>
            </a:r>
            <a:endParaRPr lang="pt-BR" sz="2400" b="1" i="1" dirty="0">
              <a:solidFill>
                <a:srgbClr val="FF0000"/>
              </a:solidFill>
              <a:latin typeface="Lucida Sans Unicode" panose="020B0602030504020204" pitchFamily="34" charset="0"/>
              <a:cs typeface="Lucida Sans Unicode" panose="020B0602030504020204" pitchFamily="34" charset="0"/>
            </a:endParaRPr>
          </a:p>
        </p:txBody>
      </p:sp>
    </p:spTree>
    <p:extLst>
      <p:ext uri="{BB962C8B-B14F-4D97-AF65-F5344CB8AC3E}">
        <p14:creationId xmlns:p14="http://schemas.microsoft.com/office/powerpoint/2010/main" val="1450666278"/>
      </p:ext>
    </p:extLst>
  </p:cSld>
  <p:clrMapOvr>
    <a:masterClrMapping/>
  </p:clrMapOvr>
  <p:transition>
    <p:pull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xit" presetSubtype="4" fill="hold" grpId="0" nodeType="clickEffect">
                                  <p:stCondLst>
                                    <p:cond delay="0"/>
                                  </p:stCondLst>
                                  <p:childTnLst>
                                    <p:anim calcmode="lin" valueType="num">
                                      <p:cBhvr additive="base">
                                        <p:cTn id="6" dur="500"/>
                                        <p:tgtEl>
                                          <p:spTgt spid="5"/>
                                        </p:tgtEl>
                                        <p:attrNameLst>
                                          <p:attrName>ppt_x</p:attrName>
                                        </p:attrNameLst>
                                      </p:cBhvr>
                                      <p:tavLst>
                                        <p:tav tm="0">
                                          <p:val>
                                            <p:strVal val="ppt_x"/>
                                          </p:val>
                                        </p:tav>
                                        <p:tav tm="100000">
                                          <p:val>
                                            <p:strVal val="ppt_x"/>
                                          </p:val>
                                        </p:tav>
                                      </p:tavLst>
                                    </p:anim>
                                    <p:anim calcmode="lin" valueType="num">
                                      <p:cBhvr additive="base">
                                        <p:cTn id="7" dur="500"/>
                                        <p:tgtEl>
                                          <p:spTgt spid="5"/>
                                        </p:tgtEl>
                                        <p:attrNameLst>
                                          <p:attrName>ppt_y</p:attrName>
                                        </p:attrNameLst>
                                      </p:cBhvr>
                                      <p:tavLst>
                                        <p:tav tm="0">
                                          <p:val>
                                            <p:strVal val="ppt_y"/>
                                          </p:val>
                                        </p:tav>
                                        <p:tav tm="100000">
                                          <p:val>
                                            <p:strVal val="1+ppt_h/2"/>
                                          </p:val>
                                        </p:tav>
                                      </p:tavLst>
                                    </p:anim>
                                    <p:set>
                                      <p:cBhvr>
                                        <p:cTn id="8" dur="1" fill="hold">
                                          <p:stCondLst>
                                            <p:cond delay="499"/>
                                          </p:stCondLst>
                                        </p:cTn>
                                        <p:tgtEl>
                                          <p:spTgt spid="5"/>
                                        </p:tgtEl>
                                        <p:attrNameLst>
                                          <p:attrName>style.visibility</p:attrName>
                                        </p:attrNameLst>
                                      </p:cBhvr>
                                      <p:to>
                                        <p:strVal val="hidden"/>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xit" presetSubtype="4" fill="hold" grpId="0" nodeType="clickEffect">
                                  <p:stCondLst>
                                    <p:cond delay="0"/>
                                  </p:stCondLst>
                                  <p:childTnLst>
                                    <p:anim calcmode="lin" valueType="num">
                                      <p:cBhvr additive="base">
                                        <p:cTn id="12" dur="500"/>
                                        <p:tgtEl>
                                          <p:spTgt spid="8"/>
                                        </p:tgtEl>
                                        <p:attrNameLst>
                                          <p:attrName>ppt_x</p:attrName>
                                        </p:attrNameLst>
                                      </p:cBhvr>
                                      <p:tavLst>
                                        <p:tav tm="0">
                                          <p:val>
                                            <p:strVal val="ppt_x"/>
                                          </p:val>
                                        </p:tav>
                                        <p:tav tm="100000">
                                          <p:val>
                                            <p:strVal val="ppt_x"/>
                                          </p:val>
                                        </p:tav>
                                      </p:tavLst>
                                    </p:anim>
                                    <p:anim calcmode="lin" valueType="num">
                                      <p:cBhvr additive="base">
                                        <p:cTn id="13" dur="500"/>
                                        <p:tgtEl>
                                          <p:spTgt spid="8"/>
                                        </p:tgtEl>
                                        <p:attrNameLst>
                                          <p:attrName>ppt_y</p:attrName>
                                        </p:attrNameLst>
                                      </p:cBhvr>
                                      <p:tavLst>
                                        <p:tav tm="0">
                                          <p:val>
                                            <p:strVal val="ppt_y"/>
                                          </p:val>
                                        </p:tav>
                                        <p:tav tm="100000">
                                          <p:val>
                                            <p:strVal val="1+ppt_h/2"/>
                                          </p:val>
                                        </p:tav>
                                      </p:tavLst>
                                    </p:anim>
                                    <p:set>
                                      <p:cBhvr>
                                        <p:cTn id="14" dur="1" fill="hold">
                                          <p:stCondLst>
                                            <p:cond delay="499"/>
                                          </p:stCondLst>
                                        </p:cTn>
                                        <p:tgtEl>
                                          <p:spTgt spid="8"/>
                                        </p:tgtEl>
                                        <p:attrNameLst>
                                          <p:attrName>style.visibility</p:attrName>
                                        </p:attrNameLst>
                                      </p:cBhvr>
                                      <p:to>
                                        <p:strVal val="hidden"/>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xit" presetSubtype="4" fill="hold" grpId="0" nodeType="clickEffect">
                                  <p:stCondLst>
                                    <p:cond delay="0"/>
                                  </p:stCondLst>
                                  <p:childTnLst>
                                    <p:anim calcmode="lin" valueType="num">
                                      <p:cBhvr additive="base">
                                        <p:cTn id="18" dur="500"/>
                                        <p:tgtEl>
                                          <p:spTgt spid="9"/>
                                        </p:tgtEl>
                                        <p:attrNameLst>
                                          <p:attrName>ppt_x</p:attrName>
                                        </p:attrNameLst>
                                      </p:cBhvr>
                                      <p:tavLst>
                                        <p:tav tm="0">
                                          <p:val>
                                            <p:strVal val="ppt_x"/>
                                          </p:val>
                                        </p:tav>
                                        <p:tav tm="100000">
                                          <p:val>
                                            <p:strVal val="ppt_x"/>
                                          </p:val>
                                        </p:tav>
                                      </p:tavLst>
                                    </p:anim>
                                    <p:anim calcmode="lin" valueType="num">
                                      <p:cBhvr additive="base">
                                        <p:cTn id="19" dur="500"/>
                                        <p:tgtEl>
                                          <p:spTgt spid="9"/>
                                        </p:tgtEl>
                                        <p:attrNameLst>
                                          <p:attrName>ppt_y</p:attrName>
                                        </p:attrNameLst>
                                      </p:cBhvr>
                                      <p:tavLst>
                                        <p:tav tm="0">
                                          <p:val>
                                            <p:strVal val="ppt_y"/>
                                          </p:val>
                                        </p:tav>
                                        <p:tav tm="100000">
                                          <p:val>
                                            <p:strVal val="1+ppt_h/2"/>
                                          </p:val>
                                        </p:tav>
                                      </p:tavLst>
                                    </p:anim>
                                    <p:set>
                                      <p:cBhvr>
                                        <p:cTn id="20" dur="1" fill="hold">
                                          <p:stCondLst>
                                            <p:cond delay="499"/>
                                          </p:stCondLst>
                                        </p:cTn>
                                        <p:tgtEl>
                                          <p:spTgt spid="9"/>
                                        </p:tgtEl>
                                        <p:attrNameLst>
                                          <p:attrName>style.visibility</p:attrName>
                                        </p:attrNameLst>
                                      </p:cBhvr>
                                      <p:to>
                                        <p:strVal val="hidden"/>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xit" presetSubtype="4" fill="hold" grpId="0" nodeType="clickEffect">
                                  <p:stCondLst>
                                    <p:cond delay="0"/>
                                  </p:stCondLst>
                                  <p:childTnLst>
                                    <p:anim calcmode="lin" valueType="num">
                                      <p:cBhvr additive="base">
                                        <p:cTn id="24" dur="500"/>
                                        <p:tgtEl>
                                          <p:spTgt spid="15"/>
                                        </p:tgtEl>
                                        <p:attrNameLst>
                                          <p:attrName>ppt_x</p:attrName>
                                        </p:attrNameLst>
                                      </p:cBhvr>
                                      <p:tavLst>
                                        <p:tav tm="0">
                                          <p:val>
                                            <p:strVal val="ppt_x"/>
                                          </p:val>
                                        </p:tav>
                                        <p:tav tm="100000">
                                          <p:val>
                                            <p:strVal val="ppt_x"/>
                                          </p:val>
                                        </p:tav>
                                      </p:tavLst>
                                    </p:anim>
                                    <p:anim calcmode="lin" valueType="num">
                                      <p:cBhvr additive="base">
                                        <p:cTn id="25" dur="500"/>
                                        <p:tgtEl>
                                          <p:spTgt spid="15"/>
                                        </p:tgtEl>
                                        <p:attrNameLst>
                                          <p:attrName>ppt_y</p:attrName>
                                        </p:attrNameLst>
                                      </p:cBhvr>
                                      <p:tavLst>
                                        <p:tav tm="0">
                                          <p:val>
                                            <p:strVal val="ppt_y"/>
                                          </p:val>
                                        </p:tav>
                                        <p:tav tm="100000">
                                          <p:val>
                                            <p:strVal val="1+ppt_h/2"/>
                                          </p:val>
                                        </p:tav>
                                      </p:tavLst>
                                    </p:anim>
                                    <p:set>
                                      <p:cBhvr>
                                        <p:cTn id="26" dur="1" fill="hold">
                                          <p:stCondLst>
                                            <p:cond delay="499"/>
                                          </p:stCondLst>
                                        </p:cTn>
                                        <p:tgtEl>
                                          <p:spTgt spid="15"/>
                                        </p:tgtEl>
                                        <p:attrNameLst>
                                          <p:attrName>style.visibility</p:attrName>
                                        </p:attrNameLst>
                                      </p:cBhvr>
                                      <p:to>
                                        <p:strVal val="hidden"/>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xit" presetSubtype="4" fill="hold" grpId="0" nodeType="clickEffect">
                                  <p:stCondLst>
                                    <p:cond delay="0"/>
                                  </p:stCondLst>
                                  <p:childTnLst>
                                    <p:anim calcmode="lin" valueType="num">
                                      <p:cBhvr additive="base">
                                        <p:cTn id="30" dur="500"/>
                                        <p:tgtEl>
                                          <p:spTgt spid="16"/>
                                        </p:tgtEl>
                                        <p:attrNameLst>
                                          <p:attrName>ppt_x</p:attrName>
                                        </p:attrNameLst>
                                      </p:cBhvr>
                                      <p:tavLst>
                                        <p:tav tm="0">
                                          <p:val>
                                            <p:strVal val="ppt_x"/>
                                          </p:val>
                                        </p:tav>
                                        <p:tav tm="100000">
                                          <p:val>
                                            <p:strVal val="ppt_x"/>
                                          </p:val>
                                        </p:tav>
                                      </p:tavLst>
                                    </p:anim>
                                    <p:anim calcmode="lin" valueType="num">
                                      <p:cBhvr additive="base">
                                        <p:cTn id="31" dur="500"/>
                                        <p:tgtEl>
                                          <p:spTgt spid="16"/>
                                        </p:tgtEl>
                                        <p:attrNameLst>
                                          <p:attrName>ppt_y</p:attrName>
                                        </p:attrNameLst>
                                      </p:cBhvr>
                                      <p:tavLst>
                                        <p:tav tm="0">
                                          <p:val>
                                            <p:strVal val="ppt_y"/>
                                          </p:val>
                                        </p:tav>
                                        <p:tav tm="100000">
                                          <p:val>
                                            <p:strVal val="1+ppt_h/2"/>
                                          </p:val>
                                        </p:tav>
                                      </p:tavLst>
                                    </p:anim>
                                    <p:set>
                                      <p:cBhvr>
                                        <p:cTn id="32" dur="1" fill="hold">
                                          <p:stCondLst>
                                            <p:cond delay="499"/>
                                          </p:stCondLst>
                                        </p:cTn>
                                        <p:tgtEl>
                                          <p:spTgt spid="16"/>
                                        </p:tgtEl>
                                        <p:attrNameLst>
                                          <p:attrName>style.visibility</p:attrName>
                                        </p:attrNameLst>
                                      </p:cBhvr>
                                      <p:to>
                                        <p:strVal val="hidden"/>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xit" presetSubtype="4" fill="hold" grpId="0" nodeType="clickEffect">
                                  <p:stCondLst>
                                    <p:cond delay="0"/>
                                  </p:stCondLst>
                                  <p:childTnLst>
                                    <p:anim calcmode="lin" valueType="num">
                                      <p:cBhvr additive="base">
                                        <p:cTn id="36" dur="500"/>
                                        <p:tgtEl>
                                          <p:spTgt spid="17"/>
                                        </p:tgtEl>
                                        <p:attrNameLst>
                                          <p:attrName>ppt_x</p:attrName>
                                        </p:attrNameLst>
                                      </p:cBhvr>
                                      <p:tavLst>
                                        <p:tav tm="0">
                                          <p:val>
                                            <p:strVal val="ppt_x"/>
                                          </p:val>
                                        </p:tav>
                                        <p:tav tm="100000">
                                          <p:val>
                                            <p:strVal val="ppt_x"/>
                                          </p:val>
                                        </p:tav>
                                      </p:tavLst>
                                    </p:anim>
                                    <p:anim calcmode="lin" valueType="num">
                                      <p:cBhvr additive="base">
                                        <p:cTn id="37" dur="500"/>
                                        <p:tgtEl>
                                          <p:spTgt spid="17"/>
                                        </p:tgtEl>
                                        <p:attrNameLst>
                                          <p:attrName>ppt_y</p:attrName>
                                        </p:attrNameLst>
                                      </p:cBhvr>
                                      <p:tavLst>
                                        <p:tav tm="0">
                                          <p:val>
                                            <p:strVal val="ppt_y"/>
                                          </p:val>
                                        </p:tav>
                                        <p:tav tm="100000">
                                          <p:val>
                                            <p:strVal val="1+ppt_h/2"/>
                                          </p:val>
                                        </p:tav>
                                      </p:tavLst>
                                    </p:anim>
                                    <p:set>
                                      <p:cBhvr>
                                        <p:cTn id="38" dur="1" fill="hold">
                                          <p:stCondLst>
                                            <p:cond delay="499"/>
                                          </p:stCondLst>
                                        </p:cTn>
                                        <p:tgtEl>
                                          <p:spTgt spid="17"/>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1000"/>
                                        <p:tgtEl>
                                          <p:spTgt spid="19"/>
                                        </p:tgtEl>
                                      </p:cBhvr>
                                    </p:animEffect>
                                    <p:anim calcmode="lin" valueType="num">
                                      <p:cBhvr>
                                        <p:cTn id="44" dur="1000" fill="hold"/>
                                        <p:tgtEl>
                                          <p:spTgt spid="19"/>
                                        </p:tgtEl>
                                        <p:attrNameLst>
                                          <p:attrName>ppt_x</p:attrName>
                                        </p:attrNameLst>
                                      </p:cBhvr>
                                      <p:tavLst>
                                        <p:tav tm="0">
                                          <p:val>
                                            <p:strVal val="#ppt_x"/>
                                          </p:val>
                                        </p:tav>
                                        <p:tav tm="100000">
                                          <p:val>
                                            <p:strVal val="#ppt_x"/>
                                          </p:val>
                                        </p:tav>
                                      </p:tavLst>
                                    </p:anim>
                                    <p:anim calcmode="lin" valueType="num">
                                      <p:cBhvr>
                                        <p:cTn id="45"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9" grpId="0" animBg="1"/>
      <p:bldP spid="15" grpId="0" animBg="1"/>
      <p:bldP spid="16" grpId="0" animBg="1"/>
      <p:bldP spid="17" grpId="0" animBg="1"/>
      <p:bldP spid="19" grpId="0"/>
    </p:bldLst>
  </p:timing>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5C0206F-7235-D1D7-E852-7E18605507C0}"/>
            </a:ext>
          </a:extLst>
        </p:cNvPr>
        <p:cNvGrpSpPr/>
        <p:nvPr/>
      </p:nvGrpSpPr>
      <p:grpSpPr>
        <a:xfrm>
          <a:off x="0" y="0"/>
          <a:ext cx="0" cy="0"/>
          <a:chOff x="0" y="0"/>
          <a:chExt cx="0" cy="0"/>
        </a:xfrm>
      </p:grpSpPr>
      <p:sp>
        <p:nvSpPr>
          <p:cNvPr id="12" name="Título 1">
            <a:extLst>
              <a:ext uri="{FF2B5EF4-FFF2-40B4-BE49-F238E27FC236}">
                <a16:creationId xmlns:a16="http://schemas.microsoft.com/office/drawing/2014/main" id="{44B077ED-6DE1-05E4-CDC2-20FAB32483FD}"/>
              </a:ext>
            </a:extLst>
          </p:cNvPr>
          <p:cNvSpPr txBox="1">
            <a:spLocks/>
          </p:cNvSpPr>
          <p:nvPr/>
        </p:nvSpPr>
        <p:spPr>
          <a:xfrm>
            <a:off x="565897" y="380196"/>
            <a:ext cx="6139185" cy="67049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75000"/>
              </a:lnSpc>
            </a:pPr>
            <a:r>
              <a:rPr lang="pt-BR" sz="4800" b="1" spc="-150" dirty="0">
                <a:solidFill>
                  <a:srgbClr val="00307C"/>
                </a:solidFill>
                <a:latin typeface="+mn-lt"/>
              </a:rPr>
              <a:t>Curso Qualifica</a:t>
            </a:r>
            <a:endParaRPr lang="pt-BR" sz="4800" b="1" spc="-150" dirty="0">
              <a:solidFill>
                <a:srgbClr val="00307C"/>
              </a:solidFill>
              <a:latin typeface="+mn-lt"/>
              <a:ea typeface="Roboto" panose="02000000000000000000" pitchFamily="2" charset="0"/>
            </a:endParaRPr>
          </a:p>
        </p:txBody>
      </p:sp>
      <p:sp>
        <p:nvSpPr>
          <p:cNvPr id="10" name="Pizza 13">
            <a:extLst>
              <a:ext uri="{FF2B5EF4-FFF2-40B4-BE49-F238E27FC236}">
                <a16:creationId xmlns:a16="http://schemas.microsoft.com/office/drawing/2014/main" id="{B4C90E32-CDC5-7F03-C192-9D3B466B6CF1}"/>
              </a:ext>
            </a:extLst>
          </p:cNvPr>
          <p:cNvSpPr/>
          <p:nvPr/>
        </p:nvSpPr>
        <p:spPr>
          <a:xfrm>
            <a:off x="197429" y="6428131"/>
            <a:ext cx="368468" cy="368468"/>
          </a:xfrm>
          <a:prstGeom prst="pie">
            <a:avLst>
              <a:gd name="adj1" fmla="val 16200192"/>
              <a:gd name="adj2" fmla="val 5399799"/>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pt-BR" dirty="0">
              <a:solidFill>
                <a:schemeClr val="tx1"/>
              </a:solidFill>
            </a:endParaRPr>
          </a:p>
        </p:txBody>
      </p:sp>
      <p:sp>
        <p:nvSpPr>
          <p:cNvPr id="13" name="Pizza 14">
            <a:extLst>
              <a:ext uri="{FF2B5EF4-FFF2-40B4-BE49-F238E27FC236}">
                <a16:creationId xmlns:a16="http://schemas.microsoft.com/office/drawing/2014/main" id="{94F4D6AB-9AF6-87AE-CE6E-EAC1D812E379}"/>
              </a:ext>
            </a:extLst>
          </p:cNvPr>
          <p:cNvSpPr/>
          <p:nvPr/>
        </p:nvSpPr>
        <p:spPr>
          <a:xfrm>
            <a:off x="197429" y="6250570"/>
            <a:ext cx="368468" cy="368468"/>
          </a:xfrm>
          <a:prstGeom prst="pie">
            <a:avLst>
              <a:gd name="adj1" fmla="val 5395924"/>
              <a:gd name="adj2" fmla="val 16202197"/>
            </a:avLst>
          </a:prstGeom>
          <a:solidFill>
            <a:srgbClr val="00307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pt-BR" dirty="0">
              <a:solidFill>
                <a:schemeClr val="tx1"/>
              </a:solidFill>
            </a:endParaRPr>
          </a:p>
        </p:txBody>
      </p:sp>
      <p:sp>
        <p:nvSpPr>
          <p:cNvPr id="17" name="Retângulo 16">
            <a:extLst>
              <a:ext uri="{FF2B5EF4-FFF2-40B4-BE49-F238E27FC236}">
                <a16:creationId xmlns:a16="http://schemas.microsoft.com/office/drawing/2014/main" id="{A3F18231-A289-2705-276C-0115DE60188C}"/>
              </a:ext>
            </a:extLst>
          </p:cNvPr>
          <p:cNvSpPr/>
          <p:nvPr/>
        </p:nvSpPr>
        <p:spPr>
          <a:xfrm flipH="1">
            <a:off x="-6" y="6376143"/>
            <a:ext cx="12191999" cy="481857"/>
          </a:xfrm>
          <a:prstGeom prst="rect">
            <a:avLst/>
          </a:prstGeom>
          <a:solidFill>
            <a:srgbClr val="EAF6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8" name="Imagem 17" descr="Uma imagem contendo relógio, placar&#10;&#10;Descrição gerada automaticamente">
            <a:extLst>
              <a:ext uri="{FF2B5EF4-FFF2-40B4-BE49-F238E27FC236}">
                <a16:creationId xmlns:a16="http://schemas.microsoft.com/office/drawing/2014/main" id="{46AAAD88-5B46-744F-FB37-83948AE00216}"/>
              </a:ext>
            </a:extLst>
          </p:cNvPr>
          <p:cNvPicPr>
            <a:picLocks noChangeAspect="1"/>
          </p:cNvPicPr>
          <p:nvPr/>
        </p:nvPicPr>
        <p:blipFill>
          <a:blip r:embed="rId2"/>
          <a:stretch>
            <a:fillRect/>
          </a:stretch>
        </p:blipFill>
        <p:spPr>
          <a:xfrm>
            <a:off x="763332" y="6523788"/>
            <a:ext cx="1104206" cy="152403"/>
          </a:xfrm>
          <a:prstGeom prst="rect">
            <a:avLst/>
          </a:prstGeom>
        </p:spPr>
      </p:pic>
      <p:pic>
        <p:nvPicPr>
          <p:cNvPr id="19" name="Imagem 18" descr="Placa azul com letras brancas em fundo preto&#10;&#10;Descrição gerada automaticamente">
            <a:extLst>
              <a:ext uri="{FF2B5EF4-FFF2-40B4-BE49-F238E27FC236}">
                <a16:creationId xmlns:a16="http://schemas.microsoft.com/office/drawing/2014/main" id="{D4FDA500-C61F-D658-F89C-8008E1DFCB3C}"/>
              </a:ext>
            </a:extLst>
          </p:cNvPr>
          <p:cNvPicPr>
            <a:picLocks noChangeAspect="1"/>
          </p:cNvPicPr>
          <p:nvPr/>
        </p:nvPicPr>
        <p:blipFill>
          <a:blip r:embed="rId3"/>
          <a:stretch>
            <a:fillRect/>
          </a:stretch>
        </p:blipFill>
        <p:spPr>
          <a:xfrm>
            <a:off x="2043336" y="6523788"/>
            <a:ext cx="1104206" cy="177133"/>
          </a:xfrm>
          <a:prstGeom prst="rect">
            <a:avLst/>
          </a:prstGeom>
        </p:spPr>
      </p:pic>
      <p:sp>
        <p:nvSpPr>
          <p:cNvPr id="20" name="Pizza 12">
            <a:extLst>
              <a:ext uri="{FF2B5EF4-FFF2-40B4-BE49-F238E27FC236}">
                <a16:creationId xmlns:a16="http://schemas.microsoft.com/office/drawing/2014/main" id="{1DEC2627-7C48-41EA-C338-4A5C00443358}"/>
              </a:ext>
            </a:extLst>
          </p:cNvPr>
          <p:cNvSpPr/>
          <p:nvPr/>
        </p:nvSpPr>
        <p:spPr>
          <a:xfrm>
            <a:off x="197429" y="6422023"/>
            <a:ext cx="368468" cy="368468"/>
          </a:xfrm>
          <a:prstGeom prst="pie">
            <a:avLst>
              <a:gd name="adj1" fmla="val 16200192"/>
              <a:gd name="adj2" fmla="val 5399799"/>
            </a:avLst>
          </a:prstGeom>
          <a:solidFill>
            <a:srgbClr val="5FE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pt-BR" dirty="0">
              <a:solidFill>
                <a:schemeClr val="tx1"/>
              </a:solidFill>
            </a:endParaRPr>
          </a:p>
        </p:txBody>
      </p:sp>
      <p:sp>
        <p:nvSpPr>
          <p:cNvPr id="21" name="Pizza 13">
            <a:extLst>
              <a:ext uri="{FF2B5EF4-FFF2-40B4-BE49-F238E27FC236}">
                <a16:creationId xmlns:a16="http://schemas.microsoft.com/office/drawing/2014/main" id="{2A0414F3-5198-AD9C-20C9-935B007E7044}"/>
              </a:ext>
            </a:extLst>
          </p:cNvPr>
          <p:cNvSpPr/>
          <p:nvPr/>
        </p:nvSpPr>
        <p:spPr>
          <a:xfrm>
            <a:off x="197429" y="6244462"/>
            <a:ext cx="368468" cy="368468"/>
          </a:xfrm>
          <a:prstGeom prst="pie">
            <a:avLst>
              <a:gd name="adj1" fmla="val 5395924"/>
              <a:gd name="adj2" fmla="val 16202197"/>
            </a:avLst>
          </a:prstGeom>
          <a:solidFill>
            <a:srgbClr val="00307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pt-BR" dirty="0">
              <a:solidFill>
                <a:schemeClr val="tx1"/>
              </a:solidFill>
            </a:endParaRPr>
          </a:p>
        </p:txBody>
      </p:sp>
      <p:sp>
        <p:nvSpPr>
          <p:cNvPr id="3" name="Título 1">
            <a:extLst>
              <a:ext uri="{FF2B5EF4-FFF2-40B4-BE49-F238E27FC236}">
                <a16:creationId xmlns:a16="http://schemas.microsoft.com/office/drawing/2014/main" id="{299A5484-9DCE-84B2-150C-E476557616FF}"/>
              </a:ext>
            </a:extLst>
          </p:cNvPr>
          <p:cNvSpPr txBox="1">
            <a:spLocks/>
          </p:cNvSpPr>
          <p:nvPr/>
        </p:nvSpPr>
        <p:spPr>
          <a:xfrm>
            <a:off x="565897" y="961091"/>
            <a:ext cx="6139185" cy="67049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75000"/>
              </a:lnSpc>
            </a:pPr>
            <a:r>
              <a:rPr lang="pt-BR" sz="2800" b="1" i="1" spc="-150" dirty="0">
                <a:solidFill>
                  <a:srgbClr val="00B6ED"/>
                </a:solidFill>
                <a:latin typeface="+mn-lt"/>
              </a:rPr>
              <a:t>Em Logística</a:t>
            </a:r>
            <a:endParaRPr lang="pt-BR" sz="2800" b="1" i="1" spc="-150" dirty="0">
              <a:solidFill>
                <a:srgbClr val="00B6ED"/>
              </a:solidFill>
              <a:latin typeface="+mn-lt"/>
              <a:ea typeface="Roboto" panose="02000000000000000000" pitchFamily="2" charset="0"/>
            </a:endParaRPr>
          </a:p>
        </p:txBody>
      </p:sp>
      <p:sp>
        <p:nvSpPr>
          <p:cNvPr id="4" name="Retângulo 3"/>
          <p:cNvSpPr/>
          <p:nvPr/>
        </p:nvSpPr>
        <p:spPr>
          <a:xfrm>
            <a:off x="853823" y="2606387"/>
            <a:ext cx="10364056" cy="2554545"/>
          </a:xfrm>
          <a:prstGeom prst="rect">
            <a:avLst/>
          </a:prstGeom>
          <a:noFill/>
        </p:spPr>
        <p:txBody>
          <a:bodyPr wrap="none" lIns="91440" tIns="45720" rIns="91440" bIns="45720">
            <a:spAutoFit/>
          </a:bodyPr>
          <a:lstStyle/>
          <a:p>
            <a:pPr algn="ctr"/>
            <a:r>
              <a:rPr lang="pt-BR" sz="80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Rotinas administrativas </a:t>
            </a:r>
          </a:p>
          <a:p>
            <a:pPr algn="ctr"/>
            <a:r>
              <a:rPr lang="pt-BR" sz="80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e financeiras</a:t>
            </a:r>
          </a:p>
        </p:txBody>
      </p:sp>
    </p:spTree>
    <p:extLst>
      <p:ext uri="{BB962C8B-B14F-4D97-AF65-F5344CB8AC3E}">
        <p14:creationId xmlns:p14="http://schemas.microsoft.com/office/powerpoint/2010/main" val="251306659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1D5F2840-67BA-4B2B-9A2F-A45E97104598}"/>
              </a:ext>
            </a:extLst>
          </p:cNvPr>
          <p:cNvSpPr>
            <a:spLocks noGrp="1" noChangeArrowheads="1"/>
          </p:cNvSpPr>
          <p:nvPr>
            <p:ph idx="4294967295"/>
          </p:nvPr>
        </p:nvSpPr>
        <p:spPr>
          <a:xfrm>
            <a:off x="3413125" y="1290638"/>
            <a:ext cx="8778875" cy="4351337"/>
          </a:xfrm>
        </p:spPr>
        <p:txBody>
          <a:bodyPr rtlCol="0">
            <a:normAutofit fontScale="92500" lnSpcReduction="20000"/>
          </a:bodyPr>
          <a:lstStyle/>
          <a:p>
            <a:pPr>
              <a:lnSpc>
                <a:spcPct val="80000"/>
              </a:lnSpc>
              <a:defRPr/>
            </a:pPr>
            <a:endParaRPr lang="pt-BR" altLang="pt-BR" dirty="0"/>
          </a:p>
          <a:p>
            <a:pPr>
              <a:lnSpc>
                <a:spcPct val="80000"/>
              </a:lnSpc>
              <a:defRPr/>
            </a:pPr>
            <a:r>
              <a:rPr lang="pt-BR" altLang="pt-BR" dirty="0"/>
              <a:t>Para aprender</a:t>
            </a:r>
          </a:p>
          <a:p>
            <a:pPr>
              <a:lnSpc>
                <a:spcPct val="80000"/>
              </a:lnSpc>
              <a:defRPr/>
            </a:pPr>
            <a:r>
              <a:rPr lang="pt-BR" altLang="pt-BR" dirty="0"/>
              <a:t>Para se colocar melhor no mercado</a:t>
            </a:r>
          </a:p>
          <a:p>
            <a:pPr>
              <a:lnSpc>
                <a:spcPct val="80000"/>
              </a:lnSpc>
              <a:defRPr/>
            </a:pPr>
            <a:r>
              <a:rPr lang="pt-BR" altLang="pt-BR" dirty="0"/>
              <a:t>Para crescer intelectualmente</a:t>
            </a:r>
          </a:p>
          <a:p>
            <a:pPr>
              <a:lnSpc>
                <a:spcPct val="80000"/>
              </a:lnSpc>
              <a:defRPr/>
            </a:pPr>
            <a:r>
              <a:rPr lang="pt-BR" altLang="pt-BR" dirty="0"/>
              <a:t>Para estabelecer relações</a:t>
            </a:r>
          </a:p>
          <a:p>
            <a:pPr>
              <a:lnSpc>
                <a:spcPct val="80000"/>
              </a:lnSpc>
              <a:defRPr/>
            </a:pPr>
            <a:r>
              <a:rPr lang="pt-BR" altLang="pt-BR" dirty="0"/>
              <a:t>Para aprender a sintetizar</a:t>
            </a:r>
          </a:p>
          <a:p>
            <a:pPr>
              <a:lnSpc>
                <a:spcPct val="80000"/>
              </a:lnSpc>
              <a:defRPr/>
            </a:pPr>
            <a:r>
              <a:rPr lang="pt-BR" altLang="pt-BR" dirty="0"/>
              <a:t>Para melhorar o trabalho/o estudo</a:t>
            </a:r>
          </a:p>
          <a:p>
            <a:pPr>
              <a:lnSpc>
                <a:spcPct val="80000"/>
              </a:lnSpc>
              <a:defRPr/>
            </a:pPr>
            <a:r>
              <a:rPr lang="pt-BR" altLang="pt-BR" dirty="0"/>
              <a:t>Para se atualizar</a:t>
            </a:r>
          </a:p>
          <a:p>
            <a:pPr>
              <a:lnSpc>
                <a:spcPct val="80000"/>
              </a:lnSpc>
              <a:defRPr/>
            </a:pPr>
            <a:r>
              <a:rPr lang="pt-BR" altLang="pt-BR" dirty="0"/>
              <a:t>Para inovar e criar</a:t>
            </a:r>
          </a:p>
          <a:p>
            <a:pPr>
              <a:lnSpc>
                <a:spcPct val="80000"/>
              </a:lnSpc>
              <a:defRPr/>
            </a:pPr>
            <a:r>
              <a:rPr lang="pt-BR" altLang="pt-BR" dirty="0"/>
              <a:t>Para ampliar horizontes</a:t>
            </a:r>
          </a:p>
          <a:p>
            <a:pPr>
              <a:lnSpc>
                <a:spcPct val="80000"/>
              </a:lnSpc>
              <a:defRPr/>
            </a:pPr>
            <a:r>
              <a:rPr lang="pt-BR" altLang="pt-BR" dirty="0"/>
              <a:t>(...)</a:t>
            </a:r>
          </a:p>
          <a:p>
            <a:pPr>
              <a:lnSpc>
                <a:spcPct val="80000"/>
              </a:lnSpc>
              <a:defRPr/>
            </a:pPr>
            <a:endParaRPr lang="pt-BR" altLang="pt-BR" dirty="0"/>
          </a:p>
        </p:txBody>
      </p:sp>
      <p:sp>
        <p:nvSpPr>
          <p:cNvPr id="5123" name="Retângulo 3">
            <a:extLst>
              <a:ext uri="{FF2B5EF4-FFF2-40B4-BE49-F238E27FC236}">
                <a16:creationId xmlns:a16="http://schemas.microsoft.com/office/drawing/2014/main" id="{1FFC9B11-D0BD-4BBE-B377-322B0AB2092C}"/>
              </a:ext>
            </a:extLst>
          </p:cNvPr>
          <p:cNvSpPr>
            <a:spLocks noChangeArrowheads="1"/>
          </p:cNvSpPr>
          <p:nvPr/>
        </p:nvSpPr>
        <p:spPr bwMode="auto">
          <a:xfrm>
            <a:off x="2422525" y="979489"/>
            <a:ext cx="5270500" cy="954087"/>
          </a:xfrm>
          <a:prstGeom prst="rect">
            <a:avLst/>
          </a:prstGeom>
          <a:noFill/>
          <a:ln w="9525">
            <a:noFill/>
            <a:miter lim="800000"/>
            <a:headEnd/>
            <a:tailEnd/>
          </a:ln>
        </p:spPr>
        <p:txBody>
          <a:bodyPr>
            <a:spAutoFit/>
          </a:bodyPr>
          <a:lstStyle/>
          <a:p>
            <a:pPr eaLnBrk="1" hangingPunct="1">
              <a:defRPr/>
            </a:pPr>
            <a:r>
              <a:rPr lang="pt-BR" sz="2800" b="1" dirty="0">
                <a:latin typeface="+mj-lt"/>
              </a:rPr>
              <a:t>Por que estudar?</a:t>
            </a:r>
          </a:p>
          <a:p>
            <a:pPr eaLnBrk="1" hangingPunct="1">
              <a:defRPr/>
            </a:pPr>
            <a:endParaRPr lang="pt-BR" sz="2800" dirty="0">
              <a:latin typeface="+mj-lt"/>
            </a:endParaRPr>
          </a:p>
        </p:txBody>
      </p:sp>
    </p:spTree>
    <p:extLst>
      <p:ext uri="{BB962C8B-B14F-4D97-AF65-F5344CB8AC3E}">
        <p14:creationId xmlns:p14="http://schemas.microsoft.com/office/powerpoint/2010/main" val="2677322391"/>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10" name="Rectangle 2"/>
          <p:cNvSpPr>
            <a:spLocks noGrp="1" noChangeArrowheads="1"/>
          </p:cNvSpPr>
          <p:nvPr>
            <p:ph type="title" idx="4294967295"/>
          </p:nvPr>
        </p:nvSpPr>
        <p:spPr>
          <a:xfrm>
            <a:off x="0" y="223838"/>
            <a:ext cx="9017000" cy="858837"/>
          </a:xfrm>
        </p:spPr>
        <p:txBody>
          <a:bodyPr anchor="t"/>
          <a:lstStyle/>
          <a:p>
            <a:pPr eaLnBrk="1" hangingPunct="1"/>
            <a:r>
              <a:rPr lang="pt-BR" altLang="pt-BR" sz="2400" b="1">
                <a:solidFill>
                  <a:schemeClr val="tx1"/>
                </a:solidFill>
              </a:rPr>
              <a:t>O que o mercado de trabalho exige do profissional?</a:t>
            </a:r>
          </a:p>
        </p:txBody>
      </p:sp>
      <p:sp>
        <p:nvSpPr>
          <p:cNvPr id="6147" name="Rectangle 3">
            <a:extLst>
              <a:ext uri="{FF2B5EF4-FFF2-40B4-BE49-F238E27FC236}">
                <a16:creationId xmlns:a16="http://schemas.microsoft.com/office/drawing/2014/main" id="{864143F6-330A-455B-999A-CB477A5FAE19}"/>
              </a:ext>
            </a:extLst>
          </p:cNvPr>
          <p:cNvSpPr>
            <a:spLocks noGrp="1" noChangeArrowheads="1"/>
          </p:cNvSpPr>
          <p:nvPr>
            <p:ph idx="4294967295"/>
          </p:nvPr>
        </p:nvSpPr>
        <p:spPr>
          <a:xfrm>
            <a:off x="260851" y="833438"/>
            <a:ext cx="11650412" cy="5435015"/>
          </a:xfrm>
        </p:spPr>
        <p:txBody>
          <a:bodyPr rtlCol="0">
            <a:normAutofit fontScale="32500" lnSpcReduction="20000"/>
          </a:bodyPr>
          <a:lstStyle/>
          <a:p>
            <a:pPr>
              <a:defRPr/>
            </a:pPr>
            <a:r>
              <a:rPr lang="pt-BR" sz="7400" dirty="0">
                <a:latin typeface="Arial" panose="020B0604020202020204" pitchFamily="34" charset="0"/>
                <a:cs typeface="Arial" panose="020B0604020202020204" pitchFamily="34" charset="0"/>
              </a:rPr>
              <a:t>Conhecimento, criatividade e autonomia</a:t>
            </a:r>
          </a:p>
          <a:p>
            <a:pPr>
              <a:defRPr/>
            </a:pPr>
            <a:r>
              <a:rPr lang="pt-BR" sz="7400" dirty="0">
                <a:latin typeface="Arial" panose="020B0604020202020204" pitchFamily="34" charset="0"/>
                <a:cs typeface="Arial" panose="020B0604020202020204" pitchFamily="34" charset="0"/>
              </a:rPr>
              <a:t>Inovação e responsabilidade</a:t>
            </a:r>
          </a:p>
          <a:p>
            <a:pPr>
              <a:defRPr/>
            </a:pPr>
            <a:r>
              <a:rPr lang="pt-BR" sz="7400" dirty="0">
                <a:latin typeface="Arial" panose="020B0604020202020204" pitchFamily="34" charset="0"/>
                <a:cs typeface="Arial" panose="020B0604020202020204" pitchFamily="34" charset="0"/>
              </a:rPr>
              <a:t>Iniciativa</a:t>
            </a:r>
          </a:p>
          <a:p>
            <a:pPr>
              <a:defRPr/>
            </a:pPr>
            <a:r>
              <a:rPr lang="pt-BR" sz="7400" dirty="0">
                <a:latin typeface="Arial" panose="020B0604020202020204" pitchFamily="34" charset="0"/>
                <a:cs typeface="Arial" panose="020B0604020202020204" pitchFamily="34" charset="0"/>
              </a:rPr>
              <a:t>Empreendedorismo</a:t>
            </a:r>
          </a:p>
          <a:p>
            <a:pPr>
              <a:defRPr/>
            </a:pPr>
            <a:r>
              <a:rPr lang="pt-BR" sz="7400" dirty="0">
                <a:latin typeface="Arial" panose="020B0604020202020204" pitchFamily="34" charset="0"/>
                <a:cs typeface="Arial" panose="020B0604020202020204" pitchFamily="34" charset="0"/>
              </a:rPr>
              <a:t>Trabalho em time</a:t>
            </a:r>
          </a:p>
          <a:p>
            <a:pPr>
              <a:defRPr/>
            </a:pPr>
            <a:r>
              <a:rPr lang="pt-BR" sz="7400" dirty="0">
                <a:latin typeface="Arial" panose="020B0604020202020204" pitchFamily="34" charset="0"/>
                <a:cs typeface="Arial" panose="020B0604020202020204" pitchFamily="34" charset="0"/>
              </a:rPr>
              <a:t>Bom relacionamento interpessoal</a:t>
            </a:r>
          </a:p>
          <a:p>
            <a:pPr>
              <a:defRPr/>
            </a:pPr>
            <a:r>
              <a:rPr lang="pt-BR" sz="7400" dirty="0">
                <a:latin typeface="Arial" panose="020B0604020202020204" pitchFamily="34" charset="0"/>
                <a:cs typeface="Arial" panose="020B0604020202020204" pitchFamily="34" charset="0"/>
              </a:rPr>
              <a:t>Capacidade de análise</a:t>
            </a:r>
          </a:p>
          <a:p>
            <a:pPr>
              <a:defRPr/>
            </a:pPr>
            <a:r>
              <a:rPr lang="pt-BR" sz="7400" dirty="0">
                <a:latin typeface="Arial" panose="020B0604020202020204" pitchFamily="34" charset="0"/>
                <a:cs typeface="Arial" panose="020B0604020202020204" pitchFamily="34" charset="0"/>
              </a:rPr>
              <a:t>Capacidade de síntese</a:t>
            </a:r>
          </a:p>
          <a:p>
            <a:pPr>
              <a:defRPr/>
            </a:pPr>
            <a:r>
              <a:rPr lang="pt-BR" sz="7400" dirty="0">
                <a:latin typeface="Arial" panose="020B0604020202020204" pitchFamily="34" charset="0"/>
                <a:cs typeface="Arial" panose="020B0604020202020204" pitchFamily="34" charset="0"/>
              </a:rPr>
              <a:t>Percepção do todo e de cada parte institucional</a:t>
            </a:r>
          </a:p>
          <a:p>
            <a:pPr>
              <a:defRPr/>
            </a:pPr>
            <a:r>
              <a:rPr lang="pt-BR" sz="7400" dirty="0">
                <a:latin typeface="Arial" panose="020B0604020202020204" pitchFamily="34" charset="0"/>
                <a:cs typeface="Arial" panose="020B0604020202020204" pitchFamily="34" charset="0"/>
              </a:rPr>
              <a:t>Capacidade de pesquisa</a:t>
            </a:r>
          </a:p>
          <a:p>
            <a:pPr>
              <a:defRPr/>
            </a:pPr>
            <a:r>
              <a:rPr lang="pt-BR" sz="7400" dirty="0">
                <a:latin typeface="Arial" panose="020B0604020202020204" pitchFamily="34" charset="0"/>
                <a:cs typeface="Arial" panose="020B0604020202020204" pitchFamily="34" charset="0"/>
              </a:rPr>
              <a:t>Filtrar informações </a:t>
            </a:r>
          </a:p>
          <a:p>
            <a:pPr>
              <a:defRPr/>
            </a:pPr>
            <a:r>
              <a:rPr lang="pt-BR" sz="7400" dirty="0">
                <a:latin typeface="Arial" panose="020B0604020202020204" pitchFamily="34" charset="0"/>
                <a:cs typeface="Arial" panose="020B0604020202020204" pitchFamily="34" charset="0"/>
              </a:rPr>
              <a:t>Responsabilidade e ética</a:t>
            </a:r>
          </a:p>
          <a:p>
            <a:pPr>
              <a:defRPr/>
            </a:pPr>
            <a:r>
              <a:rPr lang="pt-BR" sz="7400" dirty="0">
                <a:latin typeface="Arial" panose="020B0604020202020204" pitchFamily="34" charset="0"/>
                <a:cs typeface="Arial" panose="020B0604020202020204" pitchFamily="34" charset="0"/>
              </a:rPr>
              <a:t>Bons contatos</a:t>
            </a:r>
          </a:p>
          <a:p>
            <a:pPr>
              <a:defRPr/>
            </a:pPr>
            <a:r>
              <a:rPr lang="pt-BR" sz="7400" dirty="0">
                <a:latin typeface="Arial" panose="020B0604020202020204" pitchFamily="34" charset="0"/>
                <a:cs typeface="Arial" panose="020B0604020202020204" pitchFamily="34" charset="0"/>
              </a:rPr>
              <a:t>Boas idéias</a:t>
            </a:r>
          </a:p>
          <a:p>
            <a:pPr>
              <a:lnSpc>
                <a:spcPct val="80000"/>
              </a:lnSpc>
              <a:defRPr/>
            </a:pPr>
            <a:endParaRPr lang="pt-BR" sz="2000" b="1" dirty="0">
              <a:latin typeface="+mj-lt"/>
            </a:endParaRPr>
          </a:p>
          <a:p>
            <a:pPr>
              <a:lnSpc>
                <a:spcPct val="80000"/>
              </a:lnSpc>
              <a:defRPr/>
            </a:pPr>
            <a:endParaRPr lang="pt-BR" sz="2000" dirty="0">
              <a:latin typeface="+mj-lt"/>
            </a:endParaRPr>
          </a:p>
        </p:txBody>
      </p:sp>
    </p:spTree>
    <p:extLst>
      <p:ext uri="{BB962C8B-B14F-4D97-AF65-F5344CB8AC3E}">
        <p14:creationId xmlns:p14="http://schemas.microsoft.com/office/powerpoint/2010/main" val="2412464830"/>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906CE478-6A58-49C6-9237-1A7F9120EF02}"/>
              </a:ext>
            </a:extLst>
          </p:cNvPr>
          <p:cNvSpPr>
            <a:spLocks noGrp="1" noChangeArrowheads="1"/>
          </p:cNvSpPr>
          <p:nvPr>
            <p:ph type="title" idx="4294967295"/>
          </p:nvPr>
        </p:nvSpPr>
        <p:spPr>
          <a:xfrm>
            <a:off x="0" y="223838"/>
            <a:ext cx="9017000" cy="858837"/>
          </a:xfrm>
        </p:spPr>
        <p:txBody>
          <a:bodyPr rtlCol="0" anchor="t">
            <a:normAutofit fontScale="90000"/>
          </a:bodyPr>
          <a:lstStyle/>
          <a:p>
            <a:pPr>
              <a:defRPr/>
            </a:pPr>
            <a:r>
              <a:rPr lang="pt-BR" altLang="pt-BR" sz="7200" b="1">
                <a:solidFill>
                  <a:srgbClr val="00B050"/>
                </a:solidFill>
                <a:latin typeface="Arial" panose="020B0604020202020204" pitchFamily="34" charset="0"/>
              </a:rPr>
              <a:t>S</a:t>
            </a:r>
            <a:r>
              <a:rPr lang="pt-BR" altLang="pt-BR" sz="7200" b="1">
                <a:solidFill>
                  <a:srgbClr val="FFFF00"/>
                </a:solidFill>
                <a:latin typeface="Arial" panose="020B0604020202020204" pitchFamily="34" charset="0"/>
              </a:rPr>
              <a:t>P</a:t>
            </a:r>
            <a:r>
              <a:rPr lang="pt-BR" altLang="pt-BR" b="1">
                <a:latin typeface="Arial" panose="020B0604020202020204" pitchFamily="34" charset="0"/>
                <a:ea typeface="+mj-ea"/>
              </a:rPr>
              <a:t> </a:t>
            </a:r>
            <a:r>
              <a:rPr lang="pt-BR" altLang="pt-BR" b="1">
                <a:solidFill>
                  <a:srgbClr val="00B050"/>
                </a:solidFill>
                <a:latin typeface="Arial" panose="020B0604020202020204" pitchFamily="34" charset="0"/>
                <a:ea typeface="+mj-ea"/>
              </a:rPr>
              <a:t>SUPER</a:t>
            </a:r>
            <a:r>
              <a:rPr lang="pt-BR" altLang="pt-BR" b="1">
                <a:latin typeface="Arial" panose="020B0604020202020204" pitchFamily="34" charset="0"/>
                <a:ea typeface="+mj-ea"/>
              </a:rPr>
              <a:t> </a:t>
            </a:r>
            <a:r>
              <a:rPr lang="pt-BR" altLang="pt-BR" b="1">
                <a:solidFill>
                  <a:srgbClr val="FFFF00"/>
                </a:solidFill>
                <a:latin typeface="Arial" panose="020B0604020202020204" pitchFamily="34" charset="0"/>
                <a:ea typeface="+mj-ea"/>
              </a:rPr>
              <a:t>PROFISSIONAL</a:t>
            </a:r>
          </a:p>
        </p:txBody>
      </p:sp>
      <p:pic>
        <p:nvPicPr>
          <p:cNvPr id="18435" name="Picture 4" descr="MCj03833420000[1]"/>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10363200" y="2706688"/>
            <a:ext cx="1828800" cy="1519237"/>
          </a:xfrm>
          <a:noFill/>
        </p:spPr>
      </p:pic>
      <p:sp>
        <p:nvSpPr>
          <p:cNvPr id="18436" name="Rectangle 6"/>
          <p:cNvSpPr>
            <a:spLocks noChangeArrowheads="1"/>
          </p:cNvSpPr>
          <p:nvPr/>
        </p:nvSpPr>
        <p:spPr bwMode="auto">
          <a:xfrm>
            <a:off x="3000375" y="5418138"/>
            <a:ext cx="6650038"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r>
              <a:rPr lang="pt-BR" altLang="pt-BR" sz="2800" b="1">
                <a:solidFill>
                  <a:srgbClr val="000066"/>
                </a:solidFill>
                <a:latin typeface="Arial" panose="020B0604020202020204" pitchFamily="34" charset="0"/>
              </a:rPr>
              <a:t>Texto: “Pedra que não rola, cria limo”.</a:t>
            </a:r>
          </a:p>
        </p:txBody>
      </p:sp>
    </p:spTree>
    <p:extLst>
      <p:ext uri="{BB962C8B-B14F-4D97-AF65-F5344CB8AC3E}">
        <p14:creationId xmlns:p14="http://schemas.microsoft.com/office/powerpoint/2010/main" val="44903320"/>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10E5474B-3FFA-4CBC-80D5-6A40AB64FB8E}"/>
              </a:ext>
            </a:extLst>
          </p:cNvPr>
          <p:cNvSpPr>
            <a:spLocks noGrp="1" noChangeArrowheads="1"/>
          </p:cNvSpPr>
          <p:nvPr>
            <p:ph type="title" idx="4294967295"/>
          </p:nvPr>
        </p:nvSpPr>
        <p:spPr>
          <a:xfrm>
            <a:off x="0" y="223838"/>
            <a:ext cx="9017000" cy="858837"/>
          </a:xfrm>
        </p:spPr>
        <p:txBody>
          <a:bodyPr rtlCol="0" anchor="t">
            <a:normAutofit/>
          </a:bodyPr>
          <a:lstStyle/>
          <a:p>
            <a:pPr>
              <a:defRPr/>
            </a:pPr>
            <a:r>
              <a:rPr lang="pt-BR" altLang="pt-BR" b="1">
                <a:ea typeface="+mj-ea"/>
              </a:rPr>
              <a:t>Pedra que não rola cria limo...</a:t>
            </a:r>
          </a:p>
        </p:txBody>
      </p:sp>
      <p:sp>
        <p:nvSpPr>
          <p:cNvPr id="19459" name="Rectangle 3"/>
          <p:cNvSpPr>
            <a:spLocks noGrp="1" noChangeArrowheads="1"/>
          </p:cNvSpPr>
          <p:nvPr>
            <p:ph idx="4294967295"/>
          </p:nvPr>
        </p:nvSpPr>
        <p:spPr>
          <a:xfrm>
            <a:off x="119062" y="977817"/>
            <a:ext cx="11912517" cy="5326730"/>
          </a:xfrm>
        </p:spPr>
        <p:txBody>
          <a:bodyPr>
            <a:normAutofit/>
          </a:bodyPr>
          <a:lstStyle/>
          <a:p>
            <a:pPr eaLnBrk="1" hangingPunct="1">
              <a:buFont typeface="Wingdings" panose="05000000000000000000" pitchFamily="2" charset="2"/>
              <a:buNone/>
            </a:pPr>
            <a:r>
              <a:rPr lang="pt-BR" altLang="pt-BR" dirty="0">
                <a:solidFill>
                  <a:srgbClr val="00664D"/>
                </a:solidFill>
              </a:rPr>
              <a:t>	</a:t>
            </a:r>
            <a:r>
              <a:rPr lang="pt-BR" altLang="pt-BR" sz="2400" dirty="0"/>
              <a:t>Numa grande empresa trabalhava Álvaro, um funcionário sério, cumpridor de suas obrigações e, por isso mesmo, já com 20 anos de casa.</a:t>
            </a:r>
            <a:br>
              <a:rPr lang="pt-BR" altLang="pt-BR" sz="2400" dirty="0"/>
            </a:br>
            <a:br>
              <a:rPr lang="pt-BR" altLang="pt-BR" sz="2400" dirty="0"/>
            </a:br>
            <a:r>
              <a:rPr lang="pt-BR" altLang="pt-BR" sz="2400" dirty="0"/>
              <a:t>Um belo dia, Álvaro vai ao presidente da empresa fazer uma reclamação:</a:t>
            </a:r>
            <a:br>
              <a:rPr lang="pt-BR" altLang="pt-BR" sz="2400" dirty="0"/>
            </a:br>
            <a:br>
              <a:rPr lang="pt-BR" altLang="pt-BR" sz="2400" dirty="0"/>
            </a:br>
            <a:r>
              <a:rPr lang="pt-BR" altLang="pt-BR" sz="2400" dirty="0"/>
              <a:t>"Tenho trabalhado durante estes 20 anos em sua empresa com toda a dedicação e agora me sinto um tanto injustiçado. Juca, que está conosco há somente três anos, está ganhando mais que eu."</a:t>
            </a:r>
            <a:br>
              <a:rPr lang="pt-BR" altLang="pt-BR" sz="2400" dirty="0"/>
            </a:br>
            <a:br>
              <a:rPr lang="pt-BR" altLang="pt-BR" sz="2400" dirty="0"/>
            </a:br>
            <a:r>
              <a:rPr lang="pt-BR" altLang="pt-BR" sz="2400" dirty="0"/>
              <a:t>O patrão fingiu não ouvi-lo e, cumprimentando, falou:</a:t>
            </a:r>
            <a:br>
              <a:rPr lang="pt-BR" altLang="pt-BR" sz="2400" dirty="0"/>
            </a:br>
            <a:br>
              <a:rPr lang="pt-BR" altLang="pt-BR" sz="2400" dirty="0"/>
            </a:br>
            <a:r>
              <a:rPr lang="pt-BR" altLang="pt-BR" sz="2400" dirty="0"/>
              <a:t>"Foi bom você ter vindo aqui. Tenho um problema para resolver e você poderá ajudar-me. Estou querendo dar ao nosso pessoal uma sobremesa após o almoço de hoje. Aqui na esquina tem uma barraca de frutas. Vá até lá e verifique se tem abacaxi."</a:t>
            </a:r>
          </a:p>
        </p:txBody>
      </p:sp>
    </p:spTree>
    <p:extLst>
      <p:ext uri="{BB962C8B-B14F-4D97-AF65-F5344CB8AC3E}">
        <p14:creationId xmlns:p14="http://schemas.microsoft.com/office/powerpoint/2010/main" val="306995236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DBFD6A8A-C2EA-4ACE-9DBD-170B9559BB32}"/>
              </a:ext>
            </a:extLst>
          </p:cNvPr>
          <p:cNvSpPr>
            <a:spLocks noGrp="1" noChangeArrowheads="1"/>
          </p:cNvSpPr>
          <p:nvPr>
            <p:ph type="title" idx="4294967295"/>
          </p:nvPr>
        </p:nvSpPr>
        <p:spPr>
          <a:xfrm>
            <a:off x="0" y="223838"/>
            <a:ext cx="9017000" cy="858837"/>
          </a:xfrm>
        </p:spPr>
        <p:txBody>
          <a:bodyPr rtlCol="0" anchor="t">
            <a:normAutofit/>
          </a:bodyPr>
          <a:lstStyle/>
          <a:p>
            <a:pPr>
              <a:defRPr/>
            </a:pPr>
            <a:r>
              <a:rPr lang="pt-BR" altLang="pt-BR" b="1">
                <a:ea typeface="+mj-ea"/>
              </a:rPr>
              <a:t>Continuação...</a:t>
            </a:r>
          </a:p>
        </p:txBody>
      </p:sp>
      <p:sp>
        <p:nvSpPr>
          <p:cNvPr id="10243" name="Rectangle 3">
            <a:extLst>
              <a:ext uri="{FF2B5EF4-FFF2-40B4-BE49-F238E27FC236}">
                <a16:creationId xmlns:a16="http://schemas.microsoft.com/office/drawing/2014/main" id="{D611866E-1D86-4DA3-AF51-31A1A2EE835D}"/>
              </a:ext>
            </a:extLst>
          </p:cNvPr>
          <p:cNvSpPr>
            <a:spLocks noGrp="1" noChangeArrowheads="1"/>
          </p:cNvSpPr>
          <p:nvPr>
            <p:ph idx="4294967295"/>
          </p:nvPr>
        </p:nvSpPr>
        <p:spPr>
          <a:xfrm>
            <a:off x="238125" y="821406"/>
            <a:ext cx="11757359" cy="5471110"/>
          </a:xfrm>
        </p:spPr>
        <p:txBody>
          <a:bodyPr rtlCol="0">
            <a:normAutofit fontScale="25000" lnSpcReduction="20000"/>
          </a:bodyPr>
          <a:lstStyle/>
          <a:p>
            <a:pPr>
              <a:lnSpc>
                <a:spcPct val="120000"/>
              </a:lnSpc>
              <a:buNone/>
              <a:defRPr/>
            </a:pPr>
            <a:r>
              <a:rPr lang="pt-BR" dirty="0">
                <a:ea typeface="+mn-ea"/>
              </a:rPr>
              <a:t>	</a:t>
            </a:r>
            <a:r>
              <a:rPr lang="pt-BR" sz="9600" dirty="0"/>
              <a:t>Álvaro, sem entender, saiu da sala e foi cumprir a missão a ele designada. Em cinco minutos estava de volta.</a:t>
            </a:r>
            <a:br>
              <a:rPr lang="pt-BR" sz="9600" dirty="0"/>
            </a:br>
            <a:br>
              <a:rPr lang="pt-BR" sz="9600" dirty="0"/>
            </a:br>
            <a:r>
              <a:rPr lang="pt-BR" sz="9600" dirty="0"/>
              <a:t>"Como é?", disse o patrão. "Verifiquei como o senhor mandou e a barraca tem o abacaxi", disse Álvaro. "E quanto custa cada?", perguntou o patrão.</a:t>
            </a:r>
            <a:br>
              <a:rPr lang="pt-BR" sz="9600" dirty="0"/>
            </a:br>
            <a:br>
              <a:rPr lang="pt-BR" sz="9600" dirty="0"/>
            </a:br>
            <a:r>
              <a:rPr lang="pt-BR" sz="9600" dirty="0"/>
              <a:t>"Isto eu não perguntei não!", respondeu Álvaro. "Eles têm quantidade suficiente para atender todos os funcionários?", perguntou o patrão. "Não sei, não...", respondeu Álvaro. "Muito bem, Álvaro, sente-se ali naquela cadeira e me aguarde um pouco."</a:t>
            </a:r>
            <a:br>
              <a:rPr lang="pt-BR" sz="9600" dirty="0"/>
            </a:br>
            <a:br>
              <a:rPr lang="pt-BR" sz="9600" dirty="0"/>
            </a:br>
            <a:r>
              <a:rPr lang="pt-BR" sz="9600" dirty="0"/>
              <a:t>Pegou o telefone e mandou chamar o Juca. Quando Juca entrou na sala o patrão foi logo dizendo:</a:t>
            </a:r>
            <a:br>
              <a:rPr lang="pt-BR" sz="9600" dirty="0"/>
            </a:br>
            <a:br>
              <a:rPr lang="pt-BR" sz="9600" dirty="0"/>
            </a:br>
            <a:r>
              <a:rPr lang="pt-BR" sz="9600" dirty="0"/>
              <a:t>"Juca, estou querendo dar ao nosso pessoal uma sobremesa após o almoço de hoje. Aqui na esquina tem uma barraca de frutas, vá até lá e verifique se tem abacaxi."</a:t>
            </a:r>
            <a:br>
              <a:rPr lang="pt-BR" sz="9600" dirty="0"/>
            </a:br>
            <a:br>
              <a:rPr lang="pt-BR" sz="9600" dirty="0"/>
            </a:br>
            <a:br>
              <a:rPr lang="pt-BR" sz="5100" dirty="0"/>
            </a:br>
            <a:endParaRPr lang="pt-BR" sz="5100" dirty="0"/>
          </a:p>
        </p:txBody>
      </p:sp>
    </p:spTree>
    <p:extLst>
      <p:ext uri="{BB962C8B-B14F-4D97-AF65-F5344CB8AC3E}">
        <p14:creationId xmlns:p14="http://schemas.microsoft.com/office/powerpoint/2010/main" val="233374758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24CC4F0B-CE81-412D-8017-F1A542159B4D}"/>
              </a:ext>
            </a:extLst>
          </p:cNvPr>
          <p:cNvSpPr>
            <a:spLocks noGrp="1" noChangeArrowheads="1"/>
          </p:cNvSpPr>
          <p:nvPr>
            <p:ph type="title" idx="4294967295"/>
          </p:nvPr>
        </p:nvSpPr>
        <p:spPr>
          <a:xfrm>
            <a:off x="0" y="0"/>
            <a:ext cx="9017000" cy="858838"/>
          </a:xfrm>
        </p:spPr>
        <p:txBody>
          <a:bodyPr rtlCol="0" anchor="t">
            <a:normAutofit/>
          </a:bodyPr>
          <a:lstStyle/>
          <a:p>
            <a:pPr>
              <a:defRPr/>
            </a:pPr>
            <a:r>
              <a:rPr lang="pt-BR" altLang="pt-BR" b="1" dirty="0">
                <a:ea typeface="+mj-ea"/>
              </a:rPr>
              <a:t>Parte final...</a:t>
            </a:r>
          </a:p>
        </p:txBody>
      </p:sp>
      <p:sp>
        <p:nvSpPr>
          <p:cNvPr id="11267" name="Rectangle 3">
            <a:extLst>
              <a:ext uri="{FF2B5EF4-FFF2-40B4-BE49-F238E27FC236}">
                <a16:creationId xmlns:a16="http://schemas.microsoft.com/office/drawing/2014/main" id="{B9BE7B53-83B7-4FD7-9712-06600C509DF0}"/>
              </a:ext>
            </a:extLst>
          </p:cNvPr>
          <p:cNvSpPr>
            <a:spLocks noGrp="1" noChangeArrowheads="1"/>
          </p:cNvSpPr>
          <p:nvPr>
            <p:ph idx="4294967295"/>
          </p:nvPr>
        </p:nvSpPr>
        <p:spPr>
          <a:xfrm>
            <a:off x="0" y="688975"/>
            <a:ext cx="11987213" cy="5651500"/>
          </a:xfrm>
        </p:spPr>
        <p:txBody>
          <a:bodyPr rtlCol="0">
            <a:normAutofit fontScale="77500" lnSpcReduction="20000"/>
          </a:bodyPr>
          <a:lstStyle/>
          <a:p>
            <a:pPr marL="0" indent="0">
              <a:lnSpc>
                <a:spcPct val="110000"/>
              </a:lnSpc>
              <a:buNone/>
              <a:defRPr/>
            </a:pPr>
            <a:r>
              <a:rPr lang="pt-BR" dirty="0"/>
              <a:t>Em oito minutos Juca estava de volta. "E então, Juca?", perguntou o patrão. "Tem abacaxi, sim. Tem quantidade suficiente para todo o pessoal e se o senhor quiser eles têm também laranja e banana."</a:t>
            </a:r>
            <a:br>
              <a:rPr lang="pt-BR" dirty="0"/>
            </a:br>
            <a:br>
              <a:rPr lang="pt-BR" dirty="0"/>
            </a:br>
            <a:r>
              <a:rPr lang="pt-BR" dirty="0"/>
              <a:t>"E o preço?", perguntou o patrão. "Bom, o abacaxi eles estão vendendo a R$1,00 o quilo, a banana a R$0,50 o quilo e a laranja a R$ 20,00 o cento, já descascada. Mas, como eu disse que a quantidade era grande, eles me concederam um desconto de 15%. Deixei reservado o abacaxi.. Caso o senhor resolva, eu confirmo."</a:t>
            </a:r>
            <a:br>
              <a:rPr lang="pt-BR" dirty="0"/>
            </a:br>
            <a:br>
              <a:rPr lang="pt-BR" dirty="0"/>
            </a:br>
            <a:r>
              <a:rPr lang="pt-BR" dirty="0"/>
              <a:t>Agradecendo a Juca pelas informações, o patrão dispensou-o, voltou-se para Álvaro na cadeira ao lado, e lhe disse:</a:t>
            </a:r>
            <a:br>
              <a:rPr lang="pt-BR" dirty="0"/>
            </a:br>
            <a:br>
              <a:rPr lang="pt-BR" dirty="0"/>
            </a:br>
            <a:r>
              <a:rPr lang="pt-BR" dirty="0"/>
              <a:t>"Você perguntou alguma coisa quando entrou em minha sala hoje. O que era mesmo?"</a:t>
            </a:r>
            <a:br>
              <a:rPr lang="pt-BR" dirty="0"/>
            </a:br>
            <a:br>
              <a:rPr lang="pt-BR" dirty="0"/>
            </a:br>
            <a:r>
              <a:rPr lang="pt-BR" dirty="0"/>
              <a:t>"Nada sério não, patrão", respondeu Álvaro.</a:t>
            </a:r>
          </a:p>
          <a:p>
            <a:pPr marL="0" indent="0" algn="r">
              <a:lnSpc>
                <a:spcPct val="110000"/>
              </a:lnSpc>
              <a:buNone/>
              <a:defRPr/>
            </a:pPr>
            <a:r>
              <a:rPr lang="pt-BR" dirty="0"/>
              <a:t>		</a:t>
            </a:r>
            <a:r>
              <a:rPr lang="pt-BR" sz="2200" dirty="0"/>
              <a:t>			</a:t>
            </a:r>
            <a:r>
              <a:rPr lang="pt-BR" sz="1900" b="1" dirty="0"/>
              <a:t>(Texto de autor desconhecido)</a:t>
            </a:r>
            <a:br>
              <a:rPr lang="pt-BR" sz="1900" b="1" dirty="0"/>
            </a:br>
            <a:endParaRPr lang="pt-BR" sz="1800" b="1" dirty="0"/>
          </a:p>
        </p:txBody>
      </p:sp>
    </p:spTree>
    <p:extLst>
      <p:ext uri="{BB962C8B-B14F-4D97-AF65-F5344CB8AC3E}">
        <p14:creationId xmlns:p14="http://schemas.microsoft.com/office/powerpoint/2010/main" val="292274967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F5CFA338-B015-4892-807D-6EB5E72946BB}"/>
              </a:ext>
            </a:extLst>
          </p:cNvPr>
          <p:cNvSpPr>
            <a:spLocks noChangeArrowheads="1"/>
          </p:cNvSpPr>
          <p:nvPr/>
        </p:nvSpPr>
        <p:spPr bwMode="auto">
          <a:xfrm>
            <a:off x="364540" y="428376"/>
            <a:ext cx="11510627" cy="5539978"/>
          </a:xfrm>
          <a:prstGeom prst="rect">
            <a:avLst/>
          </a:prstGeom>
          <a:noFill/>
          <a:ln w="9525">
            <a:noFill/>
            <a:miter lim="800000"/>
            <a:headEnd/>
            <a:tailEnd/>
          </a:ln>
        </p:spPr>
        <p:txBody>
          <a:bodyPr wrap="square">
            <a:spAutoFit/>
          </a:bodyPr>
          <a:lstStyle/>
          <a:p>
            <a:pPr algn="just">
              <a:defRPr/>
            </a:pPr>
            <a:r>
              <a:rPr lang="pt-BR" sz="2000" b="1" dirty="0">
                <a:latin typeface="Tahoma" pitchFamily="34" charset="0"/>
              </a:rPr>
              <a:t>	</a:t>
            </a:r>
            <a:r>
              <a:rPr lang="pt-BR" sz="3600" b="1" dirty="0">
                <a:latin typeface="+mj-lt"/>
              </a:rPr>
              <a:t>Sociedade organizacional</a:t>
            </a:r>
          </a:p>
          <a:p>
            <a:pPr algn="just">
              <a:defRPr/>
            </a:pPr>
            <a:endParaRPr lang="pt-BR" sz="3600" dirty="0">
              <a:latin typeface="+mj-lt"/>
            </a:endParaRPr>
          </a:p>
          <a:p>
            <a:pPr algn="just">
              <a:defRPr/>
            </a:pPr>
            <a:r>
              <a:rPr lang="pt-BR" sz="3600" dirty="0">
                <a:latin typeface="+mj-lt"/>
              </a:rPr>
              <a:t>	As organizações são formadas por pessoas que administram conhecimentos, recursos físicos e materiais, financeiros, tecnológicos, mercadológicos etc. </a:t>
            </a:r>
          </a:p>
          <a:p>
            <a:pPr algn="just">
              <a:defRPr/>
            </a:pPr>
            <a:endParaRPr lang="pt-BR" sz="3600" dirty="0">
              <a:latin typeface="+mj-lt"/>
            </a:endParaRPr>
          </a:p>
          <a:p>
            <a:pPr algn="just">
              <a:defRPr/>
            </a:pPr>
            <a:r>
              <a:rPr lang="pt-BR" sz="3600" dirty="0">
                <a:latin typeface="+mj-lt"/>
              </a:rPr>
              <a:t>	A uma estreita interdependência: a vida das pessoas depende das organizações e estas dependem da atividade e do trabalho das pessoas.</a:t>
            </a:r>
          </a:p>
          <a:p>
            <a:pPr algn="just">
              <a:defRPr/>
            </a:pPr>
            <a:endParaRPr lang="pt-BR" sz="1200" dirty="0">
              <a:latin typeface="+mj-lt"/>
            </a:endParaRPr>
          </a:p>
          <a:p>
            <a:pPr algn="just">
              <a:defRPr/>
            </a:pPr>
            <a:r>
              <a:rPr lang="pt-BR" dirty="0">
                <a:latin typeface="+mj-lt"/>
              </a:rPr>
              <a:t>	</a:t>
            </a:r>
          </a:p>
        </p:txBody>
      </p:sp>
    </p:spTree>
    <p:extLst>
      <p:ext uri="{BB962C8B-B14F-4D97-AF65-F5344CB8AC3E}">
        <p14:creationId xmlns:p14="http://schemas.microsoft.com/office/powerpoint/2010/main" val="1877863008"/>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290" name="Rectangle 11">
            <a:extLst>
              <a:ext uri="{FF2B5EF4-FFF2-40B4-BE49-F238E27FC236}">
                <a16:creationId xmlns:a16="http://schemas.microsoft.com/office/drawing/2014/main" id="{AB0CC6D1-17AA-422C-AB4D-F9A173B9B89C}"/>
              </a:ext>
            </a:extLst>
          </p:cNvPr>
          <p:cNvSpPr>
            <a:spLocks noChangeArrowheads="1"/>
          </p:cNvSpPr>
          <p:nvPr/>
        </p:nvSpPr>
        <p:spPr bwMode="auto">
          <a:xfrm>
            <a:off x="402639" y="278817"/>
            <a:ext cx="11568781" cy="5816977"/>
          </a:xfrm>
          <a:prstGeom prst="rect">
            <a:avLst/>
          </a:prstGeom>
          <a:noFill/>
          <a:ln w="9525">
            <a:noFill/>
            <a:miter lim="800000"/>
            <a:headEnd/>
            <a:tailEnd/>
          </a:ln>
        </p:spPr>
        <p:txBody>
          <a:bodyPr wrap="square">
            <a:spAutoFit/>
          </a:bodyPr>
          <a:lstStyle/>
          <a:p>
            <a:pPr algn="just">
              <a:defRPr/>
            </a:pPr>
            <a:r>
              <a:rPr lang="pt-BR" b="1" dirty="0">
                <a:latin typeface="Tahoma" pitchFamily="34" charset="0"/>
              </a:rPr>
              <a:t>	</a:t>
            </a:r>
          </a:p>
          <a:p>
            <a:pPr algn="just">
              <a:defRPr/>
            </a:pPr>
            <a:r>
              <a:rPr lang="pt-BR" b="1" dirty="0">
                <a:latin typeface="Tahoma" pitchFamily="34" charset="0"/>
              </a:rPr>
              <a:t>	</a:t>
            </a:r>
            <a:r>
              <a:rPr lang="pt-BR" sz="2800" b="1" dirty="0">
                <a:latin typeface="+mj-lt"/>
              </a:rPr>
              <a:t>O administrador e a organização</a:t>
            </a:r>
          </a:p>
          <a:p>
            <a:pPr algn="just">
              <a:defRPr/>
            </a:pPr>
            <a:endParaRPr lang="pt-BR" sz="2800" b="1" dirty="0">
              <a:latin typeface="+mj-lt"/>
            </a:endParaRPr>
          </a:p>
          <a:p>
            <a:pPr algn="just">
              <a:defRPr/>
            </a:pPr>
            <a:r>
              <a:rPr lang="pt-BR" sz="2800" b="1" dirty="0">
                <a:latin typeface="+mj-lt"/>
              </a:rPr>
              <a:t>	</a:t>
            </a:r>
            <a:r>
              <a:rPr lang="pt-BR" sz="2800" dirty="0">
                <a:latin typeface="+mj-lt"/>
              </a:rPr>
              <a:t>Em cada Organização, o administrador desenvolve estratégias, define missões, estabelecem objetivos e metas, dimensionam recursos, planeja sua aplicação, efetua diagnóstico, soluciona problemas, impulsiona inovações, aplica e gerencia o conhecimento, cria valor. No fundo, o administrador é um gerador de riqueza, seja material, financeira ou intelectual.</a:t>
            </a:r>
          </a:p>
          <a:p>
            <a:pPr algn="just">
              <a:defRPr/>
            </a:pPr>
            <a:endParaRPr lang="pt-BR" sz="2800" dirty="0">
              <a:latin typeface="+mj-lt"/>
            </a:endParaRPr>
          </a:p>
          <a:p>
            <a:pPr algn="just">
              <a:defRPr/>
            </a:pPr>
            <a:r>
              <a:rPr lang="pt-BR" sz="2800" dirty="0">
                <a:latin typeface="+mj-lt"/>
              </a:rPr>
              <a:t>	O seu sucesso profissional depende de como ele vai aplicar seus conhecimentos em situações complicadas que nem sempre estão sob seu controle e, sobretudo, dentro da sua habilidade em conseguir fazê-lo. Existem três tipos de Habilidades (Técnica, Humana e Conceitual).</a:t>
            </a:r>
          </a:p>
          <a:p>
            <a:pPr algn="just">
              <a:defRPr/>
            </a:pPr>
            <a:endParaRPr lang="pt-BR" dirty="0">
              <a:latin typeface="+mj-lt"/>
            </a:endParaRPr>
          </a:p>
        </p:txBody>
      </p:sp>
    </p:spTree>
    <p:extLst>
      <p:ext uri="{BB962C8B-B14F-4D97-AF65-F5344CB8AC3E}">
        <p14:creationId xmlns:p14="http://schemas.microsoft.com/office/powerpoint/2010/main" val="1027777730"/>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626" name="Rectangle 2"/>
          <p:cNvSpPr>
            <a:spLocks noChangeArrowheads="1"/>
          </p:cNvSpPr>
          <p:nvPr/>
        </p:nvSpPr>
        <p:spPr bwMode="auto">
          <a:xfrm>
            <a:off x="3284539" y="1008063"/>
            <a:ext cx="4111625"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r>
              <a:rPr lang="pt-BR" altLang="pt-BR" sz="3200">
                <a:latin typeface="Arial" panose="020B0604020202020204" pitchFamily="34" charset="0"/>
              </a:rPr>
              <a:t>Habilidade Técnica</a:t>
            </a:r>
            <a:endParaRPr lang="pt-BR" altLang="pt-BR" sz="1400">
              <a:latin typeface="Arial" panose="020B0604020202020204" pitchFamily="34" charset="0"/>
            </a:endParaRPr>
          </a:p>
          <a:p>
            <a:pPr algn="just"/>
            <a:r>
              <a:rPr lang="pt-BR" altLang="pt-BR" sz="1400" b="1">
                <a:latin typeface="Arial" panose="020B0604020202020204" pitchFamily="34" charset="0"/>
              </a:rPr>
              <a:t>	</a:t>
            </a:r>
            <a:r>
              <a:rPr lang="pt-BR" altLang="pt-BR" sz="1400" b="1" i="1">
                <a:latin typeface="Arial" panose="020B0604020202020204" pitchFamily="34" charset="0"/>
              </a:rPr>
              <a:t> </a:t>
            </a:r>
            <a:endParaRPr lang="pt-BR" altLang="pt-BR" sz="1400" b="1">
              <a:latin typeface="Arial" panose="020B0604020202020204" pitchFamily="34" charset="0"/>
            </a:endParaRPr>
          </a:p>
        </p:txBody>
      </p:sp>
      <p:sp>
        <p:nvSpPr>
          <p:cNvPr id="26627" name="Rectangle 2"/>
          <p:cNvSpPr>
            <a:spLocks noChangeArrowheads="1"/>
          </p:cNvSpPr>
          <p:nvPr/>
        </p:nvSpPr>
        <p:spPr bwMode="auto">
          <a:xfrm>
            <a:off x="4202113" y="2884488"/>
            <a:ext cx="488156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just"/>
            <a:r>
              <a:rPr lang="pt-BR" altLang="pt-BR" sz="3600">
                <a:latin typeface="Arial" panose="020B0604020202020204" pitchFamily="34" charset="0"/>
              </a:rPr>
              <a:t>Habilidade</a:t>
            </a:r>
            <a:r>
              <a:rPr lang="pt-BR" altLang="pt-BR" sz="3200">
                <a:latin typeface="Arial" panose="020B0604020202020204" pitchFamily="34" charset="0"/>
              </a:rPr>
              <a:t> Conceitual</a:t>
            </a:r>
          </a:p>
        </p:txBody>
      </p:sp>
      <p:sp>
        <p:nvSpPr>
          <p:cNvPr id="26628" name="Rectangle 2"/>
          <p:cNvSpPr>
            <a:spLocks noChangeArrowheads="1"/>
          </p:cNvSpPr>
          <p:nvPr/>
        </p:nvSpPr>
        <p:spPr bwMode="auto">
          <a:xfrm>
            <a:off x="4614864" y="5267325"/>
            <a:ext cx="421163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just"/>
            <a:r>
              <a:rPr lang="pt-BR" altLang="pt-BR" sz="3200">
                <a:latin typeface="Arial" panose="020B0604020202020204" pitchFamily="34" charset="0"/>
              </a:rPr>
              <a:t>Habilidade Humana	 </a:t>
            </a:r>
          </a:p>
        </p:txBody>
      </p:sp>
    </p:spTree>
    <p:extLst>
      <p:ext uri="{BB962C8B-B14F-4D97-AF65-F5344CB8AC3E}">
        <p14:creationId xmlns:p14="http://schemas.microsoft.com/office/powerpoint/2010/main" val="2898199140"/>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674" name="Rectangle 3"/>
          <p:cNvSpPr>
            <a:spLocks noChangeArrowheads="1"/>
          </p:cNvSpPr>
          <p:nvPr/>
        </p:nvSpPr>
        <p:spPr bwMode="auto">
          <a:xfrm>
            <a:off x="3824288" y="1724025"/>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pt-BR" altLang="pt-BR"/>
          </a:p>
        </p:txBody>
      </p:sp>
      <p:graphicFrame>
        <p:nvGraphicFramePr>
          <p:cNvPr id="28675" name="Object 2"/>
          <p:cNvGraphicFramePr>
            <a:graphicFrameLocks noChangeAspect="1"/>
          </p:cNvGraphicFramePr>
          <p:nvPr/>
        </p:nvGraphicFramePr>
        <p:xfrm>
          <a:off x="1833564" y="187326"/>
          <a:ext cx="8510587" cy="5756275"/>
        </p:xfrm>
        <a:graphic>
          <a:graphicData uri="http://schemas.openxmlformats.org/presentationml/2006/ole">
            <mc:AlternateContent xmlns:mc="http://schemas.openxmlformats.org/markup-compatibility/2006">
              <mc:Choice xmlns:v="urn:schemas-microsoft-com:vml" Requires="v">
                <p:oleObj r:id="rId2" imgW="4543425" imgH="3406775" progId="PowerPoint.Slide.8">
                  <p:embed/>
                </p:oleObj>
              </mc:Choice>
              <mc:Fallback>
                <p:oleObj r:id="rId2" imgW="4543425" imgH="3406775" progId="PowerPoint.Slide.8">
                  <p:embed/>
                  <p:pic>
                    <p:nvPicPr>
                      <p:cNvPr id="28675"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3564" y="187326"/>
                        <a:ext cx="8510587" cy="575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8676" name="Rectangle 4"/>
          <p:cNvSpPr>
            <a:spLocks noChangeArrowheads="1"/>
          </p:cNvSpPr>
          <p:nvPr/>
        </p:nvSpPr>
        <p:spPr bwMode="auto">
          <a:xfrm>
            <a:off x="1803400" y="6048376"/>
            <a:ext cx="85296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r>
              <a:rPr lang="pt-BR" altLang="pt-BR" sz="2000"/>
              <a:t>Figura 1. As Três Habilidades do Administrador</a:t>
            </a:r>
          </a:p>
        </p:txBody>
      </p:sp>
    </p:spTree>
    <p:extLst>
      <p:ext uri="{BB962C8B-B14F-4D97-AF65-F5344CB8AC3E}">
        <p14:creationId xmlns:p14="http://schemas.microsoft.com/office/powerpoint/2010/main" val="2673147726"/>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9698" name="Rectangle 3"/>
          <p:cNvSpPr>
            <a:spLocks noChangeArrowheads="1"/>
          </p:cNvSpPr>
          <p:nvPr/>
        </p:nvSpPr>
        <p:spPr bwMode="auto">
          <a:xfrm>
            <a:off x="3843338" y="1738313"/>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pt-BR" altLang="pt-BR"/>
          </a:p>
        </p:txBody>
      </p:sp>
      <p:graphicFrame>
        <p:nvGraphicFramePr>
          <p:cNvPr id="29699" name="Object 2"/>
          <p:cNvGraphicFramePr>
            <a:graphicFrameLocks noChangeAspect="1"/>
          </p:cNvGraphicFramePr>
          <p:nvPr/>
        </p:nvGraphicFramePr>
        <p:xfrm>
          <a:off x="2189164" y="268289"/>
          <a:ext cx="8021637" cy="5678487"/>
        </p:xfrm>
        <a:graphic>
          <a:graphicData uri="http://schemas.openxmlformats.org/presentationml/2006/ole">
            <mc:AlternateContent xmlns:mc="http://schemas.openxmlformats.org/markup-compatibility/2006">
              <mc:Choice xmlns:v="urn:schemas-microsoft-com:vml" Requires="v">
                <p:oleObj name="Slide" r:id="rId2" imgW="4239933" imgH="3179163" progId="PowerPoint.Slide.8">
                  <p:embed/>
                </p:oleObj>
              </mc:Choice>
              <mc:Fallback>
                <p:oleObj name="Slide" r:id="rId2" imgW="4239933" imgH="3179163" progId="PowerPoint.Slide.8">
                  <p:embed/>
                  <p:pic>
                    <p:nvPicPr>
                      <p:cNvPr id="29699"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89164" y="268289"/>
                        <a:ext cx="8021637" cy="567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700" name="Text Box 4"/>
          <p:cNvSpPr txBox="1">
            <a:spLocks noChangeArrowheads="1"/>
          </p:cNvSpPr>
          <p:nvPr/>
        </p:nvSpPr>
        <p:spPr bwMode="auto">
          <a:xfrm>
            <a:off x="3843338" y="6036010"/>
            <a:ext cx="76120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r>
              <a:rPr lang="pt-BR" altLang="pt-BR" sz="2000" dirty="0"/>
              <a:t>Figura 2. As Competências Duráveis do Administrador</a:t>
            </a:r>
          </a:p>
        </p:txBody>
      </p:sp>
    </p:spTree>
    <p:extLst>
      <p:ext uri="{BB962C8B-B14F-4D97-AF65-F5344CB8AC3E}">
        <p14:creationId xmlns:p14="http://schemas.microsoft.com/office/powerpoint/2010/main" val="467002608"/>
      </p:ext>
    </p:ext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22" name="Oval 3"/>
          <p:cNvSpPr>
            <a:spLocks noChangeArrowheads="1"/>
          </p:cNvSpPr>
          <p:nvPr/>
        </p:nvSpPr>
        <p:spPr bwMode="auto">
          <a:xfrm>
            <a:off x="3641726" y="1271589"/>
            <a:ext cx="4906963" cy="4314825"/>
          </a:xfrm>
          <a:prstGeom prst="ellipse">
            <a:avLst/>
          </a:prstGeom>
          <a:solidFill>
            <a:srgbClr val="DDDDDD"/>
          </a:solidFill>
          <a:ln w="9525">
            <a:solidFill>
              <a:schemeClr val="tx1"/>
            </a:solidFill>
            <a:round/>
            <a:headEnd/>
            <a:tailEnd/>
          </a:ln>
          <a:effectLst>
            <a:outerShdw dist="107763" dir="2700000" algn="ctr" rotWithShape="0">
              <a:schemeClr val="bg2"/>
            </a:outerShdw>
          </a:effectLst>
        </p:spPr>
        <p:txBody>
          <a:bodyPr wrap="none" anchor="ct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pt-BR" altLang="pt-BR"/>
          </a:p>
        </p:txBody>
      </p:sp>
      <p:sp>
        <p:nvSpPr>
          <p:cNvPr id="30723" name="Oval 4"/>
          <p:cNvSpPr>
            <a:spLocks noChangeArrowheads="1"/>
          </p:cNvSpPr>
          <p:nvPr/>
        </p:nvSpPr>
        <p:spPr bwMode="auto">
          <a:xfrm>
            <a:off x="4951413" y="1422401"/>
            <a:ext cx="2292350" cy="2112963"/>
          </a:xfrm>
          <a:prstGeom prst="ellipse">
            <a:avLst/>
          </a:prstGeom>
          <a:solidFill>
            <a:srgbClr val="FFFFFF"/>
          </a:solidFill>
          <a:ln w="9525">
            <a:solidFill>
              <a:schemeClr val="tx1"/>
            </a:solidFill>
            <a:round/>
            <a:headEnd/>
            <a:tailEnd/>
          </a:ln>
          <a:effectLst>
            <a:outerShdw dist="107763" dir="2700000" algn="ctr" rotWithShape="0">
              <a:schemeClr val="bg2"/>
            </a:outerShdw>
          </a:effectLst>
        </p:spPr>
        <p:txBody>
          <a:bodyPr wrap="none" anchor="ct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pt-BR" altLang="pt-BR"/>
          </a:p>
        </p:txBody>
      </p:sp>
      <p:sp>
        <p:nvSpPr>
          <p:cNvPr id="30724" name="Oval 8"/>
          <p:cNvSpPr>
            <a:spLocks noChangeArrowheads="1"/>
          </p:cNvSpPr>
          <p:nvPr/>
        </p:nvSpPr>
        <p:spPr bwMode="auto">
          <a:xfrm>
            <a:off x="3905250" y="2817813"/>
            <a:ext cx="2292350" cy="2112962"/>
          </a:xfrm>
          <a:prstGeom prst="ellipse">
            <a:avLst/>
          </a:prstGeom>
          <a:solidFill>
            <a:srgbClr val="FFFFFF"/>
          </a:solidFill>
          <a:ln w="9525">
            <a:solidFill>
              <a:schemeClr val="tx1"/>
            </a:solidFill>
            <a:round/>
            <a:headEnd/>
            <a:tailEnd/>
          </a:ln>
          <a:effectLst>
            <a:outerShdw dist="107763" dir="2700000" algn="ctr" rotWithShape="0">
              <a:schemeClr val="bg2"/>
            </a:outerShdw>
          </a:effectLst>
        </p:spPr>
        <p:txBody>
          <a:bodyPr wrap="none" anchor="ct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pt-BR" altLang="pt-BR"/>
          </a:p>
        </p:txBody>
      </p:sp>
      <p:sp>
        <p:nvSpPr>
          <p:cNvPr id="30725" name="AutoShape 9"/>
          <p:cNvSpPr>
            <a:spLocks noChangeArrowheads="1"/>
          </p:cNvSpPr>
          <p:nvPr/>
        </p:nvSpPr>
        <p:spPr bwMode="auto">
          <a:xfrm>
            <a:off x="1628775" y="1068388"/>
            <a:ext cx="1544638" cy="4868862"/>
          </a:xfrm>
          <a:prstGeom prst="flowChartAlternateProcess">
            <a:avLst/>
          </a:prstGeom>
          <a:solidFill>
            <a:srgbClr val="DDDDDD"/>
          </a:solid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pt-BR" altLang="pt-BR"/>
          </a:p>
        </p:txBody>
      </p:sp>
      <p:sp>
        <p:nvSpPr>
          <p:cNvPr id="30726" name="AutoShape 10"/>
          <p:cNvSpPr>
            <a:spLocks noChangeArrowheads="1"/>
          </p:cNvSpPr>
          <p:nvPr/>
        </p:nvSpPr>
        <p:spPr bwMode="auto">
          <a:xfrm>
            <a:off x="8977314" y="1069976"/>
            <a:ext cx="1544637" cy="4868863"/>
          </a:xfrm>
          <a:prstGeom prst="flowChartAlternateProcess">
            <a:avLst/>
          </a:prstGeom>
          <a:solidFill>
            <a:srgbClr val="DDDDDD"/>
          </a:solid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pt-BR" altLang="pt-BR"/>
          </a:p>
        </p:txBody>
      </p:sp>
      <p:sp>
        <p:nvSpPr>
          <p:cNvPr id="30727" name="Text Box 11"/>
          <p:cNvSpPr txBox="1">
            <a:spLocks noChangeArrowheads="1"/>
          </p:cNvSpPr>
          <p:nvPr/>
        </p:nvSpPr>
        <p:spPr bwMode="auto">
          <a:xfrm>
            <a:off x="3184526" y="3108325"/>
            <a:ext cx="4857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r>
              <a:rPr lang="pt-BR" altLang="pt-BR" sz="3600">
                <a:solidFill>
                  <a:schemeClr val="accent2"/>
                </a:solidFill>
                <a:latin typeface="Arial Black" panose="020B0A04020102020204" pitchFamily="34" charset="0"/>
              </a:rPr>
              <a:t>+</a:t>
            </a:r>
          </a:p>
        </p:txBody>
      </p:sp>
      <p:sp>
        <p:nvSpPr>
          <p:cNvPr id="30728" name="Rectangle 12"/>
          <p:cNvSpPr>
            <a:spLocks noChangeArrowheads="1"/>
          </p:cNvSpPr>
          <p:nvPr/>
        </p:nvSpPr>
        <p:spPr bwMode="auto">
          <a:xfrm>
            <a:off x="8507414" y="3108325"/>
            <a:ext cx="4857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r>
              <a:rPr lang="pt-BR" altLang="pt-BR" sz="3600">
                <a:solidFill>
                  <a:schemeClr val="accent2"/>
                </a:solidFill>
                <a:latin typeface="Arial Black" panose="020B0A04020102020204" pitchFamily="34" charset="0"/>
              </a:rPr>
              <a:t>=</a:t>
            </a:r>
          </a:p>
        </p:txBody>
      </p:sp>
      <p:sp>
        <p:nvSpPr>
          <p:cNvPr id="30729" name="Line 13"/>
          <p:cNvSpPr>
            <a:spLocks noChangeShapeType="1"/>
          </p:cNvSpPr>
          <p:nvPr/>
        </p:nvSpPr>
        <p:spPr bwMode="auto">
          <a:xfrm>
            <a:off x="1625600" y="2139950"/>
            <a:ext cx="1544638" cy="11620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0730" name="Line 14"/>
          <p:cNvSpPr>
            <a:spLocks noChangeShapeType="1"/>
          </p:cNvSpPr>
          <p:nvPr/>
        </p:nvSpPr>
        <p:spPr bwMode="auto">
          <a:xfrm>
            <a:off x="1638300" y="3867150"/>
            <a:ext cx="1544638" cy="11620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0731" name="Rectangle 17"/>
          <p:cNvSpPr>
            <a:spLocks noChangeArrowheads="1"/>
          </p:cNvSpPr>
          <p:nvPr/>
        </p:nvSpPr>
        <p:spPr bwMode="auto">
          <a:xfrm>
            <a:off x="1709739" y="1419225"/>
            <a:ext cx="1381125"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r>
              <a:rPr lang="pt-BR" altLang="pt-BR" sz="1600" b="1" dirty="0">
                <a:solidFill>
                  <a:srgbClr val="000000"/>
                </a:solidFill>
                <a:latin typeface="Tahoma" panose="020B0604030504040204" pitchFamily="34" charset="0"/>
              </a:rPr>
              <a:t>Habilidades</a:t>
            </a:r>
          </a:p>
          <a:p>
            <a:r>
              <a:rPr lang="pt-BR" altLang="pt-BR" sz="1600" b="1" dirty="0">
                <a:solidFill>
                  <a:srgbClr val="000000"/>
                </a:solidFill>
                <a:latin typeface="Tahoma" panose="020B0604030504040204" pitchFamily="34" charset="0"/>
              </a:rPr>
              <a:t>Conceituais</a:t>
            </a:r>
          </a:p>
          <a:p>
            <a:endParaRPr lang="pt-BR" altLang="pt-BR" sz="1600" b="1" dirty="0">
              <a:solidFill>
                <a:srgbClr val="000000"/>
              </a:solidFill>
              <a:latin typeface="Tahoma" panose="020B0604030504040204" pitchFamily="34" charset="0"/>
            </a:endParaRPr>
          </a:p>
          <a:p>
            <a:endParaRPr lang="pt-BR" altLang="pt-BR" sz="1600" b="1" dirty="0">
              <a:solidFill>
                <a:srgbClr val="000000"/>
              </a:solidFill>
              <a:latin typeface="Tahoma" panose="020B0604030504040204" pitchFamily="34" charset="0"/>
            </a:endParaRPr>
          </a:p>
          <a:p>
            <a:endParaRPr lang="pt-BR" altLang="pt-BR" sz="1600" b="1" dirty="0">
              <a:solidFill>
                <a:srgbClr val="000000"/>
              </a:solidFill>
              <a:latin typeface="Tahoma" panose="020B0604030504040204" pitchFamily="34" charset="0"/>
            </a:endParaRPr>
          </a:p>
          <a:p>
            <a:endParaRPr lang="pt-BR" altLang="pt-BR" sz="1600" b="1" dirty="0">
              <a:solidFill>
                <a:srgbClr val="000000"/>
              </a:solidFill>
              <a:latin typeface="Tahoma" panose="020B0604030504040204" pitchFamily="34" charset="0"/>
            </a:endParaRPr>
          </a:p>
          <a:p>
            <a:endParaRPr lang="pt-BR" altLang="pt-BR" sz="1600" b="1" dirty="0">
              <a:solidFill>
                <a:srgbClr val="000000"/>
              </a:solidFill>
              <a:latin typeface="Tahoma" panose="020B0604030504040204" pitchFamily="34" charset="0"/>
            </a:endParaRPr>
          </a:p>
          <a:p>
            <a:endParaRPr lang="pt-BR" altLang="pt-BR" sz="1600" b="1" dirty="0">
              <a:solidFill>
                <a:srgbClr val="000000"/>
              </a:solidFill>
              <a:latin typeface="Tahoma" panose="020B0604030504040204" pitchFamily="34" charset="0"/>
            </a:endParaRPr>
          </a:p>
          <a:p>
            <a:r>
              <a:rPr lang="pt-BR" altLang="pt-BR" sz="1600" b="1" dirty="0">
                <a:solidFill>
                  <a:srgbClr val="000000"/>
                </a:solidFill>
                <a:latin typeface="Tahoma" panose="020B0604030504040204" pitchFamily="34" charset="0"/>
              </a:rPr>
              <a:t>Habilidades</a:t>
            </a:r>
          </a:p>
          <a:p>
            <a:r>
              <a:rPr lang="pt-BR" altLang="pt-BR" sz="1600" b="1" dirty="0">
                <a:solidFill>
                  <a:srgbClr val="000000"/>
                </a:solidFill>
                <a:latin typeface="Tahoma" panose="020B0604030504040204" pitchFamily="34" charset="0"/>
              </a:rPr>
              <a:t>Humanas</a:t>
            </a:r>
          </a:p>
          <a:p>
            <a:endParaRPr lang="pt-BR" altLang="pt-BR" sz="1600" b="1" dirty="0">
              <a:solidFill>
                <a:srgbClr val="000000"/>
              </a:solidFill>
              <a:latin typeface="Tahoma" panose="020B0604030504040204" pitchFamily="34" charset="0"/>
            </a:endParaRPr>
          </a:p>
          <a:p>
            <a:endParaRPr lang="pt-BR" altLang="pt-BR" sz="1600" b="1" dirty="0">
              <a:solidFill>
                <a:srgbClr val="000000"/>
              </a:solidFill>
              <a:latin typeface="Tahoma" panose="020B0604030504040204" pitchFamily="34" charset="0"/>
            </a:endParaRPr>
          </a:p>
          <a:p>
            <a:endParaRPr lang="pt-BR" altLang="pt-BR" sz="1600" b="1" dirty="0">
              <a:solidFill>
                <a:srgbClr val="000000"/>
              </a:solidFill>
              <a:latin typeface="Tahoma" panose="020B0604030504040204" pitchFamily="34" charset="0"/>
            </a:endParaRPr>
          </a:p>
          <a:p>
            <a:endParaRPr lang="pt-BR" altLang="pt-BR" sz="1600" b="1" dirty="0">
              <a:solidFill>
                <a:srgbClr val="000000"/>
              </a:solidFill>
              <a:latin typeface="Tahoma" panose="020B0604030504040204" pitchFamily="34" charset="0"/>
            </a:endParaRPr>
          </a:p>
          <a:p>
            <a:endParaRPr lang="pt-BR" altLang="pt-BR" sz="1600" b="1" dirty="0">
              <a:solidFill>
                <a:srgbClr val="000000"/>
              </a:solidFill>
              <a:latin typeface="Tahoma" panose="020B0604030504040204" pitchFamily="34" charset="0"/>
            </a:endParaRPr>
          </a:p>
          <a:p>
            <a:r>
              <a:rPr lang="pt-BR" altLang="pt-BR" sz="1600" b="1" dirty="0">
                <a:solidFill>
                  <a:srgbClr val="000000"/>
                </a:solidFill>
                <a:latin typeface="Tahoma" panose="020B0604030504040204" pitchFamily="34" charset="0"/>
              </a:rPr>
              <a:t>Habilidades</a:t>
            </a:r>
          </a:p>
          <a:p>
            <a:r>
              <a:rPr lang="pt-BR" altLang="pt-BR" sz="1600" b="1" dirty="0">
                <a:solidFill>
                  <a:srgbClr val="000000"/>
                </a:solidFill>
                <a:latin typeface="Tahoma" panose="020B0604030504040204" pitchFamily="34" charset="0"/>
              </a:rPr>
              <a:t>   Técnicas</a:t>
            </a:r>
          </a:p>
        </p:txBody>
      </p:sp>
      <p:sp>
        <p:nvSpPr>
          <p:cNvPr id="30732" name="Rectangle 18"/>
          <p:cNvSpPr>
            <a:spLocks noChangeArrowheads="1"/>
          </p:cNvSpPr>
          <p:nvPr/>
        </p:nvSpPr>
        <p:spPr bwMode="auto">
          <a:xfrm>
            <a:off x="5265738" y="1792288"/>
            <a:ext cx="1649412" cy="79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r>
              <a:rPr lang="pt-BR" altLang="pt-BR" sz="1600" b="1">
                <a:solidFill>
                  <a:srgbClr val="000000"/>
                </a:solidFill>
                <a:latin typeface="Tahoma" panose="020B0604030504040204" pitchFamily="34" charset="0"/>
              </a:rPr>
              <a:t>Conhecimento</a:t>
            </a:r>
          </a:p>
          <a:p>
            <a:endParaRPr lang="pt-BR" altLang="pt-BR" sz="1600" b="1">
              <a:solidFill>
                <a:srgbClr val="000000"/>
              </a:solidFill>
              <a:latin typeface="Tahoma" panose="020B0604030504040204" pitchFamily="34" charset="0"/>
            </a:endParaRPr>
          </a:p>
          <a:p>
            <a:r>
              <a:rPr lang="pt-BR" altLang="pt-BR" sz="1400" b="1">
                <a:solidFill>
                  <a:srgbClr val="000000"/>
                </a:solidFill>
                <a:latin typeface="Tahoma" panose="020B0604030504040204" pitchFamily="34" charset="0"/>
              </a:rPr>
              <a:t>        (Saber)</a:t>
            </a:r>
          </a:p>
        </p:txBody>
      </p:sp>
      <p:sp>
        <p:nvSpPr>
          <p:cNvPr id="30733" name="Oval 20"/>
          <p:cNvSpPr>
            <a:spLocks noChangeArrowheads="1"/>
          </p:cNvSpPr>
          <p:nvPr/>
        </p:nvSpPr>
        <p:spPr bwMode="auto">
          <a:xfrm>
            <a:off x="5949950" y="2817813"/>
            <a:ext cx="2292350" cy="2112962"/>
          </a:xfrm>
          <a:prstGeom prst="ellipse">
            <a:avLst/>
          </a:prstGeom>
          <a:solidFill>
            <a:srgbClr val="FFFFFF"/>
          </a:solidFill>
          <a:ln w="9525">
            <a:solidFill>
              <a:schemeClr val="tx1"/>
            </a:solidFill>
            <a:round/>
            <a:headEnd/>
            <a:tailEnd/>
          </a:ln>
          <a:effectLst>
            <a:outerShdw dist="107763" dir="2700000" algn="ctr" rotWithShape="0">
              <a:schemeClr val="bg2"/>
            </a:outerShdw>
          </a:effectLst>
        </p:spPr>
        <p:txBody>
          <a:bodyPr wrap="none" anchor="ct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pt-BR" altLang="pt-BR"/>
          </a:p>
        </p:txBody>
      </p:sp>
      <p:sp>
        <p:nvSpPr>
          <p:cNvPr id="30734" name="Rectangle 22"/>
          <p:cNvSpPr>
            <a:spLocks noChangeArrowheads="1"/>
          </p:cNvSpPr>
          <p:nvPr/>
        </p:nvSpPr>
        <p:spPr bwMode="auto">
          <a:xfrm>
            <a:off x="4237038" y="3362325"/>
            <a:ext cx="1401762"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r>
              <a:rPr lang="pt-BR" altLang="pt-BR" sz="1600" b="1">
                <a:solidFill>
                  <a:srgbClr val="000000"/>
                </a:solidFill>
                <a:latin typeface="Tahoma" panose="020B0604030504040204" pitchFamily="34" charset="0"/>
              </a:rPr>
              <a:t>Perspectiva</a:t>
            </a:r>
          </a:p>
          <a:p>
            <a:endParaRPr lang="pt-BR" altLang="pt-BR" sz="1400" b="1">
              <a:solidFill>
                <a:srgbClr val="000000"/>
              </a:solidFill>
              <a:latin typeface="Tahoma" panose="020B0604030504040204" pitchFamily="34" charset="0"/>
            </a:endParaRPr>
          </a:p>
          <a:p>
            <a:r>
              <a:rPr lang="pt-BR" altLang="pt-BR" sz="1400" b="1">
                <a:solidFill>
                  <a:srgbClr val="000000"/>
                </a:solidFill>
                <a:latin typeface="Tahoma" panose="020B0604030504040204" pitchFamily="34" charset="0"/>
              </a:rPr>
              <a:t>(Saber Fazer)</a:t>
            </a:r>
          </a:p>
        </p:txBody>
      </p:sp>
      <p:sp>
        <p:nvSpPr>
          <p:cNvPr id="30735" name="Rectangle 23"/>
          <p:cNvSpPr>
            <a:spLocks noChangeArrowheads="1"/>
          </p:cNvSpPr>
          <p:nvPr/>
        </p:nvSpPr>
        <p:spPr bwMode="auto">
          <a:xfrm>
            <a:off x="5964239" y="3375025"/>
            <a:ext cx="235267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r>
              <a:rPr lang="pt-BR" altLang="pt-BR" sz="1600" b="1">
                <a:latin typeface="Tahoma" panose="020B0604030504040204" pitchFamily="34" charset="0"/>
              </a:rPr>
              <a:t>            </a:t>
            </a:r>
            <a:r>
              <a:rPr lang="pt-BR" altLang="pt-BR" sz="1600" b="1">
                <a:solidFill>
                  <a:srgbClr val="000000"/>
                </a:solidFill>
                <a:latin typeface="Tahoma" panose="020B0604030504040204" pitchFamily="34" charset="0"/>
              </a:rPr>
              <a:t>Atitude</a:t>
            </a:r>
          </a:p>
          <a:p>
            <a:endParaRPr lang="pt-BR" altLang="pt-BR" sz="1400" b="1">
              <a:solidFill>
                <a:srgbClr val="000000"/>
              </a:solidFill>
              <a:latin typeface="Tahoma" panose="020B0604030504040204" pitchFamily="34" charset="0"/>
            </a:endParaRPr>
          </a:p>
          <a:p>
            <a:r>
              <a:rPr lang="pt-BR" altLang="pt-BR" sz="1400" b="1">
                <a:solidFill>
                  <a:srgbClr val="000000"/>
                </a:solidFill>
                <a:latin typeface="Tahoma" panose="020B0604030504040204" pitchFamily="34" charset="0"/>
              </a:rPr>
              <a:t>(Saber Fazer Acontecer)</a:t>
            </a:r>
          </a:p>
        </p:txBody>
      </p:sp>
      <p:sp>
        <p:nvSpPr>
          <p:cNvPr id="30736" name="Rectangle 24"/>
          <p:cNvSpPr>
            <a:spLocks noChangeArrowheads="1"/>
          </p:cNvSpPr>
          <p:nvPr/>
        </p:nvSpPr>
        <p:spPr bwMode="auto">
          <a:xfrm>
            <a:off x="9088438" y="3008313"/>
            <a:ext cx="1382712"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r>
              <a:rPr lang="pt-BR" altLang="pt-BR" sz="1600" b="1">
                <a:latin typeface="Tahoma" panose="020B0604030504040204" pitchFamily="34" charset="0"/>
              </a:rPr>
              <a:t>   </a:t>
            </a:r>
            <a:r>
              <a:rPr lang="pt-BR" altLang="pt-BR" sz="1600" b="1">
                <a:solidFill>
                  <a:srgbClr val="000000"/>
                </a:solidFill>
                <a:latin typeface="Tahoma" panose="020B0604030504040204" pitchFamily="34" charset="0"/>
              </a:rPr>
              <a:t>Sucesso</a:t>
            </a:r>
          </a:p>
          <a:p>
            <a:endParaRPr lang="pt-BR" altLang="pt-BR" sz="1600" b="1">
              <a:solidFill>
                <a:srgbClr val="000000"/>
              </a:solidFill>
              <a:latin typeface="Tahoma" panose="020B0604030504040204" pitchFamily="34" charset="0"/>
            </a:endParaRPr>
          </a:p>
          <a:p>
            <a:r>
              <a:rPr lang="pt-BR" altLang="pt-BR" sz="1600" b="1">
                <a:solidFill>
                  <a:srgbClr val="000000"/>
                </a:solidFill>
                <a:latin typeface="Tahoma" panose="020B0604030504040204" pitchFamily="34" charset="0"/>
              </a:rPr>
              <a:t>Profissional</a:t>
            </a:r>
          </a:p>
        </p:txBody>
      </p:sp>
      <p:sp>
        <p:nvSpPr>
          <p:cNvPr id="30737" name="Text Box 25"/>
          <p:cNvSpPr txBox="1">
            <a:spLocks noChangeArrowheads="1"/>
          </p:cNvSpPr>
          <p:nvPr/>
        </p:nvSpPr>
        <p:spPr bwMode="auto">
          <a:xfrm>
            <a:off x="3502819" y="6170614"/>
            <a:ext cx="74818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r>
              <a:rPr lang="pt-BR" altLang="pt-BR" sz="2000"/>
              <a:t>Figura 3. As Competências Pessoais do Administrador</a:t>
            </a:r>
          </a:p>
        </p:txBody>
      </p:sp>
    </p:spTree>
    <p:extLst>
      <p:ext uri="{BB962C8B-B14F-4D97-AF65-F5344CB8AC3E}">
        <p14:creationId xmlns:p14="http://schemas.microsoft.com/office/powerpoint/2010/main" val="3355871111"/>
      </p:ext>
    </p:extLst>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8130" name="Rectangle 2"/>
          <p:cNvSpPr>
            <a:spLocks noChangeArrowheads="1"/>
          </p:cNvSpPr>
          <p:nvPr/>
        </p:nvSpPr>
        <p:spPr bwMode="auto">
          <a:xfrm>
            <a:off x="2209800" y="914400"/>
            <a:ext cx="77724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ctr" eaLnBrk="1" hangingPunct="1">
              <a:spcBef>
                <a:spcPct val="20000"/>
              </a:spcBef>
            </a:pPr>
            <a:endParaRPr lang="pt-PT" altLang="pt-BR" sz="3600" b="1">
              <a:solidFill>
                <a:srgbClr val="4D4D4D"/>
              </a:solidFill>
              <a:latin typeface="Tahoma" panose="020B0604030504040204" pitchFamily="34" charset="0"/>
              <a:cs typeface="Times New Roman" panose="02020603050405020304" pitchFamily="18" charset="0"/>
            </a:endParaRPr>
          </a:p>
          <a:p>
            <a:pPr algn="ctr" eaLnBrk="1" hangingPunct="1">
              <a:spcBef>
                <a:spcPct val="20000"/>
              </a:spcBef>
            </a:pPr>
            <a:endParaRPr lang="pt-PT" altLang="pt-BR" sz="3600" b="1">
              <a:solidFill>
                <a:srgbClr val="4D4D4D"/>
              </a:solidFill>
              <a:latin typeface="Tahoma" panose="020B0604030504040204" pitchFamily="34" charset="0"/>
              <a:cs typeface="Times New Roman" panose="02020603050405020304" pitchFamily="18" charset="0"/>
            </a:endParaRPr>
          </a:p>
          <a:p>
            <a:pPr algn="ctr" eaLnBrk="1" hangingPunct="1">
              <a:spcBef>
                <a:spcPct val="20000"/>
              </a:spcBef>
            </a:pPr>
            <a:r>
              <a:rPr lang="pt-PT" altLang="pt-BR" sz="3600" b="1">
                <a:solidFill>
                  <a:srgbClr val="4D4D4D"/>
                </a:solidFill>
                <a:latin typeface="Tahoma" panose="020B0604030504040204" pitchFamily="34" charset="0"/>
                <a:cs typeface="Times New Roman" panose="02020603050405020304" pitchFamily="18" charset="0"/>
              </a:rPr>
              <a:t>ABORDAGEM CLÁSSICA </a:t>
            </a:r>
          </a:p>
          <a:p>
            <a:pPr algn="ctr" eaLnBrk="1" hangingPunct="1">
              <a:spcBef>
                <a:spcPct val="20000"/>
              </a:spcBef>
            </a:pPr>
            <a:r>
              <a:rPr lang="pt-PT" altLang="pt-BR" sz="3600" b="1">
                <a:solidFill>
                  <a:srgbClr val="4D4D4D"/>
                </a:solidFill>
                <a:latin typeface="Tahoma" panose="020B0604030504040204" pitchFamily="34" charset="0"/>
                <a:cs typeface="Times New Roman" panose="02020603050405020304" pitchFamily="18" charset="0"/>
              </a:rPr>
              <a:t>DA</a:t>
            </a:r>
          </a:p>
          <a:p>
            <a:pPr algn="ctr" eaLnBrk="1" hangingPunct="1">
              <a:spcBef>
                <a:spcPct val="20000"/>
              </a:spcBef>
            </a:pPr>
            <a:r>
              <a:rPr lang="pt-PT" altLang="pt-BR" sz="3600" b="1">
                <a:solidFill>
                  <a:srgbClr val="4D4D4D"/>
                </a:solidFill>
                <a:latin typeface="Tahoma" panose="020B0604030504040204" pitchFamily="34" charset="0"/>
                <a:cs typeface="Times New Roman" panose="02020603050405020304" pitchFamily="18" charset="0"/>
              </a:rPr>
              <a:t>ADMINISTRAÇÃO</a:t>
            </a:r>
            <a:endParaRPr lang="pt-PT" altLang="pt-BR" sz="2800" b="1">
              <a:solidFill>
                <a:srgbClr val="4D4D4D"/>
              </a:solidFill>
              <a:latin typeface="Tahoma" panose="020B0604030504040204" pitchFamily="34" charset="0"/>
              <a:cs typeface="Times New Roman" panose="02020603050405020304" pitchFamily="18" charset="0"/>
            </a:endParaRPr>
          </a:p>
          <a:p>
            <a:pPr algn="ctr" eaLnBrk="1" hangingPunct="1">
              <a:spcBef>
                <a:spcPct val="20000"/>
              </a:spcBef>
            </a:pPr>
            <a:endParaRPr lang="pt-PT" altLang="pt-BR" sz="2800" b="1">
              <a:solidFill>
                <a:srgbClr val="4D4D4D"/>
              </a:solidFill>
              <a:latin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283802392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178" name="Rectangle 2"/>
          <p:cNvSpPr>
            <a:spLocks noChangeArrowheads="1"/>
          </p:cNvSpPr>
          <p:nvPr/>
        </p:nvSpPr>
        <p:spPr bwMode="auto">
          <a:xfrm>
            <a:off x="3205163" y="981075"/>
            <a:ext cx="5842000" cy="218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r>
              <a:rPr lang="pt-PT" altLang="pt-BR" sz="3200" b="1">
                <a:solidFill>
                  <a:srgbClr val="4D4D4D"/>
                </a:solidFill>
                <a:latin typeface="Tahoma" panose="020B0604030504040204" pitchFamily="34" charset="0"/>
                <a:cs typeface="Times New Roman" panose="02020603050405020304" pitchFamily="18" charset="0"/>
              </a:rPr>
              <a:t>	</a:t>
            </a:r>
          </a:p>
          <a:p>
            <a:pPr eaLnBrk="1" hangingPunct="1"/>
            <a:r>
              <a:rPr lang="pt-PT" altLang="pt-BR" sz="3200" b="1">
                <a:solidFill>
                  <a:srgbClr val="4D4D4D"/>
                </a:solidFill>
                <a:latin typeface="Tahoma" panose="020B0604030504040204" pitchFamily="34" charset="0"/>
                <a:cs typeface="Times New Roman" panose="02020603050405020304" pitchFamily="18" charset="0"/>
              </a:rPr>
              <a:t>  Administração Científica</a:t>
            </a:r>
          </a:p>
          <a:p>
            <a:pPr eaLnBrk="1" hangingPunct="1"/>
            <a:endParaRPr lang="pt-PT" altLang="pt-BR" sz="4400" b="1">
              <a:solidFill>
                <a:srgbClr val="4D4D4D"/>
              </a:solidFill>
              <a:latin typeface="Tahoma" panose="020B0604030504040204" pitchFamily="34" charset="0"/>
              <a:cs typeface="Times New Roman" panose="02020603050405020304" pitchFamily="18" charset="0"/>
            </a:endParaRPr>
          </a:p>
          <a:p>
            <a:pPr eaLnBrk="1" hangingPunct="1"/>
            <a:r>
              <a:rPr lang="pt-BR" altLang="pt-BR" sz="2800" b="1">
                <a:solidFill>
                  <a:srgbClr val="4D4D4D"/>
                </a:solidFill>
                <a:latin typeface="Tahoma" panose="020B0604030504040204" pitchFamily="34" charset="0"/>
                <a:cs typeface="Times New Roman" panose="02020603050405020304" pitchFamily="18" charset="0"/>
              </a:rPr>
              <a:t>(Arrumando o Chão da Fábrica)</a:t>
            </a:r>
          </a:p>
        </p:txBody>
      </p:sp>
      <p:sp>
        <p:nvSpPr>
          <p:cNvPr id="50179" name="Text Box 3"/>
          <p:cNvSpPr txBox="1">
            <a:spLocks noChangeArrowheads="1"/>
          </p:cNvSpPr>
          <p:nvPr/>
        </p:nvSpPr>
        <p:spPr bwMode="auto">
          <a:xfrm>
            <a:off x="2339976" y="4276726"/>
            <a:ext cx="6297613"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buFontTx/>
              <a:buChar char="•"/>
            </a:pPr>
            <a:r>
              <a:rPr lang="pt-BR" altLang="pt-BR" sz="2000"/>
              <a:t> A obra de Taylor.</a:t>
            </a:r>
          </a:p>
          <a:p>
            <a:pPr eaLnBrk="1" hangingPunct="1">
              <a:buFontTx/>
              <a:buChar char="•"/>
            </a:pPr>
            <a:r>
              <a:rPr lang="pt-BR" altLang="pt-BR" sz="2000"/>
              <a:t> A Administração como ciência.</a:t>
            </a:r>
          </a:p>
          <a:p>
            <a:pPr eaLnBrk="1" hangingPunct="1">
              <a:buFontTx/>
              <a:buChar char="•"/>
            </a:pPr>
            <a:r>
              <a:rPr lang="pt-BR" altLang="pt-BR" sz="2000"/>
              <a:t> A organização racional do trabalho.</a:t>
            </a:r>
          </a:p>
          <a:p>
            <a:pPr eaLnBrk="1" hangingPunct="1">
              <a:buFontTx/>
              <a:buChar char="•"/>
            </a:pPr>
            <a:r>
              <a:rPr lang="pt-BR" altLang="pt-BR" sz="2000"/>
              <a:t> Os princípios da Administração Científica.</a:t>
            </a:r>
          </a:p>
          <a:p>
            <a:pPr eaLnBrk="1" hangingPunct="1">
              <a:buFontTx/>
              <a:buChar char="•"/>
            </a:pPr>
            <a:r>
              <a:rPr lang="pt-BR" altLang="pt-BR" sz="2000"/>
              <a:t> Apreciação crítica da Administração Científica.</a:t>
            </a:r>
          </a:p>
        </p:txBody>
      </p:sp>
    </p:spTree>
    <p:extLst>
      <p:ext uri="{BB962C8B-B14F-4D97-AF65-F5344CB8AC3E}">
        <p14:creationId xmlns:p14="http://schemas.microsoft.com/office/powerpoint/2010/main" val="403065824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2226" name="Retângulo 1"/>
          <p:cNvSpPr>
            <a:spLocks noChangeArrowheads="1"/>
          </p:cNvSpPr>
          <p:nvPr/>
        </p:nvSpPr>
        <p:spPr bwMode="auto">
          <a:xfrm>
            <a:off x="132347" y="1042989"/>
            <a:ext cx="11935327"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just" eaLnBrk="1" hangingPunct="1"/>
            <a:r>
              <a:rPr lang="pt-BR" altLang="pt-BR" sz="2400" dirty="0">
                <a:latin typeface="Arial" panose="020B0604020202020204" pitchFamily="34" charset="0"/>
              </a:rPr>
              <a:t>Frederick Taylor Frederick Winslow Taylor (Filadélfia, 20 de março de 1856— Filadélfia, 21 de março de 1915) mais conhecido por F. W. Taylor, foi um engenheiro mecânico, inicialmente técnico em mecânica e operário, formou-se engenheiro mecânico estudando à noite. É considerado o "Pai da Administração Científica”. Seu foco era a eficiência e eficácia operacional na administração industrial.</a:t>
            </a:r>
          </a:p>
        </p:txBody>
      </p:sp>
      <p:pic>
        <p:nvPicPr>
          <p:cNvPr id="5222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6913" y="3238500"/>
            <a:ext cx="2235200" cy="334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2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02475" y="3259138"/>
            <a:ext cx="2590800"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29"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16575" y="4237039"/>
            <a:ext cx="1354138"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2">
            <a:extLst>
              <a:ext uri="{FF2B5EF4-FFF2-40B4-BE49-F238E27FC236}">
                <a16:creationId xmlns:a16="http://schemas.microsoft.com/office/drawing/2014/main" id="{EAC5E21E-BFB5-4460-A411-E8B447BD164B}"/>
              </a:ext>
            </a:extLst>
          </p:cNvPr>
          <p:cNvSpPr>
            <a:spLocks noChangeArrowheads="1"/>
          </p:cNvSpPr>
          <p:nvPr/>
        </p:nvSpPr>
        <p:spPr bwMode="auto">
          <a:xfrm>
            <a:off x="3201237" y="139703"/>
            <a:ext cx="6022975" cy="461963"/>
          </a:xfrm>
          <a:prstGeom prst="rect">
            <a:avLst/>
          </a:prstGeom>
          <a:noFill/>
          <a:ln w="9525">
            <a:noFill/>
            <a:miter lim="800000"/>
            <a:headEnd/>
            <a:tailEnd/>
          </a:ln>
        </p:spPr>
        <p:txBody>
          <a:bodyPr>
            <a:spAutoFit/>
          </a:bodyPr>
          <a:lstStyle/>
          <a:p>
            <a:pPr>
              <a:defRPr/>
            </a:pPr>
            <a:r>
              <a:rPr lang="pt-BR" sz="2400" b="1" dirty="0">
                <a:latin typeface="Tahoma" pitchFamily="34" charset="0"/>
              </a:rPr>
              <a:t>Teoria Científica da Administração</a:t>
            </a:r>
            <a:endParaRPr lang="pt-BR" sz="2000" dirty="0">
              <a:latin typeface="+mj-lt"/>
            </a:endParaRPr>
          </a:p>
        </p:txBody>
      </p:sp>
    </p:spTree>
    <p:extLst>
      <p:ext uri="{BB962C8B-B14F-4D97-AF65-F5344CB8AC3E}">
        <p14:creationId xmlns:p14="http://schemas.microsoft.com/office/powerpoint/2010/main" val="392388554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3250" name="Rectangle 2"/>
          <p:cNvSpPr>
            <a:spLocks noChangeArrowheads="1"/>
          </p:cNvSpPr>
          <p:nvPr/>
        </p:nvSpPr>
        <p:spPr bwMode="auto">
          <a:xfrm>
            <a:off x="2914650" y="1927225"/>
            <a:ext cx="1449388" cy="1016000"/>
          </a:xfrm>
          <a:prstGeom prst="rect">
            <a:avLst/>
          </a:prstGeom>
          <a:solidFill>
            <a:srgbClr val="DDDDDD"/>
          </a:solid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pt-BR" altLang="pt-BR"/>
          </a:p>
        </p:txBody>
      </p:sp>
      <p:sp>
        <p:nvSpPr>
          <p:cNvPr id="53251" name="Rectangle 3"/>
          <p:cNvSpPr>
            <a:spLocks noChangeArrowheads="1"/>
          </p:cNvSpPr>
          <p:nvPr/>
        </p:nvSpPr>
        <p:spPr bwMode="auto">
          <a:xfrm>
            <a:off x="4868863" y="3074988"/>
            <a:ext cx="1485900" cy="1016000"/>
          </a:xfrm>
          <a:prstGeom prst="rect">
            <a:avLst/>
          </a:prstGeom>
          <a:solidFill>
            <a:srgbClr val="DDDDDD"/>
          </a:solidFill>
          <a:ln w="9525" algn="ctr">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pt-BR" altLang="pt-BR"/>
          </a:p>
        </p:txBody>
      </p:sp>
      <p:sp>
        <p:nvSpPr>
          <p:cNvPr id="53252" name="Rectangle 4"/>
          <p:cNvSpPr>
            <a:spLocks noChangeArrowheads="1"/>
          </p:cNvSpPr>
          <p:nvPr/>
        </p:nvSpPr>
        <p:spPr bwMode="auto">
          <a:xfrm>
            <a:off x="4867276" y="982663"/>
            <a:ext cx="1470025" cy="1016000"/>
          </a:xfrm>
          <a:prstGeom prst="rect">
            <a:avLst/>
          </a:prstGeom>
          <a:solidFill>
            <a:srgbClr val="DDDDDD"/>
          </a:solid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pt-BR" altLang="pt-BR"/>
          </a:p>
        </p:txBody>
      </p:sp>
      <p:sp>
        <p:nvSpPr>
          <p:cNvPr id="53253" name="Rectangle 5"/>
          <p:cNvSpPr>
            <a:spLocks noChangeArrowheads="1"/>
          </p:cNvSpPr>
          <p:nvPr/>
        </p:nvSpPr>
        <p:spPr bwMode="auto">
          <a:xfrm>
            <a:off x="7996238" y="3071813"/>
            <a:ext cx="1274762" cy="1016000"/>
          </a:xfrm>
          <a:prstGeom prst="rect">
            <a:avLst/>
          </a:prstGeom>
          <a:solidFill>
            <a:srgbClr val="DDDDDD"/>
          </a:solid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pt-BR" altLang="pt-BR"/>
          </a:p>
        </p:txBody>
      </p:sp>
      <p:sp>
        <p:nvSpPr>
          <p:cNvPr id="53254" name="Rectangle 6"/>
          <p:cNvSpPr>
            <a:spLocks noChangeArrowheads="1"/>
          </p:cNvSpPr>
          <p:nvPr/>
        </p:nvSpPr>
        <p:spPr bwMode="auto">
          <a:xfrm>
            <a:off x="8005763" y="982663"/>
            <a:ext cx="1293812" cy="1016000"/>
          </a:xfrm>
          <a:prstGeom prst="rect">
            <a:avLst/>
          </a:prstGeom>
          <a:solidFill>
            <a:srgbClr val="DDDDDD"/>
          </a:solidFill>
          <a:ln w="9525" algn="ctr">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pt-BR" altLang="pt-BR"/>
          </a:p>
        </p:txBody>
      </p:sp>
      <p:sp>
        <p:nvSpPr>
          <p:cNvPr id="53255" name="Line 7"/>
          <p:cNvSpPr>
            <a:spLocks noChangeShapeType="1"/>
          </p:cNvSpPr>
          <p:nvPr/>
        </p:nvSpPr>
        <p:spPr bwMode="auto">
          <a:xfrm flipH="1">
            <a:off x="4621214" y="1404938"/>
            <a:ext cx="1587" cy="21717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53256" name="Line 8"/>
          <p:cNvSpPr>
            <a:spLocks noChangeShapeType="1"/>
          </p:cNvSpPr>
          <p:nvPr/>
        </p:nvSpPr>
        <p:spPr bwMode="auto">
          <a:xfrm>
            <a:off x="4410076" y="2454275"/>
            <a:ext cx="219075"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53257" name="Line 9"/>
          <p:cNvSpPr>
            <a:spLocks noChangeShapeType="1"/>
          </p:cNvSpPr>
          <p:nvPr/>
        </p:nvSpPr>
        <p:spPr bwMode="auto">
          <a:xfrm>
            <a:off x="4638676" y="1412875"/>
            <a:ext cx="219075"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53258" name="Line 10"/>
          <p:cNvSpPr>
            <a:spLocks noChangeShapeType="1"/>
          </p:cNvSpPr>
          <p:nvPr/>
        </p:nvSpPr>
        <p:spPr bwMode="auto">
          <a:xfrm>
            <a:off x="4625976" y="3578225"/>
            <a:ext cx="219075" cy="1588"/>
          </a:xfrm>
          <a:prstGeom prst="line">
            <a:avLst/>
          </a:prstGeom>
          <a:noFill/>
          <a:ln w="9525">
            <a:solidFill>
              <a:srgbClr val="008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53259" name="Line 11"/>
          <p:cNvSpPr>
            <a:spLocks noChangeShapeType="1"/>
          </p:cNvSpPr>
          <p:nvPr/>
        </p:nvSpPr>
        <p:spPr bwMode="auto">
          <a:xfrm>
            <a:off x="6518275" y="1476375"/>
            <a:ext cx="1301750" cy="1588"/>
          </a:xfrm>
          <a:prstGeom prst="line">
            <a:avLst/>
          </a:prstGeom>
          <a:noFill/>
          <a:ln w="9525">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pt-BR"/>
          </a:p>
        </p:txBody>
      </p:sp>
      <p:sp>
        <p:nvSpPr>
          <p:cNvPr id="53260" name="Line 12"/>
          <p:cNvSpPr>
            <a:spLocks noChangeShapeType="1"/>
          </p:cNvSpPr>
          <p:nvPr/>
        </p:nvSpPr>
        <p:spPr bwMode="auto">
          <a:xfrm>
            <a:off x="6583363" y="3590925"/>
            <a:ext cx="1301750" cy="1588"/>
          </a:xfrm>
          <a:prstGeom prst="line">
            <a:avLst/>
          </a:prstGeom>
          <a:noFill/>
          <a:ln w="9525">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pt-BR"/>
          </a:p>
        </p:txBody>
      </p:sp>
      <p:sp>
        <p:nvSpPr>
          <p:cNvPr id="53261" name="Rectangle 13"/>
          <p:cNvSpPr>
            <a:spLocks noChangeArrowheads="1"/>
          </p:cNvSpPr>
          <p:nvPr/>
        </p:nvSpPr>
        <p:spPr bwMode="auto">
          <a:xfrm>
            <a:off x="2884489" y="2081214"/>
            <a:ext cx="141763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r>
              <a:rPr lang="pt-BR" altLang="pt-BR" sz="1600" b="1"/>
              <a:t>   </a:t>
            </a:r>
            <a:r>
              <a:rPr lang="pt-BR" altLang="pt-BR" sz="1200" b="1"/>
              <a:t>Abordagem</a:t>
            </a:r>
          </a:p>
          <a:p>
            <a:pPr eaLnBrk="1" hangingPunct="1"/>
            <a:r>
              <a:rPr lang="pt-BR" altLang="pt-BR" sz="1200" b="1"/>
              <a:t>   Clássica da</a:t>
            </a:r>
          </a:p>
          <a:p>
            <a:pPr eaLnBrk="1" hangingPunct="1"/>
            <a:r>
              <a:rPr lang="pt-BR" altLang="pt-BR" sz="1200" b="1"/>
              <a:t>Administração</a:t>
            </a:r>
          </a:p>
        </p:txBody>
      </p:sp>
      <p:sp>
        <p:nvSpPr>
          <p:cNvPr id="53262" name="Rectangle 14"/>
          <p:cNvSpPr>
            <a:spLocks noChangeArrowheads="1"/>
          </p:cNvSpPr>
          <p:nvPr/>
        </p:nvSpPr>
        <p:spPr bwMode="auto">
          <a:xfrm>
            <a:off x="4924425" y="1222375"/>
            <a:ext cx="14557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r>
              <a:rPr lang="pt-BR" altLang="pt-BR" sz="1200" b="1"/>
              <a:t>Administração</a:t>
            </a:r>
          </a:p>
          <a:p>
            <a:pPr eaLnBrk="1" hangingPunct="1"/>
            <a:r>
              <a:rPr lang="pt-BR" altLang="pt-BR" sz="1200" b="1"/>
              <a:t>    Científica</a:t>
            </a:r>
          </a:p>
        </p:txBody>
      </p:sp>
      <p:sp>
        <p:nvSpPr>
          <p:cNvPr id="53263" name="Rectangle 15"/>
          <p:cNvSpPr>
            <a:spLocks noChangeArrowheads="1"/>
          </p:cNvSpPr>
          <p:nvPr/>
        </p:nvSpPr>
        <p:spPr bwMode="auto">
          <a:xfrm>
            <a:off x="5181600" y="3295651"/>
            <a:ext cx="8715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r>
              <a:rPr lang="pt-BR" altLang="pt-BR" sz="1600" b="1"/>
              <a:t> </a:t>
            </a:r>
            <a:r>
              <a:rPr lang="pt-BR" altLang="pt-BR" sz="1200" b="1"/>
              <a:t>Teoria</a:t>
            </a:r>
          </a:p>
          <a:p>
            <a:pPr eaLnBrk="1" hangingPunct="1"/>
            <a:r>
              <a:rPr lang="pt-BR" altLang="pt-BR" sz="1200" b="1"/>
              <a:t>Clássica</a:t>
            </a:r>
          </a:p>
        </p:txBody>
      </p:sp>
      <p:sp>
        <p:nvSpPr>
          <p:cNvPr id="53264" name="Rectangle 16"/>
          <p:cNvSpPr>
            <a:spLocks noChangeArrowheads="1"/>
          </p:cNvSpPr>
          <p:nvPr/>
        </p:nvSpPr>
        <p:spPr bwMode="auto">
          <a:xfrm>
            <a:off x="8116889" y="1231900"/>
            <a:ext cx="1108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r>
              <a:rPr lang="pt-BR" altLang="pt-BR" sz="1200" b="1"/>
              <a:t>Ênfase nas</a:t>
            </a:r>
          </a:p>
          <a:p>
            <a:pPr eaLnBrk="1" hangingPunct="1"/>
            <a:r>
              <a:rPr lang="pt-BR" altLang="pt-BR" sz="1200" b="1"/>
              <a:t>   tarefas</a:t>
            </a:r>
          </a:p>
        </p:txBody>
      </p:sp>
      <p:sp>
        <p:nvSpPr>
          <p:cNvPr id="53265" name="Rectangle 17"/>
          <p:cNvSpPr>
            <a:spLocks noChangeArrowheads="1"/>
          </p:cNvSpPr>
          <p:nvPr/>
        </p:nvSpPr>
        <p:spPr bwMode="auto">
          <a:xfrm>
            <a:off x="8113714" y="3344863"/>
            <a:ext cx="10175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r>
              <a:rPr lang="pt-BR" altLang="pt-BR" sz="1200" b="1"/>
              <a:t>Ênfase na</a:t>
            </a:r>
          </a:p>
          <a:p>
            <a:pPr eaLnBrk="1" hangingPunct="1"/>
            <a:r>
              <a:rPr lang="pt-BR" altLang="pt-BR" sz="1200" b="1"/>
              <a:t>estrutura</a:t>
            </a:r>
          </a:p>
        </p:txBody>
      </p:sp>
      <p:sp>
        <p:nvSpPr>
          <p:cNvPr id="53266" name="Rectangle 18"/>
          <p:cNvSpPr>
            <a:spLocks noChangeArrowheads="1"/>
          </p:cNvSpPr>
          <p:nvPr/>
        </p:nvSpPr>
        <p:spPr bwMode="auto">
          <a:xfrm>
            <a:off x="6683375" y="1257300"/>
            <a:ext cx="901700" cy="336550"/>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r>
              <a:rPr lang="pt-BR" altLang="pt-BR" sz="1600" b="1"/>
              <a:t>Taylor</a:t>
            </a:r>
          </a:p>
        </p:txBody>
      </p:sp>
      <p:sp>
        <p:nvSpPr>
          <p:cNvPr id="53267" name="Rectangle 19"/>
          <p:cNvSpPr>
            <a:spLocks noChangeArrowheads="1"/>
          </p:cNvSpPr>
          <p:nvPr/>
        </p:nvSpPr>
        <p:spPr bwMode="auto">
          <a:xfrm>
            <a:off x="6780213" y="3467100"/>
            <a:ext cx="793750" cy="336550"/>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r>
              <a:rPr lang="pt-BR" altLang="pt-BR" sz="1600" b="1"/>
              <a:t>Fayol</a:t>
            </a:r>
          </a:p>
        </p:txBody>
      </p:sp>
      <p:sp>
        <p:nvSpPr>
          <p:cNvPr id="53268" name="Rectangle 20"/>
          <p:cNvSpPr>
            <a:spLocks noChangeArrowheads="1"/>
          </p:cNvSpPr>
          <p:nvPr/>
        </p:nvSpPr>
        <p:spPr bwMode="auto">
          <a:xfrm>
            <a:off x="2687638" y="325438"/>
            <a:ext cx="727551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r>
              <a:rPr lang="pt-BR" altLang="pt-BR">
                <a:solidFill>
                  <a:srgbClr val="FF9900"/>
                </a:solidFill>
              </a:rPr>
              <a:t>Desdobramentos da Abordagem Clássica:</a:t>
            </a:r>
          </a:p>
        </p:txBody>
      </p:sp>
      <p:pic>
        <p:nvPicPr>
          <p:cNvPr id="53269" name="Picture 2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2402" y="4229894"/>
            <a:ext cx="5135562" cy="2439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1002738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5298" name="Text Box 2"/>
          <p:cNvSpPr txBox="1">
            <a:spLocks noChangeArrowheads="1"/>
          </p:cNvSpPr>
          <p:nvPr/>
        </p:nvSpPr>
        <p:spPr bwMode="auto">
          <a:xfrm>
            <a:off x="389606" y="217490"/>
            <a:ext cx="36054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r>
              <a:rPr lang="pt-BR" altLang="pt-BR">
                <a:solidFill>
                  <a:srgbClr val="FF9900"/>
                </a:solidFill>
              </a:rPr>
              <a:t>O primeiro período de Taylor:</a:t>
            </a:r>
          </a:p>
        </p:txBody>
      </p:sp>
      <p:sp>
        <p:nvSpPr>
          <p:cNvPr id="55299" name="Text Box 3"/>
          <p:cNvSpPr txBox="1">
            <a:spLocks noChangeArrowheads="1"/>
          </p:cNvSpPr>
          <p:nvPr/>
        </p:nvSpPr>
        <p:spPr bwMode="auto">
          <a:xfrm>
            <a:off x="389606" y="995896"/>
            <a:ext cx="11038554" cy="5293757"/>
          </a:xfrm>
          <a:prstGeom prst="rect">
            <a:avLst/>
          </a:prstGeom>
          <a:solidFill>
            <a:srgbClr val="DDDDDD"/>
          </a:solidFill>
          <a:ln w="9525" algn="ctr">
            <a:solidFill>
              <a:schemeClr val="tx1"/>
            </a:solidFill>
            <a:miter lim="800000"/>
            <a:headEnd/>
            <a:tailEnd/>
          </a:ln>
        </p:spPr>
        <p:txBody>
          <a:bodyPr wrap="square">
            <a:spAutoFit/>
          </a:bodyPr>
          <a:lstStyle>
            <a:lvl1pPr marL="457200" indent="-457200">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pt-BR" altLang="pt-BR" dirty="0"/>
          </a:p>
          <a:p>
            <a:pPr eaLnBrk="1" hangingPunct="1">
              <a:buFontTx/>
              <a:buAutoNum type="arabicPeriod"/>
            </a:pPr>
            <a:r>
              <a:rPr lang="pt-BR" altLang="pt-BR" sz="2000" dirty="0"/>
              <a:t>O objetivo da Administração é pagar salários melhores e reduzir custos de produção.</a:t>
            </a:r>
          </a:p>
          <a:p>
            <a:pPr eaLnBrk="1" hangingPunct="1">
              <a:buFontTx/>
              <a:buAutoNum type="arabicPeriod"/>
            </a:pPr>
            <a:endParaRPr lang="pt-BR" altLang="pt-BR" sz="2000" dirty="0"/>
          </a:p>
          <a:p>
            <a:pPr eaLnBrk="1" hangingPunct="1">
              <a:buFontTx/>
              <a:buAutoNum type="arabicPeriod"/>
            </a:pPr>
            <a:r>
              <a:rPr lang="pt-BR" altLang="pt-BR" sz="2000" dirty="0"/>
              <a:t>Para tal objetivo, a Administração deve aplicar métodos científicos de pesquisa</a:t>
            </a:r>
          </a:p>
          <a:p>
            <a:pPr eaLnBrk="1" hangingPunct="1">
              <a:buFontTx/>
              <a:buAutoNum type="arabicPeriod"/>
            </a:pPr>
            <a:endParaRPr lang="pt-BR" altLang="pt-BR" sz="2000" dirty="0"/>
          </a:p>
          <a:p>
            <a:pPr eaLnBrk="1" hangingPunct="1">
              <a:buFontTx/>
              <a:buAutoNum type="arabicPeriod"/>
            </a:pPr>
            <a:r>
              <a:rPr lang="pt-BR" altLang="pt-BR" sz="2000" dirty="0"/>
              <a:t>Formular princípios e estabelecer processos padronizados que permitam o controle das operações </a:t>
            </a:r>
            <a:r>
              <a:rPr lang="pt-BR" altLang="pt-BR" sz="2000" dirty="0" err="1"/>
              <a:t>fabrís</a:t>
            </a:r>
            <a:r>
              <a:rPr lang="pt-BR" altLang="pt-BR" sz="2000" dirty="0"/>
              <a:t>.</a:t>
            </a:r>
          </a:p>
          <a:p>
            <a:pPr eaLnBrk="1" hangingPunct="1">
              <a:buFontTx/>
              <a:buAutoNum type="arabicPeriod"/>
            </a:pPr>
            <a:endParaRPr lang="pt-BR" altLang="pt-BR" sz="2000" dirty="0"/>
          </a:p>
          <a:p>
            <a:pPr eaLnBrk="1" hangingPunct="1">
              <a:buFontTx/>
              <a:buAutoNum type="arabicPeriod"/>
            </a:pPr>
            <a:r>
              <a:rPr lang="pt-BR" altLang="pt-BR" sz="2000" dirty="0"/>
              <a:t>Os empregados devem ser </a:t>
            </a:r>
            <a:r>
              <a:rPr lang="pt-BR" altLang="pt-BR" sz="2000" dirty="0" err="1"/>
              <a:t>científicamente</a:t>
            </a:r>
            <a:r>
              <a:rPr lang="pt-BR" altLang="pt-BR" sz="2000" dirty="0"/>
              <a:t> selecionados e colocados em seus cargos com condições de trabalho adequadas.</a:t>
            </a:r>
          </a:p>
          <a:p>
            <a:pPr eaLnBrk="1" hangingPunct="1">
              <a:buFontTx/>
              <a:buAutoNum type="arabicPeriod"/>
            </a:pPr>
            <a:endParaRPr lang="pt-BR" altLang="pt-BR" sz="2000" dirty="0"/>
          </a:p>
          <a:p>
            <a:pPr eaLnBrk="1" hangingPunct="1">
              <a:buFontTx/>
              <a:buAutoNum type="arabicPeriod"/>
            </a:pPr>
            <a:r>
              <a:rPr lang="pt-BR" altLang="pt-BR" sz="2000" dirty="0"/>
              <a:t>Os empregados devem ser cientificamente treinados para aperfeiçoar suas aptidões e executar uma tarefa para que a produção normal seja cumprida.</a:t>
            </a:r>
          </a:p>
          <a:p>
            <a:pPr eaLnBrk="1" hangingPunct="1">
              <a:buFontTx/>
              <a:buAutoNum type="arabicPeriod"/>
            </a:pPr>
            <a:endParaRPr lang="pt-BR" altLang="pt-BR" sz="2000" dirty="0"/>
          </a:p>
          <a:p>
            <a:pPr eaLnBrk="1" hangingPunct="1">
              <a:buFontTx/>
              <a:buAutoNum type="arabicPeriod"/>
            </a:pPr>
            <a:r>
              <a:rPr lang="pt-BR" altLang="pt-BR" sz="2000" dirty="0"/>
              <a:t>A Administração precisa criar uma atmosfera de cooperação com os trabalhadores para garantir a permanência desse ambiente psicológico.</a:t>
            </a:r>
            <a:endParaRPr lang="pt-BR" altLang="pt-BR" sz="2000" b="1" dirty="0"/>
          </a:p>
        </p:txBody>
      </p:sp>
    </p:spTree>
    <p:extLst>
      <p:ext uri="{BB962C8B-B14F-4D97-AF65-F5344CB8AC3E}">
        <p14:creationId xmlns:p14="http://schemas.microsoft.com/office/powerpoint/2010/main" val="240379730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7346" name="Text Box 2"/>
          <p:cNvSpPr txBox="1">
            <a:spLocks noChangeArrowheads="1"/>
          </p:cNvSpPr>
          <p:nvPr/>
        </p:nvSpPr>
        <p:spPr bwMode="auto">
          <a:xfrm>
            <a:off x="2687638" y="325438"/>
            <a:ext cx="44335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r>
              <a:rPr lang="pt-BR" altLang="pt-BR">
                <a:solidFill>
                  <a:srgbClr val="FF9900"/>
                </a:solidFill>
              </a:rPr>
              <a:t>A Organização Racional do Trabalho:</a:t>
            </a:r>
          </a:p>
        </p:txBody>
      </p:sp>
      <p:sp>
        <p:nvSpPr>
          <p:cNvPr id="57347" name="Rectangle 3"/>
          <p:cNvSpPr>
            <a:spLocks noChangeArrowheads="1"/>
          </p:cNvSpPr>
          <p:nvPr/>
        </p:nvSpPr>
        <p:spPr bwMode="auto">
          <a:xfrm>
            <a:off x="219829" y="1015498"/>
            <a:ext cx="11799718" cy="5324535"/>
          </a:xfrm>
          <a:prstGeom prst="rect">
            <a:avLst/>
          </a:prstGeom>
          <a:solidFill>
            <a:srgbClr val="DDDDDD"/>
          </a:solidFill>
          <a:ln w="9525" algn="ctr">
            <a:solidFill>
              <a:schemeClr val="tx1"/>
            </a:solidFill>
            <a:miter lim="800000"/>
            <a:headEnd/>
            <a:tailEnd/>
          </a:ln>
        </p:spPr>
        <p:txBody>
          <a:bodyPr wrap="square">
            <a:spAutoFit/>
          </a:bodyPr>
          <a:lstStyle>
            <a:lvl1pPr marL="457200" indent="-457200">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buFontTx/>
              <a:buAutoNum type="arabicPeriod"/>
            </a:pPr>
            <a:r>
              <a:rPr lang="en-US" altLang="pt-BR" sz="2000" dirty="0" err="1"/>
              <a:t>Análise</a:t>
            </a:r>
            <a:r>
              <a:rPr lang="en-US" altLang="pt-BR" sz="2000" dirty="0"/>
              <a:t> do </a:t>
            </a:r>
            <a:r>
              <a:rPr lang="en-US" altLang="pt-BR" sz="2000" dirty="0" err="1"/>
              <a:t>trabalho</a:t>
            </a:r>
            <a:r>
              <a:rPr lang="en-US" altLang="pt-BR" sz="2000" dirty="0"/>
              <a:t> e </a:t>
            </a:r>
            <a:r>
              <a:rPr lang="en-US" altLang="pt-BR" sz="2000" dirty="0" err="1"/>
              <a:t>estudo</a:t>
            </a:r>
            <a:r>
              <a:rPr lang="en-US" altLang="pt-BR" sz="2000" dirty="0"/>
              <a:t> dos tempos e </a:t>
            </a:r>
            <a:r>
              <a:rPr lang="en-US" altLang="pt-BR" sz="2000" dirty="0" err="1"/>
              <a:t>movimentos</a:t>
            </a:r>
            <a:r>
              <a:rPr lang="en-US" altLang="pt-BR" sz="2000" dirty="0"/>
              <a:t>.</a:t>
            </a:r>
          </a:p>
          <a:p>
            <a:pPr eaLnBrk="1" hangingPunct="1">
              <a:buFontTx/>
              <a:buAutoNum type="arabicPeriod"/>
            </a:pPr>
            <a:endParaRPr lang="en-US" altLang="pt-BR" sz="2000" dirty="0"/>
          </a:p>
          <a:p>
            <a:pPr eaLnBrk="1" hangingPunct="1">
              <a:buFontTx/>
              <a:buAutoNum type="arabicPeriod"/>
            </a:pPr>
            <a:r>
              <a:rPr lang="en-US" altLang="pt-BR" sz="2000" dirty="0" err="1"/>
              <a:t>Estudo</a:t>
            </a:r>
            <a:r>
              <a:rPr lang="en-US" altLang="pt-BR" sz="2000" dirty="0"/>
              <a:t> da </a:t>
            </a:r>
            <a:r>
              <a:rPr lang="en-US" altLang="pt-BR" sz="2000" dirty="0" err="1"/>
              <a:t>fadiga</a:t>
            </a:r>
            <a:r>
              <a:rPr lang="en-US" altLang="pt-BR" sz="2000" dirty="0"/>
              <a:t> </a:t>
            </a:r>
            <a:r>
              <a:rPr lang="en-US" altLang="pt-BR" sz="2000" dirty="0" err="1"/>
              <a:t>humana</a:t>
            </a:r>
            <a:r>
              <a:rPr lang="en-US" altLang="pt-BR" sz="2000" dirty="0"/>
              <a:t>.</a:t>
            </a:r>
          </a:p>
          <a:p>
            <a:pPr eaLnBrk="1" hangingPunct="1">
              <a:buFontTx/>
              <a:buAutoNum type="arabicPeriod"/>
            </a:pPr>
            <a:endParaRPr lang="en-US" altLang="pt-BR" sz="2000" dirty="0"/>
          </a:p>
          <a:p>
            <a:pPr eaLnBrk="1" hangingPunct="1">
              <a:buFontTx/>
              <a:buAutoNum type="arabicPeriod"/>
            </a:pPr>
            <a:r>
              <a:rPr lang="en-US" altLang="pt-BR" sz="2000" dirty="0" err="1"/>
              <a:t>Divisão</a:t>
            </a:r>
            <a:r>
              <a:rPr lang="en-US" altLang="pt-BR" sz="2000" dirty="0"/>
              <a:t> do </a:t>
            </a:r>
            <a:r>
              <a:rPr lang="en-US" altLang="pt-BR" sz="2000" dirty="0" err="1"/>
              <a:t>trabalho</a:t>
            </a:r>
            <a:r>
              <a:rPr lang="en-US" altLang="pt-BR" sz="2000" dirty="0"/>
              <a:t> e </a:t>
            </a:r>
            <a:r>
              <a:rPr lang="en-US" altLang="pt-BR" sz="2000" dirty="0" err="1"/>
              <a:t>especialização</a:t>
            </a:r>
            <a:r>
              <a:rPr lang="en-US" altLang="pt-BR" sz="2000" dirty="0"/>
              <a:t> do </a:t>
            </a:r>
            <a:r>
              <a:rPr lang="en-US" altLang="pt-BR" sz="2000" dirty="0" err="1"/>
              <a:t>operário</a:t>
            </a:r>
            <a:r>
              <a:rPr lang="en-US" altLang="pt-BR" sz="2000" dirty="0"/>
              <a:t>.</a:t>
            </a:r>
          </a:p>
          <a:p>
            <a:pPr eaLnBrk="1" hangingPunct="1">
              <a:buFontTx/>
              <a:buAutoNum type="arabicPeriod"/>
            </a:pPr>
            <a:endParaRPr lang="en-US" altLang="pt-BR" sz="2000" dirty="0"/>
          </a:p>
          <a:p>
            <a:pPr eaLnBrk="1" hangingPunct="1">
              <a:buFontTx/>
              <a:buAutoNum type="arabicPeriod"/>
            </a:pPr>
            <a:r>
              <a:rPr lang="en-US" altLang="pt-BR" sz="2000" dirty="0" err="1"/>
              <a:t>Desenho</a:t>
            </a:r>
            <a:r>
              <a:rPr lang="en-US" altLang="pt-BR" sz="2000" dirty="0"/>
              <a:t> de cargos e de </a:t>
            </a:r>
            <a:r>
              <a:rPr lang="en-US" altLang="pt-BR" sz="2000" dirty="0" err="1"/>
              <a:t>tarefas</a:t>
            </a:r>
            <a:r>
              <a:rPr lang="en-US" altLang="pt-BR" sz="2000" dirty="0"/>
              <a:t>.</a:t>
            </a:r>
          </a:p>
          <a:p>
            <a:pPr eaLnBrk="1" hangingPunct="1">
              <a:buFontTx/>
              <a:buAutoNum type="arabicPeriod"/>
            </a:pPr>
            <a:endParaRPr lang="en-US" altLang="pt-BR" sz="2000" dirty="0"/>
          </a:p>
          <a:p>
            <a:pPr eaLnBrk="1" hangingPunct="1">
              <a:buFontTx/>
              <a:buAutoNum type="arabicPeriod"/>
            </a:pPr>
            <a:r>
              <a:rPr lang="en-US" altLang="pt-BR" sz="2000" dirty="0" err="1"/>
              <a:t>Incentivos</a:t>
            </a:r>
            <a:r>
              <a:rPr lang="en-US" altLang="pt-BR" sz="2000" dirty="0"/>
              <a:t> </a:t>
            </a:r>
            <a:r>
              <a:rPr lang="en-US" altLang="pt-BR" sz="2000" dirty="0" err="1"/>
              <a:t>salariais</a:t>
            </a:r>
            <a:r>
              <a:rPr lang="en-US" altLang="pt-BR" sz="2000" dirty="0"/>
              <a:t> e </a:t>
            </a:r>
            <a:r>
              <a:rPr lang="en-US" altLang="pt-BR" sz="2000" dirty="0" err="1"/>
              <a:t>prêmios</a:t>
            </a:r>
            <a:r>
              <a:rPr lang="en-US" altLang="pt-BR" sz="2000" dirty="0"/>
              <a:t> de </a:t>
            </a:r>
            <a:r>
              <a:rPr lang="en-US" altLang="pt-BR" sz="2000" dirty="0" err="1"/>
              <a:t>produção</a:t>
            </a:r>
            <a:r>
              <a:rPr lang="en-US" altLang="pt-BR" sz="2000" dirty="0"/>
              <a:t>.</a:t>
            </a:r>
          </a:p>
          <a:p>
            <a:pPr eaLnBrk="1" hangingPunct="1">
              <a:buFontTx/>
              <a:buAutoNum type="arabicPeriod"/>
            </a:pPr>
            <a:endParaRPr lang="en-US" altLang="pt-BR" sz="2000" dirty="0"/>
          </a:p>
          <a:p>
            <a:pPr eaLnBrk="1" hangingPunct="1">
              <a:buFontTx/>
              <a:buAutoNum type="arabicPeriod"/>
            </a:pPr>
            <a:r>
              <a:rPr lang="en-US" altLang="pt-BR" sz="2000" dirty="0" err="1"/>
              <a:t>Conceito</a:t>
            </a:r>
            <a:r>
              <a:rPr lang="en-US" altLang="pt-BR" sz="2000" dirty="0"/>
              <a:t> do homo </a:t>
            </a:r>
            <a:r>
              <a:rPr lang="en-US" altLang="pt-BR" sz="2000" dirty="0" err="1"/>
              <a:t>economicus</a:t>
            </a:r>
            <a:r>
              <a:rPr lang="en-US" altLang="pt-BR" sz="2000" dirty="0"/>
              <a:t>.</a:t>
            </a:r>
          </a:p>
          <a:p>
            <a:pPr eaLnBrk="1" hangingPunct="1">
              <a:buFontTx/>
              <a:buAutoNum type="arabicPeriod"/>
            </a:pPr>
            <a:endParaRPr lang="en-US" altLang="pt-BR" sz="2000" dirty="0"/>
          </a:p>
          <a:p>
            <a:pPr eaLnBrk="1" hangingPunct="1">
              <a:buFontTx/>
              <a:buAutoNum type="arabicPeriod"/>
            </a:pPr>
            <a:r>
              <a:rPr lang="en-US" altLang="pt-BR" sz="2000" dirty="0" err="1"/>
              <a:t>Condições</a:t>
            </a:r>
            <a:r>
              <a:rPr lang="en-US" altLang="pt-BR" sz="2000" dirty="0"/>
              <a:t> </a:t>
            </a:r>
            <a:r>
              <a:rPr lang="en-US" altLang="pt-BR" sz="2000" dirty="0" err="1"/>
              <a:t>ambientais</a:t>
            </a:r>
            <a:r>
              <a:rPr lang="en-US" altLang="pt-BR" sz="2000" dirty="0"/>
              <a:t> de </a:t>
            </a:r>
            <a:r>
              <a:rPr lang="en-US" altLang="pt-BR" sz="2000" dirty="0" err="1"/>
              <a:t>trabalho</a:t>
            </a:r>
            <a:r>
              <a:rPr lang="en-US" altLang="pt-BR" sz="2000" dirty="0"/>
              <a:t>, </a:t>
            </a:r>
            <a:r>
              <a:rPr lang="en-US" altLang="pt-BR" sz="2000" dirty="0" err="1"/>
              <a:t>como</a:t>
            </a:r>
            <a:r>
              <a:rPr lang="en-US" altLang="pt-BR" sz="2000" dirty="0"/>
              <a:t> </a:t>
            </a:r>
            <a:r>
              <a:rPr lang="en-US" altLang="pt-BR" sz="2000" dirty="0" err="1"/>
              <a:t>iluminação</a:t>
            </a:r>
            <a:r>
              <a:rPr lang="en-US" altLang="pt-BR" sz="2000" dirty="0"/>
              <a:t>, </a:t>
            </a:r>
            <a:r>
              <a:rPr lang="en-US" altLang="pt-BR" sz="2000" dirty="0" err="1"/>
              <a:t>conforto</a:t>
            </a:r>
            <a:r>
              <a:rPr lang="en-US" altLang="pt-BR" sz="2000" dirty="0"/>
              <a:t> etc.</a:t>
            </a:r>
          </a:p>
          <a:p>
            <a:pPr eaLnBrk="1" hangingPunct="1">
              <a:buFontTx/>
              <a:buAutoNum type="arabicPeriod"/>
            </a:pPr>
            <a:endParaRPr lang="en-US" altLang="pt-BR" sz="2000" dirty="0"/>
          </a:p>
          <a:p>
            <a:pPr eaLnBrk="1" hangingPunct="1">
              <a:buFontTx/>
              <a:buAutoNum type="arabicPeriod"/>
            </a:pPr>
            <a:r>
              <a:rPr lang="en-US" altLang="pt-BR" sz="2000" dirty="0" err="1"/>
              <a:t>Padronização</a:t>
            </a:r>
            <a:r>
              <a:rPr lang="en-US" altLang="pt-BR" sz="2000" dirty="0"/>
              <a:t> de </a:t>
            </a:r>
            <a:r>
              <a:rPr lang="en-US" altLang="pt-BR" sz="2000" dirty="0" err="1"/>
              <a:t>métodos</a:t>
            </a:r>
            <a:r>
              <a:rPr lang="en-US" altLang="pt-BR" sz="2000" dirty="0"/>
              <a:t> e de </a:t>
            </a:r>
            <a:r>
              <a:rPr lang="en-US" altLang="pt-BR" sz="2000" dirty="0" err="1"/>
              <a:t>máquinas</a:t>
            </a:r>
            <a:r>
              <a:rPr lang="en-US" altLang="pt-BR" sz="2000" dirty="0"/>
              <a:t>.</a:t>
            </a:r>
          </a:p>
          <a:p>
            <a:pPr eaLnBrk="1" hangingPunct="1">
              <a:buFontTx/>
              <a:buAutoNum type="arabicPeriod"/>
            </a:pPr>
            <a:endParaRPr lang="en-US" altLang="pt-BR" sz="2000" dirty="0"/>
          </a:p>
          <a:p>
            <a:pPr eaLnBrk="1" hangingPunct="1">
              <a:buFontTx/>
              <a:buAutoNum type="arabicPeriod"/>
            </a:pPr>
            <a:r>
              <a:rPr lang="en-US" altLang="pt-BR" sz="2000" dirty="0" err="1"/>
              <a:t>Supervisão</a:t>
            </a:r>
            <a:r>
              <a:rPr lang="en-US" altLang="pt-BR" sz="2000" dirty="0"/>
              <a:t> </a:t>
            </a:r>
            <a:r>
              <a:rPr lang="en-US" altLang="pt-BR" sz="2000" dirty="0" err="1"/>
              <a:t>funcional</a:t>
            </a:r>
            <a:r>
              <a:rPr lang="en-US" altLang="pt-BR" sz="2000" dirty="0"/>
              <a:t>.</a:t>
            </a:r>
          </a:p>
        </p:txBody>
      </p:sp>
    </p:spTree>
    <p:extLst>
      <p:ext uri="{BB962C8B-B14F-4D97-AF65-F5344CB8AC3E}">
        <p14:creationId xmlns:p14="http://schemas.microsoft.com/office/powerpoint/2010/main" val="229304423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9394" name="Text Box 2"/>
          <p:cNvSpPr txBox="1">
            <a:spLocks noChangeArrowheads="1"/>
          </p:cNvSpPr>
          <p:nvPr/>
        </p:nvSpPr>
        <p:spPr bwMode="auto">
          <a:xfrm>
            <a:off x="2687638" y="325438"/>
            <a:ext cx="44335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r>
              <a:rPr lang="pt-BR" altLang="pt-BR">
                <a:solidFill>
                  <a:srgbClr val="FF9900"/>
                </a:solidFill>
              </a:rPr>
              <a:t>A Organização Racional do Trabalho:</a:t>
            </a:r>
          </a:p>
        </p:txBody>
      </p:sp>
      <p:sp>
        <p:nvSpPr>
          <p:cNvPr id="59395" name="Rectangle 3"/>
          <p:cNvSpPr>
            <a:spLocks noChangeArrowheads="1"/>
          </p:cNvSpPr>
          <p:nvPr/>
        </p:nvSpPr>
        <p:spPr bwMode="auto">
          <a:xfrm>
            <a:off x="255923" y="883151"/>
            <a:ext cx="11583150" cy="5324535"/>
          </a:xfrm>
          <a:prstGeom prst="rect">
            <a:avLst/>
          </a:prstGeom>
          <a:solidFill>
            <a:srgbClr val="DDDDDD"/>
          </a:solidFill>
          <a:ln w="9525" algn="ctr">
            <a:solidFill>
              <a:schemeClr val="tx1"/>
            </a:solidFill>
            <a:miter lim="800000"/>
            <a:headEnd/>
            <a:tailEnd/>
          </a:ln>
        </p:spPr>
        <p:txBody>
          <a:bodyPr wrap="square">
            <a:spAutoFit/>
          </a:bodyPr>
          <a:lstStyle>
            <a:lvl1pPr marL="457200" indent="-457200">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buFontTx/>
              <a:buAutoNum type="arabicPeriod"/>
            </a:pPr>
            <a:r>
              <a:rPr lang="en-US" altLang="pt-BR" sz="2000" dirty="0" err="1"/>
              <a:t>Análise</a:t>
            </a:r>
            <a:r>
              <a:rPr lang="en-US" altLang="pt-BR" sz="2000" dirty="0"/>
              <a:t> do </a:t>
            </a:r>
            <a:r>
              <a:rPr lang="en-US" altLang="pt-BR" sz="2000" dirty="0" err="1"/>
              <a:t>trabalho</a:t>
            </a:r>
            <a:r>
              <a:rPr lang="en-US" altLang="pt-BR" sz="2000" dirty="0"/>
              <a:t> e </a:t>
            </a:r>
            <a:r>
              <a:rPr lang="en-US" altLang="pt-BR" sz="2000" dirty="0" err="1"/>
              <a:t>estudo</a:t>
            </a:r>
            <a:r>
              <a:rPr lang="en-US" altLang="pt-BR" sz="2000" dirty="0"/>
              <a:t> dos tempos e </a:t>
            </a:r>
            <a:r>
              <a:rPr lang="en-US" altLang="pt-BR" sz="2000" dirty="0" err="1"/>
              <a:t>movimentos</a:t>
            </a:r>
            <a:r>
              <a:rPr lang="en-US" altLang="pt-BR" sz="2000" dirty="0"/>
              <a:t>.</a:t>
            </a:r>
          </a:p>
          <a:p>
            <a:pPr eaLnBrk="1" hangingPunct="1">
              <a:buFontTx/>
              <a:buAutoNum type="arabicPeriod"/>
            </a:pPr>
            <a:endParaRPr lang="en-US" altLang="pt-BR" sz="2000" dirty="0"/>
          </a:p>
          <a:p>
            <a:pPr eaLnBrk="1" hangingPunct="1">
              <a:buFontTx/>
              <a:buAutoNum type="arabicPeriod"/>
            </a:pPr>
            <a:r>
              <a:rPr lang="en-US" altLang="pt-BR" sz="2000" dirty="0" err="1"/>
              <a:t>Estudo</a:t>
            </a:r>
            <a:r>
              <a:rPr lang="en-US" altLang="pt-BR" sz="2000" dirty="0"/>
              <a:t> da </a:t>
            </a:r>
            <a:r>
              <a:rPr lang="en-US" altLang="pt-BR" sz="2000" dirty="0" err="1"/>
              <a:t>fadiga</a:t>
            </a:r>
            <a:r>
              <a:rPr lang="en-US" altLang="pt-BR" sz="2000" dirty="0"/>
              <a:t> </a:t>
            </a:r>
            <a:r>
              <a:rPr lang="en-US" altLang="pt-BR" sz="2000" dirty="0" err="1"/>
              <a:t>humana</a:t>
            </a:r>
            <a:r>
              <a:rPr lang="en-US" altLang="pt-BR" sz="2000" dirty="0"/>
              <a:t>.</a:t>
            </a:r>
          </a:p>
          <a:p>
            <a:pPr eaLnBrk="1" hangingPunct="1">
              <a:buFontTx/>
              <a:buAutoNum type="arabicPeriod"/>
            </a:pPr>
            <a:endParaRPr lang="en-US" altLang="pt-BR" sz="2000" dirty="0"/>
          </a:p>
          <a:p>
            <a:pPr eaLnBrk="1" hangingPunct="1">
              <a:buFontTx/>
              <a:buAutoNum type="arabicPeriod"/>
            </a:pPr>
            <a:r>
              <a:rPr lang="en-US" altLang="pt-BR" sz="2000" dirty="0" err="1"/>
              <a:t>Divisão</a:t>
            </a:r>
            <a:r>
              <a:rPr lang="en-US" altLang="pt-BR" sz="2000" dirty="0"/>
              <a:t> do </a:t>
            </a:r>
            <a:r>
              <a:rPr lang="en-US" altLang="pt-BR" sz="2000" dirty="0" err="1"/>
              <a:t>trabalho</a:t>
            </a:r>
            <a:r>
              <a:rPr lang="en-US" altLang="pt-BR" sz="2000" dirty="0"/>
              <a:t> e </a:t>
            </a:r>
            <a:r>
              <a:rPr lang="en-US" altLang="pt-BR" sz="2000" dirty="0" err="1"/>
              <a:t>especialização</a:t>
            </a:r>
            <a:r>
              <a:rPr lang="en-US" altLang="pt-BR" sz="2000" dirty="0"/>
              <a:t> do </a:t>
            </a:r>
            <a:r>
              <a:rPr lang="en-US" altLang="pt-BR" sz="2000" dirty="0" err="1"/>
              <a:t>operário</a:t>
            </a:r>
            <a:r>
              <a:rPr lang="en-US" altLang="pt-BR" sz="2000" dirty="0"/>
              <a:t>.</a:t>
            </a:r>
          </a:p>
          <a:p>
            <a:pPr eaLnBrk="1" hangingPunct="1">
              <a:buFontTx/>
              <a:buAutoNum type="arabicPeriod"/>
            </a:pPr>
            <a:endParaRPr lang="en-US" altLang="pt-BR" sz="2000" dirty="0"/>
          </a:p>
          <a:p>
            <a:pPr eaLnBrk="1" hangingPunct="1">
              <a:buFontTx/>
              <a:buAutoNum type="arabicPeriod"/>
            </a:pPr>
            <a:r>
              <a:rPr lang="en-US" altLang="pt-BR" sz="2000" dirty="0" err="1"/>
              <a:t>Desenho</a:t>
            </a:r>
            <a:r>
              <a:rPr lang="en-US" altLang="pt-BR" sz="2000" dirty="0"/>
              <a:t> de cargos e de </a:t>
            </a:r>
            <a:r>
              <a:rPr lang="en-US" altLang="pt-BR" sz="2000" dirty="0" err="1"/>
              <a:t>tarefas</a:t>
            </a:r>
            <a:r>
              <a:rPr lang="en-US" altLang="pt-BR" sz="2000" dirty="0"/>
              <a:t>.</a:t>
            </a:r>
          </a:p>
          <a:p>
            <a:pPr eaLnBrk="1" hangingPunct="1">
              <a:buFontTx/>
              <a:buAutoNum type="arabicPeriod"/>
            </a:pPr>
            <a:endParaRPr lang="en-US" altLang="pt-BR" sz="2000" dirty="0"/>
          </a:p>
          <a:p>
            <a:pPr eaLnBrk="1" hangingPunct="1">
              <a:buFontTx/>
              <a:buAutoNum type="arabicPeriod"/>
            </a:pPr>
            <a:r>
              <a:rPr lang="en-US" altLang="pt-BR" sz="2000" dirty="0" err="1"/>
              <a:t>Incentivos</a:t>
            </a:r>
            <a:r>
              <a:rPr lang="en-US" altLang="pt-BR" sz="2000" dirty="0"/>
              <a:t> </a:t>
            </a:r>
            <a:r>
              <a:rPr lang="en-US" altLang="pt-BR" sz="2000" dirty="0" err="1"/>
              <a:t>salariais</a:t>
            </a:r>
            <a:r>
              <a:rPr lang="en-US" altLang="pt-BR" sz="2000" dirty="0"/>
              <a:t> e </a:t>
            </a:r>
            <a:r>
              <a:rPr lang="en-US" altLang="pt-BR" sz="2000" dirty="0" err="1"/>
              <a:t>prêmios</a:t>
            </a:r>
            <a:r>
              <a:rPr lang="en-US" altLang="pt-BR" sz="2000" dirty="0"/>
              <a:t> de </a:t>
            </a:r>
            <a:r>
              <a:rPr lang="en-US" altLang="pt-BR" sz="2000" dirty="0" err="1"/>
              <a:t>produção</a:t>
            </a:r>
            <a:r>
              <a:rPr lang="en-US" altLang="pt-BR" sz="2000" dirty="0"/>
              <a:t>.</a:t>
            </a:r>
          </a:p>
          <a:p>
            <a:pPr eaLnBrk="1" hangingPunct="1">
              <a:buFontTx/>
              <a:buAutoNum type="arabicPeriod"/>
            </a:pPr>
            <a:endParaRPr lang="en-US" altLang="pt-BR" sz="2000" dirty="0"/>
          </a:p>
          <a:p>
            <a:pPr eaLnBrk="1" hangingPunct="1">
              <a:buFontTx/>
              <a:buAutoNum type="arabicPeriod"/>
            </a:pPr>
            <a:r>
              <a:rPr lang="en-US" altLang="pt-BR" sz="2000" dirty="0" err="1"/>
              <a:t>Conceito</a:t>
            </a:r>
            <a:r>
              <a:rPr lang="en-US" altLang="pt-BR" sz="2000" dirty="0"/>
              <a:t> do homo </a:t>
            </a:r>
            <a:r>
              <a:rPr lang="en-US" altLang="pt-BR" sz="2000" dirty="0" err="1"/>
              <a:t>economicus</a:t>
            </a:r>
            <a:r>
              <a:rPr lang="en-US" altLang="pt-BR" sz="2000" dirty="0"/>
              <a:t>.</a:t>
            </a:r>
          </a:p>
          <a:p>
            <a:pPr eaLnBrk="1" hangingPunct="1">
              <a:buFontTx/>
              <a:buAutoNum type="arabicPeriod"/>
            </a:pPr>
            <a:endParaRPr lang="en-US" altLang="pt-BR" sz="2000" dirty="0"/>
          </a:p>
          <a:p>
            <a:pPr eaLnBrk="1" hangingPunct="1">
              <a:buFontTx/>
              <a:buAutoNum type="arabicPeriod"/>
            </a:pPr>
            <a:r>
              <a:rPr lang="en-US" altLang="pt-BR" sz="2000" dirty="0" err="1"/>
              <a:t>Condições</a:t>
            </a:r>
            <a:r>
              <a:rPr lang="en-US" altLang="pt-BR" sz="2000" dirty="0"/>
              <a:t> </a:t>
            </a:r>
            <a:r>
              <a:rPr lang="en-US" altLang="pt-BR" sz="2000" dirty="0" err="1"/>
              <a:t>ambientais</a:t>
            </a:r>
            <a:r>
              <a:rPr lang="en-US" altLang="pt-BR" sz="2000" dirty="0"/>
              <a:t> de </a:t>
            </a:r>
            <a:r>
              <a:rPr lang="en-US" altLang="pt-BR" sz="2000" dirty="0" err="1"/>
              <a:t>trabalho</a:t>
            </a:r>
            <a:r>
              <a:rPr lang="en-US" altLang="pt-BR" sz="2000" dirty="0"/>
              <a:t>, </a:t>
            </a:r>
            <a:r>
              <a:rPr lang="en-US" altLang="pt-BR" sz="2000" dirty="0" err="1"/>
              <a:t>como</a:t>
            </a:r>
            <a:r>
              <a:rPr lang="en-US" altLang="pt-BR" sz="2000" dirty="0"/>
              <a:t> </a:t>
            </a:r>
            <a:r>
              <a:rPr lang="en-US" altLang="pt-BR" sz="2000" dirty="0" err="1"/>
              <a:t>iluminação</a:t>
            </a:r>
            <a:r>
              <a:rPr lang="en-US" altLang="pt-BR" sz="2000" dirty="0"/>
              <a:t>, </a:t>
            </a:r>
            <a:r>
              <a:rPr lang="en-US" altLang="pt-BR" sz="2000" dirty="0" err="1"/>
              <a:t>conforto</a:t>
            </a:r>
            <a:r>
              <a:rPr lang="en-US" altLang="pt-BR" sz="2000" dirty="0"/>
              <a:t> etc.</a:t>
            </a:r>
          </a:p>
          <a:p>
            <a:pPr eaLnBrk="1" hangingPunct="1">
              <a:buFontTx/>
              <a:buAutoNum type="arabicPeriod"/>
            </a:pPr>
            <a:endParaRPr lang="en-US" altLang="pt-BR" sz="2000" dirty="0"/>
          </a:p>
          <a:p>
            <a:pPr eaLnBrk="1" hangingPunct="1">
              <a:buFontTx/>
              <a:buAutoNum type="arabicPeriod"/>
            </a:pPr>
            <a:r>
              <a:rPr lang="en-US" altLang="pt-BR" sz="2000" dirty="0" err="1"/>
              <a:t>Padronização</a:t>
            </a:r>
            <a:r>
              <a:rPr lang="en-US" altLang="pt-BR" sz="2000" dirty="0"/>
              <a:t> de </a:t>
            </a:r>
            <a:r>
              <a:rPr lang="en-US" altLang="pt-BR" sz="2000" dirty="0" err="1"/>
              <a:t>métodos</a:t>
            </a:r>
            <a:r>
              <a:rPr lang="en-US" altLang="pt-BR" sz="2000" dirty="0"/>
              <a:t> e de </a:t>
            </a:r>
            <a:r>
              <a:rPr lang="en-US" altLang="pt-BR" sz="2000" dirty="0" err="1"/>
              <a:t>máquinas</a:t>
            </a:r>
            <a:r>
              <a:rPr lang="en-US" altLang="pt-BR" sz="2000" dirty="0"/>
              <a:t>.</a:t>
            </a:r>
          </a:p>
          <a:p>
            <a:pPr eaLnBrk="1" hangingPunct="1">
              <a:buFontTx/>
              <a:buAutoNum type="arabicPeriod"/>
            </a:pPr>
            <a:endParaRPr lang="en-US" altLang="pt-BR" sz="2000" dirty="0"/>
          </a:p>
          <a:p>
            <a:pPr eaLnBrk="1" hangingPunct="1">
              <a:buFontTx/>
              <a:buAutoNum type="arabicPeriod"/>
            </a:pPr>
            <a:r>
              <a:rPr lang="en-US" altLang="pt-BR" sz="2000" dirty="0" err="1"/>
              <a:t>Supervisão</a:t>
            </a:r>
            <a:r>
              <a:rPr lang="en-US" altLang="pt-BR" sz="2000" dirty="0"/>
              <a:t> </a:t>
            </a:r>
            <a:r>
              <a:rPr lang="en-US" altLang="pt-BR" sz="2000" dirty="0" err="1"/>
              <a:t>funcional</a:t>
            </a:r>
            <a:r>
              <a:rPr lang="en-US" altLang="pt-BR" sz="2000" dirty="0"/>
              <a:t>.</a:t>
            </a:r>
          </a:p>
        </p:txBody>
      </p:sp>
    </p:spTree>
    <p:extLst>
      <p:ext uri="{BB962C8B-B14F-4D97-AF65-F5344CB8AC3E}">
        <p14:creationId xmlns:p14="http://schemas.microsoft.com/office/powerpoint/2010/main" val="208914756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42" name="Rectangle 2"/>
          <p:cNvSpPr>
            <a:spLocks noChangeArrowheads="1"/>
          </p:cNvSpPr>
          <p:nvPr/>
        </p:nvSpPr>
        <p:spPr bwMode="auto">
          <a:xfrm>
            <a:off x="0" y="658676"/>
            <a:ext cx="12192000" cy="5632311"/>
          </a:xfrm>
          <a:prstGeom prst="rect">
            <a:avLst/>
          </a:prstGeom>
          <a:solidFill>
            <a:srgbClr val="DDDDDD"/>
          </a:solidFill>
          <a:ln w="9525" algn="ctr">
            <a:solidFill>
              <a:schemeClr val="tx1"/>
            </a:solidFill>
            <a:miter lim="800000"/>
            <a:headEnd/>
            <a:tailEnd/>
          </a:ln>
        </p:spPr>
        <p:txBody>
          <a:bodyPr wrap="square">
            <a:spAutoFit/>
          </a:bodyPr>
          <a:lstStyle>
            <a:lvl1pPr marL="457200" indent="-457200">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buFontTx/>
              <a:buAutoNum type="arabicPeriod"/>
            </a:pPr>
            <a:r>
              <a:rPr lang="en-US" altLang="pt-BR" sz="2400" dirty="0" err="1"/>
              <a:t>Eliminação</a:t>
            </a:r>
            <a:r>
              <a:rPr lang="en-US" altLang="pt-BR" sz="2400" dirty="0"/>
              <a:t> do </a:t>
            </a:r>
            <a:r>
              <a:rPr lang="en-US" altLang="pt-BR" sz="2400" dirty="0" err="1"/>
              <a:t>desperdício</a:t>
            </a:r>
            <a:r>
              <a:rPr lang="en-US" altLang="pt-BR" sz="2400" dirty="0"/>
              <a:t> de </a:t>
            </a:r>
            <a:r>
              <a:rPr lang="en-US" altLang="pt-BR" sz="2400" dirty="0" err="1"/>
              <a:t>esforço</a:t>
            </a:r>
            <a:r>
              <a:rPr lang="en-US" altLang="pt-BR" sz="2400" dirty="0"/>
              <a:t> </a:t>
            </a:r>
            <a:r>
              <a:rPr lang="en-US" altLang="pt-BR" sz="2400" dirty="0" err="1"/>
              <a:t>humano</a:t>
            </a:r>
            <a:r>
              <a:rPr lang="en-US" altLang="pt-BR" sz="2400" dirty="0"/>
              <a:t> e de </a:t>
            </a:r>
            <a:r>
              <a:rPr lang="en-US" altLang="pt-BR" sz="2400" dirty="0" err="1"/>
              <a:t>movimentos</a:t>
            </a:r>
            <a:r>
              <a:rPr lang="en-US" altLang="pt-BR" sz="2400" dirty="0"/>
              <a:t> </a:t>
            </a:r>
            <a:r>
              <a:rPr lang="en-US" altLang="pt-BR" sz="2400" dirty="0" err="1"/>
              <a:t>inúteis</a:t>
            </a:r>
            <a:r>
              <a:rPr lang="en-US" altLang="pt-BR" sz="2400" dirty="0"/>
              <a:t>.</a:t>
            </a:r>
          </a:p>
          <a:p>
            <a:pPr eaLnBrk="1" hangingPunct="1">
              <a:buFontTx/>
              <a:buAutoNum type="arabicPeriod"/>
            </a:pPr>
            <a:endParaRPr lang="en-US" altLang="pt-BR" sz="2400" dirty="0"/>
          </a:p>
          <a:p>
            <a:pPr eaLnBrk="1" hangingPunct="1">
              <a:buFontTx/>
              <a:buAutoNum type="arabicPeriod"/>
            </a:pPr>
            <a:r>
              <a:rPr lang="en-US" altLang="pt-BR" sz="2400" dirty="0" err="1"/>
              <a:t>Adaptação</a:t>
            </a:r>
            <a:r>
              <a:rPr lang="en-US" altLang="pt-BR" sz="2400" dirty="0"/>
              <a:t> dos </a:t>
            </a:r>
            <a:r>
              <a:rPr lang="en-US" altLang="pt-BR" sz="2400" dirty="0" err="1"/>
              <a:t>operários</a:t>
            </a:r>
            <a:r>
              <a:rPr lang="en-US" altLang="pt-BR" sz="2400" dirty="0"/>
              <a:t> à </a:t>
            </a:r>
            <a:r>
              <a:rPr lang="en-US" altLang="pt-BR" sz="2400" dirty="0" err="1"/>
              <a:t>tarefa</a:t>
            </a:r>
            <a:r>
              <a:rPr lang="en-US" altLang="pt-BR" sz="2400" dirty="0"/>
              <a:t>.</a:t>
            </a:r>
          </a:p>
          <a:p>
            <a:pPr eaLnBrk="1" hangingPunct="1">
              <a:buFontTx/>
              <a:buAutoNum type="arabicPeriod"/>
            </a:pPr>
            <a:endParaRPr lang="en-US" altLang="pt-BR" sz="2400" dirty="0"/>
          </a:p>
          <a:p>
            <a:pPr eaLnBrk="1" hangingPunct="1">
              <a:buFontTx/>
              <a:buAutoNum type="arabicPeriod"/>
            </a:pPr>
            <a:r>
              <a:rPr lang="en-US" altLang="pt-BR" sz="2400" dirty="0" err="1"/>
              <a:t>Facilidade</a:t>
            </a:r>
            <a:r>
              <a:rPr lang="en-US" altLang="pt-BR" sz="2400" dirty="0"/>
              <a:t> no </a:t>
            </a:r>
            <a:r>
              <a:rPr lang="en-US" altLang="pt-BR" sz="2400" dirty="0" err="1"/>
              <a:t>treinamento</a:t>
            </a:r>
            <a:r>
              <a:rPr lang="en-US" altLang="pt-BR" sz="2400" dirty="0"/>
              <a:t> dos </a:t>
            </a:r>
            <a:r>
              <a:rPr lang="en-US" altLang="pt-BR" sz="2400" dirty="0" err="1"/>
              <a:t>operários</a:t>
            </a:r>
            <a:r>
              <a:rPr lang="en-US" altLang="pt-BR" sz="2400" dirty="0"/>
              <a:t>, </a:t>
            </a:r>
            <a:r>
              <a:rPr lang="en-US" altLang="pt-BR" sz="2400" dirty="0" err="1"/>
              <a:t>melhoria</a:t>
            </a:r>
            <a:r>
              <a:rPr lang="en-US" altLang="pt-BR" sz="2400" dirty="0"/>
              <a:t> da </a:t>
            </a:r>
            <a:r>
              <a:rPr lang="en-US" altLang="pt-BR" sz="2400" dirty="0" err="1"/>
              <a:t>eficiência</a:t>
            </a:r>
            <a:r>
              <a:rPr lang="en-US" altLang="pt-BR" sz="2400" dirty="0"/>
              <a:t> e</a:t>
            </a:r>
          </a:p>
          <a:p>
            <a:pPr eaLnBrk="1" hangingPunct="1"/>
            <a:r>
              <a:rPr lang="en-US" altLang="pt-BR" sz="2400" dirty="0"/>
              <a:t>do </a:t>
            </a:r>
            <a:r>
              <a:rPr lang="en-US" altLang="pt-BR" sz="2400" dirty="0" err="1"/>
              <a:t>rendimento</a:t>
            </a:r>
            <a:r>
              <a:rPr lang="en-US" altLang="pt-BR" sz="2400" dirty="0"/>
              <a:t> da </a:t>
            </a:r>
            <a:r>
              <a:rPr lang="en-US" altLang="pt-BR" sz="2400" dirty="0" err="1"/>
              <a:t>produção</a:t>
            </a:r>
            <a:r>
              <a:rPr lang="en-US" altLang="pt-BR" sz="2400" dirty="0"/>
              <a:t> pela </a:t>
            </a:r>
            <a:r>
              <a:rPr lang="en-US" altLang="pt-BR" sz="2400" dirty="0" err="1"/>
              <a:t>especialização</a:t>
            </a:r>
            <a:r>
              <a:rPr lang="en-US" altLang="pt-BR" sz="2400" dirty="0"/>
              <a:t> das </a:t>
            </a:r>
            <a:r>
              <a:rPr lang="en-US" altLang="pt-BR" sz="2400" dirty="0" err="1"/>
              <a:t>atividades</a:t>
            </a:r>
            <a:r>
              <a:rPr lang="en-US" altLang="pt-BR" sz="2400" dirty="0"/>
              <a:t>.</a:t>
            </a:r>
          </a:p>
          <a:p>
            <a:pPr eaLnBrk="1" hangingPunct="1">
              <a:buFontTx/>
              <a:buAutoNum type="arabicPeriod"/>
            </a:pPr>
            <a:endParaRPr lang="en-US" altLang="pt-BR" sz="2400" dirty="0"/>
          </a:p>
          <a:p>
            <a:pPr eaLnBrk="1" hangingPunct="1"/>
            <a:r>
              <a:rPr lang="en-US" altLang="pt-BR" sz="2400" dirty="0"/>
              <a:t>4.  </a:t>
            </a:r>
            <a:r>
              <a:rPr lang="en-US" altLang="pt-BR" sz="2400" dirty="0" err="1"/>
              <a:t>Distribuição</a:t>
            </a:r>
            <a:r>
              <a:rPr lang="en-US" altLang="pt-BR" sz="2400" dirty="0"/>
              <a:t> </a:t>
            </a:r>
            <a:r>
              <a:rPr lang="en-US" altLang="pt-BR" sz="2400" dirty="0" err="1"/>
              <a:t>uniforme</a:t>
            </a:r>
            <a:r>
              <a:rPr lang="en-US" altLang="pt-BR" sz="2400" dirty="0"/>
              <a:t> do </a:t>
            </a:r>
            <a:r>
              <a:rPr lang="en-US" altLang="pt-BR" sz="2400" dirty="0" err="1"/>
              <a:t>trabalho</a:t>
            </a:r>
            <a:r>
              <a:rPr lang="en-US" altLang="pt-BR" sz="2400" dirty="0"/>
              <a:t> para que </a:t>
            </a:r>
            <a:r>
              <a:rPr lang="en-US" altLang="pt-BR" sz="2400" dirty="0" err="1"/>
              <a:t>não</a:t>
            </a:r>
            <a:r>
              <a:rPr lang="en-US" altLang="pt-BR" sz="2400" dirty="0"/>
              <a:t> </a:t>
            </a:r>
            <a:r>
              <a:rPr lang="en-US" altLang="pt-BR" sz="2400" dirty="0" err="1"/>
              <a:t>haja</a:t>
            </a:r>
            <a:r>
              <a:rPr lang="en-US" altLang="pt-BR" sz="2400" dirty="0"/>
              <a:t> </a:t>
            </a:r>
            <a:r>
              <a:rPr lang="en-US" altLang="pt-BR" sz="2400" dirty="0" err="1"/>
              <a:t>períodos</a:t>
            </a:r>
            <a:r>
              <a:rPr lang="en-US" altLang="pt-BR" sz="2400" dirty="0"/>
              <a:t> de</a:t>
            </a:r>
          </a:p>
          <a:p>
            <a:pPr eaLnBrk="1" hangingPunct="1"/>
            <a:r>
              <a:rPr lang="en-US" altLang="pt-BR" sz="2400" dirty="0" err="1"/>
              <a:t>falta</a:t>
            </a:r>
            <a:r>
              <a:rPr lang="en-US" altLang="pt-BR" sz="2400" dirty="0"/>
              <a:t> </a:t>
            </a:r>
            <a:r>
              <a:rPr lang="en-US" altLang="pt-BR" sz="2400" dirty="0" err="1"/>
              <a:t>ou</a:t>
            </a:r>
            <a:r>
              <a:rPr lang="en-US" altLang="pt-BR" sz="2400" dirty="0"/>
              <a:t> de </a:t>
            </a:r>
            <a:r>
              <a:rPr lang="en-US" altLang="pt-BR" sz="2400" dirty="0" err="1"/>
              <a:t>excesso</a:t>
            </a:r>
            <a:r>
              <a:rPr lang="en-US" altLang="pt-BR" sz="2400" dirty="0"/>
              <a:t> de </a:t>
            </a:r>
            <a:r>
              <a:rPr lang="en-US" altLang="pt-BR" sz="2400" dirty="0" err="1"/>
              <a:t>trabalho</a:t>
            </a:r>
            <a:r>
              <a:rPr lang="en-US" altLang="pt-BR" sz="2400" dirty="0"/>
              <a:t>.</a:t>
            </a:r>
          </a:p>
          <a:p>
            <a:pPr eaLnBrk="1" hangingPunct="1">
              <a:buFontTx/>
              <a:buAutoNum type="arabicPeriod"/>
            </a:pPr>
            <a:endParaRPr lang="en-US" altLang="pt-BR" sz="2400" dirty="0"/>
          </a:p>
          <a:p>
            <a:pPr eaLnBrk="1" hangingPunct="1"/>
            <a:r>
              <a:rPr lang="en-US" altLang="pt-BR" sz="2400" dirty="0"/>
              <a:t>5.  </a:t>
            </a:r>
            <a:r>
              <a:rPr lang="en-US" altLang="pt-BR" sz="2400" dirty="0" err="1"/>
              <a:t>Definição</a:t>
            </a:r>
            <a:r>
              <a:rPr lang="en-US" altLang="pt-BR" sz="2400" dirty="0"/>
              <a:t> de </a:t>
            </a:r>
            <a:r>
              <a:rPr lang="en-US" altLang="pt-BR" sz="2400" dirty="0" err="1"/>
              <a:t>métodos</a:t>
            </a:r>
            <a:r>
              <a:rPr lang="en-US" altLang="pt-BR" sz="2400" dirty="0"/>
              <a:t> e </a:t>
            </a:r>
            <a:r>
              <a:rPr lang="en-US" altLang="pt-BR" sz="2400" dirty="0" err="1"/>
              <a:t>estabelecimento</a:t>
            </a:r>
            <a:r>
              <a:rPr lang="en-US" altLang="pt-BR" sz="2400" dirty="0"/>
              <a:t> de </a:t>
            </a:r>
            <a:r>
              <a:rPr lang="en-US" altLang="pt-BR" sz="2400" dirty="0" err="1"/>
              <a:t>normas</a:t>
            </a:r>
            <a:r>
              <a:rPr lang="en-US" altLang="pt-BR" sz="2400" dirty="0"/>
              <a:t> para a </a:t>
            </a:r>
            <a:r>
              <a:rPr lang="en-US" altLang="pt-BR" sz="2400" dirty="0" err="1"/>
              <a:t>execução</a:t>
            </a:r>
            <a:endParaRPr lang="en-US" altLang="pt-BR" sz="2400" dirty="0"/>
          </a:p>
          <a:p>
            <a:pPr eaLnBrk="1" hangingPunct="1"/>
            <a:r>
              <a:rPr lang="en-US" altLang="pt-BR" sz="2400" dirty="0"/>
              <a:t>do </a:t>
            </a:r>
            <a:r>
              <a:rPr lang="en-US" altLang="pt-BR" sz="2400" dirty="0" err="1"/>
              <a:t>trabalho</a:t>
            </a:r>
            <a:r>
              <a:rPr lang="en-US" altLang="pt-BR" sz="2400" dirty="0"/>
              <a:t>.</a:t>
            </a:r>
          </a:p>
          <a:p>
            <a:pPr eaLnBrk="1" hangingPunct="1">
              <a:buFontTx/>
              <a:buAutoNum type="arabicPeriod"/>
            </a:pPr>
            <a:endParaRPr lang="en-US" altLang="pt-BR" sz="2400" dirty="0"/>
          </a:p>
          <a:p>
            <a:pPr eaLnBrk="1" hangingPunct="1"/>
            <a:r>
              <a:rPr lang="en-US" altLang="pt-BR" sz="2400" dirty="0"/>
              <a:t>6.  </a:t>
            </a:r>
            <a:r>
              <a:rPr lang="en-US" altLang="pt-BR" sz="2400" dirty="0" err="1"/>
              <a:t>Estabelecer</a:t>
            </a:r>
            <a:r>
              <a:rPr lang="en-US" altLang="pt-BR" sz="2400" dirty="0"/>
              <a:t> </a:t>
            </a:r>
            <a:r>
              <a:rPr lang="en-US" altLang="pt-BR" sz="2400" dirty="0" err="1"/>
              <a:t>uma</a:t>
            </a:r>
            <a:r>
              <a:rPr lang="en-US" altLang="pt-BR" sz="2400" dirty="0"/>
              <a:t> base </a:t>
            </a:r>
            <a:r>
              <a:rPr lang="en-US" altLang="pt-BR" sz="2400" dirty="0" err="1"/>
              <a:t>uniforme</a:t>
            </a:r>
            <a:r>
              <a:rPr lang="en-US" altLang="pt-BR" sz="2400" dirty="0"/>
              <a:t> para </a:t>
            </a:r>
            <a:r>
              <a:rPr lang="en-US" altLang="pt-BR" sz="2400" dirty="0" err="1"/>
              <a:t>salários</a:t>
            </a:r>
            <a:r>
              <a:rPr lang="en-US" altLang="pt-BR" sz="2400" dirty="0"/>
              <a:t> </a:t>
            </a:r>
            <a:r>
              <a:rPr lang="en-US" altLang="pt-BR" sz="2400" dirty="0" err="1"/>
              <a:t>eqüitativos</a:t>
            </a:r>
            <a:r>
              <a:rPr lang="en-US" altLang="pt-BR" sz="2400" dirty="0"/>
              <a:t> e </a:t>
            </a:r>
            <a:r>
              <a:rPr lang="en-US" altLang="pt-BR" sz="2400" dirty="0" err="1"/>
              <a:t>prêmios</a:t>
            </a:r>
            <a:endParaRPr lang="en-US" altLang="pt-BR" sz="2400" dirty="0"/>
          </a:p>
          <a:p>
            <a:pPr eaLnBrk="1" hangingPunct="1"/>
            <a:r>
              <a:rPr lang="en-US" altLang="pt-BR" sz="2400" dirty="0"/>
              <a:t>de </a:t>
            </a:r>
            <a:r>
              <a:rPr lang="en-US" altLang="pt-BR" sz="2400" dirty="0" err="1"/>
              <a:t>produção</a:t>
            </a:r>
            <a:r>
              <a:rPr lang="en-US" altLang="pt-BR" sz="2400" dirty="0"/>
              <a:t>.</a:t>
            </a:r>
          </a:p>
        </p:txBody>
      </p:sp>
      <p:sp>
        <p:nvSpPr>
          <p:cNvPr id="61443" name="Text Box 3"/>
          <p:cNvSpPr txBox="1">
            <a:spLocks noChangeArrowheads="1"/>
          </p:cNvSpPr>
          <p:nvPr/>
        </p:nvSpPr>
        <p:spPr bwMode="auto">
          <a:xfrm>
            <a:off x="260531" y="144965"/>
            <a:ext cx="553016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r>
              <a:rPr lang="pt-BR" altLang="pt-BR" dirty="0">
                <a:solidFill>
                  <a:srgbClr val="FF9900"/>
                </a:solidFill>
              </a:rPr>
              <a:t>Objetivos do estudo de tempos e movimentos</a:t>
            </a:r>
          </a:p>
        </p:txBody>
      </p:sp>
    </p:spTree>
    <p:extLst>
      <p:ext uri="{BB962C8B-B14F-4D97-AF65-F5344CB8AC3E}">
        <p14:creationId xmlns:p14="http://schemas.microsoft.com/office/powerpoint/2010/main" val="291496316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8850" name="Rectangle 2"/>
          <p:cNvSpPr>
            <a:spLocks noChangeArrowheads="1"/>
          </p:cNvSpPr>
          <p:nvPr/>
        </p:nvSpPr>
        <p:spPr bwMode="auto">
          <a:xfrm>
            <a:off x="2481263" y="981076"/>
            <a:ext cx="6888162" cy="253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r>
              <a:rPr lang="pt-PT" altLang="pt-BR" sz="3200" b="1">
                <a:solidFill>
                  <a:srgbClr val="4D4D4D"/>
                </a:solidFill>
                <a:latin typeface="Tahoma" panose="020B0604030504040204" pitchFamily="34" charset="0"/>
                <a:cs typeface="Times New Roman" panose="02020603050405020304" pitchFamily="18" charset="0"/>
              </a:rPr>
              <a:t>		</a:t>
            </a:r>
          </a:p>
          <a:p>
            <a:pPr eaLnBrk="1" hangingPunct="1"/>
            <a:endParaRPr lang="pt-PT" altLang="pt-BR" sz="3200" b="1">
              <a:solidFill>
                <a:srgbClr val="4D4D4D"/>
              </a:solidFill>
              <a:latin typeface="Tahoma" panose="020B0604030504040204" pitchFamily="34" charset="0"/>
              <a:cs typeface="Times New Roman" panose="02020603050405020304" pitchFamily="18" charset="0"/>
            </a:endParaRPr>
          </a:p>
          <a:p>
            <a:pPr eaLnBrk="1" hangingPunct="1"/>
            <a:r>
              <a:rPr lang="pt-PT" altLang="pt-BR" sz="3200" b="1">
                <a:solidFill>
                  <a:srgbClr val="4D4D4D"/>
                </a:solidFill>
                <a:latin typeface="Tahoma" panose="020B0604030504040204" pitchFamily="34" charset="0"/>
                <a:cs typeface="Times New Roman" panose="02020603050405020304" pitchFamily="18" charset="0"/>
              </a:rPr>
              <a:t>Teoria Clássica da Administração</a:t>
            </a:r>
          </a:p>
          <a:p>
            <a:pPr eaLnBrk="1" hangingPunct="1"/>
            <a:endParaRPr lang="pt-PT" altLang="pt-BR" sz="3600" b="1">
              <a:solidFill>
                <a:srgbClr val="4D4D4D"/>
              </a:solidFill>
              <a:latin typeface="Tahoma" panose="020B0604030504040204" pitchFamily="34" charset="0"/>
              <a:cs typeface="Times New Roman" panose="02020603050405020304" pitchFamily="18" charset="0"/>
            </a:endParaRPr>
          </a:p>
          <a:p>
            <a:pPr eaLnBrk="1" hangingPunct="1"/>
            <a:r>
              <a:rPr lang="pt-BR" altLang="pt-BR" sz="2800" b="1">
                <a:solidFill>
                  <a:srgbClr val="4D4D4D"/>
                </a:solidFill>
                <a:latin typeface="Tahoma" panose="020B0604030504040204" pitchFamily="34" charset="0"/>
                <a:cs typeface="Times New Roman" panose="02020603050405020304" pitchFamily="18" charset="0"/>
              </a:rPr>
              <a:t>   	   (Organizando a Empresa)</a:t>
            </a:r>
          </a:p>
        </p:txBody>
      </p:sp>
      <p:sp>
        <p:nvSpPr>
          <p:cNvPr id="78851" name="Text Box 3"/>
          <p:cNvSpPr txBox="1">
            <a:spLocks noChangeArrowheads="1"/>
          </p:cNvSpPr>
          <p:nvPr/>
        </p:nvSpPr>
        <p:spPr bwMode="auto">
          <a:xfrm>
            <a:off x="2238375" y="4213226"/>
            <a:ext cx="5126038"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buFontTx/>
              <a:buChar char="•"/>
            </a:pPr>
            <a:r>
              <a:rPr lang="pt-BR" altLang="pt-BR" sz="2000"/>
              <a:t> A época.</a:t>
            </a:r>
          </a:p>
          <a:p>
            <a:pPr eaLnBrk="1" hangingPunct="1">
              <a:buFontTx/>
              <a:buChar char="•"/>
            </a:pPr>
            <a:r>
              <a:rPr lang="pt-BR" altLang="pt-BR" sz="2000"/>
              <a:t> A obra de Fayol.</a:t>
            </a:r>
          </a:p>
          <a:p>
            <a:pPr eaLnBrk="1" hangingPunct="1">
              <a:buFontTx/>
              <a:buChar char="•"/>
            </a:pPr>
            <a:r>
              <a:rPr lang="pt-BR" altLang="pt-BR" sz="2000"/>
              <a:t> A teoria da Administração.</a:t>
            </a:r>
          </a:p>
          <a:p>
            <a:pPr eaLnBrk="1" hangingPunct="1">
              <a:buFontTx/>
              <a:buChar char="•"/>
            </a:pPr>
            <a:r>
              <a:rPr lang="pt-BR" altLang="pt-BR" sz="2000"/>
              <a:t> Os elementos da Administração.</a:t>
            </a:r>
          </a:p>
          <a:p>
            <a:pPr eaLnBrk="1" hangingPunct="1">
              <a:buFontTx/>
              <a:buChar char="•"/>
            </a:pPr>
            <a:r>
              <a:rPr lang="pt-BR" altLang="pt-BR" sz="2000"/>
              <a:t> Os princípios de Administração.</a:t>
            </a:r>
          </a:p>
          <a:p>
            <a:pPr eaLnBrk="1" hangingPunct="1">
              <a:buFontTx/>
              <a:buChar char="•"/>
            </a:pPr>
            <a:r>
              <a:rPr lang="pt-BR" altLang="pt-BR" sz="2000"/>
              <a:t> Apreciação crítica da Teoria Clássica.</a:t>
            </a:r>
          </a:p>
        </p:txBody>
      </p:sp>
    </p:spTree>
    <p:extLst>
      <p:ext uri="{BB962C8B-B14F-4D97-AF65-F5344CB8AC3E}">
        <p14:creationId xmlns:p14="http://schemas.microsoft.com/office/powerpoint/2010/main" val="385494648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08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8888" y="2803525"/>
            <a:ext cx="2705100" cy="361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899" name="Retângulo 2"/>
          <p:cNvSpPr>
            <a:spLocks noChangeArrowheads="1"/>
          </p:cNvSpPr>
          <p:nvPr/>
        </p:nvSpPr>
        <p:spPr bwMode="auto">
          <a:xfrm>
            <a:off x="1768475" y="1279525"/>
            <a:ext cx="87058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just" eaLnBrk="1" hangingPunct="1"/>
            <a:r>
              <a:rPr lang="pt-BR" altLang="pt-BR" b="1"/>
              <a:t>Jules Henri Fayol</a:t>
            </a:r>
            <a:r>
              <a:rPr lang="pt-BR" altLang="pt-BR"/>
              <a:t> (Istambul, 29 de julho de 1841 — Paris, 19 de novembro de 1925) foi um engenheiro de minas francês e um dos teóricos clássicos da ciência da administração, sendo o fundador da Teoria Clássica da Administração.</a:t>
            </a:r>
          </a:p>
        </p:txBody>
      </p:sp>
      <p:pic>
        <p:nvPicPr>
          <p:cNvPr id="8090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70775" y="3001963"/>
            <a:ext cx="2324100" cy="287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0901"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54675" y="3735389"/>
            <a:ext cx="1354138"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2">
            <a:extLst>
              <a:ext uri="{FF2B5EF4-FFF2-40B4-BE49-F238E27FC236}">
                <a16:creationId xmlns:a16="http://schemas.microsoft.com/office/drawing/2014/main" id="{11E636A0-30D3-4447-BDDC-552D16FB410D}"/>
              </a:ext>
            </a:extLst>
          </p:cNvPr>
          <p:cNvSpPr>
            <a:spLocks noChangeArrowheads="1"/>
          </p:cNvSpPr>
          <p:nvPr/>
        </p:nvSpPr>
        <p:spPr bwMode="auto">
          <a:xfrm>
            <a:off x="3397251" y="369888"/>
            <a:ext cx="6022975" cy="461962"/>
          </a:xfrm>
          <a:prstGeom prst="rect">
            <a:avLst/>
          </a:prstGeom>
          <a:noFill/>
          <a:ln w="9525">
            <a:noFill/>
            <a:miter lim="800000"/>
            <a:headEnd/>
            <a:tailEnd/>
          </a:ln>
        </p:spPr>
        <p:txBody>
          <a:bodyPr>
            <a:spAutoFit/>
          </a:bodyPr>
          <a:lstStyle/>
          <a:p>
            <a:pPr>
              <a:defRPr/>
            </a:pPr>
            <a:r>
              <a:rPr lang="pt-BR" sz="2400" b="1" dirty="0">
                <a:latin typeface="Tahoma" pitchFamily="34" charset="0"/>
              </a:rPr>
              <a:t>Teoria Clássica da Administração</a:t>
            </a:r>
            <a:endParaRPr lang="pt-BR" sz="2000" dirty="0">
              <a:latin typeface="+mj-lt"/>
            </a:endParaRPr>
          </a:p>
        </p:txBody>
      </p:sp>
    </p:spTree>
    <p:extLst>
      <p:ext uri="{BB962C8B-B14F-4D97-AF65-F5344CB8AC3E}">
        <p14:creationId xmlns:p14="http://schemas.microsoft.com/office/powerpoint/2010/main" val="238006726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22" name="Text Box 2"/>
          <p:cNvSpPr txBox="1">
            <a:spLocks noChangeArrowheads="1"/>
          </p:cNvSpPr>
          <p:nvPr/>
        </p:nvSpPr>
        <p:spPr bwMode="auto">
          <a:xfrm>
            <a:off x="339516" y="1479549"/>
            <a:ext cx="11367209" cy="4493538"/>
          </a:xfrm>
          <a:prstGeom prst="rect">
            <a:avLst/>
          </a:prstGeom>
          <a:solidFill>
            <a:srgbClr val="DDDDDD"/>
          </a:solidFill>
          <a:ln w="19050">
            <a:solidFill>
              <a:schemeClr val="tx1"/>
            </a:solidFill>
            <a:miter lim="800000"/>
            <a:headEnd/>
            <a:tailEnd/>
          </a:ln>
          <a:effectLst>
            <a:outerShdw dist="107763" dir="2700000" algn="ctr" rotWithShape="0">
              <a:schemeClr val="bg2"/>
            </a:outerShdw>
          </a:effectLst>
        </p:spPr>
        <p:txBody>
          <a:bodyPr wrap="square">
            <a:spAutoFit/>
          </a:bodyPr>
          <a:lstStyle>
            <a:lvl1pPr marL="457200" indent="-457200">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buFontTx/>
              <a:buAutoNum type="arabicPeriod"/>
            </a:pPr>
            <a:endParaRPr lang="pt-BR" altLang="pt-BR" sz="1600" dirty="0"/>
          </a:p>
          <a:p>
            <a:pPr eaLnBrk="1" hangingPunct="1">
              <a:buFontTx/>
              <a:buAutoNum type="arabicPeriod"/>
            </a:pPr>
            <a:r>
              <a:rPr lang="pt-BR" altLang="pt-BR" sz="2800" dirty="0"/>
              <a:t>As Funções Básicas da Empresa.</a:t>
            </a:r>
          </a:p>
          <a:p>
            <a:pPr eaLnBrk="1" hangingPunct="1">
              <a:buFontTx/>
              <a:buAutoNum type="arabicPeriod"/>
            </a:pPr>
            <a:endParaRPr lang="pt-BR" altLang="pt-BR" sz="2800" dirty="0"/>
          </a:p>
          <a:p>
            <a:pPr eaLnBrk="1" hangingPunct="1">
              <a:buFontTx/>
              <a:buAutoNum type="arabicPeriod"/>
            </a:pPr>
            <a:r>
              <a:rPr lang="pt-BR" altLang="pt-BR" sz="2800" dirty="0"/>
              <a:t>Conceito de Administração.</a:t>
            </a:r>
          </a:p>
          <a:p>
            <a:pPr eaLnBrk="1" hangingPunct="1">
              <a:buFontTx/>
              <a:buAutoNum type="arabicPeriod"/>
            </a:pPr>
            <a:endParaRPr lang="pt-BR" altLang="pt-BR" sz="2800" dirty="0"/>
          </a:p>
          <a:p>
            <a:pPr eaLnBrk="1" hangingPunct="1">
              <a:buFontTx/>
              <a:buAutoNum type="arabicPeriod"/>
            </a:pPr>
            <a:r>
              <a:rPr lang="pt-BR" altLang="pt-BR" sz="2800" dirty="0"/>
              <a:t>Proporcionalidade das funções administrativas.</a:t>
            </a:r>
          </a:p>
          <a:p>
            <a:pPr eaLnBrk="1" hangingPunct="1">
              <a:buFontTx/>
              <a:buAutoNum type="arabicPeriod"/>
            </a:pPr>
            <a:endParaRPr lang="pt-BR" altLang="pt-BR" sz="2800" dirty="0"/>
          </a:p>
          <a:p>
            <a:pPr eaLnBrk="1" hangingPunct="1">
              <a:buFontTx/>
              <a:buAutoNum type="arabicPeriod"/>
            </a:pPr>
            <a:r>
              <a:rPr lang="pt-BR" altLang="pt-BR" sz="2800" dirty="0"/>
              <a:t>Diferença entre administração e organização.</a:t>
            </a:r>
          </a:p>
          <a:p>
            <a:pPr eaLnBrk="1" hangingPunct="1">
              <a:buFontTx/>
              <a:buAutoNum type="arabicPeriod"/>
            </a:pPr>
            <a:endParaRPr lang="pt-BR" altLang="pt-BR" sz="2800" dirty="0"/>
          </a:p>
          <a:p>
            <a:pPr eaLnBrk="1" hangingPunct="1">
              <a:buFontTx/>
              <a:buAutoNum type="arabicPeriod"/>
            </a:pPr>
            <a:r>
              <a:rPr lang="pt-BR" altLang="pt-BR" sz="2800" dirty="0"/>
              <a:t>Princípios Gerais de Administração para Fayol.</a:t>
            </a:r>
          </a:p>
          <a:p>
            <a:pPr eaLnBrk="1" hangingPunct="1"/>
            <a:endParaRPr lang="pt-BR" altLang="pt-BR" dirty="0"/>
          </a:p>
        </p:txBody>
      </p:sp>
      <p:sp>
        <p:nvSpPr>
          <p:cNvPr id="81923" name="Text Box 3"/>
          <p:cNvSpPr txBox="1">
            <a:spLocks noChangeArrowheads="1"/>
          </p:cNvSpPr>
          <p:nvPr/>
        </p:nvSpPr>
        <p:spPr bwMode="auto">
          <a:xfrm>
            <a:off x="694742" y="943253"/>
            <a:ext cx="30003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r>
              <a:rPr lang="pt-BR" altLang="pt-BR">
                <a:solidFill>
                  <a:srgbClr val="FF9900"/>
                </a:solidFill>
              </a:rPr>
              <a:t>A Obra de Fayol.</a:t>
            </a:r>
          </a:p>
        </p:txBody>
      </p:sp>
      <p:sp>
        <p:nvSpPr>
          <p:cNvPr id="4" name="Rectangle 2">
            <a:extLst>
              <a:ext uri="{FF2B5EF4-FFF2-40B4-BE49-F238E27FC236}">
                <a16:creationId xmlns:a16="http://schemas.microsoft.com/office/drawing/2014/main" id="{3E66F9C3-930C-48FB-B8EB-91F9FFDA5489}"/>
              </a:ext>
            </a:extLst>
          </p:cNvPr>
          <p:cNvSpPr>
            <a:spLocks noChangeArrowheads="1"/>
          </p:cNvSpPr>
          <p:nvPr/>
        </p:nvSpPr>
        <p:spPr bwMode="auto">
          <a:xfrm>
            <a:off x="3468689" y="314326"/>
            <a:ext cx="6022975" cy="461963"/>
          </a:xfrm>
          <a:prstGeom prst="rect">
            <a:avLst/>
          </a:prstGeom>
          <a:noFill/>
          <a:ln w="9525">
            <a:noFill/>
            <a:miter lim="800000"/>
            <a:headEnd/>
            <a:tailEnd/>
          </a:ln>
        </p:spPr>
        <p:txBody>
          <a:bodyPr>
            <a:spAutoFit/>
          </a:bodyPr>
          <a:lstStyle/>
          <a:p>
            <a:pPr>
              <a:defRPr/>
            </a:pPr>
            <a:r>
              <a:rPr lang="pt-BR" sz="2400" b="1" dirty="0">
                <a:latin typeface="Tahoma" pitchFamily="34" charset="0"/>
              </a:rPr>
              <a:t>Teoria Clássica da Administração</a:t>
            </a:r>
            <a:endParaRPr lang="pt-BR" sz="2000" dirty="0">
              <a:latin typeface="+mj-lt"/>
            </a:endParaRPr>
          </a:p>
        </p:txBody>
      </p:sp>
    </p:spTree>
    <p:extLst>
      <p:ext uri="{BB962C8B-B14F-4D97-AF65-F5344CB8AC3E}">
        <p14:creationId xmlns:p14="http://schemas.microsoft.com/office/powerpoint/2010/main" val="382092851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83970" name="Object 2"/>
          <p:cNvGraphicFramePr>
            <a:graphicFrameLocks noChangeAspect="1"/>
          </p:cNvGraphicFramePr>
          <p:nvPr>
            <p:extLst>
              <p:ext uri="{D42A27DB-BD31-4B8C-83A1-F6EECF244321}">
                <p14:modId xmlns:p14="http://schemas.microsoft.com/office/powerpoint/2010/main" val="3051778902"/>
              </p:ext>
            </p:extLst>
          </p:nvPr>
        </p:nvGraphicFramePr>
        <p:xfrm>
          <a:off x="397041" y="1250952"/>
          <a:ext cx="11069053" cy="4930775"/>
        </p:xfrm>
        <a:graphic>
          <a:graphicData uri="http://schemas.openxmlformats.org/presentationml/2006/ole">
            <mc:AlternateContent xmlns:mc="http://schemas.openxmlformats.org/markup-compatibility/2006">
              <mc:Choice xmlns:v="urn:schemas-microsoft-com:vml" Requires="v">
                <p:oleObj name="Slide" r:id="rId3" imgW="4163538" imgH="3122708" progId="PowerPoint.Slide.8">
                  <p:embed/>
                </p:oleObj>
              </mc:Choice>
              <mc:Fallback>
                <p:oleObj name="Slide" r:id="rId3" imgW="4163538" imgH="3122708" progId="PowerPoint.Slide.8">
                  <p:embed/>
                  <p:pic>
                    <p:nvPicPr>
                      <p:cNvPr id="8397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7041" y="1250952"/>
                        <a:ext cx="11069053" cy="4930775"/>
                      </a:xfrm>
                      <a:prstGeom prst="rect">
                        <a:avLst/>
                      </a:prstGeom>
                      <a:solidFill>
                        <a:srgbClr val="CCFFCC"/>
                      </a:solidFill>
                      <a:ln>
                        <a:noFill/>
                      </a:ln>
                    </p:spPr>
                  </p:pic>
                </p:oleObj>
              </mc:Fallback>
            </mc:AlternateContent>
          </a:graphicData>
        </a:graphic>
      </p:graphicFrame>
      <p:sp>
        <p:nvSpPr>
          <p:cNvPr id="83971" name="Rectangle 4"/>
          <p:cNvSpPr>
            <a:spLocks noChangeArrowheads="1"/>
          </p:cNvSpPr>
          <p:nvPr/>
        </p:nvSpPr>
        <p:spPr bwMode="auto">
          <a:xfrm>
            <a:off x="577515" y="788989"/>
            <a:ext cx="769444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r>
              <a:rPr lang="pt-BR" altLang="pt-BR" sz="2000" dirty="0">
                <a:solidFill>
                  <a:srgbClr val="FF9900"/>
                </a:solidFill>
              </a:rPr>
              <a:t>As seis funções básicas da empresa segundo Fayol.</a:t>
            </a:r>
          </a:p>
        </p:txBody>
      </p:sp>
      <p:sp>
        <p:nvSpPr>
          <p:cNvPr id="4" name="Rectangle 2">
            <a:extLst>
              <a:ext uri="{FF2B5EF4-FFF2-40B4-BE49-F238E27FC236}">
                <a16:creationId xmlns:a16="http://schemas.microsoft.com/office/drawing/2014/main" id="{22AFCB05-AFCF-4185-ACFA-3F92BF7B6751}"/>
              </a:ext>
            </a:extLst>
          </p:cNvPr>
          <p:cNvSpPr>
            <a:spLocks noChangeArrowheads="1"/>
          </p:cNvSpPr>
          <p:nvPr/>
        </p:nvSpPr>
        <p:spPr bwMode="auto">
          <a:xfrm>
            <a:off x="3636963" y="327026"/>
            <a:ext cx="5384800" cy="461963"/>
          </a:xfrm>
          <a:prstGeom prst="rect">
            <a:avLst/>
          </a:prstGeom>
          <a:noFill/>
          <a:ln w="9525">
            <a:noFill/>
            <a:miter lim="800000"/>
            <a:headEnd/>
            <a:tailEnd/>
          </a:ln>
        </p:spPr>
        <p:txBody>
          <a:bodyPr>
            <a:spAutoFit/>
          </a:bodyPr>
          <a:lstStyle/>
          <a:p>
            <a:pPr>
              <a:defRPr/>
            </a:pPr>
            <a:r>
              <a:rPr lang="pt-BR" sz="2400" b="1" dirty="0">
                <a:latin typeface="Tahoma" pitchFamily="34" charset="0"/>
              </a:rPr>
              <a:t>Teoria Clássica da Administração</a:t>
            </a:r>
            <a:endParaRPr lang="pt-BR" sz="2000" dirty="0">
              <a:latin typeface="+mj-lt"/>
            </a:endParaRPr>
          </a:p>
        </p:txBody>
      </p:sp>
    </p:spTree>
    <p:extLst>
      <p:ext uri="{BB962C8B-B14F-4D97-AF65-F5344CB8AC3E}">
        <p14:creationId xmlns:p14="http://schemas.microsoft.com/office/powerpoint/2010/main" val="392629049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6018" name="Rectangle 2"/>
          <p:cNvSpPr>
            <a:spLocks noChangeArrowheads="1"/>
          </p:cNvSpPr>
          <p:nvPr/>
        </p:nvSpPr>
        <p:spPr bwMode="auto">
          <a:xfrm>
            <a:off x="1524000" y="1897063"/>
            <a:ext cx="9144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r>
              <a:rPr lang="en-US" altLang="pt-BR" sz="1000">
                <a:solidFill>
                  <a:srgbClr val="0000FF"/>
                </a:solidFill>
                <a:latin typeface="Arial" panose="020B0604020202020204" pitchFamily="34" charset="0"/>
              </a:rPr>
              <a:t> </a:t>
            </a:r>
            <a:endParaRPr lang="en-US" altLang="pt-BR" sz="1200">
              <a:cs typeface="Times New Roman" panose="02020603050405020304" pitchFamily="18" charset="0"/>
            </a:endParaRPr>
          </a:p>
          <a:p>
            <a:pPr eaLnBrk="1" hangingPunct="1"/>
            <a:endParaRPr lang="en-US" altLang="pt-BR"/>
          </a:p>
        </p:txBody>
      </p:sp>
      <p:sp>
        <p:nvSpPr>
          <p:cNvPr id="86019" name="Rectangle 3"/>
          <p:cNvSpPr>
            <a:spLocks noChangeArrowheads="1"/>
          </p:cNvSpPr>
          <p:nvPr/>
        </p:nvSpPr>
        <p:spPr bwMode="auto">
          <a:xfrm>
            <a:off x="1524000" y="4351338"/>
            <a:ext cx="9144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r>
              <a:rPr lang="en-US" altLang="pt-BR" sz="1000">
                <a:solidFill>
                  <a:srgbClr val="0000FF"/>
                </a:solidFill>
                <a:latin typeface="Arial" panose="020B0604020202020204" pitchFamily="34" charset="0"/>
              </a:rPr>
              <a:t> </a:t>
            </a:r>
            <a:endParaRPr lang="en-US" altLang="pt-BR" sz="1200">
              <a:cs typeface="Times New Roman" panose="02020603050405020304" pitchFamily="18" charset="0"/>
            </a:endParaRPr>
          </a:p>
          <a:p>
            <a:pPr eaLnBrk="1" hangingPunct="1"/>
            <a:endParaRPr lang="en-US" altLang="pt-BR"/>
          </a:p>
        </p:txBody>
      </p:sp>
      <p:sp>
        <p:nvSpPr>
          <p:cNvPr id="86020" name="Text Box 4"/>
          <p:cNvSpPr txBox="1">
            <a:spLocks noChangeArrowheads="1"/>
          </p:cNvSpPr>
          <p:nvPr/>
        </p:nvSpPr>
        <p:spPr bwMode="auto">
          <a:xfrm>
            <a:off x="696701" y="869763"/>
            <a:ext cx="830778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r>
              <a:rPr lang="pt-BR" altLang="pt-BR" sz="2800" dirty="0">
                <a:solidFill>
                  <a:srgbClr val="FF9900"/>
                </a:solidFill>
              </a:rPr>
              <a:t>As Funções do Administrador segundo Fayol:</a:t>
            </a:r>
          </a:p>
        </p:txBody>
      </p:sp>
      <p:sp>
        <p:nvSpPr>
          <p:cNvPr id="86021" name="Text Box 5"/>
          <p:cNvSpPr txBox="1">
            <a:spLocks noChangeArrowheads="1"/>
          </p:cNvSpPr>
          <p:nvPr/>
        </p:nvSpPr>
        <p:spPr bwMode="auto">
          <a:xfrm>
            <a:off x="2029495" y="1794628"/>
            <a:ext cx="5622589" cy="4031873"/>
          </a:xfrm>
          <a:prstGeom prst="rect">
            <a:avLst/>
          </a:prstGeom>
          <a:solidFill>
            <a:srgbClr val="DDDDDD"/>
          </a:solidFill>
          <a:ln w="9525">
            <a:solidFill>
              <a:schemeClr val="tx1"/>
            </a:solidFill>
            <a:miter lim="800000"/>
            <a:headEnd/>
            <a:tailEnd/>
          </a:ln>
          <a:effectLst>
            <a:outerShdw dist="107763" dir="2700000" algn="ctr" rotWithShape="0">
              <a:schemeClr val="bg2"/>
            </a:outerShdw>
          </a:effectLst>
        </p:spPr>
        <p:txBody>
          <a:bodyPr wrap="square">
            <a:spAutoFit/>
          </a:bodyPr>
          <a:lstStyle>
            <a:lvl1pPr marL="457200" indent="-457200">
              <a:defRPr>
                <a:solidFill>
                  <a:schemeClr val="tx1"/>
                </a:solidFill>
                <a:latin typeface="Verdana" panose="020B0604030504040204" pitchFamily="34" charset="0"/>
                <a:cs typeface="Arial" panose="020B0604020202020204" pitchFamily="34" charset="0"/>
              </a:defRPr>
            </a:lvl1pPr>
            <a:lvl2pPr marL="914400" indent="-45720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lvl="1" eaLnBrk="1" hangingPunct="1">
              <a:buFontTx/>
              <a:buAutoNum type="arabicPeriod"/>
            </a:pPr>
            <a:endParaRPr lang="pt-BR" altLang="pt-BR" sz="2000" dirty="0"/>
          </a:p>
          <a:p>
            <a:pPr lvl="1" eaLnBrk="1" hangingPunct="1">
              <a:buFontTx/>
              <a:buAutoNum type="arabicPeriod"/>
            </a:pPr>
            <a:r>
              <a:rPr lang="pt-BR" altLang="pt-BR" sz="2400" dirty="0"/>
              <a:t>Previsão.</a:t>
            </a:r>
          </a:p>
          <a:p>
            <a:pPr eaLnBrk="1" hangingPunct="1">
              <a:buFontTx/>
              <a:buAutoNum type="arabicPeriod"/>
            </a:pPr>
            <a:endParaRPr lang="pt-BR" altLang="pt-BR" sz="2400" dirty="0"/>
          </a:p>
          <a:p>
            <a:pPr lvl="1" eaLnBrk="1" hangingPunct="1">
              <a:buFontTx/>
              <a:buAutoNum type="arabicPeriod"/>
            </a:pPr>
            <a:r>
              <a:rPr lang="pt-BR" altLang="pt-BR" sz="2400" dirty="0"/>
              <a:t>Organização.</a:t>
            </a:r>
          </a:p>
          <a:p>
            <a:pPr eaLnBrk="1" hangingPunct="1">
              <a:buFontTx/>
              <a:buAutoNum type="arabicPeriod"/>
            </a:pPr>
            <a:endParaRPr lang="pt-BR" altLang="pt-BR" sz="2400" dirty="0"/>
          </a:p>
          <a:p>
            <a:pPr lvl="1" eaLnBrk="1" hangingPunct="1">
              <a:buFontTx/>
              <a:buAutoNum type="arabicPeriod"/>
            </a:pPr>
            <a:r>
              <a:rPr lang="pt-BR" altLang="pt-BR" sz="2400" dirty="0"/>
              <a:t>Comando.</a:t>
            </a:r>
          </a:p>
          <a:p>
            <a:pPr eaLnBrk="1" hangingPunct="1">
              <a:buFontTx/>
              <a:buAutoNum type="arabicPeriod"/>
            </a:pPr>
            <a:endParaRPr lang="pt-BR" altLang="pt-BR" sz="2400" dirty="0"/>
          </a:p>
          <a:p>
            <a:pPr lvl="1" eaLnBrk="1" hangingPunct="1">
              <a:buFontTx/>
              <a:buAutoNum type="arabicPeriod"/>
            </a:pPr>
            <a:r>
              <a:rPr lang="pt-BR" altLang="pt-BR" sz="2400" dirty="0"/>
              <a:t>Coordenação.        </a:t>
            </a:r>
          </a:p>
          <a:p>
            <a:pPr eaLnBrk="1" hangingPunct="1">
              <a:buFontTx/>
              <a:buAutoNum type="arabicPeriod"/>
            </a:pPr>
            <a:endParaRPr lang="pt-BR" altLang="pt-BR" sz="2400" dirty="0"/>
          </a:p>
          <a:p>
            <a:pPr lvl="1" eaLnBrk="1" hangingPunct="1">
              <a:buFontTx/>
              <a:buAutoNum type="arabicPeriod"/>
            </a:pPr>
            <a:r>
              <a:rPr lang="pt-BR" altLang="pt-BR" sz="2400" dirty="0"/>
              <a:t>Controle.</a:t>
            </a:r>
          </a:p>
          <a:p>
            <a:pPr lvl="1" eaLnBrk="1" hangingPunct="1">
              <a:buFontTx/>
              <a:buAutoNum type="arabicPeriod"/>
            </a:pPr>
            <a:endParaRPr lang="pt-BR" altLang="pt-BR" sz="2000" dirty="0"/>
          </a:p>
        </p:txBody>
      </p:sp>
      <p:sp>
        <p:nvSpPr>
          <p:cNvPr id="6" name="Rectangle 2">
            <a:extLst>
              <a:ext uri="{FF2B5EF4-FFF2-40B4-BE49-F238E27FC236}">
                <a16:creationId xmlns:a16="http://schemas.microsoft.com/office/drawing/2014/main" id="{25AA89C9-FCDD-4802-81F2-B7C7EE361816}"/>
              </a:ext>
            </a:extLst>
          </p:cNvPr>
          <p:cNvSpPr>
            <a:spLocks noChangeArrowheads="1"/>
          </p:cNvSpPr>
          <p:nvPr/>
        </p:nvSpPr>
        <p:spPr bwMode="auto">
          <a:xfrm>
            <a:off x="3636963" y="327026"/>
            <a:ext cx="5384800" cy="461963"/>
          </a:xfrm>
          <a:prstGeom prst="rect">
            <a:avLst/>
          </a:prstGeom>
          <a:noFill/>
          <a:ln w="9525">
            <a:noFill/>
            <a:miter lim="800000"/>
            <a:headEnd/>
            <a:tailEnd/>
          </a:ln>
        </p:spPr>
        <p:txBody>
          <a:bodyPr>
            <a:spAutoFit/>
          </a:bodyPr>
          <a:lstStyle/>
          <a:p>
            <a:pPr>
              <a:defRPr/>
            </a:pPr>
            <a:r>
              <a:rPr lang="pt-BR" sz="2400" b="1" dirty="0">
                <a:latin typeface="Tahoma" pitchFamily="34" charset="0"/>
              </a:rPr>
              <a:t>Teoria Clássica da Administração</a:t>
            </a:r>
            <a:endParaRPr lang="pt-BR" sz="2000" dirty="0">
              <a:latin typeface="+mj-lt"/>
            </a:endParaRPr>
          </a:p>
        </p:txBody>
      </p:sp>
    </p:spTree>
    <p:extLst>
      <p:ext uri="{BB962C8B-B14F-4D97-AF65-F5344CB8AC3E}">
        <p14:creationId xmlns:p14="http://schemas.microsoft.com/office/powerpoint/2010/main" val="209267744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80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8251" y="239713"/>
            <a:ext cx="7540625" cy="5944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6675453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89090" name="Object 3"/>
          <p:cNvGraphicFramePr>
            <a:graphicFrameLocks noChangeAspect="1"/>
          </p:cNvGraphicFramePr>
          <p:nvPr>
            <p:extLst>
              <p:ext uri="{D42A27DB-BD31-4B8C-83A1-F6EECF244321}">
                <p14:modId xmlns:p14="http://schemas.microsoft.com/office/powerpoint/2010/main" val="395813206"/>
              </p:ext>
            </p:extLst>
          </p:nvPr>
        </p:nvGraphicFramePr>
        <p:xfrm>
          <a:off x="904876" y="779547"/>
          <a:ext cx="10140113" cy="5478463"/>
        </p:xfrm>
        <a:graphic>
          <a:graphicData uri="http://schemas.openxmlformats.org/presentationml/2006/ole">
            <mc:AlternateContent xmlns:mc="http://schemas.openxmlformats.org/markup-compatibility/2006">
              <mc:Choice xmlns:v="urn:schemas-microsoft-com:vml" Requires="v">
                <p:oleObj name="Slide" r:id="rId3" imgW="4430200" imgH="3322483" progId="PowerPoint.Slide.8">
                  <p:embed/>
                </p:oleObj>
              </mc:Choice>
              <mc:Fallback>
                <p:oleObj name="Slide" r:id="rId3" imgW="4430200" imgH="3322483" progId="PowerPoint.Slide.8">
                  <p:embed/>
                  <p:pic>
                    <p:nvPicPr>
                      <p:cNvPr id="8909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4876" y="779547"/>
                        <a:ext cx="10140113" cy="5478463"/>
                      </a:xfrm>
                      <a:prstGeom prst="rect">
                        <a:avLst/>
                      </a:prstGeom>
                      <a:noFill/>
                      <a:ln>
                        <a:noFill/>
                      </a:ln>
                    </p:spPr>
                  </p:pic>
                </p:oleObj>
              </mc:Fallback>
            </mc:AlternateContent>
          </a:graphicData>
        </a:graphic>
      </p:graphicFrame>
      <p:sp>
        <p:nvSpPr>
          <p:cNvPr id="89091" name="Text Box 4"/>
          <p:cNvSpPr txBox="1">
            <a:spLocks noChangeArrowheads="1"/>
          </p:cNvSpPr>
          <p:nvPr/>
        </p:nvSpPr>
        <p:spPr bwMode="auto">
          <a:xfrm>
            <a:off x="904876" y="156996"/>
            <a:ext cx="77184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r>
              <a:rPr lang="pt-BR" altLang="pt-BR" dirty="0">
                <a:solidFill>
                  <a:srgbClr val="FF9900"/>
                </a:solidFill>
              </a:rPr>
              <a:t>A proporcionalidade da função administrativa</a:t>
            </a:r>
          </a:p>
        </p:txBody>
      </p:sp>
    </p:spTree>
    <p:extLst>
      <p:ext uri="{BB962C8B-B14F-4D97-AF65-F5344CB8AC3E}">
        <p14:creationId xmlns:p14="http://schemas.microsoft.com/office/powerpoint/2010/main" val="280515245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1138" name="Text Box 2"/>
          <p:cNvSpPr txBox="1">
            <a:spLocks noChangeArrowheads="1"/>
          </p:cNvSpPr>
          <p:nvPr/>
        </p:nvSpPr>
        <p:spPr bwMode="auto">
          <a:xfrm>
            <a:off x="209134" y="461977"/>
            <a:ext cx="11557750" cy="5816977"/>
          </a:xfrm>
          <a:prstGeom prst="rect">
            <a:avLst/>
          </a:prstGeom>
          <a:solidFill>
            <a:srgbClr val="DDDDDD"/>
          </a:solidFill>
          <a:ln w="19050">
            <a:solidFill>
              <a:schemeClr val="tx1"/>
            </a:solidFill>
            <a:miter lim="800000"/>
            <a:headEnd/>
            <a:tailEnd/>
          </a:ln>
          <a:effectLst>
            <a:outerShdw dist="107763" dir="2700000" algn="ctr" rotWithShape="0">
              <a:schemeClr val="bg2"/>
            </a:outerShdw>
          </a:effectLst>
        </p:spPr>
        <p:txBody>
          <a:bodyPr wrap="square">
            <a:spAutoFit/>
          </a:bodyPr>
          <a:lstStyle>
            <a:lvl1pPr marL="457200" indent="-457200">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buFontTx/>
              <a:buAutoNum type="arabicPeriod"/>
            </a:pPr>
            <a:endParaRPr lang="pt-BR" altLang="pt-BR" dirty="0"/>
          </a:p>
          <a:p>
            <a:pPr eaLnBrk="1" hangingPunct="1">
              <a:buFontTx/>
              <a:buAutoNum type="arabicPeriod"/>
            </a:pPr>
            <a:r>
              <a:rPr lang="pt-BR" altLang="pt-BR" sz="2400" dirty="0"/>
              <a:t>Divisão do trabalho.</a:t>
            </a:r>
          </a:p>
          <a:p>
            <a:pPr eaLnBrk="1" hangingPunct="1">
              <a:buFontTx/>
              <a:buAutoNum type="arabicPeriod"/>
            </a:pPr>
            <a:r>
              <a:rPr lang="pt-BR" altLang="pt-BR" sz="2400" dirty="0"/>
              <a:t>Autoridade e responsabilidade.</a:t>
            </a:r>
          </a:p>
          <a:p>
            <a:pPr eaLnBrk="1" hangingPunct="1">
              <a:buFontTx/>
              <a:buAutoNum type="arabicPeriod"/>
            </a:pPr>
            <a:r>
              <a:rPr lang="pt-BR" altLang="pt-BR" sz="2400" dirty="0"/>
              <a:t>Disciplina.</a:t>
            </a:r>
          </a:p>
          <a:p>
            <a:pPr eaLnBrk="1" hangingPunct="1">
              <a:buFontTx/>
              <a:buAutoNum type="arabicPeriod"/>
            </a:pPr>
            <a:r>
              <a:rPr lang="pt-BR" altLang="pt-BR" sz="2400" dirty="0"/>
              <a:t>Unidade de comando.</a:t>
            </a:r>
          </a:p>
          <a:p>
            <a:pPr eaLnBrk="1" hangingPunct="1">
              <a:buFontTx/>
              <a:buAutoNum type="arabicPeriod"/>
            </a:pPr>
            <a:r>
              <a:rPr lang="pt-BR" altLang="pt-BR" sz="2400" dirty="0"/>
              <a:t>Unidade de direção.</a:t>
            </a:r>
          </a:p>
          <a:p>
            <a:pPr eaLnBrk="1" hangingPunct="1">
              <a:buFontTx/>
              <a:buAutoNum type="arabicPeriod"/>
            </a:pPr>
            <a:r>
              <a:rPr lang="pt-BR" altLang="pt-BR" sz="2400" dirty="0"/>
              <a:t>Subordinação dos interesses individuais aos interesses gerais.</a:t>
            </a:r>
          </a:p>
          <a:p>
            <a:pPr eaLnBrk="1" hangingPunct="1">
              <a:buFontTx/>
              <a:buAutoNum type="arabicPeriod"/>
            </a:pPr>
            <a:r>
              <a:rPr lang="pt-BR" altLang="pt-BR" sz="2400" dirty="0"/>
              <a:t>Remuneração do pessoal.</a:t>
            </a:r>
          </a:p>
          <a:p>
            <a:pPr eaLnBrk="1" hangingPunct="1">
              <a:buFontTx/>
              <a:buAutoNum type="arabicPeriod"/>
            </a:pPr>
            <a:r>
              <a:rPr lang="pt-BR" altLang="pt-BR" sz="2400" dirty="0"/>
              <a:t>Centralização.</a:t>
            </a:r>
          </a:p>
          <a:p>
            <a:pPr eaLnBrk="1" hangingPunct="1">
              <a:buFontTx/>
              <a:buAutoNum type="arabicPeriod"/>
            </a:pPr>
            <a:r>
              <a:rPr lang="pt-BR" altLang="pt-BR" sz="2400" dirty="0"/>
              <a:t>Cadeia escalar.</a:t>
            </a:r>
          </a:p>
          <a:p>
            <a:pPr eaLnBrk="1" hangingPunct="1">
              <a:buFontTx/>
              <a:buAutoNum type="arabicPeriod"/>
            </a:pPr>
            <a:r>
              <a:rPr lang="pt-BR" altLang="pt-BR" sz="2400" dirty="0"/>
              <a:t>Ordem.</a:t>
            </a:r>
          </a:p>
          <a:p>
            <a:pPr eaLnBrk="1" hangingPunct="1">
              <a:buFontTx/>
              <a:buAutoNum type="arabicPeriod"/>
            </a:pPr>
            <a:r>
              <a:rPr lang="pt-BR" altLang="pt-BR" sz="2400" dirty="0" err="1"/>
              <a:t>Eqüidade</a:t>
            </a:r>
            <a:r>
              <a:rPr lang="pt-BR" altLang="pt-BR" sz="2400" dirty="0"/>
              <a:t>.</a:t>
            </a:r>
          </a:p>
          <a:p>
            <a:pPr eaLnBrk="1" hangingPunct="1">
              <a:buFontTx/>
              <a:buAutoNum type="arabicPeriod"/>
            </a:pPr>
            <a:r>
              <a:rPr lang="pt-BR" altLang="pt-BR" sz="2400" dirty="0"/>
              <a:t>Estabilidade do pessoal.</a:t>
            </a:r>
          </a:p>
          <a:p>
            <a:pPr eaLnBrk="1" hangingPunct="1">
              <a:buFontTx/>
              <a:buAutoNum type="arabicPeriod"/>
            </a:pPr>
            <a:r>
              <a:rPr lang="pt-BR" altLang="pt-BR" sz="2400" dirty="0"/>
              <a:t>Iniciativa.</a:t>
            </a:r>
          </a:p>
          <a:p>
            <a:pPr eaLnBrk="1" hangingPunct="1">
              <a:buFontTx/>
              <a:buAutoNum type="arabicPeriod"/>
            </a:pPr>
            <a:r>
              <a:rPr lang="pt-BR" altLang="pt-BR" sz="2400" dirty="0"/>
              <a:t>Espírito de equipe.</a:t>
            </a:r>
          </a:p>
          <a:p>
            <a:pPr eaLnBrk="1" hangingPunct="1">
              <a:buFontTx/>
              <a:buAutoNum type="arabicPeriod"/>
            </a:pPr>
            <a:endParaRPr lang="pt-BR" altLang="pt-BR" dirty="0"/>
          </a:p>
        </p:txBody>
      </p:sp>
      <p:sp>
        <p:nvSpPr>
          <p:cNvPr id="91139" name="Text Box 3"/>
          <p:cNvSpPr txBox="1">
            <a:spLocks noChangeArrowheads="1"/>
          </p:cNvSpPr>
          <p:nvPr/>
        </p:nvSpPr>
        <p:spPr bwMode="auto">
          <a:xfrm>
            <a:off x="209134" y="92645"/>
            <a:ext cx="77184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r>
              <a:rPr lang="pt-BR" altLang="pt-BR">
                <a:solidFill>
                  <a:srgbClr val="FF9900"/>
                </a:solidFill>
              </a:rPr>
              <a:t>Os 14 Princípios Gerais de Administração para Fayol</a:t>
            </a:r>
          </a:p>
        </p:txBody>
      </p:sp>
    </p:spTree>
    <p:extLst>
      <p:ext uri="{BB962C8B-B14F-4D97-AF65-F5344CB8AC3E}">
        <p14:creationId xmlns:p14="http://schemas.microsoft.com/office/powerpoint/2010/main" val="79158787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3186" name="Text Box 2"/>
          <p:cNvSpPr txBox="1">
            <a:spLocks noChangeArrowheads="1"/>
          </p:cNvSpPr>
          <p:nvPr/>
        </p:nvSpPr>
        <p:spPr bwMode="auto">
          <a:xfrm>
            <a:off x="3651250" y="1751013"/>
            <a:ext cx="4897438" cy="3681412"/>
          </a:xfrm>
          <a:prstGeom prst="rect">
            <a:avLst/>
          </a:prstGeom>
          <a:solidFill>
            <a:srgbClr val="DDDDDD"/>
          </a:solidFill>
          <a:ln w="19050">
            <a:solidFill>
              <a:schemeClr val="tx1"/>
            </a:solidFill>
            <a:miter lim="800000"/>
            <a:headEnd/>
            <a:tailEnd/>
          </a:ln>
          <a:effectLst>
            <a:outerShdw dist="107763" dir="2700000" algn="ctr" rotWithShape="0">
              <a:schemeClr val="bg2"/>
            </a:outerShdw>
          </a:effectLst>
        </p:spPr>
        <p:txBody>
          <a:bodyPr wrap="none">
            <a:spAutoFit/>
          </a:bodyPr>
          <a:lstStyle>
            <a:lvl1pPr marL="457200" indent="-457200">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buFontTx/>
              <a:buAutoNum type="arabicPeriod"/>
            </a:pPr>
            <a:endParaRPr lang="pt-BR" altLang="pt-BR"/>
          </a:p>
          <a:p>
            <a:pPr eaLnBrk="1" hangingPunct="1">
              <a:buFontTx/>
              <a:buAutoNum type="arabicPeriod"/>
            </a:pPr>
            <a:r>
              <a:rPr lang="pt-BR" altLang="pt-BR"/>
              <a:t>Administração como Ciência.</a:t>
            </a:r>
          </a:p>
          <a:p>
            <a:pPr eaLnBrk="1" hangingPunct="1">
              <a:buFontTx/>
              <a:buAutoNum type="arabicPeriod"/>
            </a:pPr>
            <a:endParaRPr lang="pt-BR" altLang="pt-BR"/>
          </a:p>
          <a:p>
            <a:pPr eaLnBrk="1" hangingPunct="1">
              <a:buFontTx/>
              <a:buAutoNum type="arabicPeriod"/>
            </a:pPr>
            <a:r>
              <a:rPr lang="pt-BR" altLang="pt-BR"/>
              <a:t>Teoria da Organização.</a:t>
            </a:r>
          </a:p>
          <a:p>
            <a:pPr eaLnBrk="1" hangingPunct="1">
              <a:buFontTx/>
              <a:buAutoNum type="arabicPeriod"/>
            </a:pPr>
            <a:endParaRPr lang="pt-BR" altLang="pt-BR"/>
          </a:p>
          <a:p>
            <a:pPr eaLnBrk="1" hangingPunct="1">
              <a:buFontTx/>
              <a:buAutoNum type="arabicPeriod"/>
            </a:pPr>
            <a:r>
              <a:rPr lang="pt-BR" altLang="pt-BR"/>
              <a:t>Divisão do trabalho e especialização.</a:t>
            </a:r>
          </a:p>
          <a:p>
            <a:pPr eaLnBrk="1" hangingPunct="1">
              <a:buFontTx/>
              <a:buAutoNum type="arabicPeriod"/>
            </a:pPr>
            <a:endParaRPr lang="pt-BR" altLang="pt-BR"/>
          </a:p>
          <a:p>
            <a:pPr eaLnBrk="1" hangingPunct="1">
              <a:buFontTx/>
              <a:buAutoNum type="arabicPeriod"/>
            </a:pPr>
            <a:r>
              <a:rPr lang="pt-BR" altLang="pt-BR"/>
              <a:t>Coordenação.</a:t>
            </a:r>
          </a:p>
          <a:p>
            <a:pPr eaLnBrk="1" hangingPunct="1">
              <a:buFontTx/>
              <a:buAutoNum type="arabicPeriod"/>
            </a:pPr>
            <a:endParaRPr lang="pt-BR" altLang="pt-BR"/>
          </a:p>
          <a:p>
            <a:pPr eaLnBrk="1" hangingPunct="1">
              <a:buFontTx/>
              <a:buAutoNum type="arabicPeriod"/>
            </a:pPr>
            <a:r>
              <a:rPr lang="pt-BR" altLang="pt-BR"/>
              <a:t>Conceito de linha e de staff.</a:t>
            </a:r>
          </a:p>
          <a:p>
            <a:pPr eaLnBrk="1" hangingPunct="1">
              <a:buFontTx/>
              <a:buAutoNum type="arabicPeriod"/>
            </a:pPr>
            <a:endParaRPr lang="pt-BR" altLang="pt-BR"/>
          </a:p>
          <a:p>
            <a:pPr eaLnBrk="1" hangingPunct="1">
              <a:buFontTx/>
              <a:buAutoNum type="arabicPeriod"/>
            </a:pPr>
            <a:r>
              <a:rPr lang="pt-BR" altLang="pt-BR"/>
              <a:t>Organização linear.</a:t>
            </a:r>
          </a:p>
          <a:p>
            <a:pPr eaLnBrk="1" hangingPunct="1">
              <a:buFontTx/>
              <a:buAutoNum type="arabicPeriod"/>
            </a:pPr>
            <a:endParaRPr lang="pt-BR" altLang="pt-BR"/>
          </a:p>
        </p:txBody>
      </p:sp>
      <p:sp>
        <p:nvSpPr>
          <p:cNvPr id="93187" name="Text Box 3"/>
          <p:cNvSpPr txBox="1">
            <a:spLocks noChangeArrowheads="1"/>
          </p:cNvSpPr>
          <p:nvPr/>
        </p:nvSpPr>
        <p:spPr bwMode="auto">
          <a:xfrm>
            <a:off x="2687639" y="325438"/>
            <a:ext cx="296587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r>
              <a:rPr lang="pt-BR" altLang="pt-BR">
                <a:solidFill>
                  <a:srgbClr val="FF9900"/>
                </a:solidFill>
              </a:rPr>
              <a:t>Teoria da Administração</a:t>
            </a:r>
          </a:p>
        </p:txBody>
      </p:sp>
    </p:spTree>
    <p:extLst>
      <p:ext uri="{BB962C8B-B14F-4D97-AF65-F5344CB8AC3E}">
        <p14:creationId xmlns:p14="http://schemas.microsoft.com/office/powerpoint/2010/main" val="39796499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5234" name="Rectangle 2"/>
          <p:cNvSpPr>
            <a:spLocks noChangeArrowheads="1"/>
          </p:cNvSpPr>
          <p:nvPr/>
        </p:nvSpPr>
        <p:spPr bwMode="auto">
          <a:xfrm>
            <a:off x="1954213" y="3321050"/>
            <a:ext cx="1790700" cy="1106488"/>
          </a:xfrm>
          <a:prstGeom prst="rect">
            <a:avLst/>
          </a:prstGeom>
          <a:solidFill>
            <a:srgbClr val="DDDDDD"/>
          </a:solid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pt-BR" altLang="pt-BR"/>
          </a:p>
        </p:txBody>
      </p:sp>
      <p:sp>
        <p:nvSpPr>
          <p:cNvPr id="95235" name="Rectangle 3"/>
          <p:cNvSpPr>
            <a:spLocks noChangeArrowheads="1"/>
          </p:cNvSpPr>
          <p:nvPr/>
        </p:nvSpPr>
        <p:spPr bwMode="auto">
          <a:xfrm>
            <a:off x="4772026" y="1184275"/>
            <a:ext cx="1636713" cy="1106488"/>
          </a:xfrm>
          <a:prstGeom prst="rect">
            <a:avLst/>
          </a:prstGeom>
          <a:solidFill>
            <a:srgbClr val="DDDDDD"/>
          </a:solid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pt-BR" altLang="pt-BR"/>
          </a:p>
        </p:txBody>
      </p:sp>
      <p:sp>
        <p:nvSpPr>
          <p:cNvPr id="95236" name="Rectangle 4"/>
          <p:cNvSpPr>
            <a:spLocks noChangeArrowheads="1"/>
          </p:cNvSpPr>
          <p:nvPr/>
        </p:nvSpPr>
        <p:spPr bwMode="auto">
          <a:xfrm>
            <a:off x="4746626" y="2601914"/>
            <a:ext cx="1674813" cy="1106487"/>
          </a:xfrm>
          <a:prstGeom prst="rect">
            <a:avLst/>
          </a:prstGeom>
          <a:solidFill>
            <a:srgbClr val="DDDDDD"/>
          </a:solid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pt-BR" altLang="pt-BR"/>
          </a:p>
        </p:txBody>
      </p:sp>
      <p:sp>
        <p:nvSpPr>
          <p:cNvPr id="95237" name="Rectangle 5"/>
          <p:cNvSpPr>
            <a:spLocks noChangeArrowheads="1"/>
          </p:cNvSpPr>
          <p:nvPr/>
        </p:nvSpPr>
        <p:spPr bwMode="auto">
          <a:xfrm>
            <a:off x="4733926" y="4016375"/>
            <a:ext cx="1674813" cy="1106488"/>
          </a:xfrm>
          <a:prstGeom prst="rect">
            <a:avLst/>
          </a:prstGeom>
          <a:solidFill>
            <a:srgbClr val="DDDDDD"/>
          </a:solid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pt-BR" altLang="pt-BR"/>
          </a:p>
        </p:txBody>
      </p:sp>
      <p:sp>
        <p:nvSpPr>
          <p:cNvPr id="95238" name="Rectangle 6"/>
          <p:cNvSpPr>
            <a:spLocks noChangeArrowheads="1"/>
          </p:cNvSpPr>
          <p:nvPr/>
        </p:nvSpPr>
        <p:spPr bwMode="auto">
          <a:xfrm>
            <a:off x="4733926" y="5408614"/>
            <a:ext cx="1687513" cy="1106487"/>
          </a:xfrm>
          <a:prstGeom prst="rect">
            <a:avLst/>
          </a:prstGeom>
          <a:solidFill>
            <a:srgbClr val="DDDDDD"/>
          </a:solid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pt-BR" altLang="pt-BR"/>
          </a:p>
        </p:txBody>
      </p:sp>
      <p:sp>
        <p:nvSpPr>
          <p:cNvPr id="95239" name="Line 7"/>
          <p:cNvSpPr>
            <a:spLocks noChangeShapeType="1"/>
          </p:cNvSpPr>
          <p:nvPr/>
        </p:nvSpPr>
        <p:spPr bwMode="auto">
          <a:xfrm flipV="1">
            <a:off x="3757614" y="1720851"/>
            <a:ext cx="1004887" cy="2151063"/>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pt-BR"/>
          </a:p>
        </p:txBody>
      </p:sp>
      <p:sp>
        <p:nvSpPr>
          <p:cNvPr id="95240" name="Line 8"/>
          <p:cNvSpPr>
            <a:spLocks noChangeShapeType="1"/>
          </p:cNvSpPr>
          <p:nvPr/>
        </p:nvSpPr>
        <p:spPr bwMode="auto">
          <a:xfrm>
            <a:off x="3744914" y="3884614"/>
            <a:ext cx="1004887" cy="2111375"/>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pt-BR"/>
          </a:p>
        </p:txBody>
      </p:sp>
      <p:sp>
        <p:nvSpPr>
          <p:cNvPr id="95241" name="Line 9"/>
          <p:cNvSpPr>
            <a:spLocks noChangeShapeType="1"/>
          </p:cNvSpPr>
          <p:nvPr/>
        </p:nvSpPr>
        <p:spPr bwMode="auto">
          <a:xfrm flipV="1">
            <a:off x="3744913" y="3136901"/>
            <a:ext cx="990600" cy="760413"/>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pt-BR"/>
          </a:p>
        </p:txBody>
      </p:sp>
      <p:sp>
        <p:nvSpPr>
          <p:cNvPr id="95242" name="Line 10"/>
          <p:cNvSpPr>
            <a:spLocks noChangeShapeType="1"/>
          </p:cNvSpPr>
          <p:nvPr/>
        </p:nvSpPr>
        <p:spPr bwMode="auto">
          <a:xfrm>
            <a:off x="3732214" y="3910014"/>
            <a:ext cx="1030287" cy="657225"/>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pt-BR"/>
          </a:p>
        </p:txBody>
      </p:sp>
      <p:sp>
        <p:nvSpPr>
          <p:cNvPr id="95243" name="Line 11"/>
          <p:cNvSpPr>
            <a:spLocks noChangeShapeType="1"/>
          </p:cNvSpPr>
          <p:nvPr/>
        </p:nvSpPr>
        <p:spPr bwMode="auto">
          <a:xfrm flipV="1">
            <a:off x="6421438" y="3871914"/>
            <a:ext cx="849312" cy="2124075"/>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pt-BR"/>
          </a:p>
        </p:txBody>
      </p:sp>
      <p:sp>
        <p:nvSpPr>
          <p:cNvPr id="95244" name="Rectangle 12"/>
          <p:cNvSpPr>
            <a:spLocks noChangeArrowheads="1"/>
          </p:cNvSpPr>
          <p:nvPr/>
        </p:nvSpPr>
        <p:spPr bwMode="auto">
          <a:xfrm>
            <a:off x="7307264" y="3309939"/>
            <a:ext cx="1495425" cy="1106487"/>
          </a:xfrm>
          <a:prstGeom prst="rect">
            <a:avLst/>
          </a:prstGeom>
          <a:solidFill>
            <a:srgbClr val="DDDDDD"/>
          </a:solid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pt-BR" altLang="pt-BR"/>
          </a:p>
        </p:txBody>
      </p:sp>
      <p:sp>
        <p:nvSpPr>
          <p:cNvPr id="95245" name="Rectangle 13"/>
          <p:cNvSpPr>
            <a:spLocks noChangeArrowheads="1"/>
          </p:cNvSpPr>
          <p:nvPr/>
        </p:nvSpPr>
        <p:spPr bwMode="auto">
          <a:xfrm>
            <a:off x="9097964" y="3309939"/>
            <a:ext cx="1481137" cy="1106487"/>
          </a:xfrm>
          <a:prstGeom prst="rect">
            <a:avLst/>
          </a:prstGeom>
          <a:solidFill>
            <a:srgbClr val="DDDDDD"/>
          </a:solid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pt-BR" altLang="pt-BR"/>
          </a:p>
        </p:txBody>
      </p:sp>
      <p:sp>
        <p:nvSpPr>
          <p:cNvPr id="95246" name="Text Box 14"/>
          <p:cNvSpPr txBox="1">
            <a:spLocks noChangeArrowheads="1"/>
          </p:cNvSpPr>
          <p:nvPr/>
        </p:nvSpPr>
        <p:spPr bwMode="auto">
          <a:xfrm>
            <a:off x="1947863" y="3463925"/>
            <a:ext cx="1636712"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r>
              <a:rPr lang="pt-BR" altLang="pt-BR" sz="1600"/>
              <a:t>    Princípios</a:t>
            </a:r>
          </a:p>
          <a:p>
            <a:pPr eaLnBrk="1" hangingPunct="1"/>
            <a:r>
              <a:rPr lang="pt-BR" altLang="pt-BR" sz="1600"/>
              <a:t>    Gerais de</a:t>
            </a:r>
          </a:p>
          <a:p>
            <a:pPr eaLnBrk="1" hangingPunct="1"/>
            <a:r>
              <a:rPr lang="pt-BR" altLang="pt-BR" sz="1600"/>
              <a:t>Administração</a:t>
            </a:r>
          </a:p>
        </p:txBody>
      </p:sp>
      <p:sp>
        <p:nvSpPr>
          <p:cNvPr id="95247" name="Rectangle 15"/>
          <p:cNvSpPr>
            <a:spLocks noChangeArrowheads="1"/>
          </p:cNvSpPr>
          <p:nvPr/>
        </p:nvSpPr>
        <p:spPr bwMode="auto">
          <a:xfrm>
            <a:off x="4759325" y="1431925"/>
            <a:ext cx="1471878" cy="4801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r>
              <a:rPr lang="pt-BR" altLang="pt-BR" sz="1400"/>
              <a:t>   Divisão do</a:t>
            </a:r>
          </a:p>
          <a:p>
            <a:pPr eaLnBrk="1" hangingPunct="1"/>
            <a:r>
              <a:rPr lang="pt-BR" altLang="pt-BR" sz="1400"/>
              <a:t>    Trabalho</a:t>
            </a:r>
          </a:p>
          <a:p>
            <a:pPr eaLnBrk="1" hangingPunct="1"/>
            <a:endParaRPr lang="pt-BR" altLang="pt-BR" sz="1400"/>
          </a:p>
          <a:p>
            <a:pPr eaLnBrk="1" hangingPunct="1"/>
            <a:endParaRPr lang="pt-BR" altLang="pt-BR" sz="1400"/>
          </a:p>
          <a:p>
            <a:pPr eaLnBrk="1" hangingPunct="1"/>
            <a:endParaRPr lang="pt-BR" altLang="pt-BR" sz="1400"/>
          </a:p>
          <a:p>
            <a:pPr eaLnBrk="1" hangingPunct="1"/>
            <a:endParaRPr lang="pt-BR" altLang="pt-BR" sz="1400"/>
          </a:p>
          <a:p>
            <a:pPr eaLnBrk="1" hangingPunct="1"/>
            <a:endParaRPr lang="pt-BR" altLang="pt-BR" sz="1400"/>
          </a:p>
          <a:p>
            <a:pPr eaLnBrk="1" hangingPunct="1"/>
            <a:r>
              <a:rPr lang="pt-BR" altLang="pt-BR" sz="1400"/>
              <a:t>Especialização</a:t>
            </a:r>
          </a:p>
          <a:p>
            <a:pPr eaLnBrk="1" hangingPunct="1"/>
            <a:endParaRPr lang="pt-BR" altLang="pt-BR" sz="1400"/>
          </a:p>
          <a:p>
            <a:pPr eaLnBrk="1" hangingPunct="1"/>
            <a:endParaRPr lang="pt-BR" altLang="pt-BR" sz="1400"/>
          </a:p>
          <a:p>
            <a:pPr eaLnBrk="1" hangingPunct="1"/>
            <a:endParaRPr lang="pt-BR" altLang="pt-BR" sz="1400"/>
          </a:p>
          <a:p>
            <a:pPr eaLnBrk="1" hangingPunct="1"/>
            <a:endParaRPr lang="pt-BR" altLang="pt-BR" sz="1400"/>
          </a:p>
          <a:p>
            <a:pPr eaLnBrk="1" hangingPunct="1"/>
            <a:endParaRPr lang="pt-BR" altLang="pt-BR" sz="2000"/>
          </a:p>
          <a:p>
            <a:pPr eaLnBrk="1" hangingPunct="1"/>
            <a:r>
              <a:rPr lang="pt-BR" altLang="pt-BR" sz="1400"/>
              <a:t>  Unidade de</a:t>
            </a:r>
          </a:p>
          <a:p>
            <a:pPr eaLnBrk="1" hangingPunct="1"/>
            <a:r>
              <a:rPr lang="pt-BR" altLang="pt-BR" sz="1400"/>
              <a:t>    Comando</a:t>
            </a:r>
          </a:p>
          <a:p>
            <a:pPr eaLnBrk="1" hangingPunct="1"/>
            <a:endParaRPr lang="pt-BR" altLang="pt-BR" sz="1400"/>
          </a:p>
          <a:p>
            <a:pPr eaLnBrk="1" hangingPunct="1"/>
            <a:endParaRPr lang="pt-BR" altLang="pt-BR" sz="1400"/>
          </a:p>
          <a:p>
            <a:pPr eaLnBrk="1" hangingPunct="1"/>
            <a:endParaRPr lang="pt-BR" altLang="pt-BR" sz="2000"/>
          </a:p>
          <a:p>
            <a:pPr eaLnBrk="1" hangingPunct="1"/>
            <a:endParaRPr lang="pt-BR" altLang="pt-BR" sz="1400"/>
          </a:p>
          <a:p>
            <a:pPr eaLnBrk="1" hangingPunct="1"/>
            <a:r>
              <a:rPr lang="pt-BR" altLang="pt-BR" sz="1400"/>
              <a:t>    Amplitude</a:t>
            </a:r>
          </a:p>
          <a:p>
            <a:pPr eaLnBrk="1" hangingPunct="1"/>
            <a:r>
              <a:rPr lang="pt-BR" altLang="pt-BR" sz="1400"/>
              <a:t>   de Controle</a:t>
            </a:r>
          </a:p>
        </p:txBody>
      </p:sp>
      <p:sp>
        <p:nvSpPr>
          <p:cNvPr id="95248" name="Line 16"/>
          <p:cNvSpPr>
            <a:spLocks noChangeShapeType="1"/>
          </p:cNvSpPr>
          <p:nvPr/>
        </p:nvSpPr>
        <p:spPr bwMode="auto">
          <a:xfrm flipV="1">
            <a:off x="6408739" y="3838576"/>
            <a:ext cx="928687" cy="735013"/>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pt-BR"/>
          </a:p>
        </p:txBody>
      </p:sp>
      <p:sp>
        <p:nvSpPr>
          <p:cNvPr id="95249" name="Line 17"/>
          <p:cNvSpPr>
            <a:spLocks noChangeShapeType="1"/>
          </p:cNvSpPr>
          <p:nvPr/>
        </p:nvSpPr>
        <p:spPr bwMode="auto">
          <a:xfrm>
            <a:off x="6381750" y="1704975"/>
            <a:ext cx="927100" cy="220345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pt-BR"/>
          </a:p>
        </p:txBody>
      </p:sp>
      <p:sp>
        <p:nvSpPr>
          <p:cNvPr id="95250" name="Line 18"/>
          <p:cNvSpPr>
            <a:spLocks noChangeShapeType="1"/>
          </p:cNvSpPr>
          <p:nvPr/>
        </p:nvSpPr>
        <p:spPr bwMode="auto">
          <a:xfrm>
            <a:off x="6408738" y="3149601"/>
            <a:ext cx="889000" cy="735013"/>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pt-BR"/>
          </a:p>
        </p:txBody>
      </p:sp>
      <p:sp>
        <p:nvSpPr>
          <p:cNvPr id="95251" name="Line 19"/>
          <p:cNvSpPr>
            <a:spLocks noChangeShapeType="1"/>
          </p:cNvSpPr>
          <p:nvPr/>
        </p:nvSpPr>
        <p:spPr bwMode="auto">
          <a:xfrm flipV="1">
            <a:off x="8712201" y="3859213"/>
            <a:ext cx="555625" cy="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pt-BR"/>
          </a:p>
        </p:txBody>
      </p:sp>
      <p:sp>
        <p:nvSpPr>
          <p:cNvPr id="95252" name="Rectangle 20"/>
          <p:cNvSpPr>
            <a:spLocks noChangeArrowheads="1"/>
          </p:cNvSpPr>
          <p:nvPr/>
        </p:nvSpPr>
        <p:spPr bwMode="auto">
          <a:xfrm>
            <a:off x="7270751" y="3568701"/>
            <a:ext cx="1446213"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r>
              <a:rPr lang="pt-BR" altLang="pt-BR" sz="1600"/>
              <a:t>Organização</a:t>
            </a:r>
          </a:p>
          <a:p>
            <a:pPr eaLnBrk="1" hangingPunct="1"/>
            <a:r>
              <a:rPr lang="pt-BR" altLang="pt-BR" sz="1600"/>
              <a:t>     Formal</a:t>
            </a:r>
          </a:p>
        </p:txBody>
      </p:sp>
      <p:sp>
        <p:nvSpPr>
          <p:cNvPr id="95253" name="Rectangle 21"/>
          <p:cNvSpPr>
            <a:spLocks noChangeArrowheads="1"/>
          </p:cNvSpPr>
          <p:nvPr/>
        </p:nvSpPr>
        <p:spPr bwMode="auto">
          <a:xfrm>
            <a:off x="9199563" y="3568701"/>
            <a:ext cx="1135062"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r>
              <a:rPr lang="pt-BR" altLang="pt-BR" sz="1600"/>
              <a:t> Máxima</a:t>
            </a:r>
          </a:p>
          <a:p>
            <a:pPr eaLnBrk="1" hangingPunct="1"/>
            <a:r>
              <a:rPr lang="pt-BR" altLang="pt-BR" sz="1600"/>
              <a:t>Eficiência</a:t>
            </a:r>
          </a:p>
        </p:txBody>
      </p:sp>
      <p:sp>
        <p:nvSpPr>
          <p:cNvPr id="95254" name="Text Box 22"/>
          <p:cNvSpPr txBox="1">
            <a:spLocks noChangeArrowheads="1"/>
          </p:cNvSpPr>
          <p:nvPr/>
        </p:nvSpPr>
        <p:spPr bwMode="auto">
          <a:xfrm>
            <a:off x="2687638" y="325439"/>
            <a:ext cx="7670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r>
              <a:rPr lang="pt-BR" altLang="pt-BR">
                <a:solidFill>
                  <a:srgbClr val="FF9900"/>
                </a:solidFill>
              </a:rPr>
              <a:t>Abordagem prescritiva e normativa da Teoria Clássica</a:t>
            </a:r>
          </a:p>
        </p:txBody>
      </p:sp>
    </p:spTree>
    <p:extLst>
      <p:ext uri="{BB962C8B-B14F-4D97-AF65-F5344CB8AC3E}">
        <p14:creationId xmlns:p14="http://schemas.microsoft.com/office/powerpoint/2010/main" val="28632144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7282" name="Rectangle 2"/>
          <p:cNvSpPr>
            <a:spLocks noChangeArrowheads="1"/>
          </p:cNvSpPr>
          <p:nvPr/>
        </p:nvSpPr>
        <p:spPr bwMode="auto">
          <a:xfrm>
            <a:off x="1784350" y="1625601"/>
            <a:ext cx="8597900" cy="4124325"/>
          </a:xfrm>
          <a:prstGeom prst="rect">
            <a:avLst/>
          </a:prstGeom>
          <a:solidFill>
            <a:srgbClr val="DDDDDD"/>
          </a:solidFill>
          <a:ln w="9525">
            <a:solidFill>
              <a:schemeClr val="tx1"/>
            </a:solidFill>
            <a:miter lim="800000"/>
            <a:headEnd/>
            <a:tailEnd/>
          </a:ln>
          <a:effectLst>
            <a:outerShdw dist="107763" dir="2700000" algn="ctr" rotWithShape="0">
              <a:schemeClr val="bg2"/>
            </a:outerShdw>
          </a:effectLst>
        </p:spPr>
        <p:txBody>
          <a:bodyPr>
            <a:spAutoFit/>
          </a:bodyPr>
          <a:lstStyle>
            <a:lvl1pPr>
              <a:defRPr>
                <a:solidFill>
                  <a:schemeClr val="tx1"/>
                </a:solidFill>
                <a:latin typeface="Verdana" panose="020B0604030504040204" pitchFamily="34" charset="0"/>
                <a:cs typeface="Arial" panose="020B0604020202020204" pitchFamily="34" charset="0"/>
              </a:defRPr>
            </a:lvl1pPr>
            <a:lvl2pPr>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pt-BR"/>
          </a:p>
          <a:p>
            <a:pPr lvl="1" eaLnBrk="1" hangingPunct="1"/>
            <a:r>
              <a:rPr lang="en-US" altLang="pt-BR" sz="2000"/>
              <a:t>1.  Abordagem simplificada da organização formal</a:t>
            </a:r>
          </a:p>
          <a:p>
            <a:pPr lvl="1" eaLnBrk="1" hangingPunct="1">
              <a:buFontTx/>
              <a:buChar char="•"/>
            </a:pPr>
            <a:endParaRPr lang="en-US" altLang="pt-BR" sz="2000"/>
          </a:p>
          <a:p>
            <a:pPr lvl="1" eaLnBrk="1" hangingPunct="1"/>
            <a:r>
              <a:rPr lang="en-US" altLang="pt-BR" sz="2000"/>
              <a:t>2.	Ausência de trabalhos experimentais.</a:t>
            </a:r>
          </a:p>
          <a:p>
            <a:pPr lvl="1" eaLnBrk="1" hangingPunct="1">
              <a:buFontTx/>
              <a:buChar char="•"/>
            </a:pPr>
            <a:endParaRPr lang="en-US" altLang="pt-BR" sz="2000"/>
          </a:p>
          <a:p>
            <a:pPr lvl="1" eaLnBrk="1" hangingPunct="1"/>
            <a:r>
              <a:rPr lang="en-US" altLang="pt-BR" sz="2000"/>
              <a:t>3	Extremo racionalismo na concepção da Administração.</a:t>
            </a:r>
          </a:p>
          <a:p>
            <a:pPr lvl="1" eaLnBrk="1" hangingPunct="1">
              <a:buFontTx/>
              <a:buChar char="•"/>
            </a:pPr>
            <a:endParaRPr lang="en-US" altLang="pt-BR" sz="2000"/>
          </a:p>
          <a:p>
            <a:pPr lvl="1" eaLnBrk="1" hangingPunct="1"/>
            <a:r>
              <a:rPr lang="en-US" altLang="pt-BR" sz="2000"/>
              <a:t>4.	Teoria da máquina.</a:t>
            </a:r>
          </a:p>
          <a:p>
            <a:pPr lvl="1" eaLnBrk="1" hangingPunct="1">
              <a:buFontTx/>
              <a:buChar char="•"/>
            </a:pPr>
            <a:endParaRPr lang="en-US" altLang="pt-BR" sz="2000"/>
          </a:p>
          <a:p>
            <a:pPr lvl="1" eaLnBrk="1" hangingPunct="1"/>
            <a:r>
              <a:rPr lang="en-US" altLang="pt-BR" sz="2000"/>
              <a:t>5.	Abordagem incompleta da organização.</a:t>
            </a:r>
          </a:p>
          <a:p>
            <a:pPr lvl="1" eaLnBrk="1" hangingPunct="1">
              <a:buFontTx/>
              <a:buChar char="•"/>
            </a:pPr>
            <a:endParaRPr lang="en-US" altLang="pt-BR" sz="2000"/>
          </a:p>
          <a:p>
            <a:pPr lvl="1" eaLnBrk="1" hangingPunct="1"/>
            <a:r>
              <a:rPr lang="en-US" altLang="pt-BR" sz="2000"/>
              <a:t>6.	Abordagem de sistema fechado.</a:t>
            </a:r>
          </a:p>
          <a:p>
            <a:pPr eaLnBrk="1" hangingPunct="1"/>
            <a:endParaRPr lang="en-US" altLang="pt-BR" sz="2000"/>
          </a:p>
        </p:txBody>
      </p:sp>
      <p:sp>
        <p:nvSpPr>
          <p:cNvPr id="97283" name="Text Box 3"/>
          <p:cNvSpPr txBox="1">
            <a:spLocks noChangeArrowheads="1"/>
          </p:cNvSpPr>
          <p:nvPr/>
        </p:nvSpPr>
        <p:spPr bwMode="auto">
          <a:xfrm>
            <a:off x="2687638" y="325438"/>
            <a:ext cx="658336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r>
              <a:rPr lang="pt-BR" altLang="pt-BR">
                <a:solidFill>
                  <a:srgbClr val="FF9900"/>
                </a:solidFill>
              </a:rPr>
              <a:t>Apreciação Crítica da Teoria Clássica:</a:t>
            </a:r>
          </a:p>
        </p:txBody>
      </p:sp>
    </p:spTree>
    <p:extLst>
      <p:ext uri="{BB962C8B-B14F-4D97-AF65-F5344CB8AC3E}">
        <p14:creationId xmlns:p14="http://schemas.microsoft.com/office/powerpoint/2010/main" val="118727863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9330" name="Rectangle 2"/>
          <p:cNvSpPr>
            <a:spLocks noChangeArrowheads="1"/>
          </p:cNvSpPr>
          <p:nvPr/>
        </p:nvSpPr>
        <p:spPr bwMode="auto">
          <a:xfrm>
            <a:off x="4600576" y="5949951"/>
            <a:ext cx="3078163" cy="708025"/>
          </a:xfrm>
          <a:prstGeom prst="rect">
            <a:avLst/>
          </a:prstGeom>
          <a:solidFill>
            <a:srgbClr val="DDDDDD"/>
          </a:solid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pt-BR" altLang="pt-BR"/>
          </a:p>
        </p:txBody>
      </p:sp>
      <p:sp>
        <p:nvSpPr>
          <p:cNvPr id="99331" name="Oval 3"/>
          <p:cNvSpPr>
            <a:spLocks noChangeArrowheads="1"/>
          </p:cNvSpPr>
          <p:nvPr/>
        </p:nvSpPr>
        <p:spPr bwMode="auto">
          <a:xfrm>
            <a:off x="2863851" y="3970338"/>
            <a:ext cx="2652713" cy="2025650"/>
          </a:xfrm>
          <a:prstGeom prst="ellipse">
            <a:avLst/>
          </a:prstGeom>
          <a:solidFill>
            <a:srgbClr val="DDDDDD"/>
          </a:solidFill>
          <a:ln w="9525">
            <a:solidFill>
              <a:schemeClr val="tx1"/>
            </a:solidFill>
            <a:round/>
            <a:headEnd/>
            <a:tailEnd/>
          </a:ln>
          <a:effectLst>
            <a:outerShdw dist="107763" dir="2700000" algn="ctr" rotWithShape="0">
              <a:schemeClr val="bg2"/>
            </a:outerShdw>
          </a:effectLst>
        </p:spPr>
        <p:txBody>
          <a:bodyPr wrap="none" anchor="ct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pt-BR" altLang="pt-BR"/>
          </a:p>
        </p:txBody>
      </p:sp>
      <p:sp>
        <p:nvSpPr>
          <p:cNvPr id="99332" name="Oval 4"/>
          <p:cNvSpPr>
            <a:spLocks noChangeArrowheads="1"/>
          </p:cNvSpPr>
          <p:nvPr/>
        </p:nvSpPr>
        <p:spPr bwMode="auto">
          <a:xfrm>
            <a:off x="6864351" y="3930650"/>
            <a:ext cx="2652713" cy="2063750"/>
          </a:xfrm>
          <a:prstGeom prst="ellipse">
            <a:avLst/>
          </a:prstGeom>
          <a:solidFill>
            <a:srgbClr val="DDDDDD"/>
          </a:solidFill>
          <a:ln w="9525">
            <a:solidFill>
              <a:schemeClr val="tx1"/>
            </a:solidFill>
            <a:round/>
            <a:headEnd/>
            <a:tailEnd/>
          </a:ln>
          <a:effectLst>
            <a:outerShdw dist="107763" dir="2700000" algn="ctr" rotWithShape="0">
              <a:schemeClr val="bg2"/>
            </a:outerShdw>
          </a:effectLst>
        </p:spPr>
        <p:txBody>
          <a:bodyPr wrap="none" anchor="ct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pt-BR" altLang="pt-BR"/>
          </a:p>
        </p:txBody>
      </p:sp>
      <p:sp>
        <p:nvSpPr>
          <p:cNvPr id="99333" name="Oval 5"/>
          <p:cNvSpPr>
            <a:spLocks noChangeArrowheads="1"/>
          </p:cNvSpPr>
          <p:nvPr/>
        </p:nvSpPr>
        <p:spPr bwMode="auto">
          <a:xfrm>
            <a:off x="3394076" y="2476500"/>
            <a:ext cx="1597025" cy="1327150"/>
          </a:xfrm>
          <a:prstGeom prst="ellipse">
            <a:avLst/>
          </a:prstGeom>
          <a:solidFill>
            <a:srgbClr val="DDDDDD"/>
          </a:solidFill>
          <a:ln w="9525">
            <a:solidFill>
              <a:schemeClr val="tx1"/>
            </a:solidFill>
            <a:round/>
            <a:headEnd/>
            <a:tailEnd/>
          </a:ln>
        </p:spPr>
        <p:txBody>
          <a:bodyPr wrap="none" anchor="ct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pt-BR" altLang="pt-BR"/>
          </a:p>
        </p:txBody>
      </p:sp>
      <p:sp>
        <p:nvSpPr>
          <p:cNvPr id="99334" name="Oval 6"/>
          <p:cNvSpPr>
            <a:spLocks noChangeArrowheads="1"/>
          </p:cNvSpPr>
          <p:nvPr/>
        </p:nvSpPr>
        <p:spPr bwMode="auto">
          <a:xfrm>
            <a:off x="7421564" y="2451100"/>
            <a:ext cx="1597025" cy="1327150"/>
          </a:xfrm>
          <a:prstGeom prst="ellipse">
            <a:avLst/>
          </a:prstGeom>
          <a:solidFill>
            <a:srgbClr val="DDDDDD"/>
          </a:solidFill>
          <a:ln w="9525">
            <a:solidFill>
              <a:schemeClr val="tx1"/>
            </a:solidFill>
            <a:round/>
            <a:headEnd/>
            <a:tailEnd/>
          </a:ln>
        </p:spPr>
        <p:txBody>
          <a:bodyPr wrap="none" anchor="ct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pt-BR" altLang="pt-BR"/>
          </a:p>
        </p:txBody>
      </p:sp>
      <p:sp>
        <p:nvSpPr>
          <p:cNvPr id="99335" name="Oval 7"/>
          <p:cNvSpPr>
            <a:spLocks noChangeArrowheads="1"/>
          </p:cNvSpPr>
          <p:nvPr/>
        </p:nvSpPr>
        <p:spPr bwMode="auto">
          <a:xfrm>
            <a:off x="3379789" y="660400"/>
            <a:ext cx="1597025" cy="889000"/>
          </a:xfrm>
          <a:prstGeom prst="ellipse">
            <a:avLst/>
          </a:prstGeom>
          <a:solidFill>
            <a:srgbClr val="DDDDDD"/>
          </a:solidFill>
          <a:ln w="9525">
            <a:solidFill>
              <a:schemeClr val="tx1"/>
            </a:solidFill>
            <a:round/>
            <a:headEnd/>
            <a:tailEnd/>
          </a:ln>
          <a:effectLst>
            <a:outerShdw dist="107763" dir="2700000" algn="ctr" rotWithShape="0">
              <a:schemeClr val="bg2"/>
            </a:outerShdw>
          </a:effectLst>
        </p:spPr>
        <p:txBody>
          <a:bodyPr wrap="none" anchor="ct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pt-BR" altLang="pt-BR"/>
          </a:p>
        </p:txBody>
      </p:sp>
      <p:sp>
        <p:nvSpPr>
          <p:cNvPr id="99336" name="Oval 8"/>
          <p:cNvSpPr>
            <a:spLocks noChangeArrowheads="1"/>
          </p:cNvSpPr>
          <p:nvPr/>
        </p:nvSpPr>
        <p:spPr bwMode="auto">
          <a:xfrm>
            <a:off x="7405689" y="658813"/>
            <a:ext cx="1597025" cy="889000"/>
          </a:xfrm>
          <a:prstGeom prst="ellipse">
            <a:avLst/>
          </a:prstGeom>
          <a:solidFill>
            <a:srgbClr val="DDDDDD"/>
          </a:solidFill>
          <a:ln w="9525">
            <a:solidFill>
              <a:schemeClr val="tx1"/>
            </a:solidFill>
            <a:round/>
            <a:headEnd/>
            <a:tailEnd/>
          </a:ln>
          <a:effectLst>
            <a:outerShdw dist="107763" dir="2700000" algn="ctr" rotWithShape="0">
              <a:schemeClr val="bg2"/>
            </a:outerShdw>
          </a:effectLst>
        </p:spPr>
        <p:txBody>
          <a:bodyPr wrap="none" anchor="ct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pt-BR" altLang="pt-BR"/>
          </a:p>
        </p:txBody>
      </p:sp>
      <p:sp>
        <p:nvSpPr>
          <p:cNvPr id="99337" name="AutoShape 9"/>
          <p:cNvSpPr>
            <a:spLocks noChangeArrowheads="1"/>
          </p:cNvSpPr>
          <p:nvPr/>
        </p:nvSpPr>
        <p:spPr bwMode="auto">
          <a:xfrm>
            <a:off x="3187700" y="1700214"/>
            <a:ext cx="1995488" cy="631825"/>
          </a:xfrm>
          <a:prstGeom prst="flowChartAlternateProcess">
            <a:avLst/>
          </a:prstGeom>
          <a:solidFill>
            <a:srgbClr val="DDDDDD"/>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pt-BR" altLang="pt-BR"/>
          </a:p>
        </p:txBody>
      </p:sp>
      <p:sp>
        <p:nvSpPr>
          <p:cNvPr id="99338" name="AutoShape 10"/>
          <p:cNvSpPr>
            <a:spLocks noChangeArrowheads="1"/>
          </p:cNvSpPr>
          <p:nvPr/>
        </p:nvSpPr>
        <p:spPr bwMode="auto">
          <a:xfrm>
            <a:off x="7227889" y="1673226"/>
            <a:ext cx="1995487" cy="631825"/>
          </a:xfrm>
          <a:prstGeom prst="flowChartAlternateProcess">
            <a:avLst/>
          </a:prstGeom>
          <a:solidFill>
            <a:srgbClr val="DDDDDD"/>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pt-BR" altLang="pt-BR"/>
          </a:p>
        </p:txBody>
      </p:sp>
      <p:sp>
        <p:nvSpPr>
          <p:cNvPr id="99339" name="Text Box 11"/>
          <p:cNvSpPr txBox="1">
            <a:spLocks noChangeArrowheads="1"/>
          </p:cNvSpPr>
          <p:nvPr/>
        </p:nvSpPr>
        <p:spPr bwMode="auto">
          <a:xfrm>
            <a:off x="3213100" y="939800"/>
            <a:ext cx="1827744" cy="4832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r>
              <a:rPr lang="pt-BR" altLang="pt-BR" sz="1400"/>
              <a:t>         Taylor</a:t>
            </a:r>
          </a:p>
          <a:p>
            <a:pPr eaLnBrk="1" hangingPunct="1"/>
            <a:endParaRPr lang="pt-BR" altLang="pt-BR" sz="1400"/>
          </a:p>
          <a:p>
            <a:pPr eaLnBrk="1" hangingPunct="1"/>
            <a:endParaRPr lang="pt-BR" altLang="pt-BR" sz="1400"/>
          </a:p>
          <a:p>
            <a:pPr eaLnBrk="1" hangingPunct="1"/>
            <a:endParaRPr lang="pt-BR" altLang="pt-BR" sz="1400"/>
          </a:p>
          <a:p>
            <a:pPr eaLnBrk="1" hangingPunct="1"/>
            <a:r>
              <a:rPr lang="pt-BR" altLang="pt-BR" sz="1400"/>
              <a:t>  Administração</a:t>
            </a:r>
          </a:p>
          <a:p>
            <a:pPr eaLnBrk="1" hangingPunct="1"/>
            <a:r>
              <a:rPr lang="pt-BR" altLang="pt-BR" sz="1400"/>
              <a:t>      Científica</a:t>
            </a:r>
          </a:p>
          <a:p>
            <a:pPr eaLnBrk="1" hangingPunct="1"/>
            <a:endParaRPr lang="pt-BR" altLang="pt-BR" sz="1400"/>
          </a:p>
          <a:p>
            <a:pPr eaLnBrk="1" hangingPunct="1"/>
            <a:endParaRPr lang="pt-BR" altLang="pt-BR" sz="1400"/>
          </a:p>
          <a:p>
            <a:pPr eaLnBrk="1" hangingPunct="1"/>
            <a:endParaRPr lang="pt-BR" altLang="pt-BR" sz="1400"/>
          </a:p>
          <a:p>
            <a:pPr eaLnBrk="1" hangingPunct="1"/>
            <a:r>
              <a:rPr lang="pt-BR" altLang="pt-BR" sz="1400"/>
              <a:t>      Ênfase nas</a:t>
            </a:r>
          </a:p>
          <a:p>
            <a:pPr eaLnBrk="1" hangingPunct="1"/>
            <a:r>
              <a:rPr lang="pt-BR" altLang="pt-BR" sz="1400"/>
              <a:t>        Tarefas</a:t>
            </a:r>
          </a:p>
          <a:p>
            <a:pPr eaLnBrk="1" hangingPunct="1"/>
            <a:endParaRPr lang="pt-BR" altLang="pt-BR" sz="1400"/>
          </a:p>
          <a:p>
            <a:pPr eaLnBrk="1" hangingPunct="1"/>
            <a:endParaRPr lang="pt-BR" altLang="pt-BR" sz="1400"/>
          </a:p>
          <a:p>
            <a:pPr eaLnBrk="1" hangingPunct="1"/>
            <a:endParaRPr lang="pt-BR" altLang="pt-BR" sz="1400"/>
          </a:p>
          <a:p>
            <a:pPr eaLnBrk="1" hangingPunct="1"/>
            <a:endParaRPr lang="pt-BR" altLang="pt-BR" sz="1400"/>
          </a:p>
          <a:p>
            <a:pPr eaLnBrk="1" hangingPunct="1"/>
            <a:endParaRPr lang="pt-BR" altLang="pt-BR" sz="1400"/>
          </a:p>
          <a:p>
            <a:pPr eaLnBrk="1" hangingPunct="1"/>
            <a:r>
              <a:rPr lang="pt-BR" altLang="pt-BR" sz="1400"/>
              <a:t>     Aumentar a</a:t>
            </a:r>
          </a:p>
          <a:p>
            <a:pPr eaLnBrk="1" hangingPunct="1"/>
            <a:r>
              <a:rPr lang="pt-BR" altLang="pt-BR" sz="1400"/>
              <a:t>     eficiência da</a:t>
            </a:r>
          </a:p>
          <a:p>
            <a:pPr eaLnBrk="1" hangingPunct="1"/>
            <a:r>
              <a:rPr lang="pt-BR" altLang="pt-BR" sz="1400"/>
              <a:t>empresa por meio</a:t>
            </a:r>
          </a:p>
          <a:p>
            <a:pPr eaLnBrk="1" hangingPunct="1"/>
            <a:r>
              <a:rPr lang="pt-BR" altLang="pt-BR" sz="1400"/>
              <a:t>  do aumento da</a:t>
            </a:r>
          </a:p>
          <a:p>
            <a:pPr eaLnBrk="1" hangingPunct="1"/>
            <a:r>
              <a:rPr lang="pt-BR" altLang="pt-BR" sz="1400"/>
              <a:t>     eficiência no</a:t>
            </a:r>
          </a:p>
          <a:p>
            <a:pPr eaLnBrk="1" hangingPunct="1"/>
            <a:r>
              <a:rPr lang="pt-BR" altLang="pt-BR" sz="1400"/>
              <a:t> nível operacional</a:t>
            </a:r>
          </a:p>
        </p:txBody>
      </p:sp>
      <p:sp>
        <p:nvSpPr>
          <p:cNvPr id="99340" name="Text Box 12"/>
          <p:cNvSpPr txBox="1">
            <a:spLocks noChangeArrowheads="1"/>
          </p:cNvSpPr>
          <p:nvPr/>
        </p:nvSpPr>
        <p:spPr bwMode="auto">
          <a:xfrm>
            <a:off x="6973888" y="912813"/>
            <a:ext cx="2252540" cy="4832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r>
              <a:rPr lang="pt-BR" altLang="pt-BR" sz="1400"/>
              <a:t>               Fayol</a:t>
            </a:r>
          </a:p>
          <a:p>
            <a:pPr eaLnBrk="1" hangingPunct="1"/>
            <a:endParaRPr lang="pt-BR" altLang="pt-BR" sz="1400"/>
          </a:p>
          <a:p>
            <a:pPr eaLnBrk="1" hangingPunct="1"/>
            <a:endParaRPr lang="pt-BR" altLang="pt-BR" sz="1400"/>
          </a:p>
          <a:p>
            <a:pPr eaLnBrk="1" hangingPunct="1"/>
            <a:endParaRPr lang="pt-BR" altLang="pt-BR" sz="1400"/>
          </a:p>
          <a:p>
            <a:pPr eaLnBrk="1" hangingPunct="1"/>
            <a:r>
              <a:rPr lang="pt-BR" altLang="pt-BR" sz="1400"/>
              <a:t>              Teoria</a:t>
            </a:r>
          </a:p>
          <a:p>
            <a:pPr eaLnBrk="1" hangingPunct="1"/>
            <a:r>
              <a:rPr lang="pt-BR" altLang="pt-BR" sz="1400"/>
              <a:t>             Clássica</a:t>
            </a:r>
          </a:p>
          <a:p>
            <a:pPr eaLnBrk="1" hangingPunct="1"/>
            <a:endParaRPr lang="pt-BR" altLang="pt-BR" sz="1400"/>
          </a:p>
          <a:p>
            <a:pPr eaLnBrk="1" hangingPunct="1"/>
            <a:endParaRPr lang="pt-BR" altLang="pt-BR" sz="1400"/>
          </a:p>
          <a:p>
            <a:pPr eaLnBrk="1" hangingPunct="1"/>
            <a:endParaRPr lang="pt-BR" altLang="pt-BR" sz="1400"/>
          </a:p>
          <a:p>
            <a:pPr eaLnBrk="1" hangingPunct="1"/>
            <a:r>
              <a:rPr lang="pt-BR" altLang="pt-BR" sz="1400"/>
              <a:t>           Ênfase na</a:t>
            </a:r>
          </a:p>
          <a:p>
            <a:pPr eaLnBrk="1" hangingPunct="1"/>
            <a:r>
              <a:rPr lang="pt-BR" altLang="pt-BR" sz="1400"/>
              <a:t>           Estrutura </a:t>
            </a:r>
          </a:p>
          <a:p>
            <a:pPr eaLnBrk="1" hangingPunct="1"/>
            <a:endParaRPr lang="pt-BR" altLang="pt-BR" sz="1400"/>
          </a:p>
          <a:p>
            <a:pPr eaLnBrk="1" hangingPunct="1"/>
            <a:endParaRPr lang="pt-BR" altLang="pt-BR" sz="1400"/>
          </a:p>
          <a:p>
            <a:pPr eaLnBrk="1" hangingPunct="1"/>
            <a:endParaRPr lang="pt-BR" altLang="pt-BR" sz="1400"/>
          </a:p>
          <a:p>
            <a:pPr eaLnBrk="1" hangingPunct="1"/>
            <a:endParaRPr lang="pt-BR" altLang="pt-BR" sz="1400"/>
          </a:p>
          <a:p>
            <a:pPr eaLnBrk="1" hangingPunct="1"/>
            <a:r>
              <a:rPr lang="pt-BR" altLang="pt-BR" sz="1400"/>
              <a:t>          Aumentar a</a:t>
            </a:r>
          </a:p>
          <a:p>
            <a:pPr eaLnBrk="1" hangingPunct="1"/>
            <a:r>
              <a:rPr lang="pt-BR" altLang="pt-BR" sz="1400"/>
              <a:t>          eficiência da</a:t>
            </a:r>
          </a:p>
          <a:p>
            <a:pPr eaLnBrk="1" hangingPunct="1"/>
            <a:r>
              <a:rPr lang="pt-BR" altLang="pt-BR" sz="1400"/>
              <a:t>  empresa por meio da</a:t>
            </a:r>
          </a:p>
          <a:p>
            <a:pPr eaLnBrk="1" hangingPunct="1"/>
            <a:r>
              <a:rPr lang="pt-BR" altLang="pt-BR" sz="1400"/>
              <a:t>forma e disposição dos</a:t>
            </a:r>
          </a:p>
          <a:p>
            <a:pPr eaLnBrk="1" hangingPunct="1"/>
            <a:r>
              <a:rPr lang="pt-BR" altLang="pt-BR" sz="1400"/>
              <a:t>  órgãos componentes</a:t>
            </a:r>
          </a:p>
          <a:p>
            <a:pPr eaLnBrk="1" hangingPunct="1"/>
            <a:r>
              <a:rPr lang="pt-BR" altLang="pt-BR" sz="1400"/>
              <a:t>  da organização e das</a:t>
            </a:r>
          </a:p>
          <a:p>
            <a:pPr eaLnBrk="1" hangingPunct="1"/>
            <a:r>
              <a:rPr lang="pt-BR" altLang="pt-BR" sz="1400"/>
              <a:t>    suas inter-relações</a:t>
            </a:r>
          </a:p>
        </p:txBody>
      </p:sp>
      <p:sp>
        <p:nvSpPr>
          <p:cNvPr id="99341" name="Text Box 13"/>
          <p:cNvSpPr txBox="1">
            <a:spLocks noChangeArrowheads="1"/>
          </p:cNvSpPr>
          <p:nvPr/>
        </p:nvSpPr>
        <p:spPr bwMode="auto">
          <a:xfrm>
            <a:off x="4845050" y="6132513"/>
            <a:ext cx="240803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r>
              <a:rPr lang="pt-BR" altLang="pt-BR" sz="1400"/>
              <a:t>Confronto das teorias de</a:t>
            </a:r>
          </a:p>
          <a:p>
            <a:pPr eaLnBrk="1" hangingPunct="1"/>
            <a:r>
              <a:rPr lang="pt-BR" altLang="pt-BR" sz="1400"/>
              <a:t>        Taylor e Fayol</a:t>
            </a:r>
          </a:p>
        </p:txBody>
      </p:sp>
      <p:sp>
        <p:nvSpPr>
          <p:cNvPr id="99342" name="Line 14"/>
          <p:cNvSpPr>
            <a:spLocks noChangeShapeType="1"/>
          </p:cNvSpPr>
          <p:nvPr/>
        </p:nvSpPr>
        <p:spPr bwMode="auto">
          <a:xfrm>
            <a:off x="5013325" y="5470526"/>
            <a:ext cx="839788" cy="449263"/>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pt-BR"/>
          </a:p>
        </p:txBody>
      </p:sp>
      <p:sp>
        <p:nvSpPr>
          <p:cNvPr id="99343" name="Line 15"/>
          <p:cNvSpPr>
            <a:spLocks noChangeShapeType="1"/>
          </p:cNvSpPr>
          <p:nvPr/>
        </p:nvSpPr>
        <p:spPr bwMode="auto">
          <a:xfrm>
            <a:off x="8220075" y="1404938"/>
            <a:ext cx="1588" cy="385762"/>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pt-BR"/>
          </a:p>
        </p:txBody>
      </p:sp>
      <p:sp>
        <p:nvSpPr>
          <p:cNvPr id="99344" name="Line 16"/>
          <p:cNvSpPr>
            <a:spLocks noChangeShapeType="1"/>
          </p:cNvSpPr>
          <p:nvPr/>
        </p:nvSpPr>
        <p:spPr bwMode="auto">
          <a:xfrm>
            <a:off x="4149725" y="1495426"/>
            <a:ext cx="1588" cy="385763"/>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pt-BR"/>
          </a:p>
        </p:txBody>
      </p:sp>
      <p:sp>
        <p:nvSpPr>
          <p:cNvPr id="99345" name="Line 17"/>
          <p:cNvSpPr>
            <a:spLocks noChangeShapeType="1"/>
          </p:cNvSpPr>
          <p:nvPr/>
        </p:nvSpPr>
        <p:spPr bwMode="auto">
          <a:xfrm>
            <a:off x="4137025" y="2254251"/>
            <a:ext cx="1588" cy="385763"/>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pt-BR"/>
          </a:p>
        </p:txBody>
      </p:sp>
      <p:sp>
        <p:nvSpPr>
          <p:cNvPr id="99346" name="Line 18"/>
          <p:cNvSpPr>
            <a:spLocks noChangeShapeType="1"/>
          </p:cNvSpPr>
          <p:nvPr/>
        </p:nvSpPr>
        <p:spPr bwMode="auto">
          <a:xfrm>
            <a:off x="8205789" y="2228851"/>
            <a:ext cx="1587" cy="385763"/>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pt-BR"/>
          </a:p>
        </p:txBody>
      </p:sp>
      <p:sp>
        <p:nvSpPr>
          <p:cNvPr id="99347" name="Line 19"/>
          <p:cNvSpPr>
            <a:spLocks noChangeShapeType="1"/>
          </p:cNvSpPr>
          <p:nvPr/>
        </p:nvSpPr>
        <p:spPr bwMode="auto">
          <a:xfrm>
            <a:off x="4137025" y="3676651"/>
            <a:ext cx="1588" cy="385763"/>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pt-BR"/>
          </a:p>
        </p:txBody>
      </p:sp>
      <p:sp>
        <p:nvSpPr>
          <p:cNvPr id="99348" name="Line 20"/>
          <p:cNvSpPr>
            <a:spLocks noChangeShapeType="1"/>
          </p:cNvSpPr>
          <p:nvPr/>
        </p:nvSpPr>
        <p:spPr bwMode="auto">
          <a:xfrm>
            <a:off x="8205789" y="3676651"/>
            <a:ext cx="1587" cy="385763"/>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pt-BR"/>
          </a:p>
        </p:txBody>
      </p:sp>
      <p:sp>
        <p:nvSpPr>
          <p:cNvPr id="99349" name="Line 21"/>
          <p:cNvSpPr>
            <a:spLocks noChangeShapeType="1"/>
          </p:cNvSpPr>
          <p:nvPr/>
        </p:nvSpPr>
        <p:spPr bwMode="auto">
          <a:xfrm flipH="1">
            <a:off x="6699250" y="5573714"/>
            <a:ext cx="571500" cy="403225"/>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pt-BR"/>
          </a:p>
        </p:txBody>
      </p:sp>
      <p:sp>
        <p:nvSpPr>
          <p:cNvPr id="99350" name="Text Box 22"/>
          <p:cNvSpPr txBox="1">
            <a:spLocks noChangeArrowheads="1"/>
          </p:cNvSpPr>
          <p:nvPr/>
        </p:nvSpPr>
        <p:spPr bwMode="auto">
          <a:xfrm>
            <a:off x="2687638" y="325438"/>
            <a:ext cx="798036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r>
              <a:rPr lang="pt-BR" altLang="pt-BR">
                <a:solidFill>
                  <a:srgbClr val="FF9900"/>
                </a:solidFill>
              </a:rPr>
              <a:t>Figura 4.5. Confronto das Teorias: Taylor e Fayol.</a:t>
            </a:r>
          </a:p>
        </p:txBody>
      </p:sp>
    </p:spTree>
    <p:extLst>
      <p:ext uri="{BB962C8B-B14F-4D97-AF65-F5344CB8AC3E}">
        <p14:creationId xmlns:p14="http://schemas.microsoft.com/office/powerpoint/2010/main" val="312534518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44424FF-3084-9119-B28C-733B9BC59F16}"/>
            </a:ext>
          </a:extLst>
        </p:cNvPr>
        <p:cNvGrpSpPr/>
        <p:nvPr/>
      </p:nvGrpSpPr>
      <p:grpSpPr>
        <a:xfrm>
          <a:off x="0" y="0"/>
          <a:ext cx="0" cy="0"/>
          <a:chOff x="0" y="0"/>
          <a:chExt cx="0" cy="0"/>
        </a:xfrm>
      </p:grpSpPr>
      <p:sp>
        <p:nvSpPr>
          <p:cNvPr id="12" name="Título 1">
            <a:extLst>
              <a:ext uri="{FF2B5EF4-FFF2-40B4-BE49-F238E27FC236}">
                <a16:creationId xmlns:a16="http://schemas.microsoft.com/office/drawing/2014/main" id="{FC328191-E807-13A2-DE62-A23F4DC7B459}"/>
              </a:ext>
            </a:extLst>
          </p:cNvPr>
          <p:cNvSpPr txBox="1">
            <a:spLocks/>
          </p:cNvSpPr>
          <p:nvPr/>
        </p:nvSpPr>
        <p:spPr>
          <a:xfrm>
            <a:off x="565897" y="380196"/>
            <a:ext cx="6139185" cy="67049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75000"/>
              </a:lnSpc>
            </a:pPr>
            <a:r>
              <a:rPr lang="pt-BR" sz="4800" b="1" spc="-150" dirty="0">
                <a:solidFill>
                  <a:srgbClr val="00307C"/>
                </a:solidFill>
                <a:latin typeface="+mn-lt"/>
              </a:rPr>
              <a:t>Curso Qualifica</a:t>
            </a:r>
            <a:endParaRPr lang="pt-BR" sz="4800" b="1" spc="-150" dirty="0">
              <a:solidFill>
                <a:srgbClr val="00307C"/>
              </a:solidFill>
              <a:latin typeface="+mn-lt"/>
              <a:ea typeface="Roboto" panose="02000000000000000000" pitchFamily="2" charset="0"/>
            </a:endParaRPr>
          </a:p>
        </p:txBody>
      </p:sp>
      <p:sp>
        <p:nvSpPr>
          <p:cNvPr id="10" name="Pizza 13">
            <a:extLst>
              <a:ext uri="{FF2B5EF4-FFF2-40B4-BE49-F238E27FC236}">
                <a16:creationId xmlns:a16="http://schemas.microsoft.com/office/drawing/2014/main" id="{A9A6A127-B619-DBDF-FE23-D0DF47B99337}"/>
              </a:ext>
            </a:extLst>
          </p:cNvPr>
          <p:cNvSpPr/>
          <p:nvPr/>
        </p:nvSpPr>
        <p:spPr>
          <a:xfrm>
            <a:off x="197429" y="6428131"/>
            <a:ext cx="368468" cy="368468"/>
          </a:xfrm>
          <a:prstGeom prst="pie">
            <a:avLst>
              <a:gd name="adj1" fmla="val 16200192"/>
              <a:gd name="adj2" fmla="val 5399799"/>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pt-BR" dirty="0">
              <a:solidFill>
                <a:schemeClr val="tx1"/>
              </a:solidFill>
            </a:endParaRPr>
          </a:p>
        </p:txBody>
      </p:sp>
      <p:sp>
        <p:nvSpPr>
          <p:cNvPr id="13" name="Pizza 14">
            <a:extLst>
              <a:ext uri="{FF2B5EF4-FFF2-40B4-BE49-F238E27FC236}">
                <a16:creationId xmlns:a16="http://schemas.microsoft.com/office/drawing/2014/main" id="{91EE3533-D4B9-798A-0937-6DE67D428C01}"/>
              </a:ext>
            </a:extLst>
          </p:cNvPr>
          <p:cNvSpPr/>
          <p:nvPr/>
        </p:nvSpPr>
        <p:spPr>
          <a:xfrm>
            <a:off x="197429" y="6250570"/>
            <a:ext cx="368468" cy="368468"/>
          </a:xfrm>
          <a:prstGeom prst="pie">
            <a:avLst>
              <a:gd name="adj1" fmla="val 5395924"/>
              <a:gd name="adj2" fmla="val 16202197"/>
            </a:avLst>
          </a:prstGeom>
          <a:solidFill>
            <a:srgbClr val="00307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pt-BR" dirty="0">
              <a:solidFill>
                <a:schemeClr val="tx1"/>
              </a:solidFill>
            </a:endParaRPr>
          </a:p>
        </p:txBody>
      </p:sp>
      <p:sp>
        <p:nvSpPr>
          <p:cNvPr id="17" name="Retângulo 16">
            <a:extLst>
              <a:ext uri="{FF2B5EF4-FFF2-40B4-BE49-F238E27FC236}">
                <a16:creationId xmlns:a16="http://schemas.microsoft.com/office/drawing/2014/main" id="{71613F98-61A6-2FEE-6670-7633AA92C4EC}"/>
              </a:ext>
            </a:extLst>
          </p:cNvPr>
          <p:cNvSpPr/>
          <p:nvPr/>
        </p:nvSpPr>
        <p:spPr>
          <a:xfrm flipH="1">
            <a:off x="-6" y="6376143"/>
            <a:ext cx="12191999" cy="481857"/>
          </a:xfrm>
          <a:prstGeom prst="rect">
            <a:avLst/>
          </a:prstGeom>
          <a:solidFill>
            <a:srgbClr val="EAF6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8" name="Imagem 17" descr="Uma imagem contendo relógio, placar&#10;&#10;Descrição gerada automaticamente">
            <a:extLst>
              <a:ext uri="{FF2B5EF4-FFF2-40B4-BE49-F238E27FC236}">
                <a16:creationId xmlns:a16="http://schemas.microsoft.com/office/drawing/2014/main" id="{F04DEAD4-4A0E-CEC2-934B-30C644A70168}"/>
              </a:ext>
            </a:extLst>
          </p:cNvPr>
          <p:cNvPicPr>
            <a:picLocks noChangeAspect="1"/>
          </p:cNvPicPr>
          <p:nvPr/>
        </p:nvPicPr>
        <p:blipFill>
          <a:blip r:embed="rId2"/>
          <a:stretch>
            <a:fillRect/>
          </a:stretch>
        </p:blipFill>
        <p:spPr>
          <a:xfrm>
            <a:off x="763332" y="6523788"/>
            <a:ext cx="1104206" cy="152403"/>
          </a:xfrm>
          <a:prstGeom prst="rect">
            <a:avLst/>
          </a:prstGeom>
        </p:spPr>
      </p:pic>
      <p:pic>
        <p:nvPicPr>
          <p:cNvPr id="19" name="Imagem 18" descr="Placa azul com letras brancas em fundo preto&#10;&#10;Descrição gerada automaticamente">
            <a:extLst>
              <a:ext uri="{FF2B5EF4-FFF2-40B4-BE49-F238E27FC236}">
                <a16:creationId xmlns:a16="http://schemas.microsoft.com/office/drawing/2014/main" id="{C5CDCE5D-8571-9D81-3B9B-4A435E9C561C}"/>
              </a:ext>
            </a:extLst>
          </p:cNvPr>
          <p:cNvPicPr>
            <a:picLocks noChangeAspect="1"/>
          </p:cNvPicPr>
          <p:nvPr/>
        </p:nvPicPr>
        <p:blipFill>
          <a:blip r:embed="rId3"/>
          <a:stretch>
            <a:fillRect/>
          </a:stretch>
        </p:blipFill>
        <p:spPr>
          <a:xfrm>
            <a:off x="2043336" y="6523788"/>
            <a:ext cx="1104206" cy="177133"/>
          </a:xfrm>
          <a:prstGeom prst="rect">
            <a:avLst/>
          </a:prstGeom>
        </p:spPr>
      </p:pic>
      <p:sp>
        <p:nvSpPr>
          <p:cNvPr id="20" name="Pizza 12">
            <a:extLst>
              <a:ext uri="{FF2B5EF4-FFF2-40B4-BE49-F238E27FC236}">
                <a16:creationId xmlns:a16="http://schemas.microsoft.com/office/drawing/2014/main" id="{F4FC6F6E-6A1D-49C8-EC8E-72005050A7C9}"/>
              </a:ext>
            </a:extLst>
          </p:cNvPr>
          <p:cNvSpPr/>
          <p:nvPr/>
        </p:nvSpPr>
        <p:spPr>
          <a:xfrm>
            <a:off x="197429" y="6422023"/>
            <a:ext cx="368468" cy="368468"/>
          </a:xfrm>
          <a:prstGeom prst="pie">
            <a:avLst>
              <a:gd name="adj1" fmla="val 16200192"/>
              <a:gd name="adj2" fmla="val 5399799"/>
            </a:avLst>
          </a:prstGeom>
          <a:solidFill>
            <a:srgbClr val="5FE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pt-BR" dirty="0">
              <a:solidFill>
                <a:schemeClr val="tx1"/>
              </a:solidFill>
            </a:endParaRPr>
          </a:p>
        </p:txBody>
      </p:sp>
      <p:sp>
        <p:nvSpPr>
          <p:cNvPr id="21" name="Pizza 13">
            <a:extLst>
              <a:ext uri="{FF2B5EF4-FFF2-40B4-BE49-F238E27FC236}">
                <a16:creationId xmlns:a16="http://schemas.microsoft.com/office/drawing/2014/main" id="{EFCE076D-1140-1A0F-101B-791DFADE5925}"/>
              </a:ext>
            </a:extLst>
          </p:cNvPr>
          <p:cNvSpPr/>
          <p:nvPr/>
        </p:nvSpPr>
        <p:spPr>
          <a:xfrm>
            <a:off x="197429" y="6244462"/>
            <a:ext cx="368468" cy="368468"/>
          </a:xfrm>
          <a:prstGeom prst="pie">
            <a:avLst>
              <a:gd name="adj1" fmla="val 5395924"/>
              <a:gd name="adj2" fmla="val 16202197"/>
            </a:avLst>
          </a:prstGeom>
          <a:solidFill>
            <a:srgbClr val="00307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pt-BR" dirty="0">
              <a:solidFill>
                <a:schemeClr val="tx1"/>
              </a:solidFill>
            </a:endParaRPr>
          </a:p>
        </p:txBody>
      </p:sp>
      <p:sp>
        <p:nvSpPr>
          <p:cNvPr id="3" name="Título 1">
            <a:extLst>
              <a:ext uri="{FF2B5EF4-FFF2-40B4-BE49-F238E27FC236}">
                <a16:creationId xmlns:a16="http://schemas.microsoft.com/office/drawing/2014/main" id="{CC8A4AF5-9880-C661-A0CB-7C118A1B9064}"/>
              </a:ext>
            </a:extLst>
          </p:cNvPr>
          <p:cNvSpPr txBox="1">
            <a:spLocks/>
          </p:cNvSpPr>
          <p:nvPr/>
        </p:nvSpPr>
        <p:spPr>
          <a:xfrm>
            <a:off x="565897" y="961091"/>
            <a:ext cx="6139185" cy="67049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75000"/>
              </a:lnSpc>
            </a:pPr>
            <a:r>
              <a:rPr lang="pt-BR" sz="2800" b="1" i="1" spc="-150" dirty="0">
                <a:solidFill>
                  <a:srgbClr val="00B6ED"/>
                </a:solidFill>
                <a:latin typeface="+mn-lt"/>
              </a:rPr>
              <a:t>Logística</a:t>
            </a:r>
            <a:endParaRPr lang="pt-BR" sz="2800" b="1" i="1" spc="-150" dirty="0">
              <a:solidFill>
                <a:srgbClr val="00B6ED"/>
              </a:solidFill>
              <a:latin typeface="+mn-lt"/>
              <a:ea typeface="Roboto" panose="02000000000000000000" pitchFamily="2" charset="0"/>
            </a:endParaRPr>
          </a:p>
        </p:txBody>
      </p:sp>
      <p:sp>
        <p:nvSpPr>
          <p:cNvPr id="11" name="Retângulo 10"/>
          <p:cNvSpPr/>
          <p:nvPr/>
        </p:nvSpPr>
        <p:spPr>
          <a:xfrm>
            <a:off x="286272" y="2967335"/>
            <a:ext cx="11619464" cy="1569660"/>
          </a:xfrm>
          <a:prstGeom prst="rect">
            <a:avLst/>
          </a:prstGeom>
          <a:noFill/>
        </p:spPr>
        <p:txBody>
          <a:bodyPr wrap="none" lIns="91440" tIns="45720" rIns="91440" bIns="45720">
            <a:spAutoFit/>
          </a:bodyPr>
          <a:lstStyle/>
          <a:p>
            <a:pPr algn="ctr"/>
            <a:r>
              <a:rPr lang="pt-BR" sz="96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Logística Internacional</a:t>
            </a:r>
          </a:p>
        </p:txBody>
      </p:sp>
    </p:spTree>
    <p:extLst>
      <p:ext uri="{BB962C8B-B14F-4D97-AF65-F5344CB8AC3E}">
        <p14:creationId xmlns:p14="http://schemas.microsoft.com/office/powerpoint/2010/main" val="12168300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Espaço Reservado para Rodapé 1"/>
          <p:cNvSpPr>
            <a:spLocks noGrp="1"/>
          </p:cNvSpPr>
          <p:nvPr>
            <p:ph type="ftr" sz="quarter" idx="4294967295"/>
          </p:nvPr>
        </p:nvSpPr>
        <p:spPr>
          <a:xfrm>
            <a:off x="0" y="6356350"/>
            <a:ext cx="2895600" cy="365125"/>
          </a:xfrm>
        </p:spPr>
        <p:txBody>
          <a:bodyPr/>
          <a:lstStyle/>
          <a:p>
            <a:r>
              <a:rPr lang="pt-BR"/>
              <a:t>Prof. Johnny Souza</a:t>
            </a:r>
          </a:p>
        </p:txBody>
      </p:sp>
      <p:sp>
        <p:nvSpPr>
          <p:cNvPr id="6" name="Título 1"/>
          <p:cNvSpPr>
            <a:spLocks noGrp="1"/>
          </p:cNvSpPr>
          <p:nvPr>
            <p:ph type="title" idx="4294967295"/>
          </p:nvPr>
        </p:nvSpPr>
        <p:spPr>
          <a:xfrm>
            <a:off x="79513" y="466795"/>
            <a:ext cx="9144000" cy="1143000"/>
          </a:xfrm>
        </p:spPr>
        <p:txBody>
          <a:bodyPr/>
          <a:lstStyle/>
          <a:p>
            <a:pPr algn="ctr"/>
            <a:r>
              <a:rPr lang="pt-BR" b="1" dirty="0">
                <a:ln w="18000">
                  <a:solidFill>
                    <a:schemeClr val="bg2">
                      <a:lumMod val="90000"/>
                    </a:schemeClr>
                  </a:solidFill>
                  <a:prstDash val="solid"/>
                  <a:miter lim="800000"/>
                </a:ln>
                <a:solidFill>
                  <a:schemeClr val="bg2">
                    <a:lumMod val="50000"/>
                  </a:schemeClr>
                </a:solidFill>
                <a:effectLst>
                  <a:outerShdw blurRad="50800" dist="38100" dir="2700000" algn="tl" rotWithShape="0">
                    <a:prstClr val="black">
                      <a:alpha val="40000"/>
                    </a:prstClr>
                  </a:outerShdw>
                </a:effectLst>
                <a:latin typeface="Monotype Corsiva" pitchFamily="66" charset="0"/>
              </a:rPr>
              <a:t>Peter F. </a:t>
            </a:r>
            <a:r>
              <a:rPr lang="pt-BR" b="1" dirty="0" err="1">
                <a:ln w="18000">
                  <a:solidFill>
                    <a:schemeClr val="bg2">
                      <a:lumMod val="90000"/>
                    </a:schemeClr>
                  </a:solidFill>
                  <a:prstDash val="solid"/>
                  <a:miter lim="800000"/>
                </a:ln>
                <a:solidFill>
                  <a:schemeClr val="bg2">
                    <a:lumMod val="50000"/>
                  </a:schemeClr>
                </a:solidFill>
                <a:effectLst>
                  <a:outerShdw blurRad="50800" dist="38100" dir="2700000" algn="tl" rotWithShape="0">
                    <a:prstClr val="black">
                      <a:alpha val="40000"/>
                    </a:prstClr>
                  </a:outerShdw>
                </a:effectLst>
                <a:latin typeface="Monotype Corsiva" pitchFamily="66" charset="0"/>
              </a:rPr>
              <a:t>Drucker</a:t>
            </a:r>
            <a:r>
              <a:rPr lang="pt-BR" b="1" dirty="0">
                <a:ln w="18000">
                  <a:solidFill>
                    <a:schemeClr val="bg2">
                      <a:lumMod val="90000"/>
                    </a:schemeClr>
                  </a:solidFill>
                  <a:prstDash val="solid"/>
                  <a:miter lim="800000"/>
                </a:ln>
                <a:solidFill>
                  <a:schemeClr val="bg2">
                    <a:lumMod val="50000"/>
                  </a:schemeClr>
                </a:solidFill>
                <a:effectLst>
                  <a:outerShdw blurRad="50800" dist="38100" dir="2700000" algn="tl" rotWithShape="0">
                    <a:prstClr val="black">
                      <a:alpha val="40000"/>
                    </a:prstClr>
                  </a:outerShdw>
                </a:effectLst>
                <a:latin typeface="Monotype Corsiva" pitchFamily="66" charset="0"/>
              </a:rPr>
              <a:t> (1903)</a:t>
            </a:r>
          </a:p>
        </p:txBody>
      </p:sp>
      <p:sp>
        <p:nvSpPr>
          <p:cNvPr id="7" name="Espaço Reservado para Conteúdo 2"/>
          <p:cNvSpPr>
            <a:spLocks noGrp="1"/>
          </p:cNvSpPr>
          <p:nvPr>
            <p:ph idx="4294967295"/>
          </p:nvPr>
        </p:nvSpPr>
        <p:spPr>
          <a:xfrm>
            <a:off x="268356" y="2221051"/>
            <a:ext cx="7374835" cy="4070419"/>
          </a:xfrm>
        </p:spPr>
        <p:txBody>
          <a:bodyPr>
            <a:normAutofit/>
          </a:bodyPr>
          <a:lstStyle/>
          <a:p>
            <a:pPr algn="ctr">
              <a:buNone/>
            </a:pPr>
            <a:r>
              <a:rPr lang="pt-BR" dirty="0">
                <a:latin typeface="+mj-lt"/>
              </a:rPr>
              <a:t>   </a:t>
            </a:r>
            <a:r>
              <a:rPr lang="pt-BR" sz="4800" dirty="0">
                <a:latin typeface="+mj-lt"/>
              </a:rPr>
              <a:t>“Existirão dois tipos de executivos nos próximos anos: os que pensam globalmente e os que estarão desempregados”</a:t>
            </a:r>
          </a:p>
        </p:txBody>
      </p:sp>
      <p:pic>
        <p:nvPicPr>
          <p:cNvPr id="8" name="Imagem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82771" y="1974677"/>
            <a:ext cx="3294472" cy="4149080"/>
          </a:xfrm>
          <a:prstGeom prst="rect">
            <a:avLst/>
          </a:prstGeom>
        </p:spPr>
      </p:pic>
    </p:spTree>
    <p:extLst>
      <p:ext uri="{BB962C8B-B14F-4D97-AF65-F5344CB8AC3E}">
        <p14:creationId xmlns:p14="http://schemas.microsoft.com/office/powerpoint/2010/main" val="48661655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3796" name="Text Box 5"/>
          <p:cNvSpPr txBox="1">
            <a:spLocks noChangeArrowheads="1"/>
          </p:cNvSpPr>
          <p:nvPr/>
        </p:nvSpPr>
        <p:spPr bwMode="auto">
          <a:xfrm>
            <a:off x="3340100" y="415926"/>
            <a:ext cx="5289590" cy="461665"/>
          </a:xfrm>
          <a:prstGeom prst="rect">
            <a:avLst/>
          </a:prstGeom>
          <a:noFill/>
          <a:ln w="9525">
            <a:noFill/>
            <a:miter lim="800000"/>
            <a:headEnd/>
            <a:tailEnd/>
          </a:ln>
        </p:spPr>
        <p:txBody>
          <a:bodyPr wrap="none">
            <a:spAutoFit/>
          </a:bodyPr>
          <a:lstStyle/>
          <a:p>
            <a:r>
              <a:rPr lang="pt-BR" sz="2400" b="1"/>
              <a:t>Perfil Profissional  do Comércio Exterior.</a:t>
            </a:r>
          </a:p>
        </p:txBody>
      </p:sp>
      <p:sp>
        <p:nvSpPr>
          <p:cNvPr id="33797" name="Text Box 6"/>
          <p:cNvSpPr txBox="1">
            <a:spLocks noChangeArrowheads="1"/>
          </p:cNvSpPr>
          <p:nvPr/>
        </p:nvSpPr>
        <p:spPr bwMode="auto">
          <a:xfrm>
            <a:off x="377687" y="1047666"/>
            <a:ext cx="11509513" cy="6801862"/>
          </a:xfrm>
          <a:prstGeom prst="rect">
            <a:avLst/>
          </a:prstGeom>
          <a:noFill/>
          <a:ln w="9525">
            <a:noFill/>
            <a:miter lim="800000"/>
            <a:headEnd/>
            <a:tailEnd/>
          </a:ln>
        </p:spPr>
        <p:txBody>
          <a:bodyPr wrap="square">
            <a:spAutoFit/>
          </a:bodyPr>
          <a:lstStyle/>
          <a:p>
            <a:pPr>
              <a:buFont typeface="Wingdings" pitchFamily="2" charset="2"/>
              <a:buChar char="Ø"/>
            </a:pPr>
            <a:r>
              <a:rPr lang="pt-BR" sz="2000" b="1" dirty="0">
                <a:latin typeface="Arial" charset="0"/>
              </a:rPr>
              <a:t> </a:t>
            </a:r>
            <a:r>
              <a:rPr lang="pt-BR" sz="2800" b="1" dirty="0"/>
              <a:t>Graduação / Pós Graduação em Comércio Exterior, ou, Relações Internacionais;</a:t>
            </a:r>
          </a:p>
          <a:p>
            <a:pPr>
              <a:buFont typeface="Wingdings" pitchFamily="2" charset="2"/>
              <a:buChar char="Ø"/>
            </a:pPr>
            <a:endParaRPr lang="pt-BR" sz="2800" b="1" dirty="0"/>
          </a:p>
          <a:p>
            <a:pPr>
              <a:buFont typeface="Wingdings" pitchFamily="2" charset="2"/>
              <a:buChar char="Ø"/>
            </a:pPr>
            <a:r>
              <a:rPr lang="pt-BR" sz="2800" b="1" dirty="0"/>
              <a:t> Falar mais de um Idioma (preferencialmente Inglês);</a:t>
            </a:r>
          </a:p>
          <a:p>
            <a:pPr>
              <a:buFont typeface="Wingdings" pitchFamily="2" charset="2"/>
              <a:buChar char="Ø"/>
            </a:pPr>
            <a:endParaRPr lang="pt-BR" sz="2800" b="1" dirty="0"/>
          </a:p>
          <a:p>
            <a:pPr>
              <a:buFont typeface="Wingdings" pitchFamily="2" charset="2"/>
              <a:buChar char="Ø"/>
            </a:pPr>
            <a:r>
              <a:rPr lang="pt-BR" sz="2800" b="1" dirty="0"/>
              <a:t> Ter um “olhar” crítico e analista ao mercado na qual se opera; </a:t>
            </a:r>
          </a:p>
          <a:p>
            <a:pPr>
              <a:buFont typeface="Wingdings" pitchFamily="2" charset="2"/>
              <a:buChar char="Ø"/>
            </a:pPr>
            <a:endParaRPr lang="pt-BR" sz="2800" b="1" dirty="0"/>
          </a:p>
          <a:p>
            <a:pPr>
              <a:buFont typeface="Wingdings" pitchFamily="2" charset="2"/>
              <a:buChar char="Ø"/>
            </a:pPr>
            <a:r>
              <a:rPr lang="pt-BR" sz="2800" b="1" dirty="0"/>
              <a:t> Ser atencioso aos detalhes; </a:t>
            </a:r>
          </a:p>
          <a:p>
            <a:pPr>
              <a:buFont typeface="Wingdings" pitchFamily="2" charset="2"/>
              <a:buChar char="Ø"/>
            </a:pPr>
            <a:endParaRPr lang="pt-BR" sz="2800" b="1" dirty="0"/>
          </a:p>
          <a:p>
            <a:pPr>
              <a:buFont typeface="Wingdings" pitchFamily="2" charset="2"/>
              <a:buChar char="Ø"/>
            </a:pPr>
            <a:r>
              <a:rPr lang="pt-BR" sz="2800" b="1" dirty="0"/>
              <a:t> Ser comunicativo; </a:t>
            </a:r>
          </a:p>
          <a:p>
            <a:pPr>
              <a:buFont typeface="Wingdings" pitchFamily="2" charset="2"/>
              <a:buChar char="Ø"/>
            </a:pPr>
            <a:endParaRPr lang="pt-BR" sz="2800" b="1" dirty="0"/>
          </a:p>
          <a:p>
            <a:pPr>
              <a:buFont typeface="Wingdings" pitchFamily="2" charset="2"/>
              <a:buChar char="Ø"/>
            </a:pPr>
            <a:r>
              <a:rPr lang="pt-BR" sz="2800" b="1" dirty="0"/>
              <a:t> Ser dinâmico. </a:t>
            </a:r>
          </a:p>
          <a:p>
            <a:pPr>
              <a:buFont typeface="Wingdings" pitchFamily="2" charset="2"/>
              <a:buChar char="Ø"/>
            </a:pPr>
            <a:endParaRPr lang="pt-BR" sz="2000" dirty="0"/>
          </a:p>
          <a:p>
            <a:pPr>
              <a:buFont typeface="Wingdings" pitchFamily="2" charset="2"/>
              <a:buNone/>
            </a:pPr>
            <a:endParaRPr lang="pt-BR" sz="2000" dirty="0"/>
          </a:p>
          <a:p>
            <a:pPr>
              <a:buFont typeface="Wingdings" pitchFamily="2" charset="2"/>
              <a:buChar char="Ø"/>
            </a:pPr>
            <a:endParaRPr lang="pt-BR" sz="2000" dirty="0"/>
          </a:p>
          <a:p>
            <a:pPr>
              <a:buFont typeface="Wingdings" pitchFamily="2" charset="2"/>
              <a:buNone/>
            </a:pPr>
            <a:endParaRPr lang="pt-BR" sz="2000" dirty="0"/>
          </a:p>
          <a:p>
            <a:pPr>
              <a:buFont typeface="Wingdings" pitchFamily="2" charset="2"/>
              <a:buChar char="Ø"/>
            </a:pPr>
            <a:endParaRPr lang="pt-BR" sz="20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75917" y="4311860"/>
            <a:ext cx="2619375" cy="174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8603043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3797">
                                            <p:txEl>
                                              <p:pRg st="0" end="0"/>
                                            </p:txEl>
                                          </p:spTgt>
                                        </p:tgtEl>
                                        <p:attrNameLst>
                                          <p:attrName>style.visibility</p:attrName>
                                        </p:attrNameLst>
                                      </p:cBhvr>
                                      <p:to>
                                        <p:strVal val="visible"/>
                                      </p:to>
                                    </p:set>
                                    <p:anim calcmode="lin" valueType="num">
                                      <p:cBhvr>
                                        <p:cTn id="7" dur="1000" fill="hold"/>
                                        <p:tgtEl>
                                          <p:spTgt spid="33797">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33797">
                                            <p:txEl>
                                              <p:pRg st="0" end="0"/>
                                            </p:txEl>
                                          </p:spTgt>
                                        </p:tgtEl>
                                        <p:attrNameLst>
                                          <p:attrName>ppt_h</p:attrName>
                                        </p:attrNameLst>
                                      </p:cBhvr>
                                      <p:tavLst>
                                        <p:tav tm="0">
                                          <p:val>
                                            <p:fltVal val="0"/>
                                          </p:val>
                                        </p:tav>
                                        <p:tav tm="100000">
                                          <p:val>
                                            <p:strVal val="#ppt_h"/>
                                          </p:val>
                                        </p:tav>
                                      </p:tavLst>
                                    </p:anim>
                                    <p:animEffect transition="in" filter="fade">
                                      <p:cBhvr>
                                        <p:cTn id="9" dur="1000"/>
                                        <p:tgtEl>
                                          <p:spTgt spid="33797">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33797">
                                            <p:txEl>
                                              <p:pRg st="2" end="2"/>
                                            </p:txEl>
                                          </p:spTgt>
                                        </p:tgtEl>
                                        <p:attrNameLst>
                                          <p:attrName>style.visibility</p:attrName>
                                        </p:attrNameLst>
                                      </p:cBhvr>
                                      <p:to>
                                        <p:strVal val="visible"/>
                                      </p:to>
                                    </p:set>
                                    <p:anim calcmode="lin" valueType="num">
                                      <p:cBhvr>
                                        <p:cTn id="14" dur="1000" fill="hold"/>
                                        <p:tgtEl>
                                          <p:spTgt spid="33797">
                                            <p:txEl>
                                              <p:pRg st="2" end="2"/>
                                            </p:txEl>
                                          </p:spTgt>
                                        </p:tgtEl>
                                        <p:attrNameLst>
                                          <p:attrName>ppt_w</p:attrName>
                                        </p:attrNameLst>
                                      </p:cBhvr>
                                      <p:tavLst>
                                        <p:tav tm="0">
                                          <p:val>
                                            <p:fltVal val="0"/>
                                          </p:val>
                                        </p:tav>
                                        <p:tav tm="100000">
                                          <p:val>
                                            <p:strVal val="#ppt_w"/>
                                          </p:val>
                                        </p:tav>
                                      </p:tavLst>
                                    </p:anim>
                                    <p:anim calcmode="lin" valueType="num">
                                      <p:cBhvr>
                                        <p:cTn id="15" dur="1000" fill="hold"/>
                                        <p:tgtEl>
                                          <p:spTgt spid="33797">
                                            <p:txEl>
                                              <p:pRg st="2" end="2"/>
                                            </p:txEl>
                                          </p:spTgt>
                                        </p:tgtEl>
                                        <p:attrNameLst>
                                          <p:attrName>ppt_h</p:attrName>
                                        </p:attrNameLst>
                                      </p:cBhvr>
                                      <p:tavLst>
                                        <p:tav tm="0">
                                          <p:val>
                                            <p:fltVal val="0"/>
                                          </p:val>
                                        </p:tav>
                                        <p:tav tm="100000">
                                          <p:val>
                                            <p:strVal val="#ppt_h"/>
                                          </p:val>
                                        </p:tav>
                                      </p:tavLst>
                                    </p:anim>
                                    <p:animEffect transition="in" filter="fade">
                                      <p:cBhvr>
                                        <p:cTn id="16" dur="1000"/>
                                        <p:tgtEl>
                                          <p:spTgt spid="33797">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33797">
                                            <p:txEl>
                                              <p:pRg st="4" end="4"/>
                                            </p:txEl>
                                          </p:spTgt>
                                        </p:tgtEl>
                                        <p:attrNameLst>
                                          <p:attrName>style.visibility</p:attrName>
                                        </p:attrNameLst>
                                      </p:cBhvr>
                                      <p:to>
                                        <p:strVal val="visible"/>
                                      </p:to>
                                    </p:set>
                                    <p:anim calcmode="lin" valueType="num">
                                      <p:cBhvr>
                                        <p:cTn id="21" dur="1000" fill="hold"/>
                                        <p:tgtEl>
                                          <p:spTgt spid="33797">
                                            <p:txEl>
                                              <p:pRg st="4" end="4"/>
                                            </p:txEl>
                                          </p:spTgt>
                                        </p:tgtEl>
                                        <p:attrNameLst>
                                          <p:attrName>ppt_w</p:attrName>
                                        </p:attrNameLst>
                                      </p:cBhvr>
                                      <p:tavLst>
                                        <p:tav tm="0">
                                          <p:val>
                                            <p:fltVal val="0"/>
                                          </p:val>
                                        </p:tav>
                                        <p:tav tm="100000">
                                          <p:val>
                                            <p:strVal val="#ppt_w"/>
                                          </p:val>
                                        </p:tav>
                                      </p:tavLst>
                                    </p:anim>
                                    <p:anim calcmode="lin" valueType="num">
                                      <p:cBhvr>
                                        <p:cTn id="22" dur="1000" fill="hold"/>
                                        <p:tgtEl>
                                          <p:spTgt spid="33797">
                                            <p:txEl>
                                              <p:pRg st="4" end="4"/>
                                            </p:txEl>
                                          </p:spTgt>
                                        </p:tgtEl>
                                        <p:attrNameLst>
                                          <p:attrName>ppt_h</p:attrName>
                                        </p:attrNameLst>
                                      </p:cBhvr>
                                      <p:tavLst>
                                        <p:tav tm="0">
                                          <p:val>
                                            <p:fltVal val="0"/>
                                          </p:val>
                                        </p:tav>
                                        <p:tav tm="100000">
                                          <p:val>
                                            <p:strVal val="#ppt_h"/>
                                          </p:val>
                                        </p:tav>
                                      </p:tavLst>
                                    </p:anim>
                                    <p:animEffect transition="in" filter="fade">
                                      <p:cBhvr>
                                        <p:cTn id="23" dur="1000"/>
                                        <p:tgtEl>
                                          <p:spTgt spid="33797">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33797">
                                            <p:txEl>
                                              <p:pRg st="6" end="6"/>
                                            </p:txEl>
                                          </p:spTgt>
                                        </p:tgtEl>
                                        <p:attrNameLst>
                                          <p:attrName>style.visibility</p:attrName>
                                        </p:attrNameLst>
                                      </p:cBhvr>
                                      <p:to>
                                        <p:strVal val="visible"/>
                                      </p:to>
                                    </p:set>
                                    <p:anim calcmode="lin" valueType="num">
                                      <p:cBhvr>
                                        <p:cTn id="28" dur="1000" fill="hold"/>
                                        <p:tgtEl>
                                          <p:spTgt spid="33797">
                                            <p:txEl>
                                              <p:pRg st="6" end="6"/>
                                            </p:txEl>
                                          </p:spTgt>
                                        </p:tgtEl>
                                        <p:attrNameLst>
                                          <p:attrName>ppt_w</p:attrName>
                                        </p:attrNameLst>
                                      </p:cBhvr>
                                      <p:tavLst>
                                        <p:tav tm="0">
                                          <p:val>
                                            <p:fltVal val="0"/>
                                          </p:val>
                                        </p:tav>
                                        <p:tav tm="100000">
                                          <p:val>
                                            <p:strVal val="#ppt_w"/>
                                          </p:val>
                                        </p:tav>
                                      </p:tavLst>
                                    </p:anim>
                                    <p:anim calcmode="lin" valueType="num">
                                      <p:cBhvr>
                                        <p:cTn id="29" dur="1000" fill="hold"/>
                                        <p:tgtEl>
                                          <p:spTgt spid="33797">
                                            <p:txEl>
                                              <p:pRg st="6" end="6"/>
                                            </p:txEl>
                                          </p:spTgt>
                                        </p:tgtEl>
                                        <p:attrNameLst>
                                          <p:attrName>ppt_h</p:attrName>
                                        </p:attrNameLst>
                                      </p:cBhvr>
                                      <p:tavLst>
                                        <p:tav tm="0">
                                          <p:val>
                                            <p:fltVal val="0"/>
                                          </p:val>
                                        </p:tav>
                                        <p:tav tm="100000">
                                          <p:val>
                                            <p:strVal val="#ppt_h"/>
                                          </p:val>
                                        </p:tav>
                                      </p:tavLst>
                                    </p:anim>
                                    <p:animEffect transition="in" filter="fade">
                                      <p:cBhvr>
                                        <p:cTn id="30" dur="1000"/>
                                        <p:tgtEl>
                                          <p:spTgt spid="33797">
                                            <p:txEl>
                                              <p:pRg st="6" end="6"/>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33797">
                                            <p:txEl>
                                              <p:pRg st="8" end="8"/>
                                            </p:txEl>
                                          </p:spTgt>
                                        </p:tgtEl>
                                        <p:attrNameLst>
                                          <p:attrName>style.visibility</p:attrName>
                                        </p:attrNameLst>
                                      </p:cBhvr>
                                      <p:to>
                                        <p:strVal val="visible"/>
                                      </p:to>
                                    </p:set>
                                    <p:anim calcmode="lin" valueType="num">
                                      <p:cBhvr>
                                        <p:cTn id="35" dur="1000" fill="hold"/>
                                        <p:tgtEl>
                                          <p:spTgt spid="33797">
                                            <p:txEl>
                                              <p:pRg st="8" end="8"/>
                                            </p:txEl>
                                          </p:spTgt>
                                        </p:tgtEl>
                                        <p:attrNameLst>
                                          <p:attrName>ppt_w</p:attrName>
                                        </p:attrNameLst>
                                      </p:cBhvr>
                                      <p:tavLst>
                                        <p:tav tm="0">
                                          <p:val>
                                            <p:fltVal val="0"/>
                                          </p:val>
                                        </p:tav>
                                        <p:tav tm="100000">
                                          <p:val>
                                            <p:strVal val="#ppt_w"/>
                                          </p:val>
                                        </p:tav>
                                      </p:tavLst>
                                    </p:anim>
                                    <p:anim calcmode="lin" valueType="num">
                                      <p:cBhvr>
                                        <p:cTn id="36" dur="1000" fill="hold"/>
                                        <p:tgtEl>
                                          <p:spTgt spid="33797">
                                            <p:txEl>
                                              <p:pRg st="8" end="8"/>
                                            </p:txEl>
                                          </p:spTgt>
                                        </p:tgtEl>
                                        <p:attrNameLst>
                                          <p:attrName>ppt_h</p:attrName>
                                        </p:attrNameLst>
                                      </p:cBhvr>
                                      <p:tavLst>
                                        <p:tav tm="0">
                                          <p:val>
                                            <p:fltVal val="0"/>
                                          </p:val>
                                        </p:tav>
                                        <p:tav tm="100000">
                                          <p:val>
                                            <p:strVal val="#ppt_h"/>
                                          </p:val>
                                        </p:tav>
                                      </p:tavLst>
                                    </p:anim>
                                    <p:animEffect transition="in" filter="fade">
                                      <p:cBhvr>
                                        <p:cTn id="37" dur="1000"/>
                                        <p:tgtEl>
                                          <p:spTgt spid="33797">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nodeType="clickEffect">
                                  <p:stCondLst>
                                    <p:cond delay="0"/>
                                  </p:stCondLst>
                                  <p:childTnLst>
                                    <p:set>
                                      <p:cBhvr>
                                        <p:cTn id="41" dur="1" fill="hold">
                                          <p:stCondLst>
                                            <p:cond delay="0"/>
                                          </p:stCondLst>
                                        </p:cTn>
                                        <p:tgtEl>
                                          <p:spTgt spid="33797">
                                            <p:txEl>
                                              <p:pRg st="10" end="10"/>
                                            </p:txEl>
                                          </p:spTgt>
                                        </p:tgtEl>
                                        <p:attrNameLst>
                                          <p:attrName>style.visibility</p:attrName>
                                        </p:attrNameLst>
                                      </p:cBhvr>
                                      <p:to>
                                        <p:strVal val="visible"/>
                                      </p:to>
                                    </p:set>
                                    <p:anim calcmode="lin" valueType="num">
                                      <p:cBhvr>
                                        <p:cTn id="42" dur="1000" fill="hold"/>
                                        <p:tgtEl>
                                          <p:spTgt spid="33797">
                                            <p:txEl>
                                              <p:pRg st="10" end="10"/>
                                            </p:txEl>
                                          </p:spTgt>
                                        </p:tgtEl>
                                        <p:attrNameLst>
                                          <p:attrName>ppt_w</p:attrName>
                                        </p:attrNameLst>
                                      </p:cBhvr>
                                      <p:tavLst>
                                        <p:tav tm="0">
                                          <p:val>
                                            <p:fltVal val="0"/>
                                          </p:val>
                                        </p:tav>
                                        <p:tav tm="100000">
                                          <p:val>
                                            <p:strVal val="#ppt_w"/>
                                          </p:val>
                                        </p:tav>
                                      </p:tavLst>
                                    </p:anim>
                                    <p:anim calcmode="lin" valueType="num">
                                      <p:cBhvr>
                                        <p:cTn id="43" dur="1000" fill="hold"/>
                                        <p:tgtEl>
                                          <p:spTgt spid="33797">
                                            <p:txEl>
                                              <p:pRg st="10" end="10"/>
                                            </p:txEl>
                                          </p:spTgt>
                                        </p:tgtEl>
                                        <p:attrNameLst>
                                          <p:attrName>ppt_h</p:attrName>
                                        </p:attrNameLst>
                                      </p:cBhvr>
                                      <p:tavLst>
                                        <p:tav tm="0">
                                          <p:val>
                                            <p:fltVal val="0"/>
                                          </p:val>
                                        </p:tav>
                                        <p:tav tm="100000">
                                          <p:val>
                                            <p:strVal val="#ppt_h"/>
                                          </p:val>
                                        </p:tav>
                                      </p:tavLst>
                                    </p:anim>
                                    <p:animEffect transition="in" filter="fade">
                                      <p:cBhvr>
                                        <p:cTn id="44" dur="1000"/>
                                        <p:tgtEl>
                                          <p:spTgt spid="3379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820" name="Text Box 5"/>
          <p:cNvSpPr txBox="1">
            <a:spLocks noChangeArrowheads="1"/>
          </p:cNvSpPr>
          <p:nvPr/>
        </p:nvSpPr>
        <p:spPr bwMode="auto">
          <a:xfrm>
            <a:off x="3340100" y="415926"/>
            <a:ext cx="5289590" cy="461665"/>
          </a:xfrm>
          <a:prstGeom prst="rect">
            <a:avLst/>
          </a:prstGeom>
          <a:noFill/>
          <a:ln w="9525">
            <a:noFill/>
            <a:miter lim="800000"/>
            <a:headEnd/>
            <a:tailEnd/>
          </a:ln>
        </p:spPr>
        <p:txBody>
          <a:bodyPr wrap="none">
            <a:spAutoFit/>
          </a:bodyPr>
          <a:lstStyle/>
          <a:p>
            <a:r>
              <a:rPr lang="pt-BR" sz="2400" b="1"/>
              <a:t>Perfil Profissional  do Comércio Exterior.</a:t>
            </a:r>
          </a:p>
        </p:txBody>
      </p:sp>
      <p:sp>
        <p:nvSpPr>
          <p:cNvPr id="34821" name="Text Box 6"/>
          <p:cNvSpPr txBox="1">
            <a:spLocks noChangeArrowheads="1"/>
          </p:cNvSpPr>
          <p:nvPr/>
        </p:nvSpPr>
        <p:spPr bwMode="auto">
          <a:xfrm>
            <a:off x="262147" y="1091787"/>
            <a:ext cx="9040879" cy="6432530"/>
          </a:xfrm>
          <a:prstGeom prst="rect">
            <a:avLst/>
          </a:prstGeom>
          <a:noFill/>
          <a:ln w="9525">
            <a:noFill/>
            <a:miter lim="800000"/>
            <a:headEnd/>
            <a:tailEnd/>
          </a:ln>
        </p:spPr>
        <p:txBody>
          <a:bodyPr wrap="square">
            <a:spAutoFit/>
          </a:bodyPr>
          <a:lstStyle/>
          <a:p>
            <a:r>
              <a:rPr lang="pt-BR" sz="3200" dirty="0"/>
              <a:t>A propósito, é bom lembrar o que alguém já disse:</a:t>
            </a:r>
          </a:p>
          <a:p>
            <a:endParaRPr lang="pt-BR" sz="3200" dirty="0"/>
          </a:p>
          <a:p>
            <a:r>
              <a:rPr lang="pt-BR" sz="3200" dirty="0"/>
              <a:t>• no comércio exterior não há lugar para amadorismo: ou se é um profissional ou não se faz comércio exterior; e,</a:t>
            </a:r>
          </a:p>
          <a:p>
            <a:r>
              <a:rPr lang="pt-BR" sz="3200" dirty="0"/>
              <a:t>• no comércio exterior as decisões devem ser tomadas com segurança absoluta: eu acho que…, pensei que fosse…, deve ser assim,… entre outras, são expressões que devem ser banidas do vocabulário do profissional da área. </a:t>
            </a:r>
          </a:p>
          <a:p>
            <a:pPr>
              <a:buFont typeface="Wingdings" pitchFamily="2" charset="2"/>
              <a:buNone/>
            </a:pPr>
            <a:endParaRPr lang="pt-BR" sz="3200" dirty="0"/>
          </a:p>
          <a:p>
            <a:pPr>
              <a:buFont typeface="Wingdings" pitchFamily="2" charset="2"/>
              <a:buChar char="Ø"/>
            </a:pPr>
            <a:endParaRPr lang="pt-BR" sz="2000" dirty="0"/>
          </a:p>
          <a:p>
            <a:pPr>
              <a:buFont typeface="Wingdings" pitchFamily="2" charset="2"/>
              <a:buNone/>
            </a:pPr>
            <a:endParaRPr lang="pt-BR" sz="2000" dirty="0"/>
          </a:p>
          <a:p>
            <a:pPr>
              <a:buFont typeface="Wingdings" pitchFamily="2" charset="2"/>
              <a:buChar char="Ø"/>
            </a:pPr>
            <a:endParaRPr lang="pt-BR" sz="2000"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34940" y="4566624"/>
            <a:ext cx="2031216" cy="13516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4917588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Espaço Reservado para Conteúdo 5"/>
          <p:cNvSpPr>
            <a:spLocks noGrp="1"/>
          </p:cNvSpPr>
          <p:nvPr>
            <p:ph idx="4294967295"/>
          </p:nvPr>
        </p:nvSpPr>
        <p:spPr>
          <a:xfrm>
            <a:off x="0" y="2603500"/>
            <a:ext cx="12095922" cy="3844925"/>
          </a:xfrm>
        </p:spPr>
        <p:txBody>
          <a:bodyPr>
            <a:normAutofit/>
          </a:bodyPr>
          <a:lstStyle/>
          <a:p>
            <a:pPr marL="0" indent="0">
              <a:buNone/>
            </a:pPr>
            <a:r>
              <a:rPr lang="pt-BR" sz="3200" b="1" dirty="0"/>
              <a:t>“</a:t>
            </a:r>
            <a:r>
              <a:rPr lang="pt-BR" sz="3200" dirty="0"/>
              <a:t>É definido como o conjunto de operações realizadas entre países onde há intercâmbio de bens, serviços ou movimentações de capitais.  Este comércio é regido por regras e normas, resultantes de acordos  negociados, em órgãos internacionais  OMC (Organização Mundial do Comércio), CCI (Câmara de Comércio Internacional).”</a:t>
            </a:r>
            <a:endParaRPr lang="pt-BR" sz="3200" b="1" dirty="0"/>
          </a:p>
          <a:p>
            <a:pPr marL="0" indent="0" algn="r">
              <a:buNone/>
            </a:pPr>
            <a:r>
              <a:rPr lang="pt-BR" sz="2400" b="1" dirty="0"/>
              <a:t>(LOPEZ E GAMA, 2010) </a:t>
            </a:r>
          </a:p>
          <a:p>
            <a:pPr marL="0" indent="0">
              <a:buNone/>
            </a:pPr>
            <a:endParaRPr lang="pt-BR" b="1" dirty="0"/>
          </a:p>
        </p:txBody>
      </p:sp>
      <p:sp>
        <p:nvSpPr>
          <p:cNvPr id="8" name="CaixaDeTexto 9"/>
          <p:cNvSpPr txBox="1">
            <a:spLocks noChangeArrowheads="1"/>
          </p:cNvSpPr>
          <p:nvPr/>
        </p:nvSpPr>
        <p:spPr bwMode="auto">
          <a:xfrm>
            <a:off x="3431704" y="332657"/>
            <a:ext cx="6984776" cy="1384995"/>
          </a:xfrm>
          <a:prstGeom prst="rect">
            <a:avLst/>
          </a:prstGeom>
          <a:noFill/>
          <a:ln w="9525">
            <a:noFill/>
            <a:miter lim="800000"/>
            <a:headEnd/>
            <a:tailEnd/>
          </a:ln>
        </p:spPr>
        <p:txBody>
          <a:bodyPr wrap="square">
            <a:spAutoFit/>
          </a:bodyPr>
          <a:lstStyle/>
          <a:p>
            <a:r>
              <a:rPr lang="pt-BR" sz="2800" b="1" i="1" dirty="0">
                <a:solidFill>
                  <a:prstClr val="black"/>
                </a:solidFill>
                <a:latin typeface="Arial" charset="0"/>
                <a:cs typeface="Times New Roman" pitchFamily="18" charset="0"/>
              </a:rPr>
              <a:t>Definição de Comércio Internacional</a:t>
            </a:r>
          </a:p>
          <a:p>
            <a:r>
              <a:rPr lang="pt-BR" sz="2800" b="1" i="1" dirty="0" err="1">
                <a:solidFill>
                  <a:prstClr val="black"/>
                </a:solidFill>
                <a:latin typeface="Arial" charset="0"/>
                <a:cs typeface="Times New Roman" pitchFamily="18" charset="0"/>
              </a:rPr>
              <a:t>Definition</a:t>
            </a:r>
            <a:r>
              <a:rPr lang="pt-BR" sz="2800" b="1" i="1" dirty="0">
                <a:solidFill>
                  <a:prstClr val="black"/>
                </a:solidFill>
                <a:latin typeface="Arial" charset="0"/>
                <a:cs typeface="Times New Roman" pitchFamily="18" charset="0"/>
              </a:rPr>
              <a:t> </a:t>
            </a:r>
            <a:r>
              <a:rPr lang="pt-BR" sz="2800" b="1" i="1" dirty="0" err="1">
                <a:solidFill>
                  <a:prstClr val="black"/>
                </a:solidFill>
                <a:latin typeface="Arial" charset="0"/>
                <a:cs typeface="Times New Roman" pitchFamily="18" charset="0"/>
              </a:rPr>
              <a:t>of</a:t>
            </a:r>
            <a:r>
              <a:rPr lang="pt-BR" sz="2800" b="1" i="1" dirty="0">
                <a:solidFill>
                  <a:prstClr val="black"/>
                </a:solidFill>
                <a:latin typeface="Arial" charset="0"/>
                <a:cs typeface="Times New Roman" pitchFamily="18" charset="0"/>
              </a:rPr>
              <a:t> </a:t>
            </a:r>
            <a:r>
              <a:rPr lang="pt-BR" sz="2800" b="1" i="1" dirty="0" err="1">
                <a:solidFill>
                  <a:prstClr val="black"/>
                </a:solidFill>
                <a:latin typeface="Arial" charset="0"/>
                <a:cs typeface="Times New Roman" pitchFamily="18" charset="0"/>
              </a:rPr>
              <a:t>international</a:t>
            </a:r>
            <a:r>
              <a:rPr lang="pt-BR" sz="2800" b="1" i="1" dirty="0">
                <a:solidFill>
                  <a:prstClr val="black"/>
                </a:solidFill>
                <a:latin typeface="Arial" charset="0"/>
                <a:cs typeface="Times New Roman" pitchFamily="18" charset="0"/>
              </a:rPr>
              <a:t> trade</a:t>
            </a:r>
          </a:p>
          <a:p>
            <a:endParaRPr lang="pt-BR" sz="2800" b="1" i="1" dirty="0">
              <a:solidFill>
                <a:prstClr val="black"/>
              </a:solidFill>
              <a:latin typeface="Arial" charset="0"/>
              <a:cs typeface="Times New Roman" pitchFamily="18" charset="0"/>
            </a:endParaRPr>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2458" y="789249"/>
            <a:ext cx="1593873" cy="1406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5268760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Espaço Reservado para Conteúdo 5"/>
          <p:cNvSpPr>
            <a:spLocks noGrp="1"/>
          </p:cNvSpPr>
          <p:nvPr>
            <p:ph idx="4294967295"/>
          </p:nvPr>
        </p:nvSpPr>
        <p:spPr>
          <a:xfrm>
            <a:off x="485775" y="1290638"/>
            <a:ext cx="11706225" cy="4351337"/>
          </a:xfrm>
        </p:spPr>
        <p:txBody>
          <a:bodyPr>
            <a:normAutofit/>
          </a:bodyPr>
          <a:lstStyle/>
          <a:p>
            <a:r>
              <a:rPr lang="pt-BR" sz="2400" b="1" dirty="0"/>
              <a:t>1808-1820</a:t>
            </a:r>
            <a:br>
              <a:rPr lang="pt-BR" sz="2400" b="1" dirty="0"/>
            </a:br>
            <a:r>
              <a:rPr lang="pt-BR" sz="2400" dirty="0"/>
              <a:t>A corte portuguesa se estabeleceu no Brasil, em 1808. Em 28 de janeiro daquele ano, foi publicada a Carta Régia de Abertura dos Portos brasileiros às Nações Amigas. Com isso, o Brasil passou a exercer autonomia inédita sobre seu próprio comércio exterior. </a:t>
            </a:r>
          </a:p>
          <a:p>
            <a:r>
              <a:rPr lang="pt-BR" sz="2400" b="1" dirty="0"/>
              <a:t>1831-1840</a:t>
            </a:r>
            <a:br>
              <a:rPr lang="pt-BR" sz="2400" b="1" dirty="0"/>
            </a:br>
            <a:r>
              <a:rPr lang="pt-BR" sz="2400" dirty="0"/>
              <a:t>A terceira década do século XIX foi marcada, no Brasil, pelo aumento da demanda mundial pela borracha produzida na região amazônica. Entretanto, a balança comercial registra sucessivos déficits. Nesta década, o café começou a se destacar na pauta das exportações brasileiras.</a:t>
            </a:r>
          </a:p>
          <a:p>
            <a:endParaRPr lang="pt-BR" sz="2400" dirty="0"/>
          </a:p>
          <a:p>
            <a:endParaRPr lang="pt-BR" sz="2400" b="1" dirty="0"/>
          </a:p>
          <a:p>
            <a:pPr marL="0" indent="0">
              <a:buNone/>
            </a:pPr>
            <a:endParaRPr lang="pt-BR" sz="2400" b="1" dirty="0"/>
          </a:p>
        </p:txBody>
      </p:sp>
      <p:sp>
        <p:nvSpPr>
          <p:cNvPr id="8" name="CaixaDeTexto 9"/>
          <p:cNvSpPr txBox="1">
            <a:spLocks noChangeArrowheads="1"/>
          </p:cNvSpPr>
          <p:nvPr/>
        </p:nvSpPr>
        <p:spPr bwMode="auto">
          <a:xfrm>
            <a:off x="3431704" y="332657"/>
            <a:ext cx="6984776" cy="584775"/>
          </a:xfrm>
          <a:prstGeom prst="rect">
            <a:avLst/>
          </a:prstGeom>
          <a:noFill/>
          <a:ln w="9525">
            <a:noFill/>
            <a:miter lim="800000"/>
            <a:headEnd/>
            <a:tailEnd/>
          </a:ln>
        </p:spPr>
        <p:txBody>
          <a:bodyPr wrap="square">
            <a:spAutoFit/>
          </a:bodyPr>
          <a:lstStyle/>
          <a:p>
            <a:r>
              <a:rPr lang="pt-BR" sz="3200" b="1" dirty="0">
                <a:solidFill>
                  <a:prstClr val="black"/>
                </a:solidFill>
                <a:latin typeface="Arial" charset="0"/>
                <a:cs typeface="Times New Roman" pitchFamily="18" charset="0"/>
              </a:rPr>
              <a:t>Introdução ao Comércio Exterior      </a:t>
            </a:r>
          </a:p>
        </p:txBody>
      </p:sp>
    </p:spTree>
    <p:extLst>
      <p:ext uri="{BB962C8B-B14F-4D97-AF65-F5344CB8AC3E}">
        <p14:creationId xmlns:p14="http://schemas.microsoft.com/office/powerpoint/2010/main" val="1951174762"/>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Espaço Reservado para Conteúdo 5"/>
          <p:cNvSpPr>
            <a:spLocks noGrp="1"/>
          </p:cNvSpPr>
          <p:nvPr>
            <p:ph idx="4294967295"/>
          </p:nvPr>
        </p:nvSpPr>
        <p:spPr>
          <a:xfrm>
            <a:off x="0" y="1125538"/>
            <a:ext cx="8229600" cy="4525962"/>
          </a:xfrm>
        </p:spPr>
        <p:txBody>
          <a:bodyPr>
            <a:noAutofit/>
          </a:bodyPr>
          <a:lstStyle/>
          <a:p>
            <a:r>
              <a:rPr lang="pt-BR" sz="2000" b="1" dirty="0"/>
              <a:t>1891-1900 (início da Republica Brasileira, ou, Republica Velha)</a:t>
            </a:r>
            <a:br>
              <a:rPr lang="pt-BR" sz="2400" b="1" dirty="0"/>
            </a:br>
            <a:r>
              <a:rPr lang="pt-BR" sz="2400" dirty="0"/>
              <a:t>O comércio exterior continua dependente do café, que constituía o setor mais dinâmico da economia e responde por mais de 60% das exportações brasileiras. Na região Amazônica intensificou-se a exploração da borracha, valorizada pela nascente indústria automobilística nos Estados Unidos.</a:t>
            </a:r>
          </a:p>
          <a:p>
            <a:endParaRPr lang="pt-BR" sz="2400" b="1" dirty="0"/>
          </a:p>
          <a:p>
            <a:pPr marL="0" indent="0">
              <a:buNone/>
            </a:pPr>
            <a:endParaRPr lang="pt-BR" sz="2400" b="1" dirty="0"/>
          </a:p>
        </p:txBody>
      </p:sp>
      <p:sp>
        <p:nvSpPr>
          <p:cNvPr id="8" name="CaixaDeTexto 9"/>
          <p:cNvSpPr txBox="1">
            <a:spLocks noChangeArrowheads="1"/>
          </p:cNvSpPr>
          <p:nvPr/>
        </p:nvSpPr>
        <p:spPr bwMode="auto">
          <a:xfrm>
            <a:off x="3431704" y="332657"/>
            <a:ext cx="6984776" cy="584775"/>
          </a:xfrm>
          <a:prstGeom prst="rect">
            <a:avLst/>
          </a:prstGeom>
          <a:noFill/>
          <a:ln w="9525">
            <a:noFill/>
            <a:miter lim="800000"/>
            <a:headEnd/>
            <a:tailEnd/>
          </a:ln>
        </p:spPr>
        <p:txBody>
          <a:bodyPr wrap="square">
            <a:spAutoFit/>
          </a:bodyPr>
          <a:lstStyle/>
          <a:p>
            <a:r>
              <a:rPr lang="pt-BR" sz="3200" b="1" dirty="0">
                <a:solidFill>
                  <a:prstClr val="black"/>
                </a:solidFill>
                <a:latin typeface="Arial" charset="0"/>
                <a:cs typeface="Times New Roman" pitchFamily="18" charset="0"/>
              </a:rPr>
              <a:t>Introdução ao Comércio Exterior      </a:t>
            </a:r>
          </a:p>
        </p:txBody>
      </p:sp>
    </p:spTree>
    <p:extLst>
      <p:ext uri="{BB962C8B-B14F-4D97-AF65-F5344CB8AC3E}">
        <p14:creationId xmlns:p14="http://schemas.microsoft.com/office/powerpoint/2010/main" val="172267879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Espaço Reservado para Conteúdo 5"/>
          <p:cNvSpPr>
            <a:spLocks noGrp="1"/>
          </p:cNvSpPr>
          <p:nvPr>
            <p:ph idx="4294967295"/>
          </p:nvPr>
        </p:nvSpPr>
        <p:spPr>
          <a:xfrm>
            <a:off x="485775" y="1290638"/>
            <a:ext cx="11706225" cy="4351337"/>
          </a:xfrm>
        </p:spPr>
        <p:txBody>
          <a:bodyPr>
            <a:normAutofit/>
          </a:bodyPr>
          <a:lstStyle/>
          <a:p>
            <a:r>
              <a:rPr lang="pt-BR" sz="2400" b="1" dirty="0"/>
              <a:t>1981-1990</a:t>
            </a:r>
            <a:br>
              <a:rPr lang="pt-BR" sz="2400" b="1" dirty="0"/>
            </a:br>
            <a:r>
              <a:rPr lang="pt-BR" sz="2400" dirty="0"/>
              <a:t>Brasil e Argentina assinaram a Ata de Buenos Aires, que fixou a data de 31 de dezembro de 1994 para início das atividades do Mercado Comum do Sul (Mercosul) e, no âmbito da  Associação Latino-americana de Integração (Aladi), foi firmado o Acordo de Complementação Econômica N.º 14, que consolidou os protocolos de natureza comercial e propôs uma redução tarifária a partir de 1990. </a:t>
            </a:r>
          </a:p>
          <a:p>
            <a:endParaRPr lang="pt-BR" b="1" dirty="0"/>
          </a:p>
          <a:p>
            <a:pPr marL="0" indent="0">
              <a:buNone/>
            </a:pPr>
            <a:endParaRPr lang="pt-BR" b="1" dirty="0"/>
          </a:p>
        </p:txBody>
      </p:sp>
      <p:sp>
        <p:nvSpPr>
          <p:cNvPr id="8" name="CaixaDeTexto 9"/>
          <p:cNvSpPr txBox="1">
            <a:spLocks noChangeArrowheads="1"/>
          </p:cNvSpPr>
          <p:nvPr/>
        </p:nvSpPr>
        <p:spPr bwMode="auto">
          <a:xfrm>
            <a:off x="3431704" y="332657"/>
            <a:ext cx="6984776" cy="584775"/>
          </a:xfrm>
          <a:prstGeom prst="rect">
            <a:avLst/>
          </a:prstGeom>
          <a:noFill/>
          <a:ln w="9525">
            <a:noFill/>
            <a:miter lim="800000"/>
            <a:headEnd/>
            <a:tailEnd/>
          </a:ln>
        </p:spPr>
        <p:txBody>
          <a:bodyPr wrap="square">
            <a:spAutoFit/>
          </a:bodyPr>
          <a:lstStyle/>
          <a:p>
            <a:r>
              <a:rPr lang="pt-BR" sz="3200" b="1" dirty="0">
                <a:solidFill>
                  <a:prstClr val="black"/>
                </a:solidFill>
                <a:latin typeface="Arial" charset="0"/>
                <a:cs typeface="Times New Roman" pitchFamily="18" charset="0"/>
              </a:rPr>
              <a:t>Introdução ao Comércio Exterior      </a:t>
            </a:r>
          </a:p>
        </p:txBody>
      </p:sp>
    </p:spTree>
    <p:extLst>
      <p:ext uri="{BB962C8B-B14F-4D97-AF65-F5344CB8AC3E}">
        <p14:creationId xmlns:p14="http://schemas.microsoft.com/office/powerpoint/2010/main" val="178850299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Espaço Reservado para Conteúdo 5"/>
          <p:cNvSpPr>
            <a:spLocks noGrp="1"/>
          </p:cNvSpPr>
          <p:nvPr>
            <p:ph idx="4294967295"/>
          </p:nvPr>
        </p:nvSpPr>
        <p:spPr>
          <a:xfrm>
            <a:off x="485775" y="1290638"/>
            <a:ext cx="11706225" cy="4351337"/>
          </a:xfrm>
        </p:spPr>
        <p:txBody>
          <a:bodyPr>
            <a:normAutofit/>
          </a:bodyPr>
          <a:lstStyle/>
          <a:p>
            <a:endParaRPr lang="pt-BR" b="1" dirty="0"/>
          </a:p>
          <a:p>
            <a:pPr marL="0" indent="0">
              <a:buNone/>
            </a:pPr>
            <a:endParaRPr lang="pt-BR" b="1" dirty="0"/>
          </a:p>
        </p:txBody>
      </p:sp>
      <p:sp>
        <p:nvSpPr>
          <p:cNvPr id="8" name="CaixaDeTexto 9"/>
          <p:cNvSpPr txBox="1">
            <a:spLocks noChangeArrowheads="1"/>
          </p:cNvSpPr>
          <p:nvPr/>
        </p:nvSpPr>
        <p:spPr bwMode="auto">
          <a:xfrm>
            <a:off x="3431704" y="332656"/>
            <a:ext cx="6984776" cy="1569660"/>
          </a:xfrm>
          <a:prstGeom prst="rect">
            <a:avLst/>
          </a:prstGeom>
          <a:noFill/>
          <a:ln w="9525">
            <a:noFill/>
            <a:miter lim="800000"/>
            <a:headEnd/>
            <a:tailEnd/>
          </a:ln>
        </p:spPr>
        <p:txBody>
          <a:bodyPr wrap="square">
            <a:spAutoFit/>
          </a:bodyPr>
          <a:lstStyle/>
          <a:p>
            <a:r>
              <a:rPr lang="pt-BR" sz="3200" b="1" dirty="0">
                <a:solidFill>
                  <a:prstClr val="black"/>
                </a:solidFill>
                <a:latin typeface="Arial" charset="0"/>
                <a:cs typeface="Times New Roman" pitchFamily="18" charset="0"/>
              </a:rPr>
              <a:t>Conceitos básicos de economia.</a:t>
            </a:r>
          </a:p>
          <a:p>
            <a:endParaRPr lang="pt-BR" sz="3200" b="1" dirty="0">
              <a:solidFill>
                <a:prstClr val="black"/>
              </a:solidFill>
              <a:latin typeface="Arial" charset="0"/>
              <a:cs typeface="Times New Roman" pitchFamily="18" charset="0"/>
            </a:endParaRPr>
          </a:p>
          <a:p>
            <a:r>
              <a:rPr lang="pt-BR" sz="3200" b="1" dirty="0">
                <a:solidFill>
                  <a:prstClr val="black"/>
                </a:solidFill>
                <a:latin typeface="Arial" charset="0"/>
                <a:cs typeface="Times New Roman" pitchFamily="18" charset="0"/>
              </a:rPr>
              <a:t>                  Mercado </a:t>
            </a:r>
          </a:p>
        </p:txBody>
      </p:sp>
      <p:sp>
        <p:nvSpPr>
          <p:cNvPr id="7" name="CaixaDeTexto 6"/>
          <p:cNvSpPr txBox="1"/>
          <p:nvPr/>
        </p:nvSpPr>
        <p:spPr>
          <a:xfrm>
            <a:off x="1736513" y="1937844"/>
            <a:ext cx="8712968" cy="2554545"/>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pt-BR" sz="2000" dirty="0">
                <a:latin typeface="Verdana" pitchFamily="34" charset="0"/>
                <a:ea typeface="Verdana" pitchFamily="34" charset="0"/>
                <a:cs typeface="Verdana" pitchFamily="34" charset="0"/>
              </a:rPr>
              <a:t>“Mercado é o mecanismo de troca entre compradores e vendedores de bens e serviços. A demanda é determinada pelos compradores e a oferta, pelos vendedores. O mercado é um conceito </a:t>
            </a:r>
            <a:r>
              <a:rPr lang="pt-BR" sz="2000" u="sng" dirty="0">
                <a:solidFill>
                  <a:srgbClr val="0070C0"/>
                </a:solidFill>
                <a:latin typeface="Verdana" pitchFamily="34" charset="0"/>
                <a:ea typeface="Verdana" pitchFamily="34" charset="0"/>
                <a:cs typeface="Verdana" pitchFamily="34" charset="0"/>
              </a:rPr>
              <a:t>onipresente</a:t>
            </a:r>
            <a:r>
              <a:rPr lang="pt-BR" sz="2000" dirty="0">
                <a:latin typeface="Verdana" pitchFamily="34" charset="0"/>
                <a:ea typeface="Verdana" pitchFamily="34" charset="0"/>
                <a:cs typeface="Verdana" pitchFamily="34" charset="0"/>
              </a:rPr>
              <a:t> no mundo dos negócios. A maioria dos mercados é competitiva, com muitos compradores e vendedores”. </a:t>
            </a:r>
          </a:p>
          <a:p>
            <a:endParaRPr lang="pt-BR" sz="2000" dirty="0">
              <a:latin typeface="Verdana" pitchFamily="34" charset="0"/>
              <a:ea typeface="Verdana" pitchFamily="34" charset="0"/>
              <a:cs typeface="Verdana" pitchFamily="34" charset="0"/>
            </a:endParaRPr>
          </a:p>
          <a:p>
            <a:endParaRPr lang="pt-BR" sz="2000" dirty="0">
              <a:latin typeface="Verdana" pitchFamily="34" charset="0"/>
              <a:ea typeface="Verdana" pitchFamily="34" charset="0"/>
              <a:cs typeface="Verdana" pitchFamily="34" charset="0"/>
            </a:endParaRPr>
          </a:p>
          <a:p>
            <a:r>
              <a:rPr lang="pt-BR" sz="2000" dirty="0">
                <a:latin typeface="Verdana" pitchFamily="34" charset="0"/>
                <a:ea typeface="Verdana" pitchFamily="34" charset="0"/>
                <a:cs typeface="Verdana" pitchFamily="34" charset="0"/>
              </a:rPr>
              <a:t>             </a:t>
            </a:r>
            <a:r>
              <a:rPr lang="pt-BR" sz="1200" dirty="0">
                <a:latin typeface="Verdana" pitchFamily="34" charset="0"/>
                <a:ea typeface="Verdana" pitchFamily="34" charset="0"/>
                <a:cs typeface="Verdana" pitchFamily="34" charset="0"/>
              </a:rPr>
              <a:t>                                        </a:t>
            </a:r>
            <a:r>
              <a:rPr lang="pt-BR" sz="1200" dirty="0" err="1">
                <a:latin typeface="Verdana" pitchFamily="34" charset="0"/>
                <a:ea typeface="Verdana" pitchFamily="34" charset="0"/>
                <a:cs typeface="Verdana" pitchFamily="34" charset="0"/>
              </a:rPr>
              <a:t>Mankiw</a:t>
            </a:r>
            <a:r>
              <a:rPr lang="pt-BR" sz="1200" dirty="0">
                <a:latin typeface="Verdana" pitchFamily="34" charset="0"/>
                <a:ea typeface="Verdana" pitchFamily="34" charset="0"/>
                <a:cs typeface="Verdana" pitchFamily="34" charset="0"/>
              </a:rPr>
              <a:t>, N.G introdução à economia: Rio de janeiro: Campus, 1999</a:t>
            </a:r>
          </a:p>
        </p:txBody>
      </p:sp>
    </p:spTree>
    <p:extLst>
      <p:ext uri="{BB962C8B-B14F-4D97-AF65-F5344CB8AC3E}">
        <p14:creationId xmlns:p14="http://schemas.microsoft.com/office/powerpoint/2010/main" val="387549912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2500" fill="hold"/>
                                        <p:tgtEl>
                                          <p:spTgt spid="7"/>
                                        </p:tgtEl>
                                        <p:attrNameLst>
                                          <p:attrName>ppt_w</p:attrName>
                                        </p:attrNameLst>
                                      </p:cBhvr>
                                      <p:tavLst>
                                        <p:tav tm="0">
                                          <p:val>
                                            <p:fltVal val="0"/>
                                          </p:val>
                                        </p:tav>
                                        <p:tav tm="100000">
                                          <p:val>
                                            <p:strVal val="#ppt_w"/>
                                          </p:val>
                                        </p:tav>
                                      </p:tavLst>
                                    </p:anim>
                                    <p:anim calcmode="lin" valueType="num">
                                      <p:cBhvr>
                                        <p:cTn id="8" dur="2500" fill="hold"/>
                                        <p:tgtEl>
                                          <p:spTgt spid="7"/>
                                        </p:tgtEl>
                                        <p:attrNameLst>
                                          <p:attrName>ppt_h</p:attrName>
                                        </p:attrNameLst>
                                      </p:cBhvr>
                                      <p:tavLst>
                                        <p:tav tm="0">
                                          <p:val>
                                            <p:fltVal val="0"/>
                                          </p:val>
                                        </p:tav>
                                        <p:tav tm="100000">
                                          <p:val>
                                            <p:strVal val="#ppt_h"/>
                                          </p:val>
                                        </p:tav>
                                      </p:tavLst>
                                    </p:anim>
                                    <p:animEffect transition="in" filter="fade">
                                      <p:cBhvr>
                                        <p:cTn id="9" dur="2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Espaço Reservado para Conteúdo 5"/>
          <p:cNvSpPr>
            <a:spLocks noGrp="1"/>
          </p:cNvSpPr>
          <p:nvPr>
            <p:ph idx="4294967295"/>
          </p:nvPr>
        </p:nvSpPr>
        <p:spPr>
          <a:xfrm>
            <a:off x="485775" y="1290638"/>
            <a:ext cx="11706225" cy="4351337"/>
          </a:xfrm>
        </p:spPr>
        <p:txBody>
          <a:bodyPr>
            <a:normAutofit/>
          </a:bodyPr>
          <a:lstStyle/>
          <a:p>
            <a:endParaRPr lang="pt-BR" b="1" dirty="0"/>
          </a:p>
          <a:p>
            <a:pPr marL="0" indent="0">
              <a:buNone/>
            </a:pPr>
            <a:endParaRPr lang="pt-BR" b="1" dirty="0"/>
          </a:p>
        </p:txBody>
      </p:sp>
      <p:sp>
        <p:nvSpPr>
          <p:cNvPr id="8" name="CaixaDeTexto 9"/>
          <p:cNvSpPr txBox="1">
            <a:spLocks noChangeArrowheads="1"/>
          </p:cNvSpPr>
          <p:nvPr/>
        </p:nvSpPr>
        <p:spPr bwMode="auto">
          <a:xfrm>
            <a:off x="3431704" y="332656"/>
            <a:ext cx="6048672" cy="707886"/>
          </a:xfrm>
          <a:prstGeom prst="rect">
            <a:avLst/>
          </a:prstGeom>
          <a:noFill/>
          <a:ln w="9525">
            <a:noFill/>
            <a:miter lim="800000"/>
            <a:headEnd/>
            <a:tailEnd/>
          </a:ln>
        </p:spPr>
        <p:txBody>
          <a:bodyPr wrap="square">
            <a:spAutoFit/>
          </a:bodyPr>
          <a:lstStyle/>
          <a:p>
            <a:pPr algn="ctr"/>
            <a:r>
              <a:rPr lang="pt-BR" sz="4000" b="1" dirty="0">
                <a:solidFill>
                  <a:prstClr val="black"/>
                </a:solidFill>
                <a:latin typeface="Arial" charset="0"/>
                <a:cs typeface="Times New Roman" pitchFamily="18" charset="0"/>
              </a:rPr>
              <a:t>Mercado </a:t>
            </a:r>
          </a:p>
        </p:txBody>
      </p:sp>
      <p:sp>
        <p:nvSpPr>
          <p:cNvPr id="3" name="CaixaDeTexto 2"/>
          <p:cNvSpPr txBox="1"/>
          <p:nvPr/>
        </p:nvSpPr>
        <p:spPr>
          <a:xfrm>
            <a:off x="1775520" y="1196753"/>
            <a:ext cx="8676456" cy="83099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pt-BR" sz="2400" dirty="0">
                <a:latin typeface="Verdana" pitchFamily="34" charset="0"/>
                <a:ea typeface="Verdana" pitchFamily="34" charset="0"/>
                <a:cs typeface="Verdana" pitchFamily="34" charset="0"/>
              </a:rPr>
              <a:t>Quais são as diferenças existentes entre o comércio internacional e o interno?</a:t>
            </a:r>
          </a:p>
        </p:txBody>
      </p:sp>
      <p:sp>
        <p:nvSpPr>
          <p:cNvPr id="7" name="Espaço Reservado para Conteúdo 3"/>
          <p:cNvSpPr txBox="1">
            <a:spLocks/>
          </p:cNvSpPr>
          <p:nvPr/>
        </p:nvSpPr>
        <p:spPr>
          <a:xfrm>
            <a:off x="1775520" y="2204865"/>
            <a:ext cx="8676456"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pt-BR" sz="2800" dirty="0"/>
              <a:t>Variações no ordenamento jurídico em cada país;</a:t>
            </a:r>
          </a:p>
          <a:p>
            <a:r>
              <a:rPr lang="pt-BR" sz="2800" dirty="0"/>
              <a:t>Variações das taxas cambiais são fatores de risco;</a:t>
            </a:r>
          </a:p>
          <a:p>
            <a:r>
              <a:rPr lang="pt-BR" sz="2800" dirty="0"/>
              <a:t>Variações no grau de mobilidade dos fatores de produção: mão de obra, facilidade de deslocamento;</a:t>
            </a:r>
          </a:p>
          <a:p>
            <a:r>
              <a:rPr lang="pt-BR" sz="2800" dirty="0"/>
              <a:t>Existência de barreiras aduaneiras, impostos;</a:t>
            </a:r>
          </a:p>
          <a:p>
            <a:r>
              <a:rPr lang="pt-BR" sz="2800" dirty="0"/>
              <a:t>Longas distâncias;</a:t>
            </a:r>
          </a:p>
          <a:p>
            <a:r>
              <a:rPr lang="pt-BR" sz="2800" dirty="0"/>
              <a:t>Fatores culturais, religiosos, econômicos, políticos.</a:t>
            </a:r>
          </a:p>
          <a:p>
            <a:pPr marL="0" indent="0">
              <a:buNone/>
            </a:pPr>
            <a:r>
              <a:rPr lang="pt-BR" dirty="0"/>
              <a:t> </a:t>
            </a:r>
          </a:p>
        </p:txBody>
      </p:sp>
    </p:spTree>
    <p:extLst>
      <p:ext uri="{BB962C8B-B14F-4D97-AF65-F5344CB8AC3E}">
        <p14:creationId xmlns:p14="http://schemas.microsoft.com/office/powerpoint/2010/main" val="73543404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1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15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 calcmode="lin" valueType="num">
                                      <p:cBhvr>
                                        <p:cTn id="14" dur="2000" fill="hold"/>
                                        <p:tgtEl>
                                          <p:spTgt spid="7">
                                            <p:txEl>
                                              <p:pRg st="0" end="0"/>
                                            </p:txEl>
                                          </p:spTgt>
                                        </p:tgtEl>
                                        <p:attrNameLst>
                                          <p:attrName>ppt_w</p:attrName>
                                        </p:attrNameLst>
                                      </p:cBhvr>
                                      <p:tavLst>
                                        <p:tav tm="0">
                                          <p:val>
                                            <p:fltVal val="0"/>
                                          </p:val>
                                        </p:tav>
                                        <p:tav tm="100000">
                                          <p:val>
                                            <p:strVal val="#ppt_w"/>
                                          </p:val>
                                        </p:tav>
                                      </p:tavLst>
                                    </p:anim>
                                    <p:anim calcmode="lin" valueType="num">
                                      <p:cBhvr>
                                        <p:cTn id="15" dur="2000" fill="hold"/>
                                        <p:tgtEl>
                                          <p:spTgt spid="7">
                                            <p:txEl>
                                              <p:pRg st="0" end="0"/>
                                            </p:txEl>
                                          </p:spTgt>
                                        </p:tgtEl>
                                        <p:attrNameLst>
                                          <p:attrName>ppt_h</p:attrName>
                                        </p:attrNameLst>
                                      </p:cBhvr>
                                      <p:tavLst>
                                        <p:tav tm="0">
                                          <p:val>
                                            <p:fltVal val="0"/>
                                          </p:val>
                                        </p:tav>
                                        <p:tav tm="100000">
                                          <p:val>
                                            <p:strVal val="#ppt_h"/>
                                          </p:val>
                                        </p:tav>
                                      </p:tavLst>
                                    </p:anim>
                                    <p:animEffect transition="in" filter="fade">
                                      <p:cBhvr>
                                        <p:cTn id="16" dur="2000"/>
                                        <p:tgtEl>
                                          <p:spTgt spid="7">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 calcmode="lin" valueType="num">
                                      <p:cBhvr>
                                        <p:cTn id="21" dur="2000" fill="hold"/>
                                        <p:tgtEl>
                                          <p:spTgt spid="7">
                                            <p:txEl>
                                              <p:pRg st="1" end="1"/>
                                            </p:txEl>
                                          </p:spTgt>
                                        </p:tgtEl>
                                        <p:attrNameLst>
                                          <p:attrName>ppt_w</p:attrName>
                                        </p:attrNameLst>
                                      </p:cBhvr>
                                      <p:tavLst>
                                        <p:tav tm="0">
                                          <p:val>
                                            <p:fltVal val="0"/>
                                          </p:val>
                                        </p:tav>
                                        <p:tav tm="100000">
                                          <p:val>
                                            <p:strVal val="#ppt_w"/>
                                          </p:val>
                                        </p:tav>
                                      </p:tavLst>
                                    </p:anim>
                                    <p:anim calcmode="lin" valueType="num">
                                      <p:cBhvr>
                                        <p:cTn id="22" dur="2000" fill="hold"/>
                                        <p:tgtEl>
                                          <p:spTgt spid="7">
                                            <p:txEl>
                                              <p:pRg st="1" end="1"/>
                                            </p:txEl>
                                          </p:spTgt>
                                        </p:tgtEl>
                                        <p:attrNameLst>
                                          <p:attrName>ppt_h</p:attrName>
                                        </p:attrNameLst>
                                      </p:cBhvr>
                                      <p:tavLst>
                                        <p:tav tm="0">
                                          <p:val>
                                            <p:fltVal val="0"/>
                                          </p:val>
                                        </p:tav>
                                        <p:tav tm="100000">
                                          <p:val>
                                            <p:strVal val="#ppt_h"/>
                                          </p:val>
                                        </p:tav>
                                      </p:tavLst>
                                    </p:anim>
                                    <p:animEffect transition="in" filter="fade">
                                      <p:cBhvr>
                                        <p:cTn id="23" dur="2000"/>
                                        <p:tgtEl>
                                          <p:spTgt spid="7">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 calcmode="lin" valueType="num">
                                      <p:cBhvr>
                                        <p:cTn id="28" dur="2000" fill="hold"/>
                                        <p:tgtEl>
                                          <p:spTgt spid="7">
                                            <p:txEl>
                                              <p:pRg st="2" end="2"/>
                                            </p:txEl>
                                          </p:spTgt>
                                        </p:tgtEl>
                                        <p:attrNameLst>
                                          <p:attrName>ppt_w</p:attrName>
                                        </p:attrNameLst>
                                      </p:cBhvr>
                                      <p:tavLst>
                                        <p:tav tm="0">
                                          <p:val>
                                            <p:fltVal val="0"/>
                                          </p:val>
                                        </p:tav>
                                        <p:tav tm="100000">
                                          <p:val>
                                            <p:strVal val="#ppt_w"/>
                                          </p:val>
                                        </p:tav>
                                      </p:tavLst>
                                    </p:anim>
                                    <p:anim calcmode="lin" valueType="num">
                                      <p:cBhvr>
                                        <p:cTn id="29" dur="2000" fill="hold"/>
                                        <p:tgtEl>
                                          <p:spTgt spid="7">
                                            <p:txEl>
                                              <p:pRg st="2" end="2"/>
                                            </p:txEl>
                                          </p:spTgt>
                                        </p:tgtEl>
                                        <p:attrNameLst>
                                          <p:attrName>ppt_h</p:attrName>
                                        </p:attrNameLst>
                                      </p:cBhvr>
                                      <p:tavLst>
                                        <p:tav tm="0">
                                          <p:val>
                                            <p:fltVal val="0"/>
                                          </p:val>
                                        </p:tav>
                                        <p:tav tm="100000">
                                          <p:val>
                                            <p:strVal val="#ppt_h"/>
                                          </p:val>
                                        </p:tav>
                                      </p:tavLst>
                                    </p:anim>
                                    <p:animEffect transition="in" filter="fade">
                                      <p:cBhvr>
                                        <p:cTn id="30" dur="2000"/>
                                        <p:tgtEl>
                                          <p:spTgt spid="7">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 calcmode="lin" valueType="num">
                                      <p:cBhvr>
                                        <p:cTn id="35" dur="2000" fill="hold"/>
                                        <p:tgtEl>
                                          <p:spTgt spid="7">
                                            <p:txEl>
                                              <p:pRg st="3" end="3"/>
                                            </p:txEl>
                                          </p:spTgt>
                                        </p:tgtEl>
                                        <p:attrNameLst>
                                          <p:attrName>ppt_w</p:attrName>
                                        </p:attrNameLst>
                                      </p:cBhvr>
                                      <p:tavLst>
                                        <p:tav tm="0">
                                          <p:val>
                                            <p:fltVal val="0"/>
                                          </p:val>
                                        </p:tav>
                                        <p:tav tm="100000">
                                          <p:val>
                                            <p:strVal val="#ppt_w"/>
                                          </p:val>
                                        </p:tav>
                                      </p:tavLst>
                                    </p:anim>
                                    <p:anim calcmode="lin" valueType="num">
                                      <p:cBhvr>
                                        <p:cTn id="36" dur="2000" fill="hold"/>
                                        <p:tgtEl>
                                          <p:spTgt spid="7">
                                            <p:txEl>
                                              <p:pRg st="3" end="3"/>
                                            </p:txEl>
                                          </p:spTgt>
                                        </p:tgtEl>
                                        <p:attrNameLst>
                                          <p:attrName>ppt_h</p:attrName>
                                        </p:attrNameLst>
                                      </p:cBhvr>
                                      <p:tavLst>
                                        <p:tav tm="0">
                                          <p:val>
                                            <p:fltVal val="0"/>
                                          </p:val>
                                        </p:tav>
                                        <p:tav tm="100000">
                                          <p:val>
                                            <p:strVal val="#ppt_h"/>
                                          </p:val>
                                        </p:tav>
                                      </p:tavLst>
                                    </p:anim>
                                    <p:animEffect transition="in" filter="fade">
                                      <p:cBhvr>
                                        <p:cTn id="37" dur="2000"/>
                                        <p:tgtEl>
                                          <p:spTgt spid="7">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 calcmode="lin" valueType="num">
                                      <p:cBhvr>
                                        <p:cTn id="42" dur="2000" fill="hold"/>
                                        <p:tgtEl>
                                          <p:spTgt spid="7">
                                            <p:txEl>
                                              <p:pRg st="4" end="4"/>
                                            </p:txEl>
                                          </p:spTgt>
                                        </p:tgtEl>
                                        <p:attrNameLst>
                                          <p:attrName>ppt_w</p:attrName>
                                        </p:attrNameLst>
                                      </p:cBhvr>
                                      <p:tavLst>
                                        <p:tav tm="0">
                                          <p:val>
                                            <p:fltVal val="0"/>
                                          </p:val>
                                        </p:tav>
                                        <p:tav tm="100000">
                                          <p:val>
                                            <p:strVal val="#ppt_w"/>
                                          </p:val>
                                        </p:tav>
                                      </p:tavLst>
                                    </p:anim>
                                    <p:anim calcmode="lin" valueType="num">
                                      <p:cBhvr>
                                        <p:cTn id="43" dur="2000" fill="hold"/>
                                        <p:tgtEl>
                                          <p:spTgt spid="7">
                                            <p:txEl>
                                              <p:pRg st="4" end="4"/>
                                            </p:txEl>
                                          </p:spTgt>
                                        </p:tgtEl>
                                        <p:attrNameLst>
                                          <p:attrName>ppt_h</p:attrName>
                                        </p:attrNameLst>
                                      </p:cBhvr>
                                      <p:tavLst>
                                        <p:tav tm="0">
                                          <p:val>
                                            <p:fltVal val="0"/>
                                          </p:val>
                                        </p:tav>
                                        <p:tav tm="100000">
                                          <p:val>
                                            <p:strVal val="#ppt_h"/>
                                          </p:val>
                                        </p:tav>
                                      </p:tavLst>
                                    </p:anim>
                                    <p:animEffect transition="in" filter="fade">
                                      <p:cBhvr>
                                        <p:cTn id="44" dur="2000"/>
                                        <p:tgtEl>
                                          <p:spTgt spid="7">
                                            <p:txEl>
                                              <p:pRg st="4" end="4"/>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 calcmode="lin" valueType="num">
                                      <p:cBhvr>
                                        <p:cTn id="49" dur="2000" fill="hold"/>
                                        <p:tgtEl>
                                          <p:spTgt spid="7">
                                            <p:txEl>
                                              <p:pRg st="5" end="5"/>
                                            </p:txEl>
                                          </p:spTgt>
                                        </p:tgtEl>
                                        <p:attrNameLst>
                                          <p:attrName>ppt_w</p:attrName>
                                        </p:attrNameLst>
                                      </p:cBhvr>
                                      <p:tavLst>
                                        <p:tav tm="0">
                                          <p:val>
                                            <p:fltVal val="0"/>
                                          </p:val>
                                        </p:tav>
                                        <p:tav tm="100000">
                                          <p:val>
                                            <p:strVal val="#ppt_w"/>
                                          </p:val>
                                        </p:tav>
                                      </p:tavLst>
                                    </p:anim>
                                    <p:anim calcmode="lin" valueType="num">
                                      <p:cBhvr>
                                        <p:cTn id="50" dur="2000" fill="hold"/>
                                        <p:tgtEl>
                                          <p:spTgt spid="7">
                                            <p:txEl>
                                              <p:pRg st="5" end="5"/>
                                            </p:txEl>
                                          </p:spTgt>
                                        </p:tgtEl>
                                        <p:attrNameLst>
                                          <p:attrName>ppt_h</p:attrName>
                                        </p:attrNameLst>
                                      </p:cBhvr>
                                      <p:tavLst>
                                        <p:tav tm="0">
                                          <p:val>
                                            <p:fltVal val="0"/>
                                          </p:val>
                                        </p:tav>
                                        <p:tav tm="100000">
                                          <p:val>
                                            <p:strVal val="#ppt_h"/>
                                          </p:val>
                                        </p:tav>
                                      </p:tavLst>
                                    </p:anim>
                                    <p:animEffect transition="in" filter="fade">
                                      <p:cBhvr>
                                        <p:cTn id="51" dur="2000"/>
                                        <p:tgtEl>
                                          <p:spTgt spid="7">
                                            <p:txEl>
                                              <p:pRg st="5" end="5"/>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 calcmode="lin" valueType="num">
                                      <p:cBhvr>
                                        <p:cTn id="56" dur="2000" fill="hold"/>
                                        <p:tgtEl>
                                          <p:spTgt spid="7">
                                            <p:txEl>
                                              <p:pRg st="6" end="6"/>
                                            </p:txEl>
                                          </p:spTgt>
                                        </p:tgtEl>
                                        <p:attrNameLst>
                                          <p:attrName>ppt_w</p:attrName>
                                        </p:attrNameLst>
                                      </p:cBhvr>
                                      <p:tavLst>
                                        <p:tav tm="0">
                                          <p:val>
                                            <p:fltVal val="0"/>
                                          </p:val>
                                        </p:tav>
                                        <p:tav tm="100000">
                                          <p:val>
                                            <p:strVal val="#ppt_w"/>
                                          </p:val>
                                        </p:tav>
                                      </p:tavLst>
                                    </p:anim>
                                    <p:anim calcmode="lin" valueType="num">
                                      <p:cBhvr>
                                        <p:cTn id="57" dur="2000" fill="hold"/>
                                        <p:tgtEl>
                                          <p:spTgt spid="7">
                                            <p:txEl>
                                              <p:pRg st="6" end="6"/>
                                            </p:txEl>
                                          </p:spTgt>
                                        </p:tgtEl>
                                        <p:attrNameLst>
                                          <p:attrName>ppt_h</p:attrName>
                                        </p:attrNameLst>
                                      </p:cBhvr>
                                      <p:tavLst>
                                        <p:tav tm="0">
                                          <p:val>
                                            <p:fltVal val="0"/>
                                          </p:val>
                                        </p:tav>
                                        <p:tav tm="100000">
                                          <p:val>
                                            <p:strVal val="#ppt_h"/>
                                          </p:val>
                                        </p:tav>
                                      </p:tavLst>
                                    </p:anim>
                                    <p:animEffect transition="in" filter="fade">
                                      <p:cBhvr>
                                        <p:cTn id="58" dur="200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9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7773" y="2220229"/>
            <a:ext cx="2607631" cy="2032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ítulo 2"/>
          <p:cNvSpPr>
            <a:spLocks noGrp="1"/>
          </p:cNvSpPr>
          <p:nvPr>
            <p:ph type="title" idx="4294967295"/>
          </p:nvPr>
        </p:nvSpPr>
        <p:spPr>
          <a:xfrm>
            <a:off x="0" y="223838"/>
            <a:ext cx="12023725" cy="858837"/>
          </a:xfrm>
        </p:spPr>
        <p:txBody>
          <a:bodyPr>
            <a:normAutofit/>
          </a:bodyPr>
          <a:lstStyle/>
          <a:p>
            <a:pPr algn="r"/>
            <a:r>
              <a:rPr lang="pt-BR" sz="2800" b="1" dirty="0"/>
              <a:t>              Quais as motivações para a internacionalização das organizações?</a:t>
            </a:r>
          </a:p>
        </p:txBody>
      </p:sp>
      <p:sp>
        <p:nvSpPr>
          <p:cNvPr id="4" name="Espaço Reservado para Conteúdo 3"/>
          <p:cNvSpPr>
            <a:spLocks noGrp="1"/>
          </p:cNvSpPr>
          <p:nvPr>
            <p:ph idx="4294967295"/>
          </p:nvPr>
        </p:nvSpPr>
        <p:spPr>
          <a:xfrm>
            <a:off x="6157913" y="1557338"/>
            <a:ext cx="6034087" cy="4525962"/>
          </a:xfrm>
        </p:spPr>
        <p:txBody>
          <a:bodyPr/>
          <a:lstStyle/>
          <a:p>
            <a:r>
              <a:rPr lang="pt-BR" dirty="0"/>
              <a:t>Time</a:t>
            </a:r>
          </a:p>
          <a:p>
            <a:r>
              <a:rPr lang="pt-BR" dirty="0"/>
              <a:t>Bandeira internacional</a:t>
            </a:r>
          </a:p>
          <a:p>
            <a:r>
              <a:rPr lang="pt-BR" dirty="0"/>
              <a:t>Oportunidade de negócios</a:t>
            </a:r>
          </a:p>
          <a:p>
            <a:r>
              <a:rPr lang="pt-BR" dirty="0"/>
              <a:t>Mundo Globalizado</a:t>
            </a:r>
          </a:p>
          <a:p>
            <a:r>
              <a:rPr lang="pt-BR" dirty="0"/>
              <a:t>Desejo de expandir mercados</a:t>
            </a:r>
          </a:p>
          <a:p>
            <a:r>
              <a:rPr lang="pt-BR" dirty="0"/>
              <a:t>Economia em mão de obra</a:t>
            </a:r>
          </a:p>
          <a:p>
            <a:pPr marL="0" indent="0">
              <a:buNone/>
            </a:pPr>
            <a:r>
              <a:rPr lang="pt-BR" dirty="0"/>
              <a:t> </a:t>
            </a:r>
          </a:p>
        </p:txBody>
      </p:sp>
    </p:spTree>
    <p:extLst>
      <p:ext uri="{BB962C8B-B14F-4D97-AF65-F5344CB8AC3E}">
        <p14:creationId xmlns:p14="http://schemas.microsoft.com/office/powerpoint/2010/main" val="185316831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p:cTn id="7" dur="2000" fill="hold"/>
                                        <p:tgtEl>
                                          <p:spTgt spid="4">
                                            <p:txEl>
                                              <p:pRg st="0" end="0"/>
                                            </p:txEl>
                                          </p:spTgt>
                                        </p:tgtEl>
                                        <p:attrNameLst>
                                          <p:attrName>ppt_w</p:attrName>
                                        </p:attrNameLst>
                                      </p:cBhvr>
                                      <p:tavLst>
                                        <p:tav tm="0">
                                          <p:val>
                                            <p:fltVal val="0"/>
                                          </p:val>
                                        </p:tav>
                                        <p:tav tm="100000">
                                          <p:val>
                                            <p:strVal val="#ppt_w"/>
                                          </p:val>
                                        </p:tav>
                                      </p:tavLst>
                                    </p:anim>
                                    <p:anim calcmode="lin" valueType="num">
                                      <p:cBhvr>
                                        <p:cTn id="8" dur="2000" fill="hold"/>
                                        <p:tgtEl>
                                          <p:spTgt spid="4">
                                            <p:txEl>
                                              <p:pRg st="0" end="0"/>
                                            </p:txEl>
                                          </p:spTgt>
                                        </p:tgtEl>
                                        <p:attrNameLst>
                                          <p:attrName>ppt_h</p:attrName>
                                        </p:attrNameLst>
                                      </p:cBhvr>
                                      <p:tavLst>
                                        <p:tav tm="0">
                                          <p:val>
                                            <p:fltVal val="0"/>
                                          </p:val>
                                        </p:tav>
                                        <p:tav tm="100000">
                                          <p:val>
                                            <p:strVal val="#ppt_h"/>
                                          </p:val>
                                        </p:tav>
                                      </p:tavLst>
                                    </p:anim>
                                    <p:animEffect transition="in" filter="fade">
                                      <p:cBhvr>
                                        <p:cTn id="9" dur="2000"/>
                                        <p:tgtEl>
                                          <p:spTgt spid="4">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 calcmode="lin" valueType="num">
                                      <p:cBhvr>
                                        <p:cTn id="14" dur="2000" fill="hold"/>
                                        <p:tgtEl>
                                          <p:spTgt spid="4">
                                            <p:txEl>
                                              <p:pRg st="1" end="1"/>
                                            </p:txEl>
                                          </p:spTgt>
                                        </p:tgtEl>
                                        <p:attrNameLst>
                                          <p:attrName>ppt_w</p:attrName>
                                        </p:attrNameLst>
                                      </p:cBhvr>
                                      <p:tavLst>
                                        <p:tav tm="0">
                                          <p:val>
                                            <p:fltVal val="0"/>
                                          </p:val>
                                        </p:tav>
                                        <p:tav tm="100000">
                                          <p:val>
                                            <p:strVal val="#ppt_w"/>
                                          </p:val>
                                        </p:tav>
                                      </p:tavLst>
                                    </p:anim>
                                    <p:anim calcmode="lin" valueType="num">
                                      <p:cBhvr>
                                        <p:cTn id="15" dur="2000" fill="hold"/>
                                        <p:tgtEl>
                                          <p:spTgt spid="4">
                                            <p:txEl>
                                              <p:pRg st="1" end="1"/>
                                            </p:txEl>
                                          </p:spTgt>
                                        </p:tgtEl>
                                        <p:attrNameLst>
                                          <p:attrName>ppt_h</p:attrName>
                                        </p:attrNameLst>
                                      </p:cBhvr>
                                      <p:tavLst>
                                        <p:tav tm="0">
                                          <p:val>
                                            <p:fltVal val="0"/>
                                          </p:val>
                                        </p:tav>
                                        <p:tav tm="100000">
                                          <p:val>
                                            <p:strVal val="#ppt_h"/>
                                          </p:val>
                                        </p:tav>
                                      </p:tavLst>
                                    </p:anim>
                                    <p:animEffect transition="in" filter="fade">
                                      <p:cBhvr>
                                        <p:cTn id="16" dur="2000"/>
                                        <p:tgtEl>
                                          <p:spTgt spid="4">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 calcmode="lin" valueType="num">
                                      <p:cBhvr>
                                        <p:cTn id="21" dur="2000" fill="hold"/>
                                        <p:tgtEl>
                                          <p:spTgt spid="4">
                                            <p:txEl>
                                              <p:pRg st="2" end="2"/>
                                            </p:txEl>
                                          </p:spTgt>
                                        </p:tgtEl>
                                        <p:attrNameLst>
                                          <p:attrName>ppt_w</p:attrName>
                                        </p:attrNameLst>
                                      </p:cBhvr>
                                      <p:tavLst>
                                        <p:tav tm="0">
                                          <p:val>
                                            <p:fltVal val="0"/>
                                          </p:val>
                                        </p:tav>
                                        <p:tav tm="100000">
                                          <p:val>
                                            <p:strVal val="#ppt_w"/>
                                          </p:val>
                                        </p:tav>
                                      </p:tavLst>
                                    </p:anim>
                                    <p:anim calcmode="lin" valueType="num">
                                      <p:cBhvr>
                                        <p:cTn id="22" dur="2000" fill="hold"/>
                                        <p:tgtEl>
                                          <p:spTgt spid="4">
                                            <p:txEl>
                                              <p:pRg st="2" end="2"/>
                                            </p:txEl>
                                          </p:spTgt>
                                        </p:tgtEl>
                                        <p:attrNameLst>
                                          <p:attrName>ppt_h</p:attrName>
                                        </p:attrNameLst>
                                      </p:cBhvr>
                                      <p:tavLst>
                                        <p:tav tm="0">
                                          <p:val>
                                            <p:fltVal val="0"/>
                                          </p:val>
                                        </p:tav>
                                        <p:tav tm="100000">
                                          <p:val>
                                            <p:strVal val="#ppt_h"/>
                                          </p:val>
                                        </p:tav>
                                      </p:tavLst>
                                    </p:anim>
                                    <p:animEffect transition="in" filter="fade">
                                      <p:cBhvr>
                                        <p:cTn id="23" dur="2000"/>
                                        <p:tgtEl>
                                          <p:spTgt spid="4">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4">
                                            <p:txEl>
                                              <p:pRg st="3" end="3"/>
                                            </p:txEl>
                                          </p:spTgt>
                                        </p:tgtEl>
                                        <p:attrNameLst>
                                          <p:attrName>style.visibility</p:attrName>
                                        </p:attrNameLst>
                                      </p:cBhvr>
                                      <p:to>
                                        <p:strVal val="visible"/>
                                      </p:to>
                                    </p:set>
                                    <p:anim calcmode="lin" valueType="num">
                                      <p:cBhvr>
                                        <p:cTn id="28" dur="2000" fill="hold"/>
                                        <p:tgtEl>
                                          <p:spTgt spid="4">
                                            <p:txEl>
                                              <p:pRg st="3" end="3"/>
                                            </p:txEl>
                                          </p:spTgt>
                                        </p:tgtEl>
                                        <p:attrNameLst>
                                          <p:attrName>ppt_w</p:attrName>
                                        </p:attrNameLst>
                                      </p:cBhvr>
                                      <p:tavLst>
                                        <p:tav tm="0">
                                          <p:val>
                                            <p:fltVal val="0"/>
                                          </p:val>
                                        </p:tav>
                                        <p:tav tm="100000">
                                          <p:val>
                                            <p:strVal val="#ppt_w"/>
                                          </p:val>
                                        </p:tav>
                                      </p:tavLst>
                                    </p:anim>
                                    <p:anim calcmode="lin" valueType="num">
                                      <p:cBhvr>
                                        <p:cTn id="29" dur="2000" fill="hold"/>
                                        <p:tgtEl>
                                          <p:spTgt spid="4">
                                            <p:txEl>
                                              <p:pRg st="3" end="3"/>
                                            </p:txEl>
                                          </p:spTgt>
                                        </p:tgtEl>
                                        <p:attrNameLst>
                                          <p:attrName>ppt_h</p:attrName>
                                        </p:attrNameLst>
                                      </p:cBhvr>
                                      <p:tavLst>
                                        <p:tav tm="0">
                                          <p:val>
                                            <p:fltVal val="0"/>
                                          </p:val>
                                        </p:tav>
                                        <p:tav tm="100000">
                                          <p:val>
                                            <p:strVal val="#ppt_h"/>
                                          </p:val>
                                        </p:tav>
                                      </p:tavLst>
                                    </p:anim>
                                    <p:animEffect transition="in" filter="fade">
                                      <p:cBhvr>
                                        <p:cTn id="30" dur="2000"/>
                                        <p:tgtEl>
                                          <p:spTgt spid="4">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anim calcmode="lin" valueType="num">
                                      <p:cBhvr>
                                        <p:cTn id="35" dur="2000" fill="hold"/>
                                        <p:tgtEl>
                                          <p:spTgt spid="4">
                                            <p:txEl>
                                              <p:pRg st="4" end="4"/>
                                            </p:txEl>
                                          </p:spTgt>
                                        </p:tgtEl>
                                        <p:attrNameLst>
                                          <p:attrName>ppt_w</p:attrName>
                                        </p:attrNameLst>
                                      </p:cBhvr>
                                      <p:tavLst>
                                        <p:tav tm="0">
                                          <p:val>
                                            <p:fltVal val="0"/>
                                          </p:val>
                                        </p:tav>
                                        <p:tav tm="100000">
                                          <p:val>
                                            <p:strVal val="#ppt_w"/>
                                          </p:val>
                                        </p:tav>
                                      </p:tavLst>
                                    </p:anim>
                                    <p:anim calcmode="lin" valueType="num">
                                      <p:cBhvr>
                                        <p:cTn id="36" dur="2000" fill="hold"/>
                                        <p:tgtEl>
                                          <p:spTgt spid="4">
                                            <p:txEl>
                                              <p:pRg st="4" end="4"/>
                                            </p:txEl>
                                          </p:spTgt>
                                        </p:tgtEl>
                                        <p:attrNameLst>
                                          <p:attrName>ppt_h</p:attrName>
                                        </p:attrNameLst>
                                      </p:cBhvr>
                                      <p:tavLst>
                                        <p:tav tm="0">
                                          <p:val>
                                            <p:fltVal val="0"/>
                                          </p:val>
                                        </p:tav>
                                        <p:tav tm="100000">
                                          <p:val>
                                            <p:strVal val="#ppt_h"/>
                                          </p:val>
                                        </p:tav>
                                      </p:tavLst>
                                    </p:anim>
                                    <p:animEffect transition="in" filter="fade">
                                      <p:cBhvr>
                                        <p:cTn id="37" dur="2000"/>
                                        <p:tgtEl>
                                          <p:spTgt spid="4">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4">
                                            <p:txEl>
                                              <p:pRg st="5" end="5"/>
                                            </p:txEl>
                                          </p:spTgt>
                                        </p:tgtEl>
                                        <p:attrNameLst>
                                          <p:attrName>style.visibility</p:attrName>
                                        </p:attrNameLst>
                                      </p:cBhvr>
                                      <p:to>
                                        <p:strVal val="visible"/>
                                      </p:to>
                                    </p:set>
                                    <p:anim calcmode="lin" valueType="num">
                                      <p:cBhvr>
                                        <p:cTn id="42" dur="2000" fill="hold"/>
                                        <p:tgtEl>
                                          <p:spTgt spid="4">
                                            <p:txEl>
                                              <p:pRg st="5" end="5"/>
                                            </p:txEl>
                                          </p:spTgt>
                                        </p:tgtEl>
                                        <p:attrNameLst>
                                          <p:attrName>ppt_w</p:attrName>
                                        </p:attrNameLst>
                                      </p:cBhvr>
                                      <p:tavLst>
                                        <p:tav tm="0">
                                          <p:val>
                                            <p:fltVal val="0"/>
                                          </p:val>
                                        </p:tav>
                                        <p:tav tm="100000">
                                          <p:val>
                                            <p:strVal val="#ppt_w"/>
                                          </p:val>
                                        </p:tav>
                                      </p:tavLst>
                                    </p:anim>
                                    <p:anim calcmode="lin" valueType="num">
                                      <p:cBhvr>
                                        <p:cTn id="43" dur="2000" fill="hold"/>
                                        <p:tgtEl>
                                          <p:spTgt spid="4">
                                            <p:txEl>
                                              <p:pRg st="5" end="5"/>
                                            </p:txEl>
                                          </p:spTgt>
                                        </p:tgtEl>
                                        <p:attrNameLst>
                                          <p:attrName>ppt_h</p:attrName>
                                        </p:attrNameLst>
                                      </p:cBhvr>
                                      <p:tavLst>
                                        <p:tav tm="0">
                                          <p:val>
                                            <p:fltVal val="0"/>
                                          </p:val>
                                        </p:tav>
                                        <p:tav tm="100000">
                                          <p:val>
                                            <p:strVal val="#ppt_h"/>
                                          </p:val>
                                        </p:tav>
                                      </p:tavLst>
                                    </p:anim>
                                    <p:animEffect transition="in" filter="fade">
                                      <p:cBhvr>
                                        <p:cTn id="44" dur="2000"/>
                                        <p:tgtEl>
                                          <p:spTgt spid="4">
                                            <p:txEl>
                                              <p:pRg st="5" end="5"/>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grpId="0" nodeType="clickEffect">
                                  <p:stCondLst>
                                    <p:cond delay="0"/>
                                  </p:stCondLst>
                                  <p:childTnLst>
                                    <p:set>
                                      <p:cBhvr>
                                        <p:cTn id="48" dur="1" fill="hold">
                                          <p:stCondLst>
                                            <p:cond delay="0"/>
                                          </p:stCondLst>
                                        </p:cTn>
                                        <p:tgtEl>
                                          <p:spTgt spid="4">
                                            <p:txEl>
                                              <p:pRg st="6" end="6"/>
                                            </p:txEl>
                                          </p:spTgt>
                                        </p:tgtEl>
                                        <p:attrNameLst>
                                          <p:attrName>style.visibility</p:attrName>
                                        </p:attrNameLst>
                                      </p:cBhvr>
                                      <p:to>
                                        <p:strVal val="visible"/>
                                      </p:to>
                                    </p:set>
                                    <p:anim calcmode="lin" valueType="num">
                                      <p:cBhvr>
                                        <p:cTn id="49" dur="2000" fill="hold"/>
                                        <p:tgtEl>
                                          <p:spTgt spid="4">
                                            <p:txEl>
                                              <p:pRg st="6" end="6"/>
                                            </p:txEl>
                                          </p:spTgt>
                                        </p:tgtEl>
                                        <p:attrNameLst>
                                          <p:attrName>ppt_w</p:attrName>
                                        </p:attrNameLst>
                                      </p:cBhvr>
                                      <p:tavLst>
                                        <p:tav tm="0">
                                          <p:val>
                                            <p:fltVal val="0"/>
                                          </p:val>
                                        </p:tav>
                                        <p:tav tm="100000">
                                          <p:val>
                                            <p:strVal val="#ppt_w"/>
                                          </p:val>
                                        </p:tav>
                                      </p:tavLst>
                                    </p:anim>
                                    <p:anim calcmode="lin" valueType="num">
                                      <p:cBhvr>
                                        <p:cTn id="50" dur="2000" fill="hold"/>
                                        <p:tgtEl>
                                          <p:spTgt spid="4">
                                            <p:txEl>
                                              <p:pRg st="6" end="6"/>
                                            </p:txEl>
                                          </p:spTgt>
                                        </p:tgtEl>
                                        <p:attrNameLst>
                                          <p:attrName>ppt_h</p:attrName>
                                        </p:attrNameLst>
                                      </p:cBhvr>
                                      <p:tavLst>
                                        <p:tav tm="0">
                                          <p:val>
                                            <p:fltVal val="0"/>
                                          </p:val>
                                        </p:tav>
                                        <p:tav tm="100000">
                                          <p:val>
                                            <p:strVal val="#ppt_h"/>
                                          </p:val>
                                        </p:tav>
                                      </p:tavLst>
                                    </p:anim>
                                    <p:animEffect transition="in" filter="fade">
                                      <p:cBhvr>
                                        <p:cTn id="51" dur="20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9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5521" y="1226316"/>
            <a:ext cx="2607631" cy="2032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ítulo 2"/>
          <p:cNvSpPr>
            <a:spLocks noGrp="1"/>
          </p:cNvSpPr>
          <p:nvPr>
            <p:ph type="title" idx="4294967295"/>
          </p:nvPr>
        </p:nvSpPr>
        <p:spPr>
          <a:xfrm>
            <a:off x="0" y="223838"/>
            <a:ext cx="12023725" cy="858837"/>
          </a:xfrm>
        </p:spPr>
        <p:txBody>
          <a:bodyPr>
            <a:normAutofit/>
          </a:bodyPr>
          <a:lstStyle/>
          <a:p>
            <a:pPr algn="r"/>
            <a:r>
              <a:rPr lang="pt-BR" sz="3600" b="1" dirty="0"/>
              <a:t>Negócios internacionais, por quê?</a:t>
            </a:r>
          </a:p>
        </p:txBody>
      </p:sp>
      <p:sp>
        <p:nvSpPr>
          <p:cNvPr id="4" name="Espaço Reservado para Conteúdo 3"/>
          <p:cNvSpPr>
            <a:spLocks noGrp="1"/>
          </p:cNvSpPr>
          <p:nvPr>
            <p:ph idx="4294967295"/>
          </p:nvPr>
        </p:nvSpPr>
        <p:spPr>
          <a:xfrm>
            <a:off x="6086475" y="1600200"/>
            <a:ext cx="6105525" cy="4525963"/>
          </a:xfrm>
        </p:spPr>
        <p:txBody>
          <a:bodyPr/>
          <a:lstStyle/>
          <a:p>
            <a:r>
              <a:rPr lang="pt-BR" b="1" dirty="0"/>
              <a:t>Vantagem Absoluta</a:t>
            </a:r>
            <a:r>
              <a:rPr lang="pt-BR" dirty="0"/>
              <a:t>: recursos naturais, localização, fator climático. </a:t>
            </a:r>
            <a:r>
              <a:rPr lang="pt-BR" dirty="0" err="1"/>
              <a:t>Ex</a:t>
            </a:r>
            <a:r>
              <a:rPr lang="pt-BR" dirty="0"/>
              <a:t>: Brasil, o maior país exportador de </a:t>
            </a:r>
            <a:r>
              <a:rPr lang="pt-BR" i="1" dirty="0"/>
              <a:t>commodity</a:t>
            </a:r>
            <a:r>
              <a:rPr lang="pt-BR" dirty="0"/>
              <a:t>, como açúcar, café, minério, suco de laranja. Produção com baixo custo, em relação a outros países.   </a:t>
            </a:r>
          </a:p>
        </p:txBody>
      </p:sp>
    </p:spTree>
    <p:extLst>
      <p:ext uri="{BB962C8B-B14F-4D97-AF65-F5344CB8AC3E}">
        <p14:creationId xmlns:p14="http://schemas.microsoft.com/office/powerpoint/2010/main" val="288917149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p:cTn id="7" dur="2000" fill="hold"/>
                                        <p:tgtEl>
                                          <p:spTgt spid="4">
                                            <p:txEl>
                                              <p:pRg st="0" end="0"/>
                                            </p:txEl>
                                          </p:spTgt>
                                        </p:tgtEl>
                                        <p:attrNameLst>
                                          <p:attrName>ppt_w</p:attrName>
                                        </p:attrNameLst>
                                      </p:cBhvr>
                                      <p:tavLst>
                                        <p:tav tm="0">
                                          <p:val>
                                            <p:fltVal val="0"/>
                                          </p:val>
                                        </p:tav>
                                        <p:tav tm="100000">
                                          <p:val>
                                            <p:strVal val="#ppt_w"/>
                                          </p:val>
                                        </p:tav>
                                      </p:tavLst>
                                    </p:anim>
                                    <p:anim calcmode="lin" valueType="num">
                                      <p:cBhvr>
                                        <p:cTn id="8" dur="2000" fill="hold"/>
                                        <p:tgtEl>
                                          <p:spTgt spid="4">
                                            <p:txEl>
                                              <p:pRg st="0" end="0"/>
                                            </p:txEl>
                                          </p:spTgt>
                                        </p:tgtEl>
                                        <p:attrNameLst>
                                          <p:attrName>ppt_h</p:attrName>
                                        </p:attrNameLst>
                                      </p:cBhvr>
                                      <p:tavLst>
                                        <p:tav tm="0">
                                          <p:val>
                                            <p:fltVal val="0"/>
                                          </p:val>
                                        </p:tav>
                                        <p:tav tm="100000">
                                          <p:val>
                                            <p:strVal val="#ppt_h"/>
                                          </p:val>
                                        </p:tav>
                                      </p:tavLst>
                                    </p:anim>
                                    <p:animEffect transition="in" filter="fade">
                                      <p:cBhvr>
                                        <p:cTn id="9" dur="20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5521" y="1226316"/>
            <a:ext cx="2607631" cy="2032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ítulo 2"/>
          <p:cNvSpPr>
            <a:spLocks noGrp="1"/>
          </p:cNvSpPr>
          <p:nvPr>
            <p:ph type="title" idx="4294967295"/>
          </p:nvPr>
        </p:nvSpPr>
        <p:spPr>
          <a:xfrm>
            <a:off x="0" y="223838"/>
            <a:ext cx="12023725" cy="858837"/>
          </a:xfrm>
        </p:spPr>
        <p:txBody>
          <a:bodyPr>
            <a:normAutofit/>
          </a:bodyPr>
          <a:lstStyle/>
          <a:p>
            <a:pPr algn="r"/>
            <a:r>
              <a:rPr lang="pt-BR" sz="3200" b="1" dirty="0"/>
              <a:t>Negócios internacionais, por quê?</a:t>
            </a:r>
            <a:endParaRPr lang="pt-BR" sz="3200" dirty="0"/>
          </a:p>
        </p:txBody>
      </p:sp>
      <p:sp>
        <p:nvSpPr>
          <p:cNvPr id="4" name="Espaço Reservado para Conteúdo 3"/>
          <p:cNvSpPr>
            <a:spLocks noGrp="1"/>
          </p:cNvSpPr>
          <p:nvPr>
            <p:ph idx="4294967295"/>
          </p:nvPr>
        </p:nvSpPr>
        <p:spPr>
          <a:xfrm>
            <a:off x="6364288" y="1600200"/>
            <a:ext cx="5827712" cy="4525963"/>
          </a:xfrm>
        </p:spPr>
        <p:txBody>
          <a:bodyPr/>
          <a:lstStyle/>
          <a:p>
            <a:r>
              <a:rPr lang="pt-BR" b="1" dirty="0"/>
              <a:t>Vantagem comparativa: </a:t>
            </a:r>
            <a:r>
              <a:rPr lang="pt-BR" dirty="0"/>
              <a:t>Produzir o que têm de melhor devido a sua especialização: exemplo.  O mercado japonês é especialista em tecnologia da informação. Outros países tem a mesma performance mas não produz com menor custo.  </a:t>
            </a:r>
            <a:endParaRPr lang="pt-BR" b="1" dirty="0"/>
          </a:p>
        </p:txBody>
      </p:sp>
    </p:spTree>
    <p:extLst>
      <p:ext uri="{BB962C8B-B14F-4D97-AF65-F5344CB8AC3E}">
        <p14:creationId xmlns:p14="http://schemas.microsoft.com/office/powerpoint/2010/main" val="371947497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p:cTn id="7" dur="2000" fill="hold"/>
                                        <p:tgtEl>
                                          <p:spTgt spid="4">
                                            <p:txEl>
                                              <p:pRg st="0" end="0"/>
                                            </p:txEl>
                                          </p:spTgt>
                                        </p:tgtEl>
                                        <p:attrNameLst>
                                          <p:attrName>ppt_w</p:attrName>
                                        </p:attrNameLst>
                                      </p:cBhvr>
                                      <p:tavLst>
                                        <p:tav tm="0">
                                          <p:val>
                                            <p:fltVal val="0"/>
                                          </p:val>
                                        </p:tav>
                                        <p:tav tm="100000">
                                          <p:val>
                                            <p:strVal val="#ppt_w"/>
                                          </p:val>
                                        </p:tav>
                                      </p:tavLst>
                                    </p:anim>
                                    <p:anim calcmode="lin" valueType="num">
                                      <p:cBhvr>
                                        <p:cTn id="8" dur="2000" fill="hold"/>
                                        <p:tgtEl>
                                          <p:spTgt spid="4">
                                            <p:txEl>
                                              <p:pRg st="0" end="0"/>
                                            </p:txEl>
                                          </p:spTgt>
                                        </p:tgtEl>
                                        <p:attrNameLst>
                                          <p:attrName>ppt_h</p:attrName>
                                        </p:attrNameLst>
                                      </p:cBhvr>
                                      <p:tavLst>
                                        <p:tav tm="0">
                                          <p:val>
                                            <p:fltVal val="0"/>
                                          </p:val>
                                        </p:tav>
                                        <p:tav tm="100000">
                                          <p:val>
                                            <p:strVal val="#ppt_h"/>
                                          </p:val>
                                        </p:tav>
                                      </p:tavLst>
                                    </p:anim>
                                    <p:animEffect transition="in" filter="fade">
                                      <p:cBhvr>
                                        <p:cTn id="9" dur="20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9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Espaço Reservado para Conteúdo 5"/>
          <p:cNvSpPr>
            <a:spLocks noGrp="1"/>
          </p:cNvSpPr>
          <p:nvPr>
            <p:ph idx="4294967295"/>
          </p:nvPr>
        </p:nvSpPr>
        <p:spPr>
          <a:xfrm>
            <a:off x="485775" y="1290638"/>
            <a:ext cx="11706225" cy="4351337"/>
          </a:xfrm>
        </p:spPr>
        <p:txBody>
          <a:bodyPr>
            <a:normAutofit/>
          </a:bodyPr>
          <a:lstStyle/>
          <a:p>
            <a:endParaRPr lang="pt-BR" b="1" dirty="0"/>
          </a:p>
          <a:p>
            <a:pPr marL="0" indent="0">
              <a:buNone/>
            </a:pPr>
            <a:endParaRPr lang="pt-BR" b="1" dirty="0"/>
          </a:p>
        </p:txBody>
      </p:sp>
      <p:sp>
        <p:nvSpPr>
          <p:cNvPr id="8" name="CaixaDeTexto 9"/>
          <p:cNvSpPr txBox="1">
            <a:spLocks noChangeArrowheads="1"/>
          </p:cNvSpPr>
          <p:nvPr/>
        </p:nvSpPr>
        <p:spPr bwMode="auto">
          <a:xfrm>
            <a:off x="3431704" y="332656"/>
            <a:ext cx="6984776" cy="1569660"/>
          </a:xfrm>
          <a:prstGeom prst="rect">
            <a:avLst/>
          </a:prstGeom>
          <a:noFill/>
          <a:ln w="9525">
            <a:noFill/>
            <a:miter lim="800000"/>
            <a:headEnd/>
            <a:tailEnd/>
          </a:ln>
        </p:spPr>
        <p:txBody>
          <a:bodyPr wrap="square">
            <a:spAutoFit/>
          </a:bodyPr>
          <a:lstStyle/>
          <a:p>
            <a:r>
              <a:rPr lang="pt-BR" sz="3200" b="1" dirty="0">
                <a:solidFill>
                  <a:prstClr val="black"/>
                </a:solidFill>
                <a:latin typeface="Arial" charset="0"/>
                <a:cs typeface="Times New Roman" pitchFamily="18" charset="0"/>
              </a:rPr>
              <a:t>Conceitos básicos de economia.</a:t>
            </a:r>
          </a:p>
          <a:p>
            <a:endParaRPr lang="pt-BR" sz="3200" b="1" dirty="0">
              <a:solidFill>
                <a:prstClr val="black"/>
              </a:solidFill>
              <a:latin typeface="Arial" charset="0"/>
              <a:cs typeface="Times New Roman" pitchFamily="18" charset="0"/>
            </a:endParaRPr>
          </a:p>
          <a:p>
            <a:r>
              <a:rPr lang="pt-BR" sz="3200" b="1" dirty="0">
                <a:solidFill>
                  <a:prstClr val="black"/>
                </a:solidFill>
                <a:latin typeface="Arial" charset="0"/>
                <a:cs typeface="Times New Roman" pitchFamily="18" charset="0"/>
              </a:rPr>
              <a:t>                  Concorrência </a:t>
            </a:r>
          </a:p>
        </p:txBody>
      </p:sp>
      <p:sp>
        <p:nvSpPr>
          <p:cNvPr id="7" name="CaixaDeTexto 6"/>
          <p:cNvSpPr txBox="1"/>
          <p:nvPr/>
        </p:nvSpPr>
        <p:spPr>
          <a:xfrm>
            <a:off x="1736513" y="1937843"/>
            <a:ext cx="8712968" cy="400110"/>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pt-BR" sz="2000" dirty="0">
                <a:latin typeface="Verdana" pitchFamily="34" charset="0"/>
                <a:ea typeface="Verdana" pitchFamily="34" charset="0"/>
                <a:cs typeface="Verdana" pitchFamily="34" charset="0"/>
              </a:rPr>
              <a:t>Para a teoria econômica, há três níveis de concorrência:</a:t>
            </a:r>
            <a:endParaRPr lang="pt-BR" sz="1200" dirty="0">
              <a:latin typeface="Verdana" pitchFamily="34" charset="0"/>
              <a:ea typeface="Verdana" pitchFamily="34" charset="0"/>
              <a:cs typeface="Verdana" pitchFamily="34" charset="0"/>
            </a:endParaRPr>
          </a:p>
        </p:txBody>
      </p:sp>
      <p:sp>
        <p:nvSpPr>
          <p:cNvPr id="3" name="CaixaDeTexto 2"/>
          <p:cNvSpPr txBox="1"/>
          <p:nvPr/>
        </p:nvSpPr>
        <p:spPr>
          <a:xfrm>
            <a:off x="1847528" y="2924945"/>
            <a:ext cx="3395032" cy="461665"/>
          </a:xfrm>
          <a:prstGeom prst="rect">
            <a:avLst/>
          </a:prstGeom>
          <a:noFill/>
        </p:spPr>
        <p:txBody>
          <a:bodyPr wrap="none" rtlCol="0">
            <a:spAutoFit/>
          </a:bodyPr>
          <a:lstStyle/>
          <a:p>
            <a:pPr marL="342900" indent="-342900">
              <a:buFont typeface="Wingdings" pitchFamily="2" charset="2"/>
              <a:buChar char="q"/>
            </a:pPr>
            <a:r>
              <a:rPr lang="pt-BR" sz="2400" dirty="0"/>
              <a:t>Concorrência perfeita;</a:t>
            </a:r>
          </a:p>
        </p:txBody>
      </p:sp>
      <p:sp>
        <p:nvSpPr>
          <p:cNvPr id="9" name="CaixaDeTexto 8"/>
          <p:cNvSpPr txBox="1"/>
          <p:nvPr/>
        </p:nvSpPr>
        <p:spPr>
          <a:xfrm>
            <a:off x="1851867" y="3482962"/>
            <a:ext cx="4092980" cy="461665"/>
          </a:xfrm>
          <a:prstGeom prst="rect">
            <a:avLst/>
          </a:prstGeom>
          <a:noFill/>
        </p:spPr>
        <p:txBody>
          <a:bodyPr wrap="none" rtlCol="0">
            <a:spAutoFit/>
          </a:bodyPr>
          <a:lstStyle/>
          <a:p>
            <a:pPr marL="342900" indent="-342900">
              <a:buFont typeface="Wingdings" pitchFamily="2" charset="2"/>
              <a:buChar char="q"/>
            </a:pPr>
            <a:r>
              <a:rPr lang="pt-BR" sz="2400" dirty="0"/>
              <a:t>Concorrência monopolística;</a:t>
            </a:r>
          </a:p>
        </p:txBody>
      </p:sp>
      <p:sp>
        <p:nvSpPr>
          <p:cNvPr id="10" name="CaixaDeTexto 9"/>
          <p:cNvSpPr txBox="1"/>
          <p:nvPr/>
        </p:nvSpPr>
        <p:spPr>
          <a:xfrm>
            <a:off x="1838012" y="3944627"/>
            <a:ext cx="1888146" cy="461665"/>
          </a:xfrm>
          <a:prstGeom prst="rect">
            <a:avLst/>
          </a:prstGeom>
          <a:noFill/>
        </p:spPr>
        <p:txBody>
          <a:bodyPr wrap="none" rtlCol="0">
            <a:spAutoFit/>
          </a:bodyPr>
          <a:lstStyle/>
          <a:p>
            <a:pPr marL="342900" indent="-342900">
              <a:buFont typeface="Wingdings" pitchFamily="2" charset="2"/>
              <a:buChar char="q"/>
            </a:pPr>
            <a:r>
              <a:rPr lang="pt-BR" sz="2400" dirty="0"/>
              <a:t>Oligopólio;</a:t>
            </a:r>
          </a:p>
        </p:txBody>
      </p:sp>
    </p:spTree>
    <p:extLst>
      <p:ext uri="{BB962C8B-B14F-4D97-AF65-F5344CB8AC3E}">
        <p14:creationId xmlns:p14="http://schemas.microsoft.com/office/powerpoint/2010/main" val="132271972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2500" fill="hold"/>
                                        <p:tgtEl>
                                          <p:spTgt spid="7"/>
                                        </p:tgtEl>
                                        <p:attrNameLst>
                                          <p:attrName>ppt_w</p:attrName>
                                        </p:attrNameLst>
                                      </p:cBhvr>
                                      <p:tavLst>
                                        <p:tav tm="0">
                                          <p:val>
                                            <p:fltVal val="0"/>
                                          </p:val>
                                        </p:tav>
                                        <p:tav tm="100000">
                                          <p:val>
                                            <p:strVal val="#ppt_w"/>
                                          </p:val>
                                        </p:tav>
                                      </p:tavLst>
                                    </p:anim>
                                    <p:anim calcmode="lin" valueType="num">
                                      <p:cBhvr>
                                        <p:cTn id="8" dur="2500" fill="hold"/>
                                        <p:tgtEl>
                                          <p:spTgt spid="7"/>
                                        </p:tgtEl>
                                        <p:attrNameLst>
                                          <p:attrName>ppt_h</p:attrName>
                                        </p:attrNameLst>
                                      </p:cBhvr>
                                      <p:tavLst>
                                        <p:tav tm="0">
                                          <p:val>
                                            <p:fltVal val="0"/>
                                          </p:val>
                                        </p:tav>
                                        <p:tav tm="100000">
                                          <p:val>
                                            <p:strVal val="#ppt_h"/>
                                          </p:val>
                                        </p:tav>
                                      </p:tavLst>
                                    </p:anim>
                                    <p:animEffect transition="in" filter="fade">
                                      <p:cBhvr>
                                        <p:cTn id="9" dur="2500"/>
                                        <p:tgtEl>
                                          <p:spTgt spid="7"/>
                                        </p:tgtEl>
                                      </p:cBhvr>
                                    </p:animEffect>
                                  </p:childTnLst>
                                </p:cTn>
                              </p:par>
                            </p:childTnLst>
                          </p:cTn>
                        </p:par>
                      </p:childTnLst>
                    </p:cTn>
                  </p:par>
                  <p:par>
                    <p:cTn id="10" fill="hold">
                      <p:stCondLst>
                        <p:cond delay="indefinite"/>
                      </p:stCondLst>
                      <p:childTnLst>
                        <p:par>
                          <p:cTn id="11" fill="hold">
                            <p:stCondLst>
                              <p:cond delay="0"/>
                            </p:stCondLst>
                            <p:childTnLst>
                              <p:par>
                                <p:cTn id="12" presetID="25"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p:cTn id="14" dur="500" decel="50000" fill="hold">
                                          <p:stCondLst>
                                            <p:cond delay="0"/>
                                          </p:stCondLst>
                                        </p:cTn>
                                        <p:tgtEl>
                                          <p:spTgt spid="3"/>
                                        </p:tgtEl>
                                        <p:attrNameLst>
                                          <p:attrName>style.rotation</p:attrName>
                                        </p:attrNameLst>
                                      </p:cBhvr>
                                      <p:tavLst>
                                        <p:tav tm="0">
                                          <p:val>
                                            <p:fltVal val="-90"/>
                                          </p:val>
                                        </p:tav>
                                        <p:tav tm="100000">
                                          <p:val>
                                            <p:fltVal val="0"/>
                                          </p:val>
                                        </p:tav>
                                      </p:tavLst>
                                    </p:anim>
                                    <p:anim calcmode="lin" valueType="num">
                                      <p:cBhvr>
                                        <p:cTn id="15" dur="500" decel="50000" fill="hold">
                                          <p:stCondLst>
                                            <p:cond delay="0"/>
                                          </p:stCondLst>
                                        </p:cTn>
                                        <p:tgtEl>
                                          <p:spTgt spid="3"/>
                                        </p:tgtEl>
                                        <p:attrNameLst>
                                          <p:attrName>ppt_w</p:attrName>
                                        </p:attrNameLst>
                                      </p:cBhvr>
                                      <p:tavLst>
                                        <p:tav tm="0">
                                          <p:val>
                                            <p:strVal val="#ppt_w"/>
                                          </p:val>
                                        </p:tav>
                                        <p:tav tm="100000">
                                          <p:val>
                                            <p:strVal val="#ppt_w*.05"/>
                                          </p:val>
                                        </p:tav>
                                      </p:tavLst>
                                    </p:anim>
                                    <p:anim calcmode="lin" valueType="num">
                                      <p:cBhvr>
                                        <p:cTn id="16" dur="500" accel="50000" fill="hold">
                                          <p:stCondLst>
                                            <p:cond delay="500"/>
                                          </p:stCondLst>
                                        </p:cTn>
                                        <p:tgtEl>
                                          <p:spTgt spid="3"/>
                                        </p:tgtEl>
                                        <p:attrNameLst>
                                          <p:attrName>ppt_w</p:attrName>
                                        </p:attrNameLst>
                                      </p:cBhvr>
                                      <p:tavLst>
                                        <p:tav tm="0">
                                          <p:val>
                                            <p:strVal val="#ppt_w*.05"/>
                                          </p:val>
                                        </p:tav>
                                        <p:tav tm="100000">
                                          <p:val>
                                            <p:strVal val="#ppt_w"/>
                                          </p:val>
                                        </p:tav>
                                      </p:tavLst>
                                    </p:anim>
                                    <p:anim calcmode="lin" valueType="num">
                                      <p:cBhvr>
                                        <p:cTn id="17" dur="1000" fill="hold"/>
                                        <p:tgtEl>
                                          <p:spTgt spid="3"/>
                                        </p:tgtEl>
                                        <p:attrNameLst>
                                          <p:attrName>ppt_h</p:attrName>
                                        </p:attrNameLst>
                                      </p:cBhvr>
                                      <p:tavLst>
                                        <p:tav tm="0">
                                          <p:val>
                                            <p:strVal val="#ppt_h"/>
                                          </p:val>
                                        </p:tav>
                                        <p:tav tm="100000">
                                          <p:val>
                                            <p:strVal val="#ppt_h"/>
                                          </p:val>
                                        </p:tav>
                                      </p:tavLst>
                                    </p:anim>
                                    <p:anim calcmode="lin" valueType="num">
                                      <p:cBhvr>
                                        <p:cTn id="18" dur="500" decel="50000" fill="hold">
                                          <p:stCondLst>
                                            <p:cond delay="0"/>
                                          </p:stCondLst>
                                        </p:cTn>
                                        <p:tgtEl>
                                          <p:spTgt spid="3"/>
                                        </p:tgtEl>
                                        <p:attrNameLst>
                                          <p:attrName>ppt_x</p:attrName>
                                        </p:attrNameLst>
                                      </p:cBhvr>
                                      <p:tavLst>
                                        <p:tav tm="0">
                                          <p:val>
                                            <p:strVal val="#ppt_x+.4"/>
                                          </p:val>
                                        </p:tav>
                                        <p:tav tm="100000">
                                          <p:val>
                                            <p:strVal val="#ppt_x"/>
                                          </p:val>
                                        </p:tav>
                                      </p:tavLst>
                                    </p:anim>
                                    <p:anim calcmode="lin" valueType="num">
                                      <p:cBhvr>
                                        <p:cTn id="19" dur="500" decel="50000" fill="hold">
                                          <p:stCondLst>
                                            <p:cond delay="0"/>
                                          </p:stCondLst>
                                        </p:cTn>
                                        <p:tgtEl>
                                          <p:spTgt spid="3"/>
                                        </p:tgtEl>
                                        <p:attrNameLst>
                                          <p:attrName>ppt_y</p:attrName>
                                        </p:attrNameLst>
                                      </p:cBhvr>
                                      <p:tavLst>
                                        <p:tav tm="0">
                                          <p:val>
                                            <p:strVal val="#ppt_y-.2"/>
                                          </p:val>
                                        </p:tav>
                                        <p:tav tm="100000">
                                          <p:val>
                                            <p:strVal val="#ppt_y+.1"/>
                                          </p:val>
                                        </p:tav>
                                      </p:tavLst>
                                    </p:anim>
                                    <p:anim calcmode="lin" valueType="num">
                                      <p:cBhvr>
                                        <p:cTn id="20" dur="500" accel="50000" fill="hold">
                                          <p:stCondLst>
                                            <p:cond delay="500"/>
                                          </p:stCondLst>
                                        </p:cTn>
                                        <p:tgtEl>
                                          <p:spTgt spid="3"/>
                                        </p:tgtEl>
                                        <p:attrNameLst>
                                          <p:attrName>ppt_y</p:attrName>
                                        </p:attrNameLst>
                                      </p:cBhvr>
                                      <p:tavLst>
                                        <p:tav tm="0">
                                          <p:val>
                                            <p:strVal val="#ppt_y+.1"/>
                                          </p:val>
                                        </p:tav>
                                        <p:tav tm="100000">
                                          <p:val>
                                            <p:strVal val="#ppt_y"/>
                                          </p:val>
                                        </p:tav>
                                      </p:tavLst>
                                    </p:anim>
                                    <p:animEffect transition="in" filter="fade">
                                      <p:cBhvr>
                                        <p:cTn id="21" dur="1000" decel="50000">
                                          <p:stCondLst>
                                            <p:cond delay="0"/>
                                          </p:stCondLst>
                                        </p:cTn>
                                        <p:tgtEl>
                                          <p:spTgt spid="3"/>
                                        </p:tgtEl>
                                      </p:cBhvr>
                                    </p:animEffect>
                                  </p:childTnLst>
                                </p:cTn>
                              </p:par>
                            </p:childTnLst>
                          </p:cTn>
                        </p:par>
                      </p:childTnLst>
                    </p:cTn>
                  </p:par>
                  <p:par>
                    <p:cTn id="22" fill="hold">
                      <p:stCondLst>
                        <p:cond delay="indefinite"/>
                      </p:stCondLst>
                      <p:childTnLst>
                        <p:par>
                          <p:cTn id="23" fill="hold">
                            <p:stCondLst>
                              <p:cond delay="0"/>
                            </p:stCondLst>
                            <p:childTnLst>
                              <p:par>
                                <p:cTn id="24" presetID="25" presetClass="entr" presetSubtype="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 calcmode="lin" valueType="num">
                                      <p:cBhvr>
                                        <p:cTn id="26" dur="500" decel="50000" fill="hold">
                                          <p:stCondLst>
                                            <p:cond delay="0"/>
                                          </p:stCondLst>
                                        </p:cTn>
                                        <p:tgtEl>
                                          <p:spTgt spid="9"/>
                                        </p:tgtEl>
                                        <p:attrNameLst>
                                          <p:attrName>style.rotation</p:attrName>
                                        </p:attrNameLst>
                                      </p:cBhvr>
                                      <p:tavLst>
                                        <p:tav tm="0">
                                          <p:val>
                                            <p:fltVal val="-90"/>
                                          </p:val>
                                        </p:tav>
                                        <p:tav tm="100000">
                                          <p:val>
                                            <p:fltVal val="0"/>
                                          </p:val>
                                        </p:tav>
                                      </p:tavLst>
                                    </p:anim>
                                    <p:anim calcmode="lin" valueType="num">
                                      <p:cBhvr>
                                        <p:cTn id="27" dur="500" decel="50000" fill="hold">
                                          <p:stCondLst>
                                            <p:cond delay="0"/>
                                          </p:stCondLst>
                                        </p:cTn>
                                        <p:tgtEl>
                                          <p:spTgt spid="9"/>
                                        </p:tgtEl>
                                        <p:attrNameLst>
                                          <p:attrName>ppt_w</p:attrName>
                                        </p:attrNameLst>
                                      </p:cBhvr>
                                      <p:tavLst>
                                        <p:tav tm="0">
                                          <p:val>
                                            <p:strVal val="#ppt_w"/>
                                          </p:val>
                                        </p:tav>
                                        <p:tav tm="100000">
                                          <p:val>
                                            <p:strVal val="#ppt_w*.05"/>
                                          </p:val>
                                        </p:tav>
                                      </p:tavLst>
                                    </p:anim>
                                    <p:anim calcmode="lin" valueType="num">
                                      <p:cBhvr>
                                        <p:cTn id="28" dur="500" accel="50000" fill="hold">
                                          <p:stCondLst>
                                            <p:cond delay="500"/>
                                          </p:stCondLst>
                                        </p:cTn>
                                        <p:tgtEl>
                                          <p:spTgt spid="9"/>
                                        </p:tgtEl>
                                        <p:attrNameLst>
                                          <p:attrName>ppt_w</p:attrName>
                                        </p:attrNameLst>
                                      </p:cBhvr>
                                      <p:tavLst>
                                        <p:tav tm="0">
                                          <p:val>
                                            <p:strVal val="#ppt_w*.05"/>
                                          </p:val>
                                        </p:tav>
                                        <p:tav tm="100000">
                                          <p:val>
                                            <p:strVal val="#ppt_w"/>
                                          </p:val>
                                        </p:tav>
                                      </p:tavLst>
                                    </p:anim>
                                    <p:anim calcmode="lin" valueType="num">
                                      <p:cBhvr>
                                        <p:cTn id="29" dur="1000" fill="hold"/>
                                        <p:tgtEl>
                                          <p:spTgt spid="9"/>
                                        </p:tgtEl>
                                        <p:attrNameLst>
                                          <p:attrName>ppt_h</p:attrName>
                                        </p:attrNameLst>
                                      </p:cBhvr>
                                      <p:tavLst>
                                        <p:tav tm="0">
                                          <p:val>
                                            <p:strVal val="#ppt_h"/>
                                          </p:val>
                                        </p:tav>
                                        <p:tav tm="100000">
                                          <p:val>
                                            <p:strVal val="#ppt_h"/>
                                          </p:val>
                                        </p:tav>
                                      </p:tavLst>
                                    </p:anim>
                                    <p:anim calcmode="lin" valueType="num">
                                      <p:cBhvr>
                                        <p:cTn id="30" dur="500" decel="50000" fill="hold">
                                          <p:stCondLst>
                                            <p:cond delay="0"/>
                                          </p:stCondLst>
                                        </p:cTn>
                                        <p:tgtEl>
                                          <p:spTgt spid="9"/>
                                        </p:tgtEl>
                                        <p:attrNameLst>
                                          <p:attrName>ppt_x</p:attrName>
                                        </p:attrNameLst>
                                      </p:cBhvr>
                                      <p:tavLst>
                                        <p:tav tm="0">
                                          <p:val>
                                            <p:strVal val="#ppt_x+.4"/>
                                          </p:val>
                                        </p:tav>
                                        <p:tav tm="100000">
                                          <p:val>
                                            <p:strVal val="#ppt_x"/>
                                          </p:val>
                                        </p:tav>
                                      </p:tavLst>
                                    </p:anim>
                                    <p:anim calcmode="lin" valueType="num">
                                      <p:cBhvr>
                                        <p:cTn id="31" dur="500" decel="50000" fill="hold">
                                          <p:stCondLst>
                                            <p:cond delay="0"/>
                                          </p:stCondLst>
                                        </p:cTn>
                                        <p:tgtEl>
                                          <p:spTgt spid="9"/>
                                        </p:tgtEl>
                                        <p:attrNameLst>
                                          <p:attrName>ppt_y</p:attrName>
                                        </p:attrNameLst>
                                      </p:cBhvr>
                                      <p:tavLst>
                                        <p:tav tm="0">
                                          <p:val>
                                            <p:strVal val="#ppt_y-.2"/>
                                          </p:val>
                                        </p:tav>
                                        <p:tav tm="100000">
                                          <p:val>
                                            <p:strVal val="#ppt_y+.1"/>
                                          </p:val>
                                        </p:tav>
                                      </p:tavLst>
                                    </p:anim>
                                    <p:anim calcmode="lin" valueType="num">
                                      <p:cBhvr>
                                        <p:cTn id="32" dur="500" accel="50000" fill="hold">
                                          <p:stCondLst>
                                            <p:cond delay="500"/>
                                          </p:stCondLst>
                                        </p:cTn>
                                        <p:tgtEl>
                                          <p:spTgt spid="9"/>
                                        </p:tgtEl>
                                        <p:attrNameLst>
                                          <p:attrName>ppt_y</p:attrName>
                                        </p:attrNameLst>
                                      </p:cBhvr>
                                      <p:tavLst>
                                        <p:tav tm="0">
                                          <p:val>
                                            <p:strVal val="#ppt_y+.1"/>
                                          </p:val>
                                        </p:tav>
                                        <p:tav tm="100000">
                                          <p:val>
                                            <p:strVal val="#ppt_y"/>
                                          </p:val>
                                        </p:tav>
                                      </p:tavLst>
                                    </p:anim>
                                    <p:animEffect transition="in" filter="fade">
                                      <p:cBhvr>
                                        <p:cTn id="33" dur="1000" decel="50000">
                                          <p:stCondLst>
                                            <p:cond delay="0"/>
                                          </p:stCondLst>
                                        </p:cTn>
                                        <p:tgtEl>
                                          <p:spTgt spid="9"/>
                                        </p:tgtEl>
                                      </p:cBhvr>
                                    </p:animEffect>
                                  </p:childTnLst>
                                </p:cTn>
                              </p:par>
                            </p:childTnLst>
                          </p:cTn>
                        </p:par>
                      </p:childTnLst>
                    </p:cTn>
                  </p:par>
                  <p:par>
                    <p:cTn id="34" fill="hold">
                      <p:stCondLst>
                        <p:cond delay="indefinite"/>
                      </p:stCondLst>
                      <p:childTnLst>
                        <p:par>
                          <p:cTn id="35" fill="hold">
                            <p:stCondLst>
                              <p:cond delay="0"/>
                            </p:stCondLst>
                            <p:childTnLst>
                              <p:par>
                                <p:cTn id="36" presetID="25" presetClass="entr" presetSubtype="0" fill="hold" grpId="0" nodeType="clickEffect">
                                  <p:stCondLst>
                                    <p:cond delay="0"/>
                                  </p:stCondLst>
                                  <p:childTnLst>
                                    <p:set>
                                      <p:cBhvr>
                                        <p:cTn id="37" dur="1" fill="hold">
                                          <p:stCondLst>
                                            <p:cond delay="0"/>
                                          </p:stCondLst>
                                        </p:cTn>
                                        <p:tgtEl>
                                          <p:spTgt spid="10"/>
                                        </p:tgtEl>
                                        <p:attrNameLst>
                                          <p:attrName>style.visibility</p:attrName>
                                        </p:attrNameLst>
                                      </p:cBhvr>
                                      <p:to>
                                        <p:strVal val="visible"/>
                                      </p:to>
                                    </p:set>
                                    <p:anim calcmode="lin" valueType="num">
                                      <p:cBhvr>
                                        <p:cTn id="38" dur="500" decel="50000" fill="hold">
                                          <p:stCondLst>
                                            <p:cond delay="0"/>
                                          </p:stCondLst>
                                        </p:cTn>
                                        <p:tgtEl>
                                          <p:spTgt spid="10"/>
                                        </p:tgtEl>
                                        <p:attrNameLst>
                                          <p:attrName>style.rotation</p:attrName>
                                        </p:attrNameLst>
                                      </p:cBhvr>
                                      <p:tavLst>
                                        <p:tav tm="0">
                                          <p:val>
                                            <p:fltVal val="-90"/>
                                          </p:val>
                                        </p:tav>
                                        <p:tav tm="100000">
                                          <p:val>
                                            <p:fltVal val="0"/>
                                          </p:val>
                                        </p:tav>
                                      </p:tavLst>
                                    </p:anim>
                                    <p:anim calcmode="lin" valueType="num">
                                      <p:cBhvr>
                                        <p:cTn id="39" dur="500" decel="50000" fill="hold">
                                          <p:stCondLst>
                                            <p:cond delay="0"/>
                                          </p:stCondLst>
                                        </p:cTn>
                                        <p:tgtEl>
                                          <p:spTgt spid="10"/>
                                        </p:tgtEl>
                                        <p:attrNameLst>
                                          <p:attrName>ppt_w</p:attrName>
                                        </p:attrNameLst>
                                      </p:cBhvr>
                                      <p:tavLst>
                                        <p:tav tm="0">
                                          <p:val>
                                            <p:strVal val="#ppt_w"/>
                                          </p:val>
                                        </p:tav>
                                        <p:tav tm="100000">
                                          <p:val>
                                            <p:strVal val="#ppt_w*.05"/>
                                          </p:val>
                                        </p:tav>
                                      </p:tavLst>
                                    </p:anim>
                                    <p:anim calcmode="lin" valueType="num">
                                      <p:cBhvr>
                                        <p:cTn id="40" dur="500" accel="50000" fill="hold">
                                          <p:stCondLst>
                                            <p:cond delay="500"/>
                                          </p:stCondLst>
                                        </p:cTn>
                                        <p:tgtEl>
                                          <p:spTgt spid="10"/>
                                        </p:tgtEl>
                                        <p:attrNameLst>
                                          <p:attrName>ppt_w</p:attrName>
                                        </p:attrNameLst>
                                      </p:cBhvr>
                                      <p:tavLst>
                                        <p:tav tm="0">
                                          <p:val>
                                            <p:strVal val="#ppt_w*.05"/>
                                          </p:val>
                                        </p:tav>
                                        <p:tav tm="100000">
                                          <p:val>
                                            <p:strVal val="#ppt_w"/>
                                          </p:val>
                                        </p:tav>
                                      </p:tavLst>
                                    </p:anim>
                                    <p:anim calcmode="lin" valueType="num">
                                      <p:cBhvr>
                                        <p:cTn id="41" dur="1000" fill="hold"/>
                                        <p:tgtEl>
                                          <p:spTgt spid="10"/>
                                        </p:tgtEl>
                                        <p:attrNameLst>
                                          <p:attrName>ppt_h</p:attrName>
                                        </p:attrNameLst>
                                      </p:cBhvr>
                                      <p:tavLst>
                                        <p:tav tm="0">
                                          <p:val>
                                            <p:strVal val="#ppt_h"/>
                                          </p:val>
                                        </p:tav>
                                        <p:tav tm="100000">
                                          <p:val>
                                            <p:strVal val="#ppt_h"/>
                                          </p:val>
                                        </p:tav>
                                      </p:tavLst>
                                    </p:anim>
                                    <p:anim calcmode="lin" valueType="num">
                                      <p:cBhvr>
                                        <p:cTn id="42" dur="500" decel="50000" fill="hold">
                                          <p:stCondLst>
                                            <p:cond delay="0"/>
                                          </p:stCondLst>
                                        </p:cTn>
                                        <p:tgtEl>
                                          <p:spTgt spid="10"/>
                                        </p:tgtEl>
                                        <p:attrNameLst>
                                          <p:attrName>ppt_x</p:attrName>
                                        </p:attrNameLst>
                                      </p:cBhvr>
                                      <p:tavLst>
                                        <p:tav tm="0">
                                          <p:val>
                                            <p:strVal val="#ppt_x+.4"/>
                                          </p:val>
                                        </p:tav>
                                        <p:tav tm="100000">
                                          <p:val>
                                            <p:strVal val="#ppt_x"/>
                                          </p:val>
                                        </p:tav>
                                      </p:tavLst>
                                    </p:anim>
                                    <p:anim calcmode="lin" valueType="num">
                                      <p:cBhvr>
                                        <p:cTn id="43" dur="500" decel="50000" fill="hold">
                                          <p:stCondLst>
                                            <p:cond delay="0"/>
                                          </p:stCondLst>
                                        </p:cTn>
                                        <p:tgtEl>
                                          <p:spTgt spid="10"/>
                                        </p:tgtEl>
                                        <p:attrNameLst>
                                          <p:attrName>ppt_y</p:attrName>
                                        </p:attrNameLst>
                                      </p:cBhvr>
                                      <p:tavLst>
                                        <p:tav tm="0">
                                          <p:val>
                                            <p:strVal val="#ppt_y-.2"/>
                                          </p:val>
                                        </p:tav>
                                        <p:tav tm="100000">
                                          <p:val>
                                            <p:strVal val="#ppt_y+.1"/>
                                          </p:val>
                                        </p:tav>
                                      </p:tavLst>
                                    </p:anim>
                                    <p:anim calcmode="lin" valueType="num">
                                      <p:cBhvr>
                                        <p:cTn id="44" dur="500" accel="50000" fill="hold">
                                          <p:stCondLst>
                                            <p:cond delay="500"/>
                                          </p:stCondLst>
                                        </p:cTn>
                                        <p:tgtEl>
                                          <p:spTgt spid="10"/>
                                        </p:tgtEl>
                                        <p:attrNameLst>
                                          <p:attrName>ppt_y</p:attrName>
                                        </p:attrNameLst>
                                      </p:cBhvr>
                                      <p:tavLst>
                                        <p:tav tm="0">
                                          <p:val>
                                            <p:strVal val="#ppt_y+.1"/>
                                          </p:val>
                                        </p:tav>
                                        <p:tav tm="100000">
                                          <p:val>
                                            <p:strVal val="#ppt_y"/>
                                          </p:val>
                                        </p:tav>
                                      </p:tavLst>
                                    </p:anim>
                                    <p:animEffect transition="in" filter="fade">
                                      <p:cBhvr>
                                        <p:cTn id="45" dur="1000" decel="50000">
                                          <p:stCondLst>
                                            <p:cond delay="0"/>
                                          </p:stCondLst>
                                        </p:cTn>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 grpId="0"/>
      <p:bldP spid="9" grpId="0"/>
      <p:bldP spid="10" grpId="0"/>
    </p:bldLst>
  </p:timing>
</p:sld>
</file>

<file path=ppt/slides/slide10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Espaço Reservado para Conteúdo 5"/>
          <p:cNvSpPr>
            <a:spLocks noGrp="1"/>
          </p:cNvSpPr>
          <p:nvPr>
            <p:ph idx="4294967295"/>
          </p:nvPr>
        </p:nvSpPr>
        <p:spPr>
          <a:xfrm>
            <a:off x="485775" y="1290638"/>
            <a:ext cx="11706225" cy="4351337"/>
          </a:xfrm>
        </p:spPr>
        <p:txBody>
          <a:bodyPr>
            <a:normAutofit/>
          </a:bodyPr>
          <a:lstStyle/>
          <a:p>
            <a:endParaRPr lang="pt-BR" b="1" dirty="0"/>
          </a:p>
          <a:p>
            <a:pPr marL="0" indent="0">
              <a:buNone/>
            </a:pPr>
            <a:endParaRPr lang="pt-BR" b="1" dirty="0"/>
          </a:p>
        </p:txBody>
      </p:sp>
      <p:sp>
        <p:nvSpPr>
          <p:cNvPr id="8" name="CaixaDeTexto 9"/>
          <p:cNvSpPr txBox="1">
            <a:spLocks noChangeArrowheads="1"/>
          </p:cNvSpPr>
          <p:nvPr/>
        </p:nvSpPr>
        <p:spPr bwMode="auto">
          <a:xfrm>
            <a:off x="3368968" y="360511"/>
            <a:ext cx="6984776" cy="584775"/>
          </a:xfrm>
          <a:prstGeom prst="rect">
            <a:avLst/>
          </a:prstGeom>
          <a:noFill/>
          <a:ln w="9525">
            <a:noFill/>
            <a:miter lim="800000"/>
            <a:headEnd/>
            <a:tailEnd/>
          </a:ln>
        </p:spPr>
        <p:txBody>
          <a:bodyPr wrap="square">
            <a:spAutoFit/>
          </a:bodyPr>
          <a:lstStyle/>
          <a:p>
            <a:pPr algn="ctr"/>
            <a:r>
              <a:rPr lang="pt-BR" sz="3200" b="1" dirty="0">
                <a:solidFill>
                  <a:prstClr val="black"/>
                </a:solidFill>
                <a:latin typeface="Arial" charset="0"/>
                <a:cs typeface="Times New Roman" pitchFamily="18" charset="0"/>
              </a:rPr>
              <a:t>Concorrência Perfeita. </a:t>
            </a:r>
          </a:p>
        </p:txBody>
      </p:sp>
      <p:sp>
        <p:nvSpPr>
          <p:cNvPr id="3" name="CaixaDeTexto 2"/>
          <p:cNvSpPr txBox="1"/>
          <p:nvPr/>
        </p:nvSpPr>
        <p:spPr>
          <a:xfrm>
            <a:off x="1703512" y="1628800"/>
            <a:ext cx="8650232" cy="2308324"/>
          </a:xfrm>
          <a:prstGeom prst="rect">
            <a:avLst/>
          </a:prstGeom>
          <a:noFill/>
        </p:spPr>
        <p:txBody>
          <a:bodyPr wrap="square" rtlCol="0">
            <a:spAutoFit/>
          </a:bodyPr>
          <a:lstStyle/>
          <a:p>
            <a:r>
              <a:rPr lang="pt-BR" sz="2400" b="1" dirty="0"/>
              <a:t>Concorrência perfeita</a:t>
            </a:r>
            <a:r>
              <a:rPr lang="pt-BR" sz="2400" dirty="0"/>
              <a:t>: Ocorre quando os bens oferecidos são iguais e os compradores e vendedores são numerosos, a ponto de não influenciarem os preços individualmente. </a:t>
            </a:r>
          </a:p>
          <a:p>
            <a:endParaRPr lang="pt-BR" sz="2400" dirty="0"/>
          </a:p>
          <a:p>
            <a:r>
              <a:rPr lang="pt-BR" sz="2400" dirty="0"/>
              <a:t>Exemplo: Produção de trigo. Há milhares de agricultores que ofertam e a demanda pelo trigo.  </a:t>
            </a:r>
          </a:p>
        </p:txBody>
      </p:sp>
    </p:spTree>
    <p:extLst>
      <p:ext uri="{BB962C8B-B14F-4D97-AF65-F5344CB8AC3E}">
        <p14:creationId xmlns:p14="http://schemas.microsoft.com/office/powerpoint/2010/main" val="340570078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5"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decel="50000" fill="hold">
                                          <p:stCondLst>
                                            <p:cond delay="0"/>
                                          </p:stCondLst>
                                        </p:cTn>
                                        <p:tgtEl>
                                          <p:spTgt spid="3"/>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3"/>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3"/>
                                        </p:tgtEl>
                                        <p:attrNameLst>
                                          <p:attrName>ppt_w</p:attrName>
                                        </p:attrNameLst>
                                      </p:cBhvr>
                                      <p:tavLst>
                                        <p:tav tm="0">
                                          <p:val>
                                            <p:strVal val="#ppt_w*.05"/>
                                          </p:val>
                                        </p:tav>
                                        <p:tav tm="100000">
                                          <p:val>
                                            <p:strVal val="#ppt_w"/>
                                          </p:val>
                                        </p:tav>
                                      </p:tavLst>
                                    </p:anim>
                                    <p:anim calcmode="lin" valueType="num">
                                      <p:cBhvr>
                                        <p:cTn id="10" dur="1000" fill="hold"/>
                                        <p:tgtEl>
                                          <p:spTgt spid="3"/>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3"/>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3"/>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3"/>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Espaço Reservado para Conteúdo 5"/>
          <p:cNvSpPr>
            <a:spLocks noGrp="1"/>
          </p:cNvSpPr>
          <p:nvPr>
            <p:ph idx="4294967295"/>
          </p:nvPr>
        </p:nvSpPr>
        <p:spPr>
          <a:xfrm>
            <a:off x="485775" y="1290638"/>
            <a:ext cx="11706225" cy="4351337"/>
          </a:xfrm>
        </p:spPr>
        <p:txBody>
          <a:bodyPr>
            <a:normAutofit/>
          </a:bodyPr>
          <a:lstStyle/>
          <a:p>
            <a:endParaRPr lang="pt-BR" b="1" dirty="0"/>
          </a:p>
          <a:p>
            <a:pPr marL="0" indent="0">
              <a:buNone/>
            </a:pPr>
            <a:endParaRPr lang="pt-BR" b="1" dirty="0"/>
          </a:p>
        </p:txBody>
      </p:sp>
      <p:sp>
        <p:nvSpPr>
          <p:cNvPr id="8" name="CaixaDeTexto 9"/>
          <p:cNvSpPr txBox="1">
            <a:spLocks noChangeArrowheads="1"/>
          </p:cNvSpPr>
          <p:nvPr/>
        </p:nvSpPr>
        <p:spPr bwMode="auto">
          <a:xfrm>
            <a:off x="3368968" y="360511"/>
            <a:ext cx="6984776" cy="584775"/>
          </a:xfrm>
          <a:prstGeom prst="rect">
            <a:avLst/>
          </a:prstGeom>
          <a:noFill/>
          <a:ln w="9525">
            <a:noFill/>
            <a:miter lim="800000"/>
            <a:headEnd/>
            <a:tailEnd/>
          </a:ln>
        </p:spPr>
        <p:txBody>
          <a:bodyPr wrap="square">
            <a:spAutoFit/>
          </a:bodyPr>
          <a:lstStyle/>
          <a:p>
            <a:pPr algn="ctr"/>
            <a:r>
              <a:rPr lang="pt-BR" sz="3200" b="1" dirty="0">
                <a:solidFill>
                  <a:prstClr val="black"/>
                </a:solidFill>
                <a:latin typeface="Arial" charset="0"/>
                <a:cs typeface="Times New Roman" pitchFamily="18" charset="0"/>
              </a:rPr>
              <a:t>Concorrência Monopolística.</a:t>
            </a:r>
          </a:p>
        </p:txBody>
      </p:sp>
      <p:sp>
        <p:nvSpPr>
          <p:cNvPr id="3" name="CaixaDeTexto 2"/>
          <p:cNvSpPr txBox="1"/>
          <p:nvPr/>
        </p:nvSpPr>
        <p:spPr>
          <a:xfrm>
            <a:off x="1703512" y="1628800"/>
            <a:ext cx="8650232" cy="2677656"/>
          </a:xfrm>
          <a:prstGeom prst="rect">
            <a:avLst/>
          </a:prstGeom>
          <a:noFill/>
        </p:spPr>
        <p:txBody>
          <a:bodyPr wrap="square" rtlCol="0">
            <a:spAutoFit/>
          </a:bodyPr>
          <a:lstStyle/>
          <a:p>
            <a:r>
              <a:rPr lang="pt-BR" sz="2400" b="1" dirty="0"/>
              <a:t>Concorrência monopolística</a:t>
            </a:r>
            <a:r>
              <a:rPr lang="pt-BR" sz="2400" dirty="0"/>
              <a:t>: Ocorre no mercado em que existem muitos consumidores e um número reduzido de produtores, que oferecem produtos semelhantes. Por causa disso, os produtores podem, de certa forma, determinar os preços de seus produtos.  Prática desleal, concorrência imperfeita, formação de </a:t>
            </a:r>
            <a:r>
              <a:rPr lang="pt-BR" sz="2400" u="sng" dirty="0">
                <a:solidFill>
                  <a:srgbClr val="0070C0"/>
                </a:solidFill>
              </a:rPr>
              <a:t>cartel.</a:t>
            </a:r>
          </a:p>
          <a:p>
            <a:endParaRPr lang="pt-BR" sz="2400" dirty="0"/>
          </a:p>
          <a:p>
            <a:r>
              <a:rPr lang="pt-BR" sz="2400" dirty="0"/>
              <a:t>Exemplo: Petróleo e seus derivados.    </a:t>
            </a:r>
          </a:p>
        </p:txBody>
      </p:sp>
    </p:spTree>
    <p:extLst>
      <p:ext uri="{BB962C8B-B14F-4D97-AF65-F5344CB8AC3E}">
        <p14:creationId xmlns:p14="http://schemas.microsoft.com/office/powerpoint/2010/main" val="23965227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5"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decel="50000" fill="hold">
                                          <p:stCondLst>
                                            <p:cond delay="0"/>
                                          </p:stCondLst>
                                        </p:cTn>
                                        <p:tgtEl>
                                          <p:spTgt spid="3"/>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3"/>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3"/>
                                        </p:tgtEl>
                                        <p:attrNameLst>
                                          <p:attrName>ppt_w</p:attrName>
                                        </p:attrNameLst>
                                      </p:cBhvr>
                                      <p:tavLst>
                                        <p:tav tm="0">
                                          <p:val>
                                            <p:strVal val="#ppt_w*.05"/>
                                          </p:val>
                                        </p:tav>
                                        <p:tav tm="100000">
                                          <p:val>
                                            <p:strVal val="#ppt_w"/>
                                          </p:val>
                                        </p:tav>
                                      </p:tavLst>
                                    </p:anim>
                                    <p:anim calcmode="lin" valueType="num">
                                      <p:cBhvr>
                                        <p:cTn id="10" dur="1000" fill="hold"/>
                                        <p:tgtEl>
                                          <p:spTgt spid="3"/>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3"/>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3"/>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3"/>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Espaço Reservado para Conteúdo 5"/>
          <p:cNvSpPr>
            <a:spLocks noGrp="1"/>
          </p:cNvSpPr>
          <p:nvPr>
            <p:ph idx="4294967295"/>
          </p:nvPr>
        </p:nvSpPr>
        <p:spPr>
          <a:xfrm>
            <a:off x="485775" y="1290638"/>
            <a:ext cx="11706225" cy="4351337"/>
          </a:xfrm>
        </p:spPr>
        <p:txBody>
          <a:bodyPr>
            <a:normAutofit/>
          </a:bodyPr>
          <a:lstStyle/>
          <a:p>
            <a:endParaRPr lang="pt-BR" b="1" dirty="0"/>
          </a:p>
          <a:p>
            <a:pPr marL="0" indent="0">
              <a:buNone/>
            </a:pPr>
            <a:endParaRPr lang="pt-BR" b="1" dirty="0"/>
          </a:p>
        </p:txBody>
      </p:sp>
      <p:sp>
        <p:nvSpPr>
          <p:cNvPr id="8" name="CaixaDeTexto 9"/>
          <p:cNvSpPr txBox="1">
            <a:spLocks noChangeArrowheads="1"/>
          </p:cNvSpPr>
          <p:nvPr/>
        </p:nvSpPr>
        <p:spPr bwMode="auto">
          <a:xfrm>
            <a:off x="3368968" y="360511"/>
            <a:ext cx="6984776" cy="584775"/>
          </a:xfrm>
          <a:prstGeom prst="rect">
            <a:avLst/>
          </a:prstGeom>
          <a:noFill/>
          <a:ln w="9525">
            <a:noFill/>
            <a:miter lim="800000"/>
            <a:headEnd/>
            <a:tailEnd/>
          </a:ln>
        </p:spPr>
        <p:txBody>
          <a:bodyPr wrap="square">
            <a:spAutoFit/>
          </a:bodyPr>
          <a:lstStyle/>
          <a:p>
            <a:pPr algn="ctr"/>
            <a:r>
              <a:rPr lang="pt-BR" sz="3200" b="1" dirty="0">
                <a:solidFill>
                  <a:prstClr val="black"/>
                </a:solidFill>
                <a:latin typeface="Arial" charset="0"/>
                <a:cs typeface="Times New Roman" pitchFamily="18" charset="0"/>
              </a:rPr>
              <a:t>Oligopólio. </a:t>
            </a:r>
          </a:p>
        </p:txBody>
      </p:sp>
      <p:sp>
        <p:nvSpPr>
          <p:cNvPr id="3" name="CaixaDeTexto 2"/>
          <p:cNvSpPr txBox="1"/>
          <p:nvPr/>
        </p:nvSpPr>
        <p:spPr>
          <a:xfrm>
            <a:off x="1703512" y="1628800"/>
            <a:ext cx="8650232" cy="3046988"/>
          </a:xfrm>
          <a:prstGeom prst="rect">
            <a:avLst/>
          </a:prstGeom>
          <a:noFill/>
        </p:spPr>
        <p:txBody>
          <a:bodyPr wrap="square" rtlCol="0">
            <a:spAutoFit/>
          </a:bodyPr>
          <a:lstStyle/>
          <a:p>
            <a:r>
              <a:rPr lang="pt-BR" sz="2400" b="1" dirty="0"/>
              <a:t>Oligopólio</a:t>
            </a:r>
            <a:r>
              <a:rPr lang="pt-BR" sz="2400" dirty="0"/>
              <a:t>: O oligopólio é uma estrutura de mercado caracterizada por um número pequeno de firmas, com alto grau de concentração local, ou de poder de mercado. As políticas adotadas pelos oligopolistas são tomadas de acordo com os efeitos sobre os seus rivais, como por exemplo: têm-se as políticas de preço que influem nos lucros e nas vendas dos concorrentes.</a:t>
            </a:r>
          </a:p>
          <a:p>
            <a:endParaRPr lang="pt-BR" sz="2400" dirty="0"/>
          </a:p>
          <a:p>
            <a:r>
              <a:rPr lang="pt-BR" sz="2400" dirty="0"/>
              <a:t> </a:t>
            </a:r>
          </a:p>
        </p:txBody>
      </p:sp>
    </p:spTree>
    <p:extLst>
      <p:ext uri="{BB962C8B-B14F-4D97-AF65-F5344CB8AC3E}">
        <p14:creationId xmlns:p14="http://schemas.microsoft.com/office/powerpoint/2010/main" val="322838821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5"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decel="50000" fill="hold">
                                          <p:stCondLst>
                                            <p:cond delay="0"/>
                                          </p:stCondLst>
                                        </p:cTn>
                                        <p:tgtEl>
                                          <p:spTgt spid="3"/>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3"/>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3"/>
                                        </p:tgtEl>
                                        <p:attrNameLst>
                                          <p:attrName>ppt_w</p:attrName>
                                        </p:attrNameLst>
                                      </p:cBhvr>
                                      <p:tavLst>
                                        <p:tav tm="0">
                                          <p:val>
                                            <p:strVal val="#ppt_w*.05"/>
                                          </p:val>
                                        </p:tav>
                                        <p:tav tm="100000">
                                          <p:val>
                                            <p:strVal val="#ppt_w"/>
                                          </p:val>
                                        </p:tav>
                                      </p:tavLst>
                                    </p:anim>
                                    <p:anim calcmode="lin" valueType="num">
                                      <p:cBhvr>
                                        <p:cTn id="10" dur="1000" fill="hold"/>
                                        <p:tgtEl>
                                          <p:spTgt spid="3"/>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3"/>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3"/>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3"/>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Espaço Reservado para Conteúdo 5"/>
          <p:cNvSpPr>
            <a:spLocks noGrp="1"/>
          </p:cNvSpPr>
          <p:nvPr>
            <p:ph idx="4294967295"/>
          </p:nvPr>
        </p:nvSpPr>
        <p:spPr>
          <a:xfrm>
            <a:off x="485775" y="1290638"/>
            <a:ext cx="11706225" cy="4351337"/>
          </a:xfrm>
        </p:spPr>
        <p:txBody>
          <a:bodyPr>
            <a:normAutofit/>
          </a:bodyPr>
          <a:lstStyle/>
          <a:p>
            <a:endParaRPr lang="pt-BR" b="1" dirty="0"/>
          </a:p>
          <a:p>
            <a:pPr marL="0" indent="0">
              <a:buNone/>
            </a:pPr>
            <a:endParaRPr lang="pt-BR" b="1" dirty="0"/>
          </a:p>
        </p:txBody>
      </p:sp>
      <p:sp>
        <p:nvSpPr>
          <p:cNvPr id="8" name="CaixaDeTexto 9"/>
          <p:cNvSpPr txBox="1">
            <a:spLocks noChangeArrowheads="1"/>
          </p:cNvSpPr>
          <p:nvPr/>
        </p:nvSpPr>
        <p:spPr bwMode="auto">
          <a:xfrm>
            <a:off x="3431704" y="332656"/>
            <a:ext cx="6048672" cy="707886"/>
          </a:xfrm>
          <a:prstGeom prst="rect">
            <a:avLst/>
          </a:prstGeom>
          <a:noFill/>
          <a:ln w="9525">
            <a:noFill/>
            <a:miter lim="800000"/>
            <a:headEnd/>
            <a:tailEnd/>
          </a:ln>
        </p:spPr>
        <p:txBody>
          <a:bodyPr wrap="square">
            <a:spAutoFit/>
          </a:bodyPr>
          <a:lstStyle/>
          <a:p>
            <a:r>
              <a:rPr lang="pt-BR" sz="4000" b="1" dirty="0">
                <a:solidFill>
                  <a:prstClr val="black"/>
                </a:solidFill>
                <a:latin typeface="Arial" charset="0"/>
                <a:cs typeface="Times New Roman" pitchFamily="18" charset="0"/>
              </a:rPr>
              <a:t>Globalização, o que é? </a:t>
            </a:r>
          </a:p>
        </p:txBody>
      </p:sp>
      <p:sp>
        <p:nvSpPr>
          <p:cNvPr id="3" name="CaixaDeTexto 2"/>
          <p:cNvSpPr txBox="1"/>
          <p:nvPr/>
        </p:nvSpPr>
        <p:spPr>
          <a:xfrm>
            <a:off x="1775521" y="1628800"/>
            <a:ext cx="8712968" cy="707886"/>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pt-BR" sz="2000" dirty="0">
                <a:latin typeface="Verdana" pitchFamily="34" charset="0"/>
                <a:ea typeface="Verdana" pitchFamily="34" charset="0"/>
                <a:cs typeface="Verdana" pitchFamily="34" charset="0"/>
              </a:rPr>
              <a:t>Globalização significa o aumento da competição internacional e do </a:t>
            </a:r>
            <a:r>
              <a:rPr lang="pt-BR" sz="2000" u="sng" dirty="0">
                <a:solidFill>
                  <a:srgbClr val="0070C0"/>
                </a:solidFill>
                <a:latin typeface="Verdana" pitchFamily="34" charset="0"/>
                <a:ea typeface="Verdana" pitchFamily="34" charset="0"/>
                <a:cs typeface="Verdana" pitchFamily="34" charset="0"/>
              </a:rPr>
              <a:t>livre comércio entre países.</a:t>
            </a:r>
            <a:r>
              <a:rPr lang="pt-BR" sz="1600" dirty="0">
                <a:latin typeface="Verdana" pitchFamily="34" charset="0"/>
                <a:ea typeface="Verdana" pitchFamily="34" charset="0"/>
                <a:cs typeface="Verdana" pitchFamily="34" charset="0"/>
              </a:rPr>
              <a:t> </a:t>
            </a:r>
          </a:p>
        </p:txBody>
      </p:sp>
      <p:sp>
        <p:nvSpPr>
          <p:cNvPr id="4" name="CaixaDeTexto 3"/>
          <p:cNvSpPr txBox="1"/>
          <p:nvPr/>
        </p:nvSpPr>
        <p:spPr>
          <a:xfrm>
            <a:off x="1775521" y="2915653"/>
            <a:ext cx="8712968" cy="3170099"/>
          </a:xfrm>
          <a:prstGeom prst="rect">
            <a:avLst/>
          </a:prstGeom>
          <a:noFill/>
        </p:spPr>
        <p:txBody>
          <a:bodyPr wrap="square" rtlCol="0">
            <a:spAutoFit/>
          </a:bodyPr>
          <a:lstStyle/>
          <a:p>
            <a:r>
              <a:rPr lang="pt-BR" sz="2000" dirty="0">
                <a:latin typeface="Verdana" pitchFamily="34" charset="0"/>
                <a:ea typeface="Verdana" pitchFamily="34" charset="0"/>
                <a:cs typeface="Verdana" pitchFamily="34" charset="0"/>
              </a:rPr>
              <a:t>Segundo Samir </a:t>
            </a:r>
            <a:r>
              <a:rPr lang="pt-BR" sz="2000" dirty="0" err="1">
                <a:latin typeface="Verdana" pitchFamily="34" charset="0"/>
                <a:ea typeface="Verdana" pitchFamily="34" charset="0"/>
                <a:cs typeface="Verdana" pitchFamily="34" charset="0"/>
              </a:rPr>
              <a:t>Keedi</a:t>
            </a:r>
            <a:r>
              <a:rPr lang="pt-BR" sz="2000" dirty="0">
                <a:latin typeface="Verdana" pitchFamily="34" charset="0"/>
                <a:ea typeface="Verdana" pitchFamily="34" charset="0"/>
                <a:cs typeface="Verdana" pitchFamily="34" charset="0"/>
              </a:rPr>
              <a:t>, , zona de livre comércio, união em que os países envolvidos concordam em permitir o trânsito de mercadorias entre eles sem a cobrança de impostos de importação, ditos direitos alfandegários.</a:t>
            </a:r>
          </a:p>
          <a:p>
            <a:endParaRPr lang="pt-BR" sz="2000" dirty="0">
              <a:latin typeface="Verdana" pitchFamily="34" charset="0"/>
              <a:ea typeface="Verdana" pitchFamily="34" charset="0"/>
              <a:cs typeface="Verdana" pitchFamily="34" charset="0"/>
            </a:endParaRPr>
          </a:p>
          <a:p>
            <a:r>
              <a:rPr lang="pt-BR" sz="2000" dirty="0">
                <a:latin typeface="Verdana" pitchFamily="34" charset="0"/>
                <a:ea typeface="Verdana" pitchFamily="34" charset="0"/>
                <a:cs typeface="Verdana" pitchFamily="34" charset="0"/>
              </a:rPr>
              <a:t>                          </a:t>
            </a:r>
          </a:p>
          <a:p>
            <a:endParaRPr lang="pt-BR" sz="2000" dirty="0">
              <a:latin typeface="Verdana" pitchFamily="34" charset="0"/>
              <a:ea typeface="Verdana" pitchFamily="34" charset="0"/>
              <a:cs typeface="Verdana" pitchFamily="34" charset="0"/>
            </a:endParaRPr>
          </a:p>
          <a:p>
            <a:endParaRPr lang="pt-BR" sz="2000" dirty="0">
              <a:latin typeface="Verdana" pitchFamily="34" charset="0"/>
              <a:ea typeface="Verdana" pitchFamily="34" charset="0"/>
              <a:cs typeface="Verdana" pitchFamily="34" charset="0"/>
            </a:endParaRPr>
          </a:p>
          <a:p>
            <a:endParaRPr lang="pt-BR" sz="2000" dirty="0">
              <a:latin typeface="Verdana" pitchFamily="34" charset="0"/>
              <a:ea typeface="Verdana" pitchFamily="34" charset="0"/>
              <a:cs typeface="Verdana" pitchFamily="34" charset="0"/>
            </a:endParaRPr>
          </a:p>
          <a:p>
            <a:r>
              <a:rPr lang="pt-BR" sz="2000" dirty="0">
                <a:latin typeface="Verdana" pitchFamily="34" charset="0"/>
                <a:ea typeface="Verdana" pitchFamily="34" charset="0"/>
                <a:cs typeface="Verdana" pitchFamily="34" charset="0"/>
              </a:rPr>
              <a:t>                                      </a:t>
            </a:r>
            <a:r>
              <a:rPr lang="pt-BR" sz="1600" dirty="0">
                <a:latin typeface="Verdana" pitchFamily="34" charset="0"/>
                <a:ea typeface="Verdana" pitchFamily="34" charset="0"/>
                <a:cs typeface="Verdana" pitchFamily="34" charset="0"/>
              </a:rPr>
              <a:t>Samir </a:t>
            </a:r>
            <a:r>
              <a:rPr lang="pt-BR" sz="1600" dirty="0" err="1">
                <a:latin typeface="Verdana" pitchFamily="34" charset="0"/>
                <a:ea typeface="Verdana" pitchFamily="34" charset="0"/>
                <a:cs typeface="Verdana" pitchFamily="34" charset="0"/>
              </a:rPr>
              <a:t>Keedi</a:t>
            </a:r>
            <a:r>
              <a:rPr lang="pt-BR" sz="1600" dirty="0">
                <a:latin typeface="Verdana" pitchFamily="34" charset="0"/>
                <a:ea typeface="Verdana" pitchFamily="34" charset="0"/>
                <a:cs typeface="Verdana" pitchFamily="34" charset="0"/>
              </a:rPr>
              <a:t>, ABC Comércio Exterior, 2011.</a:t>
            </a:r>
            <a:endParaRPr lang="pt-BR" sz="2000" dirty="0">
              <a:latin typeface="Verdana" pitchFamily="34" charset="0"/>
              <a:ea typeface="Verdana" pitchFamily="34" charset="0"/>
              <a:cs typeface="Verdana" pitchFamily="34" charset="0"/>
            </a:endParaRPr>
          </a:p>
        </p:txBody>
      </p:sp>
      <p:pic>
        <p:nvPicPr>
          <p:cNvPr id="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9536" y="4471219"/>
            <a:ext cx="2376266" cy="14526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3934644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2500" fill="hold"/>
                                        <p:tgtEl>
                                          <p:spTgt spid="3"/>
                                        </p:tgtEl>
                                        <p:attrNameLst>
                                          <p:attrName>ppt_w</p:attrName>
                                        </p:attrNameLst>
                                      </p:cBhvr>
                                      <p:tavLst>
                                        <p:tav tm="0">
                                          <p:val>
                                            <p:fltVal val="0"/>
                                          </p:val>
                                        </p:tav>
                                        <p:tav tm="100000">
                                          <p:val>
                                            <p:strVal val="#ppt_w"/>
                                          </p:val>
                                        </p:tav>
                                      </p:tavLst>
                                    </p:anim>
                                    <p:anim calcmode="lin" valueType="num">
                                      <p:cBhvr>
                                        <p:cTn id="8" dur="2500" fill="hold"/>
                                        <p:tgtEl>
                                          <p:spTgt spid="3"/>
                                        </p:tgtEl>
                                        <p:attrNameLst>
                                          <p:attrName>ppt_h</p:attrName>
                                        </p:attrNameLst>
                                      </p:cBhvr>
                                      <p:tavLst>
                                        <p:tav tm="0">
                                          <p:val>
                                            <p:fltVal val="0"/>
                                          </p:val>
                                        </p:tav>
                                        <p:tav tm="100000">
                                          <p:val>
                                            <p:strVal val="#ppt_h"/>
                                          </p:val>
                                        </p:tav>
                                      </p:tavLst>
                                    </p:anim>
                                    <p:animEffect transition="in" filter="fade">
                                      <p:cBhvr>
                                        <p:cTn id="9" dur="2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25"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p:cTn id="14" dur="500" decel="50000" fill="hold">
                                          <p:stCondLst>
                                            <p:cond delay="0"/>
                                          </p:stCondLst>
                                        </p:cTn>
                                        <p:tgtEl>
                                          <p:spTgt spid="4"/>
                                        </p:tgtEl>
                                        <p:attrNameLst>
                                          <p:attrName>style.rotation</p:attrName>
                                        </p:attrNameLst>
                                      </p:cBhvr>
                                      <p:tavLst>
                                        <p:tav tm="0">
                                          <p:val>
                                            <p:fltVal val="-90"/>
                                          </p:val>
                                        </p:tav>
                                        <p:tav tm="100000">
                                          <p:val>
                                            <p:fltVal val="0"/>
                                          </p:val>
                                        </p:tav>
                                      </p:tavLst>
                                    </p:anim>
                                    <p:anim calcmode="lin" valueType="num">
                                      <p:cBhvr>
                                        <p:cTn id="15" dur="500" decel="50000" fill="hold">
                                          <p:stCondLst>
                                            <p:cond delay="0"/>
                                          </p:stCondLst>
                                        </p:cTn>
                                        <p:tgtEl>
                                          <p:spTgt spid="4"/>
                                        </p:tgtEl>
                                        <p:attrNameLst>
                                          <p:attrName>ppt_w</p:attrName>
                                        </p:attrNameLst>
                                      </p:cBhvr>
                                      <p:tavLst>
                                        <p:tav tm="0">
                                          <p:val>
                                            <p:strVal val="#ppt_w"/>
                                          </p:val>
                                        </p:tav>
                                        <p:tav tm="100000">
                                          <p:val>
                                            <p:strVal val="#ppt_w*.05"/>
                                          </p:val>
                                        </p:tav>
                                      </p:tavLst>
                                    </p:anim>
                                    <p:anim calcmode="lin" valueType="num">
                                      <p:cBhvr>
                                        <p:cTn id="16" dur="500" accel="50000" fill="hold">
                                          <p:stCondLst>
                                            <p:cond delay="500"/>
                                          </p:stCondLst>
                                        </p:cTn>
                                        <p:tgtEl>
                                          <p:spTgt spid="4"/>
                                        </p:tgtEl>
                                        <p:attrNameLst>
                                          <p:attrName>ppt_w</p:attrName>
                                        </p:attrNameLst>
                                      </p:cBhvr>
                                      <p:tavLst>
                                        <p:tav tm="0">
                                          <p:val>
                                            <p:strVal val="#ppt_w*.05"/>
                                          </p:val>
                                        </p:tav>
                                        <p:tav tm="100000">
                                          <p:val>
                                            <p:strVal val="#ppt_w"/>
                                          </p:val>
                                        </p:tav>
                                      </p:tavLst>
                                    </p:anim>
                                    <p:anim calcmode="lin" valueType="num">
                                      <p:cBhvr>
                                        <p:cTn id="17" dur="1000" fill="hold"/>
                                        <p:tgtEl>
                                          <p:spTgt spid="4"/>
                                        </p:tgtEl>
                                        <p:attrNameLst>
                                          <p:attrName>ppt_h</p:attrName>
                                        </p:attrNameLst>
                                      </p:cBhvr>
                                      <p:tavLst>
                                        <p:tav tm="0">
                                          <p:val>
                                            <p:strVal val="#ppt_h"/>
                                          </p:val>
                                        </p:tav>
                                        <p:tav tm="100000">
                                          <p:val>
                                            <p:strVal val="#ppt_h"/>
                                          </p:val>
                                        </p:tav>
                                      </p:tavLst>
                                    </p:anim>
                                    <p:anim calcmode="lin" valueType="num">
                                      <p:cBhvr>
                                        <p:cTn id="18" dur="500" decel="50000" fill="hold">
                                          <p:stCondLst>
                                            <p:cond delay="0"/>
                                          </p:stCondLst>
                                        </p:cTn>
                                        <p:tgtEl>
                                          <p:spTgt spid="4"/>
                                        </p:tgtEl>
                                        <p:attrNameLst>
                                          <p:attrName>ppt_x</p:attrName>
                                        </p:attrNameLst>
                                      </p:cBhvr>
                                      <p:tavLst>
                                        <p:tav tm="0">
                                          <p:val>
                                            <p:strVal val="#ppt_x+.4"/>
                                          </p:val>
                                        </p:tav>
                                        <p:tav tm="100000">
                                          <p:val>
                                            <p:strVal val="#ppt_x"/>
                                          </p:val>
                                        </p:tav>
                                      </p:tavLst>
                                    </p:anim>
                                    <p:anim calcmode="lin" valueType="num">
                                      <p:cBhvr>
                                        <p:cTn id="19" dur="500" decel="50000" fill="hold">
                                          <p:stCondLst>
                                            <p:cond delay="0"/>
                                          </p:stCondLst>
                                        </p:cTn>
                                        <p:tgtEl>
                                          <p:spTgt spid="4"/>
                                        </p:tgtEl>
                                        <p:attrNameLst>
                                          <p:attrName>ppt_y</p:attrName>
                                        </p:attrNameLst>
                                      </p:cBhvr>
                                      <p:tavLst>
                                        <p:tav tm="0">
                                          <p:val>
                                            <p:strVal val="#ppt_y-.2"/>
                                          </p:val>
                                        </p:tav>
                                        <p:tav tm="100000">
                                          <p:val>
                                            <p:strVal val="#ppt_y+.1"/>
                                          </p:val>
                                        </p:tav>
                                      </p:tavLst>
                                    </p:anim>
                                    <p:anim calcmode="lin" valueType="num">
                                      <p:cBhvr>
                                        <p:cTn id="20" dur="500" accel="50000" fill="hold">
                                          <p:stCondLst>
                                            <p:cond delay="500"/>
                                          </p:stCondLst>
                                        </p:cTn>
                                        <p:tgtEl>
                                          <p:spTgt spid="4"/>
                                        </p:tgtEl>
                                        <p:attrNameLst>
                                          <p:attrName>ppt_y</p:attrName>
                                        </p:attrNameLst>
                                      </p:cBhvr>
                                      <p:tavLst>
                                        <p:tav tm="0">
                                          <p:val>
                                            <p:strVal val="#ppt_y+.1"/>
                                          </p:val>
                                        </p:tav>
                                        <p:tav tm="100000">
                                          <p:val>
                                            <p:strVal val="#ppt_y"/>
                                          </p:val>
                                        </p:tav>
                                      </p:tavLst>
                                    </p:anim>
                                    <p:animEffect transition="in" filter="fade">
                                      <p:cBhvr>
                                        <p:cTn id="21" dur="1000" decel="50000">
                                          <p:stCondLst>
                                            <p:cond delay="0"/>
                                          </p:stCondLst>
                                        </p:cTn>
                                        <p:tgtEl>
                                          <p:spTgt spid="4"/>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nodeType="clickEffect">
                                  <p:stCondLst>
                                    <p:cond delay="0"/>
                                  </p:stCondLst>
                                  <p:childTnLst>
                                    <p:set>
                                      <p:cBhvr>
                                        <p:cTn id="25" dur="1" fill="hold">
                                          <p:stCondLst>
                                            <p:cond delay="0"/>
                                          </p:stCondLst>
                                        </p:cTn>
                                        <p:tgtEl>
                                          <p:spTgt spid="9"/>
                                        </p:tgtEl>
                                        <p:attrNameLst>
                                          <p:attrName>style.visibility</p:attrName>
                                        </p:attrNameLst>
                                      </p:cBhvr>
                                      <p:to>
                                        <p:strVal val="visible"/>
                                      </p:to>
                                    </p:set>
                                    <p:anim calcmode="lin" valueType="num">
                                      <p:cBhvr>
                                        <p:cTn id="26" dur="500" fill="hold"/>
                                        <p:tgtEl>
                                          <p:spTgt spid="9"/>
                                        </p:tgtEl>
                                        <p:attrNameLst>
                                          <p:attrName>ppt_w</p:attrName>
                                        </p:attrNameLst>
                                      </p:cBhvr>
                                      <p:tavLst>
                                        <p:tav tm="0">
                                          <p:val>
                                            <p:fltVal val="0"/>
                                          </p:val>
                                        </p:tav>
                                        <p:tav tm="100000">
                                          <p:val>
                                            <p:strVal val="#ppt_w"/>
                                          </p:val>
                                        </p:tav>
                                      </p:tavLst>
                                    </p:anim>
                                    <p:anim calcmode="lin" valueType="num">
                                      <p:cBhvr>
                                        <p:cTn id="27" dur="500" fill="hold"/>
                                        <p:tgtEl>
                                          <p:spTgt spid="9"/>
                                        </p:tgtEl>
                                        <p:attrNameLst>
                                          <p:attrName>ppt_h</p:attrName>
                                        </p:attrNameLst>
                                      </p:cBhvr>
                                      <p:tavLst>
                                        <p:tav tm="0">
                                          <p:val>
                                            <p:fltVal val="0"/>
                                          </p:val>
                                        </p:tav>
                                        <p:tav tm="100000">
                                          <p:val>
                                            <p:strVal val="#ppt_h"/>
                                          </p:val>
                                        </p:tav>
                                      </p:tavLst>
                                    </p:anim>
                                    <p:animEffect transition="in" filter="fade">
                                      <p:cBhvr>
                                        <p:cTn id="2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Lst>
  </p:timing>
</p:sld>
</file>

<file path=ppt/slides/slide10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5521" y="1226316"/>
            <a:ext cx="2607631" cy="2032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ítulo 2"/>
          <p:cNvSpPr>
            <a:spLocks noGrp="1"/>
          </p:cNvSpPr>
          <p:nvPr>
            <p:ph type="title" idx="4294967295"/>
          </p:nvPr>
        </p:nvSpPr>
        <p:spPr>
          <a:xfrm>
            <a:off x="0" y="223838"/>
            <a:ext cx="12023725" cy="858837"/>
          </a:xfrm>
        </p:spPr>
        <p:txBody>
          <a:bodyPr>
            <a:normAutofit/>
          </a:bodyPr>
          <a:lstStyle/>
          <a:p>
            <a:pPr algn="r"/>
            <a:r>
              <a:rPr lang="pt-BR" sz="3200" b="1" dirty="0"/>
              <a:t>Mundo Global, sem fronteiras.</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83832" y="1700808"/>
            <a:ext cx="1847850" cy="1276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20136" y="1719212"/>
            <a:ext cx="1584176" cy="14217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89782" y="3140968"/>
            <a:ext cx="1771650" cy="133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29166" y="3429000"/>
            <a:ext cx="1862579" cy="1355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4"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26187" y="3338945"/>
            <a:ext cx="1706131" cy="14020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7" name="Picture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07757" y="3259036"/>
            <a:ext cx="1333500" cy="133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8" name="Picture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112225" y="4564323"/>
            <a:ext cx="2014945" cy="1511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9" name="Picture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58972" y="4784012"/>
            <a:ext cx="2520280" cy="12498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60" name="Picture 1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665430" y="4784013"/>
            <a:ext cx="1654706" cy="1332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61" name="Picture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904313" y="1638896"/>
            <a:ext cx="1266825" cy="1400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62" name="Picture 1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744073" y="3289904"/>
            <a:ext cx="1368153"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5183473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ítulo 2"/>
          <p:cNvSpPr>
            <a:spLocks noGrp="1"/>
          </p:cNvSpPr>
          <p:nvPr>
            <p:ph type="title" idx="4294967295"/>
          </p:nvPr>
        </p:nvSpPr>
        <p:spPr>
          <a:xfrm>
            <a:off x="0" y="223838"/>
            <a:ext cx="12023725" cy="858837"/>
          </a:xfrm>
        </p:spPr>
        <p:txBody>
          <a:bodyPr/>
          <a:lstStyle/>
          <a:p>
            <a:r>
              <a:rPr lang="pt-BR" dirty="0"/>
              <a:t>O que é exportação?</a:t>
            </a:r>
          </a:p>
        </p:txBody>
      </p:sp>
      <p:sp>
        <p:nvSpPr>
          <p:cNvPr id="6" name="Espaço Reservado para Conteúdo 5"/>
          <p:cNvSpPr>
            <a:spLocks noGrp="1"/>
          </p:cNvSpPr>
          <p:nvPr>
            <p:ph idx="4294967295"/>
          </p:nvPr>
        </p:nvSpPr>
        <p:spPr>
          <a:xfrm>
            <a:off x="485775" y="1290638"/>
            <a:ext cx="11706225" cy="4351337"/>
          </a:xfrm>
        </p:spPr>
        <p:txBody>
          <a:bodyPr>
            <a:normAutofit/>
          </a:bodyPr>
          <a:lstStyle/>
          <a:p>
            <a:endParaRPr lang="pt-BR" b="1" dirty="0"/>
          </a:p>
          <a:p>
            <a:pPr marL="0" indent="0">
              <a:buNone/>
            </a:pPr>
            <a:endParaRPr lang="pt-BR" b="1" dirty="0"/>
          </a:p>
        </p:txBody>
      </p:sp>
      <p:sp>
        <p:nvSpPr>
          <p:cNvPr id="5" name="AutoShape 4" descr="data:image/jpeg;base64,/9j/4AAQSkZJRgABAQAAAQABAAD/2wCEAAkGBxQSEhQUEhMWFhUXGBgZGBgYGR8XGBgaGBccFxwXGBcZHCggGx8lHB0aIjEhJiorLi4uHB8zODMsNygtLisBCgoKDg0OGxAQGyslICQsLC0sLCwsLCwsLCwsLCwsLCwsLCwsLCwsLCwsLCwsLCwsLCwsLCwsLCwsLCwsLCwsLP/AABEIAMEBBQMBIgACEQEDEQH/xAAcAAABBQEBAQAAAAAAAAAAAAAFAAMEBgcCAQj/xABUEAACAQIEAgYFBwYJCQcFAAABAhEAAwQSITEFQQYTIlFhcQcygZGxFCNCkqHB0VJTcoKy8BUWM0NilKLh4xckRFRVc5Oz0zRjo8LD4vEIRWWDpP/EABkBAAMBAQEAAAAAAAAAAAAAAAABAgMEBf/EACwRAAICAQQCAQMCBwEAAAAAAAABAhEDEiExUQRBEyIycWGRFEKBobHB0QX/2gAMAwEAAhEDEQA/ALtxPGXhduAXXADsAAxAAnaoR4hf/PXPrH8aJ8RtfO3P02+NQmtV3RSpbHI27GRxC/8Anrn1j+Ndrj7/AOeufWP410LNOJZopdBucjHXvz1z6x/GuxjL35259Y08linFsUaY9BuRvll787c+sfxrz5Ze/O3PrH8al9RS6qnUeg3Inyy9+eufWP414cZf/O3PrH8al9TXjWaKj0K2QTjb/wCeufWP41x8tv8A5659c/jUxrNcNZopdD3Ij4+/+eufXP41x/CGI/PXfrn8akvZrg2qdLoLZcejdxmw1suxZjmkkyT225+VFKG9HRGHt/rftmiVcMvuZ1R4FSpUqkZExFwhtDTRvHvNdYr1qYatopUIc65u80hebvNN16FqtKEO9ae8141095rmK4YUkkB411uTGl1rn6RrwDvNehaqkI7V3/KNOB276ZJArpHFJoZ31zd5rwXz3mmmauZpqKCx83z3ml1zd5qOXjU7UF4jxk6ra25tz/V7vOk4oEy1YK5mzayQfdpMUqEdDTNq5+n/AOUUqxlyURMcnzj/AKTfGoFxaJY313/Sb41D4pw/sLLkZj6qkCQNwcw18orpc9MTGMdTGkWnkWusIqi2A0gLlktGw0+jt8Kds9kqTtp9o00pfImP42c2gDsaeCU1gcrouWHbKJPqidjoYO/lTyrH76U4z1cEyjXIilN3FiNCZnbw0p9iBvpTOJclrMOgTLczAld5GXfXk21Kc9NDjBuzgOK9Irp8TZE579sRyzA7eelM/LML9F1Y6AQ6iSdANCafyL0Cxs9y1yyV5jW0AULqwGpY6EEaEH+6nGNOMrE40RXSuClPuRTTGrEWngQ+YT9b9o0QqBwQ/MJ+t+0an1xS+5m64FSpUqkZBxfrUwTTuL9amDXRHgQprtTTderVUTY7NcsK9FcsKQxvMK599K2Z+3412BVWScZfOnba0stdLSbHQI6QcQu2FtmzZ64tcVCM4TKpmWk6GNNKnYm+qAlj5d58hQTprjMtnsNDqwIP5Jgge3wofgcW91Q9wyxEnuHgByHhU2OiXxHGtcMHRe4feedD2NP3jUZqB0W7oX/JP+n/AOVaVc9CXBt3ACCRcg+HZU691KsZcjKn0lx175ZbtWnKh7pUwJ+mAPomN/soVxvpY9u89h97bBEgdmSNSddpIrv0gcaZb2VD1TLduQ6yecdpdT+sNtdKpF/H32eSlq+QYJADmAZEqsNvzIrf429whNJU0WG9x3F2gcqKJGrEtcBAg6bqPs5UBwvFsTcuK63IIfOGZyFzKc0ETt4d1SeH9OLiI1i8rZIeVz5NWBzespMxpE93jUro50ssYZLiIqMHYuFv2s3ayqoGZDoNGnTmPbm8EzePkRjwjn+OmLN62XvlshKgiCsPCs0AQ2m00Vs8eXDqSl57jAQBcZmntZid99Tr4VW8Zgbdy+TaxFgK9wx2guRTqDlkbGRA8DXa8ExbhQub5wN6wBVcontN9GeRrLTOJs54WtkhcZdixbr8+sgM5uBcyyQAxOWNtKYxHGT1hUhAA7iRtpMQPGNBPdTvEcNfa7cRLZZkIzFRESAhltiJYDyNS+IYApdbMMjRcY5tiGtOu0iZJgEbeNS7fJrCSitqBZSziHVWOpzbgCPede+ibcLs2lzKXgGQM6gb7AZI5zQG9YPVz9GZIA7PZkk5p0yg6+dQsNxKwJ7ZXUbLmk/lCWG1LS/RbywW7NE6FMou3GXVuqcAMwMMRI2A3yt7qs64sMJVpB2IrPejfTHA2Za7cvF5OgtAggplABJ7MQDz3NHcB064WEA+dVV0ggkkSdRqDMdwImtsEtGzPP8ALksstSLE17xrnrOfKgp6f8HJgnEARvkOvsnSo6dO+GtCWvlTO0AKLa6tptLCPfXSssTk0M1vo0Zw1v8AW/bailB+iTThLR/T/wCY1GK5ZfczVcCpUqVSMG409v2CmJp7Hev7BUc10w+1EM6muhXE15ePZMGNCJ7p0mqYEj5XZQw9y2CIkFhpO3PwPurq5xGwAJu2hO0suvLTXWguH6MYdxqznWTqupiCdtO6POvcd0Mw1wLmz9lcohhtmLcx3sffWG3ss56VYy7bwz3sELVxrcllMsMo9bKFI7Q3jzqgdHfSDir99VudWUgsQilCYI0zZjprVxfh1vDMHtXToAHDgNmCjLuI3GnPmaxbo/cCY26i6BReCjuGcAD4e6qiS+zaOJdNbFpgjko5E6gkQcwEFVJklTpFRLXTMXVPV6a76yRyI0ET76xfj166Lljr3ZnABl4mBmMQNNDIo5wXF9nfu+FNchZc+O8QL2nEdx9xp/gF6bSeQqtYrHCChYZisxzjvinuBNcuWQzXeqtI4XsKWd8shlLGAknL38we+iToa3ZYOMcZs4cE3G1EDKurSZIn8mYO8bVSeI9MWu5gjdUsGI3nvZtDG+gj20WxuFwowl9uohLbPmBYs90qoKlmI3zNy0EneqTwcWLzOGshCql9GLCBHfqD+PhUahs2L0E3JwmJ7Wb/ADg6xl/mrZ2pV16Ccat3BXsttbYW+QAIk/No2ZiAJOu5pVD5AqvTMk4m/mWIvPBnftGqRj7HzkksvkYIPnrNXbpgR8qxG/8AKvz/AKR5TVX4lc7Ohjxrur6UYJ7jfDOJ3CSl1GxCgeqU6whRzkdpQOZnnRvAcD4fioCm5Zc69lxiF8ioAcewGqlZvlZIY90jTfTkag4C4xLZdCIjtC2O7WINZt17NNzQcT6NsRaZWs3Ld0hgQCQswZAIaDr3VUMfhcTgrkMty0w10lRp+gdvbXHD+mGMwlwlL1w8irk3FPsYmadHT3EF2N1bdxSfVK5InfK1sqR5SR4Uvml+Q2G8P05xttsy3y3KLihxEzHaE7gHegXE+I3cRda9ebM7GTpoP6IGwUdwqwXuluHbVuHWSfGPwk+00+eJ8FuLNzB4q05iepcZQecB7nPyrKUvZRU8LisjA5VcCew8lDIjVQR5+6nbeKQk5rFsz43BGgGhD94nWdSeWlF3PCJ0/hGPHqAfdr8akrY4LE9dj5g9k27ZIPKCrR91TYFYxDqxGRMneAxafHtbVwDVnThnDLoAt4zEWG7r9jrAe7+QJPxodxHg6Wg2XEWrvcQWtt/w7qqaYrBdh4Ydx0PkdOdWXoVgoc3mBOWVSNidmafLQR40DwPDxcYL1qqSQBIJknloNK1To30cYhEIyoqgnlAOxZj+UfvOgrTGknbJlwax0DecDZP6f/NejJxluYzpPdmE+6ax/i+PuWQmFW7cUAN83IhZYnVgNSSZgzv7KHng/EIHWRh7GpNy66Kqgc4U5tdhA51XwXu3Rk8zW0VZtr8QtASbiAbSWAE90mnrV5WEqwI8DPwrAr2MsEG3afEYh5gvmK2o1EqhGmsRo2h1oVc6R37RVbB6jKNkHbmd3fdifHTwAql4ja2Yv4h+0b1xXG20uEPdtqYGjOqn3MRXjiImBO0sNfLWsWw/TjG3k6o3AXYgC6bVt2BA2IYZCNN4nepvDeM3WxFu3xXDpcuGOrvFYW4jOLbSFhMy5gQYBABBGoJzlqg9Lo2hJTVo1tg26oW/RI+8io+JvNlYC3dDQYHVsdY0GYAjfnVbwvQnDBIeWaT21JtmO6F0qpjg19cZibNvG3LIsWheBF17mYMTlUhngGBqfLSpbkWqH+Iek84cx8meQSIZsrAgwQwC6Hwof/llZtGw59lz/wBtDeMcIxN9VKWXxRvBit7Rc0D1srQRqdCQpaNJABNExfDns3SlxXR0YBlI1XmecHlpOs0lJcUDvs1S100XGfN27N3rHzAKBmkgTBjU7fH2ULhV7q8S1xxcJOYMottIJYSD4g6Ed9McJ4nc61BYtvMjKFnOW783iZ0ECN5q/wB/hnFnuva+VxfRXu9XCgtGRcy3MoWHLaMDEqwMGaV9D55Kf0nvG7iLRFm8Mq6q1plaCW+jE1CsYu7bEC3dgaaIwMiNCSNPjRjgvSbrL6tisTirYYZTcW82bQiM5BEL62wMc9KsnST5Pgs9x2uYlbio9kdYesmAp6xwIYMQTmE6LG8Gm9VWKkULC49kuM7I0BYIgqe1z7XjPnWkcHNo4K2ocA5nIG5gtJBABJaV2EiedZ6OkyuLq3MMgN3qwrhnlAlwPEMSGB18dd+VbFxvg1uxezqoyXJUKAAEbQ6R+UJM8ip76ndopNJgR79hLdy2c1xXLFpAVSGUKV1M7DcxUDhnBsPaXPaR1z6ktLHLvAJ0irBeS0+DfDZV64Ibew6zn86DExkl83eY3FFeg+GT5Fh7oHbuWLOYkk7JAgHQc9qI42/YOaXoJeirhluxh7wtAhWvF4JndFGncIA0r2rJwQdlvP7hSqZKnQrsw/pldRcXiZaT11zSf6RquX8YpEanwO3uFEOmqj5fi+zPz9z9o1X3UcwPfPwr0I/ajnfI8lwDcUw7DNIjx5z9kVx1ijkK4+UknQCKUkhpg7ianMST5co8gKhijN5Ae7N3mDTBsLB2Pn++lYPE+S9QNuVwwqRio0iPZTBrFqmUjk0hXpryKQz0V6B4V5FWfoXgwLnyhwGVCQinXNcyyDHcvxjuo3AJ9Fejj9bbtqoOIuflbW13I8IGrN7BznS8TibwtjDcOcPc9a/iiwBnQdkHfTSY7KgRvUnod0SFvC3bpvE37yEFrf0GbdA6yzQTBynvjUTVa4Jw18G103HYXM3VKAF7cMIBDMGAOhHhBmto/HHdvgwlKb2SLjwvoIl2zN9g11zme4pJLyZhpiRt7RQnpH0BYLFsvcHJQCRpygsAKOP0rvYcw9oFBIyz2+wO0VgkHbvMGnbnTa3cBKIxC6MSJykz3TG3rba70Q8uTlSYpYko2zOcR6P+IBAttLNuQzEdaq3SNJzHu2EAx31Ewno5x6uBdCW7cEvdDBwoUAwQnanwqycY9IL2nGW2t0gRBY5Vyk6kSSSfygaqHEem2KvzNwgECUHqrqCGAaTPIGZ8a7E8z6Mbx0XLh3yXhz9UgF9muC324RpJCPsCdA06kaRHjYOM8Mygoy6SCAdQDuMhOoOnL7ayTCcTS9dJxOZgWLAK0EE6mHbbl5wKuvD+nZCJaxKdb1cyx3KwcqsZ11IObQ6GROp4PN8aUqlF7o6/C8hY24vhld4nx7H4TFS993tsjC2zwV1ZSQQQBnEKO6DIiar/AEk48cRiMU+dT1q2FypqrZLgMa6krExsd+6rh0qOGxlpkttmkBkEHsEDczqYJ32Imq10r6M/J8DZxLOxulkzErDSyDsls5GVcvZgDnqZrHHNulLZnRkilvHgE47gRMFngnMIAABygtrG/hpzqI/A3ByhpiNnGk+39/dUfCXycjPeBTNLJnAaJgxOgJE++vcfiUIXJAbMZllYZfo8tG3k106ktrMS2dCGv2ceAttWudVeCrAEaKc2mhjce2j+N9J9oWyD27qJFu7bmc8RJLgAg81iD3bRn/Q/F4j5WDhixuhXgqJ0I7Wg+NXniXQl8V22t27bM4uOAX1J3GXNCzpqNaybS5NPu4M9xF/rcOjmAbK27ICjcE3bgLTz31GkAeyfwbGE20XWAD7O0T+8d/Or9wvoSLAvJ1Vp0umcjCcgyleyzEtOphtCJNc4roYgUBcP7VvODtA5+XdT+VVQtDsz3imH624i7kyAOZJZQI99H+JcRe41284CmfnF1cqVAQ6Fi0SsnkPKliujV9NRZcFVgNq3aEfOAqZU841qlHhl8N2rVwSYJZWA13kkVCnYSjRo3BekzJKW5dbq5crE5iCZADMRIAJAj8rnVw6OceTDYO1bu27ydUhQkrpCEgEsYG0e2sOu4F86hFObs6qcwnkQ+w+6t96P8UvPYVbjWi4kNFwHOQdXjLsx1qtTjwCSezLV0H43axdq49kmFuZDMb5VPInkRXlPdD8Mtu3cC27aA3CxFuACSASxgDU0qmUrdiqim8e9Ez4nEXrwxwTrHZ8vUZsuYzGbrhMd8UMb0Huf/uI/qx/69bJSqvkl2LSjFv8AIQ3+0B/Vv8enP8hrRH8IL/Vj/wBetlpULJJexaUY0PQaw2x6/wBWP/Xpf5Dm/wBoD+rH/r1stKn8s+w0oxa56By2/EB/Vv8AHpr/ACA//kf/AOb/AB626lUOTY6RiY9Ah/2iP6t/j0j6Aj/tAf1b/HrbKVFsdGJN6Az/ALRH9W/x6NdF+gdjDW2W8yXSCq2y/ZVhnzE5Mx9ZiDlknUDurTsTdCKzHZQSfICawPG9IrlzEEs6heszAA6agECZ1gE7d5rfDBzswzSUUi5Yjpx81ca0MsAIm0KVaDAmJOZdO4NJ0olwDCT/AJxds9biesRDJ9UkKVuuMvYIBGkEgEHSdMbw6sxAJAIMgfR21H2RWt9G+kD/ACW6bVvOyFi6SA0se0wzQCByncACdIB5MFCqI8abk3YQ4z0ba6GuPiFV2cFnMKEWMoVSNdoESN23kzVeCdClxRvFbxC2nKAFYzGAQZn1YPtqDiuMX7mJS0l1mRStxbN1QpkpmcaxmA1I1PhMUfXpHftWMQq4fIQ1z+Th3VrjaB1YjTMw7YnaI0ritN2dlPgq3E+EWbbKty2HUtAMsr6ECIMSp17QB1B1HMN0g6MWrQVrN31pItuddDBUEDtag/vrXlzGXMQ6I9wsZKy/aI0mCN4GupqPfxrXbrHQ+qubvVJ1yg7n7RXT4znr+510ZZoQUeNyPdwQ7JIZDoIK6SATuN995rnqwJbMQe8fgfZRG7w58uZWVl10nRfAgmQaDYu5vrNdk8iOf4yO2Je20r4/bv5GdfZWz+izELj8H2jDWWyMCM39JT7jHsrCbt0gw0+B/H9+Var/APT9cZb+Mtk6NbtuOUlGZSR749grjyu3Z0Y7iaeejFv+h/wx+NeN0WtHkn/DH41YKVZUaamBE6OoDIyg+CAffTv8C/0/7P8AfRalRSC2CTwb+n/Z/vpfwN/T/s/30WpUUgtgc8DH5f8AZ/vrhuj4P0/7P/uo3So0oNTKzf6HWn9YIfO2D99QLvo4wzclHksfBqutKig1MDdGej6YJHS2SQzZteWgWBqe6lRmlTEKlQy7xy0rFSWkGD2TuK5/h+z3t9U1WiXROpdhWlQn+MFnvb6prm70ksKJJbcD1TuTApOLStoakm6QYpUDXpTh+xq3zmbL2TrlAJ8txT38YLPe31TQk5boG65C1KhLdIbI3JHsrw9IrMxmPupDC9KhP8YbPe31a8/jFZ72+rVaJdE649krjVvNh7yjc2rg96EV8v4W6pCwuvn4DXu39tfSjdIbB5t9WvmzH4fqL95OSXGy/oliFJ81Kmuvxrjdo589Sqgxh7EmXG23d37DTSiGF4i1i4HtuUY6aEgMJ9UqNGH40DsY3OvcZP7/AL+NRMVYJZiGidiTqGGuhjbb7a2k0+TNRa3RoV3jFrE2ZxKIXRjDFQQYHZXTWD36gE8tKl8EyXmm2ercr1cTmVpbRLisDI5Ajb31m/DMeBh71tjNzOPaum364HlIrzD9ImsXFuL7uY+7f4V5bjUmv1PR13FP9y2dJuhQwrWz1juSzG4UEBQToVPh3c6oL45rVwEv6p3AgNlOjAaaH/551bb/AKQzdRestmSMpggiY1I1kVXsXZt4lXazo6nVSI3B27ufhW0HpRjJanY9xTpA122gnRQATzMbTG8fdQbrGP8AfXF23kAEbNB589/fUnJNAEK606Nr3Hx7iB31rPoNfNi7pj/R5nvz3e7zU1mC4eQ3lHlpp9sVePRt0rt8P653tNcZ1t2xlIWBbzMd+8v/AGaWlydIdpK2fQtKsyHpgtf6rc+uten0v2v9VufXWq/h8vRPyw7NMpVm9n0tWmMfJrn1lozhunKuJFhvrD8KTwZFygWWD9lvpVVG6aKP5lvrD8KE430oJbmcK5judaSxTfofyR7NBpVlzemW1/ql3661w3ppsj/RLv11o+GfQ9cTVKVZO3pvsj/Q7310ps+nSz/qd766Uvjn0GpGuUqrPQPpgnFLNy6lprYS51ZDEEk5VadP0qVQUC+J/wAtc/Tb41FmpPFP5a5+m3xqNFdkeEcrjuKmMek23jeJHmNRXWHxIuPctp69srmBG8gXAAeYK91OkscwIUGY02jX7hU5Pqi4lQWmSYAbEAXcGqmFY3SAd4YAKB56e+jmIuKoJYgKNCSYG8RM1V+N8OLdQM4W7bICk6gtOYAEjQlRIPeI51Ju3MQLGYsqgzsSShBywykGIYQd68vFOSxODv3dHpZIRc1NMlYzH2SID2zmlZDCQCDqO8zAilieM2UZle/aVg76OdYkxoSPD31Xurx7MEe6Smhabf0c06nJ4HXwpo4PFNi8T8muJbVrkHMoMkW1O8ExECPGuZeEnLRqfZs/JajqpdFw4Xi0uIWtsGUs2q6g9o7EVKLA7Gq7wPB4u3PW3VuZzpDEAEEy0Bef4UT+cO4XWfptyr1Y5Z4koRg3X4PNnjhkbk5JX+ScaovT+01m4mIRFZW7FwMuYFh6s90qInwqxJiXRszKACq9kFjqx02BEincQy389m4hykEE6xpB0JG8xW8c2tbppmLxaXs00ZsBbdM9jsECHttyjbbl3H31CxV9yNOy3Iaa+Y8qnY7gj4e8Vkhl1RhtcXy58tKkWMRbIlso/R1HmI2qHJmiiirutxWzNrOhjQkeP2VPwWDS4SNJ0DKQYB11Vgd+cUdui3lJUhjHqd/nptVX+TXQxZkcZpmJAJmeR1HP2Vm93ZX8tEjEcBCkkOZ18h3Tz1prBLctuGWSRE66EEiQRz0/GiuFxIuAIxErGp1Mjk0607hsIXV9CGDGcusjYR7qdiGsfw0PLKfWhhv4e0D8aasWdx3GD51Y+G4BkwzdbCHMzDX1RykzvudKDcPRWzZXDayI8eZPeaLYyLdtHMQu5Efv+/KnLdgKAo1A59/jRhcN1eZpl7gCovNVOhbwLbDwk91EL/Q7EAnq16wCJggESJ2PhXf4sIx+qe18HD5GST+mG9claC10Eo3Y6OXO31xFhVAOa4CFM7BTzqRe6MMEVkvWrobYI0mIJmI20+0V2vJiTps40sst0gRwuwzOMqlo3A7quGAxGVYKlT4g6VQeFdLBYYkKjg95I084Pwqy4HpxbY9q0w/QcOR+rKsfYDXkeV5mRTahG1/c9bxvExuCc5VIO3MQpQgMPeKq+O4S2mZyzMdAB9lWDhvFLF8ZUuKxG6HRgJ5qwkVH43ZW3dQpHaUiZ2170OlY4v8A0W5aHGmzXL4MYR1qVohYHgttBDhWYiTIBA8BPxpvE8DsmIWNeRI7/PnFcX8S4UMrkENGjSdQfokeHfXBxTzGcEZhqV5SNgPZXJkjmUnLUduGeKUaUf0IeJ6NpOjEaxrB3MeB5ih+O6PdUpctmUbiIOuneRVmxaOAYIMagaqNNeRPdQ7HYpmRwVBkHZgeXiK0w5PIb2dr2Rmjgiqkqfo0b0DuDhMTAAAxER/+m3Sr30FWiuExM88RP/g2+6lXRk+5nJHhE3ip+eufpt8ajqfvqNxbFk4i+ARo9z3KxmjfB8cnUKWyZu1Byk+qYkxI0HLc1u5JJGem2DcPghYxtq6Aw61WJgk5sigGFnTXanuKXSrHrICK+UaRmbLKqQOZ1n209xjFqgwV6/quVy2QEAlknQbjtRS4JiLGJtg3gpLXiVgOpDS2QOZ1MfSmNSK5YSb3N2kVTj7Hrge7E2COfLu/eaMcc4WvWBioYZUNwEaCROYAH1htG5AA5CoOIcXFW4Vhjew7mAT6j5SPDTlzo/xPGFr99QQFRxJiYHVxMeBUba1jjd216b/yzWe1J9EPFjMhCsQGEhzu06ghe795qv8AC8NOKxT6gFwNO/Ipn7BRXEYXqn7bHqycyMD6rGRH6DajXYnuIgVhrrrexOVWI6wbDQfNqTLeXKqjlUsyb6f+iXjaxtLtB3qu7SIjwj9xXDJ4nw8NIPvpYxiLNpkOrKGMkAbToTA9lCLnESN3X2MpjXnXoxlCrOF453SQTNnx07vZA91JRBJk/wB5iT9goKeL/wDep7xXrY9gJziDtoeXsqtUOxfHl6YQ4lhkvJkuAkbgjRlPepNZ5xrh9zDvL22a3yu2ySP103X7R51bf4Tn+c9wJ+6ouK4kVEl485HsMis5rHL2XCOSPKAOFZolTp4gH7adBdmHziCIgNAMczruPKtL6OdELGMwdq/mKXWzyyRlbLdZRKERsI0ig3F/RDfYjqsRacAkhbqEb9xWR7IrmZtTKFiEtYhnmAQILoMugOoXnoeflpT7XDZPrqgOvqEktG+jfdVvseibFmVe5hgpEGFYkeIMTNEsD6GUmcRi3Yd1tQvvZs3wpWOjKMS969lDXLjhmPVpEAxpqd2PidND7LAuBaymqktpCgEogiZY/Tbw+G1XnpJwfD4G7bSyuUC0NSSWPaYasdeW21QbOMQiK7MGNbSas5M83vFOgP0S4c16/wBY8kL2sx5sdtTv3+6r++FuOjCy4Qi6pkGAVVVBGx/vrjg2XYDun26x7qHtcVPkxvuFB6wldwT2FEAAzGaanyMryZEqK8bEsUN2DfSdctgILmeQCxVWC6KY0MEyQzAeMGqP0Z4jmx+HmcoOS2J2thTEnmdIPjyFW/pnw9MT2kIOWcgiQ0KDEGIkiPbVA6MYRhjLROhV9QdDOU6RvWa2Rb3dgPGYK2ly4lx2QqxAITONDHa7QI5bA0KcEEwZA5iRPjrBrbelfoua8Dfw91SbjM5R9CCwzQrAQRO0gedZpjeieItzmtN7NftGlZ1bNLpASzj7ojtHsmR3qd9G3HsNX/onjMRjWi6Wa2oYZ4UsG07LbTpHj41XeDYHDqScQDIIhTKjzO0++rnwTqRcY24AKCAkRI0kBecEe41z5otL6eTfFJfzcEvEcEYQQ+xB9QjnO+aKj3+DuM0Muo8t9ea1N4dxE3LJNwENLD1CZgkBgQI1GtTLuNQ7MNtNxNcLzZbpuz0ceHDWyoFXc/NOXIqfjQdsO8AlWgjuB+FHzi0kdteY3GnLnTHyhI3G55jvmPtFbYs+THwuTLL4+PK6k+C6eg//ALLiNI/ziNo2tWxXtSvREPmcV3fKJHkbNs/GaVdkZWrOCUFF6UCOJXR8tuBbY9e8DLE5pk6A6DWffRDAEIcPbyqEZjsSW7T5dzsJ5eFQ3IOOvj6QuPlB0BOYzqPCusJhMQGtvd6oshMCRBAbOqxlHefKBvWk0lVExbfJcekuDT5M7Ea20JU90LHwrOujmJyiSjlVuAzELoSeyeY5nntVsxuLu3rJQ27bq4y3CLhQhTvlhDqO/wA6pPHcamH6qxba8Oo1gOWUvcAZ1diZIDARpoCdqhbFchG7eVcrZQAFe4JJgBSrz366E+VOcT4yZKsthS/am2zGc5YkEme46CI05UHfGi7aA59TiVI3PZVVOvjv7RVXu4u5c0EsRrA+LMT9p8q5MCcpS/P/AE6cuyiWZ+O2hcKl8wJZCq5iurGQGKg7k7+HKpdria27uLS5ojtOYHtBupAEabaD3mqrwWxlyr9MkS5kxPK2vLuzfCivSFGW5dGQMt0AzrIjQxppsRS0qGZJe0NPVjdhe5i+vsBbkRaDXBpoUUjsDkCVETtrQi7kCnsHLMeqkgM8zmI1gd2uwGlM8KvKjTdzlNSyLIzEqYBPcWgGmeKccu3nErltyDAGmbVc0DnAX7TXU7JjVOg9guHo6vetgi0rnMWHqnyzTBBnuExXfC0tm8ydYRaClpSF6xQAYLDQNpt3HzobgeJulm6ibXBDjKCCBEb7aae6hvDHZM+qITr2ROmpPZIjvqXe4QSezDWPwmKw4dUuM9p2ADhpUsDK5GmVnXXTnUW7wu8WVrpKhkYguxM5SNyATuRoaMcGw7410Dtmwqume2WKkEoQpSNYGpOoiac4vglt3bCKhdXVzkzwCvZicxg7Env57TTRM5yTovXo8s5OH2FmYz6idZuuZ1FWSgvQ5CuEtgiINwR3AXXA+yKNVZgKvK9pUAZV6U7ZOLtwf5lf23quYDDnMCdhrA5+GlFvTBjWTG2wpEdQp2n+cuCq/wBH8c73CsjRSZPmPdvXfj8mMYKJxz8SUpuZe+AIRMzJMn3fvNCen3R6/iRYFi2HFvrZDMFjMyx6xE6LvTqdI7OG0ZwTMnXWfAa/bA8am3um6oUPVA2yVGcXFO/comfbE+FceXJHVZ0wg9NFYt2msWrdq6MjL2SJBhi20gkd3OuuE8PVWa4VGdmPa3IHLWi1m5h8djLts3Jde1kHIrEw30oPOveLWFwzQXAG4zEA1opp0RpaLvYuD5Omv5I95A++qJxLitu27I7KCP6X41PtdM8ILItm8uYZdBrsQfuqgdKbuFxF5ri4tFnSGWduczUR2ZcuA9exli59O03mVPxoZf4bYJzKig8ihg+wg1VfkVkajE2Sf6TGNu4L+NNLhSW7OJsDXRVciNeShRNU5EpGoYZlyJoIgH28/bzphSIX3HU/hpTPDsOSkk3BqYB0EQPVB5f304uE09d9zzHefCa8CUYxyNWe/jcpY06I7RqBET/f3UH4iQGIAUzDTGu2WJjap2PVkkBmIInloZI3jTlUV8LnIJZ9V8B3c+ehr0PGyLFU3wcXk4ZZU4I030UIgsXykQb06aQeqQfdSrz0S2AmHvAEmb066/zaDlSrp1qX1I4tDh9L5RUukLlcXfKmCLzkHmCGJBotwfpRZvEWrjql78mQA/ihPM/k70G6Uf8AacR/vX/aNV7+L9u6ZuCa6MnCIhy7Lh0m6aWMIGto4e7tpDLb8Wjcj8mqLwbh1/HXH6thoM7MZMyT2hGpkzPdT13oWrT1STGpnYeZJqwcI4P8lQjDlnZgOsZfV7woHL2mT5VzSlR0Y46nSPOH8PFoDrnLlpEDsgjScsrqNp1NO4C5av3HRLNtAvgDMHL+SPfXHSBXJwXV9YXQA3+sKrBaBCD6UwR5AUQ6QdHVw4F3rJBYswyRlB1ETvrpp3VlC1Hfk01bvcpvG+ORlVLarmcAkRoAwBA7Ok99ccZOJu4m/wBVaNzq8vZJlVgdoqdIGoO3Oi3SC3hrtgs+eLUkLbhWbYxJQzOlEujuLVRdUr27qjNqBAAKk9qJOo3PKivq1dDk21xyVjEcLxNtEvvatnNlAUbgsCZzzEQNo51ycQ2nzZHtGlaPasp8jYtlyW7ZzAwxHVqCZZWIka6iq5xPhoDgBY7IgTMySB6o761TMk6bA3DMO+Iv27KkrnMGQCNideY25UQ4z0Ve1dNu0S16NJHzTAgmJK9k6+NFeEkKqlVMIRnZU7Qg5myuASNNtaGXePX7tq4WuMVMZWVZDqTlJa5t6oGtDe4Rbrk84VdvYS9ctG2RlBYgCDnFvLnzATtI05E0T4XxQYu9h1ya2rZEnU6Ea6jQ+U7ioHVMYfMOsIgsDodInT996Z6PcQt271prdvKSCrSxPIGdfEVG90VzFto2jo6f83t/rftGiVBuiF/PhLTRHr/ZcYfdRmtDAVKlSoAw/wBN99Fx9nOyj/N00J/727WeC6xnqjEnWNJXuBHjFa56VY+WW9NeoX/mXKqF6ytxcr6g7awQe8HvoBz2op2TMtshEU52QHdmaQ2p10EgCIqypwLCi29y5eukoklVhAXOiqumxJFCuMcKvBUtWbcojM6MCMwLZZzMTqZURXWIbFi3kvrCyusgnTaQNt/hVpx6MtywdAuGXkv2b6KAgcZid2UnK3LmDV36QX8Ncu9Xdso7j1S6zB3kSsfbVU+TG3iLV9X7IVDEx2ImFAImfx7qMHpFhLjFXvIrg/SIBX2EzVOgsNX7aZbSgZFIbQLALAAiQB3T+4qr9K+KCyoY2hdBYjXlpvJU1OxvSTDqMpxmH7O0jMRy5P3d1V7F9LcMP9JUj+hbP4mknQ3uiq3OI2iezw5T5Fj8EqXgMfeVT1WDW3roMp1J0O4HKn8R03sD1Gut+qo/aFRP41h47BjbtNJA8lgUOQKJeOD32a2M3rfSA1yyBpoIAmYHhTj4iAQR8OY5THOh/B8QDaDWypDakzGoEHs7jbxru/cY7kfbFcM/HjKVndj8ucIqIzxG9J1gDXUlQOR76GLj1Qgm4kCR64OkEd/l7ql3bhjVo8AI+NCcZhEb1gD7B8Yq44Y1RL8qd2a/6I8Wt3D3ijBgL0SO/q0P30qh+g/DrbwuICiAcQT/AOFbpVqopKjBy1O2V7pHri8R/vX/AGjXFhEUE3GjuVdX25zoPafxqP0u4jkxd/JmBF24CYBMknYHkO/fyoNhcezwoUmTv6h3ncTWsslqkEMftloxHHFIC5QLYjshTE7SeZJ7yefhRTgqdYYt242LENt4gQT7/fQZcJeLKjhbZKkgsQAFHkdJOx3NHeFYe5gg94ujqU8SAB2tIGtZGjPOPMlu4tvKruAHYuvqrJAjMF1JB15eNAsXc61GW4uVc0wCO0AvfOgH7xOnnG+LveZ3y9oqApyt2d4B8NQe/ehHHsNeOGuhUIzCAQg7QJjJKyZbbyNJ0VBdnFriNq5cuWgpCrbVh3MzMImTtlBNTmxFu3hzdCw2RtdBsYEwdpIod/FwKqObzhmUaKsRHZ7QzeGx++nr3C7b2ynW3IygMcomJEnzmlaNVd3+w5h7V1Vi4GCuzH1sylHadYJBldx76J8Wxma5ChSIgFZ2B0nNGpk7aaCh9s6CDIgQZG3srkP2vHKNzyk06SM5T1L+hzjcCGIIJUjuI9xmaas8J9UZiqgQFEBT56T9tFbuEzINwDzDQdtIIPfHu8ah4ddcl31t1OkGNIjkZHkeXcK2szBD9ZbbKLjKhZgsNoBMHszpvTFnEFDmAmOWojQgn2DX2UWx/DHz58jdWxgMdgWncx3g1WMRcZVJBMhhlnbQxGnupOSlt7NNLinL0z6F9HRnh9gnf5zx/nnqy1XPR804CzpGt3TeIvOOVWOmrrcwk7bFSpUqYjI/S3cjGW/9wv8AzLlVC1iB7fHxq0+mFCcbbAn+QTkT/OXOffVNsZgCWBHIaGfZQQ+QxYvfbt4+/wC+n79kXLbW2Bg6E906g+YofZLZR2DpoI1+O1TLd3KFhSfALoDtm2++oGAH4XjkGS2ysknKc4X2gHUGN4oLiOhuLbM2RZ5zcWT5Cfia0UXSTBBOnId/LwpW5bQoYB0gHYctRHsmq1sEjKG6K4yY6g+9eX61PYfoVi3JlFSI9Z159wUkmtUdzqSMrAaCNYOw8fZXpcFTk1iSVjf8PZU6mMoWD9HLGOsvAHuVZMebR8KLYToXh0Oz3CDEs0D3LH21ZLl7QND5RGkH8Brr415iWiInXTYkT7NfbRbGRkwyWxFtVVeQER4nTf401cbQ7+0ffTrI8y076aGO+NYjzqFdc5mlTB2009uUzQIZxF8chr7PsqBdYeH4eFdMzGQywNtmMeIMEUOa1ckkA6aaKQfumqQjZfQw04a//v8A/wBK3Spn0GqRhcRIIPyjY6fzVvlSpjRfLm5rk17SpFjFzcedK7t+/dSpUCH8N6tdXfVpUqko5NNNSpUyvREFIb0qVBBHxG4qN9Nv0R8aVKn7ET7v8mfJf2jQylSoXI/RZuE/yS/rftGplKlTJFSpUqAPFr2lSoAVKlSoAVKlSoAVKlSoAVKlSoAVKlSoAVKlSoAVKlSoA//Z"/>
          <p:cNvSpPr>
            <a:spLocks noChangeAspect="1" noChangeArrowheads="1"/>
          </p:cNvSpPr>
          <p:nvPr/>
        </p:nvSpPr>
        <p:spPr bwMode="auto">
          <a:xfrm>
            <a:off x="1524001" y="-876300"/>
            <a:ext cx="2486025" cy="18383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7" name="AutoShape 6" descr="data:image/jpeg;base64,/9j/4AAQSkZJRgABAQAAAQABAAD/2wCEAAkGBxQSEhQUEhMWFhUXGBgZGBgYGR8XGBgaGBccFxwXGBcZHCggGx8lHB0aIjEhJiorLi4uHB8zODMsNygtLisBCgoKDg0OGxAQGyslICQsLC0sLCwsLCwsLCwsLCwsLCwsLCwsLCwsLCwsLCwsLCwsLCwsLCwsLCwsLCwsLCwsLP/AABEIAMEBBQMBIgACEQEDEQH/xAAcAAABBQEBAQAAAAAAAAAAAAAFAAMEBgcCAQj/xABUEAACAQIEAgYFBwYJCQcFAAABAhEAAwQSITEFQQYTIlFhcQcygZGxFCNCkqHB0VJTcoKy8BUWM0NilKLh4xckRFRVc5Oz0zRjo8LD4vEIRWWDpP/EABkBAAMBAQEAAAAAAAAAAAAAAAABAgMEBf/EACwRAAICAQQCAQMCBwEAAAAAAAABAhEDEiExUQRBEyIycWGRFEKBobHB0QX/2gAMAwEAAhEDEQA/ALtxPGXhduAXXADsAAxAAnaoR4hf/PXPrH8aJ8RtfO3P02+NQmtV3RSpbHI27GRxC/8Anrn1j+Ndrj7/AOeufWP410LNOJZopdBucjHXvz1z6x/GuxjL35259Y08linFsUaY9BuRvll787c+sfxrz5Ze/O3PrH8al9RS6qnUeg3Inyy9+eufWP414cZf/O3PrH8al9TXjWaKj0K2QTjb/wCeufWP41x8tv8A5659c/jUxrNcNZopdD3Ij4+/+eufXP41x/CGI/PXfrn8akvZrg2qdLoLZcejdxmw1suxZjmkkyT225+VFKG9HRGHt/rftmiVcMvuZ1R4FSpUqkZExFwhtDTRvHvNdYr1qYatopUIc65u80hebvNN16FqtKEO9ae8141095rmK4YUkkB411uTGl1rn6RrwDvNehaqkI7V3/KNOB276ZJArpHFJoZ31zd5rwXz3mmmauZpqKCx83z3ml1zd5qOXjU7UF4jxk6ra25tz/V7vOk4oEy1YK5mzayQfdpMUqEdDTNq5+n/AOUUqxlyURMcnzj/AKTfGoFxaJY313/Sb41D4pw/sLLkZj6qkCQNwcw18orpc9MTGMdTGkWnkWusIqi2A0gLlktGw0+jt8Kds9kqTtp9o00pfImP42c2gDsaeCU1gcrouWHbKJPqidjoYO/lTyrH76U4z1cEyjXIilN3FiNCZnbw0p9iBvpTOJclrMOgTLczAld5GXfXk21Kc9NDjBuzgOK9Irp8TZE579sRyzA7eelM/LML9F1Y6AQ6iSdANCafyL0Cxs9y1yyV5jW0AULqwGpY6EEaEH+6nGNOMrE40RXSuClPuRTTGrEWngQ+YT9b9o0QqBwQ/MJ+t+0an1xS+5m64FSpUqkZBxfrUwTTuL9amDXRHgQprtTTderVUTY7NcsK9FcsKQxvMK599K2Z+3412BVWScZfOnba0stdLSbHQI6QcQu2FtmzZ64tcVCM4TKpmWk6GNNKnYm+qAlj5d58hQTprjMtnsNDqwIP5Jgge3wofgcW91Q9wyxEnuHgByHhU2OiXxHGtcMHRe4feedD2NP3jUZqB0W7oX/JP+n/AOVaVc9CXBt3ACCRcg+HZU691KsZcjKn0lx175ZbtWnKh7pUwJ+mAPomN/soVxvpY9u89h97bBEgdmSNSddpIrv0gcaZb2VD1TLduQ6yecdpdT+sNtdKpF/H32eSlq+QYJADmAZEqsNvzIrf429whNJU0WG9x3F2gcqKJGrEtcBAg6bqPs5UBwvFsTcuK63IIfOGZyFzKc0ETt4d1SeH9OLiI1i8rZIeVz5NWBzespMxpE93jUro50ssYZLiIqMHYuFv2s3ayqoGZDoNGnTmPbm8EzePkRjwjn+OmLN62XvlshKgiCsPCs0AQ2m00Vs8eXDqSl57jAQBcZmntZid99Tr4VW8Zgbdy+TaxFgK9wx2guRTqDlkbGRA8DXa8ExbhQub5wN6wBVcontN9GeRrLTOJs54WtkhcZdixbr8+sgM5uBcyyQAxOWNtKYxHGT1hUhAA7iRtpMQPGNBPdTvEcNfa7cRLZZkIzFRESAhltiJYDyNS+IYApdbMMjRcY5tiGtOu0iZJgEbeNS7fJrCSitqBZSziHVWOpzbgCPede+ibcLs2lzKXgGQM6gb7AZI5zQG9YPVz9GZIA7PZkk5p0yg6+dQsNxKwJ7ZXUbLmk/lCWG1LS/RbywW7NE6FMou3GXVuqcAMwMMRI2A3yt7qs64sMJVpB2IrPejfTHA2Za7cvF5OgtAggplABJ7MQDz3NHcB064WEA+dVV0ggkkSdRqDMdwImtsEtGzPP8ALksstSLE17xrnrOfKgp6f8HJgnEARvkOvsnSo6dO+GtCWvlTO0AKLa6tptLCPfXSssTk0M1vo0Zw1v8AW/bailB+iTThLR/T/wCY1GK5ZfczVcCpUqVSMG409v2CmJp7Hev7BUc10w+1EM6muhXE15ePZMGNCJ7p0mqYEj5XZQw9y2CIkFhpO3PwPurq5xGwAJu2hO0suvLTXWguH6MYdxqznWTqupiCdtO6POvcd0Mw1wLmz9lcohhtmLcx3sffWG3ss56VYy7bwz3sELVxrcllMsMo9bKFI7Q3jzqgdHfSDir99VudWUgsQilCYI0zZjprVxfh1vDMHtXToAHDgNmCjLuI3GnPmaxbo/cCY26i6BReCjuGcAD4e6qiS+zaOJdNbFpgjko5E6gkQcwEFVJklTpFRLXTMXVPV6a76yRyI0ET76xfj166Lljr3ZnABl4mBmMQNNDIo5wXF9nfu+FNchZc+O8QL2nEdx9xp/gF6bSeQqtYrHCChYZisxzjvinuBNcuWQzXeqtI4XsKWd8shlLGAknL38we+iToa3ZYOMcZs4cE3G1EDKurSZIn8mYO8bVSeI9MWu5gjdUsGI3nvZtDG+gj20WxuFwowl9uohLbPmBYs90qoKlmI3zNy0EneqTwcWLzOGshCql9GLCBHfqD+PhUahs2L0E3JwmJ7Wb/ADg6xl/mrZ2pV16Ccat3BXsttbYW+QAIk/No2ZiAJOu5pVD5AqvTMk4m/mWIvPBnftGqRj7HzkksvkYIPnrNXbpgR8qxG/8AKvz/AKR5TVX4lc7Ohjxrur6UYJ7jfDOJ3CSl1GxCgeqU6whRzkdpQOZnnRvAcD4fioCm5Zc69lxiF8ioAcewGqlZvlZIY90jTfTkag4C4xLZdCIjtC2O7WINZt17NNzQcT6NsRaZWs3Ld0hgQCQswZAIaDr3VUMfhcTgrkMty0w10lRp+gdvbXHD+mGMwlwlL1w8irk3FPsYmadHT3EF2N1bdxSfVK5InfK1sqR5SR4Uvml+Q2G8P05xttsy3y3KLihxEzHaE7gHegXE+I3cRda9ebM7GTpoP6IGwUdwqwXuluHbVuHWSfGPwk+00+eJ8FuLNzB4q05iepcZQecB7nPyrKUvZRU8LisjA5VcCew8lDIjVQR5+6nbeKQk5rFsz43BGgGhD94nWdSeWlF3PCJ0/hGPHqAfdr8akrY4LE9dj5g9k27ZIPKCrR91TYFYxDqxGRMneAxafHtbVwDVnThnDLoAt4zEWG7r9jrAe7+QJPxodxHg6Wg2XEWrvcQWtt/w7qqaYrBdh4Ydx0PkdOdWXoVgoc3mBOWVSNidmafLQR40DwPDxcYL1qqSQBIJknloNK1To30cYhEIyoqgnlAOxZj+UfvOgrTGknbJlwax0DecDZP6f/NejJxluYzpPdmE+6ax/i+PuWQmFW7cUAN83IhZYnVgNSSZgzv7KHng/EIHWRh7GpNy66Kqgc4U5tdhA51XwXu3Rk8zW0VZtr8QtASbiAbSWAE90mnrV5WEqwI8DPwrAr2MsEG3afEYh5gvmK2o1EqhGmsRo2h1oVc6R37RVbB6jKNkHbmd3fdifHTwAql4ja2Yv4h+0b1xXG20uEPdtqYGjOqn3MRXjiImBO0sNfLWsWw/TjG3k6o3AXYgC6bVt2BA2IYZCNN4nepvDeM3WxFu3xXDpcuGOrvFYW4jOLbSFhMy5gQYBABBGoJzlqg9Lo2hJTVo1tg26oW/RI+8io+JvNlYC3dDQYHVsdY0GYAjfnVbwvQnDBIeWaT21JtmO6F0qpjg19cZibNvG3LIsWheBF17mYMTlUhngGBqfLSpbkWqH+Iek84cx8meQSIZsrAgwQwC6Hwof/llZtGw59lz/wBtDeMcIxN9VKWXxRvBit7Rc0D1srQRqdCQpaNJABNExfDns3SlxXR0YBlI1XmecHlpOs0lJcUDvs1S100XGfN27N3rHzAKBmkgTBjU7fH2ULhV7q8S1xxcJOYMottIJYSD4g6Ed9McJ4nc61BYtvMjKFnOW783iZ0ECN5q/wB/hnFnuva+VxfRXu9XCgtGRcy3MoWHLaMDEqwMGaV9D55Kf0nvG7iLRFm8Mq6q1plaCW+jE1CsYu7bEC3dgaaIwMiNCSNPjRjgvSbrL6tisTirYYZTcW82bQiM5BEL62wMc9KsnST5Pgs9x2uYlbio9kdYesmAp6xwIYMQTmE6LG8Gm9VWKkULC49kuM7I0BYIgqe1z7XjPnWkcHNo4K2ocA5nIG5gtJBABJaV2EiedZ6OkyuLq3MMgN3qwrhnlAlwPEMSGB18dd+VbFxvg1uxezqoyXJUKAAEbQ6R+UJM8ip76ndopNJgR79hLdy2c1xXLFpAVSGUKV1M7DcxUDhnBsPaXPaR1z6ktLHLvAJ0irBeS0+DfDZV64Ibew6zn86DExkl83eY3FFeg+GT5Fh7oHbuWLOYkk7JAgHQc9qI42/YOaXoJeirhluxh7wtAhWvF4JndFGncIA0r2rJwQdlvP7hSqZKnQrsw/pldRcXiZaT11zSf6RquX8YpEanwO3uFEOmqj5fi+zPz9z9o1X3UcwPfPwr0I/ajnfI8lwDcUw7DNIjx5z9kVx1ijkK4+UknQCKUkhpg7ianMST5co8gKhijN5Ae7N3mDTBsLB2Pn++lYPE+S9QNuVwwqRio0iPZTBrFqmUjk0hXpryKQz0V6B4V5FWfoXgwLnyhwGVCQinXNcyyDHcvxjuo3AJ9Fejj9bbtqoOIuflbW13I8IGrN7BznS8TibwtjDcOcPc9a/iiwBnQdkHfTSY7KgRvUnod0SFvC3bpvE37yEFrf0GbdA6yzQTBynvjUTVa4Jw18G103HYXM3VKAF7cMIBDMGAOhHhBmto/HHdvgwlKb2SLjwvoIl2zN9g11zme4pJLyZhpiRt7RQnpH0BYLFsvcHJQCRpygsAKOP0rvYcw9oFBIyz2+wO0VgkHbvMGnbnTa3cBKIxC6MSJykz3TG3rba70Q8uTlSYpYko2zOcR6P+IBAttLNuQzEdaq3SNJzHu2EAx31Ewno5x6uBdCW7cEvdDBwoUAwQnanwqycY9IL2nGW2t0gRBY5Vyk6kSSSfygaqHEem2KvzNwgECUHqrqCGAaTPIGZ8a7E8z6Mbx0XLh3yXhz9UgF9muC324RpJCPsCdA06kaRHjYOM8Mygoy6SCAdQDuMhOoOnL7ayTCcTS9dJxOZgWLAK0EE6mHbbl5wKuvD+nZCJaxKdb1cyx3KwcqsZ11IObQ6GROp4PN8aUqlF7o6/C8hY24vhld4nx7H4TFS993tsjC2zwV1ZSQQQBnEKO6DIiar/AEk48cRiMU+dT1q2FypqrZLgMa6krExsd+6rh0qOGxlpkttmkBkEHsEDczqYJ32Imq10r6M/J8DZxLOxulkzErDSyDsls5GVcvZgDnqZrHHNulLZnRkilvHgE47gRMFngnMIAABygtrG/hpzqI/A3ByhpiNnGk+39/dUfCXycjPeBTNLJnAaJgxOgJE++vcfiUIXJAbMZllYZfo8tG3k106ktrMS2dCGv2ceAttWudVeCrAEaKc2mhjce2j+N9J9oWyD27qJFu7bmc8RJLgAg81iD3bRn/Q/F4j5WDhixuhXgqJ0I7Wg+NXniXQl8V22t27bM4uOAX1J3GXNCzpqNaybS5NPu4M9xF/rcOjmAbK27ICjcE3bgLTz31GkAeyfwbGE20XWAD7O0T+8d/Or9wvoSLAvJ1Vp0umcjCcgyleyzEtOphtCJNc4roYgUBcP7VvODtA5+XdT+VVQtDsz3imH624i7kyAOZJZQI99H+JcRe41284CmfnF1cqVAQ6Fi0SsnkPKliujV9NRZcFVgNq3aEfOAqZU841qlHhl8N2rVwSYJZWA13kkVCnYSjRo3BekzJKW5dbq5crE5iCZADMRIAJAj8rnVw6OceTDYO1bu27ydUhQkrpCEgEsYG0e2sOu4F86hFObs6qcwnkQ+w+6t96P8UvPYVbjWi4kNFwHOQdXjLsx1qtTjwCSezLV0H43axdq49kmFuZDMb5VPInkRXlPdD8Mtu3cC27aA3CxFuACSASxgDU0qmUrdiqim8e9Ez4nEXrwxwTrHZ8vUZsuYzGbrhMd8UMb0Huf/uI/qx/69bJSqvkl2LSjFv8AIQ3+0B/Vv8enP8hrRH8IL/Vj/wBetlpULJJexaUY0PQaw2x6/wBWP/Xpf5Dm/wBoD+rH/r1stKn8s+w0oxa56By2/EB/Vv8AHpr/ACA//kf/AOb/AB626lUOTY6RiY9Ah/2iP6t/j0j6Aj/tAf1b/HrbKVFsdGJN6Az/ALRH9W/x6NdF+gdjDW2W8yXSCq2y/ZVhnzE5Mx9ZiDlknUDurTsTdCKzHZQSfICawPG9IrlzEEs6heszAA6agECZ1gE7d5rfDBzswzSUUi5Yjpx81ca0MsAIm0KVaDAmJOZdO4NJ0olwDCT/AJxds9biesRDJ9UkKVuuMvYIBGkEgEHSdMbw6sxAJAIMgfR21H2RWt9G+kD/ACW6bVvOyFi6SA0se0wzQCByncACdIB5MFCqI8abk3YQ4z0ba6GuPiFV2cFnMKEWMoVSNdoESN23kzVeCdClxRvFbxC2nKAFYzGAQZn1YPtqDiuMX7mJS0l1mRStxbN1QpkpmcaxmA1I1PhMUfXpHftWMQq4fIQ1z+Th3VrjaB1YjTMw7YnaI0ritN2dlPgq3E+EWbbKty2HUtAMsr6ECIMSp17QB1B1HMN0g6MWrQVrN31pItuddDBUEDtag/vrXlzGXMQ6I9wsZKy/aI0mCN4GupqPfxrXbrHQ+qubvVJ1yg7n7RXT4znr+510ZZoQUeNyPdwQ7JIZDoIK6SATuN995rnqwJbMQe8fgfZRG7w58uZWVl10nRfAgmQaDYu5vrNdk8iOf4yO2Je20r4/bv5GdfZWz+izELj8H2jDWWyMCM39JT7jHsrCbt0gw0+B/H9+Var/APT9cZb+Mtk6NbtuOUlGZSR749grjyu3Z0Y7iaeejFv+h/wx+NeN0WtHkn/DH41YKVZUaamBE6OoDIyg+CAffTv8C/0/7P8AfRalRSC2CTwb+n/Z/vpfwN/T/s/30WpUUgtgc8DH5f8AZ/vrhuj4P0/7P/uo3So0oNTKzf6HWn9YIfO2D99QLvo4wzclHksfBqutKig1MDdGej6YJHS2SQzZteWgWBqe6lRmlTEKlQy7xy0rFSWkGD2TuK5/h+z3t9U1WiXROpdhWlQn+MFnvb6prm70ksKJJbcD1TuTApOLStoakm6QYpUDXpTh+xq3zmbL2TrlAJ8txT38YLPe31TQk5boG65C1KhLdIbI3JHsrw9IrMxmPupDC9KhP8YbPe31a8/jFZ72+rVaJdE649krjVvNh7yjc2rg96EV8v4W6pCwuvn4DXu39tfSjdIbB5t9WvmzH4fqL95OSXGy/oliFJ81Kmuvxrjdo589Sqgxh7EmXG23d37DTSiGF4i1i4HtuUY6aEgMJ9UqNGH40DsY3OvcZP7/AL+NRMVYJZiGidiTqGGuhjbb7a2k0+TNRa3RoV3jFrE2ZxKIXRjDFQQYHZXTWD36gE8tKl8EyXmm2ercr1cTmVpbRLisDI5Ajb31m/DMeBh71tjNzOPaum364HlIrzD9ImsXFuL7uY+7f4V5bjUmv1PR13FP9y2dJuhQwrWz1juSzG4UEBQToVPh3c6oL45rVwEv6p3AgNlOjAaaH/551bb/AKQzdRestmSMpggiY1I1kVXsXZt4lXazo6nVSI3B27ufhW0HpRjJanY9xTpA122gnRQATzMbTG8fdQbrGP8AfXF23kAEbNB589/fUnJNAEK606Nr3Hx7iB31rPoNfNi7pj/R5nvz3e7zU1mC4eQ3lHlpp9sVePRt0rt8P653tNcZ1t2xlIWBbzMd+8v/AGaWlydIdpK2fQtKsyHpgtf6rc+uten0v2v9VufXWq/h8vRPyw7NMpVm9n0tWmMfJrn1lozhunKuJFhvrD8KTwZFygWWD9lvpVVG6aKP5lvrD8KE430oJbmcK5judaSxTfofyR7NBpVlzemW1/ql3661w3ppsj/RLv11o+GfQ9cTVKVZO3pvsj/Q7310ps+nSz/qd766Uvjn0GpGuUqrPQPpgnFLNy6lprYS51ZDEEk5VadP0qVQUC+J/wAtc/Tb41FmpPFP5a5+m3xqNFdkeEcrjuKmMek23jeJHmNRXWHxIuPctp69srmBG8gXAAeYK91OkscwIUGY02jX7hU5Pqi4lQWmSYAbEAXcGqmFY3SAd4YAKB56e+jmIuKoJYgKNCSYG8RM1V+N8OLdQM4W7bICk6gtOYAEjQlRIPeI51Ju3MQLGYsqgzsSShBywykGIYQd68vFOSxODv3dHpZIRc1NMlYzH2SID2zmlZDCQCDqO8zAilieM2UZle/aVg76OdYkxoSPD31Xurx7MEe6Smhabf0c06nJ4HXwpo4PFNi8T8muJbVrkHMoMkW1O8ExECPGuZeEnLRqfZs/JajqpdFw4Xi0uIWtsGUs2q6g9o7EVKLA7Gq7wPB4u3PW3VuZzpDEAEEy0Bef4UT+cO4XWfptyr1Y5Z4koRg3X4PNnjhkbk5JX+ScaovT+01m4mIRFZW7FwMuYFh6s90qInwqxJiXRszKACq9kFjqx02BEincQy389m4hykEE6xpB0JG8xW8c2tbppmLxaXs00ZsBbdM9jsECHttyjbbl3H31CxV9yNOy3Iaa+Y8qnY7gj4e8Vkhl1RhtcXy58tKkWMRbIlso/R1HmI2qHJmiiirutxWzNrOhjQkeP2VPwWDS4SNJ0DKQYB11Vgd+cUdui3lJUhjHqd/nptVX+TXQxZkcZpmJAJmeR1HP2Vm93ZX8tEjEcBCkkOZ18h3Tz1prBLctuGWSRE66EEiQRz0/GiuFxIuAIxErGp1Mjk0607hsIXV9CGDGcusjYR7qdiGsfw0PLKfWhhv4e0D8aasWdx3GD51Y+G4BkwzdbCHMzDX1RykzvudKDcPRWzZXDayI8eZPeaLYyLdtHMQu5Efv+/KnLdgKAo1A59/jRhcN1eZpl7gCovNVOhbwLbDwk91EL/Q7EAnq16wCJggESJ2PhXf4sIx+qe18HD5GST+mG9claC10Eo3Y6OXO31xFhVAOa4CFM7BTzqRe6MMEVkvWrobYI0mIJmI20+0V2vJiTps40sst0gRwuwzOMqlo3A7quGAxGVYKlT4g6VQeFdLBYYkKjg95I084Pwqy4HpxbY9q0w/QcOR+rKsfYDXkeV5mRTahG1/c9bxvExuCc5VIO3MQpQgMPeKq+O4S2mZyzMdAB9lWDhvFLF8ZUuKxG6HRgJ5qwkVH43ZW3dQpHaUiZ2170OlY4v8A0W5aHGmzXL4MYR1qVohYHgttBDhWYiTIBA8BPxpvE8DsmIWNeRI7/PnFcX8S4UMrkENGjSdQfokeHfXBxTzGcEZhqV5SNgPZXJkjmUnLUduGeKUaUf0IeJ6NpOjEaxrB3MeB5ih+O6PdUpctmUbiIOuneRVmxaOAYIMagaqNNeRPdQ7HYpmRwVBkHZgeXiK0w5PIb2dr2Rmjgiqkqfo0b0DuDhMTAAAxER/+m3Sr30FWiuExM88RP/g2+6lXRk+5nJHhE3ip+eufpt8ajqfvqNxbFk4i+ARo9z3KxmjfB8cnUKWyZu1Byk+qYkxI0HLc1u5JJGem2DcPghYxtq6Aw61WJgk5sigGFnTXanuKXSrHrICK+UaRmbLKqQOZ1n209xjFqgwV6/quVy2QEAlknQbjtRS4JiLGJtg3gpLXiVgOpDS2QOZ1MfSmNSK5YSb3N2kVTj7Hrge7E2COfLu/eaMcc4WvWBioYZUNwEaCROYAH1htG5AA5CoOIcXFW4Vhjew7mAT6j5SPDTlzo/xPGFr99QQFRxJiYHVxMeBUba1jjd216b/yzWe1J9EPFjMhCsQGEhzu06ghe795qv8AC8NOKxT6gFwNO/Ipn7BRXEYXqn7bHqycyMD6rGRH6DajXYnuIgVhrrrexOVWI6wbDQfNqTLeXKqjlUsyb6f+iXjaxtLtB3qu7SIjwj9xXDJ4nw8NIPvpYxiLNpkOrKGMkAbToTA9lCLnESN3X2MpjXnXoxlCrOF453SQTNnx07vZA91JRBJk/wB5iT9goKeL/wDep7xXrY9gJziDtoeXsqtUOxfHl6YQ4lhkvJkuAkbgjRlPepNZ5xrh9zDvL22a3yu2ySP103X7R51bf4Tn+c9wJ+6ouK4kVEl485HsMis5rHL2XCOSPKAOFZolTp4gH7adBdmHziCIgNAMczruPKtL6OdELGMwdq/mKXWzyyRlbLdZRKERsI0ig3F/RDfYjqsRacAkhbqEb9xWR7IrmZtTKFiEtYhnmAQILoMugOoXnoeflpT7XDZPrqgOvqEktG+jfdVvseibFmVe5hgpEGFYkeIMTNEsD6GUmcRi3Yd1tQvvZs3wpWOjKMS969lDXLjhmPVpEAxpqd2PidND7LAuBaymqktpCgEogiZY/Tbw+G1XnpJwfD4G7bSyuUC0NSSWPaYasdeW21QbOMQiK7MGNbSas5M83vFOgP0S4c16/wBY8kL2sx5sdtTv3+6r++FuOjCy4Qi6pkGAVVVBGx/vrjg2XYDun26x7qHtcVPkxvuFB6wldwT2FEAAzGaanyMryZEqK8bEsUN2DfSdctgILmeQCxVWC6KY0MEyQzAeMGqP0Z4jmx+HmcoOS2J2thTEnmdIPjyFW/pnw9MT2kIOWcgiQ0KDEGIkiPbVA6MYRhjLROhV9QdDOU6RvWa2Rb3dgPGYK2ly4lx2QqxAITONDHa7QI5bA0KcEEwZA5iRPjrBrbelfoua8Dfw91SbjM5R9CCwzQrAQRO0gedZpjeieItzmtN7NftGlZ1bNLpASzj7ojtHsmR3qd9G3HsNX/onjMRjWi6Wa2oYZ4UsG07LbTpHj41XeDYHDqScQDIIhTKjzO0++rnwTqRcY24AKCAkRI0kBecEe41z5otL6eTfFJfzcEvEcEYQQ+xB9QjnO+aKj3+DuM0Muo8t9ea1N4dxE3LJNwENLD1CZgkBgQI1GtTLuNQ7MNtNxNcLzZbpuz0ceHDWyoFXc/NOXIqfjQdsO8AlWgjuB+FHzi0kdteY3GnLnTHyhI3G55jvmPtFbYs+THwuTLL4+PK6k+C6eg//ALLiNI/ziNo2tWxXtSvREPmcV3fKJHkbNs/GaVdkZWrOCUFF6UCOJXR8tuBbY9e8DLE5pk6A6DWffRDAEIcPbyqEZjsSW7T5dzsJ5eFQ3IOOvj6QuPlB0BOYzqPCusJhMQGtvd6oshMCRBAbOqxlHefKBvWk0lVExbfJcekuDT5M7Ea20JU90LHwrOujmJyiSjlVuAzELoSeyeY5nntVsxuLu3rJQ27bq4y3CLhQhTvlhDqO/wA6pPHcamH6qxba8Oo1gOWUvcAZ1diZIDARpoCdqhbFchG7eVcrZQAFe4JJgBSrz366E+VOcT4yZKsthS/am2zGc5YkEme46CI05UHfGi7aA59TiVI3PZVVOvjv7RVXu4u5c0EsRrA+LMT9p8q5MCcpS/P/AE6cuyiWZ+O2hcKl8wJZCq5iurGQGKg7k7+HKpdria27uLS5ojtOYHtBupAEabaD3mqrwWxlyr9MkS5kxPK2vLuzfCivSFGW5dGQMt0AzrIjQxppsRS0qGZJe0NPVjdhe5i+vsBbkRaDXBpoUUjsDkCVETtrQi7kCnsHLMeqkgM8zmI1gd2uwGlM8KvKjTdzlNSyLIzEqYBPcWgGmeKccu3nErltyDAGmbVc0DnAX7TXU7JjVOg9guHo6vetgi0rnMWHqnyzTBBnuExXfC0tm8ydYRaClpSF6xQAYLDQNpt3HzobgeJulm6ibXBDjKCCBEb7aae6hvDHZM+qITr2ROmpPZIjvqXe4QSezDWPwmKw4dUuM9p2ADhpUsDK5GmVnXXTnUW7wu8WVrpKhkYguxM5SNyATuRoaMcGw7410Dtmwqume2WKkEoQpSNYGpOoiac4vglt3bCKhdXVzkzwCvZicxg7Env57TTRM5yTovXo8s5OH2FmYz6idZuuZ1FWSgvQ5CuEtgiINwR3AXXA+yKNVZgKvK9pUAZV6U7ZOLtwf5lf23quYDDnMCdhrA5+GlFvTBjWTG2wpEdQp2n+cuCq/wBH8c73CsjRSZPmPdvXfj8mMYKJxz8SUpuZe+AIRMzJMn3fvNCen3R6/iRYFi2HFvrZDMFjMyx6xE6LvTqdI7OG0ZwTMnXWfAa/bA8am3um6oUPVA2yVGcXFO/comfbE+FceXJHVZ0wg9NFYt2msWrdq6MjL2SJBhi20gkd3OuuE8PVWa4VGdmPa3IHLWi1m5h8djLts3Jde1kHIrEw30oPOveLWFwzQXAG4zEA1opp0RpaLvYuD5Omv5I95A++qJxLitu27I7KCP6X41PtdM8ILItm8uYZdBrsQfuqgdKbuFxF5ri4tFnSGWduczUR2ZcuA9exli59O03mVPxoZf4bYJzKig8ihg+wg1VfkVkajE2Sf6TGNu4L+NNLhSW7OJsDXRVciNeShRNU5EpGoYZlyJoIgH28/bzphSIX3HU/hpTPDsOSkk3BqYB0EQPVB5f304uE09d9zzHefCa8CUYxyNWe/jcpY06I7RqBET/f3UH4iQGIAUzDTGu2WJjap2PVkkBmIInloZI3jTlUV8LnIJZ9V8B3c+ehr0PGyLFU3wcXk4ZZU4I030UIgsXykQb06aQeqQfdSrz0S2AmHvAEmb066/zaDlSrp1qX1I4tDh9L5RUukLlcXfKmCLzkHmCGJBotwfpRZvEWrjql78mQA/ihPM/k70G6Uf8AacR/vX/aNV7+L9u6ZuCa6MnCIhy7Lh0m6aWMIGto4e7tpDLb8Wjcj8mqLwbh1/HXH6thoM7MZMyT2hGpkzPdT13oWrT1STGpnYeZJqwcI4P8lQjDlnZgOsZfV7woHL2mT5VzSlR0Y46nSPOH8PFoDrnLlpEDsgjScsrqNp1NO4C5av3HRLNtAvgDMHL+SPfXHSBXJwXV9YXQA3+sKrBaBCD6UwR5AUQ6QdHVw4F3rJBYswyRlB1ETvrpp3VlC1Hfk01bvcpvG+ORlVLarmcAkRoAwBA7Ok99ccZOJu4m/wBVaNzq8vZJlVgdoqdIGoO3Oi3SC3hrtgs+eLUkLbhWbYxJQzOlEujuLVRdUr27qjNqBAAKk9qJOo3PKivq1dDk21xyVjEcLxNtEvvatnNlAUbgsCZzzEQNo51ycQ2nzZHtGlaPasp8jYtlyW7ZzAwxHVqCZZWIka6iq5xPhoDgBY7IgTMySB6o761TMk6bA3DMO+Iv27KkrnMGQCNideY25UQ4z0Ve1dNu0S16NJHzTAgmJK9k6+NFeEkKqlVMIRnZU7Qg5myuASNNtaGXePX7tq4WuMVMZWVZDqTlJa5t6oGtDe4Rbrk84VdvYS9ctG2RlBYgCDnFvLnzATtI05E0T4XxQYu9h1ya2rZEnU6Ea6jQ+U7ioHVMYfMOsIgsDodInT996Z6PcQt271prdvKSCrSxPIGdfEVG90VzFto2jo6f83t/rftGiVBuiF/PhLTRHr/ZcYfdRmtDAVKlSoAw/wBN99Fx9nOyj/N00J/727WeC6xnqjEnWNJXuBHjFa56VY+WW9NeoX/mXKqF6ytxcr6g7awQe8HvoBz2op2TMtshEU52QHdmaQ2p10EgCIqypwLCi29y5eukoklVhAXOiqumxJFCuMcKvBUtWbcojM6MCMwLZZzMTqZURXWIbFi3kvrCyusgnTaQNt/hVpx6MtywdAuGXkv2b6KAgcZid2UnK3LmDV36QX8Ncu9Xdso7j1S6zB3kSsfbVU+TG3iLV9X7IVDEx2ImFAImfx7qMHpFhLjFXvIrg/SIBX2EzVOgsNX7aZbSgZFIbQLALAAiQB3T+4qr9K+KCyoY2hdBYjXlpvJU1OxvSTDqMpxmH7O0jMRy5P3d1V7F9LcMP9JUj+hbP4mknQ3uiq3OI2iezw5T5Fj8EqXgMfeVT1WDW3roMp1J0O4HKn8R03sD1Gut+qo/aFRP41h47BjbtNJA8lgUOQKJeOD32a2M3rfSA1yyBpoIAmYHhTj4iAQR8OY5THOh/B8QDaDWypDakzGoEHs7jbxru/cY7kfbFcM/HjKVndj8ucIqIzxG9J1gDXUlQOR76GLj1Qgm4kCR64OkEd/l7ql3bhjVo8AI+NCcZhEb1gD7B8Yq44Y1RL8qd2a/6I8Wt3D3ijBgL0SO/q0P30qh+g/DrbwuICiAcQT/AOFbpVqopKjBy1O2V7pHri8R/vX/AGjXFhEUE3GjuVdX25zoPafxqP0u4jkxd/JmBF24CYBMknYHkO/fyoNhcezwoUmTv6h3ncTWsslqkEMftloxHHFIC5QLYjshTE7SeZJ7yefhRTgqdYYt242LENt4gQT7/fQZcJeLKjhbZKkgsQAFHkdJOx3NHeFYe5gg94ujqU8SAB2tIGtZGjPOPMlu4tvKruAHYuvqrJAjMF1JB15eNAsXc61GW4uVc0wCO0AvfOgH7xOnnG+LveZ3y9oqApyt2d4B8NQe/ehHHsNeOGuhUIzCAQg7QJjJKyZbbyNJ0VBdnFriNq5cuWgpCrbVh3MzMImTtlBNTmxFu3hzdCw2RtdBsYEwdpIod/FwKqObzhmUaKsRHZ7QzeGx++nr3C7b2ynW3IygMcomJEnzmlaNVd3+w5h7V1Vi4GCuzH1sylHadYJBldx76J8Wxma5ChSIgFZ2B0nNGpk7aaCh9s6CDIgQZG3srkP2vHKNzyk06SM5T1L+hzjcCGIIJUjuI9xmaas8J9UZiqgQFEBT56T9tFbuEzINwDzDQdtIIPfHu8ah4ddcl31t1OkGNIjkZHkeXcK2szBD9ZbbKLjKhZgsNoBMHszpvTFnEFDmAmOWojQgn2DX2UWx/DHz58jdWxgMdgWncx3g1WMRcZVJBMhhlnbQxGnupOSlt7NNLinL0z6F9HRnh9gnf5zx/nnqy1XPR804CzpGt3TeIvOOVWOmrrcwk7bFSpUqYjI/S3cjGW/9wv8AzLlVC1iB7fHxq0+mFCcbbAn+QTkT/OXOffVNsZgCWBHIaGfZQQ+QxYvfbt4+/wC+n79kXLbW2Bg6E906g+YofZLZR2DpoI1+O1TLd3KFhSfALoDtm2++oGAH4XjkGS2ysknKc4X2gHUGN4oLiOhuLbM2RZ5zcWT5Cfia0UXSTBBOnId/LwpW5bQoYB0gHYctRHsmq1sEjKG6K4yY6g+9eX61PYfoVi3JlFSI9Z159wUkmtUdzqSMrAaCNYOw8fZXpcFTk1iSVjf8PZU6mMoWD9HLGOsvAHuVZMebR8KLYToXh0Oz3CDEs0D3LH21ZLl7QND5RGkH8Brr415iWiInXTYkT7NfbRbGRkwyWxFtVVeQER4nTf401cbQ7+0ffTrI8y076aGO+NYjzqFdc5mlTB2009uUzQIZxF8chr7PsqBdYeH4eFdMzGQywNtmMeIMEUOa1ckkA6aaKQfumqQjZfQw04a//v8A/wBK3Spn0GqRhcRIIPyjY6fzVvlSpjRfLm5rk17SpFjFzcedK7t+/dSpUCH8N6tdXfVpUqko5NNNSpUyvREFIb0qVBBHxG4qN9Nv0R8aVKn7ET7v8mfJf2jQylSoXI/RZuE/yS/rftGplKlTJFSpUqAPFr2lSoAVKlSoAVKlSoAVKlSoAVKlSoAVKlSoAVKlSoAVKlSoA//Z"/>
          <p:cNvSpPr>
            <a:spLocks noChangeAspect="1" noChangeArrowheads="1"/>
          </p:cNvSpPr>
          <p:nvPr/>
        </p:nvSpPr>
        <p:spPr bwMode="auto">
          <a:xfrm>
            <a:off x="1676401" y="-723900"/>
            <a:ext cx="2486025" cy="18383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4" name="AutoShape 2" descr="data:image/jpeg;base64,/9j/4AAQSkZJRgABAQAAAQABAAD/2wCEAAkGBhQQEBQUEBIUFBUVGBcVFBQUFBcVFBUZFRYXFRUXFBcYGyYeGBojGhQUHy8iIycpLC0sGB4xNTAqNSYrLCkBCQoKDgwOGg8PGiwkHyQsNC8sKS0sKi8pLCwsKSwsLC8sLCwsLCwsLCwsLCwvLCopLCwsLCwsLCwsLCwsLCwsLP/AABEIAJMBWAMBIgACEQEDEQH/xAAcAAABBQEBAQAAAAAAAAAAAAAAAQIEBQYDBwj/xABEEAABAwIEAwYDBAgEBAcAAAABAAIRAyEEBRIxQVFhBhMicYGRMkKhcrHR8AcUIzNSYsHhFYKS8SQ0g5MlQ1Njc6Kj/8QAGgEAAgMBAQAAAAAAAAAAAAAAAAEDBAUCBv/EADARAAICAQQBAgQFBAMBAAAAAAABAhEDBBIhMUETUSJhcZEFMoGh8EKxwdEz4fEU/9oADAMBAAIRAxEAPwBpfpiQXCJBiYVRmbPE3SNDjM2t0349FZZTnYrtBawT8w423I+u/QKwqu7xmh4BEwCRcceG4/PlTlFx4Y7tWjJOwTnWls7WJk+h2TmYOrS+N0fZ3A9fvhaOplIaASwgi4iI9+KbTwzYuBG9hJMKB5WuBX7lZh6oLYJnqd/dWuDoB7YNmwYA224jj6qO90GCJHAREefBd8rzwUKgfoa4tvpeZadr7RPI38lFJ7jrcRc1ykU2lzhBgO+HxXEjwmLEbcFh8ViXPtsJmB+K9Bx3ak1n1HUm0nNJmalCi55J+LWWgSRcTxgbbKI4MqSa2DwzieLO9ouP+ipH0VzT58eJvf8A2IsqlNVFmDZVc0ENcQDYgEwRMwU1zyef8oEwPIei2NbJ8G4eJuJwx5gsxNMehDH+zioTex7qpP6pVpYqNxRcRVb1fQeBUHoCOq1oZ8U+YsqSx5I9oWnkmHdBc2qJF9LtjHIgkQeCi18ZVwkNa8PZfSHsPhjYgghzXdQQtVlOU6aTQ9wc5sgm8i/wnjI2vyUivlLXxMQd5HDyWRHV1KpfEjReOLj8PDMJmmJxNem2tV1mnJY1xMgRB0k7kXtM+apyvXjhGuouokAggwNMj2XnmY9l6tPUWgPa030Xc2dtTRMLQ0+qhP4XwU8uFx5XJSseQQQSCLgjcEbEL0ns1+mE0aXd4qkahb8L2ENJ+2D949l5uWJsK44p9kClR6T+kD9IjMVQYzCVHCf3gu2QWmRt6eq82SoAQo0DlYkIhOKRdHJ1oYx9MzTe9h5tcW/cVze8uMuJJ5kkn3KAhFBYiUi9gpGCwLqrtLBPPkOp6KxaA0Gg8N1T8W4nrcA8N1FPKo8dv/B2ot8lMWrc/o87OYXEsqVMSC40jJBfpYG8CY3vPFYp9MtMFLTcRYEwdwCRPmupLdHhii6fKNzi83wrXuGHptY3aeHSL2F9lnc4xrtmuj+KDv5FRsKwtcS0EiNgAdhvcrnVoPqeLRFvv5ArPjBb1JtV86LLm9tUGArRt8XOCSVKFeTF9vmBC6YTLAGjVIcDeD7cVaf4aPiIHr7/AJlRZs2NSbRLixS22yuoVZF4aR11D2SOrB+wAHEgRPspFbCBrdr8+Eqv0EXHHdVpS3cibrg6sYRt6INM84SimXXB/PRJpMwuLYCd3e/TzUjOKUFlyYaJ+pSMoOLgDebWup+YYKzQLmLo30dIz+qP73TXEqY7CLlUpxz9VIpJioigp4f5eyVxEp7KOoxIE810M6MrAKwpYoaflcPYjn1XPD5EXO0h94JFt/K+6c3JCXFocNQtcxcb3/FR3Fg0znVxDZnboDP9ULriez1WkA6o23Ty6cELoVFLl2YOpVA8E2MmOPncStme0dKq24INtJaToNphzXXaZ6wsGrbIKJc6L7jqLc/da2phHa5FTFNp7UbjDZy6nZ927QRPmD7wpga1zZZ7E7TchQaWVkTLiQeRt7K7wWBa1nMrIl8XZdaoq30BxI+73UbFYNrmxv5cPwV5ispIu08bgjpKj/qzh8v581xJUddmNZgu4e4iYNyPuPnuFZ97AJkADefe87KVXy8ve6LcI6dFFzDJh4e9Bfawk6fUc1G5xk7kyFprojUsUKzT3bmmI1DjdR8NkDKtRry4se0ggtOk22MjjbgoeGy/VWqGmA009g0EkkjgCYjdTcI+q0a6+kDUWBo/eFwtLWgHUDcT0U8oOFvFLx155/ucKbf5kb9uaENaK01iBd4gVwAN9RtU8nehCbmeKptoCtSBqN1BvhY6QT8tVhE0z525ErLYbMHvYXC0nSC5sOPOAdtzfoomJ7UHD1JokmpGl5d421Gwf2dQGzmX262jdVscJzlsat/uSSyUrDMO19RnhfSa2QdqjXdPlmCnZHnNfFVNFFgYxsuqOgu3FgLQ0nrPO8QeGY06OMpPxNBjtTBOIoB3joSf3jSR+0ocJiW2BtdZSo8g+E6egJHCFsY9HBx/LUvuvtZVeaSffBJzjJ6uHf8AtmgaiSIIIIneyrC1SnYxzm6S4kSDBM3AgfQri4rSiml8RC2r4OUISkohMYiITg1LCBDIQ0pYQgCXgse6lJpkAkRMAkeROy64Oo8uc4NdUcd4vx42PJQqVEuMNElWLMgxLfF3NSBeQNushQ5Fj5Uqt+51Hd4JRyl9QzUGgdLm+3kPNSaeSBm4LuQ58hI4rQUKRNFjsS3TDQXOiDIFjayiU+0GHZTcdQLphoLS6esDyETAvdYm/LN7Irhe3RdSjHlnNuSN2jTb69bWT/8AB2jwh41bkE78rx9ElXPHupa6IDtPxt0hjtIku8jbgkwLxihLardcfA6Q4Rc+Y8vZcSxTSv8Ai+pIpxuibSykCQ0ydzpdJH0Vfj6jGam6zN9zb29Vc5ZWOHZL2FxJklnDlEjY9Fme1GPY+oXsZo1RbjxklcYscpzpEk8m2NkB+YyYja3NDAXRa30UCniAGkHf5SI+qn5M9j36XvDSfmqGG+U7D1V6ellCLfsVFljJqzvU8Lbf7KvfijK12Z9navdnugXGJaWAOB6W6LFsw516HHQZg6gRpO3itIT0uGGWLbfQ8zcGq8lrltYkgg7K2Lo38R/Hh9yTJuz5YDreHTFm3A6zxkJuBpVDXeJboZIsd5Nvpuqk4RcntfCLWOHCclyww2GJLiAG3m/BOdhDUs4B2+145XXfEO0uLSCOuw9VzdUc1pDQ6CN2ifUHYqNEk8S7REq9lz8pHkT9xT8JlLKR/wCIFjZo1RJ/PVSMLgHuME1SIguaXHV6Gw8lc0cA8fu21C3TtUPhBneGtcBvsTw9+3b4shUUiVlWSUXyWEEfaLva9lOp5KNZaOIBOxnzGm3BV9FzqEOraQ6NIcXNpgwbXAib8lbU88DttL437t7XPA+zbV6Lle1Eygl8xz8GaTSLeRCE/F5q0WPEWJHA9fxQu1Ji9Ns8NVx2dxWl5AsTEem49lUgJzHEEEcLr0OTH6kXFmLGW12evZS/XSB4/mVbUWAwBuDf+6897O9qhqDH0/E+BqDo8Q2MczZavB5g74mtIk6oNoB/iE+YWJkhLG6kjUhJZI8M0D3mdJ4/myid3ZPZitUavQciolR2kGN+RUGV8CporM3fpII+/jCzuZY0up6STMiCbRHLnyUrtFWLhPw6T7yqLvrOLombdduHkquPHfJzLui2yssY0lwlzrk8+F44wFzHdgFzKbae8H5ndJMlRsPUHdTBkdd/wVdWzEx4vRqlhCc5NRvkik+OTtmGfkNhhIMmSdxby6x7qiq4kuMuJJ5lLiaxcZK4L0WnwRwxVLnyVJy3P5EzL8yqUKratF2iowy08ORa4fM0iQQbEFWecYBlWl+t4ZummXBteiL/AKtVdsB/7L7lh4XbwCoQrTI81/V6uot7ym9pp16R2q0nfE3oeLTwIBUzXk5T8PoqXNSK3z3KRh6sMdrpPaKtCp/6lJ/wk8nCC1w4OaVVlqa5DrhjISwngJYToViBqC1KmlMBpCSE6E6EqHZJygftW34/mV6ZlGNFQRaAJBYC4A8NR2C8xwWCfVfpYJK3OSdhO8YBXqOAG2hzhE72II+5ZWuhCUlulT9i5p5NJ0ih7S5459VzGvHdjc0/m539eBhZ6mQHAnaRK9nyzsThaEaaYebXf4jbjf8Aon4vBND4bTpFkXGmHTIi4EREpY9VCC2Qj/ixywSm7kzyKhWqd+TQ1Nc4kgFwBuZg6jcqRm+JBLJpsZVbPeBkjxB1iYMAm8gC3O8K37SdnKz67nU6UtP8Gw43mAFlq1IhxDgQRuDv6q/icMlTVXX6/qV8iljuLNRmOfuqUGvpw2Za4G9xBtwn+nkkyTLW42BUd8M2AA+4SP7Kmfkdemxr3UXaHXHHyJDTI8zCh08Q5rpY4tPNriCJtvvsof8A5oONY3Tvs69VqVzX6HquH7J4VlGYYWbuc4A+5PD1XOl2DwRIOjVN7PcB5b7LzjC1n1Ayjqdp1TGpxA5wyYtcr1w4ZppAUnEFtpcOW4ibLN1Mcmna+N2/qW8Lhl/pJYy6mGtAGgTpbp8JmPDBHtfivMO3+GczFAVAwuLA41GCNcyBrG2oREjey2dPNjSqw8w0nfy3hXdQUca2wY+LGwk9DI2lcabL6U91EmbE5Ro8zyTCvq0IbJkukSTMb6js2ZVlTDaZ8TS14ERME8pHHzWq/UxSboazQ0T4RYDrbdcK9BlTSD4p+E8Z6HguM2TfJuqJ8dxikymwuHbiaZ713dmYBHXYAfNw9+CvMt7LkhpFeo5rR4WgNAd1Np+5WmCwrGARTAkGXEffO6qsy7VOw7h3bWvY2zh8J8gefmlCk+eiPI3InjCVabo0AD+IyTHKTt6JMQ15+Yn1/DdSMuzsYlhdSe1wFiHWez7XMG3TqptF4kDSAeP5Clni3cqXAQlS6KKjlNV55NO5fBnyBBVhh8hLTJc2fsCfcq1cYHhHoo1TEk2MI2RiqG8jZXY7L5sbjmBJSqxbVtwQuHGILM0fPkJYSpYXpjDEaYWpy3Niwur2drtWa03bsG1I35gjr1tl13wmJNN0gA2IIIkEOEEeyjyY1NUdwntdnpuR5qKkguk7iNoP32hdc1e9jfAAeJkbDmvPsrzg0qg0l2ifCHGSBOy9KpvbVoHUN2mWyeO8LD1GB43tfXg0MeVTRg8/xZYA0zqcA7+UXI9dlSOxhO8WEBSs9rOc9uokhrQB7md9jKrqVAuMAE9AJPstPS6fGsSbRRy5JbmkyRQzKo0ENdANiICdjWyGuBmRfofzK5PwZa4B3g+0DtziJ4Ls3DTs8Ez8JkTwtw+qmeOEZKcaX0Xa/Qj3Npplc8XTYUzEYNzTDmlp5EEf7qM5kbqbvlCGQnNcghEIA0WVN/WsM/Db1KWvEYTmYE4igPtNGsD+Jh/iWfcJuOKlZdjH0ajKlMw+m5r2H+ZpkT0tCsO0uBYzEE0hFGu1uIojkyrcs/yPD2f5UkqYN8X7FJCQpzgmwugEQUulEIAQBd6GF1uDWS4kwABeeC5gL0H9H/Z+GHEESXS1gtYT4iesiPIdVDmyLFByJMUPUkojeyfZx1B7i9wDjDSAXaQN+XjPrA6rZ0w1g3km19092EcLtv1JUcUfHLpcZ4bD0XnsmSU5OUuzYhCMVUSVUzKLO32EJAwOiPNOr4UOCe2gNtI8/wA+SOW+RcURKrTBG45KozHJ6DtLatEO1kgEAyOIlwuNitQym1vCeQ5KFiw1tyfFNhwXKTg7TOtylw0U7cMBYAw2zfLp5KHXyTU8ueGvsNDdDREC5ncknmtO/D6hfpMbc1zxtHw2F43mOHNG98sfDpGOq1KOCDO8pghxYC4NGppk6w6bxAkf5hyWuy57KjS8OGk9d56eqz+eZf37XSI1M8PUt2da+8fVU3ZGu/vTQeBqZaZ4SbHn5+SnWNZMW5drv6e5w3tntfT6+vsa7G5W14sJHksgMbUy3FtcQRQNoA2EbeYW+pCwiD5KqzvL212lrhzGoC4JBaSLcio8ElCVSVp/zgeRSkvhfJJxHabC1aYIqsc5/hDdVyTYNLeEzFwqjDhtMRrnS7w67OAO7XGN+qi4bsjQax7JdLxHeEgubBDhptG4CyeeU34Ws6k2uagABmbibw4EmHD8PJXI6fHmbUJfcrvLPErmvsek1s4DKRDiC4CQ0EE79VU1ssGILqlUljTB0A2EDckbm5WDwOb1Kbw7UXRaCTBB4LSM7Rju2hrY9ZB9FDm0k8KXlEmLPDJa6OzMD3FaaFRzDwdIny6joVpsBn9QNPfsa7+al4XerSY9oWM/WdbpHxHfVDQCDeOKtsJIYJeQOOkTHrZVN8o+SZRjLo1RzRhg98GDlUaW8fY268VX5nmzWtBZVFSTENaCb8LqjxmcMpQC4AxIBvbmorcV+sN/ZmPEG3HOZPONvdTNz2btvHuRy23tvn2N1k+NpVQIcbDxtj4SRMSCRwQs9kINFl3CT4ncOkeUWSLlZl5Rxts8vSwlSwvUmNYmlLCWEJiBpgyNxstLlnbFzYFWYHFscNpCzQSqLLghlVSR1CcoO0bHPsRh8XTa9r6Yc2zpIY8yBpO3iiIhPyLsq/XTNMCp3gIbpcCPhPHYeuyxSs8qz+thv3VQgTMcJ5xz6iCqWXRz9PZjm69vl9SVZlu3SRb53kDGVCX4miGgAF0uf4hYhootf4dgC7STBsNlWdzhRvinn7GFcfq97fuVtU7U1MTSe2owOeTq1MaALc2Ab9R1neVl31Oil0spvdCarbwvoR5FHhx5v6l7+s4V0A42oWNjSytRqBojadGsRuPhUrHZUzFf8nTw1Swthq81ev7GpoeeOzOSz2DwT6zoY0E9SBPQTuei71uzri0ODC4F2lpaLkjeACTvPspJenGSW6n9f/AVtfl4I+Ky7S9zS17CN21LPb9oECPZQn0yCtRgcwxAYWYimcXRpwHNq6u8pA7d1X+KntYElvRMzXJGmm6vhnGpSBioHACtQcdm12i0HYPb4T0NlMmjjntGbpbrQ4j9rl1N3zYWuaf/AEsU01G+1WnU/wBaonU4KvMm8eHxtP8AiwxqD7WHq06o/wDr3nuU3xyNcuvcoKrbrnCkVRIBXEtTaFF8DYT2slI1iscvy1zw50hjGRrqvMMZO0kXLjeGgFx4BLobfsRG0V6d2ApmlhnCqC3U8uaDLSQWgSQbkSLGF59UzYMMYVpHPEVAO9PWmLikPKXfzcFaZZnL9Apl07mXHnckniqWu3PD8KLGk2rL8TPXKmYsDWg2cROne3ykGZg3ib2nYhcH4lkWO+yxlDFv1FzqheXGSefL6ACFKdmJaQffym/9FgerLk2lii1aZpXV28Z9ik73URpv6rPtzsEeC8b+8Kwy/Mgbkx0XG92DhSLuJHiIlQMZR7yBpuNncVDxeYkghjocfhIG3LdQWZ26QHm8XgESRuBvHupXkTXRzHFI1OHZO/uouPoy0i/HZQsHnQcLW5ymYjOmA3P1XDkqoaxyTOGIfpjV5W4LEdpsvdQqiu0ka3G3IgA3PI8ui0lTEa6p0menMQpuaYTXhnNgH4SJh2xHD6Qp9LmeKdvryLU4lOG3z4JnZbMxiKLXkRwve43VhiKbRJcYa25P3rz2niMVhJpYak46jrB0F0SNh5dVFzzLMc+m6rjCQ1oFnPbxMANY2RN+KtLSRnK9ySfXuVJZ3BdNtd+xbZ523otaRhZe4/MWlrG7XAN3ceSwLzJkpzo4ev8AZNWxhwQwqombkzSyO5CBS8trBtVhOwcJ91FhOYpXHcnH3I06dm5OC1ul1miZOw+vGVX1u0TaNIsaNTgTpn5ftc99lPyTOGuwxa9upzbH28J+ixeLdNRxHEn71haXSqeWUcn9Jq5s+3GnDyNrYhzzL3EnmVOyPGGnVEuhpkOMxFrHzmFXJ4sOq3J41KDh4MtTcZbvJsqeYa2Bw8QYWtc7hYWPlZCo8sxmjD1gdjoIH8xMR5aQ4+gSrEl+HScmo9L/AFZpR1cFFbuykhEJULdMsEIQmgBLCRKmAiEqe1hIkCw/qkIKTy0ggkEXBBgjyKkuzEm5a3VMucAAXdDAUQq27N5C7GVgwHS1sF55CeHM726Liaglul4Oo23SNRR7MU3HD1KbAKbw57g50BrZBImZLocGyec8FWYxjnOFOm0taCW0wwENu6xM7uMAkm91aYvOqbXijRMBgFIFwlsNuQZuJIEnp0VLUxoquJNzuIJABtH9V5fJPdJ+xsQSSNRleDDfC+HTpcXQ3xESPFYwRG29+ChY3Lzh63fYeGVZcKlOo4GlVY8S5jrQWm4IMcCOBVc3HtbTDDUfVMTqDC3RsCwfxc5/FOoZrre0QSdnEwYEgi54QljzTwu4f9HMoKa+Ihdoez4YG1qDT3FUamSdXdOmH0XniWnY8QWlM7K0prub/HQxTPfC1fwWzwtXvWVKEOh7S6kP56YcdII31sDm9bLN9mKP/Etc0HSaWILSRuDhq0ErZ0mr9eD3cOjPy4fTnFx6b+xjWGWN8gla2UUWfs2joFZ5RlneuOpwp02NL6tQiRTYN3RxJJADeLiAtJ8FdeyHZfljS11Ws7u6NONbwJc5xEtp0gfiqH2Aubbw8wzF2Igae7osnuqLTLWzu5x3e8wJcbnoAAH5pmn6y5ulpZQpy2hSJmATd7z81Rxu53psABDJSS8sfXCAnklp1iCDyumFEJgbDs7mbHaWzpI+Unf7PP71YY2tT1QarJ5ahP37rz+USs2f4bBytNr5F2GslGNUat+Z0qBIFTVefCJ9CdvqptHGCqzvKUjg47X68v7rDrox35/sh/huNrhu/c6jr5p21wbhpdxvxnim1nTuVEwWLgMZMnSASd5i8lSNer03Cw5rbJo0Y5Wydha0CAAuOKol/wAIXCm4zbheyuMCZFwDseSi389EiyNdlVltF9OtqNmxBEb9B1Wr/WR3YtvEBQ2VKTn9yXNNSNRYJtxPluoOZvdQAYDIjjwKmaqrDdHI+GWLcz0iQbG8n+iyfbrtI6rpotI0iHPjiflB+/1Crcyz1wOlpFp22k8eqoXvLjJMk3JK1dFpJKXqT/Qo63URr04fqxAlSJVsGSInMQhu6YHZmILWkAwDv6f7lGKe0kaJ+Eap58YXAlIuNi3bl/PqdKTqhQulNsmBvIA9bcVzCNS7OS6wdNzHGhWZo73SPG2HNOzHieEk+YJQu+WYsYin3FQanAfsHaoeyDJpsJ3BEkA8bckLLzaiWOVbtr+lp/NFvHiU43V/rVGclLKYlWmVR0oTZSgoAciUhKbKdgPlEpspCUrCh+pbP9HriO8IcSeFMDcxEyejjb14LE6lYZBm5w2IZUFwDDhzabOHsSoNRB5MbjHskxNRkmyZm+H01nNcCCLOGxmBf1kJtGm5hBLSA74SQQDBiWnYwVpO1OTAubUpXa5uoOudWqYI9IPkDyVbnHaEVC3u2vw1Wm1lPSxjX03saIGmq79pSjfTcE3mSSvNJdp+DTshNq2Iht7zI9OPrHRNrad4ieVmu56gN/uXTC5xiQfDiq3Mh1QuBvtpJIPsrChmlRx/bUaFbk4U+4ef89IAExxc1y5ckvIbjnlderTfTe06jTc2o3eJadURsJA+q0+Ew/cYvEspgd21tepTaAYLauGq1WfR4FuSi4RlOp4qJswB1Sk+BVpgyNRIs9lwNTYj5g3dXuCouqFlQADVha1IxwdSFVjZ5+B1NRqUrp+6f71/oUW2zMZP2Vp4geJjmnkzULnYBrh6Qo/a3s3UpUu4w41UGE1cRUkaqj2yADzYwEhsbkudxC9Fo4XRcQX3AP0c/wAx8I6lx+VVHaPMqdHDvFR1NmtpawvOkGbEhoBc8CdmgqxpNZqLivzX4fPH8/wGTT41Fvr5o8ecE0MU12KwzPhFauekUKf1D3OHo1J/jRH7vDYZnVzHVj/+rnD6L1FmSkRe7ThSUlvaDEDZ9Jv2MPQb91NPHaDEHepTd9qhQd99NNWDS9/2IbqK5lisf8cd89DC1P8Ao90feiWJwzHDO/eYetS/mo1RUb/26o1H/uIt+wkvmVZCA5W7Mqp1v+WxNKoeFOp/w9byDah0OP2Xk9FAxmXvovLKrHU3jdr2lrvODw6pKSG012WWWZmRbe8mf6cir7B3cRpkG8Dgsllxio3zj3sFvqOGDOFxYn+n0WBr8Sx5Lj5NPSyc1z4H06YFg3fin0a3dkTza2wuNRDRPuEwPhIWB4IdEEEOnl+KzlFXyXci44JrMLTbUdVaCHvgOdJNhEADhsNuSz/a/MtDWtB8UEeQ/FXVSroDQTOo6dR/i0kyfPSfdZrtNgSaZcHAlsF3lcW91Y0zUssPU5/nBBP4cctnZknFNlKUi9UYx0DU1IHJwugQBATZQXWQAkolNlEpWdUPaUkpGlJKLCjtQxBYQWkggg2tBF2kdQUq4JFy1F9ofK6FlEpsolOwocCllMlLKdhQspAUkolKwodKSU2USiwodKJTZSykM3/YvtVR7kYbFuDdJJpufdkH5Sfl3O9r7hXXansmyqw1aA8cTDILXgbH6jbcLyWV6f8AoqxLnUKjXE6W1AG8YlosL2veOqztVp48zRbw5G/gZjsRh3Mfoc2HjefCYNwQbWVtTxop09L2y8H4pjSAJmw57c1fduKzWNAPEnTe1uI6eXJZJtU1GtFhPHgOKx8kLfJd28WzX5NRaXNrURNXhJOi4ggji2CWnhBK2mEy4Bp0eBjW1dJ/hbVp0ItxLRI6lp5rHdn6Ro6W7mLmfW3uthj837rDUabbVKwc6eLGAzq6G7QOt+Cr4pRi5OXSX8+/AVRGxeL0AzANgGm+gCwB4Odz4Al2528W7R4l1XFVH1Hl51EAkzABMAdLrc9oM6Yym4ajDQWgAbmLCfzx5LzSrU1GStb8KhJuWSSoq6ySaUUBem6kkpJW3ZQofKcCuUp0pphQ/UjvEwlNlFhQ90HcSrLA59WpMFOW1qI/8iuO8pj/AOMzqpHqwtKqpShc9jXHRv8AsfluHxVU1KLXtdTEnD1fHDifC6jVsKgs6GuAdMfEtLXywnp/Zefdj89/V60O/d1PDUnb+V3ofoSvXa+KZpILiasgAlu7SRJJBILgAQHGDfiQCsP8Rxv1NzfFcfz3NHSU4Ulz5MvVwIEz6ea5UqcHqdhPLcq0xdKHQNuX3KGyoGk/hdZyRe22RcViGy0O1NLXBzS4Wm4PlYlVHaPHUu6eA4EkcOfmunaPNi9pFMfCCTPTy9SsNVrFxkm60NJpfVam3wmUtTk9P4a7O2Gwr6hhgnnyHUq5z3KmYfC0ZkVHFxM8RAHp8u6l9g6Dtbnj4fh249PcKv7bZj3uJLQfDTGgee7vr9yvvNKep9NdR5/b/bKmyMcW7yyilPGy5j880aloJleh8ppKJSSiwBEpJSSkM6TZNlJNkhKLAcShMlCVgLqRKZKJRY6HyllMlEosKHIlNlEoCh0olMlEosKHykJTZRKLCh0r1T9GNAjBF0b1HGZ4eFv9CvKZXr3Z7FCnlNAtIMTItOqZAPuTzhU9W/gLWmVzM523r95it50eGRsB8UfWfVVuA22twFuH5t5q0zTDgg1HTL3njJ0gHS4m8ySOA2VZl9A6tQn+Ez/QcLceqx5NNGpto3PZB9Mlra7i1vwl7jEwIA1RAvAlUP6RO0r2Y+ozD1P2Yp0w1wDYAA+Fhj4QQb9TyVfj82dQZ8Thxa3SADO0mJ4bLJ43Gmq9z3buMn8B0VjQ6fc90oqr+78fYpauW34U+RK1cuJLiSTuSZK4kpspQVtmdQSiUSmoGOlKCmyllOxCkpJSShIBZSl1k0FNlFhR2Y5ex5XmPfU6NSZDqbdUCYcBpcDyuCvGGlansPnbqNbRGpr+H8JHH1H9FU1mPfjv2LWlnsnXuej44NaNQNzt/WPdU7GEuJOyl18Y0i52vtEeips57TUqLDBDncGjc8vIdViKDk6iaU57FZm8+x5p1HsaBcESd4Nreizhcn4jFOqOLnmSbkrgSvQ4caxQSXfkyMuR5JWX/ZztQcGHxTD5giSRpO3rZU+LxJqPc927nFx5STJj3XMJpK6WOMZOSXL7ONzap+BZRKRJK7EPBSyucpZRYqHSklEpE7AdNkiJQHJACEShADEIQkMUIQhMAQkQgBUFIhAAhCEAKF6Vlbf/AA3/AFH1Ba0fRCFQ1vSLuj/MUlGoSbmbN+sgpcadNF72ktcyC0gwRLgDtuOhQhZWP/livmXc3TM1jcxqVoNV5dpsJiw9FDKEL0m1RVIxU2+WIhKhIYBCEIAVCEIEIhCEAIhKhAxF1oVC0y0kEbEJEIQMkPxjzu93+oqI50oQm0l0JNvsUFNQhIY4FIUIQIUpqVCBghCEAKEFIhMQIQhIYiVCEAf/2Q=="/>
          <p:cNvSpPr>
            <a:spLocks noChangeAspect="1" noChangeArrowheads="1"/>
          </p:cNvSpPr>
          <p:nvPr/>
        </p:nvSpPr>
        <p:spPr bwMode="auto">
          <a:xfrm>
            <a:off x="1524000" y="-669925"/>
            <a:ext cx="3276600" cy="14001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2000" y="2128842"/>
            <a:ext cx="6228000" cy="32520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5781417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0709" y="592574"/>
            <a:ext cx="2607631" cy="2032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 Box 8"/>
          <p:cNvSpPr txBox="1">
            <a:spLocks noGrp="1" noChangeArrowheads="1"/>
          </p:cNvSpPr>
          <p:nvPr>
            <p:ph idx="4294967295"/>
          </p:nvPr>
        </p:nvSpPr>
        <p:spPr bwMode="auto">
          <a:xfrm>
            <a:off x="0" y="3500438"/>
            <a:ext cx="11860040" cy="1643527"/>
          </a:xfrm>
          <a:prstGeom prst="rect">
            <a:avLst/>
          </a:prstGeom>
          <a:noFill/>
          <a:ln w="9525">
            <a:noFill/>
            <a:miter lim="800000"/>
            <a:headEnd/>
            <a:tailEnd/>
          </a:ln>
        </p:spPr>
        <p:txBody>
          <a:bodyPr wrap="square">
            <a:spAutoFit/>
          </a:bodyPr>
          <a:lstStyle/>
          <a:p>
            <a:pPr lvl="1"/>
            <a:r>
              <a:rPr lang="pt-BR" sz="2800" b="1" dirty="0">
                <a:solidFill>
                  <a:schemeClr val="tx1"/>
                </a:solidFill>
                <a:latin typeface="Arial" charset="0"/>
              </a:rPr>
              <a:t>A exportação (venda) pode ser de bens e serviços, entendendo-se a de bens como transferência de mercadoria entre países, e os serviços como venda de assessoria, consultoria, conhecimentos, transportes, turismo, assistência técnica.</a:t>
            </a:r>
          </a:p>
        </p:txBody>
      </p:sp>
    </p:spTree>
    <p:extLst>
      <p:ext uri="{BB962C8B-B14F-4D97-AF65-F5344CB8AC3E}">
        <p14:creationId xmlns:p14="http://schemas.microsoft.com/office/powerpoint/2010/main" val="1412776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p:cTn id="7" dur="2750" fill="hold"/>
                                        <p:tgtEl>
                                          <p:spTgt spid="6">
                                            <p:txEl>
                                              <p:pRg st="0" end="0"/>
                                            </p:txEl>
                                          </p:spTgt>
                                        </p:tgtEl>
                                        <p:attrNameLst>
                                          <p:attrName>ppt_w</p:attrName>
                                        </p:attrNameLst>
                                      </p:cBhvr>
                                      <p:tavLst>
                                        <p:tav tm="0">
                                          <p:val>
                                            <p:fltVal val="0"/>
                                          </p:val>
                                        </p:tav>
                                        <p:tav tm="100000">
                                          <p:val>
                                            <p:strVal val="#ppt_w"/>
                                          </p:val>
                                        </p:tav>
                                      </p:tavLst>
                                    </p:anim>
                                    <p:anim calcmode="lin" valueType="num">
                                      <p:cBhvr>
                                        <p:cTn id="8" dur="2750" fill="hold"/>
                                        <p:tgtEl>
                                          <p:spTgt spid="6">
                                            <p:txEl>
                                              <p:pRg st="0" end="0"/>
                                            </p:txEl>
                                          </p:spTgt>
                                        </p:tgtEl>
                                        <p:attrNameLst>
                                          <p:attrName>ppt_h</p:attrName>
                                        </p:attrNameLst>
                                      </p:cBhvr>
                                      <p:tavLst>
                                        <p:tav tm="0">
                                          <p:val>
                                            <p:fltVal val="0"/>
                                          </p:val>
                                        </p:tav>
                                        <p:tav tm="100000">
                                          <p:val>
                                            <p:strVal val="#ppt_h"/>
                                          </p:val>
                                        </p:tav>
                                      </p:tavLst>
                                    </p:anim>
                                    <p:animEffect transition="in" filter="fade">
                                      <p:cBhvr>
                                        <p:cTn id="9" dur="275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0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5029" y="2611496"/>
            <a:ext cx="2607631" cy="2032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ítulo 2"/>
          <p:cNvSpPr>
            <a:spLocks noGrp="1"/>
          </p:cNvSpPr>
          <p:nvPr>
            <p:ph type="title" idx="4294967295"/>
          </p:nvPr>
        </p:nvSpPr>
        <p:spPr>
          <a:xfrm>
            <a:off x="1" y="223838"/>
            <a:ext cx="9515192" cy="858837"/>
          </a:xfrm>
        </p:spPr>
        <p:txBody>
          <a:bodyPr>
            <a:normAutofit/>
          </a:bodyPr>
          <a:lstStyle/>
          <a:p>
            <a:pPr algn="r"/>
            <a:r>
              <a:rPr lang="pt-BR" sz="4000" b="1" dirty="0"/>
              <a:t>Por que devemos exportar?</a:t>
            </a:r>
          </a:p>
        </p:txBody>
      </p:sp>
      <p:sp>
        <p:nvSpPr>
          <p:cNvPr id="4" name="Espaço Reservado para Conteúdo 3"/>
          <p:cNvSpPr>
            <a:spLocks noGrp="1"/>
          </p:cNvSpPr>
          <p:nvPr>
            <p:ph idx="4294967295"/>
          </p:nvPr>
        </p:nvSpPr>
        <p:spPr>
          <a:xfrm>
            <a:off x="4399984" y="2070980"/>
            <a:ext cx="7088864" cy="3460687"/>
          </a:xfrm>
        </p:spPr>
        <p:txBody>
          <a:bodyPr>
            <a:normAutofit/>
          </a:bodyPr>
          <a:lstStyle/>
          <a:p>
            <a:r>
              <a:rPr lang="pt-BR" dirty="0"/>
              <a:t>Ganhar competitividade internacional</a:t>
            </a:r>
          </a:p>
          <a:p>
            <a:r>
              <a:rPr lang="pt-BR" dirty="0"/>
              <a:t>Diversificação de mercados</a:t>
            </a:r>
          </a:p>
          <a:p>
            <a:r>
              <a:rPr lang="pt-BR" dirty="0"/>
              <a:t>Contar com uma receita adicional em moeda forte</a:t>
            </a:r>
          </a:p>
          <a:p>
            <a:r>
              <a:rPr lang="pt-BR" dirty="0"/>
              <a:t>Equilíbrio econômico Brasileiro</a:t>
            </a:r>
          </a:p>
          <a:p>
            <a:r>
              <a:rPr lang="pt-BR" dirty="0"/>
              <a:t>Eliminar sazonalidade</a:t>
            </a:r>
          </a:p>
          <a:p>
            <a:endParaRPr lang="pt-BR" dirty="0"/>
          </a:p>
        </p:txBody>
      </p:sp>
    </p:spTree>
    <p:extLst>
      <p:ext uri="{BB962C8B-B14F-4D97-AF65-F5344CB8AC3E}">
        <p14:creationId xmlns:p14="http://schemas.microsoft.com/office/powerpoint/2010/main" val="966050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p:cTn id="7" dur="3000" fill="hold"/>
                                        <p:tgtEl>
                                          <p:spTgt spid="4">
                                            <p:txEl>
                                              <p:pRg st="0" end="0"/>
                                            </p:txEl>
                                          </p:spTgt>
                                        </p:tgtEl>
                                        <p:attrNameLst>
                                          <p:attrName>ppt_w</p:attrName>
                                        </p:attrNameLst>
                                      </p:cBhvr>
                                      <p:tavLst>
                                        <p:tav tm="0">
                                          <p:val>
                                            <p:fltVal val="0"/>
                                          </p:val>
                                        </p:tav>
                                        <p:tav tm="100000">
                                          <p:val>
                                            <p:strVal val="#ppt_w"/>
                                          </p:val>
                                        </p:tav>
                                      </p:tavLst>
                                    </p:anim>
                                    <p:anim calcmode="lin" valueType="num">
                                      <p:cBhvr>
                                        <p:cTn id="8" dur="3000" fill="hold"/>
                                        <p:tgtEl>
                                          <p:spTgt spid="4">
                                            <p:txEl>
                                              <p:pRg st="0" end="0"/>
                                            </p:txEl>
                                          </p:spTgt>
                                        </p:tgtEl>
                                        <p:attrNameLst>
                                          <p:attrName>ppt_h</p:attrName>
                                        </p:attrNameLst>
                                      </p:cBhvr>
                                      <p:tavLst>
                                        <p:tav tm="0">
                                          <p:val>
                                            <p:fltVal val="0"/>
                                          </p:val>
                                        </p:tav>
                                        <p:tav tm="100000">
                                          <p:val>
                                            <p:strVal val="#ppt_h"/>
                                          </p:val>
                                        </p:tav>
                                      </p:tavLst>
                                    </p:anim>
                                    <p:animEffect transition="in" filter="fade">
                                      <p:cBhvr>
                                        <p:cTn id="9" dur="3000"/>
                                        <p:tgtEl>
                                          <p:spTgt spid="4">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 calcmode="lin" valueType="num">
                                      <p:cBhvr>
                                        <p:cTn id="14" dur="3000" fill="hold"/>
                                        <p:tgtEl>
                                          <p:spTgt spid="4">
                                            <p:txEl>
                                              <p:pRg st="1" end="1"/>
                                            </p:txEl>
                                          </p:spTgt>
                                        </p:tgtEl>
                                        <p:attrNameLst>
                                          <p:attrName>ppt_w</p:attrName>
                                        </p:attrNameLst>
                                      </p:cBhvr>
                                      <p:tavLst>
                                        <p:tav tm="0">
                                          <p:val>
                                            <p:fltVal val="0"/>
                                          </p:val>
                                        </p:tav>
                                        <p:tav tm="100000">
                                          <p:val>
                                            <p:strVal val="#ppt_w"/>
                                          </p:val>
                                        </p:tav>
                                      </p:tavLst>
                                    </p:anim>
                                    <p:anim calcmode="lin" valueType="num">
                                      <p:cBhvr>
                                        <p:cTn id="15" dur="3000" fill="hold"/>
                                        <p:tgtEl>
                                          <p:spTgt spid="4">
                                            <p:txEl>
                                              <p:pRg st="1" end="1"/>
                                            </p:txEl>
                                          </p:spTgt>
                                        </p:tgtEl>
                                        <p:attrNameLst>
                                          <p:attrName>ppt_h</p:attrName>
                                        </p:attrNameLst>
                                      </p:cBhvr>
                                      <p:tavLst>
                                        <p:tav tm="0">
                                          <p:val>
                                            <p:fltVal val="0"/>
                                          </p:val>
                                        </p:tav>
                                        <p:tav tm="100000">
                                          <p:val>
                                            <p:strVal val="#ppt_h"/>
                                          </p:val>
                                        </p:tav>
                                      </p:tavLst>
                                    </p:anim>
                                    <p:animEffect transition="in" filter="fade">
                                      <p:cBhvr>
                                        <p:cTn id="16" dur="3000"/>
                                        <p:tgtEl>
                                          <p:spTgt spid="4">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 calcmode="lin" valueType="num">
                                      <p:cBhvr>
                                        <p:cTn id="21" dur="3000" fill="hold"/>
                                        <p:tgtEl>
                                          <p:spTgt spid="4">
                                            <p:txEl>
                                              <p:pRg st="2" end="2"/>
                                            </p:txEl>
                                          </p:spTgt>
                                        </p:tgtEl>
                                        <p:attrNameLst>
                                          <p:attrName>ppt_w</p:attrName>
                                        </p:attrNameLst>
                                      </p:cBhvr>
                                      <p:tavLst>
                                        <p:tav tm="0">
                                          <p:val>
                                            <p:fltVal val="0"/>
                                          </p:val>
                                        </p:tav>
                                        <p:tav tm="100000">
                                          <p:val>
                                            <p:strVal val="#ppt_w"/>
                                          </p:val>
                                        </p:tav>
                                      </p:tavLst>
                                    </p:anim>
                                    <p:anim calcmode="lin" valueType="num">
                                      <p:cBhvr>
                                        <p:cTn id="22" dur="3000" fill="hold"/>
                                        <p:tgtEl>
                                          <p:spTgt spid="4">
                                            <p:txEl>
                                              <p:pRg st="2" end="2"/>
                                            </p:txEl>
                                          </p:spTgt>
                                        </p:tgtEl>
                                        <p:attrNameLst>
                                          <p:attrName>ppt_h</p:attrName>
                                        </p:attrNameLst>
                                      </p:cBhvr>
                                      <p:tavLst>
                                        <p:tav tm="0">
                                          <p:val>
                                            <p:fltVal val="0"/>
                                          </p:val>
                                        </p:tav>
                                        <p:tav tm="100000">
                                          <p:val>
                                            <p:strVal val="#ppt_h"/>
                                          </p:val>
                                        </p:tav>
                                      </p:tavLst>
                                    </p:anim>
                                    <p:animEffect transition="in" filter="fade">
                                      <p:cBhvr>
                                        <p:cTn id="23" dur="3000"/>
                                        <p:tgtEl>
                                          <p:spTgt spid="4">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4">
                                            <p:txEl>
                                              <p:pRg st="3" end="3"/>
                                            </p:txEl>
                                          </p:spTgt>
                                        </p:tgtEl>
                                        <p:attrNameLst>
                                          <p:attrName>style.visibility</p:attrName>
                                        </p:attrNameLst>
                                      </p:cBhvr>
                                      <p:to>
                                        <p:strVal val="visible"/>
                                      </p:to>
                                    </p:set>
                                    <p:anim calcmode="lin" valueType="num">
                                      <p:cBhvr>
                                        <p:cTn id="28" dur="3000" fill="hold"/>
                                        <p:tgtEl>
                                          <p:spTgt spid="4">
                                            <p:txEl>
                                              <p:pRg st="3" end="3"/>
                                            </p:txEl>
                                          </p:spTgt>
                                        </p:tgtEl>
                                        <p:attrNameLst>
                                          <p:attrName>ppt_w</p:attrName>
                                        </p:attrNameLst>
                                      </p:cBhvr>
                                      <p:tavLst>
                                        <p:tav tm="0">
                                          <p:val>
                                            <p:fltVal val="0"/>
                                          </p:val>
                                        </p:tav>
                                        <p:tav tm="100000">
                                          <p:val>
                                            <p:strVal val="#ppt_w"/>
                                          </p:val>
                                        </p:tav>
                                      </p:tavLst>
                                    </p:anim>
                                    <p:anim calcmode="lin" valueType="num">
                                      <p:cBhvr>
                                        <p:cTn id="29" dur="3000" fill="hold"/>
                                        <p:tgtEl>
                                          <p:spTgt spid="4">
                                            <p:txEl>
                                              <p:pRg st="3" end="3"/>
                                            </p:txEl>
                                          </p:spTgt>
                                        </p:tgtEl>
                                        <p:attrNameLst>
                                          <p:attrName>ppt_h</p:attrName>
                                        </p:attrNameLst>
                                      </p:cBhvr>
                                      <p:tavLst>
                                        <p:tav tm="0">
                                          <p:val>
                                            <p:fltVal val="0"/>
                                          </p:val>
                                        </p:tav>
                                        <p:tav tm="100000">
                                          <p:val>
                                            <p:strVal val="#ppt_h"/>
                                          </p:val>
                                        </p:tav>
                                      </p:tavLst>
                                    </p:anim>
                                    <p:animEffect transition="in" filter="fade">
                                      <p:cBhvr>
                                        <p:cTn id="30" dur="3000"/>
                                        <p:tgtEl>
                                          <p:spTgt spid="4">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anim calcmode="lin" valueType="num">
                                      <p:cBhvr>
                                        <p:cTn id="35" dur="3000" fill="hold"/>
                                        <p:tgtEl>
                                          <p:spTgt spid="4">
                                            <p:txEl>
                                              <p:pRg st="4" end="4"/>
                                            </p:txEl>
                                          </p:spTgt>
                                        </p:tgtEl>
                                        <p:attrNameLst>
                                          <p:attrName>ppt_w</p:attrName>
                                        </p:attrNameLst>
                                      </p:cBhvr>
                                      <p:tavLst>
                                        <p:tav tm="0">
                                          <p:val>
                                            <p:fltVal val="0"/>
                                          </p:val>
                                        </p:tav>
                                        <p:tav tm="100000">
                                          <p:val>
                                            <p:strVal val="#ppt_w"/>
                                          </p:val>
                                        </p:tav>
                                      </p:tavLst>
                                    </p:anim>
                                    <p:anim calcmode="lin" valueType="num">
                                      <p:cBhvr>
                                        <p:cTn id="36" dur="3000" fill="hold"/>
                                        <p:tgtEl>
                                          <p:spTgt spid="4">
                                            <p:txEl>
                                              <p:pRg st="4" end="4"/>
                                            </p:txEl>
                                          </p:spTgt>
                                        </p:tgtEl>
                                        <p:attrNameLst>
                                          <p:attrName>ppt_h</p:attrName>
                                        </p:attrNameLst>
                                      </p:cBhvr>
                                      <p:tavLst>
                                        <p:tav tm="0">
                                          <p:val>
                                            <p:fltVal val="0"/>
                                          </p:val>
                                        </p:tav>
                                        <p:tav tm="100000">
                                          <p:val>
                                            <p:strVal val="#ppt_h"/>
                                          </p:val>
                                        </p:tav>
                                      </p:tavLst>
                                    </p:anim>
                                    <p:animEffect transition="in" filter="fade">
                                      <p:cBhvr>
                                        <p:cTn id="37" dur="30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0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ítulo 2"/>
          <p:cNvSpPr>
            <a:spLocks noGrp="1"/>
          </p:cNvSpPr>
          <p:nvPr>
            <p:ph type="title" idx="4294967295"/>
          </p:nvPr>
        </p:nvSpPr>
        <p:spPr>
          <a:xfrm>
            <a:off x="3505200" y="0"/>
            <a:ext cx="8686800" cy="1143000"/>
          </a:xfrm>
        </p:spPr>
        <p:txBody>
          <a:bodyPr>
            <a:normAutofit/>
          </a:bodyPr>
          <a:lstStyle/>
          <a:p>
            <a:pPr algn="r"/>
            <a:r>
              <a:rPr lang="pt-BR" sz="2800" b="1" dirty="0"/>
              <a:t>         Para qual (</a:t>
            </a:r>
            <a:r>
              <a:rPr lang="pt-BR" sz="2800" b="1" dirty="0" err="1"/>
              <a:t>is</a:t>
            </a:r>
            <a:r>
              <a:rPr lang="pt-BR" sz="2800" b="1" dirty="0"/>
              <a:t>) país (es) devemos exportar? E por quê?</a:t>
            </a:r>
          </a:p>
        </p:txBody>
      </p:sp>
      <p:sp>
        <p:nvSpPr>
          <p:cNvPr id="6" name="AutoShape 2" descr="data:image/jpeg;base64,/9j/4AAQSkZJRgABAQAAAQABAAD/2wCEAAkGBxQTEhQUExQWFRUWGBgVGBcYGBwYGxwcFxcYGRkdFx0YHCgiGholIBcdIjEiJSorLi4uHB8zODMsNygtLisBCgoKDg0OGxAQGzQkICYvLCwsLCwvLy8sLCwsLCwsLCwsLCwsLC8sLCwsLCwsLCwsLCwsLCwsLCwsLCwsLCwsLP/AABEIAMEBBQMBEQACEQEDEQH/xAAbAAABBQEBAAAAAAAAAAAAAAAAAgMEBQYBB//EAEMQAAECBAMFBQQGCQQCAwAAAAECEQADEiEEMUEFIlFhcQYTMoGRQlKhsWKSwdHS8BQVI1NyorLh8QczguIWQyQ0wv/EABoBAAIDAQEAAAAAAAAAAAAAAAADAgQFAQb/xAA3EQABAwIDBQcEAgMBAAIDAAABAAIRAyEEEjFBUWFx8AUTgZGhsdEUIsHhMvEVQlIjJJIGM3L/2gAMAwEAAhEDEQA/APDYEIgQiBCIEIgQiBCIEIgQiBCIEIgQiBCIEIgQiBCIEIgQiBCIEIgQuwIXIEIgQiBCIEIgQiBCIEIgQiBCIEIgQiBCIEIgQiBCIEIgQiBCIELoESDSdEJ1GHJ0i1TwVWpoFAvAT8vZ6jGjS7DrO1SjiGhSUbIVwPpF1n/4/vKUcW3enk7EUdDDx2BTGpSzjW70r9Qr90/CO/4KlvXPr2b0fqFfun4Qf4KlvR9ezeufqJXumD/A0t6Prm70fqNXumD/AANPej65u9H6jV7pg/wNLej65u9H6jV7pjv+Bpb0fXN3rv6iV7pjn+Cpb1z69m9H6iV7pg/wVLej69m9H6hV7pg/wVLeu/Xs3pCthr90+kQd2Cw6FSGOZvUeZslQ0PoYrVOwHf6lNbimlRl4JQjPq9kV2bE0VmlMKlEaRQfh6jNQmBwKRCFJECEQIRAhECEQIRAhECEQIRAhECEQIRAhdSIk1hcYCJUzDYBStI2cJ2PUq3dYJD64atNsPsdOnn9nLKgMzoOqjuj1jbGEweEH/ob9bNVQqYzcttgP9OpaLz5w/hlio/WUw+BiJ7TAtRp+Jt6XPsqL8WTt8lfYLs3hEeCQqaRqtRI8wmlMVqmOxDv5PDeAHzKrOxBOnyrrC7Cs8vDSEc+7R/UQfnFKpjIMPqOPifZTZTxFX+DeuZVmdlTE2M2XUxISE8ODNFX6qmdGmN8p5wFYavE7AJn2/SSjZ05RACwHzLA8eCr5N5iOnEUhNuvJcb2fiTtjx+Cpa9mCWHXPmf8AEJSH5OC55Qg4jN/Fg8ZPwrrez8mtR3gYWZ23g5iKlBagl92sodT6MFuSNWAjTwtam6GxfbE29PlZlfBPYS68bJIk+p6us6caosmo1M5e3HTo0aIpNBJhVozf2mJ89YAZZU4fwgDxEanlDQGzp6rgpydUmXNmFjUGL+6bg3FidGPnHSGC0e6BSJ2+qkyxMIDKc5EBDkHT1++FlzATI9VIYYkx8pSpU2kKFwRV4Ls5D29ndN9NeJ4KlPMWnUW163o+lfE9dWTLzSN2k8mD+XEfGGf+YN5/Cj3Lhr7qMuarVKOikJDnkWY+sTGXYT4ErhpuGsphU1DsuUkdHSfsiYmPtegB8SCmZ+zMOsXSUc7EfZ84YK1Ubj14qbcRVboqvF9kQq8shXIZ+hv6PEXOo1LVGx1vVul2k4WcsxtHYK0O4y/PlFDEdjU6gmkVq0cc11pVNOw5THncTgKtE3CvteHJiKKmiBCIEIgQiBCIEIgQiBCIEIgQnZMkqi3hsI+u6GhQc8NWp7O9lps9QShBJz8uJJLAczHqaOCoYNmeqevzyWdXxewL0vZHZPDYcPMAnTM6Q4QnrqvzYcoXVx9aran9rfU/HvxWTUxO1aRAmLYeFIySAwbkAzfCM5xYyTqd6rgvqGB14J9ElKQo0oJS7ut8v+WXOFuqOJAk33D9JjaBcCbGNhN+MQY4T5KcnEpSmsKlpAAUVrBISDkAkkGrlYmzRUOd7skEncPnoBa1HD0qbBUMbLnjwMfJTuzlrnipCiiWfaIWpZv7NZoS/J4W/LSOUiSOUelz8q0GuqtljoB4Sed7DyNldyZaU+EM/Ml/MwkyblWGta0WCWVRzKuqt2zjES5ZrIGTEgkAvawLlsy2g53nTaXPDW3PBReQ1pJ0XmWLx5WqtbObByrJ7ACq3QR6qlRbTZlboOXjsXnKtRznF7z/AEqheKBUohCWOXiyBtryHCLIZYXSWtLRE+2/ktTsjbSUyge6R3iEKo3VEqKlqbeCt1rl9Q465WKwb31bOOUm/Cw2aLRw2Ja1hkfcNOO3XgmtoY4zlKUXUwAFTpIRkUmhQBDnNrw2hR7toGnK4nfcSk1XF780k7LxMbrW38VHkzqS4DaEpKweoNWcOezMIP4+FC4Mg3Sl4lQdJyd2qXSbBrVMQwDDKIikw3/An23+K6XOIgmy4EEJ7wSmS7E/tAHPA1BweRt8+d4zN3ea/hs8NQgU3gZoMb0/hMbSSaUXBSQoKUlQLOFCriAahwERqUcwiT4QD4fC7TLmXFxuTWJwkhbpoMksGQquakqJyQpJdLuGs3OAVKrYk5hvENIHEHWOfguOoU3klpLD5jlOvmPFVszAqQohKRUCxQSp3Gniv+c4tMqtc0Omx22hVX0ng5X/AI+FyRKqfdCCNRVn5nPrE3Oyi5nyS+6J2p6fIURvpExPEeIfb84i17Z+05Tu2fHsoljmXCoNqdlkzAVSr6tr5jXqIf3zX/ZWCt0Me5hhywm09kqlm4+6MjHdj2L6S38Pim1BZVSktHm3scwwVdmUmIIRAhECEQIRAhECEQIUnC4YqMaWBwD8Q7SyVUqBoXonZDsYZm/M3JafEoj4JHtK+A+B9M+pRwTMlO7j1fh7+qxMRi82ht7r0OQUpR3chIRLGZ1Vo6jxP+BGa4Oc7PVMn25dc1lPql1uvFPygEMfEc2u5HEMCw556PCH1AXZSY9kynQe5veASB5nkkYnHOACml3ZL3ZwHYiw0v8AHWuCG3Lp5CfI8NbLRNDNZjIsNTFpGo1l2kE6KFMxi1BJpJChUEAG4Y3sNCprFybObwupUDSASZB3Cb75MeGzaArtOlILsoggaExI2iBPjt2Kv23OIUS4p3WCSoioJAL1qUQRkSS+nGNfs/u3s+zXbYTrwAtuHqs7HtqCpB02awPObqNgNpKQuTNWpVMpaVMNEA79Cf4ahYOX5xLtCmG0XhoufnapYEnvWSTAn2Oz4Xsbx5oXW4mMdiRLlqWckh2DOdAACzklg0BXV5vtrbM9RIWpWqKSgIAG6XAIcPS7+XM63ZuFa9xe7Zpu58eWzaFnY6u5gDGnXXfrpw57d6zpRcrUXYH42Fm5/CN/cAFjOGzreo6ABE42ldlWWGmABLBiElzyqXnCatpLjb9BdpakAX/QU3DLB5g7tV6bixqZs2ihUxtEGM11b7ipEx7eyBFrMIsl7UuYipLPSRq1RCSc21b7Rwinii8UnBgknr2TcPl71ucwJQucpSu8WoqUXuovnmA9gPoi0SwzKbKQazTyPM7Z6C5XLnuJff1Hhs8vFOT5QSxcBJY9H565FuLakRVZ2gxzTOyfGNPP8FMOHIMddBITMAsoFabtTmMiHAY03BbkGYu+bWrve7M4x46cohXaVJjBEenvMqTiJo3e9mG9ICbLUxLEBQBrZRUfC7OGJDlbHvpmWmE8hjxBCYkrrsbmwsXUHALEG6mdvlGvTx1IiZg7Rs8Csx+DqNP2iR10U4m2ZA55g35atx4NrZhquf8AdTgt27CPQzyslGi0fa+Q7ZYQfX1kpUySkqsWULhSQR9YEAv+Xh7Kji0GLbj+DfrYqdWgJjr1UHaWx0zxStICzkseFX8TZHmPMQ+liDTuNN20dbvJIY59F0hea9pOzi5Ki4LfLrHMXgqWLZnpareweOD7HVZeYggx5KrSdTdlK1gZSIUuogQiBCIEIgQpGFkFRi/gcG7EPAS6jw0L1T/T/sYF/tZzplpzaxJZ6UvkeJ0HMx6TEYhmDZ3VL+R6k/gbVjVqhq8t20n4G07F6PO2bWhNxLQmyUAMAOisxz8y+UYzcSGuJiSdpVOrgqpvmE7r+nyoOKnploLKNsmLv/DxV1Yxw4hsyQil2c4i5jldVmIx85SAreuxAIe1gSWmJAF3DXNj4QXqVHtmW2HWu/etak1zWw4yetN271UKXiFuQpalE0ELC3KiDURaxBIAsSdLu8RfWcQ1jdBpYTPxw4SSuspNDnPcLnXr8+ScMwhwVKUlICSCogKUDYWI1NtcmuRFwsYc1apDc38ROzaddTsH4uktqOGWjTkxqQPIaWA0n3SJ+0VTElKjNcMEqsEkAsoEDI00l75XYwnAl4rZqbc3M3AO3yHG9lYxYY6lleY28CRs/OwxfRL2JKK5kpBWd5YQAaiFP4gaX3aSq5YO0afar8rRA27tLHyPFUez2NNQjh+Rr1dejbf22jDIrW5KiyEAgEnPM5JGp+ZtGNQw76zsjFq1araQzOWIx/a2dPUqhapKCyUhBZ+JKs3u1mFxm0bdLsynTA7wZjt3eA+ZWRVx73uhhyj165earCjPfFtVTCCSc2sX/PCJd7VBLWUtNIFvb3sFzuKRGZ7x7mVFxktQRulZqUz3Nkh/mRF9jgTeAqRptB0XMFV7RLZuT9+QjtVzWibKTGAnRKxkwr7sJUQkB7EsSFLufeH50jzWOxAe+G6LWwmHDAXEDl5eqfRjHNKpigRdKe8VSGbPe3TrZ9H4xVe3KBJvtG7dPPcpC5Mab9fL5twXVzlOT3ixcFqiWC94AhR5sM/KGU3Blw6DuiZHL09UVG5j/GeO49apcragCiHmEsFNU4a4L5s9+OYiT8W4kwIvPEcAfBSZhmAXj5I3hH6etSu6BALEhYmAFSRSCWSwKil1AbotmBCTUeTcmyCxmUw0DkE9hcSRVUC3gKgo1Oh9MhcHIkPxcwB8El1/nf78UBmmWx66/oJrE4tSUskJUtRJcFVKrJBqCcyzFJJeyXIFohMFMcASJ66/CewuPGdt4WUkELAIG+KbpLZ0s7cY7NrppbtaLqv2r3iZyAmZQob6ClRIIcPUPEoGxBuC4yjhJSWtvJ69VMwu0DkovLApcWKVXp3gXdjUXOhyvE6dR7DLSuubTqENeJ3eOzx91LlzCwCisGzLFwoVdQCrTQ5B9TNtepTOYGeeh64KBZRqCCI4jXrZdSXdhUVA33t26Q5IJLaZ8xxaL1PHMcTmEdbVSq9nvA+wymsbgkYhBQspKhuhVuANK+FiLefS1QxWR2Zmm0fkLNqUH0CHGQPYryXtb2bVIWQUkX9P7cDrFvGYanjKXeU9Vt4PEknI/Xq4WSWlo8k9hY6CtQGUmILqIEIgQly0uYbSpmo4NC4TC9A/0+7LnETA9ki6lEZJGZ5nQDUkR64ZMBh5/wBj1/fBZGJrF7sgPPredi9qwWGSQkJTTJRuoGbkXVZ3JdyTdy8eerVCSS4y469dQo02HUCLaTpHLnffv3V229oqS6NxABYipIUGsbVh23i3BriIWiRdTAMwQsxtHDuETChCyMiuYlQAuRUVKUSKS51YAGxutzk9oiyaly5rNYvZR71AdR4bzpDCw6Qogqchcw8ggkBQaxJK0FgHAOf0vjG9h8FRZTl33Fw3Hbut/fosqtjHOd9toOnz1AUkgEEKTLCaVFzMSAAHADVMbm555Xiliaz6D+7p6RoQIO/YDB8Nqs0GNqMzPud8nl6bFCVLKqqaXILGtBJpUAs+J7PrFzAVsOKpDGxbXfv3wAY1tdIxfeCmHVDOtvbxMFRMJiZkuamZLUAUHdNadOLKu73HMjKNOtRbXYadSYPD2VSjWNE5268j8KZtTGTcStKphSSlIR4kDJ72IuXf7ohhMNTwrSASZMzB8tNinXxRxDgSI2bfHZtQqQQyd3dt40Z5n2uNvKHNeDffwPhsVdpESdvApyXs+1SlJAGtaGH8zk8hEXVoMAeh+E0NESVIlyj3aSwPIKR7SsyasmA1A0iji8SKUuiT5e8J+Gp95N4HI3Ts3AlQAcBlJUCFJzSXGSsrQrEhtallB3bCm0Xmm/NG/rwUFWzJoVKCVVUpzrQQFVqJqBWxYE5cGeMllPM5pYbWvH49lcc8Q7OPCeHUpGM2aoqJASX3VFS050uPAsbul3+MMxWQ1CdTtmR8KFFzgwbtlvmfNRZ2BVS5IBakK71FjUSAklRNgE/kmKpFgrAIkppOCmG9YVdgrvEFN3sGUzX0GvCOQUZgbJ9eCWQmljSaaipJIcFWZUCbBQ4hk6COwuZt+3mpMzCrzADtcCYMim7MQQXVzGdrQQVEOG5OSVqUmklCabhKpifC9w9VQIze9jo0EGFIFpP6/SbUGKk/s3NTPMRS4ce8FahmGeYIy5dSD4TZXLmJSFqSSi6GXLL1EEpcm4LAp163bsdWUS49SmMIlTKI3kZEiZJGYHBbhs+ROl4AFF53q2kYogtUgi4tOQLMpiBXm1r5seMdjYo5iDN+JjrcpYUQABQSfpouLEHxh/FmOIfSOEXuph32/bpwT8maRu7oBIvWjVTPvqN7cbkENe82tLSHKBqEksPj6JjbeyjiJZSohS0JFKrOtGTECxL3BHOw12sBie6h2x2vPrXzWXWIokBo002wN07uBuOS8W2/swylkHyPEaQdrYIOHesWzg8SKjZVLHmiryIEIgQrbYmCrWHsNTwGsel7Fwk/+hCp4utkavetjYdOEw6EPSuYylgeJm3UgZhnz94mOYl5xNUuGgsN3E9bAsB1Y07k8TxO79+6b21tMsySUpGQB1tmdchEsNhmi5EqpXxD6rjOm5ZzbuLVupDstwuZvABCjUQQCxssiwyDaOMeu0seWr0eFdmYHeHXM390mbMUsBQ/ZgOAHqZNRdlEl3Ic29IrFXstkxJmGWHJJJdmNyzOBa5YPbiIEoi8KR+tUGlCgoTCoOKVEqqO6BncV1H+zCxh8SaLwQbakeCr1qAqNNr3gqJJxNdNNVV1ewwISc1EadNBcXZEueZNz14R6J8BvLxT8qStMtwoIcuCkPnSVEJZsgA50Jd2u80X0m94TG46/wB+1ikiqyo7u4neNOvfRKx0iqhaH3hw9M2Y9Y9ThazXsmVj1abmmCOajYRZChyc6aX4cbecWKglsb0mTCfEtRD58T/gQsvDLFNDC64TkjdKSd4DIHLX14wh9QuBAsmtYBBN1fInoUWCrgAM1PhSMgcxnk+sY1WgZc+8nbrZXabwQAEtSabs+Vmtw4H8mKHfEMyMNvXlwVnICZKTPnpUUBYSTfcJCh7RYgeEADN9NISZ0U9qj4qSZiUJ7syySSxpKbuwIBIF0kgk34aRxdTUnZ4QwUXmIdCXU9lMXFzwfS5MSB2KJnVOJ2WqYTakEtWSwWohgkAMHIexPHUh+EhdYwnUp3D7KWV0KpBLq0VcbwBY3z+zKJA2Xe6ggpEvZhAmJC3Kt5LsxsQwBAJAN3tppHITMo3KZhNlkpOaVJuxyL2IBNmvl6R3RRdSDuCzGLSsTZqEJJCQlwSEkK8aSUpB9hbFrKe5ItHCoNEpqdOodSqgSogqFqgC73YUm9rW10PJRklSBvXUKVJcMxZLC90pdmL2fMjMRImboDD1uSpSnCXsSCWIGnhYjdSSzu+Wh0NkpdwYKl4JqShiVJFYBFylqiMmYXI8+MaWDqUbMdqd48vhU67ag+4aRs6ulTVMlNIFLqTkN0UEggKLAin0FodimZalJob9sxHXBconMHmYMG/XqlYPaKkkKG9rSTnYOA+RZreUaDqDHNy6bOSx6hIcc951571Q9utnomp7yXcHeQWv9JJHH/OsWcKC9ho1NdPgq1gq3d1Imx1XlWIlsY8njcOaNUheoY6QmYpqaVLS5hlJmZ4C4TAXpP8AprskLmpUobqAZquiGYeaikdHj2b/AP42DDW6ut5/AlYeMqy7kt8ibUpc1R1tbW7a9T9WKJbDQwLBeSXTu9yqLaOJBVmfT/tFym0gdfC4wE7OvJRZspCkB3LpIuGBBUQkEguA7nzGdxGF2oW9+QLWE9coXp+zGO7rMd5hOYFIakqLJJS9ICvEkr3awQAoqDF9LB7ZtlpKdhcOhZAKlM1W8nR0hQLq1IzOrDWAQDKVUBhMz0yqq1lSlBiksl7vUQKm6W0POGve1wh2yBtnjw5T5bVWY0t/jbVcn90nxqKWHhpAUdG3VG1hrFzC9nurDORbZs/Hwk1sTkOVsSouI2swSlApCQwsFEZniwZ28o2sPhG0xrPjsWc+s+pcgdW3JiftCsAKJDcAwPM70WmMDZI69EpznmPk/Cd2fJBBO9dk5DqdfoiF1apaYHXoutYXEEjryVlNSkCxytkPvioHEm6tmYt16KEFAqa+fAffHCUXAnr2VpIloKXbiXAcvXrvaW58MjGXisRVp1coMCBsV3DUWvYCfdE/GJyd/wDiON7hTEOIlh8BnGartvu6nopdfE5TlpjS3XJSVzksAtKigBwtha6g7VAhy/qMogcKIERe2X4InTbwXWVjJkWG3w2gxadEmRiUFTpuA1ygE8UtvZu/z5mvUwtRjnNOwTzHh+k5lVrgHDbbl10VJXh1FClkopskCtKS6izFrB6uN4mMVTsAzQLv09TUuUHu8gQVBwySy3zBBc+HTUxXOUOkCyZlfEFXezZEvvKyDQtCKSSyUEndZiyWBcN0htebOnXx8FzDwJba3h11ZWmMwaZUsE3CGBKZaCk0kByLAXL0hjc6RVDpJVnQLI4rbSphoSFEKUhlouWzISCkio5MxFhEkuHFdmbNWJbzEqY2CjRUDLIUCBVqAQwzAOUSXWggqN+jylkGYVVpUC9F7MzGoki3FUcgFSIKmyMFKYhJuslQFIFSkhgSELdyLNzyjo3I4quTNQ0wpmKZRapksmkFKciA4IyvY5mOWSqgHiu4aZLJQQWDbqgGG8czvaUi9gLc4t4bDueC/wD1g30B5ctVTr1Q0hm2QN8c0ztPEhiAd2YHSkJulJOagouk2IAId76RtUiK4bAOwys4h9MGY2gCVEwuIp8KlWy3RlwuWItkYtPZJ0VUkgHTz/SkLnFaTLsAd9LJCd7UW0z+ESYwMh5vsPJLzDd5ei8x7Q4SlZbqPOKXbmHloqBelwVXM0SqSPKLQUjBIdUafZdLvK4S6phq9p7HYfusDMWzKmKEsdED8Sz6R6HHuzYhrNjRPif0F5nEPm6m4qZTKAGu962HwAhLRLyVmxa/NZTGTCTFsWVqk2Ap+zgJqky7EgUB7PSXSSSRaxFiC5yMYHaeGcH963Q6849oC3uz647sUzqJPgTpzupeKkbvfBI8JlqZdYFDVEvvBTg2IGd3IJOSCtIXFlHWhdCmqYgJS4YBgCXL5s3IEB4mxjn/AMRM6KvUe0H7jC4iSUVrmaBVrZGqwLWDPlxtrFvC4M1ahY+WgRO+86eSrVq+Roc28+SqFTStbqI3jfzPyj1P8RG5ZDjAJTa5jkniSfW8dXA2BCewkupV8hnCnvyqbWyrtKgEp0ufsAyiqLmU0QDZR58wHWw+Udy5iAFKcolKwNS1oSkZqDAZlriHva2mwl27wSCXPs3bbir/AAGwwlKe8RaqoNNSCsh0hI3knUhgbj4+exmMNWp9joA0iR4rZw+FaxkvbJOs38PZaCTJw8ssUFLEVBcpg5ukBSixIyzLccxGe4lxk3PNXGgNEC3JNbT2fKmIBSSkUsWAIACiSbZAMTbyi3hsY+haAR5HrwVavhm1STMH068VHw3YwLlumcCVJCgUhwUkAoZ2JBF3ccOcWHdrnPJZbZqDxk3B8khvZ0N/lfzHhpCMPsPuF0zpiUgNS4LLKUiZvZBIDM1RfjC6+LFdpyMj8Dl+VOlh3UnNL37fMx0Y+FeYqTW3hBSXpNrkWYsWyFss4zQYur+qpJeHQXUUBD5qCQFDU3DseMOc0ssUtpBkhWONlrKQErKBZLByVWS5qUGqIHtcLxG0ruxZTauEXKCZjzFBQNySSFVb3dkMx894O2ogUMxBvouSJ6ZqJm8FsxdyWpISzHLx5M7GJgyFPW6i41Zqao6K3XJBJ3XYuH0HI8GiJUDmC5KxUxQl7rVsygbk1ClQCRupNILcFX0MElQ7w6EKwVISo0LKVOFbtIak5A5kMls+d4tUGseTTdoVUqFwAcNVXYshAZt7mwS7W5qD3NMaTHYju+6a2XAQTsv5bFUyMzZnHbPFUuNmXXnura+ZDUuWPFL5nxRp4cFrADu9evZVqsGoY0Pz8H0XJK2aHOSSrBSCAlYFkkE8Ofk4HxiLXC7d6R/tG9ZTtphAC4y06KuIliWd7hTOo/Flr9nPMwsMRHhniCQt5WWxJbrHUR6DsJkvJVXFuhhXt0mVThMKkByZZmt/HUsZdRFt7pxFQnfHlAXmcUTpwUbbk0JFNIsABdWgbjyiVEHWfb4Vctk2WX74VA0ps5zV7IKve5RYVnIcmvtt8FzZ+L7tYUEJLWIdVwbEPVY8DoWMRq0hUYWk/qLg+HrorNJ5Y/NM+XwrjC7VAROSlIHeOsZmmaS2dQDKcEi1ybh93zePwxwz7aHym8j4G4rawlbvRfZykjf88UxMnSyQVNR7MtCi4erMd5ugBAd41qeMpU2MZSMkwItPjZZTsNUdUe58i5vs8LcbcFyRiwuXT3RICWffZgeIUBrxhlSm9tXvGiZtAsY2XNvD1Q2C3KXHfoImL6X60UIyQFGkJLBR8THwn3lh/LWHNrZrEH/669eiW+kQAQ7dtbv5KKQxYoAPB1fivDgQR11KgWnf7fCssEgBPhDm58X2qiu/7iU1oIGvt8KQuZ4d0ZcVcTziMm/64cEBpvf23BRTMCiwSktzV+KLdJgaJJ9vhIqEmwPt8LV9hFpC5hEsFaUKKC6mFjbU+Y5xl9tFwpt+6xN/cK92W0d44m5AtwWymzELSKlpTYEpItz3amHzjzlwdFt2USdKRNUVKSkKADKSoldhcNSbMbtdi3GO3CEqVgiJYMpKJYKQoy1IJAIc3CSGHIMDnyJmEwhNbHx61pC12Ul3CSSA72SxsGAtHXADQICnbXl9/Zt5IUUi73Q4Yg+J/t1MdpP7t2YdcCoVaYqNyn9g7D4Ks7PzkFJlUsuqopDtk5ZzZyHHVmDNDsTSyHM3+J0PzxG1Lw1UvEO/kLEW18NhUvHyZLVLKUFmqKiHYMGvdTtC6VSr/Bl9sdbOGm9TqMp/ydbj1t9dyyWI2ma0nxJYsFasVM4fz1jdo4Cm+nDhB2x4XHqsOpjKrKhhxImwMfCfxG0VrKSyFAg0+MgAEDeD5h0i3DnGVXw5ouyFadKs2u2Qm6JZVUuUgEhYyUku3huXZ+QaI0ab6roYOjvSqtQUxLjCq8SJYLFMspOWdzS5yIIAKUpv1yMSq0nUXZXBFOqagDg7bp4R+0iWSEulEsXljNQBJLoAdftKIHrCw0nQdFSDhIv6TprvSzOTIAJSiYoJYAFbgJqS6mmEOB81XvGnhcBUDg4iP2NdvJVauIa6Wg9Wts5qnxm0TMU9ABawJVlfMhWfw9I2WNc0WN/BUyJME+35CSuYFbwQN5JJupnDk+19GJX2/hLcDGu3h8cU3Kmj3U+qvxR28aqDm8T6fCsagUkUjI3dVrOM1cREWg5tUkyCLqr7WSnlA8UA/VJEWqQlrmc/lW8C6KgC81nC5jw+KblqkL1DdFbdnhviPQ9gCxKpY0/YV7Xj00y8OnhIlD+VESpnM953ud7ledxH8hzCqO0St49TDaGiWBdZgq8R4JPxIH2w46q2AYA4/tNBcSlSgpxC2yN4lAyxC5cFTEYliioBTJAGigDcgFN8+LjlFGp2bRqXAynYW29rKxSxb2zNxO26kzAJlKe8skM11KYAlRJJPD8sTCmVH4OgRUaTl2yDMm1zf0tyTHMbXqSwxOyI58OPHmlow8t7pUkgU3J8WgLg/AccoojtepN2g9eMqw7ANMXjrwSJmHRNpKFpbI1ED42BF9Mni/Q7TpVGnP8AafRVKmGe0jLcJygpLENp/iGNM3CiRsXMQbOM6R+fjE6bZcoEw0qtAMXYlV+Sv9hYsygRUpBIJJSfomxGo+345GPomvEajRX8NU7rxhW8jaIJeah+BTrcMQb3s+ekefNN7XZSDPL4WmHiMwNkjFbcWoAITQLEgFiAC4eWoZORq9tAHM+5qBneFpjfCO/bmyzfcnJW0piaVGZUkAkpSALkqSSWLqYuOD0kQsiVLvITuExxBsSDd3DORrxyI5edoEZypOH2goqLi4dqb+yTbifzwgRc3Ck4HZpmipCqFO9RN3N6t0O7OHyOZvE21A0Q4SN0x1y2rppk3aYO+AbdbVn9rzAlakBfeKTZS3sT9HkzRsYbN3YdlDQdAOp3rLxIAqZZLiNSdnL0VfiyyUnr840aB+4hZ9Vv4T2y8WU0kM6VEgnK2b9QfVKYr9o4Y1WZm3I0+E/BV+6fDtDr+OuKjpUELpd23XyezQ3AgDDhu0SDzBv/AGlY6TULt8Ecj1onsPPdKksDu1Pd6gsFnF2ASC3CF4+gHtc4jTTl/YTsM4tcB1P9LmJkzEqUsEEBJTmAFIYlIKabmpXEAM73pihhcLUZiAR/HfvHz1tVqrVa6kQdfY2/CjYaTupK1WUVIZs7pJAI5Z/5jRxv3NgbId5b7j3VXDtIeTvEeao56CFkO7OPXI2h1N4ewPbtUnsynL5J/DJIpDO58g55fljDL5bcfdIfEEnqEiWkhiYbkcBdQe4E2VrIWyb8vmB9sLJgqs5pOirttF8OnLwqFusXKAhzp6srVCBVHNea4rxGPFdoCK5Xp6f8VadnjviN3sA2IVTG/wASvbdozf2UlYdjIlq/lQYKTfvc07HO9yvO4kCZ5Kr7RLU53j6mGUIhLyiZIWVVNVvbyvCdTxB+yHlWQ1trbflMJnK95XqY6FMtbuTqJyvePqYmI2qJaNymfpTaq8KWYx0RuCWKbYNlIwM4BJUVK8SUg6ZEnl7uZ0jE7XqkBtNuhknwiFq4Ci2HVCNIjxmU6MUreJrUVIUSp1HLO1iBY8MnzLRjh1lacySJ3qPhcXMqSkTaQxsVWJObaZqNsn0jjiUxoGh2K1RjK0UrrZOSwWy4DX5ZXyexh8WaQgiQl1sM2oZ2qPtOQtKQoKJDAnQjTJ7+TxsYTFUqj4FjuMSeSzsRg3MbJEjeFWJxKiQCTmNYvvcGievZU202k6K2lqJe5yVqeBipYpzgB5hQcZOUC1R9YsUm2lKq5TaEnD4pST4lDoSIYY0SsoOxX86ZMWJSgoUUrBJVdtEmoMS40Ogzct5jGMeysZ26de628K9j6UN2WK7IUa1G9kggoBuEk3qLWYkh+bXcRXkp2midROWlYdTOlRU5uKgopCOIAF723W0MRBMp7YIlG1dpLSlDK0BABJDkZi5fMjodbRp9n4QVfvfpsG/9e6oY7GOp/ZT12ndy6sqnBrmLUbqUTcurP1NzGvWDWtCyqUOJsnZkxQSLn2tYQAA6yblaQ4EKCrGKSgioh1WvwF2+EXGBpIskGnOxRpOMUVDeI8zDi0RooOptDTZO4LaikKesgO7v4ToTe6dCOGoziti6HestYjQq5RLWO0sVcYLGL7sgBVSSQUOSzl2BJY6sH4DrjUKjm0nANlw2X63x5K5UYwvF/tI1t1ulQ5xmmWCuatFVTgulgCbM1gah5vcvHcJVLSalUSSQBMjj1PBdqU2kBjI0O7+1DXIUreSvNndZGli50IEaAxFOl9rrAHZoLbd15i2y91XNEvkxJ466+to27US0TQR4gUm7lrjTePLKLQqUXsLqZB5dWVZ9EskObCdlqUUAkqDWuS9osfaRIVaowA6KQkqpG8oXGvOEEDMlECDZU+11f/HHMKPqY0KX8j1sVygP/Uc15vivEY8R2gZrleop/wAVN2JMZY6xrdgv+4tVfFtlhXt8v9pgsKbf7Xd/UqRd8vCIsPOTE1Bxnzv+V57EDaou0MMpcpCt16Q+8nMWOvEGBjg15HHcUmbSskvDmtrXceNOoIGvOLGqcKgyyPY7+Sjokn6P10fiibUxzxx8j8IMo/R+uj8UBK4HDj5H4Ts2WWSd3JvGnQnnwIgzKIcJOvkd3JOYAsSlVNCwyt9Ol0q8WhPVn5RTxeG7+mRt2dcdFbw+JFJ4JmNDY6eXirWXgFBLBUuhYU66kLbdKXz8OVwWDm1njzmRzTlcIPFa78pbmabeKb2fgjWkpCAQgsO8lsTRSlSQFuyixzcNnlEXAopx0Cr7DbPKEpdi1wKw96XI3+vqONowU4AC6g7bUQgMBvOHqSwYqBuTcsQHPNo1OzKLXvzu2ac96z+0MTkbkG3W2zcqGVKIUDu5++n743H6FY7XidvkfhXWGlHK2SvaT7p5xVmym9w9thUDGSS58P1k/fFlh+1Jc4Zrz5H4TMqQXHhv9NP3xIugSohwJj8H4Wm2egplps6SoCyk6VlWagDY/fYRhdovmAddfCAtTs+n9zyNLDxspMpc0UiUhIvSQVy6ilV9Fs5BA42fPLNutEtUpGANG8xVvB0LGSkqCgVEtrYDyyjqiJAhVm0MKVqISAWZmIZgzVOW66Rr4GqGUpcYF7rKxjZqGBJgHTqNnuqrES+7mU1JUw0Un8VmyHKL1OqKtLOJ3ev5STSdTqZT7GOgnses0osEmgqO8m7qU2tsn84gLzz/AAJTmta259j8eiz86osN2wbxp4ufai80iYCSTafwfhKwshROabBR8aPdP0olmvdQe4Zduo2HfyTRklvZ+uj8UdNx/a6HidvkfhSMHjJqCwUlsmK0kaMzK9HyvlFSpRa915HET15zCe2qA23sfj2iVYyMRMnMgsGS5UFpADlR3r8G1+cQ7uBM+Yn2HXquCo2dDrsBG5TsNsoSySEubXK0WfLNfMHz5xXOKplwZOado+E/uH5S4jLGwz14qJOwYlLUpIWHSSSJiCGUCndDsm5BfT1hNDBsFR3duuCBFxYiYtBHDiEVsUcrc7bG4tNweIPiNqbwgUwSCC5se8S7EvfeDnp06af/AOsfbpuINv1wVCo9tTUGeRUudhFUElQyJsQ9gcgD09Yk1wL9v9qqHtEAbYWd7SiiSkfQ/qLxfpv+1zutFoYQE1F5zPO8Y8Ni3ZqpK9IwWTuBWyoudk1clYKNUS1e39iMT3uBWjWVMqA+jMAP9SVRudosyYhr/wDoeo/ULztdloTiZbpWjVJqHRX9/wCqFONw7fby/tVGm0LK7TllKuYuOoh4iE5hmxVfNACi1hmOhuPnHQmgy26RHeC6nRdPQv5EN8wPWOLhBzddaJLcI7qiVpOxq2VMe6XlkizXrqzsCwz5CMbtUfwWn2eZzqFhsYUKsllAubMkgEA58HdrfOMbQq80q+/SHy3aQ9wGAszJzvwFucNo0XVXZWqFas2k3MVB2pNqQlI8KamB42Ohtnx56mN3CURQETJ+VjYiqazidlvyqIXMaJIKpaK5wKnKfT1tFSoCCU4ulkpnFSCq4ETpvixUXtm4TMiQag4YDM5Q0ubBBSwHSIC1nZrGJP7MlgUqUKblwF5M5Jt+bRjY6lLM+0exhamAe5tUtOh94VtNxUlCXpUpIABYE6WLu9QZ3ubZExmQtdZ+ftYGqhJsAd4gsFBLOwD3ZhcM4aG4Wn3lUCJG3kquJcGtmeXNVUnGkuSp9S5ta+WWYEamMpufTDabZvs2aqjQDGOJda3n4qokzgqYtWY0+x36RdyinTbTGy3l+0sEucSVKxWItfNk/EP9sFH+V+ai/QwqxYvFvJN0oOiydw4ICy3st9YgfJ4LzdQdBIHVkhZhzjZREpWBw9cxKQASTkbfKEPIbJ3JrRNls8MmUhSwyTSzXcKAZKVFgzltXEedr4ypWEGw61Wxh8GyjfUqQMR3iwhKUrBLlR5sHazC3wiorah7TUh6gS9ISc6QmWCSEsBmVBWZ82aLmCrOZV35vff7jxlUMbRa6nI/1/Nvx6FQMDhkkJVxDg8wARbg9vON2s4nTrVeezQY6lP47EEIUBmooSBa6nq9Awtz6RGk0FwcePgNOuSi278s2Fz7DrxWL7bYq9ILhO6OYSG+cW6ru6wpcdStfAU/ulYRWceGeZcSt4LstTGJUX5HgoIkL07/AEv2sETwhRZM0dyeDqIMs/WDf8jHssSPqMGHt1bfwGvpfwWJiadyFtNoyu7XXfdJSoAO6T5+flFKmc7cvkscnK+N6pdt4RObkjMboLvr4ucMpuMJomVnMQhLOCd2xtocva4uPSJ6aqw0mefH9Jg08T6f9olKlB3ev6SpFLs5vbL014t6QSFF0xppx62Jsgak2+iPvgspS7o/pXHZ4hpgBO9SMuCgSRvXsr4vpGR2rEN8evVaWAzfda1vz+0mdMaegTFqsz1IYFRFClWVZ1AhtAxbjlAAuF9fdWSXAG2ikzsSEihK1H3nAPQZ5D85CNmhhvp2/d/IrOqVe/IIFhp8pErEMDd2Y3SOnHpFkOSnMvpv29cVBxiy43lNf2RblnFljw4QkupZTYeq5hcSUkGtWY058lRMtDglwRoB14KQvFJJIKlBrXHC3GK7qRVhjxAMdeSbVOl+98P7xDI5MzdSuo2iEKQUk5cA/iVzhzabYIcJlIL3Ekt1B38BwV5itrpW1xVvUkACztvBKndgHcPpaMQ4Cs3ZabX662LWGMpnXXbYqAiYKVmo3bS5Jy1yDRdw1FtFp2k6nrmqdeo6o8WsoUyakA3L6W/vGhh7AuVWtmJAXMJKDZl1Hhx84TVMuTGSGzCTjpgKiATmdPTXhDKLTEqD3EABNgBsz9Ufii6NFXkz+/0lkpCcyXvlwsPa5GIFALif347uSQuegghiDyA06mIl5jTrriphplK2aUpmJXWU0EKBp10GbevOE1YLSNZmymM0gR66KyRtOUmapZUpSCP9sBjVSkE1A5PUWB4CMOl2dWMZjHqfT5Wq/Gho+0SfL8K02ftFiVSZgSlVCFJYE8PEtViXf82XisKaJF5B05ooYs1P5CD+EztSehZCULqABS6RYupVZBe4Lt/iLXZ+HzO7w6D3/Sq47Elrco1PsrnA4JNKS7AJF2txIz1LfCLtarBusFgLjEb1ndoTz3hOkoHk615n1sP4RxjRoU7Sf9vYJuGEtzHV1/gdfhec9ocVUo35RT7brhrAwL0eBpZWqijyK0UQIVxsXF0qF256+Uer7ExYP/m5UsVSkWXuGztpJxchMxxWEhM5OoPvt7qs35tEatB2HqlmzVvLdzGi89iqRNwqHaNcolJFSNAdP4T9ht0h7Q1/3DVLoVA8cVRzaSXFwbEZFjnb49QIkrABCgzZbFjfny4xFOBzXTMRJg2U08tTsrU2PX+4D+RiUyoi1uuh7Kds2cUJUUuWINssmdTZDTqRGZ2pGRh4n2/Sv4AnM4cFY4vFCgqF1DeKmpcNSWAyD6cIb2Vh2in3zxO7bp7f0q/aFYmoKYNtvPdxH5Wdk4k1EnXOLVT77nVQb9qtJJctxBHrl8WiuEx2k7lzMMYk1xCHN2Jr9HIdrhot064OqrupkGybxYNRtmx4ZgH7YaSIskskADw8rKKT6xApoTvdEhLD2czl41RAvDUMaST1sCm4WWEczCC+8lPiycmzGTf3vkP7xxrS8gBBIaZ6v/SjypVRy6mNHIGstsVTNLlJxEyhzqAW65D4kRRDZcrDnQ2OuoVWDFxogJDjKcQ5IAzNonmUCIuU5NWFHlkOgsPvjoMrgaWhMqiDlNqXMDAJ8z14eQ+JMQIB1QHbfLriuJkvHMgQahVxsSVQutnZ7M7tq2rP6twhdennaWjXik/UBrgDptix5DmrfB4MzFkt4jYcOAHAAWjjnNpsgbAq5cXmVdbVxiJEoAEqZg4ZlLOiXFwOMVaFF1epJ5wdg3nioVDmd3NIz/078D528AvP+0OOTLl0jxZq/iPPVh8Y3af2g1H6bOS0cNRLnDcF5ziptSo8Z2hiTWqkr0lNuUJiKCYiBCclTGMPw9Y0nhwUXNkQtj2Z2uUEEKIPEG/55R7mjUZi6F7rGxVEg2W/kY0Tx3cwJK23FB2UOBANldLH0jPqUjROYabtyw8RSNI94zTbw/XsqLH4cJPgT1dX4omRN1apPLhr7fChEhW6UpceG6vq+LXTn1hZT8uW4J46eenXgoa1D3E+q/xRElMDTvPp8JKJwBYoSxsbq+DqzH5ziAcAVMsJi9/D4UzBYkIUQUILi11NcEAguW8Tg6FsoTi6Xe04GouOKbh6mR+YmxsdPjfqrETAyQpCbBiHXdJJvvKyI6i3KJdl1KYoupizpJIO/fcTuCX2jSqOqZ5OW0EXH9zfZKrcbh0JUQlIbMElQccbr+UW8rIk2PP+p8lXaXu0cT4D1sY81zDTNAkHoVOOm88LfTa67dU1ry3U+3wrCemk3SAcyDUCC9wz8XiuRHXsmtmInTl8JImN7I/m++AFdLePt8J8rBA3Rk3taPz4NDGklKyxN/b4TMxCfcT8fvgcSNq6BPQ+ELWGTujI+97yvpQuVINN7+24cEzMxASLpH834ok0Erptt9vhQ5+JendTk+atSfpcAIssAFgq5BJJn22eCcROKb0pIysVfihlScsSosF5+PhIxGJKrqSCSXuVZCw9ri/pEAIspEEumdOXxujzUrZ+NR4e7Tfmqx43OTcYa0zAmEtzDrJ9PhNzyEOQlJeybqy9o+K3Dz5R2p9phRaMxiT6eGzxUYTh7if5vxREOUyw7/b4TsuaAKilP0bqufrZD7hxjmYrhZP25uenx1qhM0P4R6q/FHQouHH2+FZYGUFeykDU734s46bBVapLdvt8LQYDCVEMgDQDeyPnCaj8o168lXa0nb7fCtTi0SgpKQHANag7JGt3z6X88qmR9QyfDj11x7XcWjI3U9QPnYsjtTaZUe9NgP8AbSdAPaI/OnARsUKEDJtOp/Cs4bDd23LtOq8725tArUbxn9sY0Mb3TF6PCUA0KlMeTJlX1yOIRAhECFKweJKTGp2djjQffRKq08wW22HtUEAKP9uY/P3j2BDa7M7PJYlagWHgte4nhiwm8dF8x9LiP8RluBpHh7LKLHYcyLt9v0qHG4WkkGOm6v0n5tFEWmv+L+r/ALfPrmohMAy8vb9e3JQ1CIQmrqSCGJH0TwPA8j8M+MAGxFwc3n11PklGcWoUSAD4eB6ecdneoxtCVh5JWlhpkchxKXyfUDrxiQaVFxymT4/g9fhCJZIcMQCxLi1uDu3QRNoJ2dcUOsne+LeJyL3L2yIv5Ho8Dg1whRGZrp39fpJTtDiPQxWLBsKsBx2hPo2gmnWx/qH/AFjmUhEieutqQvaKeccgrtk1iMeWS1rf/pUTDBtUJMmOrBQ1TH1cxObQFwDelTVso3yt9UN9kSLoKi1v236lcSXIY3Ov2xyZK6bBdmTQTyyHQZRLNK4GEC6fwxCixYNmq9gM7Pcwxj73663qD2lo38EvGrBuDyA5afbE6oETtUKQc2yYlEZmwGZ+QHM/3hOZNLTpF11c5zpwAGg0EdzLgZFlJwjHoMzoIm1wSqgICu8NjAGCUBhxOfMt8tPiWhhN1TdSj7iVbyMXNUDvBCQLkAJtzVc+hhT6dNtyJPWxVnVMohuqrNoY1JSwtKTkMisjU8AOH5FmjSdmk/y9v31zfh8OWnO67vbh8lYbb+1yoljy/wAcoMdi2YWnlGq3sLhoMlZiYty8eJq1TUdmK1gICRCl1ECEQIRAhECFMwWLKTGz2d2m6g6HaJFWkHBbHY22QwCrj5dPz62j1n/niG5mrJq0C020666lbCVtATEgLUeUwE+QWB8/nnGXUoGmZAssx+GLDmpiRu+PhQsbgZifaJByuSCORGcQDgUylVY7Z6KFMqNlKIPvOb/xffnxeOwngN2DwUWYlYsSXzzz6Xv5RCEwNbqAlSlKUwUohvacsG0Vy56dMpAE6pbg1twPD8/K2EjZqv0JapbqnAsoCqoJZ1JSDcKZYNhcNyfNOJ/+WA8w3ZpHAk89513bL7cMw4cloBcetOXRWJxM1ZdQUfpAH+YNodeZ5iL7pVNjGgZY5fHwooxCwXqPqb8j1heYjamd20iIXJk1QPiUxuLnI/bp1BjpcRtQGNOoXZU9VxUq4LXOY3vsbzgDydqCxogx1okpnKbxK9TAH8UFg3JyZMUyTUfCdT76olmMC6g1jZNtv4CTJnKqBqLDeNz7If7I4HmV11NpERrbzskmapwmpRUWsCXfhHSXAwpCm03AWk2X2Rxk1JV/tOLGapSHGpAAJvlcDWK9THUqds0nhf8ASczBOcdAOfXVlBxfZ/Gyl0KlTVZb0upaS+W8nzzvDKWIpvEh48THof6UKmFLT/H0ScFgZ02YmTKKiSQFKDkC7ElskJvfryh1d4pMzONudzwHFKo0c7v4+mg3laKX2DxBAKsSgXYgVFs8jqci3PO16H+UZOhjw6AVv/HwJETyU/aPYtJH7GesMoMFl921RdI8WZybToqn2q7R7fKdfEmyn/jqY/ifONPJEnsMkLdWJmd1YhgyyXDg3IbO4yt58Pajiyzfu37F0dn0g6dnJWkrsXJUkJTNmpLguSFaF7WJdxmdABHB2rVBu0EdbVA9mUiJm/h5AblTbU2SvBqT3pspyilRVUA1g7F7h3AEa+GxLMSD3YvxEQsPFYKpSdBAM7dipNpbSJH7QskXEt/ir8/30KNCDbXf8LtDChmlzv60WM23tsqcP+eA4CI4vG08K2BqtjDYWLlZibNcx4zEYh1Z2YrVa0NCbiupIgQiBCIEIgQiBCIEKRh8SUmNHBdoPw7uCW+mHLR7L20U6+Uevw+No4psHVZtXDRcLX7J2vUyUMSfYVdJPK7g9PhlC8Rgg0Zxbj11zVCrQa83F94691q8PsrDzHCphlqIDVJsDq75eojIqV6tM/xkddaLjMM4D7nco/IUvCdkQmrvEonylMB3S6VC/iSMieI6XN4r1MeXAd39p4iQeH7VilQZP3meRgpE/sRkqRPIa4CwAq100kFLHLMCIDtIm1Rnkbcd/uU4YNky13XhCvUJWA02g2DkEcGIKdODORzEZbg3/Wfjx2+i0gd/9+nyvNu0OwTh5zIIoUKpZKk3GSklzcjI8iHzjew9fv2ZjroVlYimKToGmxUmJwBzTS2oqTu/HLh6dWObuSm1Ro7X39Nd6jDDKIpABVmkBSSTxSADqA/Uc4gQYhNkTI9j56dDktVsXsUClEyfMKSWVRLUiwsQFFT3ve0Z78aWO+wA8/xcK6MK1zYdtVwrsXhAKKVllKIX3qAs1MACQAClkhgRZ1cTCDjK2abcot7pvc04iFJT2WwgSkdykikh1Taj41XDqYHnHHYuuf8AbyAQ2hTE2XcL2VwiFFfcg2CAhSwqXnUTSS5VYC5IY5QHF1ssZvEa+fRXRRpzMddcVdYdASwQEIAB8NCWD/Rb/Jiu4ucfuJPMkpogCw9EqZOJOl8hUD0Gd4jCJSTiSHAI4K3hycC97Z+ml+lsLgdKbky0oqIShFZqUE0JKyfaU3zLx0yYzGYt4LoMaLhmqV7rD6SQB5vaORK5ICQqcBqlR/iTT83PnbkY7CJQmaTckfWB+RyibabnGwUS8DVNq7SBIPdAECxmrITKH/LIm+Qc8o0aXZbjHeGOAEu8vlUauN2ME8diw3aPtQhyajOmkN3irJSNRJQ7j+JXDIZx6HDYPu2jMA1u7af/AOj+B5qnkdVMkz7DkvPdp7XKjnFXHdrtpjJTWhh8KGqmmTCc48rWrOqmXK+AAkQldRAhECEQIRAhECEQIRAhECEtCyMobTqupmWlcIB1U/CbTKdY9Bg+23NGWoqtTDArXbL7ZLAAUaxwN/TUeRjWa7C17tMFUnUHs/ifNajZXauUTZa5R5Fx55H4GE1uzA64APoUsuP+zfz+1psJ2kUrKZLmdd0/Cn5GMyp2bG8eE+oXQ9p0Pr+Cp42qVZyiRxCn9LfbFN2B4hObUI2pnEqQsUqllSTmlaUqHkXz5hiIi3CVWGWGORTO+BEOuqHFdmUkvIUpB92ZvJ6OLkdXi4x9Vv8AOOY+NPZV3spO0Mdea5s3swuXME0qukugIexyckh24a8+MMQXVGZG7d/4U6OVhlx03flXczCrJds8+urdc/OKH0jt4Vv6liUrCLLcWAPlYfBoDhXbwufUsThwa2TyDfzKP2iI/Su3hd+pYlnCLYDqT1J+4D4x36U7wj6liP0VTMNbn7B0/OkH0p3hH1LEfoygLZnM8OQ4cz5de/SneFz6lib/AEZQFrnich0Gp5n01jv0rt4R9SxJGBUdConN3Z+gufUdIPpd5C59S3YkTsGr/wBiwkDQskDoCwEMbhAds8gonExsUOfjcLK8U0Fvdc/HL4xeo9muOjPP4/SrOxs2B8rrPbS7cyUP3SKuBXvN0SGSPjGlT7NDBNR0DcLfv2UJq1NB5/AWG212omTlOpRLWAewHBIFkjkAInU7Qw2FbFMX9/HXzT6eFJ1Wcn4wqjz+L7Vq1jrZX2UgEnDYVcx6Ektc8B1JsIyiZTU3OklBKVAgjMGxjiE3AhECEQIRAhECEQIRAhECEQIRAhECEpKyIYyo5uhXCAU/LxihGhR7UrU9qW6kCpcna6hqR5xp0+3z/sEh2FaVOk9o5iclkekW29tUHfyakHAN3KdL7ZTxlNV6n74l/kME7Vo9Fw4PifMpwdt8R++X9Y/fB9Zgf+B6Ln0Z3nzKUO3OJ/fL+sfvjn1mA/4C59FxPmV0du8T++X9Y/fB9XgP+B5Bd+jO8+ZQO3mJ/fr+sr74Pq8B/wADyC59FxPmV3/z3Ffv1/WV98c+rwH/AAPII+i4nzKP/PsV+/X9ZX3wfVYD/geQR9Ed58yj/wA9xX79f1lffB9XgP8AgeQR9FxPmUf+e4r9+v6yvvjv1fZ//A8gj6LifMrh7eYr9+v6yvvg+rwH/A9EfRcT5lTJ22cV3cxU6YsESxMSmpzdSRvByRZWRYwp3amEYRkaOKkMA06z5lVU2fiitMtjWpNbVJDJ4qY7nm0D+3aQ/i1TbgGDYoE2RiDNMopNYFRdQan3qiaaebxRq9u1HfxsrDcO0KKrZ88zTKp3wKjcAUs9VTtTzeMurjqtTUpwYAkY/Ys+UmuYhg4B3kqZ8nALgHQ6xUJJ1U0vA7EmTO6JZCJqglKiQTmQ4S9RFs44hWeypS5BMtYczHWkypiFEd2k1Oyw1lG7g8HvAhRcRs+fiiJqJQSkhgCtI3U2e5G6MnZhAhQU7HnGYZVG8kVFyAAPeKiWpvm8CFHxuDXKWUTE0qGmfoRYiBCYaBCGgQuQIRAhECEQIRAhECEQIRAhECEQIRAhECF2BCIEIgQiBC5AhdgQiBCIELqVMQeECFd47a8pSZpQhYmT6e8qIKQxBNGtyNcoELo20j9JnTClXdzQxAaoZEEPYl05GxgQuq2rJ7yY/fLROS0wqKQtwQQUtZgwDQISFbXQxASr/wCt+jh2z7wKBPJhAhE7a6FJWkpVvy5Euzf+pqj5taBCRO2skT5MyUlVEkJSkLIqISSS7We5gQnE7TkIXLMqWoJQJjlVNajMSQASPZTp5wITadrJASKTbDKw+niUVl+m9AhP4fbiAsOlVBkypZZqgqVSQpLuCHTkYEKKnFyu9WtRWqp2K0JWRdJdQJYkipPJwRAhPS8fIBR+zBYAKBlpNqpTj6RZMzeN98ZNAhVeMmJUp0hgyXAAAqCEhRAFgCpzAhR4EIgQiBCIEIgQiBCIEIgQiBCIEIgQiBCIEIgQiBCIEIgQiBCIEIgQiBCVAhAgQuQIXTAhAgQuCBCIELsCEQIRAhdECEmBC//Z"/>
          <p:cNvSpPr>
            <a:spLocks noChangeAspect="1" noChangeArrowheads="1"/>
          </p:cNvSpPr>
          <p:nvPr/>
        </p:nvSpPr>
        <p:spPr bwMode="auto">
          <a:xfrm>
            <a:off x="158750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pic>
        <p:nvPicPr>
          <p:cNvPr id="1030"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6629" y="1124744"/>
            <a:ext cx="8513261" cy="432048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7026116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8115" y="1063354"/>
            <a:ext cx="2607631" cy="2032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ítulo 2"/>
          <p:cNvSpPr>
            <a:spLocks noGrp="1"/>
          </p:cNvSpPr>
          <p:nvPr>
            <p:ph type="title" idx="4294967295"/>
          </p:nvPr>
        </p:nvSpPr>
        <p:spPr>
          <a:xfrm>
            <a:off x="0" y="223838"/>
            <a:ext cx="12023725" cy="858837"/>
          </a:xfrm>
        </p:spPr>
        <p:txBody>
          <a:bodyPr>
            <a:normAutofit/>
          </a:bodyPr>
          <a:lstStyle/>
          <a:p>
            <a:pPr algn="r"/>
            <a:r>
              <a:rPr lang="pt-BR" b="1" dirty="0"/>
              <a:t>Por que devemos importar?</a:t>
            </a:r>
          </a:p>
        </p:txBody>
      </p:sp>
      <p:sp>
        <p:nvSpPr>
          <p:cNvPr id="6" name="Text Box 8"/>
          <p:cNvSpPr txBox="1">
            <a:spLocks noGrp="1" noChangeArrowheads="1"/>
          </p:cNvSpPr>
          <p:nvPr>
            <p:ph idx="4294967295"/>
          </p:nvPr>
        </p:nvSpPr>
        <p:spPr bwMode="auto">
          <a:xfrm>
            <a:off x="0" y="3500438"/>
            <a:ext cx="11914360" cy="2308324"/>
          </a:xfrm>
          <a:prstGeom prst="rect">
            <a:avLst/>
          </a:prstGeom>
          <a:noFill/>
          <a:ln w="9525">
            <a:noFill/>
            <a:miter lim="800000"/>
            <a:headEnd/>
            <a:tailEnd/>
          </a:ln>
        </p:spPr>
        <p:txBody>
          <a:bodyPr wrap="square">
            <a:spAutoFit/>
          </a:bodyPr>
          <a:lstStyle/>
          <a:p>
            <a:r>
              <a:rPr lang="pt-BR" sz="3200" b="1" dirty="0">
                <a:solidFill>
                  <a:schemeClr val="tx1"/>
                </a:solidFill>
                <a:latin typeface="Arial" charset="0"/>
              </a:rPr>
              <a:t>A importação (compra) pode ser de bens e serviços, entendendo-se a de bens como transferência de mercadoria entre países, e os serviços como compra de assessoria, consultoria, conhecimentos, transportes, turismo, assistência técnica.</a:t>
            </a:r>
          </a:p>
        </p:txBody>
      </p:sp>
    </p:spTree>
    <p:extLst>
      <p:ext uri="{BB962C8B-B14F-4D97-AF65-F5344CB8AC3E}">
        <p14:creationId xmlns:p14="http://schemas.microsoft.com/office/powerpoint/2010/main" val="674183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p:cTn id="7" dur="2750" fill="hold"/>
                                        <p:tgtEl>
                                          <p:spTgt spid="6">
                                            <p:txEl>
                                              <p:pRg st="0" end="0"/>
                                            </p:txEl>
                                          </p:spTgt>
                                        </p:tgtEl>
                                        <p:attrNameLst>
                                          <p:attrName>ppt_w</p:attrName>
                                        </p:attrNameLst>
                                      </p:cBhvr>
                                      <p:tavLst>
                                        <p:tav tm="0">
                                          <p:val>
                                            <p:fltVal val="0"/>
                                          </p:val>
                                        </p:tav>
                                        <p:tav tm="100000">
                                          <p:val>
                                            <p:strVal val="#ppt_w"/>
                                          </p:val>
                                        </p:tav>
                                      </p:tavLst>
                                    </p:anim>
                                    <p:anim calcmode="lin" valueType="num">
                                      <p:cBhvr>
                                        <p:cTn id="8" dur="2750" fill="hold"/>
                                        <p:tgtEl>
                                          <p:spTgt spid="6">
                                            <p:txEl>
                                              <p:pRg st="0" end="0"/>
                                            </p:txEl>
                                          </p:spTgt>
                                        </p:tgtEl>
                                        <p:attrNameLst>
                                          <p:attrName>ppt_h</p:attrName>
                                        </p:attrNameLst>
                                      </p:cBhvr>
                                      <p:tavLst>
                                        <p:tav tm="0">
                                          <p:val>
                                            <p:fltVal val="0"/>
                                          </p:val>
                                        </p:tav>
                                        <p:tav tm="100000">
                                          <p:val>
                                            <p:strVal val="#ppt_h"/>
                                          </p:val>
                                        </p:tav>
                                      </p:tavLst>
                                    </p:anim>
                                    <p:animEffect transition="in" filter="fade">
                                      <p:cBhvr>
                                        <p:cTn id="9" dur="275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0175" y="2348946"/>
            <a:ext cx="2607631" cy="2032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ítulo 2"/>
          <p:cNvSpPr>
            <a:spLocks noGrp="1"/>
          </p:cNvSpPr>
          <p:nvPr>
            <p:ph type="title" idx="4294967295"/>
          </p:nvPr>
        </p:nvSpPr>
        <p:spPr>
          <a:xfrm>
            <a:off x="0" y="223838"/>
            <a:ext cx="8374455" cy="858837"/>
          </a:xfrm>
        </p:spPr>
        <p:txBody>
          <a:bodyPr>
            <a:normAutofit/>
          </a:bodyPr>
          <a:lstStyle/>
          <a:p>
            <a:pPr algn="r"/>
            <a:r>
              <a:rPr lang="pt-BR" b="1" dirty="0"/>
              <a:t>Por que devemos importar?</a:t>
            </a:r>
          </a:p>
        </p:txBody>
      </p:sp>
      <p:sp>
        <p:nvSpPr>
          <p:cNvPr id="6" name="Text Box 8"/>
          <p:cNvSpPr txBox="1">
            <a:spLocks noGrp="1" noChangeArrowheads="1"/>
          </p:cNvSpPr>
          <p:nvPr>
            <p:ph idx="4294967295"/>
          </p:nvPr>
        </p:nvSpPr>
        <p:spPr bwMode="auto">
          <a:xfrm>
            <a:off x="4137435" y="2090502"/>
            <a:ext cx="7891604" cy="3302443"/>
          </a:xfrm>
          <a:prstGeom prst="rect">
            <a:avLst/>
          </a:prstGeom>
          <a:noFill/>
          <a:ln w="9525">
            <a:noFill/>
            <a:miter lim="800000"/>
            <a:headEnd/>
            <a:tailEnd/>
          </a:ln>
        </p:spPr>
        <p:txBody>
          <a:bodyPr wrap="square">
            <a:spAutoFit/>
          </a:bodyPr>
          <a:lstStyle/>
          <a:p>
            <a:r>
              <a:rPr lang="pt-BR" sz="3600" b="1" dirty="0">
                <a:latin typeface="Arial" charset="0"/>
              </a:rPr>
              <a:t>Diversificação de fornecedores</a:t>
            </a:r>
          </a:p>
          <a:p>
            <a:r>
              <a:rPr lang="pt-BR" sz="3600" b="1" dirty="0">
                <a:solidFill>
                  <a:schemeClr val="tx1"/>
                </a:solidFill>
                <a:latin typeface="Arial" charset="0"/>
              </a:rPr>
              <a:t>Eliminar possíveis riscos de escassez de produtos no mercado interno</a:t>
            </a:r>
          </a:p>
          <a:p>
            <a:r>
              <a:rPr lang="pt-BR" sz="3600" b="1" dirty="0">
                <a:solidFill>
                  <a:schemeClr val="tx1"/>
                </a:solidFill>
                <a:latin typeface="Arial" charset="0"/>
              </a:rPr>
              <a:t> Buscar preços competitivos</a:t>
            </a:r>
          </a:p>
          <a:p>
            <a:endParaRPr lang="pt-BR" sz="2400" b="1" dirty="0">
              <a:solidFill>
                <a:schemeClr val="tx1"/>
              </a:solidFill>
              <a:latin typeface="Arial" charset="0"/>
            </a:endParaRPr>
          </a:p>
        </p:txBody>
      </p:sp>
    </p:spTree>
    <p:extLst>
      <p:ext uri="{BB962C8B-B14F-4D97-AF65-F5344CB8AC3E}">
        <p14:creationId xmlns:p14="http://schemas.microsoft.com/office/powerpoint/2010/main" val="4164612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p:cTn id="7" dur="3000" fill="hold"/>
                                        <p:tgtEl>
                                          <p:spTgt spid="6">
                                            <p:txEl>
                                              <p:pRg st="0" end="0"/>
                                            </p:txEl>
                                          </p:spTgt>
                                        </p:tgtEl>
                                        <p:attrNameLst>
                                          <p:attrName>ppt_w</p:attrName>
                                        </p:attrNameLst>
                                      </p:cBhvr>
                                      <p:tavLst>
                                        <p:tav tm="0">
                                          <p:val>
                                            <p:fltVal val="0"/>
                                          </p:val>
                                        </p:tav>
                                        <p:tav tm="100000">
                                          <p:val>
                                            <p:strVal val="#ppt_w"/>
                                          </p:val>
                                        </p:tav>
                                      </p:tavLst>
                                    </p:anim>
                                    <p:anim calcmode="lin" valueType="num">
                                      <p:cBhvr>
                                        <p:cTn id="8" dur="3000" fill="hold"/>
                                        <p:tgtEl>
                                          <p:spTgt spid="6">
                                            <p:txEl>
                                              <p:pRg st="0" end="0"/>
                                            </p:txEl>
                                          </p:spTgt>
                                        </p:tgtEl>
                                        <p:attrNameLst>
                                          <p:attrName>ppt_h</p:attrName>
                                        </p:attrNameLst>
                                      </p:cBhvr>
                                      <p:tavLst>
                                        <p:tav tm="0">
                                          <p:val>
                                            <p:fltVal val="0"/>
                                          </p:val>
                                        </p:tav>
                                        <p:tav tm="100000">
                                          <p:val>
                                            <p:strVal val="#ppt_h"/>
                                          </p:val>
                                        </p:tav>
                                      </p:tavLst>
                                    </p:anim>
                                    <p:animEffect transition="in" filter="fade">
                                      <p:cBhvr>
                                        <p:cTn id="9" dur="3000"/>
                                        <p:tgtEl>
                                          <p:spTgt spid="6">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6">
                                            <p:txEl>
                                              <p:pRg st="1" end="1"/>
                                            </p:txEl>
                                          </p:spTgt>
                                        </p:tgtEl>
                                        <p:attrNameLst>
                                          <p:attrName>style.visibility</p:attrName>
                                        </p:attrNameLst>
                                      </p:cBhvr>
                                      <p:to>
                                        <p:strVal val="visible"/>
                                      </p:to>
                                    </p:set>
                                    <p:anim calcmode="lin" valueType="num">
                                      <p:cBhvr>
                                        <p:cTn id="14" dur="3000" fill="hold"/>
                                        <p:tgtEl>
                                          <p:spTgt spid="6">
                                            <p:txEl>
                                              <p:pRg st="1" end="1"/>
                                            </p:txEl>
                                          </p:spTgt>
                                        </p:tgtEl>
                                        <p:attrNameLst>
                                          <p:attrName>ppt_w</p:attrName>
                                        </p:attrNameLst>
                                      </p:cBhvr>
                                      <p:tavLst>
                                        <p:tav tm="0">
                                          <p:val>
                                            <p:fltVal val="0"/>
                                          </p:val>
                                        </p:tav>
                                        <p:tav tm="100000">
                                          <p:val>
                                            <p:strVal val="#ppt_w"/>
                                          </p:val>
                                        </p:tav>
                                      </p:tavLst>
                                    </p:anim>
                                    <p:anim calcmode="lin" valueType="num">
                                      <p:cBhvr>
                                        <p:cTn id="15" dur="3000" fill="hold"/>
                                        <p:tgtEl>
                                          <p:spTgt spid="6">
                                            <p:txEl>
                                              <p:pRg st="1" end="1"/>
                                            </p:txEl>
                                          </p:spTgt>
                                        </p:tgtEl>
                                        <p:attrNameLst>
                                          <p:attrName>ppt_h</p:attrName>
                                        </p:attrNameLst>
                                      </p:cBhvr>
                                      <p:tavLst>
                                        <p:tav tm="0">
                                          <p:val>
                                            <p:fltVal val="0"/>
                                          </p:val>
                                        </p:tav>
                                        <p:tav tm="100000">
                                          <p:val>
                                            <p:strVal val="#ppt_h"/>
                                          </p:val>
                                        </p:tav>
                                      </p:tavLst>
                                    </p:anim>
                                    <p:animEffect transition="in" filter="fade">
                                      <p:cBhvr>
                                        <p:cTn id="16" dur="3000"/>
                                        <p:tgtEl>
                                          <p:spTgt spid="6">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6">
                                            <p:txEl>
                                              <p:pRg st="2" end="2"/>
                                            </p:txEl>
                                          </p:spTgt>
                                        </p:tgtEl>
                                        <p:attrNameLst>
                                          <p:attrName>style.visibility</p:attrName>
                                        </p:attrNameLst>
                                      </p:cBhvr>
                                      <p:to>
                                        <p:strVal val="visible"/>
                                      </p:to>
                                    </p:set>
                                    <p:anim calcmode="lin" valueType="num">
                                      <p:cBhvr>
                                        <p:cTn id="21" dur="3000" fill="hold"/>
                                        <p:tgtEl>
                                          <p:spTgt spid="6">
                                            <p:txEl>
                                              <p:pRg st="2" end="2"/>
                                            </p:txEl>
                                          </p:spTgt>
                                        </p:tgtEl>
                                        <p:attrNameLst>
                                          <p:attrName>ppt_w</p:attrName>
                                        </p:attrNameLst>
                                      </p:cBhvr>
                                      <p:tavLst>
                                        <p:tav tm="0">
                                          <p:val>
                                            <p:fltVal val="0"/>
                                          </p:val>
                                        </p:tav>
                                        <p:tav tm="100000">
                                          <p:val>
                                            <p:strVal val="#ppt_w"/>
                                          </p:val>
                                        </p:tav>
                                      </p:tavLst>
                                    </p:anim>
                                    <p:anim calcmode="lin" valueType="num">
                                      <p:cBhvr>
                                        <p:cTn id="22" dur="3000" fill="hold"/>
                                        <p:tgtEl>
                                          <p:spTgt spid="6">
                                            <p:txEl>
                                              <p:pRg st="2" end="2"/>
                                            </p:txEl>
                                          </p:spTgt>
                                        </p:tgtEl>
                                        <p:attrNameLst>
                                          <p:attrName>ppt_h</p:attrName>
                                        </p:attrNameLst>
                                      </p:cBhvr>
                                      <p:tavLst>
                                        <p:tav tm="0">
                                          <p:val>
                                            <p:fltVal val="0"/>
                                          </p:val>
                                        </p:tav>
                                        <p:tav tm="100000">
                                          <p:val>
                                            <p:strVal val="#ppt_h"/>
                                          </p:val>
                                        </p:tav>
                                      </p:tavLst>
                                    </p:anim>
                                    <p:animEffect transition="in" filter="fade">
                                      <p:cBhvr>
                                        <p:cTn id="23" dur="30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ítulo 2"/>
          <p:cNvSpPr>
            <a:spLocks noGrp="1"/>
          </p:cNvSpPr>
          <p:nvPr>
            <p:ph type="title" idx="4294967295"/>
          </p:nvPr>
        </p:nvSpPr>
        <p:spPr>
          <a:xfrm>
            <a:off x="0" y="223838"/>
            <a:ext cx="9804903" cy="858837"/>
          </a:xfrm>
        </p:spPr>
        <p:txBody>
          <a:bodyPr>
            <a:noAutofit/>
          </a:bodyPr>
          <a:lstStyle/>
          <a:p>
            <a:pPr algn="r"/>
            <a:r>
              <a:rPr lang="pt-BR" sz="4800" b="1" dirty="0"/>
              <a:t>O que é balança comercial?</a:t>
            </a:r>
            <a:br>
              <a:rPr lang="pt-BR" sz="4800" b="1" dirty="0"/>
            </a:br>
            <a:endParaRPr lang="pt-BR" sz="4800" b="1" dirty="0"/>
          </a:p>
        </p:txBody>
      </p:sp>
      <p:sp>
        <p:nvSpPr>
          <p:cNvPr id="6" name="Text Box 8"/>
          <p:cNvSpPr txBox="1">
            <a:spLocks noGrp="1" noChangeArrowheads="1"/>
          </p:cNvSpPr>
          <p:nvPr>
            <p:ph idx="4294967295"/>
          </p:nvPr>
        </p:nvSpPr>
        <p:spPr bwMode="auto">
          <a:xfrm>
            <a:off x="72428" y="3382743"/>
            <a:ext cx="8229600" cy="425450"/>
          </a:xfrm>
          <a:prstGeom prst="rect">
            <a:avLst/>
          </a:prstGeom>
          <a:noFill/>
          <a:ln w="9525">
            <a:noFill/>
            <a:miter lim="800000"/>
            <a:headEnd/>
            <a:tailEnd/>
          </a:ln>
        </p:spPr>
        <p:txBody>
          <a:bodyPr>
            <a:spAutoFit/>
          </a:bodyPr>
          <a:lstStyle/>
          <a:p>
            <a:pPr marL="0" indent="0">
              <a:buNone/>
            </a:pPr>
            <a:r>
              <a:rPr lang="pt-BR" sz="2400" b="1" dirty="0">
                <a:solidFill>
                  <a:schemeClr val="tx1"/>
                </a:solidFill>
                <a:latin typeface="Arial" charset="0"/>
              </a:rPr>
              <a:t>             Importação </a:t>
            </a:r>
            <a:r>
              <a:rPr lang="pt-BR" sz="2400" b="1" i="1" dirty="0">
                <a:solidFill>
                  <a:schemeClr val="tx1"/>
                </a:solidFill>
                <a:latin typeface="Arial" charset="0"/>
              </a:rPr>
              <a:t>versus</a:t>
            </a:r>
            <a:r>
              <a:rPr lang="pt-BR" sz="2400" b="1" dirty="0">
                <a:solidFill>
                  <a:schemeClr val="tx1"/>
                </a:solidFill>
                <a:latin typeface="Arial" charset="0"/>
              </a:rPr>
              <a:t> Exportação.</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1785" y="851146"/>
            <a:ext cx="1981200" cy="2314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 Box 8"/>
          <p:cNvSpPr txBox="1">
            <a:spLocks noChangeArrowheads="1"/>
          </p:cNvSpPr>
          <p:nvPr/>
        </p:nvSpPr>
        <p:spPr bwMode="auto">
          <a:xfrm>
            <a:off x="308439" y="3830638"/>
            <a:ext cx="11796044" cy="2012859"/>
          </a:xfrm>
          <a:prstGeom prst="rect">
            <a:avLst/>
          </a:prstGeom>
          <a:noFill/>
          <a:ln w="9525">
            <a:noFill/>
            <a:miter lim="800000"/>
            <a:headEnd/>
            <a:tailEnd/>
          </a:ln>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pt-BR" sz="2400" dirty="0"/>
              <a:t>Entende-se por </a:t>
            </a:r>
            <a:r>
              <a:rPr lang="pt-BR" sz="2400" b="1" dirty="0"/>
              <a:t>superávit comercial</a:t>
            </a:r>
            <a:r>
              <a:rPr lang="pt-BR" sz="2400" dirty="0"/>
              <a:t>, em determinado momento da economia, quando as cifras referentes à exportação são maiores do que as cifras relativas à importação de bens e serviços. Quando ocorre o contrário, ou seja, o país importa mais do que exporta, surge o que é chamado de </a:t>
            </a:r>
            <a:r>
              <a:rPr lang="pt-BR" sz="2400" b="1" dirty="0">
                <a:solidFill>
                  <a:srgbClr val="FF0000"/>
                </a:solidFill>
              </a:rPr>
              <a:t>déficit comercial</a:t>
            </a:r>
            <a:r>
              <a:rPr lang="pt-BR" sz="2400" dirty="0"/>
              <a:t>.</a:t>
            </a:r>
            <a:endParaRPr lang="pt-BR" sz="2400" b="1" dirty="0">
              <a:latin typeface="Arial" charset="0"/>
            </a:endParaRPr>
          </a:p>
          <a:p>
            <a:endParaRPr lang="pt-BR" sz="2400" b="1" dirty="0">
              <a:latin typeface="Arial" charset="0"/>
            </a:endParaRPr>
          </a:p>
        </p:txBody>
      </p:sp>
    </p:spTree>
    <p:extLst>
      <p:ext uri="{BB962C8B-B14F-4D97-AF65-F5344CB8AC3E}">
        <p14:creationId xmlns:p14="http://schemas.microsoft.com/office/powerpoint/2010/main" val="34484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p:cTn id="7" dur="2750" fill="hold"/>
                                        <p:tgtEl>
                                          <p:spTgt spid="6">
                                            <p:txEl>
                                              <p:pRg st="0" end="0"/>
                                            </p:txEl>
                                          </p:spTgt>
                                        </p:tgtEl>
                                        <p:attrNameLst>
                                          <p:attrName>ppt_w</p:attrName>
                                        </p:attrNameLst>
                                      </p:cBhvr>
                                      <p:tavLst>
                                        <p:tav tm="0">
                                          <p:val>
                                            <p:fltVal val="0"/>
                                          </p:val>
                                        </p:tav>
                                        <p:tav tm="100000">
                                          <p:val>
                                            <p:strVal val="#ppt_w"/>
                                          </p:val>
                                        </p:tav>
                                      </p:tavLst>
                                    </p:anim>
                                    <p:anim calcmode="lin" valueType="num">
                                      <p:cBhvr>
                                        <p:cTn id="8" dur="2750" fill="hold"/>
                                        <p:tgtEl>
                                          <p:spTgt spid="6">
                                            <p:txEl>
                                              <p:pRg st="0" end="0"/>
                                            </p:txEl>
                                          </p:spTgt>
                                        </p:tgtEl>
                                        <p:attrNameLst>
                                          <p:attrName>ppt_h</p:attrName>
                                        </p:attrNameLst>
                                      </p:cBhvr>
                                      <p:tavLst>
                                        <p:tav tm="0">
                                          <p:val>
                                            <p:fltVal val="0"/>
                                          </p:val>
                                        </p:tav>
                                        <p:tav tm="100000">
                                          <p:val>
                                            <p:strVal val="#ppt_h"/>
                                          </p:val>
                                        </p:tav>
                                      </p:tavLst>
                                    </p:anim>
                                    <p:animEffect transition="in" filter="fade">
                                      <p:cBhvr>
                                        <p:cTn id="9" dur="2750"/>
                                        <p:tgtEl>
                                          <p:spTgt spid="6">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 calcmode="lin" valueType="num">
                                      <p:cBhvr>
                                        <p:cTn id="14" dur="2750" fill="hold"/>
                                        <p:tgtEl>
                                          <p:spTgt spid="7">
                                            <p:txEl>
                                              <p:pRg st="0" end="0"/>
                                            </p:txEl>
                                          </p:spTgt>
                                        </p:tgtEl>
                                        <p:attrNameLst>
                                          <p:attrName>ppt_w</p:attrName>
                                        </p:attrNameLst>
                                      </p:cBhvr>
                                      <p:tavLst>
                                        <p:tav tm="0">
                                          <p:val>
                                            <p:fltVal val="0"/>
                                          </p:val>
                                        </p:tav>
                                        <p:tav tm="100000">
                                          <p:val>
                                            <p:strVal val="#ppt_w"/>
                                          </p:val>
                                        </p:tav>
                                      </p:tavLst>
                                    </p:anim>
                                    <p:anim calcmode="lin" valueType="num">
                                      <p:cBhvr>
                                        <p:cTn id="15" dur="2750" fill="hold"/>
                                        <p:tgtEl>
                                          <p:spTgt spid="7">
                                            <p:txEl>
                                              <p:pRg st="0" end="0"/>
                                            </p:txEl>
                                          </p:spTgt>
                                        </p:tgtEl>
                                        <p:attrNameLst>
                                          <p:attrName>ppt_h</p:attrName>
                                        </p:attrNameLst>
                                      </p:cBhvr>
                                      <p:tavLst>
                                        <p:tav tm="0">
                                          <p:val>
                                            <p:fltVal val="0"/>
                                          </p:val>
                                        </p:tav>
                                        <p:tav tm="100000">
                                          <p:val>
                                            <p:strVal val="#ppt_h"/>
                                          </p:val>
                                        </p:tav>
                                      </p:tavLst>
                                    </p:anim>
                                    <p:animEffect transition="in" filter="fade">
                                      <p:cBhvr>
                                        <p:cTn id="16" dur="275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7" grpId="0" build="p"/>
    </p:bldLst>
  </p:timing>
</p:sld>
</file>

<file path=ppt/slides/slide1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ítulo 2"/>
          <p:cNvSpPr>
            <a:spLocks noGrp="1"/>
          </p:cNvSpPr>
          <p:nvPr>
            <p:ph type="title" idx="4294967295"/>
          </p:nvPr>
        </p:nvSpPr>
        <p:spPr>
          <a:xfrm>
            <a:off x="6002446" y="966223"/>
            <a:ext cx="5341545" cy="858837"/>
          </a:xfrm>
        </p:spPr>
        <p:txBody>
          <a:bodyPr>
            <a:normAutofit fontScale="90000"/>
          </a:bodyPr>
          <a:lstStyle/>
          <a:p>
            <a:pPr algn="r"/>
            <a:r>
              <a:rPr lang="pt-BR" sz="3600" b="1" dirty="0"/>
              <a:t>O que é corrente de comércio?</a:t>
            </a:r>
            <a:br>
              <a:rPr lang="pt-BR" sz="3600" b="1" dirty="0"/>
            </a:br>
            <a:endParaRPr lang="pt-BR" sz="3600" b="1" dirty="0"/>
          </a:p>
        </p:txBody>
      </p:sp>
      <p:sp>
        <p:nvSpPr>
          <p:cNvPr id="6" name="Text Box 8"/>
          <p:cNvSpPr txBox="1">
            <a:spLocks noGrp="1" noChangeArrowheads="1"/>
          </p:cNvSpPr>
          <p:nvPr>
            <p:ph idx="4294967295"/>
          </p:nvPr>
        </p:nvSpPr>
        <p:spPr bwMode="auto">
          <a:xfrm>
            <a:off x="0" y="3500438"/>
            <a:ext cx="8229600" cy="425450"/>
          </a:xfrm>
          <a:prstGeom prst="rect">
            <a:avLst/>
          </a:prstGeom>
          <a:noFill/>
          <a:ln w="9525">
            <a:noFill/>
            <a:miter lim="800000"/>
            <a:headEnd/>
            <a:tailEnd/>
          </a:ln>
        </p:spPr>
        <p:txBody>
          <a:bodyPr>
            <a:spAutoFit/>
          </a:bodyPr>
          <a:lstStyle/>
          <a:p>
            <a:r>
              <a:rPr lang="pt-BR" sz="2400" b="1" dirty="0">
                <a:solidFill>
                  <a:schemeClr val="tx1"/>
                </a:solidFill>
                <a:latin typeface="Arial" charset="0"/>
              </a:rPr>
              <a:t>               Importação + Exportação.</a:t>
            </a:r>
          </a:p>
        </p:txBody>
      </p:sp>
      <p:sp>
        <p:nvSpPr>
          <p:cNvPr id="7" name="Text Box 8"/>
          <p:cNvSpPr txBox="1">
            <a:spLocks noChangeArrowheads="1"/>
          </p:cNvSpPr>
          <p:nvPr/>
        </p:nvSpPr>
        <p:spPr bwMode="auto">
          <a:xfrm>
            <a:off x="1847528" y="4093190"/>
            <a:ext cx="8229600" cy="1200329"/>
          </a:xfrm>
          <a:prstGeom prst="rect">
            <a:avLst/>
          </a:prstGeom>
          <a:noFill/>
          <a:ln w="9525">
            <a:noFill/>
            <a:miter lim="800000"/>
            <a:headEnd/>
            <a:tailEnd/>
          </a:ln>
        </p:spPr>
        <p:txBody>
          <a:bodyPr vert="horz" lIns="91440" tIns="45720" rIns="91440" bIns="45720" rtlCol="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pt-BR" sz="2400" dirty="0"/>
              <a:t>É o resultado da soma das exportações com as importações e representa o total de comércio transacionado por um país com o exterior.</a:t>
            </a:r>
            <a:endParaRPr lang="pt-BR" sz="2400" b="1" dirty="0">
              <a:latin typeface="Arial" charset="0"/>
            </a:endParaRPr>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1505" y="1412776"/>
            <a:ext cx="2466975" cy="184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2388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p:cTn id="7" dur="2750" fill="hold"/>
                                        <p:tgtEl>
                                          <p:spTgt spid="6">
                                            <p:txEl>
                                              <p:pRg st="0" end="0"/>
                                            </p:txEl>
                                          </p:spTgt>
                                        </p:tgtEl>
                                        <p:attrNameLst>
                                          <p:attrName>ppt_w</p:attrName>
                                        </p:attrNameLst>
                                      </p:cBhvr>
                                      <p:tavLst>
                                        <p:tav tm="0">
                                          <p:val>
                                            <p:fltVal val="0"/>
                                          </p:val>
                                        </p:tav>
                                        <p:tav tm="100000">
                                          <p:val>
                                            <p:strVal val="#ppt_w"/>
                                          </p:val>
                                        </p:tav>
                                      </p:tavLst>
                                    </p:anim>
                                    <p:anim calcmode="lin" valueType="num">
                                      <p:cBhvr>
                                        <p:cTn id="8" dur="2750" fill="hold"/>
                                        <p:tgtEl>
                                          <p:spTgt spid="6">
                                            <p:txEl>
                                              <p:pRg st="0" end="0"/>
                                            </p:txEl>
                                          </p:spTgt>
                                        </p:tgtEl>
                                        <p:attrNameLst>
                                          <p:attrName>ppt_h</p:attrName>
                                        </p:attrNameLst>
                                      </p:cBhvr>
                                      <p:tavLst>
                                        <p:tav tm="0">
                                          <p:val>
                                            <p:fltVal val="0"/>
                                          </p:val>
                                        </p:tav>
                                        <p:tav tm="100000">
                                          <p:val>
                                            <p:strVal val="#ppt_h"/>
                                          </p:val>
                                        </p:tav>
                                      </p:tavLst>
                                    </p:anim>
                                    <p:animEffect transition="in" filter="fade">
                                      <p:cBhvr>
                                        <p:cTn id="9" dur="2750"/>
                                        <p:tgtEl>
                                          <p:spTgt spid="6">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 calcmode="lin" valueType="num">
                                      <p:cBhvr>
                                        <p:cTn id="14" dur="2750" fill="hold"/>
                                        <p:tgtEl>
                                          <p:spTgt spid="7">
                                            <p:txEl>
                                              <p:pRg st="0" end="0"/>
                                            </p:txEl>
                                          </p:spTgt>
                                        </p:tgtEl>
                                        <p:attrNameLst>
                                          <p:attrName>ppt_w</p:attrName>
                                        </p:attrNameLst>
                                      </p:cBhvr>
                                      <p:tavLst>
                                        <p:tav tm="0">
                                          <p:val>
                                            <p:fltVal val="0"/>
                                          </p:val>
                                        </p:tav>
                                        <p:tav tm="100000">
                                          <p:val>
                                            <p:strVal val="#ppt_w"/>
                                          </p:val>
                                        </p:tav>
                                      </p:tavLst>
                                    </p:anim>
                                    <p:anim calcmode="lin" valueType="num">
                                      <p:cBhvr>
                                        <p:cTn id="15" dur="2750" fill="hold"/>
                                        <p:tgtEl>
                                          <p:spTgt spid="7">
                                            <p:txEl>
                                              <p:pRg st="0" end="0"/>
                                            </p:txEl>
                                          </p:spTgt>
                                        </p:tgtEl>
                                        <p:attrNameLst>
                                          <p:attrName>ppt_h</p:attrName>
                                        </p:attrNameLst>
                                      </p:cBhvr>
                                      <p:tavLst>
                                        <p:tav tm="0">
                                          <p:val>
                                            <p:fltVal val="0"/>
                                          </p:val>
                                        </p:tav>
                                        <p:tav tm="100000">
                                          <p:val>
                                            <p:strVal val="#ppt_h"/>
                                          </p:val>
                                        </p:tav>
                                      </p:tavLst>
                                    </p:anim>
                                    <p:animEffect transition="in" filter="fade">
                                      <p:cBhvr>
                                        <p:cTn id="16" dur="275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7" grpId="0" build="p"/>
    </p:bldLst>
  </p:timing>
</p:sld>
</file>

<file path=ppt/slides/slide1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ítulo 2"/>
          <p:cNvSpPr>
            <a:spLocks noGrp="1"/>
          </p:cNvSpPr>
          <p:nvPr>
            <p:ph type="title" idx="4294967295"/>
          </p:nvPr>
        </p:nvSpPr>
        <p:spPr>
          <a:xfrm>
            <a:off x="0" y="223838"/>
            <a:ext cx="12023725" cy="858837"/>
          </a:xfrm>
        </p:spPr>
        <p:txBody>
          <a:bodyPr>
            <a:normAutofit fontScale="90000"/>
          </a:bodyPr>
          <a:lstStyle/>
          <a:p>
            <a:r>
              <a:rPr lang="pt-BR" sz="3600" b="1" dirty="0"/>
              <a:t>Referências bibliográficas.</a:t>
            </a:r>
            <a:br>
              <a:rPr lang="pt-BR" sz="3600" b="1" dirty="0"/>
            </a:br>
            <a:endParaRPr lang="pt-BR" sz="3600" b="1" dirty="0"/>
          </a:p>
        </p:txBody>
      </p:sp>
      <p:sp>
        <p:nvSpPr>
          <p:cNvPr id="8" name="Rectangle 7"/>
          <p:cNvSpPr txBox="1">
            <a:spLocks noChangeArrowheads="1"/>
          </p:cNvSpPr>
          <p:nvPr/>
        </p:nvSpPr>
        <p:spPr>
          <a:xfrm>
            <a:off x="1676400" y="1981200"/>
            <a:ext cx="8763000" cy="44196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lnSpc>
                <a:spcPct val="95000"/>
              </a:lnSpc>
              <a:spcBef>
                <a:spcPct val="0"/>
              </a:spcBef>
              <a:buClr>
                <a:srgbClr val="FF0000"/>
              </a:buClr>
              <a:buFont typeface="Wingdings"/>
              <a:buChar char="&amp;"/>
            </a:pPr>
            <a:r>
              <a:rPr lang="es-PY" sz="2400" dirty="0">
                <a:sym typeface="Wingdings" pitchFamily="2" charset="2"/>
              </a:rPr>
              <a:t>SEGRE</a:t>
            </a:r>
            <a:r>
              <a:rPr lang="es-PY" sz="2400" dirty="0"/>
              <a:t>, German. (2010). Manual </a:t>
            </a:r>
            <a:r>
              <a:rPr lang="es-PY" sz="2400" dirty="0" err="1"/>
              <a:t>Prático</a:t>
            </a:r>
            <a:r>
              <a:rPr lang="es-PY" sz="2400" dirty="0"/>
              <a:t> de </a:t>
            </a:r>
            <a:r>
              <a:rPr lang="es-PY" sz="2400" dirty="0" err="1"/>
              <a:t>Comércio</a:t>
            </a:r>
            <a:r>
              <a:rPr lang="es-PY" sz="2400" dirty="0"/>
              <a:t> Exterior, 3 </a:t>
            </a:r>
            <a:r>
              <a:rPr lang="es-PY" sz="2400" dirty="0" err="1"/>
              <a:t>edição</a:t>
            </a:r>
            <a:r>
              <a:rPr lang="es-PY" sz="2400" dirty="0"/>
              <a:t>, editora Atlas. </a:t>
            </a:r>
          </a:p>
          <a:p>
            <a:pPr marL="0" indent="0" algn="just">
              <a:lnSpc>
                <a:spcPct val="95000"/>
              </a:lnSpc>
              <a:spcBef>
                <a:spcPct val="0"/>
              </a:spcBef>
              <a:buClr>
                <a:srgbClr val="FF0000"/>
              </a:buClr>
              <a:buNone/>
            </a:pPr>
            <a:endParaRPr lang="es-PY" sz="2400" dirty="0"/>
          </a:p>
          <a:p>
            <a:pPr algn="just">
              <a:lnSpc>
                <a:spcPct val="95000"/>
              </a:lnSpc>
              <a:spcBef>
                <a:spcPct val="0"/>
              </a:spcBef>
              <a:buClr>
                <a:srgbClr val="FF0000"/>
              </a:buClr>
              <a:buFont typeface="Wingdings"/>
              <a:buChar char="&amp;"/>
            </a:pPr>
            <a:r>
              <a:rPr lang="es-PY" sz="2800" dirty="0">
                <a:sym typeface="Wingdings" pitchFamily="2" charset="2"/>
              </a:rPr>
              <a:t> </a:t>
            </a:r>
            <a:r>
              <a:rPr lang="es-PY" sz="2400" dirty="0">
                <a:sym typeface="Wingdings" pitchFamily="2" charset="2"/>
              </a:rPr>
              <a:t>MAXIMIANO, </a:t>
            </a:r>
            <a:r>
              <a:rPr lang="es-PY" sz="2400" dirty="0" err="1">
                <a:sym typeface="Wingdings" pitchFamily="2" charset="2"/>
              </a:rPr>
              <a:t>Antônio</a:t>
            </a:r>
            <a:r>
              <a:rPr lang="es-PY" sz="2400" dirty="0">
                <a:sym typeface="Wingdings" pitchFamily="2" charset="2"/>
              </a:rPr>
              <a:t> Cesar Amaru</a:t>
            </a:r>
            <a:r>
              <a:rPr lang="es-PY" sz="2400" dirty="0"/>
              <a:t>. </a:t>
            </a:r>
            <a:r>
              <a:rPr lang="es-PY" sz="2400" dirty="0" err="1"/>
              <a:t>Administração</a:t>
            </a:r>
            <a:r>
              <a:rPr lang="es-PY" sz="2400" dirty="0"/>
              <a:t> para </a:t>
            </a:r>
            <a:r>
              <a:rPr lang="es-PY" sz="2400" dirty="0" err="1"/>
              <a:t>empreendedores</a:t>
            </a:r>
            <a:r>
              <a:rPr lang="es-PY" sz="2400" dirty="0"/>
              <a:t>: fundamentos da </a:t>
            </a:r>
            <a:r>
              <a:rPr lang="es-PY" sz="2400" dirty="0" err="1"/>
              <a:t>criação</a:t>
            </a:r>
            <a:r>
              <a:rPr lang="es-PY" sz="2400" dirty="0"/>
              <a:t> e da </a:t>
            </a:r>
            <a:r>
              <a:rPr lang="es-PY" sz="2400" dirty="0" err="1"/>
              <a:t>gestão</a:t>
            </a:r>
            <a:r>
              <a:rPr lang="es-PY" sz="2400" dirty="0"/>
              <a:t> de </a:t>
            </a:r>
            <a:r>
              <a:rPr lang="es-PY" sz="2400" dirty="0" err="1"/>
              <a:t>novos</a:t>
            </a:r>
            <a:r>
              <a:rPr lang="es-PY" sz="2400" dirty="0"/>
              <a:t> </a:t>
            </a:r>
            <a:r>
              <a:rPr lang="es-PY" sz="2400" dirty="0" err="1"/>
              <a:t>negócios</a:t>
            </a:r>
            <a:r>
              <a:rPr lang="es-PY" sz="2400" dirty="0"/>
              <a:t>. São Paulo. 2.ed. 2011. Cap.3 </a:t>
            </a:r>
            <a:r>
              <a:rPr lang="es-PY" sz="2400" dirty="0" err="1"/>
              <a:t>Conjuntura</a:t>
            </a:r>
            <a:r>
              <a:rPr lang="es-PY" sz="2400" dirty="0"/>
              <a:t>  econômica.</a:t>
            </a:r>
          </a:p>
          <a:p>
            <a:pPr marL="0" indent="0" algn="just">
              <a:lnSpc>
                <a:spcPct val="95000"/>
              </a:lnSpc>
              <a:spcBef>
                <a:spcPct val="0"/>
              </a:spcBef>
              <a:buClr>
                <a:srgbClr val="FF0000"/>
              </a:buClr>
              <a:buNone/>
            </a:pPr>
            <a:r>
              <a:rPr lang="es-PY" sz="2400" dirty="0"/>
              <a:t> </a:t>
            </a:r>
          </a:p>
          <a:p>
            <a:pPr algn="just">
              <a:lnSpc>
                <a:spcPct val="95000"/>
              </a:lnSpc>
              <a:spcBef>
                <a:spcPct val="0"/>
              </a:spcBef>
              <a:buClr>
                <a:srgbClr val="FF0000"/>
              </a:buClr>
              <a:buFont typeface="Wingdings"/>
              <a:buChar char="&amp;"/>
            </a:pPr>
            <a:r>
              <a:rPr lang="es-PY" sz="2800" dirty="0">
                <a:sym typeface="Wingdings" pitchFamily="2" charset="2"/>
              </a:rPr>
              <a:t> </a:t>
            </a:r>
            <a:r>
              <a:rPr lang="es-PY" sz="2400" dirty="0">
                <a:sym typeface="Wingdings" pitchFamily="2" charset="2"/>
              </a:rPr>
              <a:t>MANKIW, N. Gregory. </a:t>
            </a:r>
            <a:r>
              <a:rPr lang="es-PY" sz="2400" dirty="0" err="1">
                <a:sym typeface="Wingdings" pitchFamily="2" charset="2"/>
              </a:rPr>
              <a:t>Introdução</a:t>
            </a:r>
            <a:r>
              <a:rPr lang="es-PY" sz="2400" dirty="0">
                <a:sym typeface="Wingdings" pitchFamily="2" charset="2"/>
              </a:rPr>
              <a:t> à </a:t>
            </a:r>
            <a:r>
              <a:rPr lang="es-PY" sz="2400" dirty="0" err="1">
                <a:sym typeface="Wingdings" pitchFamily="2" charset="2"/>
              </a:rPr>
              <a:t>economia</a:t>
            </a:r>
            <a:r>
              <a:rPr lang="es-PY" sz="2400" dirty="0">
                <a:sym typeface="Wingdings" pitchFamily="2" charset="2"/>
              </a:rPr>
              <a:t>: principios  de micro e </a:t>
            </a:r>
            <a:r>
              <a:rPr lang="es-PY" sz="2400" dirty="0" err="1">
                <a:sym typeface="Wingdings" pitchFamily="2" charset="2"/>
              </a:rPr>
              <a:t>macroeconomia</a:t>
            </a:r>
            <a:r>
              <a:rPr lang="es-PY" sz="2400" dirty="0">
                <a:sym typeface="Wingdings" pitchFamily="2" charset="2"/>
              </a:rPr>
              <a:t>. Rio de Janeiro, 2001. Ed. Campus.</a:t>
            </a:r>
            <a:endParaRPr lang="pt-BR" sz="2400" dirty="0"/>
          </a:p>
        </p:txBody>
      </p:sp>
    </p:spTree>
    <p:extLst>
      <p:ext uri="{BB962C8B-B14F-4D97-AF65-F5344CB8AC3E}">
        <p14:creationId xmlns:p14="http://schemas.microsoft.com/office/powerpoint/2010/main" val="249235502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Espaço Reservado para Conteúdo 5"/>
          <p:cNvSpPr>
            <a:spLocks noGrp="1"/>
          </p:cNvSpPr>
          <p:nvPr>
            <p:ph idx="4294967295"/>
          </p:nvPr>
        </p:nvSpPr>
        <p:spPr>
          <a:xfrm>
            <a:off x="485775" y="1290638"/>
            <a:ext cx="11706225" cy="4351337"/>
          </a:xfrm>
        </p:spPr>
        <p:txBody>
          <a:bodyPr>
            <a:normAutofit/>
          </a:bodyPr>
          <a:lstStyle/>
          <a:p>
            <a:endParaRPr lang="pt-BR" b="1" dirty="0"/>
          </a:p>
          <a:p>
            <a:pPr marL="0" indent="0">
              <a:buNone/>
            </a:pPr>
            <a:endParaRPr lang="pt-BR" b="1" dirty="0"/>
          </a:p>
        </p:txBody>
      </p:sp>
      <p:sp>
        <p:nvSpPr>
          <p:cNvPr id="8" name="CaixaDeTexto 9"/>
          <p:cNvSpPr txBox="1">
            <a:spLocks noChangeArrowheads="1"/>
          </p:cNvSpPr>
          <p:nvPr/>
        </p:nvSpPr>
        <p:spPr bwMode="auto">
          <a:xfrm>
            <a:off x="3431704" y="332656"/>
            <a:ext cx="6048672" cy="707886"/>
          </a:xfrm>
          <a:prstGeom prst="rect">
            <a:avLst/>
          </a:prstGeom>
          <a:noFill/>
          <a:ln w="9525">
            <a:noFill/>
            <a:miter lim="800000"/>
            <a:headEnd/>
            <a:tailEnd/>
          </a:ln>
        </p:spPr>
        <p:txBody>
          <a:bodyPr wrap="square">
            <a:spAutoFit/>
          </a:bodyPr>
          <a:lstStyle/>
          <a:p>
            <a:r>
              <a:rPr lang="pt-BR" sz="4000" b="1" dirty="0">
                <a:solidFill>
                  <a:prstClr val="black"/>
                </a:solidFill>
                <a:latin typeface="Arial" charset="0"/>
                <a:cs typeface="Times New Roman" pitchFamily="18" charset="0"/>
              </a:rPr>
              <a:t>Comércio Internacional </a:t>
            </a:r>
          </a:p>
        </p:txBody>
      </p:sp>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76120" y="1657422"/>
            <a:ext cx="3361600" cy="27076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7291" y="2492897"/>
            <a:ext cx="4781247" cy="3403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6483827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tângulo 1"/>
          <p:cNvSpPr/>
          <p:nvPr/>
        </p:nvSpPr>
        <p:spPr>
          <a:xfrm>
            <a:off x="320606" y="2967335"/>
            <a:ext cx="11550791" cy="1323439"/>
          </a:xfrm>
          <a:prstGeom prst="rect">
            <a:avLst/>
          </a:prstGeom>
          <a:noFill/>
        </p:spPr>
        <p:txBody>
          <a:bodyPr wrap="none" lIns="91440" tIns="45720" rIns="91440" bIns="45720">
            <a:spAutoFit/>
          </a:bodyPr>
          <a:lstStyle/>
          <a:p>
            <a:pPr algn="ctr"/>
            <a:r>
              <a:rPr lang="pt-BR" sz="80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MODAIS DE TRANSPORTES</a:t>
            </a:r>
            <a:endParaRPr lang="pt-BR" sz="80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Tree>
    <p:extLst>
      <p:ext uri="{BB962C8B-B14F-4D97-AF65-F5344CB8AC3E}">
        <p14:creationId xmlns:p14="http://schemas.microsoft.com/office/powerpoint/2010/main" val="287571281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949533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tângulo 3"/>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
        <p:nvSpPr>
          <p:cNvPr id="3" name="CaixaDeTexto 2"/>
          <p:cNvSpPr txBox="1"/>
          <p:nvPr/>
        </p:nvSpPr>
        <p:spPr>
          <a:xfrm>
            <a:off x="1632187" y="1657660"/>
            <a:ext cx="1522751" cy="515526"/>
          </a:xfrm>
          <a:prstGeom prst="rect">
            <a:avLst/>
          </a:prstGeom>
          <a:noFill/>
        </p:spPr>
        <p:txBody>
          <a:bodyPr wrap="square" rtlCol="0">
            <a:spAutoFit/>
          </a:bodyPr>
          <a:lstStyle/>
          <a:p>
            <a:pPr>
              <a:lnSpc>
                <a:spcPct val="150000"/>
              </a:lnSpc>
            </a:pPr>
            <a:r>
              <a:rPr lang="pt-BR" b="1" dirty="0">
                <a:solidFill>
                  <a:schemeClr val="accent6"/>
                </a:solidFill>
              </a:rPr>
              <a:t>CONCEITO</a:t>
            </a:r>
          </a:p>
        </p:txBody>
      </p:sp>
      <p:sp>
        <p:nvSpPr>
          <p:cNvPr id="5" name="Retângulo 4"/>
          <p:cNvSpPr/>
          <p:nvPr/>
        </p:nvSpPr>
        <p:spPr>
          <a:xfrm>
            <a:off x="1632187" y="2173186"/>
            <a:ext cx="9120149" cy="3831818"/>
          </a:xfrm>
          <a:prstGeom prst="rect">
            <a:avLst/>
          </a:prstGeom>
        </p:spPr>
        <p:txBody>
          <a:bodyPr wrap="square">
            <a:spAutoFit/>
          </a:bodyPr>
          <a:lstStyle/>
          <a:p>
            <a:pPr algn="just">
              <a:lnSpc>
                <a:spcPct val="150000"/>
              </a:lnSpc>
            </a:pPr>
            <a:r>
              <a:rPr lang="pt-BR" dirty="0">
                <a:solidFill>
                  <a:schemeClr val="accent6"/>
                </a:solidFill>
              </a:rPr>
              <a:t>A palavra “transporte” vem do latim </a:t>
            </a:r>
            <a:r>
              <a:rPr lang="pt-BR" i="1" dirty="0" err="1">
                <a:solidFill>
                  <a:schemeClr val="accent6"/>
                </a:solidFill>
              </a:rPr>
              <a:t>trans</a:t>
            </a:r>
            <a:r>
              <a:rPr lang="pt-BR" dirty="0">
                <a:solidFill>
                  <a:schemeClr val="accent6"/>
                </a:solidFill>
              </a:rPr>
              <a:t> (de um lado a outro) e </a:t>
            </a:r>
            <a:r>
              <a:rPr lang="pt-BR" i="1" dirty="0" err="1">
                <a:solidFill>
                  <a:schemeClr val="accent6"/>
                </a:solidFill>
              </a:rPr>
              <a:t>portare</a:t>
            </a:r>
            <a:r>
              <a:rPr lang="pt-BR" dirty="0">
                <a:solidFill>
                  <a:schemeClr val="accent6"/>
                </a:solidFill>
              </a:rPr>
              <a:t> (carregar). Assim, em síntese, transporte é o movimento de pessoas ou coisas de um lugar para outro.</a:t>
            </a:r>
          </a:p>
          <a:p>
            <a:pPr algn="just">
              <a:lnSpc>
                <a:spcPct val="150000"/>
              </a:lnSpc>
            </a:pPr>
            <a:r>
              <a:rPr lang="pt-BR" dirty="0">
                <a:solidFill>
                  <a:schemeClr val="accent6"/>
                </a:solidFill>
              </a:rPr>
              <a:t>Os transportes contêm três elementos: infraestrutura, veículos e operações comerciais. Infraestrutura é a malha de transporte: rodoviária, férrea, aérea, fluvial, tubular, etc. Os veículos são automóveis, bicicletas, ônibus, trens, navios e aeronaves, que utilizam essa malha.</a:t>
            </a:r>
          </a:p>
          <a:p>
            <a:pPr algn="just">
              <a:lnSpc>
                <a:spcPct val="150000"/>
              </a:lnSpc>
            </a:pPr>
            <a:r>
              <a:rPr lang="pt-BR" dirty="0">
                <a:solidFill>
                  <a:schemeClr val="accent6"/>
                </a:solidFill>
              </a:rPr>
              <a:t>As operações são as formas como esses veículos utilizam a rede, como leis, diretrizes, códigos, etc.</a:t>
            </a:r>
          </a:p>
        </p:txBody>
      </p:sp>
      <p:sp>
        <p:nvSpPr>
          <p:cNvPr id="6" name="CaixaDeTexto 5"/>
          <p:cNvSpPr txBox="1"/>
          <p:nvPr/>
        </p:nvSpPr>
        <p:spPr>
          <a:xfrm>
            <a:off x="8999478" y="6242694"/>
            <a:ext cx="1737360" cy="307777"/>
          </a:xfrm>
          <a:prstGeom prst="rect">
            <a:avLst/>
          </a:prstGeom>
          <a:noFill/>
        </p:spPr>
        <p:txBody>
          <a:bodyPr wrap="square" rtlCol="0">
            <a:spAutoFit/>
          </a:bodyPr>
          <a:lstStyle/>
          <a:p>
            <a:r>
              <a:rPr lang="pt-BR" sz="1400" i="1" dirty="0" err="1">
                <a:solidFill>
                  <a:schemeClr val="accent6"/>
                </a:solidFill>
              </a:rPr>
              <a:t>Adap</a:t>
            </a:r>
            <a:r>
              <a:rPr lang="pt-BR" sz="1400" i="1" dirty="0">
                <a:solidFill>
                  <a:schemeClr val="accent6"/>
                </a:solidFill>
              </a:rPr>
              <a:t>. Wikipédia</a:t>
            </a:r>
          </a:p>
        </p:txBody>
      </p:sp>
      <p:sp>
        <p:nvSpPr>
          <p:cNvPr id="7" name="Title 1"/>
          <p:cNvSpPr>
            <a:spLocks noGrp="1"/>
          </p:cNvSpPr>
          <p:nvPr>
            <p:ph type="title" idx="4294967295"/>
          </p:nvPr>
        </p:nvSpPr>
        <p:spPr>
          <a:xfrm>
            <a:off x="0" y="822325"/>
            <a:ext cx="6784975" cy="400050"/>
          </a:xfrm>
        </p:spPr>
        <p:txBody>
          <a:bodyPr>
            <a:noAutofit/>
          </a:bodyPr>
          <a:lstStyle/>
          <a:p>
            <a:pPr algn="ctr"/>
            <a:r>
              <a:rPr lang="pt-BR" sz="2000" b="1" dirty="0">
                <a:solidFill>
                  <a:schemeClr val="accent6"/>
                </a:solidFill>
                <a:latin typeface="+mn-lt"/>
              </a:rPr>
              <a:t>TRANSPORTE DE CARGAS</a:t>
            </a:r>
          </a:p>
        </p:txBody>
      </p:sp>
    </p:spTree>
    <p:extLst>
      <p:ext uri="{BB962C8B-B14F-4D97-AF65-F5344CB8AC3E}">
        <p14:creationId xmlns:p14="http://schemas.microsoft.com/office/powerpoint/2010/main" val="3646728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1+#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5"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1000" fill="hold"/>
                                        <p:tgtEl>
                                          <p:spTgt spid="5"/>
                                        </p:tgtEl>
                                        <p:attrNameLst>
                                          <p:attrName>ppt_w</p:attrName>
                                        </p:attrNameLst>
                                      </p:cBhvr>
                                      <p:tavLst>
                                        <p:tav tm="0">
                                          <p:val>
                                            <p:strVal val="#ppt_w*0.70"/>
                                          </p:val>
                                        </p:tav>
                                        <p:tav tm="100000">
                                          <p:val>
                                            <p:strVal val="#ppt_w"/>
                                          </p:val>
                                        </p:tav>
                                      </p:tavLst>
                                    </p:anim>
                                    <p:anim calcmode="lin" valueType="num">
                                      <p:cBhvr>
                                        <p:cTn id="14" dur="1000" fill="hold"/>
                                        <p:tgtEl>
                                          <p:spTgt spid="5"/>
                                        </p:tgtEl>
                                        <p:attrNameLst>
                                          <p:attrName>ppt_h</p:attrName>
                                        </p:attrNameLst>
                                      </p:cBhvr>
                                      <p:tavLst>
                                        <p:tav tm="0">
                                          <p:val>
                                            <p:strVal val="#ppt_h"/>
                                          </p:val>
                                        </p:tav>
                                        <p:tav tm="100000">
                                          <p:val>
                                            <p:strVal val="#ppt_h"/>
                                          </p:val>
                                        </p:tav>
                                      </p:tavLst>
                                    </p:anim>
                                    <p:animEffect transition="in" filter="fade">
                                      <p:cBhvr>
                                        <p:cTn id="15" dur="1000"/>
                                        <p:tgtEl>
                                          <p:spTgt spid="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Lst>
  </p:timing>
</p:sld>
</file>

<file path=ppt/slides/slide1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tângulo 3"/>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
        <p:nvSpPr>
          <p:cNvPr id="5" name="TextBox 5"/>
          <p:cNvSpPr txBox="1"/>
          <p:nvPr/>
        </p:nvSpPr>
        <p:spPr>
          <a:xfrm>
            <a:off x="2099556" y="2147884"/>
            <a:ext cx="7992889" cy="1323439"/>
          </a:xfrm>
          <a:prstGeom prst="rect">
            <a:avLst/>
          </a:prstGeom>
          <a:noFill/>
        </p:spPr>
        <p:txBody>
          <a:bodyPr wrap="square" rtlCol="0">
            <a:spAutoFit/>
          </a:bodyPr>
          <a:lstStyle/>
          <a:p>
            <a:pPr algn="just"/>
            <a:r>
              <a:rPr lang="pt-BR" sz="2000" dirty="0">
                <a:solidFill>
                  <a:schemeClr val="accent6"/>
                </a:solidFill>
                <a:ea typeface="+mj-ea"/>
                <a:cs typeface="Helvetica Neue"/>
              </a:rPr>
              <a:t>O Sistema de Transporte é formado pelas vias de transporte (modais), pela forma como esses vários modais se relacionam entre si, pelo meio usado (elemento transportador) e pelas instalações complementares (terminais de carga).</a:t>
            </a:r>
          </a:p>
        </p:txBody>
      </p:sp>
      <p:sp>
        <p:nvSpPr>
          <p:cNvPr id="6" name="TextBox 6"/>
          <p:cNvSpPr txBox="1"/>
          <p:nvPr/>
        </p:nvSpPr>
        <p:spPr>
          <a:xfrm>
            <a:off x="1952786" y="4455553"/>
            <a:ext cx="8139658" cy="369332"/>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rtlCol="0">
            <a:spAutoFit/>
          </a:bodyPr>
          <a:lstStyle/>
          <a:p>
            <a:pPr algn="just"/>
            <a:r>
              <a:rPr lang="pt-BR" b="1" dirty="0">
                <a:solidFill>
                  <a:srgbClr val="FF0000"/>
                </a:solidFill>
                <a:ea typeface="+mj-ea"/>
                <a:cs typeface="Helvetica Neue"/>
              </a:rPr>
              <a:t>QUAL A SUA VIVÊNCIA COM ALGUM TIPO DE MODAL DE TRANSPORTE ?</a:t>
            </a:r>
          </a:p>
        </p:txBody>
      </p:sp>
      <p:sp>
        <p:nvSpPr>
          <p:cNvPr id="7" name="TextBox 7"/>
          <p:cNvSpPr txBox="1"/>
          <p:nvPr/>
        </p:nvSpPr>
        <p:spPr>
          <a:xfrm>
            <a:off x="1952786" y="5162784"/>
            <a:ext cx="8139658" cy="646331"/>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rtlCol="0">
            <a:spAutoFit/>
          </a:bodyPr>
          <a:lstStyle/>
          <a:p>
            <a:pPr algn="just"/>
            <a:r>
              <a:rPr lang="pt-BR" b="1" dirty="0">
                <a:solidFill>
                  <a:srgbClr val="FF0000"/>
                </a:solidFill>
                <a:ea typeface="+mj-ea"/>
                <a:cs typeface="Helvetica Neue"/>
              </a:rPr>
              <a:t>JÁ NECESSITOU USAR MAIS DE UM MODAL DE TRANSPORTE ? </a:t>
            </a:r>
          </a:p>
          <a:p>
            <a:pPr algn="just"/>
            <a:r>
              <a:rPr lang="pt-BR" b="1" dirty="0">
                <a:solidFill>
                  <a:srgbClr val="FF0000"/>
                </a:solidFill>
                <a:ea typeface="+mj-ea"/>
                <a:cs typeface="Helvetica Neue"/>
              </a:rPr>
              <a:t>COMO FOI A INTEGRAÇÃO ENTRE OS MODAIS ?</a:t>
            </a:r>
          </a:p>
        </p:txBody>
      </p:sp>
      <p:sp>
        <p:nvSpPr>
          <p:cNvPr id="13" name="Retângulo 12"/>
          <p:cNvSpPr/>
          <p:nvPr/>
        </p:nvSpPr>
        <p:spPr>
          <a:xfrm>
            <a:off x="8279400" y="3613095"/>
            <a:ext cx="1813044" cy="307777"/>
          </a:xfrm>
          <a:prstGeom prst="rect">
            <a:avLst/>
          </a:prstGeom>
        </p:spPr>
        <p:txBody>
          <a:bodyPr wrap="square">
            <a:spAutoFit/>
          </a:bodyPr>
          <a:lstStyle/>
          <a:p>
            <a:pPr algn="r"/>
            <a:r>
              <a:rPr lang="pt-BR" sz="1400" b="1" i="1" dirty="0">
                <a:solidFill>
                  <a:schemeClr val="accent6"/>
                </a:solidFill>
                <a:cs typeface="Helvetica Neue"/>
              </a:rPr>
              <a:t> (Rodrigues, 2014)</a:t>
            </a:r>
            <a:endParaRPr lang="pt-BR" sz="1400" b="1" i="1" dirty="0"/>
          </a:p>
        </p:txBody>
      </p:sp>
      <p:sp>
        <p:nvSpPr>
          <p:cNvPr id="8" name="Title 1"/>
          <p:cNvSpPr>
            <a:spLocks noGrp="1"/>
          </p:cNvSpPr>
          <p:nvPr>
            <p:ph type="title" idx="4294967295"/>
          </p:nvPr>
        </p:nvSpPr>
        <p:spPr>
          <a:xfrm>
            <a:off x="0" y="822325"/>
            <a:ext cx="6784975" cy="400050"/>
          </a:xfrm>
        </p:spPr>
        <p:txBody>
          <a:bodyPr>
            <a:noAutofit/>
          </a:bodyPr>
          <a:lstStyle/>
          <a:p>
            <a:pPr algn="ctr"/>
            <a:r>
              <a:rPr lang="pt-BR" sz="2000" b="1" dirty="0">
                <a:solidFill>
                  <a:schemeClr val="accent6"/>
                </a:solidFill>
                <a:latin typeface="+mn-lt"/>
              </a:rPr>
              <a:t>TRANSPORTE DE CARGAS</a:t>
            </a:r>
          </a:p>
        </p:txBody>
      </p:sp>
    </p:spTree>
    <p:extLst>
      <p:ext uri="{BB962C8B-B14F-4D97-AF65-F5344CB8AC3E}">
        <p14:creationId xmlns:p14="http://schemas.microsoft.com/office/powerpoint/2010/main" val="129678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barn(inVertical)">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8" presetClass="entr" presetSubtype="6"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strips(downRight)">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8" presetClass="entr" presetSubtype="6"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strips(downRight)">
                                      <p:cBhvr>
                                        <p:cTn id="2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13" grpId="0"/>
    </p:bldLst>
  </p:timing>
</p:sld>
</file>

<file path=ppt/slides/slide1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tângulo 3"/>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grpSp>
        <p:nvGrpSpPr>
          <p:cNvPr id="15" name="Grupo 14"/>
          <p:cNvGrpSpPr/>
          <p:nvPr/>
        </p:nvGrpSpPr>
        <p:grpSpPr>
          <a:xfrm>
            <a:off x="354959" y="1910370"/>
            <a:ext cx="6305860" cy="4620967"/>
            <a:chOff x="412425" y="1239866"/>
            <a:chExt cx="6305860" cy="4620967"/>
          </a:xfrm>
        </p:grpSpPr>
        <p:graphicFrame>
          <p:nvGraphicFramePr>
            <p:cNvPr id="6" name="Diagram 5"/>
            <p:cNvGraphicFramePr/>
            <p:nvPr>
              <p:extLst>
                <p:ext uri="{D42A27DB-BD31-4B8C-83A1-F6EECF244321}">
                  <p14:modId xmlns:p14="http://schemas.microsoft.com/office/powerpoint/2010/main" val="2661123291"/>
                </p:ext>
              </p:extLst>
            </p:nvPr>
          </p:nvGraphicFramePr>
          <p:xfrm>
            <a:off x="412425" y="1239866"/>
            <a:ext cx="6282841" cy="46209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Picture 10"/>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15581" y="3576292"/>
              <a:ext cx="658571" cy="37714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8" name="Picture 12"/>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18297" y="5294551"/>
              <a:ext cx="1053141" cy="29759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9" name="Picture 11"/>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349274" y="2036475"/>
              <a:ext cx="814387" cy="5222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0" name="Picture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98202" y="1990985"/>
              <a:ext cx="1016000" cy="51593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1" name="Picture 13"/>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5268898" y="2068186"/>
              <a:ext cx="1449387" cy="51593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sp>
        <p:nvSpPr>
          <p:cNvPr id="12" name="TextBox 8"/>
          <p:cNvSpPr txBox="1"/>
          <p:nvPr/>
        </p:nvSpPr>
        <p:spPr>
          <a:xfrm>
            <a:off x="7213348" y="2661489"/>
            <a:ext cx="4367353" cy="92333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285750" indent="-285750">
              <a:buFontTx/>
              <a:buChar char="-"/>
            </a:pPr>
            <a:r>
              <a:rPr lang="pt-BR" dirty="0">
                <a:solidFill>
                  <a:schemeClr val="accent6"/>
                </a:solidFill>
                <a:cs typeface="Helvetica Neue"/>
              </a:rPr>
              <a:t>HIDROVIÁRIO (fluvial): 34 mil;</a:t>
            </a:r>
          </a:p>
          <a:p>
            <a:pPr marL="285750" indent="-285750">
              <a:buFontTx/>
              <a:buChar char="-"/>
            </a:pPr>
            <a:r>
              <a:rPr lang="pt-BR" dirty="0">
                <a:solidFill>
                  <a:schemeClr val="accent6"/>
                </a:solidFill>
                <a:cs typeface="Helvetica Neue"/>
              </a:rPr>
              <a:t>RODOVIÁRIO:            440 mil;</a:t>
            </a:r>
          </a:p>
          <a:p>
            <a:pPr marL="285750" indent="-285750">
              <a:buFontTx/>
              <a:buChar char="-"/>
            </a:pPr>
            <a:r>
              <a:rPr lang="pt-BR" dirty="0">
                <a:solidFill>
                  <a:schemeClr val="accent6"/>
                </a:solidFill>
                <a:cs typeface="Helvetica Neue"/>
              </a:rPr>
              <a:t>FERROVIÁRIO:            1,4 milhão.</a:t>
            </a:r>
          </a:p>
        </p:txBody>
      </p:sp>
      <p:sp>
        <p:nvSpPr>
          <p:cNvPr id="2" name="Retângulo 1"/>
          <p:cNvSpPr/>
          <p:nvPr/>
        </p:nvSpPr>
        <p:spPr>
          <a:xfrm>
            <a:off x="10456675" y="3733555"/>
            <a:ext cx="1124026" cy="307777"/>
          </a:xfrm>
          <a:prstGeom prst="rect">
            <a:avLst/>
          </a:prstGeom>
        </p:spPr>
        <p:txBody>
          <a:bodyPr wrap="none">
            <a:spAutoFit/>
          </a:bodyPr>
          <a:lstStyle/>
          <a:p>
            <a:r>
              <a:rPr lang="pt-BR" sz="1400" b="1" i="1" dirty="0">
                <a:solidFill>
                  <a:schemeClr val="accent6"/>
                </a:solidFill>
                <a:cs typeface="Helvetica Neue"/>
              </a:rPr>
              <a:t>CNT, 2014</a:t>
            </a:r>
          </a:p>
        </p:txBody>
      </p:sp>
      <p:sp>
        <p:nvSpPr>
          <p:cNvPr id="13" name="TextBox 4"/>
          <p:cNvSpPr txBox="1"/>
          <p:nvPr/>
        </p:nvSpPr>
        <p:spPr>
          <a:xfrm>
            <a:off x="7213348" y="4367176"/>
            <a:ext cx="4835471" cy="707886"/>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rtlCol="0">
            <a:spAutoFit/>
          </a:bodyPr>
          <a:lstStyle/>
          <a:p>
            <a:pPr algn="just"/>
            <a:r>
              <a:rPr lang="pt-BR" sz="2000" b="1" dirty="0">
                <a:solidFill>
                  <a:srgbClr val="FF0000"/>
                </a:solidFill>
              </a:rPr>
              <a:t>QUAL O MODAL MAIS USADO NO COMÉRCIO INTERNACIONAL?</a:t>
            </a:r>
          </a:p>
        </p:txBody>
      </p:sp>
      <p:sp>
        <p:nvSpPr>
          <p:cNvPr id="14" name="Retângulo 13"/>
          <p:cNvSpPr/>
          <p:nvPr/>
        </p:nvSpPr>
        <p:spPr>
          <a:xfrm>
            <a:off x="6660819" y="5703445"/>
            <a:ext cx="3495613" cy="523220"/>
          </a:xfrm>
          <a:prstGeom prst="rect">
            <a:avLst/>
          </a:prstGeom>
        </p:spPr>
        <p:txBody>
          <a:bodyPr wrap="square">
            <a:spAutoFit/>
          </a:bodyPr>
          <a:lstStyle/>
          <a:p>
            <a:pPr algn="just"/>
            <a:r>
              <a:rPr lang="pt-BR" sz="1400" dirty="0">
                <a:solidFill>
                  <a:schemeClr val="accent6"/>
                </a:solidFill>
                <a:cs typeface="Helvetica Neue"/>
              </a:rPr>
              <a:t>*Alguns autores consideram o transporte </a:t>
            </a:r>
            <a:r>
              <a:rPr lang="pt-BR" sz="1400" dirty="0" err="1">
                <a:solidFill>
                  <a:schemeClr val="accent6"/>
                </a:solidFill>
                <a:cs typeface="Helvetica Neue"/>
              </a:rPr>
              <a:t>dutoviário</a:t>
            </a:r>
            <a:r>
              <a:rPr lang="pt-BR" sz="1400" dirty="0">
                <a:solidFill>
                  <a:schemeClr val="accent6"/>
                </a:solidFill>
                <a:cs typeface="Helvetica Neue"/>
              </a:rPr>
              <a:t> como “terrestre”</a:t>
            </a:r>
            <a:endParaRPr lang="pt-BR" sz="1400" dirty="0"/>
          </a:p>
        </p:txBody>
      </p:sp>
      <p:sp>
        <p:nvSpPr>
          <p:cNvPr id="17" name="Title 1"/>
          <p:cNvSpPr>
            <a:spLocks noGrp="1"/>
          </p:cNvSpPr>
          <p:nvPr>
            <p:ph type="title" idx="4294967295"/>
          </p:nvPr>
        </p:nvSpPr>
        <p:spPr>
          <a:xfrm>
            <a:off x="0" y="822325"/>
            <a:ext cx="6784975" cy="400050"/>
          </a:xfrm>
        </p:spPr>
        <p:txBody>
          <a:bodyPr>
            <a:noAutofit/>
          </a:bodyPr>
          <a:lstStyle/>
          <a:p>
            <a:pPr algn="ctr"/>
            <a:r>
              <a:rPr lang="pt-BR" sz="2000" b="1" dirty="0">
                <a:solidFill>
                  <a:schemeClr val="accent6"/>
                </a:solidFill>
                <a:latin typeface="+mn-lt"/>
              </a:rPr>
              <a:t>TRANSPORTE DE CARGAS - CLASSIFICAÇÃO</a:t>
            </a:r>
          </a:p>
        </p:txBody>
      </p:sp>
      <p:sp>
        <p:nvSpPr>
          <p:cNvPr id="18" name="Retângulo 17"/>
          <p:cNvSpPr/>
          <p:nvPr/>
        </p:nvSpPr>
        <p:spPr>
          <a:xfrm>
            <a:off x="1988594" y="1534089"/>
            <a:ext cx="3015569" cy="369332"/>
          </a:xfrm>
          <a:prstGeom prst="rect">
            <a:avLst/>
          </a:prstGeom>
        </p:spPr>
        <p:txBody>
          <a:bodyPr wrap="none">
            <a:spAutoFit/>
          </a:bodyPr>
          <a:lstStyle/>
          <a:p>
            <a:r>
              <a:rPr lang="pt-BR" b="1" dirty="0">
                <a:solidFill>
                  <a:schemeClr val="accent6"/>
                </a:solidFill>
              </a:rPr>
              <a:t>QUANTO À MODALIDADE</a:t>
            </a:r>
            <a:endParaRPr lang="pt-BR" dirty="0"/>
          </a:p>
        </p:txBody>
      </p:sp>
      <p:sp>
        <p:nvSpPr>
          <p:cNvPr id="19" name="Retângulo 18"/>
          <p:cNvSpPr/>
          <p:nvPr/>
        </p:nvSpPr>
        <p:spPr>
          <a:xfrm>
            <a:off x="7213348" y="2233161"/>
            <a:ext cx="4527201" cy="369332"/>
          </a:xfrm>
          <a:prstGeom prst="rect">
            <a:avLst/>
          </a:prstGeom>
        </p:spPr>
        <p:txBody>
          <a:bodyPr wrap="none">
            <a:spAutoFit/>
          </a:bodyPr>
          <a:lstStyle/>
          <a:p>
            <a:r>
              <a:rPr lang="pt-BR" b="1" dirty="0">
                <a:solidFill>
                  <a:schemeClr val="accent6"/>
                </a:solidFill>
                <a:cs typeface="Helvetica Neue"/>
              </a:rPr>
              <a:t>CUSTO DE INSTALAÇÃO (US$) POR KM:</a:t>
            </a:r>
          </a:p>
        </p:txBody>
      </p:sp>
    </p:spTree>
    <p:extLst>
      <p:ext uri="{BB962C8B-B14F-4D97-AF65-F5344CB8AC3E}">
        <p14:creationId xmlns:p14="http://schemas.microsoft.com/office/powerpoint/2010/main" val="2979657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18"/>
                                        </p:tgtEl>
                                        <p:attrNameLst>
                                          <p:attrName>style.visibility</p:attrName>
                                        </p:attrNameLst>
                                      </p:cBhvr>
                                      <p:to>
                                        <p:strVal val="visible"/>
                                      </p:to>
                                    </p:set>
                                    <p:anim calcmode="lin" valueType="num">
                                      <p:cBhvr additive="base">
                                        <p:cTn id="14" dur="500" fill="hold"/>
                                        <p:tgtEl>
                                          <p:spTgt spid="18"/>
                                        </p:tgtEl>
                                        <p:attrNameLst>
                                          <p:attrName>ppt_x</p:attrName>
                                        </p:attrNameLst>
                                      </p:cBhvr>
                                      <p:tavLst>
                                        <p:tav tm="0">
                                          <p:val>
                                            <p:strVal val="#ppt_x"/>
                                          </p:val>
                                        </p:tav>
                                        <p:tav tm="100000">
                                          <p:val>
                                            <p:strVal val="#ppt_x"/>
                                          </p:val>
                                        </p:tav>
                                      </p:tavLst>
                                    </p:anim>
                                    <p:anim calcmode="lin" valueType="num">
                                      <p:cBhvr additive="base">
                                        <p:cTn id="15"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barn(inVertical)">
                                      <p:cBhvr>
                                        <p:cTn id="20" dur="500"/>
                                        <p:tgtEl>
                                          <p:spTgt spid="15"/>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barn(inVertical)">
                                      <p:cBhvr>
                                        <p:cTn id="23" dur="500"/>
                                        <p:tgtEl>
                                          <p:spTgt spid="14"/>
                                        </p:tgtEl>
                                      </p:cBhvr>
                                    </p:animEffect>
                                  </p:childTnLst>
                                </p:cTn>
                              </p:par>
                            </p:childTnLst>
                          </p:cTn>
                        </p:par>
                      </p:childTnLst>
                    </p:cTn>
                  </p:par>
                  <p:par>
                    <p:cTn id="24" fill="hold">
                      <p:stCondLst>
                        <p:cond delay="indefinite"/>
                      </p:stCondLst>
                      <p:childTnLst>
                        <p:par>
                          <p:cTn id="25" fill="hold">
                            <p:stCondLst>
                              <p:cond delay="0"/>
                            </p:stCondLst>
                            <p:childTnLst>
                              <p:par>
                                <p:cTn id="26" presetID="47" presetClass="entr" presetSubtype="0"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1000"/>
                                        <p:tgtEl>
                                          <p:spTgt spid="19"/>
                                        </p:tgtEl>
                                      </p:cBhvr>
                                    </p:animEffect>
                                    <p:anim calcmode="lin" valueType="num">
                                      <p:cBhvr>
                                        <p:cTn id="29" dur="1000" fill="hold"/>
                                        <p:tgtEl>
                                          <p:spTgt spid="19"/>
                                        </p:tgtEl>
                                        <p:attrNameLst>
                                          <p:attrName>ppt_x</p:attrName>
                                        </p:attrNameLst>
                                      </p:cBhvr>
                                      <p:tavLst>
                                        <p:tav tm="0">
                                          <p:val>
                                            <p:strVal val="#ppt_x"/>
                                          </p:val>
                                        </p:tav>
                                        <p:tav tm="100000">
                                          <p:val>
                                            <p:strVal val="#ppt_x"/>
                                          </p:val>
                                        </p:tav>
                                      </p:tavLst>
                                    </p:anim>
                                    <p:anim calcmode="lin" valueType="num">
                                      <p:cBhvr>
                                        <p:cTn id="30"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1000"/>
                                        <p:tgtEl>
                                          <p:spTgt spid="12"/>
                                        </p:tgtEl>
                                      </p:cBhvr>
                                    </p:animEffect>
                                    <p:anim calcmode="lin" valueType="num">
                                      <p:cBhvr>
                                        <p:cTn id="36" dur="1000" fill="hold"/>
                                        <p:tgtEl>
                                          <p:spTgt spid="12"/>
                                        </p:tgtEl>
                                        <p:attrNameLst>
                                          <p:attrName>ppt_x</p:attrName>
                                        </p:attrNameLst>
                                      </p:cBhvr>
                                      <p:tavLst>
                                        <p:tav tm="0">
                                          <p:val>
                                            <p:strVal val="#ppt_x"/>
                                          </p:val>
                                        </p:tav>
                                        <p:tav tm="100000">
                                          <p:val>
                                            <p:strVal val="#ppt_x"/>
                                          </p:val>
                                        </p:tav>
                                      </p:tavLst>
                                    </p:anim>
                                    <p:anim calcmode="lin" valueType="num">
                                      <p:cBhvr>
                                        <p:cTn id="37" dur="1000" fill="hold"/>
                                        <p:tgtEl>
                                          <p:spTgt spid="12"/>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2"/>
                                        </p:tgtEl>
                                        <p:attrNameLst>
                                          <p:attrName>style.visibility</p:attrName>
                                        </p:attrNameLst>
                                      </p:cBhvr>
                                      <p:to>
                                        <p:strVal val="visible"/>
                                      </p:to>
                                    </p:set>
                                    <p:animEffect transition="in" filter="fade">
                                      <p:cBhvr>
                                        <p:cTn id="40" dur="1000"/>
                                        <p:tgtEl>
                                          <p:spTgt spid="2"/>
                                        </p:tgtEl>
                                      </p:cBhvr>
                                    </p:animEffect>
                                    <p:anim calcmode="lin" valueType="num">
                                      <p:cBhvr>
                                        <p:cTn id="41" dur="1000" fill="hold"/>
                                        <p:tgtEl>
                                          <p:spTgt spid="2"/>
                                        </p:tgtEl>
                                        <p:attrNameLst>
                                          <p:attrName>ppt_x</p:attrName>
                                        </p:attrNameLst>
                                      </p:cBhvr>
                                      <p:tavLst>
                                        <p:tav tm="0">
                                          <p:val>
                                            <p:strVal val="#ppt_x"/>
                                          </p:val>
                                        </p:tav>
                                        <p:tav tm="100000">
                                          <p:val>
                                            <p:strVal val="#ppt_x"/>
                                          </p:val>
                                        </p:tav>
                                      </p:tavLst>
                                    </p:anim>
                                    <p:anim calcmode="lin" valueType="num">
                                      <p:cBhvr>
                                        <p:cTn id="42"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wipe(down)">
                                      <p:cBhvr>
                                        <p:cTn id="4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 grpId="0"/>
      <p:bldP spid="13" grpId="0"/>
      <p:bldP spid="14" grpId="0"/>
      <p:bldP spid="17" grpId="0"/>
      <p:bldP spid="18" grpId="0"/>
      <p:bldP spid="19" grpId="0"/>
    </p:bldLst>
  </p:timing>
</p:sld>
</file>

<file path=ppt/slides/slide1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tângulo 3"/>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
        <p:nvSpPr>
          <p:cNvPr id="17" name="Title 1"/>
          <p:cNvSpPr>
            <a:spLocks noGrp="1"/>
          </p:cNvSpPr>
          <p:nvPr>
            <p:ph type="title" idx="4294967295"/>
          </p:nvPr>
        </p:nvSpPr>
        <p:spPr>
          <a:xfrm>
            <a:off x="0" y="822325"/>
            <a:ext cx="6784975" cy="400050"/>
          </a:xfrm>
        </p:spPr>
        <p:txBody>
          <a:bodyPr>
            <a:noAutofit/>
          </a:bodyPr>
          <a:lstStyle/>
          <a:p>
            <a:pPr algn="ctr"/>
            <a:r>
              <a:rPr lang="pt-BR" sz="2000" b="1" dirty="0">
                <a:solidFill>
                  <a:schemeClr val="accent6"/>
                </a:solidFill>
                <a:latin typeface="+mn-lt"/>
              </a:rPr>
              <a:t>MODAIS DE TRANSPORTE</a:t>
            </a:r>
          </a:p>
        </p:txBody>
      </p:sp>
      <p:graphicFrame>
        <p:nvGraphicFramePr>
          <p:cNvPr id="16" name="Table 16"/>
          <p:cNvGraphicFramePr>
            <a:graphicFrameLocks noGrp="1"/>
          </p:cNvGraphicFramePr>
          <p:nvPr/>
        </p:nvGraphicFramePr>
        <p:xfrm>
          <a:off x="574665" y="2609459"/>
          <a:ext cx="5004725" cy="3073345"/>
        </p:xfrm>
        <a:graphic>
          <a:graphicData uri="http://schemas.openxmlformats.org/drawingml/2006/table">
            <a:tbl>
              <a:tblPr firstRow="1" bandRow="1">
                <a:tableStyleId>{10A1B5D5-9B99-4C35-A422-299274C87663}</a:tableStyleId>
              </a:tblPr>
              <a:tblGrid>
                <a:gridCol w="1517606">
                  <a:extLst>
                    <a:ext uri="{9D8B030D-6E8A-4147-A177-3AD203B41FA5}">
                      <a16:colId xmlns:a16="http://schemas.microsoft.com/office/drawing/2014/main" val="20000"/>
                    </a:ext>
                  </a:extLst>
                </a:gridCol>
                <a:gridCol w="1100380">
                  <a:extLst>
                    <a:ext uri="{9D8B030D-6E8A-4147-A177-3AD203B41FA5}">
                      <a16:colId xmlns:a16="http://schemas.microsoft.com/office/drawing/2014/main" val="20001"/>
                    </a:ext>
                  </a:extLst>
                </a:gridCol>
                <a:gridCol w="2386739">
                  <a:extLst>
                    <a:ext uri="{9D8B030D-6E8A-4147-A177-3AD203B41FA5}">
                      <a16:colId xmlns:a16="http://schemas.microsoft.com/office/drawing/2014/main" val="20002"/>
                    </a:ext>
                  </a:extLst>
                </a:gridCol>
              </a:tblGrid>
              <a:tr h="1015050">
                <a:tc>
                  <a:txBody>
                    <a:bodyPr/>
                    <a:lstStyle/>
                    <a:p>
                      <a:pPr algn="ctr"/>
                      <a:r>
                        <a:rPr lang="pt-BR" dirty="0">
                          <a:latin typeface="+mn-lt"/>
                        </a:rPr>
                        <a:t>MODAL</a:t>
                      </a:r>
                    </a:p>
                  </a:txBody>
                  <a:tcPr anchor="ctr"/>
                </a:tc>
                <a:tc>
                  <a:txBody>
                    <a:bodyPr/>
                    <a:lstStyle/>
                    <a:p>
                      <a:pPr algn="ctr"/>
                      <a:r>
                        <a:rPr lang="pt-BR" dirty="0">
                          <a:latin typeface="+mn-lt"/>
                        </a:rPr>
                        <a:t>CUSTO</a:t>
                      </a:r>
                    </a:p>
                  </a:txBody>
                  <a:tcPr anchor="ctr"/>
                </a:tc>
                <a:tc>
                  <a:txBody>
                    <a:bodyPr/>
                    <a:lstStyle/>
                    <a:p>
                      <a:pPr algn="ctr"/>
                      <a:r>
                        <a:rPr lang="pt-BR" dirty="0">
                          <a:latin typeface="+mn-lt"/>
                        </a:rPr>
                        <a:t>TEMPO MÉDIO DE ENTREGA</a:t>
                      </a:r>
                    </a:p>
                  </a:txBody>
                  <a:tcPr anchor="ctr"/>
                </a:tc>
                <a:extLst>
                  <a:ext uri="{0D108BD9-81ED-4DB2-BD59-A6C34878D82A}">
                    <a16:rowId xmlns:a16="http://schemas.microsoft.com/office/drawing/2014/main" val="10000"/>
                  </a:ext>
                </a:extLst>
              </a:tr>
              <a:tr h="411659">
                <a:tc>
                  <a:txBody>
                    <a:bodyPr/>
                    <a:lstStyle/>
                    <a:p>
                      <a:r>
                        <a:rPr lang="pt-BR" dirty="0">
                          <a:latin typeface="+mn-lt"/>
                        </a:rPr>
                        <a:t>Aeroviário</a:t>
                      </a:r>
                    </a:p>
                  </a:txBody>
                  <a:tcPr/>
                </a:tc>
                <a:tc>
                  <a:txBody>
                    <a:bodyPr/>
                    <a:lstStyle/>
                    <a:p>
                      <a:pPr algn="ctr"/>
                      <a:endParaRPr lang="pt-BR" dirty="0">
                        <a:latin typeface="+mn-lt"/>
                      </a:endParaRPr>
                    </a:p>
                  </a:txBody>
                  <a:tcPr/>
                </a:tc>
                <a:tc>
                  <a:txBody>
                    <a:bodyPr/>
                    <a:lstStyle/>
                    <a:p>
                      <a:pPr algn="ctr"/>
                      <a:endParaRPr lang="pt-BR" dirty="0">
                        <a:latin typeface="+mn-lt"/>
                      </a:endParaRPr>
                    </a:p>
                  </a:txBody>
                  <a:tcPr/>
                </a:tc>
                <a:extLst>
                  <a:ext uri="{0D108BD9-81ED-4DB2-BD59-A6C34878D82A}">
                    <a16:rowId xmlns:a16="http://schemas.microsoft.com/office/drawing/2014/main" val="10001"/>
                  </a:ext>
                </a:extLst>
              </a:tr>
              <a:tr h="411659">
                <a:tc>
                  <a:txBody>
                    <a:bodyPr/>
                    <a:lstStyle/>
                    <a:p>
                      <a:r>
                        <a:rPr lang="pt-BR" dirty="0">
                          <a:latin typeface="+mn-lt"/>
                        </a:rPr>
                        <a:t>Rodoviário</a:t>
                      </a:r>
                    </a:p>
                  </a:txBody>
                  <a:tcPr/>
                </a:tc>
                <a:tc>
                  <a:txBody>
                    <a:bodyPr/>
                    <a:lstStyle/>
                    <a:p>
                      <a:pPr algn="ctr"/>
                      <a:endParaRPr lang="pt-BR" dirty="0">
                        <a:latin typeface="+mn-lt"/>
                      </a:endParaRPr>
                    </a:p>
                  </a:txBody>
                  <a:tcPr/>
                </a:tc>
                <a:tc>
                  <a:txBody>
                    <a:bodyPr/>
                    <a:lstStyle/>
                    <a:p>
                      <a:pPr algn="ctr"/>
                      <a:endParaRPr lang="pt-BR" dirty="0">
                        <a:latin typeface="+mn-lt"/>
                      </a:endParaRPr>
                    </a:p>
                  </a:txBody>
                  <a:tcPr/>
                </a:tc>
                <a:extLst>
                  <a:ext uri="{0D108BD9-81ED-4DB2-BD59-A6C34878D82A}">
                    <a16:rowId xmlns:a16="http://schemas.microsoft.com/office/drawing/2014/main" val="10002"/>
                  </a:ext>
                </a:extLst>
              </a:tr>
              <a:tr h="411659">
                <a:tc>
                  <a:txBody>
                    <a:bodyPr/>
                    <a:lstStyle/>
                    <a:p>
                      <a:r>
                        <a:rPr lang="pt-BR" dirty="0">
                          <a:latin typeface="+mn-lt"/>
                        </a:rPr>
                        <a:t>Ferroviário</a:t>
                      </a:r>
                    </a:p>
                  </a:txBody>
                  <a:tcPr/>
                </a:tc>
                <a:tc>
                  <a:txBody>
                    <a:bodyPr/>
                    <a:lstStyle/>
                    <a:p>
                      <a:pPr algn="ctr"/>
                      <a:endParaRPr lang="pt-BR" dirty="0">
                        <a:latin typeface="+mn-lt"/>
                      </a:endParaRPr>
                    </a:p>
                  </a:txBody>
                  <a:tcPr/>
                </a:tc>
                <a:tc>
                  <a:txBody>
                    <a:bodyPr/>
                    <a:lstStyle/>
                    <a:p>
                      <a:pPr algn="ctr"/>
                      <a:endParaRPr lang="pt-BR" dirty="0">
                        <a:latin typeface="+mn-lt"/>
                      </a:endParaRPr>
                    </a:p>
                  </a:txBody>
                  <a:tcPr/>
                </a:tc>
                <a:extLst>
                  <a:ext uri="{0D108BD9-81ED-4DB2-BD59-A6C34878D82A}">
                    <a16:rowId xmlns:a16="http://schemas.microsoft.com/office/drawing/2014/main" val="10003"/>
                  </a:ext>
                </a:extLst>
              </a:tr>
              <a:tr h="411659">
                <a:tc>
                  <a:txBody>
                    <a:bodyPr/>
                    <a:lstStyle/>
                    <a:p>
                      <a:r>
                        <a:rPr lang="pt-BR" dirty="0">
                          <a:latin typeface="+mn-lt"/>
                        </a:rPr>
                        <a:t>Aquaviário</a:t>
                      </a:r>
                    </a:p>
                  </a:txBody>
                  <a:tcPr/>
                </a:tc>
                <a:tc>
                  <a:txBody>
                    <a:bodyPr/>
                    <a:lstStyle/>
                    <a:p>
                      <a:pPr algn="ctr"/>
                      <a:endParaRPr lang="pt-BR" dirty="0">
                        <a:latin typeface="+mn-lt"/>
                      </a:endParaRPr>
                    </a:p>
                  </a:txBody>
                  <a:tcPr/>
                </a:tc>
                <a:tc>
                  <a:txBody>
                    <a:bodyPr/>
                    <a:lstStyle/>
                    <a:p>
                      <a:pPr algn="ctr"/>
                      <a:endParaRPr lang="pt-BR" dirty="0">
                        <a:latin typeface="+mn-lt"/>
                      </a:endParaRPr>
                    </a:p>
                  </a:txBody>
                  <a:tcPr/>
                </a:tc>
                <a:extLst>
                  <a:ext uri="{0D108BD9-81ED-4DB2-BD59-A6C34878D82A}">
                    <a16:rowId xmlns:a16="http://schemas.microsoft.com/office/drawing/2014/main" val="10004"/>
                  </a:ext>
                </a:extLst>
              </a:tr>
              <a:tr h="411659">
                <a:tc>
                  <a:txBody>
                    <a:bodyPr/>
                    <a:lstStyle/>
                    <a:p>
                      <a:r>
                        <a:rPr lang="pt-BR" dirty="0" err="1">
                          <a:latin typeface="+mn-lt"/>
                        </a:rPr>
                        <a:t>Dutoviário</a:t>
                      </a:r>
                      <a:endParaRPr lang="pt-BR" dirty="0">
                        <a:latin typeface="+mn-lt"/>
                      </a:endParaRPr>
                    </a:p>
                  </a:txBody>
                  <a:tcPr/>
                </a:tc>
                <a:tc>
                  <a:txBody>
                    <a:bodyPr/>
                    <a:lstStyle/>
                    <a:p>
                      <a:pPr algn="ctr"/>
                      <a:endParaRPr lang="pt-BR" dirty="0">
                        <a:latin typeface="+mn-lt"/>
                      </a:endParaRPr>
                    </a:p>
                  </a:txBody>
                  <a:tcPr/>
                </a:tc>
                <a:tc>
                  <a:txBody>
                    <a:bodyPr/>
                    <a:lstStyle/>
                    <a:p>
                      <a:pPr algn="ctr"/>
                      <a:endParaRPr lang="pt-BR" dirty="0">
                        <a:latin typeface="+mn-lt"/>
                      </a:endParaRPr>
                    </a:p>
                  </a:txBody>
                  <a:tcPr/>
                </a:tc>
                <a:extLst>
                  <a:ext uri="{0D108BD9-81ED-4DB2-BD59-A6C34878D82A}">
                    <a16:rowId xmlns:a16="http://schemas.microsoft.com/office/drawing/2014/main" val="10005"/>
                  </a:ext>
                </a:extLst>
              </a:tr>
            </a:tbl>
          </a:graphicData>
        </a:graphic>
      </p:graphicFrame>
      <p:sp>
        <p:nvSpPr>
          <p:cNvPr id="5" name="Seta para baixo 4"/>
          <p:cNvSpPr/>
          <p:nvPr/>
        </p:nvSpPr>
        <p:spPr bwMode="auto">
          <a:xfrm>
            <a:off x="4045683" y="3736024"/>
            <a:ext cx="659760" cy="1875843"/>
          </a:xfrm>
          <a:prstGeom prst="downArrow">
            <a:avLst>
              <a:gd name="adj1" fmla="val 25313"/>
              <a:gd name="adj2" fmla="val 41128"/>
            </a:avLst>
          </a:prstGeom>
          <a:solidFill>
            <a:srgbClr val="FF0000"/>
          </a:solidFill>
          <a:ln w="9525" cap="flat" cmpd="sng" algn="ctr">
            <a:noFill/>
            <a:prstDash val="solid"/>
            <a:round/>
            <a:headEnd type="none" w="med" len="med"/>
            <a:tailEnd type="none" w="med" len="me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vert="horz" wrap="square" lIns="91440" tIns="45720" rIns="91440" bIns="45720" numCol="1" rtlCol="0" anchor="t" anchorCtr="0" compatLnSpc="1">
            <a:prstTxWarp prst="textNoShape">
              <a:avLst/>
            </a:prstTxWarp>
          </a:bodyPr>
          <a:lstStyle/>
          <a:p>
            <a:pPr marL="0" marR="0" indent="0" algn="l"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pPr>
            <a:endParaRPr kumimoji="0" lang="pt-BR" sz="1800" b="0" i="0" u="none" strike="noStrike" cap="none" normalizeH="0" baseline="0">
              <a:ln>
                <a:noFill/>
              </a:ln>
              <a:solidFill>
                <a:schemeClr val="bg1"/>
              </a:solidFill>
              <a:effectLst/>
              <a:latin typeface="Arial" panose="020B0604020202020204" pitchFamily="34" charset="0"/>
              <a:cs typeface="Arial" panose="020B0604020202020204" pitchFamily="34" charset="0"/>
            </a:endParaRPr>
          </a:p>
        </p:txBody>
      </p:sp>
      <p:sp>
        <p:nvSpPr>
          <p:cNvPr id="18" name="Seta para baixo 17"/>
          <p:cNvSpPr/>
          <p:nvPr/>
        </p:nvSpPr>
        <p:spPr bwMode="auto">
          <a:xfrm rot="10800000">
            <a:off x="2306903" y="3678872"/>
            <a:ext cx="659760" cy="1875843"/>
          </a:xfrm>
          <a:prstGeom prst="downArrow">
            <a:avLst>
              <a:gd name="adj1" fmla="val 25313"/>
              <a:gd name="adj2" fmla="val 41128"/>
            </a:avLst>
          </a:prstGeom>
          <a:solidFill>
            <a:srgbClr val="FF0000"/>
          </a:solidFill>
          <a:ln w="9525" cap="flat" cmpd="sng" algn="ctr">
            <a:noFill/>
            <a:prstDash val="solid"/>
            <a:round/>
            <a:headEnd type="none" w="med" len="med"/>
            <a:tailEnd type="none" w="med" len="me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vert="horz" wrap="square" lIns="91440" tIns="45720" rIns="91440" bIns="45720" numCol="1" rtlCol="0" anchor="t" anchorCtr="0" compatLnSpc="1">
            <a:prstTxWarp prst="textNoShape">
              <a:avLst/>
            </a:prstTxWarp>
          </a:bodyPr>
          <a:lstStyle/>
          <a:p>
            <a:pPr marL="0" marR="0" indent="0" algn="l"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pPr>
            <a:endParaRPr kumimoji="0" lang="pt-BR" sz="1800" b="0" i="0" u="none" strike="noStrike" cap="none" normalizeH="0" baseline="0">
              <a:ln>
                <a:noFill/>
              </a:ln>
              <a:solidFill>
                <a:schemeClr val="bg1"/>
              </a:solidFill>
              <a:effectLst/>
              <a:latin typeface="Arial" panose="020B0604020202020204" pitchFamily="34" charset="0"/>
              <a:cs typeface="Arial" panose="020B0604020202020204" pitchFamily="34" charset="0"/>
            </a:endParaRPr>
          </a:p>
        </p:txBody>
      </p:sp>
      <p:sp>
        <p:nvSpPr>
          <p:cNvPr id="19" name="TextBox 12"/>
          <p:cNvSpPr txBox="1"/>
          <p:nvPr/>
        </p:nvSpPr>
        <p:spPr>
          <a:xfrm>
            <a:off x="1939439" y="2189720"/>
            <a:ext cx="2275175" cy="400110"/>
          </a:xfrm>
          <a:prstGeom prst="rect">
            <a:avLst/>
          </a:prstGeom>
          <a:noFill/>
        </p:spPr>
        <p:txBody>
          <a:bodyPr wrap="none" rtlCol="0">
            <a:spAutoFit/>
          </a:bodyPr>
          <a:lstStyle/>
          <a:p>
            <a:r>
              <a:rPr lang="pt-BR" sz="2000" b="1" dirty="0">
                <a:solidFill>
                  <a:schemeClr val="accent6"/>
                </a:solidFill>
                <a:cs typeface="Helvetica Neue"/>
              </a:rPr>
              <a:t>CUSTO x TEMPO</a:t>
            </a:r>
          </a:p>
        </p:txBody>
      </p:sp>
      <p:sp>
        <p:nvSpPr>
          <p:cNvPr id="20" name="Rectangle 10"/>
          <p:cNvSpPr/>
          <p:nvPr/>
        </p:nvSpPr>
        <p:spPr>
          <a:xfrm>
            <a:off x="5826135" y="2469758"/>
            <a:ext cx="5937080" cy="1200329"/>
          </a:xfrm>
          <a:prstGeom prst="rect">
            <a:avLst/>
          </a:prstGeom>
        </p:spPr>
        <p:txBody>
          <a:bodyPr wrap="square">
            <a:spAutoFit/>
          </a:bodyPr>
          <a:lstStyle/>
          <a:p>
            <a:pPr algn="just"/>
            <a:r>
              <a:rPr lang="pt-BR" b="1" dirty="0">
                <a:solidFill>
                  <a:schemeClr val="accent6"/>
                </a:solidFill>
              </a:rPr>
              <a:t>Uma chata </a:t>
            </a:r>
            <a:r>
              <a:rPr lang="pt-BR" dirty="0">
                <a:solidFill>
                  <a:schemeClr val="accent6"/>
                </a:solidFill>
              </a:rPr>
              <a:t>de 1.100 t de capacidade transporta o equivalente a </a:t>
            </a:r>
            <a:r>
              <a:rPr lang="pt-BR" b="1" dirty="0">
                <a:solidFill>
                  <a:schemeClr val="accent6"/>
                </a:solidFill>
              </a:rPr>
              <a:t>7,5 aviões </a:t>
            </a:r>
            <a:r>
              <a:rPr lang="pt-BR" dirty="0">
                <a:solidFill>
                  <a:schemeClr val="accent6"/>
                </a:solidFill>
              </a:rPr>
              <a:t>de 150 t de capacidade, </a:t>
            </a:r>
            <a:r>
              <a:rPr lang="pt-BR" b="1" dirty="0">
                <a:solidFill>
                  <a:schemeClr val="accent6"/>
                </a:solidFill>
              </a:rPr>
              <a:t>22 vagões </a:t>
            </a:r>
            <a:r>
              <a:rPr lang="pt-BR" dirty="0">
                <a:solidFill>
                  <a:schemeClr val="accent6"/>
                </a:solidFill>
              </a:rPr>
              <a:t>de 50 t de capacidade </a:t>
            </a:r>
            <a:r>
              <a:rPr lang="pt-BR" i="1" dirty="0">
                <a:solidFill>
                  <a:schemeClr val="accent6"/>
                </a:solidFill>
              </a:rPr>
              <a:t>ou</a:t>
            </a:r>
            <a:r>
              <a:rPr lang="pt-BR" dirty="0">
                <a:solidFill>
                  <a:schemeClr val="accent6"/>
                </a:solidFill>
              </a:rPr>
              <a:t> a </a:t>
            </a:r>
            <a:r>
              <a:rPr lang="pt-BR" b="1" dirty="0">
                <a:solidFill>
                  <a:schemeClr val="accent6"/>
                </a:solidFill>
              </a:rPr>
              <a:t>39 caminhões </a:t>
            </a:r>
            <a:r>
              <a:rPr lang="pt-BR" dirty="0">
                <a:solidFill>
                  <a:schemeClr val="accent6"/>
                </a:solidFill>
              </a:rPr>
              <a:t>de 28 t de capacidade.</a:t>
            </a:r>
          </a:p>
        </p:txBody>
      </p:sp>
      <p:sp>
        <p:nvSpPr>
          <p:cNvPr id="21" name="TextBox 14"/>
          <p:cNvSpPr txBox="1"/>
          <p:nvPr/>
        </p:nvSpPr>
        <p:spPr>
          <a:xfrm>
            <a:off x="6824963" y="1920684"/>
            <a:ext cx="3937296" cy="400110"/>
          </a:xfrm>
          <a:prstGeom prst="rect">
            <a:avLst/>
          </a:prstGeom>
          <a:noFill/>
        </p:spPr>
        <p:txBody>
          <a:bodyPr wrap="none" rtlCol="0">
            <a:spAutoFit/>
          </a:bodyPr>
          <a:lstStyle/>
          <a:p>
            <a:r>
              <a:rPr lang="pt-BR" sz="2000" b="1" dirty="0">
                <a:solidFill>
                  <a:schemeClr val="accent6"/>
                </a:solidFill>
                <a:cs typeface="Helvetica Neue"/>
              </a:rPr>
              <a:t>CAPACIDADE DE TRANSPORTE</a:t>
            </a:r>
          </a:p>
        </p:txBody>
      </p:sp>
      <p:sp>
        <p:nvSpPr>
          <p:cNvPr id="22" name="Rectangle 9"/>
          <p:cNvSpPr/>
          <p:nvPr/>
        </p:nvSpPr>
        <p:spPr>
          <a:xfrm>
            <a:off x="5931408" y="4400216"/>
            <a:ext cx="5939208" cy="2031325"/>
          </a:xfrm>
          <a:prstGeom prst="rect">
            <a:avLst/>
          </a:prstGeom>
        </p:spPr>
        <p:txBody>
          <a:bodyPr wrap="square">
            <a:spAutoFit/>
          </a:bodyPr>
          <a:lstStyle/>
          <a:p>
            <a:pPr algn="just"/>
            <a:r>
              <a:rPr lang="pt-BR" dirty="0">
                <a:solidFill>
                  <a:schemeClr val="accent6"/>
                </a:solidFill>
              </a:rPr>
              <a:t>Consumo de combustível para transportar</a:t>
            </a:r>
            <a:r>
              <a:rPr lang="pt-BR" b="1" dirty="0">
                <a:solidFill>
                  <a:schemeClr val="accent6"/>
                </a:solidFill>
              </a:rPr>
              <a:t> 1 t de carga por 1.000 km</a:t>
            </a:r>
            <a:r>
              <a:rPr lang="pt-BR" dirty="0">
                <a:solidFill>
                  <a:schemeClr val="accent6"/>
                </a:solidFill>
              </a:rPr>
              <a:t>:</a:t>
            </a:r>
          </a:p>
          <a:p>
            <a:pPr algn="just"/>
            <a:endParaRPr lang="pt-BR" dirty="0">
              <a:solidFill>
                <a:schemeClr val="accent6"/>
              </a:solidFill>
            </a:endParaRPr>
          </a:p>
          <a:p>
            <a:pPr marL="285750" indent="-285750" algn="just">
              <a:buFontTx/>
              <a:buChar char="-"/>
            </a:pPr>
            <a:r>
              <a:rPr lang="pt-BR" dirty="0">
                <a:solidFill>
                  <a:schemeClr val="accent6"/>
                </a:solidFill>
              </a:rPr>
              <a:t>AEROVIÁRIO: 0,3 litros;</a:t>
            </a:r>
          </a:p>
          <a:p>
            <a:pPr marL="285750" indent="-285750" algn="just">
              <a:buFontTx/>
              <a:buChar char="-"/>
            </a:pPr>
            <a:r>
              <a:rPr lang="pt-BR" dirty="0">
                <a:solidFill>
                  <a:schemeClr val="accent6"/>
                </a:solidFill>
              </a:rPr>
              <a:t>HIDROVIÁRIO:  5 litros;</a:t>
            </a:r>
          </a:p>
          <a:p>
            <a:pPr marL="285750" indent="-285750" algn="just">
              <a:buFontTx/>
              <a:buChar char="-"/>
            </a:pPr>
            <a:r>
              <a:rPr lang="pt-BR" dirty="0">
                <a:solidFill>
                  <a:schemeClr val="accent6"/>
                </a:solidFill>
              </a:rPr>
              <a:t>FERROVIÁRIO: 10 litros;</a:t>
            </a:r>
          </a:p>
          <a:p>
            <a:pPr marL="285750" indent="-285750" algn="just">
              <a:buFontTx/>
              <a:buChar char="-"/>
            </a:pPr>
            <a:r>
              <a:rPr lang="pt-BR" dirty="0">
                <a:solidFill>
                  <a:schemeClr val="accent6"/>
                </a:solidFill>
              </a:rPr>
              <a:t>RODOVIÁRIO:  96 litros.</a:t>
            </a:r>
          </a:p>
        </p:txBody>
      </p:sp>
      <p:sp>
        <p:nvSpPr>
          <p:cNvPr id="23" name="TextBox 15"/>
          <p:cNvSpPr txBox="1"/>
          <p:nvPr/>
        </p:nvSpPr>
        <p:spPr>
          <a:xfrm>
            <a:off x="7039765" y="3947140"/>
            <a:ext cx="3722494" cy="400110"/>
          </a:xfrm>
          <a:prstGeom prst="rect">
            <a:avLst/>
          </a:prstGeom>
          <a:noFill/>
        </p:spPr>
        <p:txBody>
          <a:bodyPr wrap="none" rtlCol="0">
            <a:spAutoFit/>
          </a:bodyPr>
          <a:lstStyle>
            <a:defPPr>
              <a:defRPr lang="pt-BR"/>
            </a:defPPr>
            <a:lvl1pPr>
              <a:defRPr b="1">
                <a:solidFill>
                  <a:schemeClr val="accent6"/>
                </a:solidFill>
                <a:cs typeface="Helvetica Neue"/>
              </a:defRPr>
            </a:lvl1pPr>
          </a:lstStyle>
          <a:p>
            <a:r>
              <a:rPr lang="pt-BR" sz="2000" dirty="0"/>
              <a:t>CONSUMO DE COMBUSTÍVEL</a:t>
            </a:r>
          </a:p>
        </p:txBody>
      </p:sp>
      <p:sp>
        <p:nvSpPr>
          <p:cNvPr id="24" name="Title 1"/>
          <p:cNvSpPr txBox="1">
            <a:spLocks/>
          </p:cNvSpPr>
          <p:nvPr/>
        </p:nvSpPr>
        <p:spPr bwMode="auto">
          <a:xfrm>
            <a:off x="2702982" y="1392063"/>
            <a:ext cx="6786036" cy="4005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noAutofit/>
          </a:bodyPr>
          <a:lstStyle>
            <a:lvl1pPr algn="l" defTabSz="449263" rtl="0" eaLnBrk="1" fontAlgn="base" hangingPunct="1">
              <a:spcBef>
                <a:spcPct val="0"/>
              </a:spcBef>
              <a:spcAft>
                <a:spcPct val="0"/>
              </a:spcAft>
              <a:buClr>
                <a:srgbClr val="000000"/>
              </a:buClr>
              <a:buSzPct val="100000"/>
              <a:buFont typeface="Times New Roman" panose="02020603050405020304" pitchFamily="18" charset="0"/>
              <a:defRPr sz="4100" b="1" kern="1200">
                <a:solidFill>
                  <a:srgbClr val="464646"/>
                </a:solidFill>
                <a:latin typeface="+mj-lt"/>
                <a:ea typeface="+mj-ea"/>
                <a:cs typeface="+mj-cs"/>
              </a:defRPr>
            </a:lvl1pPr>
            <a:lvl2pPr marL="742950" indent="-28575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2pPr>
            <a:lvl3pPr marL="1143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3pPr>
            <a:lvl4pPr marL="1600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4pPr>
            <a:lvl5pPr marL="20574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5pPr>
            <a:lvl6pPr marL="25146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6pPr>
            <a:lvl7pPr marL="29718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7pPr>
            <a:lvl8pPr marL="3429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8pPr>
            <a:lvl9pPr marL="3886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9pPr>
          </a:lstStyle>
          <a:p>
            <a:pPr algn="ctr"/>
            <a:r>
              <a:rPr lang="pt-BR" sz="2000" dirty="0">
                <a:solidFill>
                  <a:srgbClr val="FF0000"/>
                </a:solidFill>
                <a:latin typeface="+mn-lt"/>
              </a:rPr>
              <a:t>CURIOSIDADES</a:t>
            </a:r>
          </a:p>
        </p:txBody>
      </p:sp>
    </p:spTree>
    <p:extLst>
      <p:ext uri="{BB962C8B-B14F-4D97-AF65-F5344CB8AC3E}">
        <p14:creationId xmlns:p14="http://schemas.microsoft.com/office/powerpoint/2010/main" val="978720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37" fill="hold" grpId="0" nodeType="click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barn(outVertical)">
                                      <p:cBhvr>
                                        <p:cTn id="14" dur="500"/>
                                        <p:tgtEl>
                                          <p:spTgt spid="24"/>
                                        </p:tgtEl>
                                      </p:cBhvr>
                                    </p:animEffect>
                                  </p:childTnLst>
                                </p:cTn>
                              </p:par>
                            </p:childTnLst>
                          </p:cTn>
                        </p:par>
                      </p:childTnLst>
                    </p:cTn>
                  </p:par>
                  <p:par>
                    <p:cTn id="15" fill="hold">
                      <p:stCondLst>
                        <p:cond delay="indefinite"/>
                      </p:stCondLst>
                      <p:childTnLst>
                        <p:par>
                          <p:cTn id="16" fill="hold">
                            <p:stCondLst>
                              <p:cond delay="0"/>
                            </p:stCondLst>
                            <p:childTnLst>
                              <p:par>
                                <p:cTn id="17" presetID="47"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1000"/>
                                        <p:tgtEl>
                                          <p:spTgt spid="19"/>
                                        </p:tgtEl>
                                      </p:cBhvr>
                                    </p:animEffect>
                                    <p:anim calcmode="lin" valueType="num">
                                      <p:cBhvr>
                                        <p:cTn id="20" dur="1000" fill="hold"/>
                                        <p:tgtEl>
                                          <p:spTgt spid="19"/>
                                        </p:tgtEl>
                                        <p:attrNameLst>
                                          <p:attrName>ppt_x</p:attrName>
                                        </p:attrNameLst>
                                      </p:cBhvr>
                                      <p:tavLst>
                                        <p:tav tm="0">
                                          <p:val>
                                            <p:strVal val="#ppt_x"/>
                                          </p:val>
                                        </p:tav>
                                        <p:tav tm="100000">
                                          <p:val>
                                            <p:strVal val="#ppt_x"/>
                                          </p:val>
                                        </p:tav>
                                      </p:tavLst>
                                    </p:anim>
                                    <p:anim calcmode="lin" valueType="num">
                                      <p:cBhvr>
                                        <p:cTn id="21"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1000"/>
                                        <p:tgtEl>
                                          <p:spTgt spid="16"/>
                                        </p:tgtEl>
                                      </p:cBhvr>
                                    </p:animEffect>
                                    <p:anim calcmode="lin" valueType="num">
                                      <p:cBhvr>
                                        <p:cTn id="27" dur="1000" fill="hold"/>
                                        <p:tgtEl>
                                          <p:spTgt spid="16"/>
                                        </p:tgtEl>
                                        <p:attrNameLst>
                                          <p:attrName>ppt_x</p:attrName>
                                        </p:attrNameLst>
                                      </p:cBhvr>
                                      <p:tavLst>
                                        <p:tav tm="0">
                                          <p:val>
                                            <p:strVal val="#ppt_x"/>
                                          </p:val>
                                        </p:tav>
                                        <p:tav tm="100000">
                                          <p:val>
                                            <p:strVal val="#ppt_x"/>
                                          </p:val>
                                        </p:tav>
                                      </p:tavLst>
                                    </p:anim>
                                    <p:anim calcmode="lin" valueType="num">
                                      <p:cBhvr>
                                        <p:cTn id="28"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wipe(down)">
                                      <p:cBhvr>
                                        <p:cTn id="33" dur="500"/>
                                        <p:tgtEl>
                                          <p:spTgt spid="18"/>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5"/>
                                        </p:tgtEl>
                                        <p:attrNameLst>
                                          <p:attrName>style.visibility</p:attrName>
                                        </p:attrNameLst>
                                      </p:cBhvr>
                                      <p:to>
                                        <p:strVal val="visible"/>
                                      </p:to>
                                    </p:set>
                                    <p:animEffect transition="in" filter="wipe(up)">
                                      <p:cBhvr>
                                        <p:cTn id="38" dur="500"/>
                                        <p:tgtEl>
                                          <p:spTgt spid="5"/>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21"/>
                                        </p:tgtEl>
                                        <p:attrNameLst>
                                          <p:attrName>style.visibility</p:attrName>
                                        </p:attrNameLst>
                                      </p:cBhvr>
                                      <p:to>
                                        <p:strVal val="visible"/>
                                      </p:to>
                                    </p:set>
                                    <p:anim calcmode="lin" valueType="num">
                                      <p:cBhvr additive="base">
                                        <p:cTn id="43" dur="500" fill="hold"/>
                                        <p:tgtEl>
                                          <p:spTgt spid="21"/>
                                        </p:tgtEl>
                                        <p:attrNameLst>
                                          <p:attrName>ppt_x</p:attrName>
                                        </p:attrNameLst>
                                      </p:cBhvr>
                                      <p:tavLst>
                                        <p:tav tm="0">
                                          <p:val>
                                            <p:strVal val="1+#ppt_w/2"/>
                                          </p:val>
                                        </p:tav>
                                        <p:tav tm="100000">
                                          <p:val>
                                            <p:strVal val="#ppt_x"/>
                                          </p:val>
                                        </p:tav>
                                      </p:tavLst>
                                    </p:anim>
                                    <p:anim calcmode="lin" valueType="num">
                                      <p:cBhvr additive="base">
                                        <p:cTn id="44"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20"/>
                                        </p:tgtEl>
                                        <p:attrNameLst>
                                          <p:attrName>style.visibility</p:attrName>
                                        </p:attrNameLst>
                                      </p:cBhvr>
                                      <p:to>
                                        <p:strVal val="visible"/>
                                      </p:to>
                                    </p:set>
                                    <p:anim calcmode="lin" valueType="num">
                                      <p:cBhvr additive="base">
                                        <p:cTn id="49" dur="500" fill="hold"/>
                                        <p:tgtEl>
                                          <p:spTgt spid="20"/>
                                        </p:tgtEl>
                                        <p:attrNameLst>
                                          <p:attrName>ppt_x</p:attrName>
                                        </p:attrNameLst>
                                      </p:cBhvr>
                                      <p:tavLst>
                                        <p:tav tm="0">
                                          <p:val>
                                            <p:strVal val="1+#ppt_w/2"/>
                                          </p:val>
                                        </p:tav>
                                        <p:tav tm="100000">
                                          <p:val>
                                            <p:strVal val="#ppt_x"/>
                                          </p:val>
                                        </p:tav>
                                      </p:tavLst>
                                    </p:anim>
                                    <p:anim calcmode="lin" valueType="num">
                                      <p:cBhvr additive="base">
                                        <p:cTn id="50"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6" fill="hold" grpId="0" nodeType="clickEffect">
                                  <p:stCondLst>
                                    <p:cond delay="0"/>
                                  </p:stCondLst>
                                  <p:childTnLst>
                                    <p:set>
                                      <p:cBhvr>
                                        <p:cTn id="54" dur="1" fill="hold">
                                          <p:stCondLst>
                                            <p:cond delay="0"/>
                                          </p:stCondLst>
                                        </p:cTn>
                                        <p:tgtEl>
                                          <p:spTgt spid="23"/>
                                        </p:tgtEl>
                                        <p:attrNameLst>
                                          <p:attrName>style.visibility</p:attrName>
                                        </p:attrNameLst>
                                      </p:cBhvr>
                                      <p:to>
                                        <p:strVal val="visible"/>
                                      </p:to>
                                    </p:set>
                                    <p:anim calcmode="lin" valueType="num">
                                      <p:cBhvr additive="base">
                                        <p:cTn id="55" dur="500" fill="hold"/>
                                        <p:tgtEl>
                                          <p:spTgt spid="23"/>
                                        </p:tgtEl>
                                        <p:attrNameLst>
                                          <p:attrName>ppt_x</p:attrName>
                                        </p:attrNameLst>
                                      </p:cBhvr>
                                      <p:tavLst>
                                        <p:tav tm="0">
                                          <p:val>
                                            <p:strVal val="1+#ppt_w/2"/>
                                          </p:val>
                                        </p:tav>
                                        <p:tav tm="100000">
                                          <p:val>
                                            <p:strVal val="#ppt_x"/>
                                          </p:val>
                                        </p:tav>
                                      </p:tavLst>
                                    </p:anim>
                                    <p:anim calcmode="lin" valueType="num">
                                      <p:cBhvr additive="base">
                                        <p:cTn id="56"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6" fill="hold" grpId="0" nodeType="clickEffect">
                                  <p:stCondLst>
                                    <p:cond delay="0"/>
                                  </p:stCondLst>
                                  <p:childTnLst>
                                    <p:set>
                                      <p:cBhvr>
                                        <p:cTn id="60" dur="1" fill="hold">
                                          <p:stCondLst>
                                            <p:cond delay="0"/>
                                          </p:stCondLst>
                                        </p:cTn>
                                        <p:tgtEl>
                                          <p:spTgt spid="22"/>
                                        </p:tgtEl>
                                        <p:attrNameLst>
                                          <p:attrName>style.visibility</p:attrName>
                                        </p:attrNameLst>
                                      </p:cBhvr>
                                      <p:to>
                                        <p:strVal val="visible"/>
                                      </p:to>
                                    </p:set>
                                    <p:anim calcmode="lin" valueType="num">
                                      <p:cBhvr additive="base">
                                        <p:cTn id="61" dur="500" fill="hold"/>
                                        <p:tgtEl>
                                          <p:spTgt spid="22"/>
                                        </p:tgtEl>
                                        <p:attrNameLst>
                                          <p:attrName>ppt_x</p:attrName>
                                        </p:attrNameLst>
                                      </p:cBhvr>
                                      <p:tavLst>
                                        <p:tav tm="0">
                                          <p:val>
                                            <p:strVal val="1+#ppt_w/2"/>
                                          </p:val>
                                        </p:tav>
                                        <p:tav tm="100000">
                                          <p:val>
                                            <p:strVal val="#ppt_x"/>
                                          </p:val>
                                        </p:tav>
                                      </p:tavLst>
                                    </p:anim>
                                    <p:anim calcmode="lin" valueType="num">
                                      <p:cBhvr additive="base">
                                        <p:cTn id="62"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5" grpId="0" animBg="1"/>
      <p:bldP spid="18" grpId="0" animBg="1"/>
      <p:bldP spid="19" grpId="0"/>
      <p:bldP spid="20" grpId="0"/>
      <p:bldP spid="21" grpId="0"/>
      <p:bldP spid="22" grpId="0"/>
      <p:bldP spid="23" grpId="0"/>
      <p:bldP spid="24" grpId="0"/>
    </p:bldLst>
  </p:timing>
</p:sld>
</file>

<file path=ppt/slides/slide1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Imagem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02149" y="3579962"/>
            <a:ext cx="3130176" cy="2124349"/>
          </a:xfrm>
          <a:prstGeom prst="rect">
            <a:avLst/>
          </a:prstGeom>
        </p:spPr>
      </p:pic>
      <p:sp>
        <p:nvSpPr>
          <p:cNvPr id="4" name="Retângulo 3"/>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
        <p:nvSpPr>
          <p:cNvPr id="17" name="Title 1"/>
          <p:cNvSpPr>
            <a:spLocks noGrp="1"/>
          </p:cNvSpPr>
          <p:nvPr>
            <p:ph type="title" idx="4294967295"/>
          </p:nvPr>
        </p:nvSpPr>
        <p:spPr>
          <a:xfrm>
            <a:off x="0" y="822325"/>
            <a:ext cx="6784975" cy="400050"/>
          </a:xfrm>
        </p:spPr>
        <p:txBody>
          <a:bodyPr>
            <a:noAutofit/>
          </a:bodyPr>
          <a:lstStyle/>
          <a:p>
            <a:pPr algn="ctr"/>
            <a:r>
              <a:rPr lang="pt-BR" sz="2000" b="1" dirty="0">
                <a:solidFill>
                  <a:schemeClr val="accent6"/>
                </a:solidFill>
                <a:latin typeface="+mn-lt"/>
              </a:rPr>
              <a:t>MODAL RODOVIÁRIO</a:t>
            </a:r>
          </a:p>
        </p:txBody>
      </p:sp>
      <p:sp>
        <p:nvSpPr>
          <p:cNvPr id="7" name="TextBox 5"/>
          <p:cNvSpPr txBox="1"/>
          <p:nvPr/>
        </p:nvSpPr>
        <p:spPr>
          <a:xfrm>
            <a:off x="1495718" y="1377709"/>
            <a:ext cx="7992889" cy="1892826"/>
          </a:xfrm>
          <a:prstGeom prst="rect">
            <a:avLst/>
          </a:prstGeom>
          <a:noFill/>
        </p:spPr>
        <p:txBody>
          <a:bodyPr wrap="square" rtlCol="0">
            <a:spAutoFit/>
          </a:bodyPr>
          <a:lstStyle/>
          <a:p>
            <a:pPr algn="just"/>
            <a:r>
              <a:rPr lang="pt-BR" sz="1600" dirty="0">
                <a:solidFill>
                  <a:schemeClr val="accent6"/>
                </a:solidFill>
                <a:cs typeface="Helvetica Neue"/>
              </a:rPr>
              <a:t>Transporte rodoviário é aquele que acontece sobre rodas, nas vias de rodagem pavimentadas ou não, para transporte de mercadorias e pessoas, sendo, na maioria das vezes, realizado por veículos automotores. </a:t>
            </a:r>
          </a:p>
          <a:p>
            <a:pPr algn="just">
              <a:spcBef>
                <a:spcPts val="600"/>
              </a:spcBef>
            </a:pPr>
            <a:r>
              <a:rPr lang="pt-BR" sz="1600" dirty="0">
                <a:solidFill>
                  <a:schemeClr val="accent6"/>
                </a:solidFill>
                <a:cs typeface="Helvetica Neue"/>
              </a:rPr>
              <a:t>Tem vocação para o transporte de mercadorias de alto valor ou perecíveis, produtos acabados ou semiacabados para curta e média distância. Contudo, no Brasil, continua ainda a ser usado no transporte de longo percurso de commodities agrícolas.</a:t>
            </a:r>
            <a:endParaRPr lang="pt-BR" sz="1600" dirty="0">
              <a:solidFill>
                <a:schemeClr val="accent6"/>
              </a:solidFill>
            </a:endParaRPr>
          </a:p>
        </p:txBody>
      </p:sp>
      <p:sp>
        <p:nvSpPr>
          <p:cNvPr id="8" name="TextBox 6"/>
          <p:cNvSpPr txBox="1"/>
          <p:nvPr/>
        </p:nvSpPr>
        <p:spPr>
          <a:xfrm>
            <a:off x="1495718" y="3425594"/>
            <a:ext cx="7992889" cy="2123658"/>
          </a:xfrm>
          <a:prstGeom prst="rect">
            <a:avLst/>
          </a:prstGeom>
          <a:noFill/>
        </p:spPr>
        <p:txBody>
          <a:bodyPr wrap="square" rtlCol="0">
            <a:spAutoFit/>
          </a:bodyPr>
          <a:lstStyle/>
          <a:p>
            <a:r>
              <a:rPr lang="pt-BR" sz="1600" b="1" dirty="0">
                <a:solidFill>
                  <a:schemeClr val="accent6"/>
                </a:solidFill>
                <a:cs typeface="Helvetica Neue"/>
              </a:rPr>
              <a:t>Malha rodoviária</a:t>
            </a:r>
          </a:p>
          <a:p>
            <a:endParaRPr lang="pt-BR" sz="1600" b="1" dirty="0">
              <a:solidFill>
                <a:schemeClr val="accent6"/>
              </a:solidFill>
              <a:cs typeface="Helvetica Neue"/>
            </a:endParaRPr>
          </a:p>
          <a:p>
            <a:r>
              <a:rPr lang="pt-BR" sz="1600" dirty="0">
                <a:solidFill>
                  <a:schemeClr val="accent6"/>
                </a:solidFill>
                <a:cs typeface="Helvetica Neue"/>
              </a:rPr>
              <a:t>No Brasil, há 1.691.522 km de rodovias, mas só </a:t>
            </a:r>
            <a:r>
              <a:rPr lang="pt-BR" sz="1600" b="1" dirty="0">
                <a:solidFill>
                  <a:schemeClr val="accent6"/>
                </a:solidFill>
                <a:cs typeface="Helvetica Neue"/>
              </a:rPr>
              <a:t>12% </a:t>
            </a:r>
            <a:r>
              <a:rPr lang="pt-BR" sz="1600" dirty="0">
                <a:solidFill>
                  <a:schemeClr val="accent6"/>
                </a:solidFill>
                <a:cs typeface="Helvetica Neue"/>
              </a:rPr>
              <a:t>são</a:t>
            </a:r>
            <a:r>
              <a:rPr lang="pt-BR" sz="1600" b="1" dirty="0">
                <a:solidFill>
                  <a:schemeClr val="accent6"/>
                </a:solidFill>
                <a:cs typeface="Helvetica Neue"/>
              </a:rPr>
              <a:t> </a:t>
            </a:r>
            <a:r>
              <a:rPr lang="pt-BR" sz="1600" dirty="0">
                <a:solidFill>
                  <a:schemeClr val="accent6"/>
                </a:solidFill>
                <a:cs typeface="Helvetica Neue"/>
              </a:rPr>
              <a:t>pavimentadas.</a:t>
            </a:r>
          </a:p>
          <a:p>
            <a:pPr>
              <a:spcBef>
                <a:spcPts val="600"/>
              </a:spcBef>
            </a:pPr>
            <a:r>
              <a:rPr lang="pt-BR" sz="1600" dirty="0">
                <a:solidFill>
                  <a:schemeClr val="accent6"/>
                </a:solidFill>
                <a:cs typeface="Helvetica Neue"/>
              </a:rPr>
              <a:t>A malha rodoviária pavimentada é de 203.599 km, composta por:</a:t>
            </a:r>
          </a:p>
          <a:p>
            <a:pPr marL="800100" lvl="1" indent="-342900">
              <a:spcBef>
                <a:spcPts val="600"/>
              </a:spcBef>
              <a:buFont typeface="Arial"/>
              <a:buChar char="•"/>
            </a:pPr>
            <a:r>
              <a:rPr lang="pt-BR" sz="1600" dirty="0">
                <a:solidFill>
                  <a:schemeClr val="accent6"/>
                </a:solidFill>
                <a:cs typeface="Helvetica Neue"/>
              </a:rPr>
              <a:t>65.930 km de rodovias federais (32,4%) </a:t>
            </a:r>
          </a:p>
          <a:p>
            <a:pPr marL="800100" lvl="1" indent="-342900">
              <a:spcBef>
                <a:spcPts val="600"/>
              </a:spcBef>
              <a:buFont typeface="Arial"/>
              <a:buChar char="•"/>
            </a:pPr>
            <a:r>
              <a:rPr lang="pt-BR" sz="1600" dirty="0">
                <a:solidFill>
                  <a:schemeClr val="accent6"/>
                </a:solidFill>
                <a:cs typeface="Helvetica Neue"/>
              </a:rPr>
              <a:t>110.842 km de rodovias estaduais (54,4%)</a:t>
            </a:r>
          </a:p>
          <a:p>
            <a:pPr marL="800100" lvl="1" indent="-342900">
              <a:spcBef>
                <a:spcPts val="600"/>
              </a:spcBef>
              <a:buFont typeface="Arial"/>
              <a:buChar char="•"/>
            </a:pPr>
            <a:r>
              <a:rPr lang="pt-BR" sz="1600" dirty="0">
                <a:solidFill>
                  <a:schemeClr val="accent6"/>
                </a:solidFill>
                <a:cs typeface="Helvetica Neue"/>
              </a:rPr>
              <a:t>26.827 km de estradas municipais (13,2%) </a:t>
            </a:r>
          </a:p>
        </p:txBody>
      </p:sp>
      <p:sp>
        <p:nvSpPr>
          <p:cNvPr id="2" name="Retângulo 1"/>
          <p:cNvSpPr/>
          <p:nvPr/>
        </p:nvSpPr>
        <p:spPr>
          <a:xfrm>
            <a:off x="1495718" y="5704311"/>
            <a:ext cx="6096000" cy="584775"/>
          </a:xfrm>
          <a:prstGeom prst="rect">
            <a:avLst/>
          </a:prstGeom>
        </p:spPr>
        <p:txBody>
          <a:bodyPr>
            <a:spAutoFit/>
          </a:bodyPr>
          <a:lstStyle/>
          <a:p>
            <a:pPr>
              <a:spcBef>
                <a:spcPts val="1200"/>
              </a:spcBef>
            </a:pPr>
            <a:r>
              <a:rPr lang="pt-BR" sz="1600" b="1" i="1" dirty="0">
                <a:solidFill>
                  <a:schemeClr val="accent6"/>
                </a:solidFill>
              </a:rPr>
              <a:t>Mapa da malha rodoviária: </a:t>
            </a:r>
            <a:r>
              <a:rPr lang="pt-BR" sz="1600" dirty="0">
                <a:solidFill>
                  <a:schemeClr val="accent6"/>
                </a:solidFill>
                <a:cs typeface="Helvetica Neue"/>
                <a:hlinkClick r:id="rId3"/>
              </a:rPr>
              <a:t>www2.transportes.gov.br/bit/02-rodo/rodo.html</a:t>
            </a:r>
            <a:r>
              <a:rPr lang="pt-BR" sz="1600" dirty="0">
                <a:solidFill>
                  <a:schemeClr val="accent6"/>
                </a:solidFill>
                <a:cs typeface="Helvetica Neue"/>
              </a:rPr>
              <a:t>  </a:t>
            </a:r>
          </a:p>
        </p:txBody>
      </p:sp>
    </p:spTree>
    <p:extLst>
      <p:ext uri="{BB962C8B-B14F-4D97-AF65-F5344CB8AC3E}">
        <p14:creationId xmlns:p14="http://schemas.microsoft.com/office/powerpoint/2010/main" val="841084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37"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barn(outVertical)">
                                      <p:cBhvr>
                                        <p:cTn id="14"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7" grpId="0"/>
      <p:bldP spid="8" grpId="0"/>
    </p:bldLst>
  </p:timing>
</p:sld>
</file>

<file path=ppt/slides/slide1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tângulo 3"/>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
        <p:nvSpPr>
          <p:cNvPr id="17" name="Title 1"/>
          <p:cNvSpPr>
            <a:spLocks noGrp="1"/>
          </p:cNvSpPr>
          <p:nvPr>
            <p:ph type="title" idx="4294967295"/>
          </p:nvPr>
        </p:nvSpPr>
        <p:spPr>
          <a:xfrm>
            <a:off x="0" y="822325"/>
            <a:ext cx="6784975" cy="400050"/>
          </a:xfrm>
        </p:spPr>
        <p:txBody>
          <a:bodyPr>
            <a:noAutofit/>
          </a:bodyPr>
          <a:lstStyle/>
          <a:p>
            <a:pPr algn="ctr"/>
            <a:r>
              <a:rPr lang="pt-BR" sz="2000" b="1" dirty="0">
                <a:solidFill>
                  <a:schemeClr val="accent6"/>
                </a:solidFill>
                <a:latin typeface="+mn-lt"/>
              </a:rPr>
              <a:t>MODAL RODOVIÁRIO</a:t>
            </a:r>
          </a:p>
        </p:txBody>
      </p:sp>
      <p:graphicFrame>
        <p:nvGraphicFramePr>
          <p:cNvPr id="6" name="Tabela 5"/>
          <p:cNvGraphicFramePr>
            <a:graphicFrameLocks noGrp="1"/>
          </p:cNvGraphicFramePr>
          <p:nvPr>
            <p:extLst>
              <p:ext uri="{D42A27DB-BD31-4B8C-83A1-F6EECF244321}">
                <p14:modId xmlns:p14="http://schemas.microsoft.com/office/powerpoint/2010/main" val="1031681343"/>
              </p:ext>
            </p:extLst>
          </p:nvPr>
        </p:nvGraphicFramePr>
        <p:xfrm>
          <a:off x="4244691" y="2955363"/>
          <a:ext cx="4333238" cy="3136711"/>
        </p:xfrm>
        <a:graphic>
          <a:graphicData uri="http://schemas.openxmlformats.org/drawingml/2006/table">
            <a:tbl>
              <a:tblPr firstRow="1" bandRow="1">
                <a:tableStyleId>{9DCAF9ED-07DC-4A11-8D7F-57B35C25682E}</a:tableStyleId>
              </a:tblPr>
              <a:tblGrid>
                <a:gridCol w="2271774">
                  <a:extLst>
                    <a:ext uri="{9D8B030D-6E8A-4147-A177-3AD203B41FA5}">
                      <a16:colId xmlns:a16="http://schemas.microsoft.com/office/drawing/2014/main" val="769274202"/>
                    </a:ext>
                  </a:extLst>
                </a:gridCol>
                <a:gridCol w="2061464">
                  <a:extLst>
                    <a:ext uri="{9D8B030D-6E8A-4147-A177-3AD203B41FA5}">
                      <a16:colId xmlns:a16="http://schemas.microsoft.com/office/drawing/2014/main" val="624319595"/>
                    </a:ext>
                  </a:extLst>
                </a:gridCol>
              </a:tblGrid>
              <a:tr h="804941">
                <a:tc>
                  <a:txBody>
                    <a:bodyPr/>
                    <a:lstStyle/>
                    <a:p>
                      <a:pPr algn="ctr"/>
                      <a:r>
                        <a:rPr lang="pt-BR" dirty="0"/>
                        <a:t>PAIS</a:t>
                      </a:r>
                    </a:p>
                  </a:txBody>
                  <a:tcPr anchor="ctr">
                    <a:lnR w="12700" cap="flat" cmpd="sng" algn="ctr">
                      <a:solidFill>
                        <a:schemeClr val="bg1"/>
                      </a:solidFill>
                      <a:prstDash val="solid"/>
                      <a:round/>
                      <a:headEnd type="none" w="med" len="med"/>
                      <a:tailEnd type="none" w="med" len="med"/>
                    </a:lnR>
                  </a:tcPr>
                </a:tc>
                <a:tc>
                  <a:txBody>
                    <a:bodyPr/>
                    <a:lstStyle/>
                    <a:p>
                      <a:pPr algn="ctr"/>
                      <a:r>
                        <a:rPr lang="pt-BR" dirty="0"/>
                        <a:t>km/</a:t>
                      </a:r>
                    </a:p>
                    <a:p>
                      <a:pPr algn="ctr"/>
                      <a:r>
                        <a:rPr lang="pt-BR" dirty="0"/>
                        <a:t>1.000 km²</a:t>
                      </a:r>
                    </a:p>
                  </a:txBody>
                  <a:tcPr>
                    <a:lnL w="1270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2545961686"/>
                  </a:ext>
                </a:extLst>
              </a:tr>
              <a:tr h="466354">
                <a:tc>
                  <a:txBody>
                    <a:bodyPr/>
                    <a:lstStyle/>
                    <a:p>
                      <a:r>
                        <a:rPr lang="pt-BR" dirty="0"/>
                        <a:t>EUA</a:t>
                      </a:r>
                    </a:p>
                  </a:txBody>
                  <a:tcPr anchor="ctr">
                    <a:lnR w="12700" cap="flat" cmpd="sng" algn="ctr">
                      <a:solidFill>
                        <a:schemeClr val="accent6">
                          <a:lumMod val="60000"/>
                          <a:lumOff val="40000"/>
                        </a:schemeClr>
                      </a:solidFill>
                      <a:prstDash val="solid"/>
                      <a:round/>
                      <a:headEnd type="none" w="med" len="med"/>
                      <a:tailEnd type="none" w="med" len="med"/>
                    </a:lnR>
                  </a:tcPr>
                </a:tc>
                <a:tc>
                  <a:txBody>
                    <a:bodyPr/>
                    <a:lstStyle/>
                    <a:p>
                      <a:pPr algn="r"/>
                      <a:r>
                        <a:rPr lang="pt-BR" dirty="0"/>
                        <a:t>438,1</a:t>
                      </a:r>
                    </a:p>
                  </a:txBody>
                  <a:tcPr anchor="ctr">
                    <a:lnL w="12700" cap="flat" cmpd="sng" algn="ctr">
                      <a:solidFill>
                        <a:schemeClr val="accent6">
                          <a:lumMod val="60000"/>
                          <a:lumOff val="40000"/>
                        </a:schemeClr>
                      </a:solidFill>
                      <a:prstDash val="solid"/>
                      <a:round/>
                      <a:headEnd type="none" w="med" len="med"/>
                      <a:tailEnd type="none" w="med" len="med"/>
                    </a:lnL>
                  </a:tcPr>
                </a:tc>
                <a:extLst>
                  <a:ext uri="{0D108BD9-81ED-4DB2-BD59-A6C34878D82A}">
                    <a16:rowId xmlns:a16="http://schemas.microsoft.com/office/drawing/2014/main" val="2611689503"/>
                  </a:ext>
                </a:extLst>
              </a:tr>
              <a:tr h="466354">
                <a:tc>
                  <a:txBody>
                    <a:bodyPr/>
                    <a:lstStyle/>
                    <a:p>
                      <a:r>
                        <a:rPr lang="pt-BR" dirty="0"/>
                        <a:t>CHINA</a:t>
                      </a:r>
                    </a:p>
                  </a:txBody>
                  <a:tcPr anchor="ctr">
                    <a:lnR w="12700" cap="flat" cmpd="sng" algn="ctr">
                      <a:solidFill>
                        <a:schemeClr val="accent6">
                          <a:lumMod val="60000"/>
                          <a:lumOff val="40000"/>
                        </a:schemeClr>
                      </a:solidFill>
                      <a:prstDash val="solid"/>
                      <a:round/>
                      <a:headEnd type="none" w="med" len="med"/>
                      <a:tailEnd type="none" w="med" len="med"/>
                    </a:lnR>
                  </a:tcPr>
                </a:tc>
                <a:tc>
                  <a:txBody>
                    <a:bodyPr/>
                    <a:lstStyle/>
                    <a:p>
                      <a:pPr algn="r"/>
                      <a:r>
                        <a:rPr lang="pt-BR" dirty="0"/>
                        <a:t>359,9</a:t>
                      </a:r>
                    </a:p>
                  </a:txBody>
                  <a:tcPr anchor="ctr">
                    <a:lnL w="12700" cap="flat" cmpd="sng" algn="ctr">
                      <a:solidFill>
                        <a:schemeClr val="accent6">
                          <a:lumMod val="60000"/>
                          <a:lumOff val="40000"/>
                        </a:schemeClr>
                      </a:solidFill>
                      <a:prstDash val="solid"/>
                      <a:round/>
                      <a:headEnd type="none" w="med" len="med"/>
                      <a:tailEnd type="none" w="med" len="med"/>
                    </a:lnL>
                  </a:tcPr>
                </a:tc>
                <a:extLst>
                  <a:ext uri="{0D108BD9-81ED-4DB2-BD59-A6C34878D82A}">
                    <a16:rowId xmlns:a16="http://schemas.microsoft.com/office/drawing/2014/main" val="170238983"/>
                  </a:ext>
                </a:extLst>
              </a:tr>
              <a:tr h="466354">
                <a:tc>
                  <a:txBody>
                    <a:bodyPr/>
                    <a:lstStyle/>
                    <a:p>
                      <a:r>
                        <a:rPr lang="pt-BR" dirty="0"/>
                        <a:t>ARGENTINA</a:t>
                      </a:r>
                    </a:p>
                  </a:txBody>
                  <a:tcPr anchor="ctr">
                    <a:lnR w="12700" cap="flat" cmpd="sng" algn="ctr">
                      <a:solidFill>
                        <a:schemeClr val="accent6">
                          <a:lumMod val="60000"/>
                          <a:lumOff val="40000"/>
                        </a:schemeClr>
                      </a:solidFill>
                      <a:prstDash val="solid"/>
                      <a:round/>
                      <a:headEnd type="none" w="med" len="med"/>
                      <a:tailEnd type="none" w="med" len="med"/>
                    </a:lnR>
                  </a:tcPr>
                </a:tc>
                <a:tc>
                  <a:txBody>
                    <a:bodyPr/>
                    <a:lstStyle/>
                    <a:p>
                      <a:pPr algn="r"/>
                      <a:r>
                        <a:rPr lang="pt-BR" dirty="0"/>
                        <a:t>83,2</a:t>
                      </a:r>
                    </a:p>
                  </a:txBody>
                  <a:tcPr anchor="ctr">
                    <a:lnL w="12700" cap="flat" cmpd="sng" algn="ctr">
                      <a:solidFill>
                        <a:schemeClr val="accent6">
                          <a:lumMod val="60000"/>
                          <a:lumOff val="40000"/>
                        </a:schemeClr>
                      </a:solidFill>
                      <a:prstDash val="solid"/>
                      <a:round/>
                      <a:headEnd type="none" w="med" len="med"/>
                      <a:tailEnd type="none" w="med" len="med"/>
                    </a:lnL>
                  </a:tcPr>
                </a:tc>
                <a:extLst>
                  <a:ext uri="{0D108BD9-81ED-4DB2-BD59-A6C34878D82A}">
                    <a16:rowId xmlns:a16="http://schemas.microsoft.com/office/drawing/2014/main" val="1530765922"/>
                  </a:ext>
                </a:extLst>
              </a:tr>
              <a:tr h="466354">
                <a:tc>
                  <a:txBody>
                    <a:bodyPr/>
                    <a:lstStyle/>
                    <a:p>
                      <a:r>
                        <a:rPr lang="pt-BR" dirty="0"/>
                        <a:t>AUSTRÁLIA</a:t>
                      </a:r>
                    </a:p>
                  </a:txBody>
                  <a:tcPr anchor="ctr">
                    <a:lnR w="12700" cap="flat" cmpd="sng" algn="ctr">
                      <a:solidFill>
                        <a:schemeClr val="accent6">
                          <a:lumMod val="60000"/>
                          <a:lumOff val="40000"/>
                        </a:schemeClr>
                      </a:solidFill>
                      <a:prstDash val="solid"/>
                      <a:round/>
                      <a:headEnd type="none" w="med" len="med"/>
                      <a:tailEnd type="none" w="med" len="med"/>
                    </a:lnR>
                  </a:tcPr>
                </a:tc>
                <a:tc>
                  <a:txBody>
                    <a:bodyPr/>
                    <a:lstStyle/>
                    <a:p>
                      <a:pPr algn="r"/>
                      <a:r>
                        <a:rPr lang="pt-BR" dirty="0"/>
                        <a:t>46,0</a:t>
                      </a:r>
                    </a:p>
                  </a:txBody>
                  <a:tcPr anchor="ctr">
                    <a:lnL w="12700" cap="flat" cmpd="sng" algn="ctr">
                      <a:solidFill>
                        <a:schemeClr val="accent6">
                          <a:lumMod val="60000"/>
                          <a:lumOff val="40000"/>
                        </a:schemeClr>
                      </a:solidFill>
                      <a:prstDash val="solid"/>
                      <a:round/>
                      <a:headEnd type="none" w="med" len="med"/>
                      <a:tailEnd type="none" w="med" len="med"/>
                    </a:lnL>
                  </a:tcPr>
                </a:tc>
                <a:extLst>
                  <a:ext uri="{0D108BD9-81ED-4DB2-BD59-A6C34878D82A}">
                    <a16:rowId xmlns:a16="http://schemas.microsoft.com/office/drawing/2014/main" val="616845525"/>
                  </a:ext>
                </a:extLst>
              </a:tr>
              <a:tr h="466354">
                <a:tc>
                  <a:txBody>
                    <a:bodyPr/>
                    <a:lstStyle/>
                    <a:p>
                      <a:r>
                        <a:rPr lang="pt-BR" dirty="0"/>
                        <a:t>BRASIL</a:t>
                      </a:r>
                    </a:p>
                  </a:txBody>
                  <a:tcPr anchor="ctr">
                    <a:lnR w="12700" cap="flat" cmpd="sng" algn="ctr">
                      <a:solidFill>
                        <a:schemeClr val="accent6">
                          <a:lumMod val="60000"/>
                          <a:lumOff val="40000"/>
                        </a:schemeClr>
                      </a:solidFill>
                      <a:prstDash val="solid"/>
                      <a:round/>
                      <a:headEnd type="none" w="med" len="med"/>
                      <a:tailEnd type="none" w="med" len="med"/>
                    </a:lnR>
                  </a:tcPr>
                </a:tc>
                <a:tc>
                  <a:txBody>
                    <a:bodyPr/>
                    <a:lstStyle/>
                    <a:p>
                      <a:pPr algn="r"/>
                      <a:r>
                        <a:rPr lang="pt-BR" dirty="0"/>
                        <a:t>23,9</a:t>
                      </a:r>
                    </a:p>
                  </a:txBody>
                  <a:tcPr anchor="ctr">
                    <a:lnL w="12700" cap="flat" cmpd="sng" algn="ctr">
                      <a:solidFill>
                        <a:schemeClr val="accent6">
                          <a:lumMod val="60000"/>
                          <a:lumOff val="40000"/>
                        </a:schemeClr>
                      </a:solidFill>
                      <a:prstDash val="solid"/>
                      <a:round/>
                      <a:headEnd type="none" w="med" len="med"/>
                      <a:tailEnd type="none" w="med" len="med"/>
                    </a:lnL>
                  </a:tcPr>
                </a:tc>
                <a:extLst>
                  <a:ext uri="{0D108BD9-81ED-4DB2-BD59-A6C34878D82A}">
                    <a16:rowId xmlns:a16="http://schemas.microsoft.com/office/drawing/2014/main" val="365945485"/>
                  </a:ext>
                </a:extLst>
              </a:tr>
            </a:tbl>
          </a:graphicData>
        </a:graphic>
      </p:graphicFrame>
      <p:sp>
        <p:nvSpPr>
          <p:cNvPr id="9" name="Retângulo 8"/>
          <p:cNvSpPr/>
          <p:nvPr/>
        </p:nvSpPr>
        <p:spPr>
          <a:xfrm>
            <a:off x="3929381" y="2254955"/>
            <a:ext cx="4333238" cy="369332"/>
          </a:xfrm>
          <a:prstGeom prst="rect">
            <a:avLst/>
          </a:prstGeom>
        </p:spPr>
        <p:txBody>
          <a:bodyPr wrap="none">
            <a:spAutoFit/>
          </a:bodyPr>
          <a:lstStyle/>
          <a:p>
            <a:r>
              <a:rPr lang="pt-BR" b="1" dirty="0">
                <a:solidFill>
                  <a:schemeClr val="accent6"/>
                </a:solidFill>
              </a:rPr>
              <a:t>DENSIDADE DA MALHA RODOVIÁRIA </a:t>
            </a:r>
          </a:p>
        </p:txBody>
      </p:sp>
    </p:spTree>
    <p:extLst>
      <p:ext uri="{BB962C8B-B14F-4D97-AF65-F5344CB8AC3E}">
        <p14:creationId xmlns:p14="http://schemas.microsoft.com/office/powerpoint/2010/main" val="858457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outHorizont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Rectangle 2"/>
          <p:cNvSpPr/>
          <p:nvPr/>
        </p:nvSpPr>
        <p:spPr>
          <a:xfrm>
            <a:off x="1810603" y="1968842"/>
            <a:ext cx="8570794" cy="3539430"/>
          </a:xfrm>
          <a:prstGeom prst="rect">
            <a:avLst/>
          </a:prstGeom>
        </p:spPr>
        <p:txBody>
          <a:bodyPr wrap="square">
            <a:spAutoFit/>
          </a:bodyPr>
          <a:lstStyle/>
          <a:p>
            <a:pPr marL="342900" indent="-342900">
              <a:buFont typeface="Courier New" panose="02070309020205020404" pitchFamily="49" charset="0"/>
              <a:buChar char="o"/>
            </a:pPr>
            <a:r>
              <a:rPr lang="pt-BR" sz="1600" dirty="0">
                <a:solidFill>
                  <a:schemeClr val="accent6"/>
                </a:solidFill>
                <a:cs typeface="Helvetica Neue"/>
              </a:rPr>
              <a:t>Adequado para curtas e médias distâncias;</a:t>
            </a:r>
          </a:p>
          <a:p>
            <a:pPr marL="342900" indent="-342900">
              <a:buFont typeface="Courier New" panose="02070309020205020404" pitchFamily="49" charset="0"/>
              <a:buChar char="o"/>
            </a:pPr>
            <a:r>
              <a:rPr lang="pt-BR" sz="1600" dirty="0">
                <a:solidFill>
                  <a:schemeClr val="accent6"/>
                </a:solidFill>
                <a:cs typeface="Helvetica Neue"/>
              </a:rPr>
              <a:t>Os custos se tornam altos para grandes distâncias;</a:t>
            </a:r>
          </a:p>
          <a:p>
            <a:pPr marL="342900" indent="-342900">
              <a:buFont typeface="Courier New" panose="02070309020205020404" pitchFamily="49" charset="0"/>
              <a:buChar char="o"/>
            </a:pPr>
            <a:r>
              <a:rPr lang="pt-BR" sz="1600" dirty="0">
                <a:solidFill>
                  <a:schemeClr val="accent6"/>
                </a:solidFill>
                <a:cs typeface="Helvetica Neue"/>
              </a:rPr>
              <a:t>Serviço de entrega porta a porta (</a:t>
            </a:r>
            <a:r>
              <a:rPr lang="pt-BR" sz="1600" i="1" dirty="0" err="1">
                <a:solidFill>
                  <a:schemeClr val="accent6"/>
                </a:solidFill>
                <a:cs typeface="Helvetica Neue"/>
              </a:rPr>
              <a:t>Door</a:t>
            </a:r>
            <a:r>
              <a:rPr lang="pt-BR" sz="1600" i="1" dirty="0">
                <a:solidFill>
                  <a:schemeClr val="accent6"/>
                </a:solidFill>
                <a:cs typeface="Helvetica Neue"/>
              </a:rPr>
              <a:t> </a:t>
            </a:r>
            <a:r>
              <a:rPr lang="pt-BR" sz="1600" i="1" dirty="0" err="1">
                <a:solidFill>
                  <a:schemeClr val="accent6"/>
                </a:solidFill>
                <a:cs typeface="Helvetica Neue"/>
              </a:rPr>
              <a:t>to</a:t>
            </a:r>
            <a:r>
              <a:rPr lang="pt-BR" sz="1600" i="1" dirty="0">
                <a:solidFill>
                  <a:schemeClr val="accent6"/>
                </a:solidFill>
                <a:cs typeface="Helvetica Neue"/>
              </a:rPr>
              <a:t> </a:t>
            </a:r>
            <a:r>
              <a:rPr lang="pt-BR" sz="1600" i="1" dirty="0" err="1">
                <a:solidFill>
                  <a:schemeClr val="accent6"/>
                </a:solidFill>
                <a:cs typeface="Helvetica Neue"/>
              </a:rPr>
              <a:t>door</a:t>
            </a:r>
            <a:r>
              <a:rPr lang="pt-BR" sz="1600" dirty="0">
                <a:solidFill>
                  <a:schemeClr val="accent6"/>
                </a:solidFill>
                <a:cs typeface="Helvetica Neue"/>
              </a:rPr>
              <a:t>);</a:t>
            </a:r>
          </a:p>
          <a:p>
            <a:pPr marL="342900" indent="-342900">
              <a:buFont typeface="Courier New" panose="02070309020205020404" pitchFamily="49" charset="0"/>
              <a:buChar char="o"/>
            </a:pPr>
            <a:r>
              <a:rPr lang="pt-BR" sz="1600" dirty="0">
                <a:solidFill>
                  <a:schemeClr val="accent6"/>
                </a:solidFill>
                <a:cs typeface="Helvetica Neue"/>
              </a:rPr>
              <a:t>Maior flexibilidade com extensa malha e cobertura geográfica;</a:t>
            </a:r>
          </a:p>
          <a:p>
            <a:pPr marL="342900" indent="-342900">
              <a:buFont typeface="Courier New" panose="02070309020205020404" pitchFamily="49" charset="0"/>
              <a:buChar char="o"/>
            </a:pPr>
            <a:r>
              <a:rPr lang="pt-BR" sz="1600" dirty="0">
                <a:solidFill>
                  <a:schemeClr val="accent6"/>
                </a:solidFill>
                <a:cs typeface="Helvetica Neue"/>
              </a:rPr>
              <a:t>Integra todos os estados brasileiros; </a:t>
            </a:r>
          </a:p>
          <a:p>
            <a:pPr marL="342900" indent="-342900">
              <a:buFont typeface="Courier New" panose="02070309020205020404" pitchFamily="49" charset="0"/>
              <a:buChar char="o"/>
            </a:pPr>
            <a:r>
              <a:rPr lang="pt-BR" sz="1600" dirty="0">
                <a:solidFill>
                  <a:schemeClr val="accent6"/>
                </a:solidFill>
                <a:cs typeface="Helvetica Neue"/>
              </a:rPr>
              <a:t>Tempo de entrega confiável;</a:t>
            </a:r>
          </a:p>
          <a:p>
            <a:pPr marL="342900" indent="-342900">
              <a:buFont typeface="Courier New" panose="02070309020205020404" pitchFamily="49" charset="0"/>
              <a:buChar char="o"/>
            </a:pPr>
            <a:r>
              <a:rPr lang="pt-BR" sz="1600" dirty="0">
                <a:solidFill>
                  <a:schemeClr val="accent6"/>
                </a:solidFill>
                <a:cs typeface="Helvetica Neue"/>
              </a:rPr>
              <a:t>Transporte com velocidade moderada;</a:t>
            </a:r>
          </a:p>
          <a:p>
            <a:pPr marL="342900" indent="-342900">
              <a:buFont typeface="Courier New" panose="02070309020205020404" pitchFamily="49" charset="0"/>
              <a:buChar char="o"/>
            </a:pPr>
            <a:r>
              <a:rPr lang="pt-BR" sz="1600" dirty="0">
                <a:solidFill>
                  <a:schemeClr val="accent6"/>
                </a:solidFill>
                <a:cs typeface="Helvetica Neue"/>
              </a:rPr>
              <a:t>Baixa capacidade de carga com limitação de volume e peso; </a:t>
            </a:r>
          </a:p>
          <a:p>
            <a:pPr marL="342900" indent="-342900">
              <a:buFont typeface="Courier New" panose="02070309020205020404" pitchFamily="49" charset="0"/>
              <a:buChar char="o"/>
            </a:pPr>
            <a:r>
              <a:rPr lang="pt-BR" sz="1600" dirty="0">
                <a:solidFill>
                  <a:schemeClr val="accent6"/>
                </a:solidFill>
                <a:cs typeface="Helvetica Neue"/>
              </a:rPr>
              <a:t>Baixo custo inicial de implantação;</a:t>
            </a:r>
          </a:p>
          <a:p>
            <a:pPr marL="342900" indent="-342900">
              <a:buFont typeface="Courier New" panose="02070309020205020404" pitchFamily="49" charset="0"/>
              <a:buChar char="o"/>
            </a:pPr>
            <a:r>
              <a:rPr lang="pt-BR" sz="1600" dirty="0">
                <a:solidFill>
                  <a:schemeClr val="accent6"/>
                </a:solidFill>
                <a:cs typeface="Helvetica Neue"/>
              </a:rPr>
              <a:t>Alto custo de manutenção;</a:t>
            </a:r>
          </a:p>
          <a:p>
            <a:pPr marL="342900" indent="-342900">
              <a:buFont typeface="Courier New" panose="02070309020205020404" pitchFamily="49" charset="0"/>
              <a:buChar char="o"/>
            </a:pPr>
            <a:r>
              <a:rPr lang="pt-BR" sz="1600" dirty="0">
                <a:solidFill>
                  <a:schemeClr val="accent6"/>
                </a:solidFill>
                <a:cs typeface="Helvetica Neue"/>
              </a:rPr>
              <a:t>Muito poluente com forte impacto ambiental;</a:t>
            </a:r>
          </a:p>
          <a:p>
            <a:pPr marL="342900" indent="-342900">
              <a:buFont typeface="Courier New" panose="02070309020205020404" pitchFamily="49" charset="0"/>
              <a:buChar char="o"/>
            </a:pPr>
            <a:r>
              <a:rPr lang="pt-BR" sz="1600" dirty="0">
                <a:solidFill>
                  <a:schemeClr val="accent6"/>
                </a:solidFill>
                <a:cs typeface="Helvetica Neue"/>
              </a:rPr>
              <a:t>Segurança no transporte comprometida devido à existência de roubos de cargas;</a:t>
            </a:r>
          </a:p>
          <a:p>
            <a:pPr marL="342900" indent="-342900">
              <a:buFont typeface="Courier New" panose="02070309020205020404" pitchFamily="49" charset="0"/>
              <a:buChar char="o"/>
            </a:pPr>
            <a:r>
              <a:rPr lang="pt-BR" sz="1600" dirty="0">
                <a:solidFill>
                  <a:schemeClr val="accent6"/>
                </a:solidFill>
                <a:cs typeface="Helvetica Neue"/>
              </a:rPr>
              <a:t>Nas regiões urbanas, está sujeito à circulação do transito e a regulamentação (circulação e horários).</a:t>
            </a:r>
          </a:p>
        </p:txBody>
      </p:sp>
      <p:sp>
        <p:nvSpPr>
          <p:cNvPr id="2" name="Rectangle 1"/>
          <p:cNvSpPr/>
          <p:nvPr/>
        </p:nvSpPr>
        <p:spPr>
          <a:xfrm>
            <a:off x="1810603" y="1543308"/>
            <a:ext cx="7543800" cy="369332"/>
          </a:xfrm>
          <a:prstGeom prst="rect">
            <a:avLst/>
          </a:prstGeom>
        </p:spPr>
        <p:txBody>
          <a:bodyPr wrap="square">
            <a:spAutoFit/>
          </a:bodyPr>
          <a:lstStyle/>
          <a:p>
            <a:r>
              <a:rPr lang="pt-BR" b="1" dirty="0">
                <a:solidFill>
                  <a:schemeClr val="accent6"/>
                </a:solidFill>
                <a:cs typeface="Helvetica Neue"/>
              </a:rPr>
              <a:t>Características do transporte rodoviário de carga no Brasil</a:t>
            </a:r>
            <a:endParaRPr lang="pt-BR" dirty="0">
              <a:solidFill>
                <a:schemeClr val="accent6"/>
              </a:solidFill>
              <a:cs typeface="Helvetica Neue"/>
            </a:endParaRPr>
          </a:p>
        </p:txBody>
      </p:sp>
      <p:pic>
        <p:nvPicPr>
          <p:cNvPr id="8" name="Picture 7" descr="ThinkstockPhotos-464939424 (1).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32477" y="2261751"/>
            <a:ext cx="1961509" cy="1961509"/>
          </a:xfrm>
          <a:prstGeom prst="rect">
            <a:avLst/>
          </a:prstGeom>
        </p:spPr>
      </p:pic>
      <p:sp>
        <p:nvSpPr>
          <p:cNvPr id="5" name="TextBox 4"/>
          <p:cNvSpPr txBox="1"/>
          <p:nvPr/>
        </p:nvSpPr>
        <p:spPr>
          <a:xfrm>
            <a:off x="2353155" y="5823524"/>
            <a:ext cx="7907032" cy="338554"/>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rtlCol="0">
            <a:spAutoFit/>
          </a:bodyPr>
          <a:lstStyle/>
          <a:p>
            <a:pPr algn="just"/>
            <a:r>
              <a:rPr lang="pt-BR" sz="1600" b="1" dirty="0">
                <a:solidFill>
                  <a:srgbClr val="FF0000"/>
                </a:solidFill>
              </a:rPr>
              <a:t>QUAL O PONTO MAIS RELEVANTE PARA A ESCOLHA DO MODAL RODOVIÁRIO ?</a:t>
            </a:r>
          </a:p>
        </p:txBody>
      </p:sp>
      <p:sp>
        <p:nvSpPr>
          <p:cNvPr id="7" name="Retângulo 6"/>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
        <p:nvSpPr>
          <p:cNvPr id="9" name="Title 1"/>
          <p:cNvSpPr>
            <a:spLocks noGrp="1"/>
          </p:cNvSpPr>
          <p:nvPr>
            <p:ph type="title" idx="4294967295"/>
          </p:nvPr>
        </p:nvSpPr>
        <p:spPr>
          <a:xfrm>
            <a:off x="0" y="822325"/>
            <a:ext cx="6784975" cy="400050"/>
          </a:xfrm>
        </p:spPr>
        <p:txBody>
          <a:bodyPr>
            <a:noAutofit/>
          </a:bodyPr>
          <a:lstStyle/>
          <a:p>
            <a:pPr algn="ctr"/>
            <a:r>
              <a:rPr lang="pt-BR" sz="2000" b="1" dirty="0">
                <a:solidFill>
                  <a:schemeClr val="accent6"/>
                </a:solidFill>
                <a:latin typeface="+mn-lt"/>
              </a:rPr>
              <a:t>MODAL RODOVIÁRIO</a:t>
            </a:r>
          </a:p>
        </p:txBody>
      </p:sp>
    </p:spTree>
    <p:extLst>
      <p:ext uri="{BB962C8B-B14F-4D97-AF65-F5344CB8AC3E}">
        <p14:creationId xmlns:p14="http://schemas.microsoft.com/office/powerpoint/2010/main" val="4294453986"/>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xmlns:p14="http://schemas.microsoft.com/office/powerpoint/2010/mai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Effect transition="in" filter="wipe(up)">
                                      <p:cBhvr>
                                        <p:cTn id="19" dur="500"/>
                                        <p:tgtEl>
                                          <p:spTgt spid="3">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3">
                                            <p:txEl>
                                              <p:pRg st="1" end="1"/>
                                            </p:txEl>
                                          </p:spTgt>
                                        </p:tgtEl>
                                        <p:attrNameLst>
                                          <p:attrName>style.visibility</p:attrName>
                                        </p:attrNameLst>
                                      </p:cBhvr>
                                      <p:to>
                                        <p:strVal val="visible"/>
                                      </p:to>
                                    </p:set>
                                    <p:animEffect transition="in" filter="wipe(up)">
                                      <p:cBhvr>
                                        <p:cTn id="24" dur="500"/>
                                        <p:tgtEl>
                                          <p:spTgt spid="3">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animEffect transition="in" filter="wipe(up)">
                                      <p:cBhvr>
                                        <p:cTn id="29" dur="500"/>
                                        <p:tgtEl>
                                          <p:spTgt spid="3">
                                            <p:txEl>
                                              <p:pRg st="2" end="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wipe(up)">
                                      <p:cBhvr>
                                        <p:cTn id="34" dur="500"/>
                                        <p:tgtEl>
                                          <p:spTgt spid="3">
                                            <p:txEl>
                                              <p:pRg st="3" end="3"/>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3">
                                            <p:txEl>
                                              <p:pRg st="4" end="4"/>
                                            </p:txEl>
                                          </p:spTgt>
                                        </p:tgtEl>
                                        <p:attrNameLst>
                                          <p:attrName>style.visibility</p:attrName>
                                        </p:attrNameLst>
                                      </p:cBhvr>
                                      <p:to>
                                        <p:strVal val="visible"/>
                                      </p:to>
                                    </p:set>
                                    <p:animEffect transition="in" filter="wipe(up)">
                                      <p:cBhvr>
                                        <p:cTn id="39" dur="500"/>
                                        <p:tgtEl>
                                          <p:spTgt spid="3">
                                            <p:txEl>
                                              <p:pRg st="4" end="4"/>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3">
                                            <p:txEl>
                                              <p:pRg st="5" end="5"/>
                                            </p:txEl>
                                          </p:spTgt>
                                        </p:tgtEl>
                                        <p:attrNameLst>
                                          <p:attrName>style.visibility</p:attrName>
                                        </p:attrNameLst>
                                      </p:cBhvr>
                                      <p:to>
                                        <p:strVal val="visible"/>
                                      </p:to>
                                    </p:set>
                                    <p:animEffect transition="in" filter="wipe(up)">
                                      <p:cBhvr>
                                        <p:cTn id="44" dur="500"/>
                                        <p:tgtEl>
                                          <p:spTgt spid="3">
                                            <p:txEl>
                                              <p:pRg st="5" end="5"/>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wipe(up)">
                                      <p:cBhvr>
                                        <p:cTn id="49" dur="500"/>
                                        <p:tgtEl>
                                          <p:spTgt spid="3">
                                            <p:txEl>
                                              <p:pRg st="6" end="6"/>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1" fill="hold" grpId="0" nodeType="clickEffect">
                                  <p:stCondLst>
                                    <p:cond delay="0"/>
                                  </p:stCondLst>
                                  <p:childTnLst>
                                    <p:set>
                                      <p:cBhvr>
                                        <p:cTn id="53" dur="1" fill="hold">
                                          <p:stCondLst>
                                            <p:cond delay="0"/>
                                          </p:stCondLst>
                                        </p:cTn>
                                        <p:tgtEl>
                                          <p:spTgt spid="3">
                                            <p:txEl>
                                              <p:pRg st="7" end="7"/>
                                            </p:txEl>
                                          </p:spTgt>
                                        </p:tgtEl>
                                        <p:attrNameLst>
                                          <p:attrName>style.visibility</p:attrName>
                                        </p:attrNameLst>
                                      </p:cBhvr>
                                      <p:to>
                                        <p:strVal val="visible"/>
                                      </p:to>
                                    </p:set>
                                    <p:animEffect transition="in" filter="wipe(up)">
                                      <p:cBhvr>
                                        <p:cTn id="54" dur="500"/>
                                        <p:tgtEl>
                                          <p:spTgt spid="3">
                                            <p:txEl>
                                              <p:pRg st="7" end="7"/>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1" fill="hold" grpId="0" nodeType="clickEffect">
                                  <p:stCondLst>
                                    <p:cond delay="0"/>
                                  </p:stCondLst>
                                  <p:childTnLst>
                                    <p:set>
                                      <p:cBhvr>
                                        <p:cTn id="58" dur="1" fill="hold">
                                          <p:stCondLst>
                                            <p:cond delay="0"/>
                                          </p:stCondLst>
                                        </p:cTn>
                                        <p:tgtEl>
                                          <p:spTgt spid="3">
                                            <p:txEl>
                                              <p:pRg st="8" end="8"/>
                                            </p:txEl>
                                          </p:spTgt>
                                        </p:tgtEl>
                                        <p:attrNameLst>
                                          <p:attrName>style.visibility</p:attrName>
                                        </p:attrNameLst>
                                      </p:cBhvr>
                                      <p:to>
                                        <p:strVal val="visible"/>
                                      </p:to>
                                    </p:set>
                                    <p:animEffect transition="in" filter="wipe(up)">
                                      <p:cBhvr>
                                        <p:cTn id="59" dur="500"/>
                                        <p:tgtEl>
                                          <p:spTgt spid="3">
                                            <p:txEl>
                                              <p:pRg st="8" end="8"/>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1" fill="hold" grpId="0" nodeType="clickEffect">
                                  <p:stCondLst>
                                    <p:cond delay="0"/>
                                  </p:stCondLst>
                                  <p:childTnLst>
                                    <p:set>
                                      <p:cBhvr>
                                        <p:cTn id="63" dur="1" fill="hold">
                                          <p:stCondLst>
                                            <p:cond delay="0"/>
                                          </p:stCondLst>
                                        </p:cTn>
                                        <p:tgtEl>
                                          <p:spTgt spid="3">
                                            <p:txEl>
                                              <p:pRg st="9" end="9"/>
                                            </p:txEl>
                                          </p:spTgt>
                                        </p:tgtEl>
                                        <p:attrNameLst>
                                          <p:attrName>style.visibility</p:attrName>
                                        </p:attrNameLst>
                                      </p:cBhvr>
                                      <p:to>
                                        <p:strVal val="visible"/>
                                      </p:to>
                                    </p:set>
                                    <p:animEffect transition="in" filter="wipe(up)">
                                      <p:cBhvr>
                                        <p:cTn id="64" dur="500"/>
                                        <p:tgtEl>
                                          <p:spTgt spid="3">
                                            <p:txEl>
                                              <p:pRg st="9" end="9"/>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1" fill="hold" grpId="0" nodeType="clickEffect">
                                  <p:stCondLst>
                                    <p:cond delay="0"/>
                                  </p:stCondLst>
                                  <p:childTnLst>
                                    <p:set>
                                      <p:cBhvr>
                                        <p:cTn id="68" dur="1" fill="hold">
                                          <p:stCondLst>
                                            <p:cond delay="0"/>
                                          </p:stCondLst>
                                        </p:cTn>
                                        <p:tgtEl>
                                          <p:spTgt spid="3">
                                            <p:txEl>
                                              <p:pRg st="10" end="10"/>
                                            </p:txEl>
                                          </p:spTgt>
                                        </p:tgtEl>
                                        <p:attrNameLst>
                                          <p:attrName>style.visibility</p:attrName>
                                        </p:attrNameLst>
                                      </p:cBhvr>
                                      <p:to>
                                        <p:strVal val="visible"/>
                                      </p:to>
                                    </p:set>
                                    <p:animEffect transition="in" filter="wipe(up)">
                                      <p:cBhvr>
                                        <p:cTn id="69" dur="500"/>
                                        <p:tgtEl>
                                          <p:spTgt spid="3">
                                            <p:txEl>
                                              <p:pRg st="10" end="10"/>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1" fill="hold" grpId="0" nodeType="clickEffect">
                                  <p:stCondLst>
                                    <p:cond delay="0"/>
                                  </p:stCondLst>
                                  <p:childTnLst>
                                    <p:set>
                                      <p:cBhvr>
                                        <p:cTn id="73" dur="1" fill="hold">
                                          <p:stCondLst>
                                            <p:cond delay="0"/>
                                          </p:stCondLst>
                                        </p:cTn>
                                        <p:tgtEl>
                                          <p:spTgt spid="3">
                                            <p:txEl>
                                              <p:pRg st="11" end="11"/>
                                            </p:txEl>
                                          </p:spTgt>
                                        </p:tgtEl>
                                        <p:attrNameLst>
                                          <p:attrName>style.visibility</p:attrName>
                                        </p:attrNameLst>
                                      </p:cBhvr>
                                      <p:to>
                                        <p:strVal val="visible"/>
                                      </p:to>
                                    </p:set>
                                    <p:animEffect transition="in" filter="wipe(up)">
                                      <p:cBhvr>
                                        <p:cTn id="74" dur="500"/>
                                        <p:tgtEl>
                                          <p:spTgt spid="3">
                                            <p:txEl>
                                              <p:pRg st="11" end="11"/>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1" fill="hold" grpId="0" nodeType="clickEffect">
                                  <p:stCondLst>
                                    <p:cond delay="0"/>
                                  </p:stCondLst>
                                  <p:childTnLst>
                                    <p:set>
                                      <p:cBhvr>
                                        <p:cTn id="78" dur="1" fill="hold">
                                          <p:stCondLst>
                                            <p:cond delay="0"/>
                                          </p:stCondLst>
                                        </p:cTn>
                                        <p:tgtEl>
                                          <p:spTgt spid="3">
                                            <p:txEl>
                                              <p:pRg st="12" end="12"/>
                                            </p:txEl>
                                          </p:spTgt>
                                        </p:tgtEl>
                                        <p:attrNameLst>
                                          <p:attrName>style.visibility</p:attrName>
                                        </p:attrNameLst>
                                      </p:cBhvr>
                                      <p:to>
                                        <p:strVal val="visible"/>
                                      </p:to>
                                    </p:set>
                                    <p:animEffect transition="in" filter="wipe(up)">
                                      <p:cBhvr>
                                        <p:cTn id="79" dur="500"/>
                                        <p:tgtEl>
                                          <p:spTgt spid="3">
                                            <p:txEl>
                                              <p:pRg st="12" end="12"/>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5"/>
                                        </p:tgtEl>
                                        <p:attrNameLst>
                                          <p:attrName>style.visibility</p:attrName>
                                        </p:attrNameLst>
                                      </p:cBhvr>
                                      <p:to>
                                        <p:strVal val="visible"/>
                                      </p:to>
                                    </p:set>
                                    <p:animEffect transition="in" filter="wipe(left)">
                                      <p:cBhvr>
                                        <p:cTn id="8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 grpId="0"/>
      <p:bldP spid="5" grpId="0"/>
    </p:bldLst>
  </p:timing>
</p:sld>
</file>

<file path=ppt/slides/slide1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tângulo 3"/>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
        <p:nvSpPr>
          <p:cNvPr id="5" name="Retângulo 4"/>
          <p:cNvSpPr/>
          <p:nvPr/>
        </p:nvSpPr>
        <p:spPr>
          <a:xfrm>
            <a:off x="1295292" y="2037401"/>
            <a:ext cx="5893656" cy="2492990"/>
          </a:xfrm>
          <a:prstGeom prst="rect">
            <a:avLst/>
          </a:prstGeom>
        </p:spPr>
        <p:txBody>
          <a:bodyPr wrap="square">
            <a:spAutoFit/>
          </a:bodyPr>
          <a:lstStyle/>
          <a:p>
            <a:pPr algn="just"/>
            <a:r>
              <a:rPr lang="pt-BR" b="1" dirty="0">
                <a:solidFill>
                  <a:schemeClr val="accent6"/>
                </a:solidFill>
              </a:rPr>
              <a:t>CARACTERÍSTICAS PARA SELEÇÃO</a:t>
            </a:r>
          </a:p>
          <a:p>
            <a:pPr algn="just"/>
            <a:endParaRPr lang="pt-BR" dirty="0">
              <a:solidFill>
                <a:schemeClr val="accent6"/>
              </a:solidFill>
            </a:endParaRPr>
          </a:p>
          <a:p>
            <a:pPr algn="just">
              <a:lnSpc>
                <a:spcPct val="150000"/>
              </a:lnSpc>
            </a:pPr>
            <a:r>
              <a:rPr lang="pt-BR" sz="1600" dirty="0">
                <a:solidFill>
                  <a:schemeClr val="accent6"/>
                </a:solidFill>
              </a:rPr>
              <a:t>Mercadorias perecíveis</a:t>
            </a:r>
          </a:p>
          <a:p>
            <a:pPr algn="just">
              <a:lnSpc>
                <a:spcPct val="150000"/>
              </a:lnSpc>
            </a:pPr>
            <a:r>
              <a:rPr lang="pt-BR" sz="1600" dirty="0">
                <a:solidFill>
                  <a:schemeClr val="accent6"/>
                </a:solidFill>
              </a:rPr>
              <a:t>Mercadorias de alto valor agregado</a:t>
            </a:r>
          </a:p>
          <a:p>
            <a:pPr algn="just">
              <a:lnSpc>
                <a:spcPct val="150000"/>
              </a:lnSpc>
            </a:pPr>
            <a:r>
              <a:rPr lang="pt-BR" sz="1600" dirty="0">
                <a:solidFill>
                  <a:schemeClr val="accent6"/>
                </a:solidFill>
              </a:rPr>
              <a:t>Pequenas distâncias (até 400Km)</a:t>
            </a:r>
          </a:p>
          <a:p>
            <a:pPr algn="just">
              <a:lnSpc>
                <a:spcPct val="150000"/>
              </a:lnSpc>
            </a:pPr>
            <a:r>
              <a:rPr lang="pt-BR" sz="1600" dirty="0">
                <a:solidFill>
                  <a:schemeClr val="accent6"/>
                </a:solidFill>
              </a:rPr>
              <a:t>Trajetos exclusivos onde não há vias para outros modais</a:t>
            </a:r>
          </a:p>
          <a:p>
            <a:pPr algn="just">
              <a:lnSpc>
                <a:spcPct val="150000"/>
              </a:lnSpc>
            </a:pPr>
            <a:r>
              <a:rPr lang="pt-BR" sz="1600" dirty="0">
                <a:solidFill>
                  <a:schemeClr val="accent6"/>
                </a:solidFill>
              </a:rPr>
              <a:t>Quando o tempo de trânsito for valor agregado.</a:t>
            </a:r>
          </a:p>
        </p:txBody>
      </p:sp>
      <p:sp>
        <p:nvSpPr>
          <p:cNvPr id="6" name="Title 1"/>
          <p:cNvSpPr txBox="1">
            <a:spLocks/>
          </p:cNvSpPr>
          <p:nvPr/>
        </p:nvSpPr>
        <p:spPr bwMode="auto">
          <a:xfrm>
            <a:off x="2702982" y="822118"/>
            <a:ext cx="6786036" cy="4005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noAutofit/>
          </a:bodyPr>
          <a:lstStyle>
            <a:lvl1pPr algn="l" defTabSz="449263" rtl="0" eaLnBrk="1" fontAlgn="base" hangingPunct="1">
              <a:spcBef>
                <a:spcPct val="0"/>
              </a:spcBef>
              <a:spcAft>
                <a:spcPct val="0"/>
              </a:spcAft>
              <a:buClr>
                <a:srgbClr val="000000"/>
              </a:buClr>
              <a:buSzPct val="100000"/>
              <a:buFont typeface="Times New Roman" panose="02020603050405020304" pitchFamily="18" charset="0"/>
              <a:defRPr sz="4100" b="1" kern="1200">
                <a:solidFill>
                  <a:srgbClr val="464646"/>
                </a:solidFill>
                <a:latin typeface="+mj-lt"/>
                <a:ea typeface="+mj-ea"/>
                <a:cs typeface="+mj-cs"/>
              </a:defRPr>
            </a:lvl1pPr>
            <a:lvl2pPr marL="742950" indent="-28575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2pPr>
            <a:lvl3pPr marL="1143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3pPr>
            <a:lvl4pPr marL="1600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4pPr>
            <a:lvl5pPr marL="20574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5pPr>
            <a:lvl6pPr marL="25146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6pPr>
            <a:lvl7pPr marL="29718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7pPr>
            <a:lvl8pPr marL="3429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8pPr>
            <a:lvl9pPr marL="3886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9pPr>
          </a:lstStyle>
          <a:p>
            <a:pPr algn="ctr"/>
            <a:r>
              <a:rPr lang="pt-BR" sz="2000">
                <a:solidFill>
                  <a:schemeClr val="accent6"/>
                </a:solidFill>
                <a:latin typeface="+mn-lt"/>
              </a:rPr>
              <a:t>MODAL RODOVIÁRIO</a:t>
            </a:r>
            <a:endParaRPr lang="pt-BR" sz="2000" dirty="0">
              <a:solidFill>
                <a:schemeClr val="accent6"/>
              </a:solidFill>
              <a:latin typeface="+mn-lt"/>
            </a:endParaRPr>
          </a:p>
        </p:txBody>
      </p:sp>
      <p:sp>
        <p:nvSpPr>
          <p:cNvPr id="7" name="Retângulo 6"/>
          <p:cNvSpPr/>
          <p:nvPr/>
        </p:nvSpPr>
        <p:spPr>
          <a:xfrm>
            <a:off x="6906559" y="4400437"/>
            <a:ext cx="4640838" cy="2215991"/>
          </a:xfrm>
          <a:prstGeom prst="rect">
            <a:avLst/>
          </a:prstGeom>
        </p:spPr>
        <p:txBody>
          <a:bodyPr wrap="square">
            <a:spAutoFit/>
          </a:bodyPr>
          <a:lstStyle/>
          <a:p>
            <a:pPr algn="just"/>
            <a:r>
              <a:rPr lang="pt-BR" b="1" dirty="0">
                <a:solidFill>
                  <a:schemeClr val="accent6"/>
                </a:solidFill>
              </a:rPr>
              <a:t>Adaptabilidade</a:t>
            </a:r>
            <a:r>
              <a:rPr lang="pt-BR" dirty="0">
                <a:solidFill>
                  <a:schemeClr val="accent6"/>
                </a:solidFill>
              </a:rPr>
              <a:t>: </a:t>
            </a:r>
          </a:p>
          <a:p>
            <a:pPr algn="just">
              <a:lnSpc>
                <a:spcPct val="150000"/>
              </a:lnSpc>
            </a:pPr>
            <a:r>
              <a:rPr lang="pt-BR" sz="1600" dirty="0">
                <a:solidFill>
                  <a:schemeClr val="accent6"/>
                </a:solidFill>
              </a:rPr>
              <a:t>- Reboques que podem trafegar sobre trilhos e rodovias.</a:t>
            </a:r>
          </a:p>
          <a:p>
            <a:pPr algn="just">
              <a:lnSpc>
                <a:spcPct val="150000"/>
              </a:lnSpc>
            </a:pPr>
            <a:r>
              <a:rPr lang="pt-BR" sz="1600" dirty="0">
                <a:solidFill>
                  <a:schemeClr val="accent6"/>
                </a:solidFill>
              </a:rPr>
              <a:t>- Complementa outros modais.</a:t>
            </a:r>
          </a:p>
          <a:p>
            <a:pPr algn="just">
              <a:lnSpc>
                <a:spcPct val="150000"/>
              </a:lnSpc>
            </a:pPr>
            <a:r>
              <a:rPr lang="pt-BR" sz="1600" dirty="0">
                <a:solidFill>
                  <a:schemeClr val="accent6"/>
                </a:solidFill>
              </a:rPr>
              <a:t>- Flexibilidade nos tipos de reboque.</a:t>
            </a:r>
          </a:p>
          <a:p>
            <a:pPr algn="just">
              <a:lnSpc>
                <a:spcPct val="150000"/>
              </a:lnSpc>
            </a:pPr>
            <a:r>
              <a:rPr lang="pt-BR" sz="1600" dirty="0">
                <a:solidFill>
                  <a:schemeClr val="accent6"/>
                </a:solidFill>
              </a:rPr>
              <a:t>- Extensíveis.</a:t>
            </a:r>
          </a:p>
        </p:txBody>
      </p:sp>
      <p:pic>
        <p:nvPicPr>
          <p:cNvPr id="8" name="Picture 4" descr="ThinkstockPhotos-89352771 (1).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29501" y="1641333"/>
            <a:ext cx="3660434" cy="2425037"/>
          </a:xfrm>
          <a:prstGeom prst="rect">
            <a:avLst/>
          </a:prstGeom>
        </p:spPr>
      </p:pic>
    </p:spTree>
    <p:extLst>
      <p:ext uri="{BB962C8B-B14F-4D97-AF65-F5344CB8AC3E}">
        <p14:creationId xmlns:p14="http://schemas.microsoft.com/office/powerpoint/2010/main" val="3111393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par>
                          <p:cTn id="8" fill="hold">
                            <p:stCondLst>
                              <p:cond delay="500"/>
                            </p:stCondLst>
                            <p:childTnLst>
                              <p:par>
                                <p:cTn id="9" presetID="6" presetClass="entr" presetSubtype="16"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circle(in)">
                                      <p:cBhvr>
                                        <p:cTn id="11" dur="20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down)">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1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tângulo 3"/>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
        <p:nvSpPr>
          <p:cNvPr id="8" name="CaixaDeTexto 7"/>
          <p:cNvSpPr txBox="1"/>
          <p:nvPr/>
        </p:nvSpPr>
        <p:spPr>
          <a:xfrm>
            <a:off x="2099556" y="953193"/>
            <a:ext cx="7992888" cy="400110"/>
          </a:xfrm>
          <a:prstGeom prst="rect">
            <a:avLst/>
          </a:prstGeom>
          <a:noFill/>
        </p:spPr>
        <p:txBody>
          <a:bodyPr wrap="square" rtlCol="0">
            <a:spAutoFit/>
          </a:bodyPr>
          <a:lstStyle/>
          <a:p>
            <a:pPr algn="ctr"/>
            <a:r>
              <a:rPr lang="pt-BR" sz="2000" b="1" dirty="0">
                <a:solidFill>
                  <a:schemeClr val="accent6"/>
                </a:solidFill>
              </a:rPr>
              <a:t>MODAL RODOVIÁRIO – TIPOS DE EQUIPAMENTOS</a:t>
            </a:r>
          </a:p>
        </p:txBody>
      </p:sp>
      <p:sp>
        <p:nvSpPr>
          <p:cNvPr id="9" name="TextBox 6"/>
          <p:cNvSpPr txBox="1"/>
          <p:nvPr/>
        </p:nvSpPr>
        <p:spPr>
          <a:xfrm>
            <a:off x="1981200" y="3945769"/>
            <a:ext cx="7992888" cy="923330"/>
          </a:xfrm>
          <a:prstGeom prst="rect">
            <a:avLst/>
          </a:prstGeom>
          <a:noFill/>
        </p:spPr>
        <p:txBody>
          <a:bodyPr wrap="square" rtlCol="0">
            <a:spAutoFit/>
          </a:bodyPr>
          <a:lstStyle/>
          <a:p>
            <a:pPr algn="just"/>
            <a:r>
              <a:rPr lang="pt-BR" dirty="0">
                <a:solidFill>
                  <a:schemeClr val="accent6"/>
                </a:solidFill>
                <a:cs typeface="Helvetica Neue"/>
              </a:rPr>
              <a:t>Os tipos de carrocerias utilizadas dependem do </a:t>
            </a:r>
            <a:r>
              <a:rPr lang="pt-BR" b="1" dirty="0">
                <a:solidFill>
                  <a:schemeClr val="accent6"/>
                </a:solidFill>
                <a:cs typeface="Helvetica Neue"/>
              </a:rPr>
              <a:t>tipo de carga transportada,</a:t>
            </a:r>
            <a:r>
              <a:rPr lang="pt-BR" dirty="0">
                <a:solidFill>
                  <a:schemeClr val="accent6"/>
                </a:solidFill>
                <a:cs typeface="Helvetica Neue"/>
              </a:rPr>
              <a:t> de </a:t>
            </a:r>
            <a:r>
              <a:rPr lang="pt-BR" b="1" dirty="0">
                <a:solidFill>
                  <a:schemeClr val="accent6"/>
                </a:solidFill>
                <a:cs typeface="Helvetica Neue"/>
              </a:rPr>
              <a:t>aspectos de segurança envolvidos</a:t>
            </a:r>
            <a:r>
              <a:rPr lang="pt-BR" dirty="0">
                <a:solidFill>
                  <a:schemeClr val="accent6"/>
                </a:solidFill>
                <a:cs typeface="Helvetica Neue"/>
              </a:rPr>
              <a:t>, de </a:t>
            </a:r>
            <a:r>
              <a:rPr lang="pt-BR" b="1" dirty="0">
                <a:solidFill>
                  <a:schemeClr val="accent6"/>
                </a:solidFill>
                <a:cs typeface="Helvetica Neue"/>
              </a:rPr>
              <a:t>condições de carga e descarga</a:t>
            </a:r>
            <a:r>
              <a:rPr lang="pt-BR" dirty="0">
                <a:solidFill>
                  <a:schemeClr val="accent6"/>
                </a:solidFill>
                <a:cs typeface="Helvetica Neue"/>
              </a:rPr>
              <a:t> ou ainda de </a:t>
            </a:r>
            <a:r>
              <a:rPr lang="pt-BR" b="1" dirty="0">
                <a:solidFill>
                  <a:schemeClr val="accent6"/>
                </a:solidFill>
                <a:cs typeface="Helvetica Neue"/>
              </a:rPr>
              <a:t>condições especiais requeridas</a:t>
            </a:r>
            <a:r>
              <a:rPr lang="pt-BR" dirty="0">
                <a:solidFill>
                  <a:schemeClr val="accent6"/>
                </a:solidFill>
                <a:cs typeface="Helvetica Neue"/>
              </a:rPr>
              <a:t>.</a:t>
            </a:r>
          </a:p>
        </p:txBody>
      </p:sp>
      <p:sp>
        <p:nvSpPr>
          <p:cNvPr id="10" name="TextBox 9"/>
          <p:cNvSpPr txBox="1"/>
          <p:nvPr/>
        </p:nvSpPr>
        <p:spPr>
          <a:xfrm>
            <a:off x="1981200" y="2141165"/>
            <a:ext cx="4150659" cy="1477328"/>
          </a:xfrm>
          <a:prstGeom prst="rect">
            <a:avLst/>
          </a:prstGeom>
          <a:noFill/>
        </p:spPr>
        <p:txBody>
          <a:bodyPr wrap="square" rtlCol="0">
            <a:spAutoFit/>
          </a:bodyPr>
          <a:lstStyle/>
          <a:p>
            <a:pPr algn="just"/>
            <a:r>
              <a:rPr lang="pt-BR" dirty="0">
                <a:solidFill>
                  <a:schemeClr val="accent6"/>
                </a:solidFill>
                <a:cs typeface="Helvetica Neue"/>
              </a:rPr>
              <a:t>O equipamento é composto por:</a:t>
            </a:r>
          </a:p>
          <a:p>
            <a:pPr algn="just"/>
            <a:endParaRPr lang="pt-BR" dirty="0">
              <a:solidFill>
                <a:schemeClr val="accent6"/>
              </a:solidFill>
              <a:cs typeface="Helvetica Neue"/>
            </a:endParaRPr>
          </a:p>
          <a:p>
            <a:pPr marL="342900" indent="-342900" algn="just">
              <a:buFont typeface="Arial"/>
              <a:buChar char="•"/>
            </a:pPr>
            <a:r>
              <a:rPr lang="pt-BR" dirty="0">
                <a:solidFill>
                  <a:schemeClr val="accent6"/>
                </a:solidFill>
                <a:cs typeface="Helvetica Neue"/>
              </a:rPr>
              <a:t>Cavalo mecânico e cabine;</a:t>
            </a:r>
          </a:p>
          <a:p>
            <a:pPr marL="342900" indent="-342900" algn="just">
              <a:buFont typeface="Arial"/>
              <a:buChar char="•"/>
            </a:pPr>
            <a:r>
              <a:rPr lang="pt-BR" dirty="0">
                <a:solidFill>
                  <a:schemeClr val="accent6"/>
                </a:solidFill>
                <a:cs typeface="Helvetica Neue"/>
              </a:rPr>
              <a:t>Carroceria – unidade de carga;</a:t>
            </a:r>
          </a:p>
          <a:p>
            <a:pPr marL="342900" indent="-342900" algn="just">
              <a:buFont typeface="Arial"/>
              <a:buChar char="•"/>
            </a:pPr>
            <a:r>
              <a:rPr lang="pt-BR" dirty="0">
                <a:solidFill>
                  <a:schemeClr val="accent6"/>
                </a:solidFill>
                <a:cs typeface="Helvetica Neue"/>
              </a:rPr>
              <a:t>Semirreboque.</a:t>
            </a:r>
          </a:p>
        </p:txBody>
      </p:sp>
      <p:sp>
        <p:nvSpPr>
          <p:cNvPr id="11" name="TextBox 11"/>
          <p:cNvSpPr txBox="1"/>
          <p:nvPr/>
        </p:nvSpPr>
        <p:spPr>
          <a:xfrm>
            <a:off x="1981200" y="5150645"/>
            <a:ext cx="7992888" cy="646331"/>
          </a:xfrm>
          <a:prstGeom prst="rect">
            <a:avLst/>
          </a:prstGeom>
          <a:noFill/>
        </p:spPr>
        <p:txBody>
          <a:bodyPr wrap="square" rtlCol="0">
            <a:spAutoFit/>
          </a:bodyPr>
          <a:lstStyle/>
          <a:p>
            <a:pPr algn="just"/>
            <a:r>
              <a:rPr lang="pt-BR" dirty="0">
                <a:solidFill>
                  <a:schemeClr val="accent6"/>
                </a:solidFill>
                <a:cs typeface="Helvetica Neue"/>
              </a:rPr>
              <a:t>A potência do cavalo mecânico e o número de eixos dependerá da capacidade de carga requerida e do tipo de estrada.</a:t>
            </a:r>
          </a:p>
        </p:txBody>
      </p:sp>
      <p:pic>
        <p:nvPicPr>
          <p:cNvPr id="2" name="Imagem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64956" y="1680579"/>
            <a:ext cx="3009132" cy="2205166"/>
          </a:xfrm>
          <a:prstGeom prst="rect">
            <a:avLst/>
          </a:prstGeom>
        </p:spPr>
      </p:pic>
    </p:spTree>
    <p:extLst>
      <p:ext uri="{BB962C8B-B14F-4D97-AF65-F5344CB8AC3E}">
        <p14:creationId xmlns:p14="http://schemas.microsoft.com/office/powerpoint/2010/main" val="626926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14" presetClass="entr" presetSubtype="10" fill="hold"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randombar(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1000"/>
                                        <p:tgtEl>
                                          <p:spTgt spid="10"/>
                                        </p:tgtEl>
                                      </p:cBhvr>
                                    </p:animEffect>
                                    <p:anim calcmode="lin" valueType="num">
                                      <p:cBhvr>
                                        <p:cTn id="18" dur="1000" fill="hold"/>
                                        <p:tgtEl>
                                          <p:spTgt spid="10"/>
                                        </p:tgtEl>
                                        <p:attrNameLst>
                                          <p:attrName>ppt_x</p:attrName>
                                        </p:attrNameLst>
                                      </p:cBhvr>
                                      <p:tavLst>
                                        <p:tav tm="0">
                                          <p:val>
                                            <p:strVal val="#ppt_x"/>
                                          </p:val>
                                        </p:tav>
                                        <p:tav tm="100000">
                                          <p:val>
                                            <p:strVal val="#ppt_x"/>
                                          </p:val>
                                        </p:tav>
                                      </p:tavLst>
                                    </p:anim>
                                    <p:anim calcmode="lin" valueType="num">
                                      <p:cBhvr>
                                        <p:cTn id="1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left)">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wipe(up)">
                                      <p:cBhvr>
                                        <p:cTn id="2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Lst>
  </p:timing>
</p:sld>
</file>

<file path=ppt/slides/slide1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CaixaDeTexto 5"/>
          <p:cNvSpPr txBox="1"/>
          <p:nvPr/>
        </p:nvSpPr>
        <p:spPr>
          <a:xfrm>
            <a:off x="2099556" y="953193"/>
            <a:ext cx="7992888" cy="400110"/>
          </a:xfrm>
          <a:prstGeom prst="rect">
            <a:avLst/>
          </a:prstGeom>
          <a:noFill/>
        </p:spPr>
        <p:txBody>
          <a:bodyPr wrap="square" rtlCol="0">
            <a:spAutoFit/>
          </a:bodyPr>
          <a:lstStyle/>
          <a:p>
            <a:pPr algn="ctr"/>
            <a:r>
              <a:rPr lang="pt-BR" sz="2000" b="1" dirty="0">
                <a:solidFill>
                  <a:schemeClr val="accent6"/>
                </a:solidFill>
              </a:rPr>
              <a:t>MODAL RODOVIÁRIO – TIPOS DE EQUIPAMENTOS</a:t>
            </a:r>
          </a:p>
        </p:txBody>
      </p:sp>
      <p:pic>
        <p:nvPicPr>
          <p:cNvPr id="11" name="Imagem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55161" y="1814968"/>
            <a:ext cx="3677871" cy="2059608"/>
          </a:xfrm>
          <a:prstGeom prst="rect">
            <a:avLst/>
          </a:prstGeom>
        </p:spPr>
      </p:pic>
      <p:sp>
        <p:nvSpPr>
          <p:cNvPr id="13" name="CaixaDeTexto 12"/>
          <p:cNvSpPr txBox="1"/>
          <p:nvPr/>
        </p:nvSpPr>
        <p:spPr>
          <a:xfrm>
            <a:off x="5148484" y="1814968"/>
            <a:ext cx="4943960" cy="1815882"/>
          </a:xfrm>
          <a:prstGeom prst="rect">
            <a:avLst/>
          </a:prstGeom>
          <a:noFill/>
        </p:spPr>
        <p:txBody>
          <a:bodyPr wrap="square" rtlCol="0">
            <a:spAutoFit/>
          </a:bodyPr>
          <a:lstStyle/>
          <a:p>
            <a:pPr algn="just"/>
            <a:r>
              <a:rPr lang="pt-BR" altLang="pt-BR" sz="1600" b="1" dirty="0">
                <a:solidFill>
                  <a:schemeClr val="accent6"/>
                </a:solidFill>
              </a:rPr>
              <a:t>Veículo Urbano de Carga (VUC)</a:t>
            </a:r>
            <a:r>
              <a:rPr lang="pt-BR" altLang="pt-BR" sz="1600" dirty="0">
                <a:solidFill>
                  <a:schemeClr val="accent6"/>
                </a:solidFill>
              </a:rPr>
              <a:t>                        </a:t>
            </a:r>
            <a:br>
              <a:rPr lang="pt-BR" altLang="pt-BR" sz="1600" dirty="0">
                <a:solidFill>
                  <a:schemeClr val="accent6"/>
                </a:solidFill>
              </a:rPr>
            </a:br>
            <a:r>
              <a:rPr lang="pt-BR" altLang="pt-BR" sz="1600" dirty="0">
                <a:solidFill>
                  <a:schemeClr val="accent6"/>
                </a:solidFill>
              </a:rPr>
              <a:t>Caminhão leve, de menor porte, apropriado para áreas urbanas. Possui a largura máxima de 2,2 metros, comprimento máximo de 7,2 metros e limite de emissão de poluentes. A capacidade do VUC é de até 4 toneladas.</a:t>
            </a:r>
          </a:p>
          <a:p>
            <a:pPr algn="just"/>
            <a:endParaRPr lang="pt-BR" sz="1600" dirty="0">
              <a:solidFill>
                <a:schemeClr val="accent6"/>
              </a:solidFill>
            </a:endParaRPr>
          </a:p>
        </p:txBody>
      </p:sp>
      <p:sp>
        <p:nvSpPr>
          <p:cNvPr id="15" name="CaixaDeTexto 14"/>
          <p:cNvSpPr txBox="1"/>
          <p:nvPr/>
        </p:nvSpPr>
        <p:spPr>
          <a:xfrm>
            <a:off x="852406" y="4496919"/>
            <a:ext cx="6943241" cy="1569660"/>
          </a:xfrm>
          <a:prstGeom prst="rect">
            <a:avLst/>
          </a:prstGeom>
          <a:noFill/>
        </p:spPr>
        <p:txBody>
          <a:bodyPr wrap="square" rtlCol="0">
            <a:spAutoFit/>
          </a:bodyPr>
          <a:lstStyle/>
          <a:p>
            <a:pPr algn="just"/>
            <a:r>
              <a:rPr lang="pt-BR" altLang="pt-BR" sz="1600" b="1" dirty="0">
                <a:solidFill>
                  <a:schemeClr val="accent6"/>
                </a:solidFill>
              </a:rPr>
              <a:t>Toco ou caminhão semipesado</a:t>
            </a:r>
            <a:r>
              <a:rPr lang="pt-BR" altLang="pt-BR" sz="1600" dirty="0">
                <a:solidFill>
                  <a:schemeClr val="accent6"/>
                </a:solidFill>
              </a:rPr>
              <a:t>                          </a:t>
            </a:r>
            <a:br>
              <a:rPr lang="pt-BR" altLang="pt-BR" sz="1600" dirty="0">
                <a:solidFill>
                  <a:schemeClr val="accent6"/>
                </a:solidFill>
              </a:rPr>
            </a:br>
            <a:r>
              <a:rPr lang="pt-BR" altLang="pt-BR" sz="1600" dirty="0">
                <a:solidFill>
                  <a:schemeClr val="accent6"/>
                </a:solidFill>
              </a:rPr>
              <a:t>Tem como característica o eixo simples na carroceria, ou seja, um eixo frontal e outro traseiro de rodagem simples. Capacidade de até 6 toneladas, com Peso Bruto de até 16 toneladas e comprimento máximo de 14 metros. Carroceria menor que um caminhão trucado, possui apenas um eixo e suporta menos peso que o tipo </a:t>
            </a:r>
            <a:r>
              <a:rPr lang="pt-BR" altLang="pt-BR" sz="1600" b="1" i="1" dirty="0" err="1">
                <a:solidFill>
                  <a:schemeClr val="accent6"/>
                </a:solidFill>
              </a:rPr>
              <a:t>truck</a:t>
            </a:r>
            <a:r>
              <a:rPr lang="pt-BR" altLang="pt-BR" sz="1600" dirty="0">
                <a:solidFill>
                  <a:schemeClr val="accent6"/>
                </a:solidFill>
              </a:rPr>
              <a:t>. </a:t>
            </a:r>
          </a:p>
        </p:txBody>
      </p:sp>
      <p:pic>
        <p:nvPicPr>
          <p:cNvPr id="16" name="Imagem 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14931" y="3630850"/>
            <a:ext cx="3757297" cy="2814346"/>
          </a:xfrm>
          <a:prstGeom prst="rect">
            <a:avLst/>
          </a:prstGeom>
        </p:spPr>
      </p:pic>
      <p:sp>
        <p:nvSpPr>
          <p:cNvPr id="9" name="Retângulo 8"/>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Tree>
    <p:extLst>
      <p:ext uri="{BB962C8B-B14F-4D97-AF65-F5344CB8AC3E}">
        <p14:creationId xmlns:p14="http://schemas.microsoft.com/office/powerpoint/2010/main" val="438517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barn(inVertical)">
                                      <p:cBhvr>
                                        <p:cTn id="14" dur="500"/>
                                        <p:tgtEl>
                                          <p:spTgt spid="11"/>
                                        </p:tgtEl>
                                      </p:cBhvr>
                                    </p:animEffect>
                                  </p:childTnLst>
                                </p:cTn>
                              </p:par>
                              <p:par>
                                <p:cTn id="15" presetID="16" presetClass="entr" presetSubtype="21"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barn(inVertical)">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barn(outHorizontal)">
                                      <p:cBhvr>
                                        <p:cTn id="22" dur="500"/>
                                        <p:tgtEl>
                                          <p:spTgt spid="15"/>
                                        </p:tgtEl>
                                      </p:cBhvr>
                                    </p:animEffect>
                                  </p:childTnLst>
                                </p:cTn>
                              </p:par>
                              <p:par>
                                <p:cTn id="23" presetID="16" presetClass="entr" presetSubtype="42"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barn(outHorizontal)">
                                      <p:cBhvr>
                                        <p:cTn id="2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3" grpId="0"/>
      <p:bldP spid="15" grpId="0"/>
    </p:bldLst>
  </p:timing>
</p:sld>
</file>

<file path=ppt/slides/slide1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 name="CaixaDeTexto 12"/>
          <p:cNvSpPr txBox="1"/>
          <p:nvPr/>
        </p:nvSpPr>
        <p:spPr>
          <a:xfrm>
            <a:off x="5762633" y="2858047"/>
            <a:ext cx="5917306" cy="2308324"/>
          </a:xfrm>
          <a:prstGeom prst="rect">
            <a:avLst/>
          </a:prstGeom>
          <a:noFill/>
        </p:spPr>
        <p:txBody>
          <a:bodyPr wrap="square" rtlCol="0">
            <a:spAutoFit/>
          </a:bodyPr>
          <a:lstStyle/>
          <a:p>
            <a:pPr lvl="0" algn="just" eaLnBrk="0" fontAlgn="base" hangingPunct="0">
              <a:spcBef>
                <a:spcPct val="0"/>
              </a:spcBef>
              <a:spcAft>
                <a:spcPct val="0"/>
              </a:spcAft>
            </a:pPr>
            <a:r>
              <a:rPr lang="pt-BR" altLang="pt-BR" b="1" dirty="0" err="1">
                <a:solidFill>
                  <a:schemeClr val="accent6"/>
                </a:solidFill>
              </a:rPr>
              <a:t>Truck</a:t>
            </a:r>
            <a:r>
              <a:rPr lang="pt-BR" altLang="pt-BR" b="1" dirty="0">
                <a:solidFill>
                  <a:schemeClr val="accent6"/>
                </a:solidFill>
              </a:rPr>
              <a:t> ou caminhão pesado</a:t>
            </a:r>
            <a:r>
              <a:rPr lang="pt-BR" altLang="pt-BR" dirty="0">
                <a:solidFill>
                  <a:schemeClr val="accent6"/>
                </a:solidFill>
              </a:rPr>
              <a:t>                             </a:t>
            </a:r>
            <a:br>
              <a:rPr lang="pt-BR" altLang="pt-BR" dirty="0">
                <a:solidFill>
                  <a:schemeClr val="accent6"/>
                </a:solidFill>
              </a:rPr>
            </a:br>
            <a:r>
              <a:rPr lang="pt-BR" altLang="pt-BR" dirty="0">
                <a:solidFill>
                  <a:schemeClr val="accent6"/>
                </a:solidFill>
              </a:rPr>
              <a:t>Possui o eixo duplo na carroceria, ou seja, dois eixos de rodas juntos, com a finalidade de carregar carga maior e com melhor desempenho do veículo. Um dos eixos traseiros recebe a força do motor. Sua capacidade é de 10 a 14 toneladas, com Peso Bruto máximo de 23 toneladas e comprimento de até 14 metros. </a:t>
            </a:r>
          </a:p>
        </p:txBody>
      </p:sp>
      <p:pic>
        <p:nvPicPr>
          <p:cNvPr id="4" name="Imagem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8779" y="2088109"/>
            <a:ext cx="4915366" cy="3270952"/>
          </a:xfrm>
          <a:prstGeom prst="rect">
            <a:avLst/>
          </a:prstGeom>
        </p:spPr>
      </p:pic>
      <p:sp>
        <p:nvSpPr>
          <p:cNvPr id="6" name="Retângulo 5"/>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
        <p:nvSpPr>
          <p:cNvPr id="7" name="CaixaDeTexto 6"/>
          <p:cNvSpPr txBox="1"/>
          <p:nvPr/>
        </p:nvSpPr>
        <p:spPr>
          <a:xfrm>
            <a:off x="2099556" y="953193"/>
            <a:ext cx="7992888" cy="400110"/>
          </a:xfrm>
          <a:prstGeom prst="rect">
            <a:avLst/>
          </a:prstGeom>
          <a:noFill/>
        </p:spPr>
        <p:txBody>
          <a:bodyPr wrap="square" rtlCol="0">
            <a:spAutoFit/>
          </a:bodyPr>
          <a:lstStyle/>
          <a:p>
            <a:pPr algn="ctr"/>
            <a:r>
              <a:rPr lang="pt-BR" sz="2000" b="1" dirty="0">
                <a:solidFill>
                  <a:schemeClr val="accent6"/>
                </a:solidFill>
              </a:rPr>
              <a:t>MODAL RODOVIÁRIO – TIPOS DE EQUIPAMENTOS</a:t>
            </a:r>
          </a:p>
        </p:txBody>
      </p:sp>
    </p:spTree>
    <p:extLst>
      <p:ext uri="{BB962C8B-B14F-4D97-AF65-F5344CB8AC3E}">
        <p14:creationId xmlns:p14="http://schemas.microsoft.com/office/powerpoint/2010/main" val="2597640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arn(inVertical)">
                                      <p:cBhvr>
                                        <p:cTn id="7" dur="500"/>
                                        <p:tgtEl>
                                          <p:spTgt spid="13"/>
                                        </p:tgtEl>
                                      </p:cBhvr>
                                    </p:animEffect>
                                  </p:childTnLst>
                                </p:cTn>
                              </p:par>
                              <p:par>
                                <p:cTn id="8" presetID="16" presetClass="entr" presetSubtype="21"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barn(inVertical)">
                                      <p:cBhvr>
                                        <p:cTn id="10" dur="500"/>
                                        <p:tgtEl>
                                          <p:spTgt spid="4"/>
                                        </p:tgtEl>
                                      </p:cBhvr>
                                    </p:animEffect>
                                  </p:childTnLst>
                                </p:cTn>
                              </p:par>
                            </p:childTnLst>
                          </p:cTn>
                        </p:par>
                        <p:par>
                          <p:cTn id="11" fill="hold">
                            <p:stCondLst>
                              <p:cond delay="500"/>
                            </p:stCondLst>
                            <p:childTnLst>
                              <p:par>
                                <p:cTn id="12" presetID="42" presetClass="entr" presetSubtype="0" fill="hold" grpId="0" nodeType="after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7" grpId="0"/>
    </p:bldLst>
  </p:timing>
</p:sld>
</file>

<file path=ppt/slides/slide1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Retângulo 5"/>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
        <p:nvSpPr>
          <p:cNvPr id="7" name="CaixaDeTexto 6"/>
          <p:cNvSpPr txBox="1"/>
          <p:nvPr/>
        </p:nvSpPr>
        <p:spPr>
          <a:xfrm>
            <a:off x="2099556" y="953193"/>
            <a:ext cx="7992888" cy="400110"/>
          </a:xfrm>
          <a:prstGeom prst="rect">
            <a:avLst/>
          </a:prstGeom>
          <a:noFill/>
        </p:spPr>
        <p:txBody>
          <a:bodyPr wrap="square" rtlCol="0">
            <a:spAutoFit/>
          </a:bodyPr>
          <a:lstStyle/>
          <a:p>
            <a:pPr algn="ctr"/>
            <a:r>
              <a:rPr lang="pt-BR" sz="2000" b="1" dirty="0">
                <a:solidFill>
                  <a:schemeClr val="accent6"/>
                </a:solidFill>
              </a:rPr>
              <a:t>MODAL RODOVIÁRIO – TIPOS DE EQUIPAMENTOS</a:t>
            </a:r>
          </a:p>
        </p:txBody>
      </p:sp>
      <p:sp>
        <p:nvSpPr>
          <p:cNvPr id="8" name="object 2"/>
          <p:cNvSpPr txBox="1"/>
          <p:nvPr/>
        </p:nvSpPr>
        <p:spPr>
          <a:xfrm>
            <a:off x="6659573" y="2921888"/>
            <a:ext cx="4940802" cy="1773561"/>
          </a:xfrm>
          <a:prstGeom prst="rect">
            <a:avLst/>
          </a:prstGeom>
        </p:spPr>
        <p:txBody>
          <a:bodyPr vert="horz" wrap="square" lIns="0" tIns="110489" rIns="0" bIns="0" rtlCol="0">
            <a:spAutoFit/>
          </a:bodyPr>
          <a:lstStyle>
            <a:defPPr>
              <a:defRPr lang="pt-BR"/>
            </a:defPPr>
            <a:lvl1pPr marL="241300" marR="431800" indent="-228600" algn="just">
              <a:spcBef>
                <a:spcPts val="869"/>
              </a:spcBef>
              <a:buFont typeface="Arial"/>
              <a:buChar char="•"/>
              <a:tabLst>
                <a:tab pos="241300" algn="l"/>
                <a:tab pos="10592435" algn="l"/>
              </a:tabLst>
              <a:defRPr b="1" spc="-30">
                <a:solidFill>
                  <a:schemeClr val="accent6"/>
                </a:solidFill>
                <a:cs typeface="Arial"/>
              </a:defRPr>
            </a:lvl1pPr>
          </a:lstStyle>
          <a:p>
            <a:pPr fontAlgn="base"/>
            <a:r>
              <a:rPr lang="pt-BR" dirty="0" err="1"/>
              <a:t>Bitruck</a:t>
            </a:r>
            <a:r>
              <a:rPr lang="pt-BR" b="0" dirty="0"/>
              <a:t>: Caracteriza-se por ter dois pares de eixos, sendo dois traseiros e dois dianteiros. Além da tração nas rodas traseiras, o caminhão </a:t>
            </a:r>
            <a:r>
              <a:rPr lang="pt-BR" b="0" dirty="0" err="1"/>
              <a:t>Bitruck</a:t>
            </a:r>
            <a:r>
              <a:rPr lang="pt-BR" b="0" dirty="0"/>
              <a:t> tem os dois eixos dianteiros direcionais.</a:t>
            </a:r>
          </a:p>
        </p:txBody>
      </p:sp>
      <p:pic>
        <p:nvPicPr>
          <p:cNvPr id="9" name="Picture 2" descr="Resultado de imagem para bi tru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4503" y="1710811"/>
            <a:ext cx="5594283" cy="41957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4065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tângulo 1"/>
          <p:cNvSpPr/>
          <p:nvPr/>
        </p:nvSpPr>
        <p:spPr>
          <a:xfrm>
            <a:off x="1346673" y="2811182"/>
            <a:ext cx="9281676" cy="2862322"/>
          </a:xfrm>
          <a:prstGeom prst="rect">
            <a:avLst/>
          </a:prstGeom>
        </p:spPr>
        <p:txBody>
          <a:bodyPr wrap="square">
            <a:spAutoFit/>
          </a:bodyPr>
          <a:lstStyle/>
          <a:p>
            <a:pPr algn="just"/>
            <a:r>
              <a:rPr lang="pt-BR" dirty="0">
                <a:solidFill>
                  <a:schemeClr val="accent6"/>
                </a:solidFill>
              </a:rPr>
              <a:t>Veículos articulados, possuindo a unidade de tração e de carga localizadas em módulos separados.</a:t>
            </a:r>
          </a:p>
          <a:p>
            <a:pPr algn="just"/>
            <a:endParaRPr lang="pt-BR" dirty="0">
              <a:solidFill>
                <a:schemeClr val="accent6"/>
              </a:solidFill>
            </a:endParaRPr>
          </a:p>
          <a:p>
            <a:pPr algn="just"/>
            <a:r>
              <a:rPr lang="pt-BR" dirty="0">
                <a:solidFill>
                  <a:schemeClr val="accent6"/>
                </a:solidFill>
              </a:rPr>
              <a:t>As unidades de tração são chamadas de cavalo mecânico (que abriga o motor, as rodas de tração e a cabine do motorista). As de carga são chamadas de semirreboque.</a:t>
            </a:r>
          </a:p>
          <a:p>
            <a:pPr algn="just"/>
            <a:endParaRPr lang="pt-BR" dirty="0">
              <a:solidFill>
                <a:schemeClr val="accent6"/>
              </a:solidFill>
            </a:endParaRPr>
          </a:p>
          <a:p>
            <a:pPr algn="just"/>
            <a:r>
              <a:rPr lang="pt-BR" dirty="0">
                <a:solidFill>
                  <a:schemeClr val="accent6"/>
                </a:solidFill>
              </a:rPr>
              <a:t>As carretas também apresentam capacidades de carga diversas que, dependendo do número de eixos do cavalo mecânico (dois ou três), e do semirreboque (dois ou três), variam até aproximadamente 30 toneladas.</a:t>
            </a:r>
          </a:p>
        </p:txBody>
      </p:sp>
      <p:sp>
        <p:nvSpPr>
          <p:cNvPr id="3" name="Retângulo 2"/>
          <p:cNvSpPr/>
          <p:nvPr/>
        </p:nvSpPr>
        <p:spPr>
          <a:xfrm>
            <a:off x="1346673" y="2134728"/>
            <a:ext cx="1350050" cy="369332"/>
          </a:xfrm>
          <a:prstGeom prst="rect">
            <a:avLst/>
          </a:prstGeom>
        </p:spPr>
        <p:txBody>
          <a:bodyPr wrap="none">
            <a:spAutoFit/>
          </a:bodyPr>
          <a:lstStyle/>
          <a:p>
            <a:r>
              <a:rPr lang="pt-BR" b="1" dirty="0">
                <a:solidFill>
                  <a:schemeClr val="accent6"/>
                </a:solidFill>
              </a:rPr>
              <a:t>CARRETAS</a:t>
            </a:r>
            <a:endParaRPr lang="pt-BR" dirty="0"/>
          </a:p>
        </p:txBody>
      </p:sp>
      <p:sp>
        <p:nvSpPr>
          <p:cNvPr id="6" name="Retângulo 5"/>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
        <p:nvSpPr>
          <p:cNvPr id="7" name="CaixaDeTexto 6"/>
          <p:cNvSpPr txBox="1"/>
          <p:nvPr/>
        </p:nvSpPr>
        <p:spPr>
          <a:xfrm>
            <a:off x="2099556" y="953193"/>
            <a:ext cx="7992888" cy="400110"/>
          </a:xfrm>
          <a:prstGeom prst="rect">
            <a:avLst/>
          </a:prstGeom>
          <a:noFill/>
        </p:spPr>
        <p:txBody>
          <a:bodyPr wrap="square" rtlCol="0">
            <a:spAutoFit/>
          </a:bodyPr>
          <a:lstStyle/>
          <a:p>
            <a:pPr algn="ctr"/>
            <a:r>
              <a:rPr lang="pt-BR" sz="2000" b="1" dirty="0">
                <a:solidFill>
                  <a:schemeClr val="accent6"/>
                </a:solidFill>
              </a:rPr>
              <a:t>MODAL RODOVIÁRIO – TIPOS DE EQUIPAMENTOS</a:t>
            </a:r>
          </a:p>
        </p:txBody>
      </p:sp>
    </p:spTree>
    <p:extLst>
      <p:ext uri="{BB962C8B-B14F-4D97-AF65-F5344CB8AC3E}">
        <p14:creationId xmlns:p14="http://schemas.microsoft.com/office/powerpoint/2010/main" val="1850396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1000"/>
                                        <p:tgtEl>
                                          <p:spTgt spid="2"/>
                                        </p:tgtEl>
                                      </p:cBhvr>
                                    </p:animEffect>
                                    <p:anim calcmode="lin" valueType="num">
                                      <p:cBhvr>
                                        <p:cTn id="22" dur="1000" fill="hold"/>
                                        <p:tgtEl>
                                          <p:spTgt spid="2"/>
                                        </p:tgtEl>
                                        <p:attrNameLst>
                                          <p:attrName>ppt_x</p:attrName>
                                        </p:attrNameLst>
                                      </p:cBhvr>
                                      <p:tavLst>
                                        <p:tav tm="0">
                                          <p:val>
                                            <p:strVal val="#ppt_x"/>
                                          </p:val>
                                        </p:tav>
                                        <p:tav tm="100000">
                                          <p:val>
                                            <p:strVal val="#ppt_x"/>
                                          </p:val>
                                        </p:tav>
                                      </p:tavLst>
                                    </p:anim>
                                    <p:anim calcmode="lin" valueType="num">
                                      <p:cBhvr>
                                        <p:cTn id="23"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7" grpId="0"/>
    </p:bldLst>
  </p:timing>
</p:sld>
</file>

<file path=ppt/slides/slide1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CaixaDeTexto 14"/>
          <p:cNvSpPr txBox="1"/>
          <p:nvPr/>
        </p:nvSpPr>
        <p:spPr>
          <a:xfrm>
            <a:off x="5734372" y="2011934"/>
            <a:ext cx="5780869" cy="1077218"/>
          </a:xfrm>
          <a:prstGeom prst="rect">
            <a:avLst/>
          </a:prstGeom>
          <a:noFill/>
        </p:spPr>
        <p:txBody>
          <a:bodyPr wrap="square" rtlCol="0">
            <a:spAutoFit/>
          </a:bodyPr>
          <a:lstStyle/>
          <a:p>
            <a:pPr lvl="0" algn="just" eaLnBrk="0" fontAlgn="base" hangingPunct="0">
              <a:spcBef>
                <a:spcPct val="0"/>
              </a:spcBef>
              <a:spcAft>
                <a:spcPct val="0"/>
              </a:spcAft>
            </a:pPr>
            <a:r>
              <a:rPr lang="pt-BR" altLang="pt-BR" sz="1600" b="1" dirty="0">
                <a:solidFill>
                  <a:schemeClr val="accent6"/>
                </a:solidFill>
              </a:rPr>
              <a:t>Carreta 2 eixos</a:t>
            </a:r>
            <a:r>
              <a:rPr lang="pt-BR" altLang="pt-BR" sz="1600" dirty="0">
                <a:solidFill>
                  <a:schemeClr val="accent6"/>
                </a:solidFill>
              </a:rPr>
              <a:t>                    </a:t>
            </a:r>
            <a:br>
              <a:rPr lang="pt-BR" altLang="pt-BR" sz="1600" dirty="0">
                <a:solidFill>
                  <a:schemeClr val="accent6"/>
                </a:solidFill>
              </a:rPr>
            </a:br>
            <a:r>
              <a:rPr lang="pt-BR" altLang="pt-BR" sz="1600" dirty="0">
                <a:solidFill>
                  <a:schemeClr val="accent6"/>
                </a:solidFill>
              </a:rPr>
              <a:t>Utiliza um cavalo mecânico simples e um semirreboque com 2 eixos cada. Possui peso bruto máximo de 33 toneladas e comprimento máximo de 18,15 metros. </a:t>
            </a:r>
          </a:p>
        </p:txBody>
      </p:sp>
      <p:pic>
        <p:nvPicPr>
          <p:cNvPr id="9" name="Imagem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7512" y="1508110"/>
            <a:ext cx="4856860" cy="2914116"/>
          </a:xfrm>
          <a:prstGeom prst="rect">
            <a:avLst/>
          </a:prstGeom>
        </p:spPr>
      </p:pic>
      <p:sp>
        <p:nvSpPr>
          <p:cNvPr id="10" name="CaixaDeTexto 9"/>
          <p:cNvSpPr txBox="1"/>
          <p:nvPr/>
        </p:nvSpPr>
        <p:spPr>
          <a:xfrm>
            <a:off x="1012295" y="4833062"/>
            <a:ext cx="5824316" cy="1323439"/>
          </a:xfrm>
          <a:prstGeom prst="rect">
            <a:avLst/>
          </a:prstGeom>
          <a:noFill/>
        </p:spPr>
        <p:txBody>
          <a:bodyPr wrap="square" rtlCol="0">
            <a:spAutoFit/>
          </a:bodyPr>
          <a:lstStyle/>
          <a:p>
            <a:pPr lvl="0" algn="just" eaLnBrk="0" fontAlgn="base" hangingPunct="0">
              <a:spcBef>
                <a:spcPct val="0"/>
              </a:spcBef>
              <a:spcAft>
                <a:spcPct val="0"/>
              </a:spcAft>
            </a:pPr>
            <a:r>
              <a:rPr lang="pt-BR" altLang="pt-BR" sz="1600" b="1" dirty="0">
                <a:solidFill>
                  <a:schemeClr val="accent6"/>
                </a:solidFill>
              </a:rPr>
              <a:t>Carreta 3 eixos</a:t>
            </a:r>
            <a:r>
              <a:rPr lang="pt-BR" altLang="pt-BR" sz="1600" dirty="0">
                <a:solidFill>
                  <a:schemeClr val="accent6"/>
                </a:solidFill>
              </a:rPr>
              <a:t>                    </a:t>
            </a:r>
            <a:br>
              <a:rPr lang="pt-BR" altLang="pt-BR" sz="1600" dirty="0">
                <a:solidFill>
                  <a:schemeClr val="accent6"/>
                </a:solidFill>
              </a:rPr>
            </a:br>
            <a:r>
              <a:rPr lang="pt-BR" altLang="pt-BR" sz="1600" dirty="0">
                <a:solidFill>
                  <a:schemeClr val="accent6"/>
                </a:solidFill>
              </a:rPr>
              <a:t>Utiliza um cavalo mecânico simples (2 eixos) e um semirreboque com 3 eixos. Possui peso bruto máximo de 41,5 toneladas e comprimento máximo de 18,15 metros. </a:t>
            </a:r>
          </a:p>
        </p:txBody>
      </p:sp>
      <p:pic>
        <p:nvPicPr>
          <p:cNvPr id="11" name="Imagem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6611" y="3493525"/>
            <a:ext cx="4477151" cy="3090182"/>
          </a:xfrm>
          <a:prstGeom prst="rect">
            <a:avLst/>
          </a:prstGeom>
        </p:spPr>
      </p:pic>
      <p:sp>
        <p:nvSpPr>
          <p:cNvPr id="13" name="Retângulo 12"/>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
        <p:nvSpPr>
          <p:cNvPr id="8" name="CaixaDeTexto 7"/>
          <p:cNvSpPr txBox="1"/>
          <p:nvPr/>
        </p:nvSpPr>
        <p:spPr>
          <a:xfrm>
            <a:off x="2099556" y="953193"/>
            <a:ext cx="7992888" cy="400110"/>
          </a:xfrm>
          <a:prstGeom prst="rect">
            <a:avLst/>
          </a:prstGeom>
          <a:noFill/>
        </p:spPr>
        <p:txBody>
          <a:bodyPr wrap="square" rtlCol="0">
            <a:spAutoFit/>
          </a:bodyPr>
          <a:lstStyle/>
          <a:p>
            <a:pPr algn="ctr"/>
            <a:r>
              <a:rPr lang="pt-BR" sz="2000" b="1" dirty="0">
                <a:solidFill>
                  <a:schemeClr val="accent6"/>
                </a:solidFill>
              </a:rPr>
              <a:t>MODAL RODOVIÁRIO – TIPOS DE EQUIPAMENTOS</a:t>
            </a:r>
          </a:p>
        </p:txBody>
      </p:sp>
    </p:spTree>
    <p:extLst>
      <p:ext uri="{BB962C8B-B14F-4D97-AF65-F5344CB8AC3E}">
        <p14:creationId xmlns:p14="http://schemas.microsoft.com/office/powerpoint/2010/main" val="4095026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1000"/>
                                        <p:tgtEl>
                                          <p:spTgt spid="15"/>
                                        </p:tgtEl>
                                      </p:cBhvr>
                                    </p:animEffect>
                                    <p:anim calcmode="lin" valueType="num">
                                      <p:cBhvr>
                                        <p:cTn id="15" dur="1000" fill="hold"/>
                                        <p:tgtEl>
                                          <p:spTgt spid="15"/>
                                        </p:tgtEl>
                                        <p:attrNameLst>
                                          <p:attrName>ppt_x</p:attrName>
                                        </p:attrNameLst>
                                      </p:cBhvr>
                                      <p:tavLst>
                                        <p:tav tm="0">
                                          <p:val>
                                            <p:strVal val="#ppt_x"/>
                                          </p:val>
                                        </p:tav>
                                        <p:tav tm="100000">
                                          <p:val>
                                            <p:strVal val="#ppt_x"/>
                                          </p:val>
                                        </p:tav>
                                      </p:tavLst>
                                    </p:anim>
                                    <p:anim calcmode="lin" valueType="num">
                                      <p:cBhvr>
                                        <p:cTn id="16" dur="1000" fill="hold"/>
                                        <p:tgtEl>
                                          <p:spTgt spid="15"/>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000"/>
                                        <p:tgtEl>
                                          <p:spTgt spid="9"/>
                                        </p:tgtEl>
                                      </p:cBhvr>
                                    </p:animEffect>
                                    <p:anim calcmode="lin" valueType="num">
                                      <p:cBhvr>
                                        <p:cTn id="20" dur="1000" fill="hold"/>
                                        <p:tgtEl>
                                          <p:spTgt spid="9"/>
                                        </p:tgtEl>
                                        <p:attrNameLst>
                                          <p:attrName>ppt_x</p:attrName>
                                        </p:attrNameLst>
                                      </p:cBhvr>
                                      <p:tavLst>
                                        <p:tav tm="0">
                                          <p:val>
                                            <p:strVal val="#ppt_x"/>
                                          </p:val>
                                        </p:tav>
                                        <p:tav tm="100000">
                                          <p:val>
                                            <p:strVal val="#ppt_x"/>
                                          </p:val>
                                        </p:tav>
                                      </p:tavLst>
                                    </p:anim>
                                    <p:anim calcmode="lin" valueType="num">
                                      <p:cBhvr>
                                        <p:cTn id="21"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0" grpId="0"/>
      <p:bldP spid="8" grpId="0"/>
    </p:bldLst>
  </p:timing>
</p:sld>
</file>

<file path=ppt/slides/slide1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 name="CaixaDeTexto 12"/>
          <p:cNvSpPr txBox="1"/>
          <p:nvPr/>
        </p:nvSpPr>
        <p:spPr>
          <a:xfrm>
            <a:off x="4745528" y="1814968"/>
            <a:ext cx="6738716" cy="1077218"/>
          </a:xfrm>
          <a:prstGeom prst="rect">
            <a:avLst/>
          </a:prstGeom>
          <a:noFill/>
        </p:spPr>
        <p:txBody>
          <a:bodyPr wrap="square" rtlCol="0">
            <a:spAutoFit/>
          </a:bodyPr>
          <a:lstStyle/>
          <a:p>
            <a:pPr lvl="0" algn="just" eaLnBrk="0" fontAlgn="base" hangingPunct="0">
              <a:spcBef>
                <a:spcPct val="0"/>
              </a:spcBef>
              <a:spcAft>
                <a:spcPct val="0"/>
              </a:spcAft>
            </a:pPr>
            <a:r>
              <a:rPr lang="pt-BR" altLang="pt-BR" sz="1600" b="1" dirty="0">
                <a:solidFill>
                  <a:schemeClr val="accent6"/>
                </a:solidFill>
              </a:rPr>
              <a:t>Carreta Cavalo Trucado</a:t>
            </a:r>
            <a:r>
              <a:rPr lang="pt-BR" altLang="pt-BR" sz="1600" dirty="0">
                <a:solidFill>
                  <a:schemeClr val="accent6"/>
                </a:solidFill>
              </a:rPr>
              <a:t>                    </a:t>
            </a:r>
            <a:br>
              <a:rPr lang="pt-BR" altLang="pt-BR" sz="1600" dirty="0">
                <a:solidFill>
                  <a:schemeClr val="accent6"/>
                </a:solidFill>
              </a:rPr>
            </a:br>
            <a:r>
              <a:rPr lang="pt-BR" altLang="pt-BR" sz="1600" dirty="0">
                <a:solidFill>
                  <a:schemeClr val="accent6"/>
                </a:solidFill>
              </a:rPr>
              <a:t>Utiliza um cavalo mecânico trucado e um semirreboque também com 3 eixos. Seu peso bruto máximo é de 45 toneladas e comprimento máximo de 18,15 metros</a:t>
            </a:r>
          </a:p>
        </p:txBody>
      </p:sp>
      <p:sp>
        <p:nvSpPr>
          <p:cNvPr id="15" name="CaixaDeTexto 14"/>
          <p:cNvSpPr txBox="1"/>
          <p:nvPr/>
        </p:nvSpPr>
        <p:spPr>
          <a:xfrm>
            <a:off x="475279" y="4231447"/>
            <a:ext cx="6759780" cy="1815882"/>
          </a:xfrm>
          <a:prstGeom prst="rect">
            <a:avLst/>
          </a:prstGeom>
          <a:noFill/>
        </p:spPr>
        <p:txBody>
          <a:bodyPr wrap="square" rtlCol="0">
            <a:spAutoFit/>
          </a:bodyPr>
          <a:lstStyle/>
          <a:p>
            <a:pPr lvl="0" algn="just" eaLnBrk="0" fontAlgn="base" hangingPunct="0">
              <a:spcBef>
                <a:spcPct val="0"/>
              </a:spcBef>
              <a:spcAft>
                <a:spcPct val="0"/>
              </a:spcAft>
            </a:pPr>
            <a:r>
              <a:rPr lang="pt-BR" altLang="pt-BR" sz="1600" b="1" dirty="0" err="1">
                <a:solidFill>
                  <a:schemeClr val="accent6"/>
                </a:solidFill>
              </a:rPr>
              <a:t>Bitrem</a:t>
            </a:r>
            <a:r>
              <a:rPr lang="pt-BR" altLang="pt-BR" sz="1600" b="1" dirty="0">
                <a:solidFill>
                  <a:schemeClr val="accent6"/>
                </a:solidFill>
              </a:rPr>
              <a:t> ou treminhão</a:t>
            </a:r>
            <a:r>
              <a:rPr lang="pt-BR" altLang="pt-BR" sz="1600" dirty="0">
                <a:solidFill>
                  <a:schemeClr val="accent6"/>
                </a:solidFill>
              </a:rPr>
              <a:t>                                          </a:t>
            </a:r>
            <a:br>
              <a:rPr lang="pt-BR" altLang="pt-BR" sz="1600" dirty="0">
                <a:solidFill>
                  <a:schemeClr val="accent6"/>
                </a:solidFill>
              </a:rPr>
            </a:br>
            <a:r>
              <a:rPr lang="pt-BR" altLang="pt-BR" sz="1600" dirty="0">
                <a:solidFill>
                  <a:schemeClr val="accent6"/>
                </a:solidFill>
              </a:rPr>
              <a:t>Combinação composta por um total de sete eixos. Permite o transporte de um Peso Bruto de 57 toneladas. </a:t>
            </a:r>
          </a:p>
          <a:p>
            <a:pPr lvl="0" algn="just" eaLnBrk="0" fontAlgn="base" hangingPunct="0">
              <a:spcBef>
                <a:spcPct val="0"/>
              </a:spcBef>
              <a:spcAft>
                <a:spcPct val="0"/>
              </a:spcAft>
            </a:pPr>
            <a:r>
              <a:rPr lang="pt-BR" altLang="pt-BR" sz="1600" dirty="0">
                <a:solidFill>
                  <a:schemeClr val="accent6"/>
                </a:solidFill>
              </a:rPr>
              <a:t>É composto por três unidades: um cavalo mecânico tracionando dois semirreboques – o primeiro deles é acoplado na quinta roda do cavalo e o segundo em uma segunda quinta roda, que se localiza no primeiro semirreboque.</a:t>
            </a:r>
          </a:p>
        </p:txBody>
      </p:sp>
      <p:pic>
        <p:nvPicPr>
          <p:cNvPr id="7" name="Imagem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124" y="1304237"/>
            <a:ext cx="3953966" cy="2631185"/>
          </a:xfrm>
          <a:prstGeom prst="rect">
            <a:avLst/>
          </a:prstGeom>
        </p:spPr>
      </p:pic>
      <p:pic>
        <p:nvPicPr>
          <p:cNvPr id="11" name="Imagem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35059" y="3032247"/>
            <a:ext cx="4794142" cy="3590979"/>
          </a:xfrm>
          <a:prstGeom prst="rect">
            <a:avLst/>
          </a:prstGeom>
        </p:spPr>
      </p:pic>
      <p:sp>
        <p:nvSpPr>
          <p:cNvPr id="9" name="Retângulo 8"/>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
        <p:nvSpPr>
          <p:cNvPr id="8" name="CaixaDeTexto 7"/>
          <p:cNvSpPr txBox="1"/>
          <p:nvPr/>
        </p:nvSpPr>
        <p:spPr>
          <a:xfrm>
            <a:off x="2099556" y="953193"/>
            <a:ext cx="7992888" cy="400110"/>
          </a:xfrm>
          <a:prstGeom prst="rect">
            <a:avLst/>
          </a:prstGeom>
          <a:noFill/>
        </p:spPr>
        <p:txBody>
          <a:bodyPr wrap="square" rtlCol="0">
            <a:spAutoFit/>
          </a:bodyPr>
          <a:lstStyle/>
          <a:p>
            <a:pPr algn="ctr"/>
            <a:r>
              <a:rPr lang="pt-BR" sz="2000" b="1" dirty="0">
                <a:solidFill>
                  <a:schemeClr val="accent6"/>
                </a:solidFill>
              </a:rPr>
              <a:t>MODAL RODOVIÁRIO – TIPOS DE EQUIPAMENTOS</a:t>
            </a:r>
          </a:p>
        </p:txBody>
      </p:sp>
    </p:spTree>
    <p:extLst>
      <p:ext uri="{BB962C8B-B14F-4D97-AF65-F5344CB8AC3E}">
        <p14:creationId xmlns:p14="http://schemas.microsoft.com/office/powerpoint/2010/main" val="2737402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barn(inVertical)">
                                      <p:cBhvr>
                                        <p:cTn id="14" dur="500"/>
                                        <p:tgtEl>
                                          <p:spTgt spid="13"/>
                                        </p:tgtEl>
                                      </p:cBhvr>
                                    </p:animEffect>
                                  </p:childTnLst>
                                </p:cTn>
                              </p:par>
                              <p:par>
                                <p:cTn id="15" presetID="16" presetClass="entr" presetSubtype="21"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arn(inVertic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wipe(down)">
                                      <p:cBhvr>
                                        <p:cTn id="22" dur="500"/>
                                        <p:tgtEl>
                                          <p:spTgt spid="15"/>
                                        </p:tgtEl>
                                      </p:cBhvr>
                                    </p:animEffect>
                                  </p:childTnLst>
                                </p:cTn>
                              </p:par>
                              <p:par>
                                <p:cTn id="23" presetID="22" presetClass="entr" presetSubtype="4"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wipe(down)">
                                      <p:cBhvr>
                                        <p:cTn id="2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P spid="8" grpId="0"/>
    </p:bldLst>
  </p:timing>
</p:sld>
</file>

<file path=ppt/slides/slide1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Retângulo de cantos arredondados 7"/>
          <p:cNvSpPr/>
          <p:nvPr/>
        </p:nvSpPr>
        <p:spPr>
          <a:xfrm>
            <a:off x="1679450" y="1618680"/>
            <a:ext cx="2808312" cy="3105743"/>
          </a:xfrm>
          <a:prstGeom prst="round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 name="CaixaDeTexto 8"/>
          <p:cNvSpPr txBox="1"/>
          <p:nvPr/>
        </p:nvSpPr>
        <p:spPr>
          <a:xfrm>
            <a:off x="1679450" y="1690688"/>
            <a:ext cx="2808312" cy="2831544"/>
          </a:xfrm>
          <a:prstGeom prst="rect">
            <a:avLst/>
          </a:prstGeom>
          <a:noFill/>
        </p:spPr>
        <p:txBody>
          <a:bodyPr wrap="square" rtlCol="0">
            <a:spAutoFit/>
          </a:bodyPr>
          <a:lstStyle/>
          <a:p>
            <a:pPr algn="ctr"/>
            <a:r>
              <a:rPr lang="pt-BR" b="1" dirty="0">
                <a:solidFill>
                  <a:schemeClr val="accent6"/>
                </a:solidFill>
              </a:rPr>
              <a:t>Baú de Alumínio</a:t>
            </a:r>
          </a:p>
          <a:p>
            <a:pPr algn="ctr"/>
            <a:r>
              <a:rPr lang="pt-BR" sz="1600" dirty="0">
                <a:solidFill>
                  <a:schemeClr val="accent6"/>
                </a:solidFill>
              </a:rPr>
              <a:t>É um compartimento fechado usado para transportar cargas que necessitam de proteção. Os baús são muito utilizados para carga geral, mudanças, eletrodomésticos e mercadorias não perecíveis.</a:t>
            </a:r>
          </a:p>
        </p:txBody>
      </p:sp>
      <p:pic>
        <p:nvPicPr>
          <p:cNvPr id="1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726" y="4938053"/>
            <a:ext cx="2347390" cy="11247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Retângulo de cantos arredondados 11"/>
          <p:cNvSpPr/>
          <p:nvPr/>
        </p:nvSpPr>
        <p:spPr>
          <a:xfrm>
            <a:off x="4703786" y="1618680"/>
            <a:ext cx="2808312" cy="3105743"/>
          </a:xfrm>
          <a:prstGeom prst="round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3" name="CaixaDeTexto 12"/>
          <p:cNvSpPr txBox="1"/>
          <p:nvPr/>
        </p:nvSpPr>
        <p:spPr>
          <a:xfrm>
            <a:off x="4704203" y="1690688"/>
            <a:ext cx="2807895" cy="2092881"/>
          </a:xfrm>
          <a:prstGeom prst="rect">
            <a:avLst/>
          </a:prstGeom>
          <a:noFill/>
        </p:spPr>
        <p:txBody>
          <a:bodyPr wrap="square" rtlCol="0">
            <a:spAutoFit/>
          </a:bodyPr>
          <a:lstStyle/>
          <a:p>
            <a:pPr algn="ctr"/>
            <a:r>
              <a:rPr lang="pt-BR" b="1" dirty="0" err="1">
                <a:solidFill>
                  <a:schemeClr val="accent6"/>
                </a:solidFill>
              </a:rPr>
              <a:t>Graneleira</a:t>
            </a:r>
            <a:endParaRPr lang="pt-BR" b="1" dirty="0">
              <a:solidFill>
                <a:schemeClr val="accent6"/>
              </a:solidFill>
            </a:endParaRPr>
          </a:p>
          <a:p>
            <a:pPr algn="ctr"/>
            <a:r>
              <a:rPr lang="pt-BR" sz="1600" dirty="0">
                <a:solidFill>
                  <a:schemeClr val="accent6"/>
                </a:solidFill>
              </a:rPr>
              <a:t>É constituído por uma caixa com as laterais altas, para o transporte de grãos a granel. O fechamento superior se dá por meio de uma lona impermeabilizada.</a:t>
            </a:r>
          </a:p>
        </p:txBody>
      </p:sp>
      <p:pic>
        <p:nvPicPr>
          <p:cNvPr id="1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02041" y="5018176"/>
            <a:ext cx="2538941" cy="10446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 name="Retângulo de cantos arredondados 14"/>
          <p:cNvSpPr/>
          <p:nvPr/>
        </p:nvSpPr>
        <p:spPr>
          <a:xfrm>
            <a:off x="7800130" y="1618680"/>
            <a:ext cx="2808312" cy="3105743"/>
          </a:xfrm>
          <a:prstGeom prst="round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6" name="CaixaDeTexto 15"/>
          <p:cNvSpPr txBox="1"/>
          <p:nvPr/>
        </p:nvSpPr>
        <p:spPr>
          <a:xfrm>
            <a:off x="7800130" y="1690688"/>
            <a:ext cx="2808312" cy="2616101"/>
          </a:xfrm>
          <a:prstGeom prst="rect">
            <a:avLst/>
          </a:prstGeom>
          <a:noFill/>
        </p:spPr>
        <p:txBody>
          <a:bodyPr wrap="square" rtlCol="0">
            <a:spAutoFit/>
          </a:bodyPr>
          <a:lstStyle/>
          <a:p>
            <a:pPr algn="ctr"/>
            <a:r>
              <a:rPr lang="pt-BR" b="1" dirty="0">
                <a:solidFill>
                  <a:schemeClr val="accent6"/>
                </a:solidFill>
              </a:rPr>
              <a:t>Carroceria de Carga Seca</a:t>
            </a:r>
          </a:p>
          <a:p>
            <a:pPr algn="ctr"/>
            <a:r>
              <a:rPr lang="pt-BR" sz="1600" dirty="0">
                <a:solidFill>
                  <a:schemeClr val="accent6"/>
                </a:solidFill>
              </a:rPr>
              <a:t>É similar a </a:t>
            </a:r>
            <a:r>
              <a:rPr lang="pt-BR" sz="1600" dirty="0" err="1">
                <a:solidFill>
                  <a:schemeClr val="accent6"/>
                </a:solidFill>
              </a:rPr>
              <a:t>graneleira</a:t>
            </a:r>
            <a:r>
              <a:rPr lang="pt-BR" sz="1600" dirty="0">
                <a:solidFill>
                  <a:schemeClr val="accent6"/>
                </a:solidFill>
              </a:rPr>
              <a:t>, porém com as laterais baixas, facilitando a carga e descarga. São muito utilizadas para carga geral que não necessite de proteção contra ações da natureza.</a:t>
            </a:r>
          </a:p>
        </p:txBody>
      </p:sp>
      <p:pic>
        <p:nvPicPr>
          <p:cNvPr id="17"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05842" y="4989800"/>
            <a:ext cx="2548480" cy="10730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9" name="CaixaDeTexto 18"/>
          <p:cNvSpPr txBox="1"/>
          <p:nvPr/>
        </p:nvSpPr>
        <p:spPr>
          <a:xfrm>
            <a:off x="2099556" y="953193"/>
            <a:ext cx="7992888" cy="400110"/>
          </a:xfrm>
          <a:prstGeom prst="rect">
            <a:avLst/>
          </a:prstGeom>
          <a:noFill/>
        </p:spPr>
        <p:txBody>
          <a:bodyPr wrap="square" rtlCol="0">
            <a:spAutoFit/>
          </a:bodyPr>
          <a:lstStyle/>
          <a:p>
            <a:pPr algn="ctr"/>
            <a:r>
              <a:rPr lang="pt-BR" sz="2000" b="1" dirty="0">
                <a:solidFill>
                  <a:schemeClr val="accent6"/>
                </a:solidFill>
              </a:rPr>
              <a:t>MODAL RODOVIÁRIO – TIPOS DE CARROCERIAS</a:t>
            </a:r>
          </a:p>
        </p:txBody>
      </p:sp>
      <p:sp>
        <p:nvSpPr>
          <p:cNvPr id="20" name="Retângulo 19"/>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Tree>
    <p:extLst>
      <p:ext uri="{BB962C8B-B14F-4D97-AF65-F5344CB8AC3E}">
        <p14:creationId xmlns:p14="http://schemas.microsoft.com/office/powerpoint/2010/main" val="2212289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anim calcmode="lin" valueType="num">
                                      <p:cBhvr>
                                        <p:cTn id="8" dur="1000" fill="hold"/>
                                        <p:tgtEl>
                                          <p:spTgt spid="19"/>
                                        </p:tgtEl>
                                        <p:attrNameLst>
                                          <p:attrName>ppt_x</p:attrName>
                                        </p:attrNameLst>
                                      </p:cBhvr>
                                      <p:tavLst>
                                        <p:tav tm="0">
                                          <p:val>
                                            <p:strVal val="#ppt_x"/>
                                          </p:val>
                                        </p:tav>
                                        <p:tav tm="100000">
                                          <p:val>
                                            <p:strVal val="#ppt_x"/>
                                          </p:val>
                                        </p:tav>
                                      </p:tavLst>
                                    </p:anim>
                                    <p:anim calcmode="lin" valueType="num">
                                      <p:cBhvr>
                                        <p:cTn id="9"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barn(inVertical)">
                                      <p:cBhvr>
                                        <p:cTn id="14" dur="500"/>
                                        <p:tgtEl>
                                          <p:spTgt spid="8"/>
                                        </p:tgtEl>
                                      </p:cBhvr>
                                    </p:animEffect>
                                  </p:childTnLst>
                                </p:cTn>
                              </p:par>
                              <p:par>
                                <p:cTn id="15" presetID="16" presetClass="entr" presetSubtype="21"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arn(inVertical)">
                                      <p:cBhvr>
                                        <p:cTn id="17" dur="500"/>
                                        <p:tgtEl>
                                          <p:spTgt spid="11"/>
                                        </p:tgtEl>
                                      </p:cBhvr>
                                    </p:animEffect>
                                  </p:childTnLst>
                                </p:cTn>
                              </p:par>
                              <p:par>
                                <p:cTn id="18" presetID="16" presetClass="entr" presetSubtype="21"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barn(inVertical)">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barn(inVertical)">
                                      <p:cBhvr>
                                        <p:cTn id="25" dur="500"/>
                                        <p:tgtEl>
                                          <p:spTgt spid="12"/>
                                        </p:tgtEl>
                                      </p:cBhvr>
                                    </p:animEffect>
                                  </p:childTnLst>
                                </p:cTn>
                              </p:par>
                              <p:par>
                                <p:cTn id="26" presetID="16" presetClass="entr" presetSubtype="21"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barn(inVertical)">
                                      <p:cBhvr>
                                        <p:cTn id="28" dur="500"/>
                                        <p:tgtEl>
                                          <p:spTgt spid="13"/>
                                        </p:tgtEl>
                                      </p:cBhvr>
                                    </p:animEffect>
                                  </p:childTnLst>
                                </p:cTn>
                              </p:par>
                              <p:par>
                                <p:cTn id="29" presetID="16" presetClass="entr" presetSubtype="21"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barn(inVertical)">
                                      <p:cBhvr>
                                        <p:cTn id="31" dur="50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16" presetClass="entr" presetSubtype="21" fill="hold" grpId="0" nodeType="click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barn(inVertical)">
                                      <p:cBhvr>
                                        <p:cTn id="36" dur="500"/>
                                        <p:tgtEl>
                                          <p:spTgt spid="15"/>
                                        </p:tgtEl>
                                      </p:cBhvr>
                                    </p:animEffect>
                                  </p:childTnLst>
                                </p:cTn>
                              </p:par>
                              <p:par>
                                <p:cTn id="37" presetID="16" presetClass="entr" presetSubtype="21"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barn(inVertical)">
                                      <p:cBhvr>
                                        <p:cTn id="39" dur="500"/>
                                        <p:tgtEl>
                                          <p:spTgt spid="16"/>
                                        </p:tgtEl>
                                      </p:cBhvr>
                                    </p:animEffect>
                                  </p:childTnLst>
                                </p:cTn>
                              </p:par>
                              <p:par>
                                <p:cTn id="40" presetID="16" presetClass="entr" presetSubtype="21" fill="hold"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barn(inVertical)">
                                      <p:cBhvr>
                                        <p:cTn id="4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2" grpId="0" animBg="1"/>
      <p:bldP spid="13" grpId="0"/>
      <p:bldP spid="15" grpId="0" animBg="1"/>
      <p:bldP spid="16" grpId="0"/>
      <p:bldP spid="19" grpId="0"/>
    </p:bldLst>
  </p:timing>
</p:sld>
</file>

<file path=ppt/slides/slide1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Retângulo de cantos arredondados 17"/>
          <p:cNvSpPr/>
          <p:nvPr/>
        </p:nvSpPr>
        <p:spPr>
          <a:xfrm>
            <a:off x="1669176" y="1478410"/>
            <a:ext cx="2808312" cy="3395995"/>
          </a:xfrm>
          <a:prstGeom prst="round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9" name="CaixaDeTexto 18"/>
          <p:cNvSpPr txBox="1"/>
          <p:nvPr/>
        </p:nvSpPr>
        <p:spPr>
          <a:xfrm>
            <a:off x="1669176" y="1550418"/>
            <a:ext cx="2808312" cy="3323987"/>
          </a:xfrm>
          <a:prstGeom prst="rect">
            <a:avLst/>
          </a:prstGeom>
          <a:noFill/>
        </p:spPr>
        <p:txBody>
          <a:bodyPr wrap="square" rtlCol="0">
            <a:spAutoFit/>
          </a:bodyPr>
          <a:lstStyle/>
          <a:p>
            <a:pPr algn="ctr"/>
            <a:r>
              <a:rPr lang="pt-BR" b="1" dirty="0">
                <a:solidFill>
                  <a:schemeClr val="accent6"/>
                </a:solidFill>
              </a:rPr>
              <a:t>Baú </a:t>
            </a:r>
            <a:r>
              <a:rPr lang="pt-BR" b="1" dirty="0" err="1">
                <a:solidFill>
                  <a:schemeClr val="accent6"/>
                </a:solidFill>
              </a:rPr>
              <a:t>Lonado</a:t>
            </a:r>
            <a:r>
              <a:rPr lang="pt-BR" b="1" dirty="0">
                <a:solidFill>
                  <a:schemeClr val="accent6"/>
                </a:solidFill>
              </a:rPr>
              <a:t> ou </a:t>
            </a:r>
            <a:r>
              <a:rPr lang="pt-BR" b="1" dirty="0" err="1">
                <a:solidFill>
                  <a:schemeClr val="accent6"/>
                </a:solidFill>
              </a:rPr>
              <a:t>Sider</a:t>
            </a:r>
            <a:endParaRPr lang="pt-BR" b="1" dirty="0">
              <a:solidFill>
                <a:schemeClr val="accent6"/>
              </a:solidFill>
            </a:endParaRPr>
          </a:p>
          <a:p>
            <a:pPr algn="ctr"/>
            <a:r>
              <a:rPr lang="pt-BR" sz="1600" dirty="0">
                <a:solidFill>
                  <a:schemeClr val="accent6"/>
                </a:solidFill>
              </a:rPr>
              <a:t>É uma versão do baú com as laterais fechadas por uma cortina de vinil, presa na parte inferior com cintas de alta resistência. Muito utilizado nas entregas </a:t>
            </a:r>
            <a:r>
              <a:rPr lang="pt-BR" sz="1600" i="1" dirty="0">
                <a:solidFill>
                  <a:schemeClr val="accent6"/>
                </a:solidFill>
              </a:rPr>
              <a:t>Just in Time</a:t>
            </a:r>
            <a:r>
              <a:rPr lang="pt-BR" sz="1600" dirty="0">
                <a:solidFill>
                  <a:schemeClr val="accent6"/>
                </a:solidFill>
              </a:rPr>
              <a:t>, pois ao subir o vinil, toda a lateral do baú permanece aberta facilitando a carga e descarga.</a:t>
            </a:r>
          </a:p>
        </p:txBody>
      </p:sp>
      <p:sp>
        <p:nvSpPr>
          <p:cNvPr id="20" name="Retângulo de cantos arredondados 19"/>
          <p:cNvSpPr/>
          <p:nvPr/>
        </p:nvSpPr>
        <p:spPr>
          <a:xfrm>
            <a:off x="4693512" y="1478410"/>
            <a:ext cx="2808312" cy="3395995"/>
          </a:xfrm>
          <a:prstGeom prst="round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1" name="CaixaDeTexto 20"/>
          <p:cNvSpPr txBox="1"/>
          <p:nvPr/>
        </p:nvSpPr>
        <p:spPr>
          <a:xfrm>
            <a:off x="4693929" y="1550418"/>
            <a:ext cx="2807895" cy="2831544"/>
          </a:xfrm>
          <a:prstGeom prst="rect">
            <a:avLst/>
          </a:prstGeom>
          <a:noFill/>
        </p:spPr>
        <p:txBody>
          <a:bodyPr wrap="square" rtlCol="0">
            <a:spAutoFit/>
          </a:bodyPr>
          <a:lstStyle/>
          <a:p>
            <a:pPr algn="ctr"/>
            <a:r>
              <a:rPr lang="pt-BR" b="1" dirty="0">
                <a:solidFill>
                  <a:schemeClr val="accent6"/>
                </a:solidFill>
              </a:rPr>
              <a:t>Baú Isotérmico</a:t>
            </a:r>
          </a:p>
          <a:p>
            <a:pPr algn="ctr"/>
            <a:r>
              <a:rPr lang="pt-BR" sz="1600" dirty="0">
                <a:solidFill>
                  <a:schemeClr val="accent6"/>
                </a:solidFill>
              </a:rPr>
              <a:t>Possui isolamento térmico interno para conservar a carga em sua própria temperatura. Sua funcionalidade é específica para transporte de cargas de baixa perecibilidade, por exemplo, algumas frutas e medicamentos.</a:t>
            </a:r>
          </a:p>
        </p:txBody>
      </p:sp>
      <p:sp>
        <p:nvSpPr>
          <p:cNvPr id="22" name="Retângulo de cantos arredondados 21"/>
          <p:cNvSpPr/>
          <p:nvPr/>
        </p:nvSpPr>
        <p:spPr>
          <a:xfrm>
            <a:off x="7789856" y="1478410"/>
            <a:ext cx="2808312" cy="3395995"/>
          </a:xfrm>
          <a:prstGeom prst="round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3" name="CaixaDeTexto 22"/>
          <p:cNvSpPr txBox="1"/>
          <p:nvPr/>
        </p:nvSpPr>
        <p:spPr>
          <a:xfrm>
            <a:off x="7789856" y="1550418"/>
            <a:ext cx="2808312" cy="2831544"/>
          </a:xfrm>
          <a:prstGeom prst="rect">
            <a:avLst/>
          </a:prstGeom>
          <a:noFill/>
        </p:spPr>
        <p:txBody>
          <a:bodyPr wrap="square" rtlCol="0">
            <a:spAutoFit/>
          </a:bodyPr>
          <a:lstStyle/>
          <a:p>
            <a:pPr algn="ctr"/>
            <a:r>
              <a:rPr lang="pt-BR" b="1" dirty="0">
                <a:solidFill>
                  <a:schemeClr val="accent6"/>
                </a:solidFill>
              </a:rPr>
              <a:t>Baú Frigorificado</a:t>
            </a:r>
          </a:p>
          <a:p>
            <a:pPr algn="ctr"/>
            <a:r>
              <a:rPr lang="pt-BR" sz="1600" dirty="0">
                <a:solidFill>
                  <a:schemeClr val="accent6"/>
                </a:solidFill>
              </a:rPr>
              <a:t>É o Baú de Alumínio com isolamento térmico e um refrigerador que mantém a temperatura interna frigorificada. Utilizado para transportar alimentos que necessitam de refrigeração, como carnes, leite, peixes, entre outros.</a:t>
            </a:r>
          </a:p>
        </p:txBody>
      </p:sp>
      <p:pic>
        <p:nvPicPr>
          <p:cNvPr id="2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6541" y="4959530"/>
            <a:ext cx="2693581" cy="11427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0635" y="4979521"/>
            <a:ext cx="2630729" cy="11228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42308" y="4979521"/>
            <a:ext cx="2503407" cy="11227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7" name="CaixaDeTexto 16"/>
          <p:cNvSpPr txBox="1"/>
          <p:nvPr/>
        </p:nvSpPr>
        <p:spPr>
          <a:xfrm>
            <a:off x="2099556" y="953193"/>
            <a:ext cx="7992888" cy="400110"/>
          </a:xfrm>
          <a:prstGeom prst="rect">
            <a:avLst/>
          </a:prstGeom>
          <a:noFill/>
        </p:spPr>
        <p:txBody>
          <a:bodyPr wrap="square" rtlCol="0">
            <a:spAutoFit/>
          </a:bodyPr>
          <a:lstStyle/>
          <a:p>
            <a:pPr algn="ctr"/>
            <a:r>
              <a:rPr lang="pt-BR" sz="2000" b="1" dirty="0">
                <a:solidFill>
                  <a:schemeClr val="accent6"/>
                </a:solidFill>
              </a:rPr>
              <a:t>MODAL RODOVIÁRIO – TIPOS DE CARROCERIAS</a:t>
            </a:r>
          </a:p>
        </p:txBody>
      </p:sp>
      <p:sp>
        <p:nvSpPr>
          <p:cNvPr id="13" name="Retângulo 12"/>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Tree>
    <p:extLst>
      <p:ext uri="{BB962C8B-B14F-4D97-AF65-F5344CB8AC3E}">
        <p14:creationId xmlns:p14="http://schemas.microsoft.com/office/powerpoint/2010/main" val="3390980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down)">
                                      <p:cBhvr>
                                        <p:cTn id="7" dur="500"/>
                                        <p:tgtEl>
                                          <p:spTgt spid="19"/>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wipe(down)">
                                      <p:cBhvr>
                                        <p:cTn id="10" dur="500"/>
                                        <p:tgtEl>
                                          <p:spTgt spid="18"/>
                                        </p:tgtEl>
                                      </p:cBhvr>
                                    </p:animEffect>
                                  </p:childTnLst>
                                </p:cTn>
                              </p:par>
                              <p:par>
                                <p:cTn id="11" presetID="22" presetClass="entr" presetSubtype="4" fill="hold"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wipe(down)">
                                      <p:cBhvr>
                                        <p:cTn id="13" dur="500"/>
                                        <p:tgtEl>
                                          <p:spTgt spid="24"/>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wipe(down)">
                                      <p:cBhvr>
                                        <p:cTn id="18" dur="500"/>
                                        <p:tgtEl>
                                          <p:spTgt spid="20"/>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wipe(down)">
                                      <p:cBhvr>
                                        <p:cTn id="21" dur="500"/>
                                        <p:tgtEl>
                                          <p:spTgt spid="21"/>
                                        </p:tgtEl>
                                      </p:cBhvr>
                                    </p:animEffect>
                                  </p:childTnLst>
                                </p:cTn>
                              </p:par>
                              <p:par>
                                <p:cTn id="22" presetID="22" presetClass="entr" presetSubtype="4" fill="hold" nodeType="withEffect">
                                  <p:stCondLst>
                                    <p:cond delay="0"/>
                                  </p:stCondLst>
                                  <p:childTnLst>
                                    <p:set>
                                      <p:cBhvr>
                                        <p:cTn id="23" dur="1" fill="hold">
                                          <p:stCondLst>
                                            <p:cond delay="0"/>
                                          </p:stCondLst>
                                        </p:cTn>
                                        <p:tgtEl>
                                          <p:spTgt spid="25"/>
                                        </p:tgtEl>
                                        <p:attrNameLst>
                                          <p:attrName>style.visibility</p:attrName>
                                        </p:attrNameLst>
                                      </p:cBhvr>
                                      <p:to>
                                        <p:strVal val="visible"/>
                                      </p:to>
                                    </p:set>
                                    <p:animEffect transition="in" filter="wipe(down)">
                                      <p:cBhvr>
                                        <p:cTn id="24" dur="500"/>
                                        <p:tgtEl>
                                          <p:spTgt spid="25"/>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wipe(down)">
                                      <p:cBhvr>
                                        <p:cTn id="29" dur="500"/>
                                        <p:tgtEl>
                                          <p:spTgt spid="23"/>
                                        </p:tgtEl>
                                      </p:cBhvr>
                                    </p:animEffect>
                                  </p:childTnLst>
                                </p:cTn>
                              </p:par>
                              <p:par>
                                <p:cTn id="30" presetID="22" presetClass="entr" presetSubtype="4" fill="hold" grpId="0" nodeType="with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wipe(down)">
                                      <p:cBhvr>
                                        <p:cTn id="32" dur="500"/>
                                        <p:tgtEl>
                                          <p:spTgt spid="22"/>
                                        </p:tgtEl>
                                      </p:cBhvr>
                                    </p:animEffect>
                                  </p:childTnLst>
                                </p:cTn>
                              </p:par>
                              <p:par>
                                <p:cTn id="33" presetID="22" presetClass="entr" presetSubtype="4" fill="hold" nodeType="withEffect">
                                  <p:stCondLst>
                                    <p:cond delay="0"/>
                                  </p:stCondLst>
                                  <p:childTnLst>
                                    <p:set>
                                      <p:cBhvr>
                                        <p:cTn id="34" dur="1" fill="hold">
                                          <p:stCondLst>
                                            <p:cond delay="0"/>
                                          </p:stCondLst>
                                        </p:cTn>
                                        <p:tgtEl>
                                          <p:spTgt spid="26"/>
                                        </p:tgtEl>
                                        <p:attrNameLst>
                                          <p:attrName>style.visibility</p:attrName>
                                        </p:attrNameLst>
                                      </p:cBhvr>
                                      <p:to>
                                        <p:strVal val="visible"/>
                                      </p:to>
                                    </p:set>
                                    <p:animEffect transition="in" filter="wipe(down)">
                                      <p:cBhvr>
                                        <p:cTn id="35"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p:bldP spid="20" grpId="0" animBg="1"/>
      <p:bldP spid="21" grpId="0"/>
      <p:bldP spid="22" grpId="0" animBg="1"/>
      <p:bldP spid="23" grpId="0"/>
    </p:bldLst>
  </p:timing>
</p:sld>
</file>

<file path=ppt/slides/slide1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 name="Retângulo de cantos arredondados 15"/>
          <p:cNvSpPr/>
          <p:nvPr/>
        </p:nvSpPr>
        <p:spPr>
          <a:xfrm>
            <a:off x="1751369" y="1529644"/>
            <a:ext cx="2808312" cy="3249759"/>
          </a:xfrm>
          <a:prstGeom prst="round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7" name="CaixaDeTexto 16"/>
          <p:cNvSpPr txBox="1"/>
          <p:nvPr/>
        </p:nvSpPr>
        <p:spPr>
          <a:xfrm>
            <a:off x="1751369" y="1601652"/>
            <a:ext cx="2808312" cy="2369880"/>
          </a:xfrm>
          <a:prstGeom prst="rect">
            <a:avLst/>
          </a:prstGeom>
          <a:noFill/>
        </p:spPr>
        <p:txBody>
          <a:bodyPr wrap="square" rtlCol="0">
            <a:spAutoFit/>
          </a:bodyPr>
          <a:lstStyle/>
          <a:p>
            <a:pPr algn="ctr"/>
            <a:r>
              <a:rPr lang="pt-BR" b="1" dirty="0">
                <a:solidFill>
                  <a:schemeClr val="accent6"/>
                </a:solidFill>
              </a:rPr>
              <a:t>Baú Transporte de Bebidas</a:t>
            </a:r>
          </a:p>
          <a:p>
            <a:pPr algn="ctr"/>
            <a:r>
              <a:rPr lang="pt-BR" sz="1600" dirty="0">
                <a:solidFill>
                  <a:schemeClr val="accent6"/>
                </a:solidFill>
              </a:rPr>
              <a:t>É o compartimento otimizado para facilitar o manuseio dos engradados e bebidas. Este modelo privilegia a facilidade e a segurança da carga e descarga.</a:t>
            </a:r>
          </a:p>
        </p:txBody>
      </p:sp>
      <p:sp>
        <p:nvSpPr>
          <p:cNvPr id="27" name="Retângulo de cantos arredondados 26"/>
          <p:cNvSpPr/>
          <p:nvPr/>
        </p:nvSpPr>
        <p:spPr>
          <a:xfrm>
            <a:off x="4775705" y="1529644"/>
            <a:ext cx="2808312" cy="3249759"/>
          </a:xfrm>
          <a:prstGeom prst="round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8" name="CaixaDeTexto 27"/>
          <p:cNvSpPr txBox="1"/>
          <p:nvPr/>
        </p:nvSpPr>
        <p:spPr>
          <a:xfrm>
            <a:off x="4776122" y="1601652"/>
            <a:ext cx="2807895" cy="1846659"/>
          </a:xfrm>
          <a:prstGeom prst="rect">
            <a:avLst/>
          </a:prstGeom>
          <a:noFill/>
        </p:spPr>
        <p:txBody>
          <a:bodyPr wrap="square" rtlCol="0">
            <a:spAutoFit/>
          </a:bodyPr>
          <a:lstStyle/>
          <a:p>
            <a:pPr algn="ctr"/>
            <a:r>
              <a:rPr lang="pt-BR" b="1" dirty="0">
                <a:solidFill>
                  <a:schemeClr val="accent6"/>
                </a:solidFill>
              </a:rPr>
              <a:t>Transporte de Botijões</a:t>
            </a:r>
          </a:p>
          <a:p>
            <a:pPr algn="ctr"/>
            <a:r>
              <a:rPr lang="pt-BR" sz="1600" dirty="0">
                <a:solidFill>
                  <a:schemeClr val="accent6"/>
                </a:solidFill>
              </a:rPr>
              <a:t>É o implemento específico para distribuição de botijões de gás. Ele facilita e garante a segurança da carga e descarga.</a:t>
            </a:r>
          </a:p>
        </p:txBody>
      </p:sp>
      <p:sp>
        <p:nvSpPr>
          <p:cNvPr id="29" name="Retângulo de cantos arredondados 28"/>
          <p:cNvSpPr/>
          <p:nvPr/>
        </p:nvSpPr>
        <p:spPr>
          <a:xfrm>
            <a:off x="7872049" y="1529644"/>
            <a:ext cx="2808312" cy="3249759"/>
          </a:xfrm>
          <a:prstGeom prst="round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0" name="CaixaDeTexto 29"/>
          <p:cNvSpPr txBox="1"/>
          <p:nvPr/>
        </p:nvSpPr>
        <p:spPr>
          <a:xfrm>
            <a:off x="7872049" y="1601652"/>
            <a:ext cx="2808312" cy="2585323"/>
          </a:xfrm>
          <a:prstGeom prst="rect">
            <a:avLst/>
          </a:prstGeom>
          <a:noFill/>
        </p:spPr>
        <p:txBody>
          <a:bodyPr wrap="square" rtlCol="0">
            <a:spAutoFit/>
          </a:bodyPr>
          <a:lstStyle/>
          <a:p>
            <a:pPr algn="ctr"/>
            <a:r>
              <a:rPr lang="pt-BR" b="1" dirty="0">
                <a:solidFill>
                  <a:schemeClr val="accent6"/>
                </a:solidFill>
              </a:rPr>
              <a:t>Tanque Térmico</a:t>
            </a:r>
          </a:p>
          <a:p>
            <a:pPr algn="ctr"/>
            <a:r>
              <a:rPr lang="pt-BR" sz="1600" dirty="0">
                <a:solidFill>
                  <a:schemeClr val="accent6"/>
                </a:solidFill>
              </a:rPr>
              <a:t>É utilizado para o transporte de líquidos a baixa pressão. Geralmente possui formato elíptico, que permite armazenar vários produtos como água, combustíveis, sucos cítricos, etc.</a:t>
            </a:r>
          </a:p>
        </p:txBody>
      </p:sp>
      <p:pic>
        <p:nvPicPr>
          <p:cNvPr id="3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7838" y="4959674"/>
            <a:ext cx="2575373" cy="10938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50835" y="4900517"/>
            <a:ext cx="2690329" cy="11529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3"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43926" y="4888681"/>
            <a:ext cx="2664557" cy="11648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9" name="CaixaDeTexto 18"/>
          <p:cNvSpPr txBox="1"/>
          <p:nvPr/>
        </p:nvSpPr>
        <p:spPr>
          <a:xfrm>
            <a:off x="2099556" y="953193"/>
            <a:ext cx="7992888" cy="400110"/>
          </a:xfrm>
          <a:prstGeom prst="rect">
            <a:avLst/>
          </a:prstGeom>
          <a:noFill/>
        </p:spPr>
        <p:txBody>
          <a:bodyPr wrap="square" rtlCol="0">
            <a:spAutoFit/>
          </a:bodyPr>
          <a:lstStyle/>
          <a:p>
            <a:pPr algn="ctr"/>
            <a:r>
              <a:rPr lang="pt-BR" sz="2000" b="1" dirty="0">
                <a:solidFill>
                  <a:schemeClr val="accent6"/>
                </a:solidFill>
              </a:rPr>
              <a:t>MODAL RODOVIÁRIO – TIPOS DE CARROCERIAS</a:t>
            </a:r>
          </a:p>
        </p:txBody>
      </p:sp>
      <p:sp>
        <p:nvSpPr>
          <p:cNvPr id="13" name="Retângulo 12"/>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Tree>
    <p:extLst>
      <p:ext uri="{BB962C8B-B14F-4D97-AF65-F5344CB8AC3E}">
        <p14:creationId xmlns:p14="http://schemas.microsoft.com/office/powerpoint/2010/main" val="2292802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1000"/>
                                        <p:tgtEl>
                                          <p:spTgt spid="16"/>
                                        </p:tgtEl>
                                      </p:cBhvr>
                                    </p:animEffect>
                                    <p:anim calcmode="lin" valueType="num">
                                      <p:cBhvr>
                                        <p:cTn id="13" dur="1000" fill="hold"/>
                                        <p:tgtEl>
                                          <p:spTgt spid="16"/>
                                        </p:tgtEl>
                                        <p:attrNameLst>
                                          <p:attrName>ppt_x</p:attrName>
                                        </p:attrNameLst>
                                      </p:cBhvr>
                                      <p:tavLst>
                                        <p:tav tm="0">
                                          <p:val>
                                            <p:strVal val="#ppt_x"/>
                                          </p:val>
                                        </p:tav>
                                        <p:tav tm="100000">
                                          <p:val>
                                            <p:strVal val="#ppt_x"/>
                                          </p:val>
                                        </p:tav>
                                      </p:tavLst>
                                    </p:anim>
                                    <p:anim calcmode="lin" valueType="num">
                                      <p:cBhvr>
                                        <p:cTn id="14" dur="1000" fill="hold"/>
                                        <p:tgtEl>
                                          <p:spTgt spid="16"/>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fade">
                                      <p:cBhvr>
                                        <p:cTn id="17" dur="1000"/>
                                        <p:tgtEl>
                                          <p:spTgt spid="31"/>
                                        </p:tgtEl>
                                      </p:cBhvr>
                                    </p:animEffect>
                                    <p:anim calcmode="lin" valueType="num">
                                      <p:cBhvr>
                                        <p:cTn id="18" dur="1000" fill="hold"/>
                                        <p:tgtEl>
                                          <p:spTgt spid="31"/>
                                        </p:tgtEl>
                                        <p:attrNameLst>
                                          <p:attrName>ppt_x</p:attrName>
                                        </p:attrNameLst>
                                      </p:cBhvr>
                                      <p:tavLst>
                                        <p:tav tm="0">
                                          <p:val>
                                            <p:strVal val="#ppt_x"/>
                                          </p:val>
                                        </p:tav>
                                        <p:tav tm="100000">
                                          <p:val>
                                            <p:strVal val="#ppt_x"/>
                                          </p:val>
                                        </p:tav>
                                      </p:tavLst>
                                    </p:anim>
                                    <p:anim calcmode="lin" valueType="num">
                                      <p:cBhvr>
                                        <p:cTn id="19"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1000"/>
                                        <p:tgtEl>
                                          <p:spTgt spid="28"/>
                                        </p:tgtEl>
                                      </p:cBhvr>
                                    </p:animEffect>
                                    <p:anim calcmode="lin" valueType="num">
                                      <p:cBhvr>
                                        <p:cTn id="25" dur="1000" fill="hold"/>
                                        <p:tgtEl>
                                          <p:spTgt spid="28"/>
                                        </p:tgtEl>
                                        <p:attrNameLst>
                                          <p:attrName>ppt_x</p:attrName>
                                        </p:attrNameLst>
                                      </p:cBhvr>
                                      <p:tavLst>
                                        <p:tav tm="0">
                                          <p:val>
                                            <p:strVal val="#ppt_x"/>
                                          </p:val>
                                        </p:tav>
                                        <p:tav tm="100000">
                                          <p:val>
                                            <p:strVal val="#ppt_x"/>
                                          </p:val>
                                        </p:tav>
                                      </p:tavLst>
                                    </p:anim>
                                    <p:anim calcmode="lin" valueType="num">
                                      <p:cBhvr>
                                        <p:cTn id="26" dur="1000" fill="hold"/>
                                        <p:tgtEl>
                                          <p:spTgt spid="28"/>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27"/>
                                        </p:tgtEl>
                                        <p:attrNameLst>
                                          <p:attrName>style.visibility</p:attrName>
                                        </p:attrNameLst>
                                      </p:cBhvr>
                                      <p:to>
                                        <p:strVal val="visible"/>
                                      </p:to>
                                    </p:set>
                                    <p:animEffect transition="in" filter="fade">
                                      <p:cBhvr>
                                        <p:cTn id="29" dur="1000"/>
                                        <p:tgtEl>
                                          <p:spTgt spid="27"/>
                                        </p:tgtEl>
                                      </p:cBhvr>
                                    </p:animEffect>
                                    <p:anim calcmode="lin" valueType="num">
                                      <p:cBhvr>
                                        <p:cTn id="30" dur="1000" fill="hold"/>
                                        <p:tgtEl>
                                          <p:spTgt spid="27"/>
                                        </p:tgtEl>
                                        <p:attrNameLst>
                                          <p:attrName>ppt_x</p:attrName>
                                        </p:attrNameLst>
                                      </p:cBhvr>
                                      <p:tavLst>
                                        <p:tav tm="0">
                                          <p:val>
                                            <p:strVal val="#ppt_x"/>
                                          </p:val>
                                        </p:tav>
                                        <p:tav tm="100000">
                                          <p:val>
                                            <p:strVal val="#ppt_x"/>
                                          </p:val>
                                        </p:tav>
                                      </p:tavLst>
                                    </p:anim>
                                    <p:anim calcmode="lin" valueType="num">
                                      <p:cBhvr>
                                        <p:cTn id="31" dur="1000" fill="hold"/>
                                        <p:tgtEl>
                                          <p:spTgt spid="27"/>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32"/>
                                        </p:tgtEl>
                                        <p:attrNameLst>
                                          <p:attrName>style.visibility</p:attrName>
                                        </p:attrNameLst>
                                      </p:cBhvr>
                                      <p:to>
                                        <p:strVal val="visible"/>
                                      </p:to>
                                    </p:set>
                                    <p:animEffect transition="in" filter="fade">
                                      <p:cBhvr>
                                        <p:cTn id="34" dur="1000"/>
                                        <p:tgtEl>
                                          <p:spTgt spid="32"/>
                                        </p:tgtEl>
                                      </p:cBhvr>
                                    </p:animEffect>
                                    <p:anim calcmode="lin" valueType="num">
                                      <p:cBhvr>
                                        <p:cTn id="35" dur="1000" fill="hold"/>
                                        <p:tgtEl>
                                          <p:spTgt spid="32"/>
                                        </p:tgtEl>
                                        <p:attrNameLst>
                                          <p:attrName>ppt_x</p:attrName>
                                        </p:attrNameLst>
                                      </p:cBhvr>
                                      <p:tavLst>
                                        <p:tav tm="0">
                                          <p:val>
                                            <p:strVal val="#ppt_x"/>
                                          </p:val>
                                        </p:tav>
                                        <p:tav tm="100000">
                                          <p:val>
                                            <p:strVal val="#ppt_x"/>
                                          </p:val>
                                        </p:tav>
                                      </p:tavLst>
                                    </p:anim>
                                    <p:anim calcmode="lin" valueType="num">
                                      <p:cBhvr>
                                        <p:cTn id="36"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30"/>
                                        </p:tgtEl>
                                        <p:attrNameLst>
                                          <p:attrName>style.visibility</p:attrName>
                                        </p:attrNameLst>
                                      </p:cBhvr>
                                      <p:to>
                                        <p:strVal val="visible"/>
                                      </p:to>
                                    </p:set>
                                    <p:animEffect transition="in" filter="fade">
                                      <p:cBhvr>
                                        <p:cTn id="41" dur="1000"/>
                                        <p:tgtEl>
                                          <p:spTgt spid="30"/>
                                        </p:tgtEl>
                                      </p:cBhvr>
                                    </p:animEffect>
                                    <p:anim calcmode="lin" valueType="num">
                                      <p:cBhvr>
                                        <p:cTn id="42" dur="1000" fill="hold"/>
                                        <p:tgtEl>
                                          <p:spTgt spid="30"/>
                                        </p:tgtEl>
                                        <p:attrNameLst>
                                          <p:attrName>ppt_x</p:attrName>
                                        </p:attrNameLst>
                                      </p:cBhvr>
                                      <p:tavLst>
                                        <p:tav tm="0">
                                          <p:val>
                                            <p:strVal val="#ppt_x"/>
                                          </p:val>
                                        </p:tav>
                                        <p:tav tm="100000">
                                          <p:val>
                                            <p:strVal val="#ppt_x"/>
                                          </p:val>
                                        </p:tav>
                                      </p:tavLst>
                                    </p:anim>
                                    <p:anim calcmode="lin" valueType="num">
                                      <p:cBhvr>
                                        <p:cTn id="43" dur="1000" fill="hold"/>
                                        <p:tgtEl>
                                          <p:spTgt spid="30"/>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fade">
                                      <p:cBhvr>
                                        <p:cTn id="46" dur="1000"/>
                                        <p:tgtEl>
                                          <p:spTgt spid="29"/>
                                        </p:tgtEl>
                                      </p:cBhvr>
                                    </p:animEffect>
                                    <p:anim calcmode="lin" valueType="num">
                                      <p:cBhvr>
                                        <p:cTn id="47" dur="1000" fill="hold"/>
                                        <p:tgtEl>
                                          <p:spTgt spid="29"/>
                                        </p:tgtEl>
                                        <p:attrNameLst>
                                          <p:attrName>ppt_x</p:attrName>
                                        </p:attrNameLst>
                                      </p:cBhvr>
                                      <p:tavLst>
                                        <p:tav tm="0">
                                          <p:val>
                                            <p:strVal val="#ppt_x"/>
                                          </p:val>
                                        </p:tav>
                                        <p:tav tm="100000">
                                          <p:val>
                                            <p:strVal val="#ppt_x"/>
                                          </p:val>
                                        </p:tav>
                                      </p:tavLst>
                                    </p:anim>
                                    <p:anim calcmode="lin" valueType="num">
                                      <p:cBhvr>
                                        <p:cTn id="48" dur="1000" fill="hold"/>
                                        <p:tgtEl>
                                          <p:spTgt spid="29"/>
                                        </p:tgtEl>
                                        <p:attrNameLst>
                                          <p:attrName>ppt_y</p:attrName>
                                        </p:attrNameLst>
                                      </p:cBhvr>
                                      <p:tavLst>
                                        <p:tav tm="0">
                                          <p:val>
                                            <p:strVal val="#ppt_y+.1"/>
                                          </p:val>
                                        </p:tav>
                                        <p:tav tm="100000">
                                          <p:val>
                                            <p:strVal val="#ppt_y"/>
                                          </p:val>
                                        </p:tav>
                                      </p:tavLst>
                                    </p:anim>
                                  </p:childTnLst>
                                </p:cTn>
                              </p:par>
                              <p:par>
                                <p:cTn id="49" presetID="42" presetClass="entr" presetSubtype="0" fill="hold" nodeType="withEffect">
                                  <p:stCondLst>
                                    <p:cond delay="0"/>
                                  </p:stCondLst>
                                  <p:childTnLst>
                                    <p:set>
                                      <p:cBhvr>
                                        <p:cTn id="50" dur="1" fill="hold">
                                          <p:stCondLst>
                                            <p:cond delay="0"/>
                                          </p:stCondLst>
                                        </p:cTn>
                                        <p:tgtEl>
                                          <p:spTgt spid="33"/>
                                        </p:tgtEl>
                                        <p:attrNameLst>
                                          <p:attrName>style.visibility</p:attrName>
                                        </p:attrNameLst>
                                      </p:cBhvr>
                                      <p:to>
                                        <p:strVal val="visible"/>
                                      </p:to>
                                    </p:set>
                                    <p:animEffect transition="in" filter="fade">
                                      <p:cBhvr>
                                        <p:cTn id="51" dur="1000"/>
                                        <p:tgtEl>
                                          <p:spTgt spid="33"/>
                                        </p:tgtEl>
                                      </p:cBhvr>
                                    </p:animEffect>
                                    <p:anim calcmode="lin" valueType="num">
                                      <p:cBhvr>
                                        <p:cTn id="52" dur="1000" fill="hold"/>
                                        <p:tgtEl>
                                          <p:spTgt spid="33"/>
                                        </p:tgtEl>
                                        <p:attrNameLst>
                                          <p:attrName>ppt_x</p:attrName>
                                        </p:attrNameLst>
                                      </p:cBhvr>
                                      <p:tavLst>
                                        <p:tav tm="0">
                                          <p:val>
                                            <p:strVal val="#ppt_x"/>
                                          </p:val>
                                        </p:tav>
                                        <p:tav tm="100000">
                                          <p:val>
                                            <p:strVal val="#ppt_x"/>
                                          </p:val>
                                        </p:tav>
                                      </p:tavLst>
                                    </p:anim>
                                    <p:anim calcmode="lin" valueType="num">
                                      <p:cBhvr>
                                        <p:cTn id="53"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p:bldP spid="27" grpId="0" animBg="1"/>
      <p:bldP spid="28" grpId="0"/>
      <p:bldP spid="29" grpId="0" animBg="1"/>
      <p:bldP spid="30" grpId="0"/>
    </p:bldLst>
  </p:timing>
</p:sld>
</file>

<file path=ppt/slides/slide1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Retângulo de cantos arredondados 17"/>
          <p:cNvSpPr/>
          <p:nvPr/>
        </p:nvSpPr>
        <p:spPr>
          <a:xfrm>
            <a:off x="1730820" y="1395161"/>
            <a:ext cx="2808312" cy="3642216"/>
          </a:xfrm>
          <a:prstGeom prst="round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9" name="CaixaDeTexto 18"/>
          <p:cNvSpPr txBox="1"/>
          <p:nvPr/>
        </p:nvSpPr>
        <p:spPr>
          <a:xfrm>
            <a:off x="1730820" y="1467168"/>
            <a:ext cx="2808312" cy="2339102"/>
          </a:xfrm>
          <a:prstGeom prst="rect">
            <a:avLst/>
          </a:prstGeom>
          <a:noFill/>
        </p:spPr>
        <p:txBody>
          <a:bodyPr wrap="square" rtlCol="0">
            <a:spAutoFit/>
          </a:bodyPr>
          <a:lstStyle/>
          <a:p>
            <a:pPr algn="ctr"/>
            <a:r>
              <a:rPr lang="pt-BR" b="1" dirty="0">
                <a:solidFill>
                  <a:schemeClr val="accent6"/>
                </a:solidFill>
              </a:rPr>
              <a:t>Tanque de Gás</a:t>
            </a:r>
          </a:p>
          <a:p>
            <a:pPr algn="ctr"/>
            <a:r>
              <a:rPr lang="pt-BR" sz="1600" dirty="0">
                <a:solidFill>
                  <a:schemeClr val="accent6"/>
                </a:solidFill>
              </a:rPr>
              <a:t>Similar ao tanque térmico, porém utilizado exclusivamente para o transporte de gás ou gás liquefeito. Normalmente com formato cilíndrico e paredes que suportam altas pressões.</a:t>
            </a:r>
          </a:p>
        </p:txBody>
      </p:sp>
      <p:sp>
        <p:nvSpPr>
          <p:cNvPr id="20" name="Retângulo de cantos arredondados 19"/>
          <p:cNvSpPr/>
          <p:nvPr/>
        </p:nvSpPr>
        <p:spPr>
          <a:xfrm>
            <a:off x="4755156" y="1395161"/>
            <a:ext cx="2808312" cy="3642216"/>
          </a:xfrm>
          <a:prstGeom prst="round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1" name="CaixaDeTexto 20"/>
          <p:cNvSpPr txBox="1"/>
          <p:nvPr/>
        </p:nvSpPr>
        <p:spPr>
          <a:xfrm>
            <a:off x="4755573" y="1467168"/>
            <a:ext cx="2807895" cy="2585323"/>
          </a:xfrm>
          <a:prstGeom prst="rect">
            <a:avLst/>
          </a:prstGeom>
          <a:noFill/>
        </p:spPr>
        <p:txBody>
          <a:bodyPr wrap="square" rtlCol="0">
            <a:spAutoFit/>
          </a:bodyPr>
          <a:lstStyle/>
          <a:p>
            <a:pPr algn="ctr"/>
            <a:r>
              <a:rPr lang="pt-BR" b="1" dirty="0">
                <a:solidFill>
                  <a:schemeClr val="accent6"/>
                </a:solidFill>
              </a:rPr>
              <a:t>Basculante ou Báscula</a:t>
            </a:r>
          </a:p>
          <a:p>
            <a:pPr algn="ctr"/>
            <a:r>
              <a:rPr lang="pt-BR" sz="1600" dirty="0">
                <a:solidFill>
                  <a:schemeClr val="accent6"/>
                </a:solidFill>
              </a:rPr>
              <a:t>Destinado ao transporte de pedras, britas, areia, terra e similares. Tem como característica principal o </a:t>
            </a:r>
            <a:r>
              <a:rPr lang="pt-BR" sz="1600" dirty="0" err="1">
                <a:solidFill>
                  <a:schemeClr val="accent6"/>
                </a:solidFill>
              </a:rPr>
              <a:t>auto-descarregamento</a:t>
            </a:r>
            <a:r>
              <a:rPr lang="pt-BR" sz="1600" dirty="0">
                <a:solidFill>
                  <a:schemeClr val="accent6"/>
                </a:solidFill>
              </a:rPr>
              <a:t>, pela inclinação do implemento, acionado por meio de um pistão hidráulico. </a:t>
            </a:r>
          </a:p>
        </p:txBody>
      </p:sp>
      <p:sp>
        <p:nvSpPr>
          <p:cNvPr id="22" name="Retângulo de cantos arredondados 21"/>
          <p:cNvSpPr/>
          <p:nvPr/>
        </p:nvSpPr>
        <p:spPr>
          <a:xfrm>
            <a:off x="7851500" y="1395161"/>
            <a:ext cx="2808312" cy="3642215"/>
          </a:xfrm>
          <a:prstGeom prst="round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3" name="CaixaDeTexto 22"/>
          <p:cNvSpPr txBox="1"/>
          <p:nvPr/>
        </p:nvSpPr>
        <p:spPr>
          <a:xfrm>
            <a:off x="7851500" y="1467168"/>
            <a:ext cx="2808312" cy="3570208"/>
          </a:xfrm>
          <a:prstGeom prst="rect">
            <a:avLst/>
          </a:prstGeom>
          <a:noFill/>
        </p:spPr>
        <p:txBody>
          <a:bodyPr wrap="square" rtlCol="0">
            <a:spAutoFit/>
          </a:bodyPr>
          <a:lstStyle/>
          <a:p>
            <a:pPr algn="ctr"/>
            <a:r>
              <a:rPr lang="pt-BR" b="1" dirty="0">
                <a:solidFill>
                  <a:schemeClr val="accent6"/>
                </a:solidFill>
              </a:rPr>
              <a:t>Betoneira</a:t>
            </a:r>
          </a:p>
          <a:p>
            <a:pPr algn="ctr"/>
            <a:r>
              <a:rPr lang="pt-BR" sz="1600" dirty="0">
                <a:solidFill>
                  <a:schemeClr val="accent6"/>
                </a:solidFill>
              </a:rPr>
              <a:t>Trata-se de uma máquina acoplada ao caminhão que, quando acionada por uma bomba hidráulica, o cilindro gira em uma rotação constante. Utilizada exclusivamente para o transporte de concreto preparado	para obras, pois possui um sistema de bombeamento especial para a descarga.</a:t>
            </a:r>
          </a:p>
        </p:txBody>
      </p:sp>
      <p:pic>
        <p:nvPicPr>
          <p:cNvPr id="2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5977" y="5128705"/>
            <a:ext cx="2597998" cy="11134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44530" y="5222588"/>
            <a:ext cx="2629563" cy="11022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74023" y="4996177"/>
            <a:ext cx="2511243" cy="132862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7" name="CaixaDeTexto 16"/>
          <p:cNvSpPr txBox="1"/>
          <p:nvPr/>
        </p:nvSpPr>
        <p:spPr>
          <a:xfrm>
            <a:off x="2099556" y="953193"/>
            <a:ext cx="7992888" cy="400110"/>
          </a:xfrm>
          <a:prstGeom prst="rect">
            <a:avLst/>
          </a:prstGeom>
          <a:noFill/>
        </p:spPr>
        <p:txBody>
          <a:bodyPr wrap="square" rtlCol="0">
            <a:spAutoFit/>
          </a:bodyPr>
          <a:lstStyle/>
          <a:p>
            <a:pPr algn="ctr"/>
            <a:r>
              <a:rPr lang="pt-BR" sz="2000" b="1" dirty="0">
                <a:solidFill>
                  <a:schemeClr val="accent6"/>
                </a:solidFill>
              </a:rPr>
              <a:t>MODAL RODOVIÁRIO – TIPOS DE CARROCERIAS</a:t>
            </a:r>
          </a:p>
        </p:txBody>
      </p:sp>
      <p:sp>
        <p:nvSpPr>
          <p:cNvPr id="13" name="Retângulo 12"/>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Tree>
    <p:extLst>
      <p:ext uri="{BB962C8B-B14F-4D97-AF65-F5344CB8AC3E}">
        <p14:creationId xmlns:p14="http://schemas.microsoft.com/office/powerpoint/2010/main" val="44531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left)">
                                      <p:cBhvr>
                                        <p:cTn id="7" dur="500"/>
                                        <p:tgtEl>
                                          <p:spTgt spid="1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wipe(left)">
                                      <p:cBhvr>
                                        <p:cTn id="10" dur="500"/>
                                        <p:tgtEl>
                                          <p:spTgt spid="18"/>
                                        </p:tgtEl>
                                      </p:cBhvr>
                                    </p:animEffect>
                                  </p:childTnLst>
                                </p:cTn>
                              </p:par>
                              <p:par>
                                <p:cTn id="11" presetID="22" presetClass="entr" presetSubtype="8" fill="hold"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wipe(left)">
                                      <p:cBhvr>
                                        <p:cTn id="13" dur="500"/>
                                        <p:tgtEl>
                                          <p:spTgt spid="24"/>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wipe(left)">
                                      <p:cBhvr>
                                        <p:cTn id="18" dur="500"/>
                                        <p:tgtEl>
                                          <p:spTgt spid="21"/>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wipe(left)">
                                      <p:cBhvr>
                                        <p:cTn id="21" dur="500"/>
                                        <p:tgtEl>
                                          <p:spTgt spid="20"/>
                                        </p:tgtEl>
                                      </p:cBhvr>
                                    </p:animEffect>
                                  </p:childTnLst>
                                </p:cTn>
                              </p:par>
                              <p:par>
                                <p:cTn id="22" presetID="22" presetClass="entr" presetSubtype="8" fill="hold" nodeType="withEffect">
                                  <p:stCondLst>
                                    <p:cond delay="0"/>
                                  </p:stCondLst>
                                  <p:childTnLst>
                                    <p:set>
                                      <p:cBhvr>
                                        <p:cTn id="23" dur="1" fill="hold">
                                          <p:stCondLst>
                                            <p:cond delay="0"/>
                                          </p:stCondLst>
                                        </p:cTn>
                                        <p:tgtEl>
                                          <p:spTgt spid="25"/>
                                        </p:tgtEl>
                                        <p:attrNameLst>
                                          <p:attrName>style.visibility</p:attrName>
                                        </p:attrNameLst>
                                      </p:cBhvr>
                                      <p:to>
                                        <p:strVal val="visible"/>
                                      </p:to>
                                    </p:set>
                                    <p:animEffect transition="in" filter="wipe(left)">
                                      <p:cBhvr>
                                        <p:cTn id="24" dur="500"/>
                                        <p:tgtEl>
                                          <p:spTgt spid="25"/>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22"/>
                                        </p:tgtEl>
                                        <p:attrNameLst>
                                          <p:attrName>style.visibility</p:attrName>
                                        </p:attrNameLst>
                                      </p:cBhvr>
                                      <p:to>
                                        <p:strVal val="visible"/>
                                      </p:to>
                                    </p:set>
                                    <p:animEffect transition="in" filter="wipe(left)">
                                      <p:cBhvr>
                                        <p:cTn id="29" dur="500"/>
                                        <p:tgtEl>
                                          <p:spTgt spid="22"/>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wipe(left)">
                                      <p:cBhvr>
                                        <p:cTn id="32" dur="500"/>
                                        <p:tgtEl>
                                          <p:spTgt spid="23"/>
                                        </p:tgtEl>
                                      </p:cBhvr>
                                    </p:animEffect>
                                  </p:childTnLst>
                                </p:cTn>
                              </p:par>
                              <p:par>
                                <p:cTn id="33" presetID="22" presetClass="entr" presetSubtype="8" fill="hold" nodeType="withEffect">
                                  <p:stCondLst>
                                    <p:cond delay="0"/>
                                  </p:stCondLst>
                                  <p:childTnLst>
                                    <p:set>
                                      <p:cBhvr>
                                        <p:cTn id="34" dur="1" fill="hold">
                                          <p:stCondLst>
                                            <p:cond delay="0"/>
                                          </p:stCondLst>
                                        </p:cTn>
                                        <p:tgtEl>
                                          <p:spTgt spid="26"/>
                                        </p:tgtEl>
                                        <p:attrNameLst>
                                          <p:attrName>style.visibility</p:attrName>
                                        </p:attrNameLst>
                                      </p:cBhvr>
                                      <p:to>
                                        <p:strVal val="visible"/>
                                      </p:to>
                                    </p:set>
                                    <p:animEffect transition="in" filter="wipe(left)">
                                      <p:cBhvr>
                                        <p:cTn id="35"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p:bldP spid="20" grpId="0" animBg="1"/>
      <p:bldP spid="21" grpId="0"/>
      <p:bldP spid="22" grpId="0" animBg="1"/>
      <p:bldP spid="23" grpId="0"/>
    </p:bldLst>
  </p:timing>
</p:sld>
</file>

<file path=ppt/slides/slide1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CaixaDeTexto 4"/>
          <p:cNvSpPr txBox="1"/>
          <p:nvPr/>
        </p:nvSpPr>
        <p:spPr>
          <a:xfrm>
            <a:off x="2099556" y="953193"/>
            <a:ext cx="7992888" cy="400110"/>
          </a:xfrm>
          <a:prstGeom prst="rect">
            <a:avLst/>
          </a:prstGeom>
          <a:noFill/>
        </p:spPr>
        <p:txBody>
          <a:bodyPr wrap="square" rtlCol="0">
            <a:spAutoFit/>
          </a:bodyPr>
          <a:lstStyle/>
          <a:p>
            <a:pPr algn="ctr"/>
            <a:r>
              <a:rPr lang="pt-BR" sz="2000" b="1" dirty="0">
                <a:solidFill>
                  <a:schemeClr val="accent6"/>
                </a:solidFill>
              </a:rPr>
              <a:t>MODAL RODOVIÁRIO</a:t>
            </a:r>
          </a:p>
        </p:txBody>
      </p:sp>
      <p:sp>
        <p:nvSpPr>
          <p:cNvPr id="6" name="Retângulo 5"/>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a:t>
            </a:r>
            <a:endParaRPr lang="pt-BR" sz="2400" dirty="0"/>
          </a:p>
        </p:txBody>
      </p:sp>
      <p:graphicFrame>
        <p:nvGraphicFramePr>
          <p:cNvPr id="3" name="Tabela 2"/>
          <p:cNvGraphicFramePr>
            <a:graphicFrameLocks noGrp="1"/>
          </p:cNvGraphicFramePr>
          <p:nvPr/>
        </p:nvGraphicFramePr>
        <p:xfrm>
          <a:off x="10985500" y="5562600"/>
          <a:ext cx="208280" cy="365760"/>
        </p:xfrm>
        <a:graphic>
          <a:graphicData uri="http://schemas.openxmlformats.org/drawingml/2006/table">
            <a:tbl>
              <a:tblPr/>
              <a:tblGrid>
                <a:gridCol w="208280">
                  <a:extLst>
                    <a:ext uri="{9D8B030D-6E8A-4147-A177-3AD203B41FA5}">
                      <a16:colId xmlns:a16="http://schemas.microsoft.com/office/drawing/2014/main" val="20000"/>
                    </a:ext>
                  </a:extLst>
                </a:gridCol>
              </a:tblGrid>
              <a:tr h="0">
                <a:tc>
                  <a:txBody>
                    <a:bodyPr/>
                    <a:lstStyle/>
                    <a:p>
                      <a:endParaRPr lang="pt-BR" dirty="0"/>
                    </a:p>
                  </a:txBody>
                  <a:tcP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tcPr>
                </a:tc>
                <a:extLst>
                  <a:ext uri="{0D108BD9-81ED-4DB2-BD59-A6C34878D82A}">
                    <a16:rowId xmlns:a16="http://schemas.microsoft.com/office/drawing/2014/main" val="10000"/>
                  </a:ext>
                </a:extLst>
              </a:tr>
            </a:tbl>
          </a:graphicData>
        </a:graphic>
      </p:graphicFrame>
      <p:sp>
        <p:nvSpPr>
          <p:cNvPr id="2" name="Retângulo 1"/>
          <p:cNvSpPr/>
          <p:nvPr/>
        </p:nvSpPr>
        <p:spPr>
          <a:xfrm>
            <a:off x="3225663" y="4305691"/>
            <a:ext cx="5740674" cy="400110"/>
          </a:xfrm>
          <a:prstGeom prst="rect">
            <a:avLst/>
          </a:prstGeom>
        </p:spPr>
        <p:txBody>
          <a:bodyPr wrap="none">
            <a:spAutoFit/>
          </a:bodyPr>
          <a:lstStyle/>
          <a:p>
            <a:pPr algn="ctr"/>
            <a:r>
              <a:rPr lang="pt-BR" sz="2000" dirty="0">
                <a:solidFill>
                  <a:schemeClr val="accent6"/>
                </a:solidFill>
                <a:hlinkClick r:id="rId2"/>
              </a:rPr>
              <a:t>www.youtube.com/watch?v=HhGma5MUKgo</a:t>
            </a:r>
            <a:endParaRPr lang="pt-BR" sz="2000" dirty="0">
              <a:solidFill>
                <a:schemeClr val="accent6"/>
              </a:solidFill>
            </a:endParaRPr>
          </a:p>
        </p:txBody>
      </p:sp>
      <p:sp>
        <p:nvSpPr>
          <p:cNvPr id="7" name="CaixaDeTexto 6"/>
          <p:cNvSpPr txBox="1"/>
          <p:nvPr/>
        </p:nvSpPr>
        <p:spPr>
          <a:xfrm>
            <a:off x="2387826" y="3392767"/>
            <a:ext cx="7416349" cy="707886"/>
          </a:xfrm>
          <a:prstGeom prst="rect">
            <a:avLst/>
          </a:prstGeom>
          <a:noFill/>
        </p:spPr>
        <p:txBody>
          <a:bodyPr wrap="square" rtlCol="0">
            <a:spAutoFit/>
          </a:bodyPr>
          <a:lstStyle/>
          <a:p>
            <a:pPr marL="1257300" indent="-1257300" algn="ctr"/>
            <a:r>
              <a:rPr lang="pt-BR" sz="2000" dirty="0">
                <a:solidFill>
                  <a:schemeClr val="accent6"/>
                </a:solidFill>
              </a:rPr>
              <a:t>00:05:29 </a:t>
            </a:r>
            <a:r>
              <a:rPr lang="pt-BR" sz="2000" b="1" dirty="0">
                <a:solidFill>
                  <a:schemeClr val="accent6"/>
                </a:solidFill>
              </a:rPr>
              <a:t>TV Senado - MODAL RODOVIÁRIO TEM O MAIOR PESO NA MATRIZ DE TRANSPORTE DE CARGAS</a:t>
            </a:r>
          </a:p>
        </p:txBody>
      </p:sp>
    </p:spTree>
    <p:extLst>
      <p:ext uri="{BB962C8B-B14F-4D97-AF65-F5344CB8AC3E}">
        <p14:creationId xmlns:p14="http://schemas.microsoft.com/office/powerpoint/2010/main" val="2632849988"/>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CaixaDeTexto 4"/>
          <p:cNvSpPr txBox="1"/>
          <p:nvPr/>
        </p:nvSpPr>
        <p:spPr>
          <a:xfrm>
            <a:off x="2099556" y="953193"/>
            <a:ext cx="7992888" cy="400110"/>
          </a:xfrm>
          <a:prstGeom prst="rect">
            <a:avLst/>
          </a:prstGeom>
          <a:noFill/>
        </p:spPr>
        <p:txBody>
          <a:bodyPr wrap="square" rtlCol="0">
            <a:spAutoFit/>
          </a:bodyPr>
          <a:lstStyle/>
          <a:p>
            <a:pPr algn="ctr"/>
            <a:r>
              <a:rPr lang="pt-BR" sz="2000" b="1" dirty="0">
                <a:solidFill>
                  <a:schemeClr val="accent6"/>
                </a:solidFill>
              </a:rPr>
              <a:t>MODAL RODOVIÁRIO</a:t>
            </a:r>
          </a:p>
        </p:txBody>
      </p:sp>
      <p:graphicFrame>
        <p:nvGraphicFramePr>
          <p:cNvPr id="4" name="Tabela 3"/>
          <p:cNvGraphicFramePr>
            <a:graphicFrameLocks noGrp="1"/>
          </p:cNvGraphicFramePr>
          <p:nvPr/>
        </p:nvGraphicFramePr>
        <p:xfrm>
          <a:off x="1208865" y="1461749"/>
          <a:ext cx="9763932" cy="4598942"/>
        </p:xfrm>
        <a:graphic>
          <a:graphicData uri="http://schemas.openxmlformats.org/drawingml/2006/table">
            <a:tbl>
              <a:tblPr>
                <a:tableStyleId>{5DA37D80-6434-44D0-A028-1B22A696006F}</a:tableStyleId>
              </a:tblPr>
              <a:tblGrid>
                <a:gridCol w="4881966">
                  <a:extLst>
                    <a:ext uri="{9D8B030D-6E8A-4147-A177-3AD203B41FA5}">
                      <a16:colId xmlns:a16="http://schemas.microsoft.com/office/drawing/2014/main" val="20000"/>
                    </a:ext>
                  </a:extLst>
                </a:gridCol>
                <a:gridCol w="4881966">
                  <a:extLst>
                    <a:ext uri="{9D8B030D-6E8A-4147-A177-3AD203B41FA5}">
                      <a16:colId xmlns:a16="http://schemas.microsoft.com/office/drawing/2014/main" val="20001"/>
                    </a:ext>
                  </a:extLst>
                </a:gridCol>
              </a:tblGrid>
              <a:tr h="262099">
                <a:tc>
                  <a:txBody>
                    <a:bodyPr/>
                    <a:lstStyle/>
                    <a:p>
                      <a:pPr algn="ctr"/>
                      <a:r>
                        <a:rPr lang="pt-BR" sz="1800" dirty="0">
                          <a:solidFill>
                            <a:schemeClr val="bg1"/>
                          </a:solidFill>
                          <a:effectLst/>
                        </a:rPr>
                        <a:t>VANTAGENS</a:t>
                      </a:r>
                      <a:endParaRPr lang="pt-BR" sz="1800" b="1" dirty="0">
                        <a:solidFill>
                          <a:schemeClr val="bg1"/>
                        </a:solidFill>
                        <a:effectLst/>
                      </a:endParaRPr>
                    </a:p>
                  </a:txBody>
                  <a:tcPr marL="65525" marR="65525" marT="32762" marB="32762" anchor="ctr">
                    <a:solidFill>
                      <a:schemeClr val="accent2">
                        <a:lumMod val="75000"/>
                      </a:schemeClr>
                    </a:solidFill>
                  </a:tcPr>
                </a:tc>
                <a:tc>
                  <a:txBody>
                    <a:bodyPr/>
                    <a:lstStyle/>
                    <a:p>
                      <a:pPr algn="ctr"/>
                      <a:r>
                        <a:rPr lang="pt-BR" sz="1800" dirty="0">
                          <a:solidFill>
                            <a:schemeClr val="bg1"/>
                          </a:solidFill>
                          <a:effectLst/>
                        </a:rPr>
                        <a:t>DESVANTAGENS</a:t>
                      </a:r>
                      <a:endParaRPr lang="pt-BR" sz="1800" b="1" dirty="0">
                        <a:solidFill>
                          <a:schemeClr val="bg1"/>
                        </a:solidFill>
                        <a:effectLst/>
                      </a:endParaRPr>
                    </a:p>
                  </a:txBody>
                  <a:tcPr marL="65525" marR="65525" marT="32762" marB="32762" anchor="ctr">
                    <a:solidFill>
                      <a:schemeClr val="accent2">
                        <a:lumMod val="75000"/>
                      </a:schemeClr>
                    </a:solidFill>
                  </a:tcPr>
                </a:tc>
                <a:extLst>
                  <a:ext uri="{0D108BD9-81ED-4DB2-BD59-A6C34878D82A}">
                    <a16:rowId xmlns:a16="http://schemas.microsoft.com/office/drawing/2014/main" val="10000"/>
                  </a:ext>
                </a:extLst>
              </a:tr>
              <a:tr h="655246">
                <a:tc>
                  <a:txBody>
                    <a:bodyPr/>
                    <a:lstStyle/>
                    <a:p>
                      <a:r>
                        <a:rPr lang="pt-BR" sz="1800" dirty="0">
                          <a:solidFill>
                            <a:schemeClr val="accent6"/>
                          </a:solidFill>
                          <a:effectLst/>
                        </a:rPr>
                        <a:t>Capacidade de tráfego por qualquer rodovia. (flexibilidade).</a:t>
                      </a:r>
                    </a:p>
                  </a:txBody>
                  <a:tcPr marL="65525" marR="65525" marT="32762" marB="32762" anchor="ctr"/>
                </a:tc>
                <a:tc>
                  <a:txBody>
                    <a:bodyPr/>
                    <a:lstStyle/>
                    <a:p>
                      <a:r>
                        <a:rPr lang="pt-BR" sz="1800" dirty="0">
                          <a:solidFill>
                            <a:schemeClr val="accent6"/>
                          </a:solidFill>
                          <a:effectLst/>
                        </a:rPr>
                        <a:t>Limite do tamanho da carga/veículo</a:t>
                      </a:r>
                    </a:p>
                  </a:txBody>
                  <a:tcPr marL="65525" marR="65525" marT="32762" marB="32762" anchor="ctr"/>
                </a:tc>
                <a:extLst>
                  <a:ext uri="{0D108BD9-81ED-4DB2-BD59-A6C34878D82A}">
                    <a16:rowId xmlns:a16="http://schemas.microsoft.com/office/drawing/2014/main" val="10001"/>
                  </a:ext>
                </a:extLst>
              </a:tr>
              <a:tr h="458672">
                <a:tc>
                  <a:txBody>
                    <a:bodyPr/>
                    <a:lstStyle/>
                    <a:p>
                      <a:r>
                        <a:rPr lang="pt-BR" sz="1800">
                          <a:solidFill>
                            <a:schemeClr val="accent6"/>
                          </a:solidFill>
                          <a:effectLst/>
                        </a:rPr>
                        <a:t>Usado em qualquer tipo de carga.</a:t>
                      </a:r>
                    </a:p>
                  </a:txBody>
                  <a:tcPr marL="65525" marR="65525" marT="32762" marB="32762" anchor="ctr"/>
                </a:tc>
                <a:tc>
                  <a:txBody>
                    <a:bodyPr/>
                    <a:lstStyle/>
                    <a:p>
                      <a:r>
                        <a:rPr lang="pt-BR" sz="1800" dirty="0">
                          <a:solidFill>
                            <a:schemeClr val="accent6"/>
                          </a:solidFill>
                          <a:effectLst/>
                        </a:rPr>
                        <a:t>Alto custo de operação.</a:t>
                      </a:r>
                    </a:p>
                  </a:txBody>
                  <a:tcPr marL="65525" marR="65525" marT="32762" marB="32762" anchor="ctr"/>
                </a:tc>
                <a:extLst>
                  <a:ext uri="{0D108BD9-81ED-4DB2-BD59-A6C34878D82A}">
                    <a16:rowId xmlns:a16="http://schemas.microsoft.com/office/drawing/2014/main" val="10002"/>
                  </a:ext>
                </a:extLst>
              </a:tr>
              <a:tr h="458672">
                <a:tc>
                  <a:txBody>
                    <a:bodyPr/>
                    <a:lstStyle/>
                    <a:p>
                      <a:r>
                        <a:rPr lang="pt-BR" sz="1800" dirty="0">
                          <a:solidFill>
                            <a:schemeClr val="accent6"/>
                          </a:solidFill>
                          <a:effectLst/>
                        </a:rPr>
                        <a:t>Agilidade no transporte.</a:t>
                      </a:r>
                    </a:p>
                  </a:txBody>
                  <a:tcPr marL="65525" marR="65525" marT="32762" marB="32762" anchor="ctr"/>
                </a:tc>
                <a:tc>
                  <a:txBody>
                    <a:bodyPr/>
                    <a:lstStyle/>
                    <a:p>
                      <a:r>
                        <a:rPr lang="pt-BR" sz="1800" dirty="0">
                          <a:solidFill>
                            <a:schemeClr val="accent6"/>
                          </a:solidFill>
                          <a:effectLst/>
                        </a:rPr>
                        <a:t>Alto risco de roubo/acidentes.</a:t>
                      </a:r>
                    </a:p>
                  </a:txBody>
                  <a:tcPr marL="65525" marR="65525" marT="32762" marB="32762" anchor="ctr"/>
                </a:tc>
                <a:extLst>
                  <a:ext uri="{0D108BD9-81ED-4DB2-BD59-A6C34878D82A}">
                    <a16:rowId xmlns:a16="http://schemas.microsoft.com/office/drawing/2014/main" val="10003"/>
                  </a:ext>
                </a:extLst>
              </a:tr>
              <a:tr h="851820">
                <a:tc>
                  <a:txBody>
                    <a:bodyPr/>
                    <a:lstStyle/>
                    <a:p>
                      <a:r>
                        <a:rPr lang="pt-BR" sz="1800">
                          <a:solidFill>
                            <a:schemeClr val="accent6"/>
                          </a:solidFill>
                          <a:effectLst/>
                        </a:rPr>
                        <a:t>Não necessita de entrepostos especializados.</a:t>
                      </a:r>
                    </a:p>
                  </a:txBody>
                  <a:tcPr marL="65525" marR="65525" marT="32762" marB="32762" anchor="ctr"/>
                </a:tc>
                <a:tc>
                  <a:txBody>
                    <a:bodyPr/>
                    <a:lstStyle/>
                    <a:p>
                      <a:r>
                        <a:rPr lang="pt-BR" sz="1800" dirty="0">
                          <a:solidFill>
                            <a:schemeClr val="accent6"/>
                          </a:solidFill>
                          <a:effectLst/>
                        </a:rPr>
                        <a:t>Vias com gargalos gerando gastos extras e maior tempo para entrega.</a:t>
                      </a:r>
                    </a:p>
                  </a:txBody>
                  <a:tcPr marL="65525" marR="65525" marT="32762" marB="32762" anchor="ctr"/>
                </a:tc>
                <a:extLst>
                  <a:ext uri="{0D108BD9-81ED-4DB2-BD59-A6C34878D82A}">
                    <a16:rowId xmlns:a16="http://schemas.microsoft.com/office/drawing/2014/main" val="10004"/>
                  </a:ext>
                </a:extLst>
              </a:tr>
              <a:tr h="458672">
                <a:tc>
                  <a:txBody>
                    <a:bodyPr/>
                    <a:lstStyle/>
                    <a:p>
                      <a:r>
                        <a:rPr lang="pt-BR" sz="1800" dirty="0">
                          <a:solidFill>
                            <a:schemeClr val="accent6"/>
                          </a:solidFill>
                          <a:effectLst/>
                        </a:rPr>
                        <a:t>Amplamente disponível.</a:t>
                      </a:r>
                    </a:p>
                  </a:txBody>
                  <a:tcPr marL="65525" marR="65525" marT="32762" marB="32762" anchor="ctr"/>
                </a:tc>
                <a:tc>
                  <a:txBody>
                    <a:bodyPr/>
                    <a:lstStyle/>
                    <a:p>
                      <a:r>
                        <a:rPr lang="pt-BR" sz="1800" dirty="0">
                          <a:solidFill>
                            <a:schemeClr val="accent6"/>
                          </a:solidFill>
                          <a:effectLst/>
                        </a:rPr>
                        <a:t>Modal mais poluidor que há.</a:t>
                      </a:r>
                    </a:p>
                  </a:txBody>
                  <a:tcPr marL="65525" marR="65525" marT="32762" marB="32762" anchor="ctr"/>
                </a:tc>
                <a:extLst>
                  <a:ext uri="{0D108BD9-81ED-4DB2-BD59-A6C34878D82A}">
                    <a16:rowId xmlns:a16="http://schemas.microsoft.com/office/drawing/2014/main" val="10005"/>
                  </a:ext>
                </a:extLst>
              </a:tr>
              <a:tr h="458672">
                <a:tc>
                  <a:txBody>
                    <a:bodyPr/>
                    <a:lstStyle/>
                    <a:p>
                      <a:r>
                        <a:rPr lang="pt-BR" sz="1800" dirty="0">
                          <a:solidFill>
                            <a:schemeClr val="accent6"/>
                          </a:solidFill>
                          <a:effectLst/>
                        </a:rPr>
                        <a:t>Elimina manuseio entre origem e destino.</a:t>
                      </a:r>
                    </a:p>
                  </a:txBody>
                  <a:tcPr marL="65525" marR="65525" marT="32762" marB="32762" anchor="ctr"/>
                </a:tc>
                <a:tc>
                  <a:txBody>
                    <a:bodyPr/>
                    <a:lstStyle/>
                    <a:p>
                      <a:r>
                        <a:rPr lang="pt-BR" sz="1800" dirty="0">
                          <a:solidFill>
                            <a:schemeClr val="accent6"/>
                          </a:solidFill>
                          <a:effectLst/>
                        </a:rPr>
                        <a:t>Alto valor de transporte.</a:t>
                      </a:r>
                    </a:p>
                  </a:txBody>
                  <a:tcPr marL="65525" marR="65525" marT="32762" marB="32762" anchor="ctr"/>
                </a:tc>
                <a:extLst>
                  <a:ext uri="{0D108BD9-81ED-4DB2-BD59-A6C34878D82A}">
                    <a16:rowId xmlns:a16="http://schemas.microsoft.com/office/drawing/2014/main" val="10006"/>
                  </a:ext>
                </a:extLst>
              </a:tr>
              <a:tr h="458672">
                <a:tc>
                  <a:txBody>
                    <a:bodyPr/>
                    <a:lstStyle/>
                    <a:p>
                      <a:r>
                        <a:rPr lang="pt-BR" sz="1800" dirty="0">
                          <a:solidFill>
                            <a:schemeClr val="accent6"/>
                          </a:solidFill>
                          <a:effectLst/>
                        </a:rPr>
                        <a:t>Tem se adaptado a outros modais.</a:t>
                      </a:r>
                    </a:p>
                  </a:txBody>
                  <a:tcPr marL="65525" marR="65525" marT="32762" marB="32762" anchor="ctr"/>
                </a:tc>
                <a:tc>
                  <a:txBody>
                    <a:bodyPr/>
                    <a:lstStyle/>
                    <a:p>
                      <a:r>
                        <a:rPr lang="pt-BR" sz="1800" dirty="0">
                          <a:solidFill>
                            <a:schemeClr val="accent6"/>
                          </a:solidFill>
                          <a:effectLst/>
                        </a:rPr>
                        <a:t> </a:t>
                      </a:r>
                    </a:p>
                  </a:txBody>
                  <a:tcPr marL="65525" marR="65525" marT="32762" marB="32762" anchor="ctr">
                    <a:lnR w="12700" cmpd="sng">
                      <a:noFill/>
                    </a:lnR>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7"/>
                  </a:ext>
                </a:extLst>
              </a:tr>
              <a:tr h="458672">
                <a:tc>
                  <a:txBody>
                    <a:bodyPr/>
                    <a:lstStyle/>
                    <a:p>
                      <a:r>
                        <a:rPr lang="pt-BR" sz="1800" dirty="0">
                          <a:solidFill>
                            <a:schemeClr val="accent6"/>
                          </a:solidFill>
                          <a:effectLst/>
                        </a:rPr>
                        <a:t>Fácil contratação e gerenciamento.</a:t>
                      </a:r>
                    </a:p>
                  </a:txBody>
                  <a:tcPr marL="65525" marR="65525" marT="32762" marB="32762" anchor="ctr"/>
                </a:tc>
                <a:tc>
                  <a:txBody>
                    <a:bodyPr/>
                    <a:lstStyle/>
                    <a:p>
                      <a:r>
                        <a:rPr lang="pt-BR" sz="1800" dirty="0">
                          <a:solidFill>
                            <a:schemeClr val="accent6"/>
                          </a:solidFill>
                        </a:rPr>
                        <a:t> </a:t>
                      </a:r>
                    </a:p>
                  </a:txBody>
                  <a:tcPr marL="65525" marR="65525" marT="32762" marB="32762" anchor="ctr">
                    <a:lnR w="12700" cmpd="sng">
                      <a:noFill/>
                    </a:lnR>
                    <a:lnT w="12700" cap="flat" cmpd="sng" algn="ctr">
                      <a:solidFill>
                        <a:schemeClr val="bg1"/>
                      </a:solidFill>
                      <a:prstDash val="solid"/>
                      <a:round/>
                      <a:headEnd type="none" w="med" len="med"/>
                      <a:tailEnd type="none" w="med" len="med"/>
                    </a:lnT>
                    <a:lnB w="12700" cmpd="sng">
                      <a:noFill/>
                    </a:lnB>
                  </a:tcPr>
                </a:tc>
                <a:extLst>
                  <a:ext uri="{0D108BD9-81ED-4DB2-BD59-A6C34878D82A}">
                    <a16:rowId xmlns:a16="http://schemas.microsoft.com/office/drawing/2014/main" val="10008"/>
                  </a:ext>
                </a:extLst>
              </a:tr>
            </a:tbl>
          </a:graphicData>
        </a:graphic>
      </p:graphicFrame>
      <p:sp>
        <p:nvSpPr>
          <p:cNvPr id="6" name="Retângulo 5"/>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graphicFrame>
        <p:nvGraphicFramePr>
          <p:cNvPr id="3" name="Tabela 2"/>
          <p:cNvGraphicFramePr>
            <a:graphicFrameLocks noGrp="1"/>
          </p:cNvGraphicFramePr>
          <p:nvPr/>
        </p:nvGraphicFramePr>
        <p:xfrm>
          <a:off x="10985500" y="5562600"/>
          <a:ext cx="208280" cy="365760"/>
        </p:xfrm>
        <a:graphic>
          <a:graphicData uri="http://schemas.openxmlformats.org/drawingml/2006/table">
            <a:tbl>
              <a:tblPr/>
              <a:tblGrid>
                <a:gridCol w="208280">
                  <a:extLst>
                    <a:ext uri="{9D8B030D-6E8A-4147-A177-3AD203B41FA5}">
                      <a16:colId xmlns:a16="http://schemas.microsoft.com/office/drawing/2014/main" val="20000"/>
                    </a:ext>
                  </a:extLst>
                </a:gridCol>
              </a:tblGrid>
              <a:tr h="0">
                <a:tc>
                  <a:txBody>
                    <a:bodyPr/>
                    <a:lstStyle/>
                    <a:p>
                      <a:endParaRPr lang="pt-BR" dirty="0"/>
                    </a:p>
                  </a:txBody>
                  <a:tcP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102430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randombar(horizontal)">
                                      <p:cBhvr>
                                        <p:cTn id="1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tângulo 3"/>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
        <p:nvSpPr>
          <p:cNvPr id="6" name="Title 1"/>
          <p:cNvSpPr txBox="1">
            <a:spLocks/>
          </p:cNvSpPr>
          <p:nvPr/>
        </p:nvSpPr>
        <p:spPr bwMode="auto">
          <a:xfrm>
            <a:off x="2702982" y="822118"/>
            <a:ext cx="6786036" cy="4005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noAutofit/>
          </a:bodyPr>
          <a:lstStyle>
            <a:lvl1pPr algn="l" defTabSz="449263" rtl="0" eaLnBrk="1" fontAlgn="base" hangingPunct="1">
              <a:spcBef>
                <a:spcPct val="0"/>
              </a:spcBef>
              <a:spcAft>
                <a:spcPct val="0"/>
              </a:spcAft>
              <a:buClr>
                <a:srgbClr val="000000"/>
              </a:buClr>
              <a:buSzPct val="100000"/>
              <a:buFont typeface="Times New Roman" panose="02020603050405020304" pitchFamily="18" charset="0"/>
              <a:defRPr sz="4100" b="1" kern="1200">
                <a:solidFill>
                  <a:srgbClr val="464646"/>
                </a:solidFill>
                <a:latin typeface="+mj-lt"/>
                <a:ea typeface="+mj-ea"/>
                <a:cs typeface="+mj-cs"/>
              </a:defRPr>
            </a:lvl1pPr>
            <a:lvl2pPr marL="742950" indent="-28575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2pPr>
            <a:lvl3pPr marL="1143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3pPr>
            <a:lvl4pPr marL="1600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4pPr>
            <a:lvl5pPr marL="20574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5pPr>
            <a:lvl6pPr marL="25146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6pPr>
            <a:lvl7pPr marL="29718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7pPr>
            <a:lvl8pPr marL="3429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8pPr>
            <a:lvl9pPr marL="3886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9pPr>
          </a:lstStyle>
          <a:p>
            <a:pPr algn="ctr"/>
            <a:r>
              <a:rPr lang="pt-BR" sz="2000" dirty="0">
                <a:solidFill>
                  <a:schemeClr val="accent6"/>
                </a:solidFill>
                <a:latin typeface="+mn-lt"/>
              </a:rPr>
              <a:t>MODAL FERROVIÁRIO</a:t>
            </a:r>
          </a:p>
        </p:txBody>
      </p:sp>
      <p:sp>
        <p:nvSpPr>
          <p:cNvPr id="8" name="TextBox 2"/>
          <p:cNvSpPr txBox="1"/>
          <p:nvPr/>
        </p:nvSpPr>
        <p:spPr>
          <a:xfrm>
            <a:off x="2146212" y="3196503"/>
            <a:ext cx="7899576" cy="1200329"/>
          </a:xfrm>
          <a:prstGeom prst="rect">
            <a:avLst/>
          </a:prstGeom>
          <a:noFill/>
        </p:spPr>
        <p:txBody>
          <a:bodyPr wrap="square" rtlCol="0">
            <a:spAutoFit/>
          </a:bodyPr>
          <a:lstStyle/>
          <a:p>
            <a:pPr algn="just"/>
            <a:r>
              <a:rPr lang="pt-BR" dirty="0">
                <a:solidFill>
                  <a:schemeClr val="accent6"/>
                </a:solidFill>
                <a:cs typeface="Helvetica Neue"/>
              </a:rPr>
              <a:t>As mercadorias transportadas neste modal são, em geral, de baixo valor agregado (</a:t>
            </a:r>
            <a:r>
              <a:rPr lang="pt-BR" b="1" i="1" dirty="0">
                <a:solidFill>
                  <a:schemeClr val="accent6"/>
                </a:solidFill>
                <a:cs typeface="Helvetica Neue"/>
              </a:rPr>
              <a:t>commodities</a:t>
            </a:r>
            <a:r>
              <a:rPr lang="pt-BR" dirty="0">
                <a:solidFill>
                  <a:schemeClr val="accent6"/>
                </a:solidFill>
                <a:cs typeface="Helvetica Neue"/>
              </a:rPr>
              <a:t>) e transportadas em grandes quantidades: minério, produtos agrícolas, fertilizantes, carvão, derivados de petróleo, etc.</a:t>
            </a:r>
          </a:p>
        </p:txBody>
      </p:sp>
      <p:sp>
        <p:nvSpPr>
          <p:cNvPr id="9" name="TextBox 5"/>
          <p:cNvSpPr txBox="1"/>
          <p:nvPr/>
        </p:nvSpPr>
        <p:spPr>
          <a:xfrm>
            <a:off x="2099556" y="4938747"/>
            <a:ext cx="7967136" cy="1200329"/>
          </a:xfrm>
          <a:prstGeom prst="rect">
            <a:avLst/>
          </a:prstGeom>
          <a:noFill/>
        </p:spPr>
        <p:txBody>
          <a:bodyPr wrap="square" rtlCol="0">
            <a:spAutoFit/>
          </a:bodyPr>
          <a:lstStyle/>
          <a:p>
            <a:pPr algn="just"/>
            <a:r>
              <a:rPr lang="pt-BR" dirty="0">
                <a:solidFill>
                  <a:schemeClr val="accent6"/>
                </a:solidFill>
                <a:cs typeface="Helvetica Neue"/>
              </a:rPr>
              <a:t>No Brasil, existem </a:t>
            </a:r>
            <a:r>
              <a:rPr lang="pt-BR" b="1" dirty="0">
                <a:solidFill>
                  <a:schemeClr val="accent6"/>
                </a:solidFill>
                <a:cs typeface="Helvetica Neue"/>
              </a:rPr>
              <a:t>3 tipos de bitola </a:t>
            </a:r>
            <a:r>
              <a:rPr lang="pt-BR" dirty="0">
                <a:solidFill>
                  <a:schemeClr val="accent6"/>
                </a:solidFill>
                <a:cs typeface="Helvetica Neue"/>
              </a:rPr>
              <a:t>(distância entre trilhos): larga (1,60 m), métrica (1,00 m) e a mista (1,435 m), o que dificulta a transição entre ferrovias. A </a:t>
            </a:r>
            <a:r>
              <a:rPr lang="pt-BR" b="1" dirty="0">
                <a:solidFill>
                  <a:schemeClr val="accent6"/>
                </a:solidFill>
                <a:cs typeface="Helvetica Neue"/>
              </a:rPr>
              <a:t>malha ainda é muito restrita</a:t>
            </a:r>
            <a:r>
              <a:rPr lang="pt-BR" dirty="0">
                <a:solidFill>
                  <a:schemeClr val="accent6"/>
                </a:solidFill>
                <a:cs typeface="Helvetica Neue"/>
              </a:rPr>
              <a:t>, cerca </a:t>
            </a:r>
            <a:r>
              <a:rPr lang="pt-BR">
                <a:solidFill>
                  <a:schemeClr val="accent6"/>
                </a:solidFill>
                <a:cs typeface="Helvetica Neue"/>
              </a:rPr>
              <a:t>de </a:t>
            </a:r>
            <a:r>
              <a:rPr lang="pt-BR" b="1">
                <a:solidFill>
                  <a:schemeClr val="accent6"/>
                </a:solidFill>
                <a:cs typeface="Helvetica Neue"/>
              </a:rPr>
              <a:t>29.000 </a:t>
            </a:r>
            <a:r>
              <a:rPr lang="pt-BR" b="1" dirty="0">
                <a:solidFill>
                  <a:schemeClr val="accent6"/>
                </a:solidFill>
                <a:cs typeface="Helvetica Neue"/>
              </a:rPr>
              <a:t>km</a:t>
            </a:r>
            <a:r>
              <a:rPr lang="pt-BR" dirty="0">
                <a:solidFill>
                  <a:schemeClr val="accent6"/>
                </a:solidFill>
                <a:cs typeface="Helvetica Neue"/>
              </a:rPr>
              <a:t> (81% bitola métrica, 17% bitola larga, 2% bitola mista).</a:t>
            </a:r>
          </a:p>
        </p:txBody>
      </p:sp>
      <p:pic>
        <p:nvPicPr>
          <p:cNvPr id="13" name="Picture 15" descr="ThinkstockPhotos-493637553.jpg"/>
          <p:cNvPicPr>
            <a:picLocks noChangeAspect="1"/>
          </p:cNvPicPr>
          <p:nvPr/>
        </p:nvPicPr>
        <p:blipFill rotWithShape="1">
          <a:blip r:embed="rId2">
            <a:extLst>
              <a:ext uri="{BEBA8EAE-BF5A-486C-A8C5-ECC9F3942E4B}">
                <a14:imgProps xmlns:a14="http://schemas.microsoft.com/office/drawing/2010/main">
                  <a14:imgLayer r:embed="rId3">
                    <a14:imgEffect>
                      <a14:colorTemperature colorTemp="8800"/>
                    </a14:imgEffect>
                  </a14:imgLayer>
                </a14:imgProps>
              </a:ext>
              <a:ext uri="{28A0092B-C50C-407E-A947-70E740481C1C}">
                <a14:useLocalDpi xmlns:a14="http://schemas.microsoft.com/office/drawing/2010/main" val="0"/>
              </a:ext>
            </a:extLst>
          </a:blip>
          <a:srcRect b="21455"/>
          <a:stretch/>
        </p:blipFill>
        <p:spPr>
          <a:xfrm>
            <a:off x="4681573" y="1324269"/>
            <a:ext cx="2828855" cy="1640625"/>
          </a:xfrm>
          <a:prstGeom prst="rect">
            <a:avLst/>
          </a:prstGeom>
        </p:spPr>
      </p:pic>
    </p:spTree>
    <p:extLst>
      <p:ext uri="{BB962C8B-B14F-4D97-AF65-F5344CB8AC3E}">
        <p14:creationId xmlns:p14="http://schemas.microsoft.com/office/powerpoint/2010/main" val="3457287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21" presetClass="entr" presetSubtype="1" fill="hold"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heel(1)">
                                      <p:cBhvr>
                                        <p:cTn id="12" dur="20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up)">
                                      <p:cBhvr>
                                        <p:cTn id="2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Lst>
  </p:timing>
</p:sld>
</file>

<file path=ppt/slides/slide1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tângulo 3"/>
          <p:cNvSpPr/>
          <p:nvPr/>
        </p:nvSpPr>
        <p:spPr>
          <a:xfrm>
            <a:off x="2099556" y="343486"/>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
        <p:nvSpPr>
          <p:cNvPr id="5" name="Title 1"/>
          <p:cNvSpPr txBox="1">
            <a:spLocks/>
          </p:cNvSpPr>
          <p:nvPr/>
        </p:nvSpPr>
        <p:spPr bwMode="auto">
          <a:xfrm>
            <a:off x="2702982" y="822118"/>
            <a:ext cx="6786036" cy="4005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noAutofit/>
          </a:bodyPr>
          <a:lstStyle>
            <a:lvl1pPr algn="l" defTabSz="449263" rtl="0" eaLnBrk="1" fontAlgn="base" hangingPunct="1">
              <a:spcBef>
                <a:spcPct val="0"/>
              </a:spcBef>
              <a:spcAft>
                <a:spcPct val="0"/>
              </a:spcAft>
              <a:buClr>
                <a:srgbClr val="000000"/>
              </a:buClr>
              <a:buSzPct val="100000"/>
              <a:buFont typeface="Times New Roman" panose="02020603050405020304" pitchFamily="18" charset="0"/>
              <a:defRPr sz="4100" b="1" kern="1200">
                <a:solidFill>
                  <a:srgbClr val="464646"/>
                </a:solidFill>
                <a:latin typeface="+mj-lt"/>
                <a:ea typeface="+mj-ea"/>
                <a:cs typeface="+mj-cs"/>
              </a:defRPr>
            </a:lvl1pPr>
            <a:lvl2pPr marL="742950" indent="-28575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2pPr>
            <a:lvl3pPr marL="1143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3pPr>
            <a:lvl4pPr marL="1600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4pPr>
            <a:lvl5pPr marL="20574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5pPr>
            <a:lvl6pPr marL="25146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6pPr>
            <a:lvl7pPr marL="29718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7pPr>
            <a:lvl8pPr marL="3429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8pPr>
            <a:lvl9pPr marL="3886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9pPr>
          </a:lstStyle>
          <a:p>
            <a:pPr algn="ctr"/>
            <a:r>
              <a:rPr lang="pt-BR" sz="2000" dirty="0">
                <a:solidFill>
                  <a:schemeClr val="accent6"/>
                </a:solidFill>
                <a:latin typeface="+mn-lt"/>
              </a:rPr>
              <a:t>MODAL FERROVIÁRIO</a:t>
            </a:r>
          </a:p>
        </p:txBody>
      </p:sp>
      <p:sp>
        <p:nvSpPr>
          <p:cNvPr id="2" name="Retângulo 1"/>
          <p:cNvSpPr/>
          <p:nvPr/>
        </p:nvSpPr>
        <p:spPr>
          <a:xfrm>
            <a:off x="2078653" y="1918230"/>
            <a:ext cx="8013791" cy="923330"/>
          </a:xfrm>
          <a:prstGeom prst="rect">
            <a:avLst/>
          </a:prstGeom>
        </p:spPr>
        <p:txBody>
          <a:bodyPr wrap="square">
            <a:spAutoFit/>
          </a:bodyPr>
          <a:lstStyle/>
          <a:p>
            <a:pPr algn="just"/>
            <a:r>
              <a:rPr lang="pt-BR" dirty="0">
                <a:solidFill>
                  <a:schemeClr val="accent6"/>
                </a:solidFill>
                <a:cs typeface="Helvetica Neue"/>
              </a:rPr>
              <a:t>Grande parte da malha ferroviária do Brasil está concentrada nas regiões sul e sudeste, o que gera um grande gargalo no Porto de Santos (SP).</a:t>
            </a:r>
            <a:endParaRPr lang="pt-BR" dirty="0"/>
          </a:p>
        </p:txBody>
      </p:sp>
      <p:sp>
        <p:nvSpPr>
          <p:cNvPr id="7" name="Rectangle 11"/>
          <p:cNvSpPr/>
          <p:nvPr/>
        </p:nvSpPr>
        <p:spPr>
          <a:xfrm>
            <a:off x="2099556" y="2918916"/>
            <a:ext cx="7992888" cy="923330"/>
          </a:xfrm>
          <a:prstGeom prst="rect">
            <a:avLst/>
          </a:prstGeom>
        </p:spPr>
        <p:txBody>
          <a:bodyPr wrap="square">
            <a:spAutoFit/>
          </a:bodyPr>
          <a:lstStyle/>
          <a:p>
            <a:pPr algn="just"/>
            <a:r>
              <a:rPr lang="pt-BR" dirty="0">
                <a:solidFill>
                  <a:schemeClr val="accent6"/>
                </a:solidFill>
                <a:cs typeface="Helvetica Neue"/>
              </a:rPr>
              <a:t>Ela está muito aquém das necessidades requeridas pela expansão do agronegócio no Centro-Oeste: saídas para encurtar a chegada aos portos tanto no Nordeste quanto no Norte são necessárias. </a:t>
            </a:r>
          </a:p>
        </p:txBody>
      </p:sp>
      <p:sp>
        <p:nvSpPr>
          <p:cNvPr id="8" name="TextBox 12"/>
          <p:cNvSpPr txBox="1"/>
          <p:nvPr/>
        </p:nvSpPr>
        <p:spPr>
          <a:xfrm>
            <a:off x="2099555" y="4191648"/>
            <a:ext cx="7992889" cy="646331"/>
          </a:xfrm>
          <a:prstGeom prst="rect">
            <a:avLst/>
          </a:prstGeom>
          <a:noFill/>
        </p:spPr>
        <p:txBody>
          <a:bodyPr wrap="square" rtlCol="0">
            <a:spAutoFit/>
          </a:bodyPr>
          <a:lstStyle/>
          <a:p>
            <a:pPr algn="just"/>
            <a:r>
              <a:rPr lang="pt-BR" dirty="0">
                <a:solidFill>
                  <a:schemeClr val="accent6"/>
                </a:solidFill>
                <a:cs typeface="Helvetica Neue"/>
              </a:rPr>
              <a:t>As linhas que podem aliviar a Matriz Nacional são as ferrovias Norte-Sul, Integração Oeste-Leste, Nova Transnordestina e Ferronorte.</a:t>
            </a:r>
          </a:p>
        </p:txBody>
      </p:sp>
      <p:sp>
        <p:nvSpPr>
          <p:cNvPr id="9" name="TextBox 14"/>
          <p:cNvSpPr txBox="1"/>
          <p:nvPr/>
        </p:nvSpPr>
        <p:spPr>
          <a:xfrm>
            <a:off x="2099555" y="5541736"/>
            <a:ext cx="7992889" cy="584775"/>
          </a:xfrm>
          <a:prstGeom prst="rect">
            <a:avLst/>
          </a:prstGeom>
          <a:noFill/>
        </p:spPr>
        <p:txBody>
          <a:bodyPr wrap="square" rtlCol="0">
            <a:spAutoFit/>
          </a:bodyPr>
          <a:lstStyle/>
          <a:p>
            <a:r>
              <a:rPr lang="pt-BR" sz="1600" b="1" i="1" dirty="0">
                <a:solidFill>
                  <a:schemeClr val="accent6"/>
                </a:solidFill>
              </a:rPr>
              <a:t>Mapa da malha ferroviária</a:t>
            </a:r>
            <a:r>
              <a:rPr lang="pt-BR" sz="1600" dirty="0">
                <a:solidFill>
                  <a:schemeClr val="accent6"/>
                </a:solidFill>
              </a:rPr>
              <a:t>:</a:t>
            </a:r>
          </a:p>
          <a:p>
            <a:r>
              <a:rPr lang="pt-BR" sz="1600" dirty="0">
                <a:solidFill>
                  <a:schemeClr val="accent6"/>
                </a:solidFill>
                <a:hlinkClick r:id="rId2"/>
              </a:rPr>
              <a:t>www2.transportes.gov.br/bit/03-ferro/ferro.html</a:t>
            </a:r>
            <a:endParaRPr lang="pt-BR" sz="1600" dirty="0">
              <a:solidFill>
                <a:schemeClr val="accent6"/>
              </a:solidFill>
            </a:endParaRPr>
          </a:p>
        </p:txBody>
      </p:sp>
    </p:spTree>
    <p:extLst>
      <p:ext uri="{BB962C8B-B14F-4D97-AF65-F5344CB8AC3E}">
        <p14:creationId xmlns:p14="http://schemas.microsoft.com/office/powerpoint/2010/main" val="1907057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down)">
                                      <p:cBhvr>
                                        <p:cTn id="17" dur="500"/>
                                        <p:tgtEl>
                                          <p:spTgt spid="8"/>
                                        </p:tgtEl>
                                      </p:cBhvr>
                                    </p:animEffect>
                                  </p:childTnLst>
                                </p:cTn>
                              </p:par>
                            </p:childTnLst>
                          </p:cTn>
                        </p:par>
                        <p:par>
                          <p:cTn id="18" fill="hold">
                            <p:stCondLst>
                              <p:cond delay="500"/>
                            </p:stCondLst>
                            <p:childTnLst>
                              <p:par>
                                <p:cTn id="19" presetID="22" presetClass="entr" presetSubtype="4" fill="hold" grpId="0" nodeType="after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down)">
                                      <p:cBhvr>
                                        <p:cTn id="2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P spid="8" grpId="0"/>
      <p:bldP spid="9" grpId="0"/>
    </p:bldLst>
  </p:timing>
</p:sld>
</file>

<file path=ppt/slides/slide1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tângulo 3"/>
          <p:cNvSpPr/>
          <p:nvPr/>
        </p:nvSpPr>
        <p:spPr>
          <a:xfrm>
            <a:off x="2099556" y="343486"/>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
        <p:nvSpPr>
          <p:cNvPr id="5" name="Title 1"/>
          <p:cNvSpPr txBox="1">
            <a:spLocks/>
          </p:cNvSpPr>
          <p:nvPr/>
        </p:nvSpPr>
        <p:spPr bwMode="auto">
          <a:xfrm>
            <a:off x="2702982" y="822118"/>
            <a:ext cx="6786036" cy="4005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noAutofit/>
          </a:bodyPr>
          <a:lstStyle>
            <a:lvl1pPr algn="l" defTabSz="449263" rtl="0" eaLnBrk="1" fontAlgn="base" hangingPunct="1">
              <a:spcBef>
                <a:spcPct val="0"/>
              </a:spcBef>
              <a:spcAft>
                <a:spcPct val="0"/>
              </a:spcAft>
              <a:buClr>
                <a:srgbClr val="000000"/>
              </a:buClr>
              <a:buSzPct val="100000"/>
              <a:buFont typeface="Times New Roman" panose="02020603050405020304" pitchFamily="18" charset="0"/>
              <a:defRPr sz="4100" b="1" kern="1200">
                <a:solidFill>
                  <a:srgbClr val="464646"/>
                </a:solidFill>
                <a:latin typeface="+mj-lt"/>
                <a:ea typeface="+mj-ea"/>
                <a:cs typeface="+mj-cs"/>
              </a:defRPr>
            </a:lvl1pPr>
            <a:lvl2pPr marL="742950" indent="-28575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2pPr>
            <a:lvl3pPr marL="1143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3pPr>
            <a:lvl4pPr marL="1600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4pPr>
            <a:lvl5pPr marL="20574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5pPr>
            <a:lvl6pPr marL="25146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6pPr>
            <a:lvl7pPr marL="29718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7pPr>
            <a:lvl8pPr marL="3429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8pPr>
            <a:lvl9pPr marL="3886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9pPr>
          </a:lstStyle>
          <a:p>
            <a:pPr algn="ctr"/>
            <a:r>
              <a:rPr lang="pt-BR" sz="2000" dirty="0">
                <a:solidFill>
                  <a:schemeClr val="accent6"/>
                </a:solidFill>
                <a:latin typeface="+mn-lt"/>
              </a:rPr>
              <a:t>MODAL FERROVIÁRIO</a:t>
            </a:r>
          </a:p>
        </p:txBody>
      </p:sp>
      <p:grpSp>
        <p:nvGrpSpPr>
          <p:cNvPr id="10" name="Grupo 9"/>
          <p:cNvGrpSpPr/>
          <p:nvPr/>
        </p:nvGrpSpPr>
        <p:grpSpPr>
          <a:xfrm>
            <a:off x="2413000" y="1270000"/>
            <a:ext cx="7366000" cy="4927600"/>
            <a:chOff x="2247900" y="1333500"/>
            <a:chExt cx="7366000" cy="4927600"/>
          </a:xfrm>
        </p:grpSpPr>
        <p:pic>
          <p:nvPicPr>
            <p:cNvPr id="3" name="Imagem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67213" y="1459935"/>
              <a:ext cx="7121805" cy="4673046"/>
            </a:xfrm>
            <a:prstGeom prst="rect">
              <a:avLst/>
            </a:prstGeom>
            <a:noFill/>
            <a:ln>
              <a:noFill/>
            </a:ln>
          </p:spPr>
        </p:pic>
        <p:sp>
          <p:nvSpPr>
            <p:cNvPr id="6" name="Retângulo 5"/>
            <p:cNvSpPr/>
            <p:nvPr/>
          </p:nvSpPr>
          <p:spPr bwMode="auto">
            <a:xfrm>
              <a:off x="2247900" y="1333500"/>
              <a:ext cx="7366000" cy="4927600"/>
            </a:xfrm>
            <a:prstGeom prst="rect">
              <a:avLst/>
            </a:prstGeom>
            <a:noFill/>
            <a:ln w="9525" cap="flat" cmpd="sng" algn="ctr">
              <a:solidFill>
                <a:srgbClr val="AC120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pPr>
              <a:endParaRPr kumimoji="0" lang="pt-BR" sz="1800" b="0" i="0" u="none" strike="noStrike" cap="none" normalizeH="0" baseline="0">
                <a:ln>
                  <a:noFill/>
                </a:ln>
                <a:solidFill>
                  <a:schemeClr val="bg1"/>
                </a:solidFill>
                <a:effectLst/>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168967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5"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randombar(vertical)">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tângulo 3"/>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
        <p:nvSpPr>
          <p:cNvPr id="5" name="Title 1"/>
          <p:cNvSpPr txBox="1">
            <a:spLocks/>
          </p:cNvSpPr>
          <p:nvPr/>
        </p:nvSpPr>
        <p:spPr bwMode="auto">
          <a:xfrm>
            <a:off x="2702982" y="822118"/>
            <a:ext cx="6786036" cy="4005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noAutofit/>
          </a:bodyPr>
          <a:lstStyle>
            <a:lvl1pPr algn="l" defTabSz="449263" rtl="0" eaLnBrk="1" fontAlgn="base" hangingPunct="1">
              <a:spcBef>
                <a:spcPct val="0"/>
              </a:spcBef>
              <a:spcAft>
                <a:spcPct val="0"/>
              </a:spcAft>
              <a:buClr>
                <a:srgbClr val="000000"/>
              </a:buClr>
              <a:buSzPct val="100000"/>
              <a:buFont typeface="Times New Roman" panose="02020603050405020304" pitchFamily="18" charset="0"/>
              <a:defRPr sz="4100" b="1" kern="1200">
                <a:solidFill>
                  <a:srgbClr val="464646"/>
                </a:solidFill>
                <a:latin typeface="+mj-lt"/>
                <a:ea typeface="+mj-ea"/>
                <a:cs typeface="+mj-cs"/>
              </a:defRPr>
            </a:lvl1pPr>
            <a:lvl2pPr marL="742950" indent="-28575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2pPr>
            <a:lvl3pPr marL="1143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3pPr>
            <a:lvl4pPr marL="1600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4pPr>
            <a:lvl5pPr marL="20574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5pPr>
            <a:lvl6pPr marL="25146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6pPr>
            <a:lvl7pPr marL="29718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7pPr>
            <a:lvl8pPr marL="3429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8pPr>
            <a:lvl9pPr marL="3886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9pPr>
          </a:lstStyle>
          <a:p>
            <a:pPr algn="ctr"/>
            <a:r>
              <a:rPr lang="pt-BR" sz="2000" dirty="0">
                <a:solidFill>
                  <a:schemeClr val="accent6"/>
                </a:solidFill>
                <a:latin typeface="+mn-lt"/>
              </a:rPr>
              <a:t>MODAL FERROVIÁRIO</a:t>
            </a:r>
          </a:p>
        </p:txBody>
      </p:sp>
      <p:sp>
        <p:nvSpPr>
          <p:cNvPr id="7" name="TextBox 4"/>
          <p:cNvSpPr txBox="1"/>
          <p:nvPr/>
        </p:nvSpPr>
        <p:spPr>
          <a:xfrm>
            <a:off x="1349312" y="1762560"/>
            <a:ext cx="9143876" cy="4031873"/>
          </a:xfrm>
          <a:prstGeom prst="rect">
            <a:avLst/>
          </a:prstGeom>
        </p:spPr>
        <p:txBody>
          <a:bodyPr wrap="square">
            <a:spAutoFit/>
          </a:bodyPr>
          <a:lstStyle>
            <a:defPPr>
              <a:defRPr lang="pt-BR"/>
            </a:defPPr>
            <a:lvl1pPr marL="342900" indent="-342900">
              <a:buFont typeface="Courier New" panose="02070309020205020404" pitchFamily="49" charset="0"/>
              <a:buChar char="o"/>
              <a:defRPr sz="1600">
                <a:solidFill>
                  <a:schemeClr val="accent6"/>
                </a:solidFill>
                <a:cs typeface="Helvetica Neue"/>
              </a:defRPr>
            </a:lvl1pPr>
          </a:lstStyle>
          <a:p>
            <a:r>
              <a:rPr lang="pt-BR" dirty="0"/>
              <a:t>Grande capacidade de carga;</a:t>
            </a:r>
          </a:p>
          <a:p>
            <a:r>
              <a:rPr lang="pt-BR" dirty="0"/>
              <a:t>Adequado para grandes distâncias;</a:t>
            </a:r>
          </a:p>
          <a:p>
            <a:r>
              <a:rPr lang="pt-BR" dirty="0"/>
              <a:t>Baixo custo de transporte; </a:t>
            </a:r>
          </a:p>
          <a:p>
            <a:r>
              <a:rPr lang="pt-BR" dirty="0"/>
              <a:t>Elevada eficiência energética;</a:t>
            </a:r>
          </a:p>
          <a:p>
            <a:r>
              <a:rPr lang="pt-BR" dirty="0"/>
              <a:t>Alto custo de implantação; </a:t>
            </a:r>
          </a:p>
          <a:p>
            <a:r>
              <a:rPr lang="pt-BR" dirty="0"/>
              <a:t>Baixo custo de manutenção;</a:t>
            </a:r>
          </a:p>
          <a:p>
            <a:r>
              <a:rPr lang="pt-BR" dirty="0"/>
              <a:t>Possui maior segurança em relação ao modal rodoviário, visto que ocorrem poucos acidentes, furtos e roubos;</a:t>
            </a:r>
          </a:p>
          <a:p>
            <a:r>
              <a:rPr lang="pt-BR" dirty="0"/>
              <a:t>Transporte lento devido às suas operações de carga e descarga; elevado custo de movimentação;</a:t>
            </a:r>
          </a:p>
          <a:p>
            <a:r>
              <a:rPr lang="pt-BR" dirty="0"/>
              <a:t>Baixa flexibilidade (só de terminal para terminal) com pequena extensão da malha;</a:t>
            </a:r>
          </a:p>
          <a:p>
            <a:r>
              <a:rPr lang="pt-BR" dirty="0"/>
              <a:t>Baixa integração entre os estados; </a:t>
            </a:r>
          </a:p>
          <a:p>
            <a:r>
              <a:rPr lang="pt-BR" dirty="0"/>
              <a:t>Pouco poluente;</a:t>
            </a:r>
          </a:p>
          <a:p>
            <a:r>
              <a:rPr lang="pt-BR" dirty="0"/>
              <a:t>Grande dependência de outros transportes; </a:t>
            </a:r>
          </a:p>
          <a:p>
            <a:r>
              <a:rPr lang="pt-BR" dirty="0"/>
              <a:t>Pouco afetado pela condição de tráfego (vias exclusivas);</a:t>
            </a:r>
          </a:p>
          <a:p>
            <a:r>
              <a:rPr lang="pt-BR" dirty="0"/>
              <a:t>Serviços e horários poucos flexíveis.</a:t>
            </a:r>
          </a:p>
        </p:txBody>
      </p:sp>
      <p:sp>
        <p:nvSpPr>
          <p:cNvPr id="2" name="Retângulo 1"/>
          <p:cNvSpPr/>
          <p:nvPr/>
        </p:nvSpPr>
        <p:spPr>
          <a:xfrm>
            <a:off x="1349312" y="1349998"/>
            <a:ext cx="8619442" cy="369332"/>
          </a:xfrm>
          <a:prstGeom prst="rect">
            <a:avLst/>
          </a:prstGeom>
        </p:spPr>
        <p:txBody>
          <a:bodyPr wrap="square">
            <a:spAutoFit/>
          </a:bodyPr>
          <a:lstStyle/>
          <a:p>
            <a:r>
              <a:rPr lang="pt-BR" b="1" dirty="0">
                <a:solidFill>
                  <a:schemeClr val="accent6"/>
                </a:solidFill>
                <a:cs typeface="Helvetica Neue"/>
              </a:rPr>
              <a:t>Características do transporte ferroviário de carga no Brasil</a:t>
            </a:r>
          </a:p>
        </p:txBody>
      </p:sp>
      <p:pic>
        <p:nvPicPr>
          <p:cNvPr id="8" name="Picture 5" descr="ThinkstockPhotos-514831777 (1).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0" y="1092998"/>
            <a:ext cx="3285337" cy="2186800"/>
          </a:xfrm>
          <a:prstGeom prst="rect">
            <a:avLst/>
          </a:prstGeom>
        </p:spPr>
      </p:pic>
      <p:sp>
        <p:nvSpPr>
          <p:cNvPr id="9" name="TextBox 6"/>
          <p:cNvSpPr txBox="1"/>
          <p:nvPr/>
        </p:nvSpPr>
        <p:spPr>
          <a:xfrm>
            <a:off x="2111250" y="5941355"/>
            <a:ext cx="7969500" cy="338554"/>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rtlCol="0">
            <a:spAutoFit/>
          </a:bodyPr>
          <a:lstStyle/>
          <a:p>
            <a:pPr algn="ctr"/>
            <a:r>
              <a:rPr lang="pt-BR" sz="1600" b="1" dirty="0">
                <a:solidFill>
                  <a:srgbClr val="FF0000"/>
                </a:solidFill>
              </a:rPr>
              <a:t>QUAL O PONTO MAIS RELEVANTE PARA A ESCOLHA DO MODAL FERROVIÁRIO ?</a:t>
            </a:r>
          </a:p>
        </p:txBody>
      </p:sp>
    </p:spTree>
    <p:extLst>
      <p:ext uri="{BB962C8B-B14F-4D97-AF65-F5344CB8AC3E}">
        <p14:creationId xmlns:p14="http://schemas.microsoft.com/office/powerpoint/2010/main" val="1069847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7">
                                            <p:txEl>
                                              <p:pRg st="0" end="0"/>
                                            </p:txEl>
                                          </p:spTgt>
                                        </p:tgtEl>
                                        <p:attrNameLst>
                                          <p:attrName>style.visibility</p:attrName>
                                        </p:attrNameLst>
                                      </p:cBhvr>
                                      <p:to>
                                        <p:strVal val="visible"/>
                                      </p:to>
                                    </p:set>
                                    <p:animEffect transition="in" filter="wipe(up)">
                                      <p:cBhvr>
                                        <p:cTn id="19" dur="500"/>
                                        <p:tgtEl>
                                          <p:spTgt spid="7">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7">
                                            <p:txEl>
                                              <p:pRg st="1" end="1"/>
                                            </p:txEl>
                                          </p:spTgt>
                                        </p:tgtEl>
                                        <p:attrNameLst>
                                          <p:attrName>style.visibility</p:attrName>
                                        </p:attrNameLst>
                                      </p:cBhvr>
                                      <p:to>
                                        <p:strVal val="visible"/>
                                      </p:to>
                                    </p:set>
                                    <p:animEffect transition="in" filter="wipe(up)">
                                      <p:cBhvr>
                                        <p:cTn id="24" dur="500"/>
                                        <p:tgtEl>
                                          <p:spTgt spid="7">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7">
                                            <p:txEl>
                                              <p:pRg st="2" end="2"/>
                                            </p:txEl>
                                          </p:spTgt>
                                        </p:tgtEl>
                                        <p:attrNameLst>
                                          <p:attrName>style.visibility</p:attrName>
                                        </p:attrNameLst>
                                      </p:cBhvr>
                                      <p:to>
                                        <p:strVal val="visible"/>
                                      </p:to>
                                    </p:set>
                                    <p:animEffect transition="in" filter="wipe(up)">
                                      <p:cBhvr>
                                        <p:cTn id="29" dur="500"/>
                                        <p:tgtEl>
                                          <p:spTgt spid="7">
                                            <p:txEl>
                                              <p:pRg st="2" end="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7">
                                            <p:txEl>
                                              <p:pRg st="3" end="3"/>
                                            </p:txEl>
                                          </p:spTgt>
                                        </p:tgtEl>
                                        <p:attrNameLst>
                                          <p:attrName>style.visibility</p:attrName>
                                        </p:attrNameLst>
                                      </p:cBhvr>
                                      <p:to>
                                        <p:strVal val="visible"/>
                                      </p:to>
                                    </p:set>
                                    <p:animEffect transition="in" filter="wipe(up)">
                                      <p:cBhvr>
                                        <p:cTn id="34" dur="500"/>
                                        <p:tgtEl>
                                          <p:spTgt spid="7">
                                            <p:txEl>
                                              <p:pRg st="3" end="3"/>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7">
                                            <p:txEl>
                                              <p:pRg st="4" end="4"/>
                                            </p:txEl>
                                          </p:spTgt>
                                        </p:tgtEl>
                                        <p:attrNameLst>
                                          <p:attrName>style.visibility</p:attrName>
                                        </p:attrNameLst>
                                      </p:cBhvr>
                                      <p:to>
                                        <p:strVal val="visible"/>
                                      </p:to>
                                    </p:set>
                                    <p:animEffect transition="in" filter="wipe(up)">
                                      <p:cBhvr>
                                        <p:cTn id="39" dur="500"/>
                                        <p:tgtEl>
                                          <p:spTgt spid="7">
                                            <p:txEl>
                                              <p:pRg st="4" end="4"/>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7">
                                            <p:txEl>
                                              <p:pRg st="5" end="5"/>
                                            </p:txEl>
                                          </p:spTgt>
                                        </p:tgtEl>
                                        <p:attrNameLst>
                                          <p:attrName>style.visibility</p:attrName>
                                        </p:attrNameLst>
                                      </p:cBhvr>
                                      <p:to>
                                        <p:strVal val="visible"/>
                                      </p:to>
                                    </p:set>
                                    <p:animEffect transition="in" filter="wipe(up)">
                                      <p:cBhvr>
                                        <p:cTn id="44" dur="500"/>
                                        <p:tgtEl>
                                          <p:spTgt spid="7">
                                            <p:txEl>
                                              <p:pRg st="5" end="5"/>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grpId="0" nodeType="clickEffect">
                                  <p:stCondLst>
                                    <p:cond delay="0"/>
                                  </p:stCondLst>
                                  <p:childTnLst>
                                    <p:set>
                                      <p:cBhvr>
                                        <p:cTn id="48" dur="1" fill="hold">
                                          <p:stCondLst>
                                            <p:cond delay="0"/>
                                          </p:stCondLst>
                                        </p:cTn>
                                        <p:tgtEl>
                                          <p:spTgt spid="7">
                                            <p:txEl>
                                              <p:pRg st="6" end="6"/>
                                            </p:txEl>
                                          </p:spTgt>
                                        </p:tgtEl>
                                        <p:attrNameLst>
                                          <p:attrName>style.visibility</p:attrName>
                                        </p:attrNameLst>
                                      </p:cBhvr>
                                      <p:to>
                                        <p:strVal val="visible"/>
                                      </p:to>
                                    </p:set>
                                    <p:animEffect transition="in" filter="wipe(up)">
                                      <p:cBhvr>
                                        <p:cTn id="49" dur="500"/>
                                        <p:tgtEl>
                                          <p:spTgt spid="7">
                                            <p:txEl>
                                              <p:pRg st="6" end="6"/>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1" fill="hold" grpId="0" nodeType="clickEffect">
                                  <p:stCondLst>
                                    <p:cond delay="0"/>
                                  </p:stCondLst>
                                  <p:childTnLst>
                                    <p:set>
                                      <p:cBhvr>
                                        <p:cTn id="53" dur="1" fill="hold">
                                          <p:stCondLst>
                                            <p:cond delay="0"/>
                                          </p:stCondLst>
                                        </p:cTn>
                                        <p:tgtEl>
                                          <p:spTgt spid="7">
                                            <p:txEl>
                                              <p:pRg st="7" end="7"/>
                                            </p:txEl>
                                          </p:spTgt>
                                        </p:tgtEl>
                                        <p:attrNameLst>
                                          <p:attrName>style.visibility</p:attrName>
                                        </p:attrNameLst>
                                      </p:cBhvr>
                                      <p:to>
                                        <p:strVal val="visible"/>
                                      </p:to>
                                    </p:set>
                                    <p:animEffect transition="in" filter="wipe(up)">
                                      <p:cBhvr>
                                        <p:cTn id="54" dur="500"/>
                                        <p:tgtEl>
                                          <p:spTgt spid="7">
                                            <p:txEl>
                                              <p:pRg st="7" end="7"/>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1" fill="hold" grpId="0" nodeType="clickEffect">
                                  <p:stCondLst>
                                    <p:cond delay="0"/>
                                  </p:stCondLst>
                                  <p:childTnLst>
                                    <p:set>
                                      <p:cBhvr>
                                        <p:cTn id="58" dur="1" fill="hold">
                                          <p:stCondLst>
                                            <p:cond delay="0"/>
                                          </p:stCondLst>
                                        </p:cTn>
                                        <p:tgtEl>
                                          <p:spTgt spid="7">
                                            <p:txEl>
                                              <p:pRg st="8" end="8"/>
                                            </p:txEl>
                                          </p:spTgt>
                                        </p:tgtEl>
                                        <p:attrNameLst>
                                          <p:attrName>style.visibility</p:attrName>
                                        </p:attrNameLst>
                                      </p:cBhvr>
                                      <p:to>
                                        <p:strVal val="visible"/>
                                      </p:to>
                                    </p:set>
                                    <p:animEffect transition="in" filter="wipe(up)">
                                      <p:cBhvr>
                                        <p:cTn id="59" dur="500"/>
                                        <p:tgtEl>
                                          <p:spTgt spid="7">
                                            <p:txEl>
                                              <p:pRg st="8" end="8"/>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1" fill="hold" grpId="0" nodeType="clickEffect">
                                  <p:stCondLst>
                                    <p:cond delay="0"/>
                                  </p:stCondLst>
                                  <p:childTnLst>
                                    <p:set>
                                      <p:cBhvr>
                                        <p:cTn id="63" dur="1" fill="hold">
                                          <p:stCondLst>
                                            <p:cond delay="0"/>
                                          </p:stCondLst>
                                        </p:cTn>
                                        <p:tgtEl>
                                          <p:spTgt spid="7">
                                            <p:txEl>
                                              <p:pRg st="9" end="9"/>
                                            </p:txEl>
                                          </p:spTgt>
                                        </p:tgtEl>
                                        <p:attrNameLst>
                                          <p:attrName>style.visibility</p:attrName>
                                        </p:attrNameLst>
                                      </p:cBhvr>
                                      <p:to>
                                        <p:strVal val="visible"/>
                                      </p:to>
                                    </p:set>
                                    <p:animEffect transition="in" filter="wipe(up)">
                                      <p:cBhvr>
                                        <p:cTn id="64" dur="500"/>
                                        <p:tgtEl>
                                          <p:spTgt spid="7">
                                            <p:txEl>
                                              <p:pRg st="9" end="9"/>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1" fill="hold" grpId="0" nodeType="clickEffect">
                                  <p:stCondLst>
                                    <p:cond delay="0"/>
                                  </p:stCondLst>
                                  <p:childTnLst>
                                    <p:set>
                                      <p:cBhvr>
                                        <p:cTn id="68" dur="1" fill="hold">
                                          <p:stCondLst>
                                            <p:cond delay="0"/>
                                          </p:stCondLst>
                                        </p:cTn>
                                        <p:tgtEl>
                                          <p:spTgt spid="7">
                                            <p:txEl>
                                              <p:pRg st="10" end="10"/>
                                            </p:txEl>
                                          </p:spTgt>
                                        </p:tgtEl>
                                        <p:attrNameLst>
                                          <p:attrName>style.visibility</p:attrName>
                                        </p:attrNameLst>
                                      </p:cBhvr>
                                      <p:to>
                                        <p:strVal val="visible"/>
                                      </p:to>
                                    </p:set>
                                    <p:animEffect transition="in" filter="wipe(up)">
                                      <p:cBhvr>
                                        <p:cTn id="69" dur="500"/>
                                        <p:tgtEl>
                                          <p:spTgt spid="7">
                                            <p:txEl>
                                              <p:pRg st="10" end="10"/>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1" fill="hold" grpId="0" nodeType="clickEffect">
                                  <p:stCondLst>
                                    <p:cond delay="0"/>
                                  </p:stCondLst>
                                  <p:childTnLst>
                                    <p:set>
                                      <p:cBhvr>
                                        <p:cTn id="73" dur="1" fill="hold">
                                          <p:stCondLst>
                                            <p:cond delay="0"/>
                                          </p:stCondLst>
                                        </p:cTn>
                                        <p:tgtEl>
                                          <p:spTgt spid="7">
                                            <p:txEl>
                                              <p:pRg st="11" end="11"/>
                                            </p:txEl>
                                          </p:spTgt>
                                        </p:tgtEl>
                                        <p:attrNameLst>
                                          <p:attrName>style.visibility</p:attrName>
                                        </p:attrNameLst>
                                      </p:cBhvr>
                                      <p:to>
                                        <p:strVal val="visible"/>
                                      </p:to>
                                    </p:set>
                                    <p:animEffect transition="in" filter="wipe(up)">
                                      <p:cBhvr>
                                        <p:cTn id="74" dur="500"/>
                                        <p:tgtEl>
                                          <p:spTgt spid="7">
                                            <p:txEl>
                                              <p:pRg st="11" end="11"/>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1" fill="hold" grpId="0" nodeType="clickEffect">
                                  <p:stCondLst>
                                    <p:cond delay="0"/>
                                  </p:stCondLst>
                                  <p:childTnLst>
                                    <p:set>
                                      <p:cBhvr>
                                        <p:cTn id="78" dur="1" fill="hold">
                                          <p:stCondLst>
                                            <p:cond delay="0"/>
                                          </p:stCondLst>
                                        </p:cTn>
                                        <p:tgtEl>
                                          <p:spTgt spid="7">
                                            <p:txEl>
                                              <p:pRg st="12" end="12"/>
                                            </p:txEl>
                                          </p:spTgt>
                                        </p:tgtEl>
                                        <p:attrNameLst>
                                          <p:attrName>style.visibility</p:attrName>
                                        </p:attrNameLst>
                                      </p:cBhvr>
                                      <p:to>
                                        <p:strVal val="visible"/>
                                      </p:to>
                                    </p:set>
                                    <p:animEffect transition="in" filter="wipe(up)">
                                      <p:cBhvr>
                                        <p:cTn id="79" dur="500"/>
                                        <p:tgtEl>
                                          <p:spTgt spid="7">
                                            <p:txEl>
                                              <p:pRg st="12" end="12"/>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1" fill="hold" grpId="0" nodeType="clickEffect">
                                  <p:stCondLst>
                                    <p:cond delay="0"/>
                                  </p:stCondLst>
                                  <p:childTnLst>
                                    <p:set>
                                      <p:cBhvr>
                                        <p:cTn id="83" dur="1" fill="hold">
                                          <p:stCondLst>
                                            <p:cond delay="0"/>
                                          </p:stCondLst>
                                        </p:cTn>
                                        <p:tgtEl>
                                          <p:spTgt spid="7">
                                            <p:txEl>
                                              <p:pRg st="13" end="13"/>
                                            </p:txEl>
                                          </p:spTgt>
                                        </p:tgtEl>
                                        <p:attrNameLst>
                                          <p:attrName>style.visibility</p:attrName>
                                        </p:attrNameLst>
                                      </p:cBhvr>
                                      <p:to>
                                        <p:strVal val="visible"/>
                                      </p:to>
                                    </p:set>
                                    <p:animEffect transition="in" filter="wipe(up)">
                                      <p:cBhvr>
                                        <p:cTn id="84" dur="500"/>
                                        <p:tgtEl>
                                          <p:spTgt spid="7">
                                            <p:txEl>
                                              <p:pRg st="13" end="13"/>
                                            </p:txEl>
                                          </p:spTgt>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grpId="0" nodeType="clickEffect">
                                  <p:stCondLst>
                                    <p:cond delay="0"/>
                                  </p:stCondLst>
                                  <p:childTnLst>
                                    <p:set>
                                      <p:cBhvr>
                                        <p:cTn id="88" dur="1" fill="hold">
                                          <p:stCondLst>
                                            <p:cond delay="0"/>
                                          </p:stCondLst>
                                        </p:cTn>
                                        <p:tgtEl>
                                          <p:spTgt spid="9"/>
                                        </p:tgtEl>
                                        <p:attrNameLst>
                                          <p:attrName>style.visibility</p:attrName>
                                        </p:attrNameLst>
                                      </p:cBhvr>
                                      <p:to>
                                        <p:strVal val="visible"/>
                                      </p:to>
                                    </p:set>
                                    <p:animEffect transition="in" filter="wipe(left)">
                                      <p:cBhvr>
                                        <p:cTn id="8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2" grpId="0"/>
      <p:bldP spid="9" grpId="0"/>
    </p:bldLst>
  </p:timing>
</p:sld>
</file>

<file path=ppt/slides/slide1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tângulo 3"/>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
        <p:nvSpPr>
          <p:cNvPr id="5" name="Retângulo 4"/>
          <p:cNvSpPr/>
          <p:nvPr/>
        </p:nvSpPr>
        <p:spPr>
          <a:xfrm>
            <a:off x="1657100" y="1376013"/>
            <a:ext cx="8076296" cy="1892826"/>
          </a:xfrm>
          <a:prstGeom prst="rect">
            <a:avLst/>
          </a:prstGeom>
        </p:spPr>
        <p:txBody>
          <a:bodyPr wrap="square">
            <a:spAutoFit/>
          </a:bodyPr>
          <a:lstStyle/>
          <a:p>
            <a:pPr algn="just"/>
            <a:r>
              <a:rPr lang="pt-BR" b="1" dirty="0">
                <a:solidFill>
                  <a:schemeClr val="accent6"/>
                </a:solidFill>
              </a:rPr>
              <a:t>CARACTERÍSTICAS PARA SELEÇÃO</a:t>
            </a:r>
          </a:p>
          <a:p>
            <a:endParaRPr lang="pt-BR" dirty="0">
              <a:solidFill>
                <a:schemeClr val="accent6"/>
              </a:solidFill>
            </a:endParaRPr>
          </a:p>
          <a:p>
            <a:pPr>
              <a:lnSpc>
                <a:spcPct val="150000"/>
              </a:lnSpc>
            </a:pPr>
            <a:r>
              <a:rPr lang="pt-BR" dirty="0">
                <a:solidFill>
                  <a:schemeClr val="accent6"/>
                </a:solidFill>
              </a:rPr>
              <a:t>Grandes volumes de cargas.</a:t>
            </a:r>
          </a:p>
          <a:p>
            <a:pPr>
              <a:lnSpc>
                <a:spcPct val="150000"/>
              </a:lnSpc>
            </a:pPr>
            <a:r>
              <a:rPr lang="pt-BR" dirty="0">
                <a:solidFill>
                  <a:schemeClr val="accent6"/>
                </a:solidFill>
              </a:rPr>
              <a:t>Grandes distâncias a transportar (800 Km).</a:t>
            </a:r>
          </a:p>
          <a:p>
            <a:pPr>
              <a:lnSpc>
                <a:spcPct val="150000"/>
              </a:lnSpc>
            </a:pPr>
            <a:r>
              <a:rPr lang="pt-BR" dirty="0">
                <a:solidFill>
                  <a:schemeClr val="accent6"/>
                </a:solidFill>
              </a:rPr>
              <a:t>Trajetos exclusivos (não há vias para outros modais)</a:t>
            </a:r>
          </a:p>
        </p:txBody>
      </p:sp>
      <p:sp>
        <p:nvSpPr>
          <p:cNvPr id="7" name="Retângulo 6"/>
          <p:cNvSpPr/>
          <p:nvPr/>
        </p:nvSpPr>
        <p:spPr>
          <a:xfrm>
            <a:off x="1657100" y="3749976"/>
            <a:ext cx="6740394" cy="2308324"/>
          </a:xfrm>
          <a:prstGeom prst="rect">
            <a:avLst/>
          </a:prstGeom>
        </p:spPr>
        <p:txBody>
          <a:bodyPr wrap="square">
            <a:spAutoFit/>
          </a:bodyPr>
          <a:lstStyle/>
          <a:p>
            <a:r>
              <a:rPr lang="pt-BR" b="1" dirty="0">
                <a:solidFill>
                  <a:schemeClr val="accent6"/>
                </a:solidFill>
              </a:rPr>
              <a:t>Adaptabilidade</a:t>
            </a:r>
            <a:r>
              <a:rPr lang="pt-BR" dirty="0">
                <a:solidFill>
                  <a:schemeClr val="accent6"/>
                </a:solidFill>
              </a:rPr>
              <a:t>:</a:t>
            </a:r>
          </a:p>
          <a:p>
            <a:endParaRPr lang="pt-BR" dirty="0">
              <a:solidFill>
                <a:schemeClr val="accent6"/>
              </a:solidFill>
            </a:endParaRPr>
          </a:p>
          <a:p>
            <a:pPr>
              <a:lnSpc>
                <a:spcPct val="150000"/>
              </a:lnSpc>
            </a:pPr>
            <a:r>
              <a:rPr lang="pt-BR" dirty="0">
                <a:solidFill>
                  <a:schemeClr val="accent6"/>
                </a:solidFill>
              </a:rPr>
              <a:t>Trailer </a:t>
            </a:r>
            <a:r>
              <a:rPr lang="pt-BR" dirty="0" err="1">
                <a:solidFill>
                  <a:schemeClr val="accent6"/>
                </a:solidFill>
              </a:rPr>
              <a:t>on</a:t>
            </a:r>
            <a:r>
              <a:rPr lang="pt-BR" dirty="0">
                <a:solidFill>
                  <a:schemeClr val="accent6"/>
                </a:solidFill>
              </a:rPr>
              <a:t> flat car.</a:t>
            </a:r>
          </a:p>
          <a:p>
            <a:pPr>
              <a:lnSpc>
                <a:spcPct val="150000"/>
              </a:lnSpc>
            </a:pPr>
            <a:r>
              <a:rPr lang="pt-BR" dirty="0">
                <a:solidFill>
                  <a:schemeClr val="accent6"/>
                </a:solidFill>
              </a:rPr>
              <a:t>Container </a:t>
            </a:r>
            <a:r>
              <a:rPr lang="pt-BR" dirty="0" err="1">
                <a:solidFill>
                  <a:schemeClr val="accent6"/>
                </a:solidFill>
              </a:rPr>
              <a:t>on</a:t>
            </a:r>
            <a:r>
              <a:rPr lang="pt-BR" dirty="0">
                <a:solidFill>
                  <a:schemeClr val="accent6"/>
                </a:solidFill>
              </a:rPr>
              <a:t> flat car.</a:t>
            </a:r>
          </a:p>
          <a:p>
            <a:pPr>
              <a:lnSpc>
                <a:spcPct val="150000"/>
              </a:lnSpc>
            </a:pPr>
            <a:r>
              <a:rPr lang="pt-BR" dirty="0">
                <a:solidFill>
                  <a:schemeClr val="accent6"/>
                </a:solidFill>
              </a:rPr>
              <a:t>Double </a:t>
            </a:r>
            <a:r>
              <a:rPr lang="pt-BR" dirty="0" err="1">
                <a:solidFill>
                  <a:schemeClr val="accent6"/>
                </a:solidFill>
              </a:rPr>
              <a:t>stack</a:t>
            </a:r>
            <a:r>
              <a:rPr lang="pt-BR" dirty="0">
                <a:solidFill>
                  <a:schemeClr val="accent6"/>
                </a:solidFill>
              </a:rPr>
              <a:t> (02 </a:t>
            </a:r>
            <a:r>
              <a:rPr lang="pt-BR" dirty="0" err="1">
                <a:solidFill>
                  <a:schemeClr val="accent6"/>
                </a:solidFill>
              </a:rPr>
              <a:t>containeres</a:t>
            </a:r>
            <a:r>
              <a:rPr lang="pt-BR" dirty="0">
                <a:solidFill>
                  <a:schemeClr val="accent6"/>
                </a:solidFill>
              </a:rPr>
              <a:t>).</a:t>
            </a:r>
          </a:p>
          <a:p>
            <a:pPr>
              <a:lnSpc>
                <a:spcPct val="150000"/>
              </a:lnSpc>
            </a:pPr>
            <a:r>
              <a:rPr lang="pt-BR" dirty="0" err="1">
                <a:solidFill>
                  <a:schemeClr val="accent6"/>
                </a:solidFill>
              </a:rPr>
              <a:t>Roadtrailer</a:t>
            </a:r>
            <a:r>
              <a:rPr lang="pt-BR" dirty="0">
                <a:solidFill>
                  <a:schemeClr val="accent6"/>
                </a:solidFill>
              </a:rPr>
              <a:t> / </a:t>
            </a:r>
            <a:r>
              <a:rPr lang="pt-BR" dirty="0" err="1">
                <a:solidFill>
                  <a:schemeClr val="accent6"/>
                </a:solidFill>
              </a:rPr>
              <a:t>Transtrailer</a:t>
            </a:r>
            <a:r>
              <a:rPr lang="pt-BR" dirty="0">
                <a:solidFill>
                  <a:schemeClr val="accent6"/>
                </a:solidFill>
              </a:rPr>
              <a:t>.</a:t>
            </a:r>
          </a:p>
        </p:txBody>
      </p:sp>
      <p:sp>
        <p:nvSpPr>
          <p:cNvPr id="8" name="Title 1"/>
          <p:cNvSpPr txBox="1">
            <a:spLocks/>
          </p:cNvSpPr>
          <p:nvPr/>
        </p:nvSpPr>
        <p:spPr bwMode="auto">
          <a:xfrm>
            <a:off x="2702982" y="822118"/>
            <a:ext cx="6786036" cy="4005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noAutofit/>
          </a:bodyPr>
          <a:lstStyle>
            <a:lvl1pPr algn="l" defTabSz="449263" rtl="0" eaLnBrk="1" fontAlgn="base" hangingPunct="1">
              <a:spcBef>
                <a:spcPct val="0"/>
              </a:spcBef>
              <a:spcAft>
                <a:spcPct val="0"/>
              </a:spcAft>
              <a:buClr>
                <a:srgbClr val="000000"/>
              </a:buClr>
              <a:buSzPct val="100000"/>
              <a:buFont typeface="Times New Roman" panose="02020603050405020304" pitchFamily="18" charset="0"/>
              <a:defRPr sz="4100" b="1" kern="1200">
                <a:solidFill>
                  <a:srgbClr val="464646"/>
                </a:solidFill>
                <a:latin typeface="+mj-lt"/>
                <a:ea typeface="+mj-ea"/>
                <a:cs typeface="+mj-cs"/>
              </a:defRPr>
            </a:lvl1pPr>
            <a:lvl2pPr marL="742950" indent="-28575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2pPr>
            <a:lvl3pPr marL="1143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3pPr>
            <a:lvl4pPr marL="1600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4pPr>
            <a:lvl5pPr marL="20574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5pPr>
            <a:lvl6pPr marL="25146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6pPr>
            <a:lvl7pPr marL="29718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7pPr>
            <a:lvl8pPr marL="3429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8pPr>
            <a:lvl9pPr marL="3886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9pPr>
          </a:lstStyle>
          <a:p>
            <a:pPr algn="ctr"/>
            <a:r>
              <a:rPr lang="pt-BR" sz="2000" dirty="0">
                <a:solidFill>
                  <a:schemeClr val="accent6"/>
                </a:solidFill>
                <a:latin typeface="+mn-lt"/>
              </a:rPr>
              <a:t>MODAL FERROVIÁRIO</a:t>
            </a:r>
          </a:p>
        </p:txBody>
      </p:sp>
      <p:pic>
        <p:nvPicPr>
          <p:cNvPr id="2" name="Imagem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2671" y="3577842"/>
            <a:ext cx="3574000" cy="2289594"/>
          </a:xfrm>
          <a:prstGeom prst="rect">
            <a:avLst/>
          </a:prstGeom>
        </p:spPr>
      </p:pic>
      <p:sp>
        <p:nvSpPr>
          <p:cNvPr id="3" name="Retângulo 2"/>
          <p:cNvSpPr/>
          <p:nvPr/>
        </p:nvSpPr>
        <p:spPr>
          <a:xfrm>
            <a:off x="7863708" y="5988900"/>
            <a:ext cx="2351926" cy="307777"/>
          </a:xfrm>
          <a:prstGeom prst="rect">
            <a:avLst/>
          </a:prstGeom>
        </p:spPr>
        <p:txBody>
          <a:bodyPr wrap="none">
            <a:spAutoFit/>
          </a:bodyPr>
          <a:lstStyle/>
          <a:p>
            <a:r>
              <a:rPr lang="pt-BR" sz="1400" b="1" i="1" dirty="0" err="1">
                <a:solidFill>
                  <a:schemeClr val="accent6"/>
                </a:solidFill>
              </a:rPr>
              <a:t>Roadtrailer</a:t>
            </a:r>
            <a:r>
              <a:rPr lang="pt-BR" sz="1400" b="1" i="1" dirty="0">
                <a:solidFill>
                  <a:schemeClr val="accent6"/>
                </a:solidFill>
              </a:rPr>
              <a:t> / </a:t>
            </a:r>
            <a:r>
              <a:rPr lang="pt-BR" sz="1400" b="1" i="1" dirty="0" err="1">
                <a:solidFill>
                  <a:schemeClr val="accent6"/>
                </a:solidFill>
              </a:rPr>
              <a:t>Transtrailer</a:t>
            </a:r>
            <a:endParaRPr lang="pt-BR" sz="1400" b="1" i="1" dirty="0"/>
          </a:p>
        </p:txBody>
      </p:sp>
    </p:spTree>
    <p:extLst>
      <p:ext uri="{BB962C8B-B14F-4D97-AF65-F5344CB8AC3E}">
        <p14:creationId xmlns:p14="http://schemas.microsoft.com/office/powerpoint/2010/main" val="360519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3"/>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50" presetClass="entr" presetSubtype="0" decel="10000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p:cTn id="14" dur="1000" fill="hold"/>
                                        <p:tgtEl>
                                          <p:spTgt spid="7"/>
                                        </p:tgtEl>
                                        <p:attrNameLst>
                                          <p:attrName>ppt_w</p:attrName>
                                        </p:attrNameLst>
                                      </p:cBhvr>
                                      <p:tavLst>
                                        <p:tav tm="0">
                                          <p:val>
                                            <p:strVal val="#ppt_w+.3"/>
                                          </p:val>
                                        </p:tav>
                                        <p:tav tm="100000">
                                          <p:val>
                                            <p:strVal val="#ppt_w"/>
                                          </p:val>
                                        </p:tav>
                                      </p:tavLst>
                                    </p:anim>
                                    <p:anim calcmode="lin" valueType="num">
                                      <p:cBhvr>
                                        <p:cTn id="15" dur="1000" fill="hold"/>
                                        <p:tgtEl>
                                          <p:spTgt spid="7"/>
                                        </p:tgtEl>
                                        <p:attrNameLst>
                                          <p:attrName>ppt_h</p:attrName>
                                        </p:attrNameLst>
                                      </p:cBhvr>
                                      <p:tavLst>
                                        <p:tav tm="0">
                                          <p:val>
                                            <p:strVal val="#ppt_h"/>
                                          </p:val>
                                        </p:tav>
                                        <p:tav tm="100000">
                                          <p:val>
                                            <p:strVal val="#ppt_h"/>
                                          </p:val>
                                        </p:tav>
                                      </p:tavLst>
                                    </p:anim>
                                    <p:animEffect transition="in" filter="fade">
                                      <p:cBhvr>
                                        <p:cTn id="16" dur="1000"/>
                                        <p:tgtEl>
                                          <p:spTgt spid="7"/>
                                        </p:tgtEl>
                                      </p:cBhvr>
                                    </p:animEffect>
                                  </p:childTnLst>
                                </p:cTn>
                              </p:par>
                            </p:childTnLst>
                          </p:cTn>
                        </p:par>
                        <p:par>
                          <p:cTn id="17" fill="hold">
                            <p:stCondLst>
                              <p:cond delay="1000"/>
                            </p:stCondLst>
                            <p:childTnLst>
                              <p:par>
                                <p:cTn id="18" presetID="31" presetClass="entr" presetSubtype="0"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p:cTn id="20" dur="1000" fill="hold"/>
                                        <p:tgtEl>
                                          <p:spTgt spid="2"/>
                                        </p:tgtEl>
                                        <p:attrNameLst>
                                          <p:attrName>ppt_w</p:attrName>
                                        </p:attrNameLst>
                                      </p:cBhvr>
                                      <p:tavLst>
                                        <p:tav tm="0">
                                          <p:val>
                                            <p:fltVal val="0"/>
                                          </p:val>
                                        </p:tav>
                                        <p:tav tm="100000">
                                          <p:val>
                                            <p:strVal val="#ppt_w"/>
                                          </p:val>
                                        </p:tav>
                                      </p:tavLst>
                                    </p:anim>
                                    <p:anim calcmode="lin" valueType="num">
                                      <p:cBhvr>
                                        <p:cTn id="21" dur="1000" fill="hold"/>
                                        <p:tgtEl>
                                          <p:spTgt spid="2"/>
                                        </p:tgtEl>
                                        <p:attrNameLst>
                                          <p:attrName>ppt_h</p:attrName>
                                        </p:attrNameLst>
                                      </p:cBhvr>
                                      <p:tavLst>
                                        <p:tav tm="0">
                                          <p:val>
                                            <p:fltVal val="0"/>
                                          </p:val>
                                        </p:tav>
                                        <p:tav tm="100000">
                                          <p:val>
                                            <p:strVal val="#ppt_h"/>
                                          </p:val>
                                        </p:tav>
                                      </p:tavLst>
                                    </p:anim>
                                    <p:anim calcmode="lin" valueType="num">
                                      <p:cBhvr>
                                        <p:cTn id="22" dur="1000" fill="hold"/>
                                        <p:tgtEl>
                                          <p:spTgt spid="2"/>
                                        </p:tgtEl>
                                        <p:attrNameLst>
                                          <p:attrName>style.rotation</p:attrName>
                                        </p:attrNameLst>
                                      </p:cBhvr>
                                      <p:tavLst>
                                        <p:tav tm="0">
                                          <p:val>
                                            <p:fltVal val="90"/>
                                          </p:val>
                                        </p:tav>
                                        <p:tav tm="100000">
                                          <p:val>
                                            <p:fltVal val="0"/>
                                          </p:val>
                                        </p:tav>
                                      </p:tavLst>
                                    </p:anim>
                                    <p:animEffect transition="in" filter="fade">
                                      <p:cBhvr>
                                        <p:cTn id="23" dur="1000"/>
                                        <p:tgtEl>
                                          <p:spTgt spid="2"/>
                                        </p:tgtEl>
                                      </p:cBhvr>
                                    </p:animEffect>
                                  </p:childTnLst>
                                </p:cTn>
                              </p:par>
                              <p:par>
                                <p:cTn id="24" presetID="31" presetClass="entr" presetSubtype="0" fill="hold" grpId="0" nodeType="withEffect">
                                  <p:stCondLst>
                                    <p:cond delay="0"/>
                                  </p:stCondLst>
                                  <p:childTnLst>
                                    <p:set>
                                      <p:cBhvr>
                                        <p:cTn id="25" dur="1" fill="hold">
                                          <p:stCondLst>
                                            <p:cond delay="0"/>
                                          </p:stCondLst>
                                        </p:cTn>
                                        <p:tgtEl>
                                          <p:spTgt spid="3"/>
                                        </p:tgtEl>
                                        <p:attrNameLst>
                                          <p:attrName>style.visibility</p:attrName>
                                        </p:attrNameLst>
                                      </p:cBhvr>
                                      <p:to>
                                        <p:strVal val="visible"/>
                                      </p:to>
                                    </p:set>
                                    <p:anim calcmode="lin" valueType="num">
                                      <p:cBhvr>
                                        <p:cTn id="26" dur="1000" fill="hold"/>
                                        <p:tgtEl>
                                          <p:spTgt spid="3"/>
                                        </p:tgtEl>
                                        <p:attrNameLst>
                                          <p:attrName>ppt_w</p:attrName>
                                        </p:attrNameLst>
                                      </p:cBhvr>
                                      <p:tavLst>
                                        <p:tav tm="0">
                                          <p:val>
                                            <p:fltVal val="0"/>
                                          </p:val>
                                        </p:tav>
                                        <p:tav tm="100000">
                                          <p:val>
                                            <p:strVal val="#ppt_w"/>
                                          </p:val>
                                        </p:tav>
                                      </p:tavLst>
                                    </p:anim>
                                    <p:anim calcmode="lin" valueType="num">
                                      <p:cBhvr>
                                        <p:cTn id="27" dur="1000" fill="hold"/>
                                        <p:tgtEl>
                                          <p:spTgt spid="3"/>
                                        </p:tgtEl>
                                        <p:attrNameLst>
                                          <p:attrName>ppt_h</p:attrName>
                                        </p:attrNameLst>
                                      </p:cBhvr>
                                      <p:tavLst>
                                        <p:tav tm="0">
                                          <p:val>
                                            <p:fltVal val="0"/>
                                          </p:val>
                                        </p:tav>
                                        <p:tav tm="100000">
                                          <p:val>
                                            <p:strVal val="#ppt_h"/>
                                          </p:val>
                                        </p:tav>
                                      </p:tavLst>
                                    </p:anim>
                                    <p:anim calcmode="lin" valueType="num">
                                      <p:cBhvr>
                                        <p:cTn id="28" dur="1000" fill="hold"/>
                                        <p:tgtEl>
                                          <p:spTgt spid="3"/>
                                        </p:tgtEl>
                                        <p:attrNameLst>
                                          <p:attrName>style.rotation</p:attrName>
                                        </p:attrNameLst>
                                      </p:cBhvr>
                                      <p:tavLst>
                                        <p:tav tm="0">
                                          <p:val>
                                            <p:fltVal val="90"/>
                                          </p:val>
                                        </p:tav>
                                        <p:tav tm="100000">
                                          <p:val>
                                            <p:fltVal val="0"/>
                                          </p:val>
                                        </p:tav>
                                      </p:tavLst>
                                    </p:anim>
                                    <p:animEffect transition="in" filter="fade">
                                      <p:cBhvr>
                                        <p:cTn id="29"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3" grpId="0"/>
    </p:bldLst>
  </p:timing>
</p:sld>
</file>

<file path=ppt/slides/slide1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Retângulo 5"/>
          <p:cNvSpPr/>
          <p:nvPr/>
        </p:nvSpPr>
        <p:spPr>
          <a:xfrm>
            <a:off x="6627223" y="2235186"/>
            <a:ext cx="4228012" cy="1323439"/>
          </a:xfrm>
          <a:prstGeom prst="rect">
            <a:avLst/>
          </a:prstGeom>
        </p:spPr>
        <p:txBody>
          <a:bodyPr wrap="square">
            <a:spAutoFit/>
          </a:bodyPr>
          <a:lstStyle/>
          <a:p>
            <a:r>
              <a:rPr lang="pt-BR" sz="1600" b="1" dirty="0">
                <a:solidFill>
                  <a:schemeClr val="accent6"/>
                </a:solidFill>
              </a:rPr>
              <a:t>VAGÃO FECHADO</a:t>
            </a:r>
          </a:p>
          <a:p>
            <a:pPr algn="just"/>
            <a:r>
              <a:rPr lang="pt-BR" sz="1600" dirty="0">
                <a:solidFill>
                  <a:schemeClr val="accent6"/>
                </a:solidFill>
              </a:rPr>
              <a:t>Para granéis sólidos, ensacados, caixarias, cargas unitizadas e transporte de produtos em geral que não podem ser expostos as intempéries</a:t>
            </a:r>
          </a:p>
        </p:txBody>
      </p:sp>
      <p:pic>
        <p:nvPicPr>
          <p:cNvPr id="10" name="Imagem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4455" y="762584"/>
            <a:ext cx="5426529" cy="2945205"/>
          </a:xfrm>
          <a:prstGeom prst="rect">
            <a:avLst/>
          </a:prstGeom>
        </p:spPr>
      </p:pic>
      <p:sp>
        <p:nvSpPr>
          <p:cNvPr id="9" name="CaixaDeTexto 8"/>
          <p:cNvSpPr txBox="1"/>
          <p:nvPr/>
        </p:nvSpPr>
        <p:spPr>
          <a:xfrm>
            <a:off x="2099556" y="953193"/>
            <a:ext cx="7992888" cy="400110"/>
          </a:xfrm>
          <a:prstGeom prst="rect">
            <a:avLst/>
          </a:prstGeom>
          <a:noFill/>
        </p:spPr>
        <p:txBody>
          <a:bodyPr wrap="square" rtlCol="0">
            <a:spAutoFit/>
          </a:bodyPr>
          <a:lstStyle/>
          <a:p>
            <a:pPr algn="ctr"/>
            <a:r>
              <a:rPr lang="pt-BR" sz="2000" b="1" dirty="0">
                <a:solidFill>
                  <a:schemeClr val="accent6"/>
                </a:solidFill>
              </a:rPr>
              <a:t>MODAL FERROVIÁRIO – TIPOS DE EQUIPAMENTOS</a:t>
            </a:r>
          </a:p>
        </p:txBody>
      </p:sp>
      <p:sp>
        <p:nvSpPr>
          <p:cNvPr id="12" name="Retângulo 11"/>
          <p:cNvSpPr/>
          <p:nvPr/>
        </p:nvSpPr>
        <p:spPr>
          <a:xfrm>
            <a:off x="5806933" y="4071981"/>
            <a:ext cx="5372655" cy="2308324"/>
          </a:xfrm>
          <a:prstGeom prst="rect">
            <a:avLst/>
          </a:prstGeom>
        </p:spPr>
        <p:txBody>
          <a:bodyPr wrap="square">
            <a:spAutoFit/>
          </a:bodyPr>
          <a:lstStyle/>
          <a:p>
            <a:pPr algn="just"/>
            <a:r>
              <a:rPr lang="pt-BR" sz="1600" b="1" dirty="0">
                <a:solidFill>
                  <a:schemeClr val="accent6"/>
                </a:solidFill>
              </a:rPr>
              <a:t>VAGÃO HOPPER </a:t>
            </a:r>
          </a:p>
          <a:p>
            <a:pPr algn="just"/>
            <a:r>
              <a:rPr lang="pt-BR" sz="1600" dirty="0">
                <a:solidFill>
                  <a:schemeClr val="accent6"/>
                </a:solidFill>
              </a:rPr>
              <a:t>Se caracterizam pelo seu sistema de descarga. Sua estrutura é um grande funil na qual existem aberturas inferiores para a realização da descarga.</a:t>
            </a:r>
          </a:p>
          <a:p>
            <a:pPr algn="just"/>
            <a:endParaRPr lang="pt-BR" sz="1600" dirty="0">
              <a:solidFill>
                <a:schemeClr val="accent6"/>
              </a:solidFill>
            </a:endParaRPr>
          </a:p>
          <a:p>
            <a:pPr marL="285750" indent="-285750" algn="just">
              <a:buFontTx/>
              <a:buChar char="-"/>
            </a:pPr>
            <a:r>
              <a:rPr lang="pt-BR" sz="1600" b="1" dirty="0">
                <a:solidFill>
                  <a:schemeClr val="accent6"/>
                </a:solidFill>
              </a:rPr>
              <a:t>Fechados:</a:t>
            </a:r>
            <a:r>
              <a:rPr lang="pt-BR" sz="1600" dirty="0">
                <a:solidFill>
                  <a:schemeClr val="accent6"/>
                </a:solidFill>
              </a:rPr>
              <a:t> para granéis corrosivos e granéis sólidos que não podem ser expostos ao tempo.</a:t>
            </a:r>
          </a:p>
          <a:p>
            <a:pPr marL="285750" indent="-285750" algn="just">
              <a:buFontTx/>
              <a:buChar char="-"/>
            </a:pPr>
            <a:r>
              <a:rPr lang="pt-BR" sz="1600" b="1" dirty="0">
                <a:solidFill>
                  <a:schemeClr val="accent6"/>
                </a:solidFill>
              </a:rPr>
              <a:t>Abertos:</a:t>
            </a:r>
            <a:r>
              <a:rPr lang="pt-BR" sz="1600" dirty="0">
                <a:solidFill>
                  <a:schemeClr val="accent6"/>
                </a:solidFill>
              </a:rPr>
              <a:t> para os granéis que podem ser expostos ao tempo.</a:t>
            </a:r>
          </a:p>
        </p:txBody>
      </p:sp>
      <p:pic>
        <p:nvPicPr>
          <p:cNvPr id="2" name="Imagem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4455" y="4262745"/>
            <a:ext cx="4678125" cy="2353867"/>
          </a:xfrm>
          <a:prstGeom prst="rect">
            <a:avLst/>
          </a:prstGeom>
        </p:spPr>
      </p:pic>
      <p:sp>
        <p:nvSpPr>
          <p:cNvPr id="8" name="Retângulo 7"/>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Tree>
    <p:extLst>
      <p:ext uri="{BB962C8B-B14F-4D97-AF65-F5344CB8AC3E}">
        <p14:creationId xmlns:p14="http://schemas.microsoft.com/office/powerpoint/2010/main" val="127798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barn(inVertical)">
                                      <p:cBhvr>
                                        <p:cTn id="14" dur="500"/>
                                        <p:tgtEl>
                                          <p:spTgt spid="6"/>
                                        </p:tgtEl>
                                      </p:cBhvr>
                                    </p:animEffect>
                                  </p:childTnLst>
                                </p:cTn>
                              </p:par>
                            </p:childTnLst>
                          </p:cTn>
                        </p:par>
                        <p:par>
                          <p:cTn id="15" fill="hold">
                            <p:stCondLst>
                              <p:cond delay="500"/>
                            </p:stCondLst>
                            <p:childTnLst>
                              <p:par>
                                <p:cTn id="16" presetID="6" presetClass="entr" presetSubtype="16" fill="hold" nodeType="after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circle(in)">
                                      <p:cBhvr>
                                        <p:cTn id="18" dur="20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37"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barn(outVertical)">
                                      <p:cBhvr>
                                        <p:cTn id="23" dur="500"/>
                                        <p:tgtEl>
                                          <p:spTgt spid="12"/>
                                        </p:tgtEl>
                                      </p:cBhvr>
                                    </p:animEffect>
                                  </p:childTnLst>
                                </p:cTn>
                              </p:par>
                              <p:par>
                                <p:cTn id="24" presetID="4" presetClass="entr" presetSubtype="32" fill="hold" nodeType="with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box(out)">
                                      <p:cBhvr>
                                        <p:cTn id="26"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2" grpId="0"/>
    </p:bldLst>
  </p:timing>
</p:sld>
</file>

<file path=ppt/slides/slide1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aixaDeTexto 8"/>
          <p:cNvSpPr txBox="1"/>
          <p:nvPr/>
        </p:nvSpPr>
        <p:spPr>
          <a:xfrm>
            <a:off x="2099556" y="953193"/>
            <a:ext cx="7992888" cy="400110"/>
          </a:xfrm>
          <a:prstGeom prst="rect">
            <a:avLst/>
          </a:prstGeom>
          <a:noFill/>
        </p:spPr>
        <p:txBody>
          <a:bodyPr wrap="square" rtlCol="0">
            <a:spAutoFit/>
          </a:bodyPr>
          <a:lstStyle/>
          <a:p>
            <a:pPr algn="ctr"/>
            <a:r>
              <a:rPr lang="pt-BR" sz="2000" b="1" dirty="0">
                <a:solidFill>
                  <a:schemeClr val="accent6"/>
                </a:solidFill>
              </a:rPr>
              <a:t>MODAL FERROVIÁRIO – TIPOS DE EQUIPAMENTOS</a:t>
            </a:r>
          </a:p>
        </p:txBody>
      </p:sp>
      <p:pic>
        <p:nvPicPr>
          <p:cNvPr id="1026" name="Picture 2" descr="Resultado de imagem para vagão gondol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38168" y="1512174"/>
            <a:ext cx="4773478" cy="2963595"/>
          </a:xfrm>
          <a:prstGeom prst="rect">
            <a:avLst/>
          </a:prstGeom>
          <a:noFill/>
          <a:extLst>
            <a:ext uri="{909E8E84-426E-40DD-AFC4-6F175D3DCCD1}">
              <a14:hiddenFill xmlns:a14="http://schemas.microsoft.com/office/drawing/2010/main">
                <a:solidFill>
                  <a:srgbClr val="FFFFFF"/>
                </a:solidFill>
              </a14:hiddenFill>
            </a:ext>
          </a:extLst>
        </p:spPr>
      </p:pic>
      <p:pic>
        <p:nvPicPr>
          <p:cNvPr id="3" name="Imagem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9125" y="3708400"/>
            <a:ext cx="5886875" cy="2379801"/>
          </a:xfrm>
          <a:prstGeom prst="rect">
            <a:avLst/>
          </a:prstGeom>
        </p:spPr>
      </p:pic>
      <p:sp>
        <p:nvSpPr>
          <p:cNvPr id="5" name="Retângulo 4"/>
          <p:cNvSpPr/>
          <p:nvPr/>
        </p:nvSpPr>
        <p:spPr>
          <a:xfrm>
            <a:off x="1600200" y="2088574"/>
            <a:ext cx="4712794" cy="923330"/>
          </a:xfrm>
          <a:prstGeom prst="rect">
            <a:avLst/>
          </a:prstGeom>
        </p:spPr>
        <p:txBody>
          <a:bodyPr wrap="square">
            <a:spAutoFit/>
          </a:bodyPr>
          <a:lstStyle/>
          <a:p>
            <a:r>
              <a:rPr lang="pt-BR" b="1" dirty="0">
                <a:solidFill>
                  <a:schemeClr val="accent6"/>
                </a:solidFill>
              </a:rPr>
              <a:t>VAGÃO GÔNDOLA</a:t>
            </a:r>
          </a:p>
          <a:p>
            <a:pPr algn="just"/>
            <a:r>
              <a:rPr lang="pt-BR" dirty="0">
                <a:solidFill>
                  <a:schemeClr val="accent6"/>
                </a:solidFill>
              </a:rPr>
              <a:t>Para granéis sólidos e produtos diversos que podem ser expostos ao tempo.</a:t>
            </a:r>
          </a:p>
        </p:txBody>
      </p:sp>
      <p:sp>
        <p:nvSpPr>
          <p:cNvPr id="7" name="Retângulo 6"/>
          <p:cNvSpPr/>
          <p:nvPr/>
        </p:nvSpPr>
        <p:spPr>
          <a:xfrm>
            <a:off x="6476280" y="5193621"/>
            <a:ext cx="5335366" cy="646331"/>
          </a:xfrm>
          <a:prstGeom prst="rect">
            <a:avLst/>
          </a:prstGeom>
        </p:spPr>
        <p:txBody>
          <a:bodyPr wrap="square">
            <a:spAutoFit/>
          </a:bodyPr>
          <a:lstStyle/>
          <a:p>
            <a:pPr algn="just"/>
            <a:r>
              <a:rPr lang="pt-BR" b="1" dirty="0">
                <a:solidFill>
                  <a:schemeClr val="accent6"/>
                </a:solidFill>
              </a:rPr>
              <a:t>VAGÃO ISOTÉRMICO / REFRIGERADO</a:t>
            </a:r>
          </a:p>
          <a:p>
            <a:pPr algn="just"/>
            <a:r>
              <a:rPr lang="pt-BR" dirty="0">
                <a:solidFill>
                  <a:schemeClr val="accent6"/>
                </a:solidFill>
              </a:rPr>
              <a:t>Transportam produtos congelados em geral.</a:t>
            </a:r>
          </a:p>
        </p:txBody>
      </p:sp>
      <p:sp>
        <p:nvSpPr>
          <p:cNvPr id="8" name="Retângulo 7"/>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Tree>
    <p:extLst>
      <p:ext uri="{BB962C8B-B14F-4D97-AF65-F5344CB8AC3E}">
        <p14:creationId xmlns:p14="http://schemas.microsoft.com/office/powerpoint/2010/main" val="1943612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026"/>
                                        </p:tgtEl>
                                        <p:attrNameLst>
                                          <p:attrName>style.visibility</p:attrName>
                                        </p:attrNameLst>
                                      </p:cBhvr>
                                      <p:to>
                                        <p:strVal val="visible"/>
                                      </p:to>
                                    </p:set>
                                    <p:animEffect transition="in" filter="fade">
                                      <p:cBhvr>
                                        <p:cTn id="11" dur="500"/>
                                        <p:tgtEl>
                                          <p:spTgt spid="1026"/>
                                        </p:tgtEl>
                                      </p:cBhvr>
                                    </p:animEffect>
                                  </p:childTnLst>
                                </p:cTn>
                              </p:par>
                            </p:childTnLst>
                          </p:cTn>
                        </p:par>
                      </p:childTnLst>
                    </p:cTn>
                  </p:par>
                  <p:par>
                    <p:cTn id="12" fill="hold">
                      <p:stCondLst>
                        <p:cond delay="indefinite"/>
                      </p:stCondLst>
                      <p:childTnLst>
                        <p:par>
                          <p:cTn id="13" fill="hold">
                            <p:stCondLst>
                              <p:cond delay="0"/>
                            </p:stCondLst>
                            <p:childTnLst>
                              <p:par>
                                <p:cTn id="14" presetID="53" presetClass="entr" presetSubtype="16"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p:cTn id="16" dur="500" fill="hold"/>
                                        <p:tgtEl>
                                          <p:spTgt spid="7"/>
                                        </p:tgtEl>
                                        <p:attrNameLst>
                                          <p:attrName>ppt_w</p:attrName>
                                        </p:attrNameLst>
                                      </p:cBhvr>
                                      <p:tavLst>
                                        <p:tav tm="0">
                                          <p:val>
                                            <p:fltVal val="0"/>
                                          </p:val>
                                        </p:tav>
                                        <p:tav tm="100000">
                                          <p:val>
                                            <p:strVal val="#ppt_w"/>
                                          </p:val>
                                        </p:tav>
                                      </p:tavLst>
                                    </p:anim>
                                    <p:anim calcmode="lin" valueType="num">
                                      <p:cBhvr>
                                        <p:cTn id="17" dur="500" fill="hold"/>
                                        <p:tgtEl>
                                          <p:spTgt spid="7"/>
                                        </p:tgtEl>
                                        <p:attrNameLst>
                                          <p:attrName>ppt_h</p:attrName>
                                        </p:attrNameLst>
                                      </p:cBhvr>
                                      <p:tavLst>
                                        <p:tav tm="0">
                                          <p:val>
                                            <p:fltVal val="0"/>
                                          </p:val>
                                        </p:tav>
                                        <p:tav tm="100000">
                                          <p:val>
                                            <p:strVal val="#ppt_h"/>
                                          </p:val>
                                        </p:tav>
                                      </p:tavLst>
                                    </p:anim>
                                    <p:animEffect transition="in" filter="fade">
                                      <p:cBhvr>
                                        <p:cTn id="18" dur="500"/>
                                        <p:tgtEl>
                                          <p:spTgt spid="7"/>
                                        </p:tgtEl>
                                      </p:cBhvr>
                                    </p:animEffect>
                                  </p:childTnLst>
                                </p:cTn>
                              </p:par>
                            </p:childTnLst>
                          </p:cTn>
                        </p:par>
                        <p:par>
                          <p:cTn id="19" fill="hold">
                            <p:stCondLst>
                              <p:cond delay="500"/>
                            </p:stCondLst>
                            <p:childTnLst>
                              <p:par>
                                <p:cTn id="20" presetID="31" presetClass="entr" presetSubtype="0" fill="hold" nodeType="afterEffect">
                                  <p:stCondLst>
                                    <p:cond delay="0"/>
                                  </p:stCondLst>
                                  <p:childTnLst>
                                    <p:set>
                                      <p:cBhvr>
                                        <p:cTn id="21" dur="1" fill="hold">
                                          <p:stCondLst>
                                            <p:cond delay="0"/>
                                          </p:stCondLst>
                                        </p:cTn>
                                        <p:tgtEl>
                                          <p:spTgt spid="3"/>
                                        </p:tgtEl>
                                        <p:attrNameLst>
                                          <p:attrName>style.visibility</p:attrName>
                                        </p:attrNameLst>
                                      </p:cBhvr>
                                      <p:to>
                                        <p:strVal val="visible"/>
                                      </p:to>
                                    </p:set>
                                    <p:anim calcmode="lin" valueType="num">
                                      <p:cBhvr>
                                        <p:cTn id="22" dur="1000" fill="hold"/>
                                        <p:tgtEl>
                                          <p:spTgt spid="3"/>
                                        </p:tgtEl>
                                        <p:attrNameLst>
                                          <p:attrName>ppt_w</p:attrName>
                                        </p:attrNameLst>
                                      </p:cBhvr>
                                      <p:tavLst>
                                        <p:tav tm="0">
                                          <p:val>
                                            <p:fltVal val="0"/>
                                          </p:val>
                                        </p:tav>
                                        <p:tav tm="100000">
                                          <p:val>
                                            <p:strVal val="#ppt_w"/>
                                          </p:val>
                                        </p:tav>
                                      </p:tavLst>
                                    </p:anim>
                                    <p:anim calcmode="lin" valueType="num">
                                      <p:cBhvr>
                                        <p:cTn id="23" dur="1000" fill="hold"/>
                                        <p:tgtEl>
                                          <p:spTgt spid="3"/>
                                        </p:tgtEl>
                                        <p:attrNameLst>
                                          <p:attrName>ppt_h</p:attrName>
                                        </p:attrNameLst>
                                      </p:cBhvr>
                                      <p:tavLst>
                                        <p:tav tm="0">
                                          <p:val>
                                            <p:fltVal val="0"/>
                                          </p:val>
                                        </p:tav>
                                        <p:tav tm="100000">
                                          <p:val>
                                            <p:strVal val="#ppt_h"/>
                                          </p:val>
                                        </p:tav>
                                      </p:tavLst>
                                    </p:anim>
                                    <p:anim calcmode="lin" valueType="num">
                                      <p:cBhvr>
                                        <p:cTn id="24" dur="1000" fill="hold"/>
                                        <p:tgtEl>
                                          <p:spTgt spid="3"/>
                                        </p:tgtEl>
                                        <p:attrNameLst>
                                          <p:attrName>style.rotation</p:attrName>
                                        </p:attrNameLst>
                                      </p:cBhvr>
                                      <p:tavLst>
                                        <p:tav tm="0">
                                          <p:val>
                                            <p:fltVal val="90"/>
                                          </p:val>
                                        </p:tav>
                                        <p:tav tm="100000">
                                          <p:val>
                                            <p:fltVal val="0"/>
                                          </p:val>
                                        </p:tav>
                                      </p:tavLst>
                                    </p:anim>
                                    <p:animEffect transition="in" filter="fade">
                                      <p:cBhvr>
                                        <p:cTn id="25"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1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aixaDeTexto 8"/>
          <p:cNvSpPr txBox="1"/>
          <p:nvPr/>
        </p:nvSpPr>
        <p:spPr>
          <a:xfrm>
            <a:off x="2099556" y="953193"/>
            <a:ext cx="7992888" cy="400110"/>
          </a:xfrm>
          <a:prstGeom prst="rect">
            <a:avLst/>
          </a:prstGeom>
          <a:noFill/>
        </p:spPr>
        <p:txBody>
          <a:bodyPr wrap="square" rtlCol="0">
            <a:spAutoFit/>
          </a:bodyPr>
          <a:lstStyle/>
          <a:p>
            <a:pPr algn="ctr"/>
            <a:r>
              <a:rPr lang="pt-BR" sz="2000" b="1" dirty="0">
                <a:solidFill>
                  <a:schemeClr val="accent6"/>
                </a:solidFill>
              </a:rPr>
              <a:t>MODAL FERROVIÁRIO – TIPOS DE EQUIPAMENTOS</a:t>
            </a:r>
          </a:p>
        </p:txBody>
      </p:sp>
      <p:sp>
        <p:nvSpPr>
          <p:cNvPr id="2" name="Retângulo 1"/>
          <p:cNvSpPr/>
          <p:nvPr/>
        </p:nvSpPr>
        <p:spPr>
          <a:xfrm>
            <a:off x="627018" y="1565794"/>
            <a:ext cx="6048102" cy="2554545"/>
          </a:xfrm>
          <a:prstGeom prst="rect">
            <a:avLst/>
          </a:prstGeom>
        </p:spPr>
        <p:txBody>
          <a:bodyPr wrap="square">
            <a:spAutoFit/>
          </a:bodyPr>
          <a:lstStyle/>
          <a:p>
            <a:pPr algn="just" fontAlgn="base"/>
            <a:r>
              <a:rPr lang="pt-BR" sz="1600" b="1" dirty="0">
                <a:solidFill>
                  <a:schemeClr val="accent6"/>
                </a:solidFill>
              </a:rPr>
              <a:t>VAGÃO PLATAFORMA</a:t>
            </a:r>
            <a:endParaRPr lang="pt-BR" sz="1600" dirty="0">
              <a:solidFill>
                <a:schemeClr val="accent6"/>
              </a:solidFill>
            </a:endParaRPr>
          </a:p>
          <a:p>
            <a:pPr algn="just" fontAlgn="base"/>
            <a:r>
              <a:rPr lang="pt-BR" sz="1600" dirty="0">
                <a:solidFill>
                  <a:schemeClr val="accent6"/>
                </a:solidFill>
              </a:rPr>
              <a:t>Os vagões plataforma são o tipo mais flexível em termos operacionais. Podem transportar todo tipo de carga.</a:t>
            </a:r>
          </a:p>
          <a:p>
            <a:pPr algn="just" fontAlgn="base"/>
            <a:endParaRPr lang="pt-BR" sz="1600" dirty="0">
              <a:solidFill>
                <a:schemeClr val="accent6"/>
              </a:solidFill>
            </a:endParaRPr>
          </a:p>
          <a:p>
            <a:pPr algn="just" fontAlgn="base"/>
            <a:r>
              <a:rPr lang="pt-BR" sz="1600" dirty="0">
                <a:solidFill>
                  <a:schemeClr val="accent6"/>
                </a:solidFill>
              </a:rPr>
              <a:t>A carga e a descarga podem ser realizadas tanto pela parte superior quanto pela lateral e alguns podem ter complementos na lateral e cabeceiras.</a:t>
            </a:r>
          </a:p>
          <a:p>
            <a:pPr algn="just" fontAlgn="base"/>
            <a:endParaRPr lang="pt-BR" sz="1600" dirty="0">
              <a:solidFill>
                <a:schemeClr val="accent6"/>
              </a:solidFill>
            </a:endParaRPr>
          </a:p>
          <a:p>
            <a:pPr algn="just" fontAlgn="base"/>
            <a:r>
              <a:rPr lang="pt-BR" sz="1600" dirty="0">
                <a:solidFill>
                  <a:schemeClr val="accent6"/>
                </a:solidFill>
              </a:rPr>
              <a:t>As principais cargas transportadas são bobinas de aço, aços longos,  contêineres e peças de grandes dimensões.</a:t>
            </a:r>
            <a:endParaRPr lang="pt-BR" sz="1600" b="0" i="0" dirty="0">
              <a:solidFill>
                <a:schemeClr val="accent6"/>
              </a:solidFill>
              <a:effectLst/>
            </a:endParaRPr>
          </a:p>
        </p:txBody>
      </p:sp>
      <p:pic>
        <p:nvPicPr>
          <p:cNvPr id="5" name="Imagem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40581" y="1353303"/>
            <a:ext cx="3972703" cy="2979527"/>
          </a:xfrm>
          <a:prstGeom prst="rect">
            <a:avLst/>
          </a:prstGeom>
        </p:spPr>
      </p:pic>
      <p:sp>
        <p:nvSpPr>
          <p:cNvPr id="7" name="Retângulo 6"/>
          <p:cNvSpPr/>
          <p:nvPr/>
        </p:nvSpPr>
        <p:spPr>
          <a:xfrm>
            <a:off x="6326200" y="4545321"/>
            <a:ext cx="5001464" cy="1815882"/>
          </a:xfrm>
          <a:prstGeom prst="rect">
            <a:avLst/>
          </a:prstGeom>
        </p:spPr>
        <p:txBody>
          <a:bodyPr wrap="square">
            <a:spAutoFit/>
          </a:bodyPr>
          <a:lstStyle/>
          <a:p>
            <a:pPr algn="just" fontAlgn="base"/>
            <a:r>
              <a:rPr lang="pt-BR" sz="1600" b="1" dirty="0">
                <a:solidFill>
                  <a:schemeClr val="accent6"/>
                </a:solidFill>
              </a:rPr>
              <a:t>VAGÃO TANQUE</a:t>
            </a:r>
            <a:endParaRPr lang="pt-BR" sz="1600" dirty="0">
              <a:solidFill>
                <a:schemeClr val="accent6"/>
              </a:solidFill>
            </a:endParaRPr>
          </a:p>
          <a:p>
            <a:pPr algn="just" fontAlgn="base"/>
            <a:r>
              <a:rPr lang="pt-BR" sz="1600" dirty="0">
                <a:solidFill>
                  <a:schemeClr val="accent6"/>
                </a:solidFill>
              </a:rPr>
              <a:t>Formado por uma estrutura cilíndrica apoiada sobre estrados metálicos ou não, sendo a própria estrutura cilíndrica a estrutura do vagão. Principais produtos transportados: combustíveis líquidos e produtos químicos, tanto líquidos quanto gasosos e cimento a granel.</a:t>
            </a:r>
            <a:endParaRPr lang="pt-BR" sz="1600" b="0" i="0" dirty="0">
              <a:solidFill>
                <a:schemeClr val="accent6"/>
              </a:solidFill>
              <a:effectLst/>
            </a:endParaRPr>
          </a:p>
        </p:txBody>
      </p:sp>
      <p:pic>
        <p:nvPicPr>
          <p:cNvPr id="11" name="Imagem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4793" y="4417991"/>
            <a:ext cx="5891349" cy="2230296"/>
          </a:xfrm>
          <a:prstGeom prst="rect">
            <a:avLst/>
          </a:prstGeom>
        </p:spPr>
      </p:pic>
      <p:sp>
        <p:nvSpPr>
          <p:cNvPr id="8" name="Retângulo 7"/>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Tree>
    <p:extLst>
      <p:ext uri="{BB962C8B-B14F-4D97-AF65-F5344CB8AC3E}">
        <p14:creationId xmlns:p14="http://schemas.microsoft.com/office/powerpoint/2010/main" val="3183441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par>
                          <p:cTn id="8" fill="hold">
                            <p:stCondLst>
                              <p:cond delay="2000"/>
                            </p:stCondLst>
                            <p:childTnLst>
                              <p:par>
                                <p:cTn id="9" presetID="14" presetClass="entr" presetSubtype="1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randombar(horizontal)">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31"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p:cTn id="16" dur="1000" fill="hold"/>
                                        <p:tgtEl>
                                          <p:spTgt spid="7"/>
                                        </p:tgtEl>
                                        <p:attrNameLst>
                                          <p:attrName>ppt_w</p:attrName>
                                        </p:attrNameLst>
                                      </p:cBhvr>
                                      <p:tavLst>
                                        <p:tav tm="0">
                                          <p:val>
                                            <p:fltVal val="0"/>
                                          </p:val>
                                        </p:tav>
                                        <p:tav tm="100000">
                                          <p:val>
                                            <p:strVal val="#ppt_w"/>
                                          </p:val>
                                        </p:tav>
                                      </p:tavLst>
                                    </p:anim>
                                    <p:anim calcmode="lin" valueType="num">
                                      <p:cBhvr>
                                        <p:cTn id="17" dur="1000" fill="hold"/>
                                        <p:tgtEl>
                                          <p:spTgt spid="7"/>
                                        </p:tgtEl>
                                        <p:attrNameLst>
                                          <p:attrName>ppt_h</p:attrName>
                                        </p:attrNameLst>
                                      </p:cBhvr>
                                      <p:tavLst>
                                        <p:tav tm="0">
                                          <p:val>
                                            <p:fltVal val="0"/>
                                          </p:val>
                                        </p:tav>
                                        <p:tav tm="100000">
                                          <p:val>
                                            <p:strVal val="#ppt_h"/>
                                          </p:val>
                                        </p:tav>
                                      </p:tavLst>
                                    </p:anim>
                                    <p:anim calcmode="lin" valueType="num">
                                      <p:cBhvr>
                                        <p:cTn id="18" dur="1000" fill="hold"/>
                                        <p:tgtEl>
                                          <p:spTgt spid="7"/>
                                        </p:tgtEl>
                                        <p:attrNameLst>
                                          <p:attrName>style.rotation</p:attrName>
                                        </p:attrNameLst>
                                      </p:cBhvr>
                                      <p:tavLst>
                                        <p:tav tm="0">
                                          <p:val>
                                            <p:fltVal val="90"/>
                                          </p:val>
                                        </p:tav>
                                        <p:tav tm="100000">
                                          <p:val>
                                            <p:fltVal val="0"/>
                                          </p:val>
                                        </p:tav>
                                      </p:tavLst>
                                    </p:anim>
                                    <p:animEffect transition="in" filter="fade">
                                      <p:cBhvr>
                                        <p:cTn id="19" dur="1000"/>
                                        <p:tgtEl>
                                          <p:spTgt spid="7"/>
                                        </p:tgtEl>
                                      </p:cBhvr>
                                    </p:animEffect>
                                  </p:childTnLst>
                                </p:cTn>
                              </p:par>
                            </p:childTnLst>
                          </p:cTn>
                        </p:par>
                        <p:par>
                          <p:cTn id="20" fill="hold">
                            <p:stCondLst>
                              <p:cond delay="1000"/>
                            </p:stCondLst>
                            <p:childTnLst>
                              <p:par>
                                <p:cTn id="21" presetID="21" presetClass="entr" presetSubtype="1" fill="hold"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wheel(1)">
                                      <p:cBhvr>
                                        <p:cTn id="23"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Lst>
  </p:timing>
</p:sld>
</file>

<file path=ppt/slides/slide1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tângulo 3"/>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
        <p:nvSpPr>
          <p:cNvPr id="8" name="Title 1"/>
          <p:cNvSpPr txBox="1">
            <a:spLocks/>
          </p:cNvSpPr>
          <p:nvPr/>
        </p:nvSpPr>
        <p:spPr bwMode="auto">
          <a:xfrm>
            <a:off x="2702982" y="822118"/>
            <a:ext cx="6786036" cy="4005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noAutofit/>
          </a:bodyPr>
          <a:lstStyle>
            <a:lvl1pPr algn="l" defTabSz="449263" rtl="0" eaLnBrk="1" fontAlgn="base" hangingPunct="1">
              <a:spcBef>
                <a:spcPct val="0"/>
              </a:spcBef>
              <a:spcAft>
                <a:spcPct val="0"/>
              </a:spcAft>
              <a:buClr>
                <a:srgbClr val="000000"/>
              </a:buClr>
              <a:buSzPct val="100000"/>
              <a:buFont typeface="Times New Roman" panose="02020603050405020304" pitchFamily="18" charset="0"/>
              <a:defRPr sz="4100" b="1" kern="1200">
                <a:solidFill>
                  <a:srgbClr val="464646"/>
                </a:solidFill>
                <a:latin typeface="+mj-lt"/>
                <a:ea typeface="+mj-ea"/>
                <a:cs typeface="+mj-cs"/>
              </a:defRPr>
            </a:lvl1pPr>
            <a:lvl2pPr marL="742950" indent="-28575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2pPr>
            <a:lvl3pPr marL="1143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3pPr>
            <a:lvl4pPr marL="1600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4pPr>
            <a:lvl5pPr marL="20574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5pPr>
            <a:lvl6pPr marL="25146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6pPr>
            <a:lvl7pPr marL="29718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7pPr>
            <a:lvl8pPr marL="3429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8pPr>
            <a:lvl9pPr marL="3886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9pPr>
          </a:lstStyle>
          <a:p>
            <a:pPr algn="ctr"/>
            <a:r>
              <a:rPr lang="pt-BR" sz="2000" dirty="0">
                <a:solidFill>
                  <a:schemeClr val="accent6"/>
                </a:solidFill>
                <a:latin typeface="+mn-lt"/>
              </a:rPr>
              <a:t>MODAL FERROVIÁRIO</a:t>
            </a:r>
          </a:p>
        </p:txBody>
      </p:sp>
      <p:graphicFrame>
        <p:nvGraphicFramePr>
          <p:cNvPr id="9" name="Tabela 8"/>
          <p:cNvGraphicFramePr>
            <a:graphicFrameLocks noGrp="1"/>
          </p:cNvGraphicFramePr>
          <p:nvPr/>
        </p:nvGraphicFramePr>
        <p:xfrm>
          <a:off x="1214034" y="1513301"/>
          <a:ext cx="9763932" cy="4347594"/>
        </p:xfrm>
        <a:graphic>
          <a:graphicData uri="http://schemas.openxmlformats.org/drawingml/2006/table">
            <a:tbl>
              <a:tblPr>
                <a:tableStyleId>{5DA37D80-6434-44D0-A028-1B22A696006F}</a:tableStyleId>
              </a:tblPr>
              <a:tblGrid>
                <a:gridCol w="4881966">
                  <a:extLst>
                    <a:ext uri="{9D8B030D-6E8A-4147-A177-3AD203B41FA5}">
                      <a16:colId xmlns:a16="http://schemas.microsoft.com/office/drawing/2014/main" val="20000"/>
                    </a:ext>
                  </a:extLst>
                </a:gridCol>
                <a:gridCol w="4881966">
                  <a:extLst>
                    <a:ext uri="{9D8B030D-6E8A-4147-A177-3AD203B41FA5}">
                      <a16:colId xmlns:a16="http://schemas.microsoft.com/office/drawing/2014/main" val="20001"/>
                    </a:ext>
                  </a:extLst>
                </a:gridCol>
              </a:tblGrid>
              <a:tr h="352888">
                <a:tc>
                  <a:txBody>
                    <a:bodyPr/>
                    <a:lstStyle/>
                    <a:p>
                      <a:pPr marL="0" algn="ctr" defTabSz="914400" rtl="0" eaLnBrk="1" latinLnBrk="0" hangingPunct="1"/>
                      <a:r>
                        <a:rPr lang="pt-BR" sz="1800" kern="1200" dirty="0">
                          <a:solidFill>
                            <a:schemeClr val="bg1"/>
                          </a:solidFill>
                          <a:latin typeface="+mn-lt"/>
                          <a:ea typeface="+mn-ea"/>
                          <a:cs typeface="+mn-cs"/>
                        </a:rPr>
                        <a:t>VANTAGENS    </a:t>
                      </a:r>
                    </a:p>
                  </a:txBody>
                  <a:tcPr anchor="ctr">
                    <a:solidFill>
                      <a:schemeClr val="accent2">
                        <a:lumMod val="75000"/>
                      </a:schemeClr>
                    </a:solidFill>
                  </a:tcPr>
                </a:tc>
                <a:tc>
                  <a:txBody>
                    <a:bodyPr/>
                    <a:lstStyle/>
                    <a:p>
                      <a:pPr marL="0" algn="ctr" defTabSz="914400" rtl="0" eaLnBrk="1" latinLnBrk="0" hangingPunct="1"/>
                      <a:r>
                        <a:rPr lang="pt-BR" sz="1800" kern="1200" dirty="0">
                          <a:solidFill>
                            <a:schemeClr val="bg1"/>
                          </a:solidFill>
                          <a:latin typeface="+mn-lt"/>
                          <a:ea typeface="+mn-ea"/>
                          <a:cs typeface="+mn-cs"/>
                        </a:rPr>
                        <a:t>DESVANTAGENS</a:t>
                      </a:r>
                    </a:p>
                  </a:txBody>
                  <a:tcPr anchor="ctr">
                    <a:solidFill>
                      <a:schemeClr val="accent2">
                        <a:lumMod val="75000"/>
                      </a:schemeClr>
                    </a:solidFill>
                  </a:tcPr>
                </a:tc>
                <a:extLst>
                  <a:ext uri="{0D108BD9-81ED-4DB2-BD59-A6C34878D82A}">
                    <a16:rowId xmlns:a16="http://schemas.microsoft.com/office/drawing/2014/main" val="10000"/>
                  </a:ext>
                </a:extLst>
              </a:tr>
              <a:tr h="655246">
                <a:tc>
                  <a:txBody>
                    <a:bodyPr/>
                    <a:lstStyle/>
                    <a:p>
                      <a:pPr marL="0" algn="l" defTabSz="914400" rtl="0" eaLnBrk="1" latinLnBrk="0" hangingPunct="1"/>
                      <a:r>
                        <a:rPr lang="pt-BR" sz="1800" kern="1200" dirty="0">
                          <a:solidFill>
                            <a:schemeClr val="accent6"/>
                          </a:solidFill>
                          <a:latin typeface="+mn-lt"/>
                          <a:ea typeface="+mn-ea"/>
                          <a:cs typeface="+mn-cs"/>
                        </a:rPr>
                        <a:t>Alta eficiência energética.</a:t>
                      </a:r>
                    </a:p>
                  </a:txBody>
                  <a:tcPr anchor="ctr"/>
                </a:tc>
                <a:tc>
                  <a:txBody>
                    <a:bodyPr/>
                    <a:lstStyle/>
                    <a:p>
                      <a:pPr marL="0" algn="l" defTabSz="914400" rtl="0" eaLnBrk="1" latinLnBrk="0" hangingPunct="1"/>
                      <a:r>
                        <a:rPr lang="pt-BR" sz="1800" kern="1200">
                          <a:solidFill>
                            <a:schemeClr val="accent6"/>
                          </a:solidFill>
                          <a:latin typeface="+mn-lt"/>
                          <a:ea typeface="+mn-ea"/>
                          <a:cs typeface="+mn-cs"/>
                        </a:rPr>
                        <a:t>Tráfego limitado aos trilhos.</a:t>
                      </a:r>
                    </a:p>
                  </a:txBody>
                  <a:tcPr anchor="ctr"/>
                </a:tc>
                <a:extLst>
                  <a:ext uri="{0D108BD9-81ED-4DB2-BD59-A6C34878D82A}">
                    <a16:rowId xmlns:a16="http://schemas.microsoft.com/office/drawing/2014/main" val="10001"/>
                  </a:ext>
                </a:extLst>
              </a:tr>
              <a:tr h="458672">
                <a:tc>
                  <a:txBody>
                    <a:bodyPr/>
                    <a:lstStyle/>
                    <a:p>
                      <a:pPr marL="0" algn="l" defTabSz="914400" rtl="0" eaLnBrk="1" latinLnBrk="0" hangingPunct="1"/>
                      <a:r>
                        <a:rPr lang="pt-BR" sz="1800" kern="1200" dirty="0">
                          <a:solidFill>
                            <a:schemeClr val="accent6"/>
                          </a:solidFill>
                          <a:latin typeface="+mn-lt"/>
                          <a:ea typeface="+mn-ea"/>
                          <a:cs typeface="+mn-cs"/>
                        </a:rPr>
                        <a:t>Grandes quantidades transportadas.</a:t>
                      </a:r>
                    </a:p>
                  </a:txBody>
                  <a:tcPr anchor="ctr"/>
                </a:tc>
                <a:tc>
                  <a:txBody>
                    <a:bodyPr/>
                    <a:lstStyle/>
                    <a:p>
                      <a:pPr marL="0" algn="l" defTabSz="914400" rtl="0" eaLnBrk="1" latinLnBrk="0" hangingPunct="1"/>
                      <a:r>
                        <a:rPr lang="pt-BR" sz="1800" kern="1200">
                          <a:solidFill>
                            <a:schemeClr val="accent6"/>
                          </a:solidFill>
                          <a:latin typeface="+mn-lt"/>
                          <a:ea typeface="+mn-ea"/>
                          <a:cs typeface="+mn-cs"/>
                        </a:rPr>
                        <a:t>Sistemas de bitolas inconsistentes.</a:t>
                      </a:r>
                    </a:p>
                  </a:txBody>
                  <a:tcPr anchor="ctr"/>
                </a:tc>
                <a:extLst>
                  <a:ext uri="{0D108BD9-81ED-4DB2-BD59-A6C34878D82A}">
                    <a16:rowId xmlns:a16="http://schemas.microsoft.com/office/drawing/2014/main" val="10002"/>
                  </a:ext>
                </a:extLst>
              </a:tr>
              <a:tr h="458672">
                <a:tc>
                  <a:txBody>
                    <a:bodyPr/>
                    <a:lstStyle/>
                    <a:p>
                      <a:pPr marL="0" algn="l" defTabSz="914400" rtl="0" eaLnBrk="1" latinLnBrk="0" hangingPunct="1"/>
                      <a:r>
                        <a:rPr lang="pt-BR" sz="1800" kern="1200" dirty="0">
                          <a:solidFill>
                            <a:schemeClr val="accent6"/>
                          </a:solidFill>
                          <a:latin typeface="+mn-lt"/>
                          <a:ea typeface="+mn-ea"/>
                          <a:cs typeface="+mn-cs"/>
                        </a:rPr>
                        <a:t>Inexistência de pedágios.</a:t>
                      </a:r>
                    </a:p>
                  </a:txBody>
                  <a:tcPr anchor="ctr"/>
                </a:tc>
                <a:tc>
                  <a:txBody>
                    <a:bodyPr/>
                    <a:lstStyle/>
                    <a:p>
                      <a:pPr marL="0" algn="l" defTabSz="914400" rtl="0" eaLnBrk="1" latinLnBrk="0" hangingPunct="1"/>
                      <a:r>
                        <a:rPr lang="pt-BR" sz="1800" kern="1200">
                          <a:solidFill>
                            <a:schemeClr val="accent6"/>
                          </a:solidFill>
                          <a:latin typeface="+mn-lt"/>
                          <a:ea typeface="+mn-ea"/>
                          <a:cs typeface="+mn-cs"/>
                        </a:rPr>
                        <a:t>Malha ferroviária insuficiente.</a:t>
                      </a:r>
                    </a:p>
                  </a:txBody>
                  <a:tcPr anchor="ctr"/>
                </a:tc>
                <a:extLst>
                  <a:ext uri="{0D108BD9-81ED-4DB2-BD59-A6C34878D82A}">
                    <a16:rowId xmlns:a16="http://schemas.microsoft.com/office/drawing/2014/main" val="10003"/>
                  </a:ext>
                </a:extLst>
              </a:tr>
              <a:tr h="851820">
                <a:tc>
                  <a:txBody>
                    <a:bodyPr/>
                    <a:lstStyle/>
                    <a:p>
                      <a:pPr marL="0" algn="l" defTabSz="914400" rtl="0" eaLnBrk="1" latinLnBrk="0" hangingPunct="1"/>
                      <a:r>
                        <a:rPr lang="pt-BR" sz="1800" kern="1200" dirty="0">
                          <a:solidFill>
                            <a:schemeClr val="accent6"/>
                          </a:solidFill>
                          <a:latin typeface="+mn-lt"/>
                          <a:ea typeface="+mn-ea"/>
                          <a:cs typeface="+mn-cs"/>
                        </a:rPr>
                        <a:t>Baixíssimo nível de acidentes.</a:t>
                      </a:r>
                    </a:p>
                  </a:txBody>
                  <a:tcPr anchor="ctr"/>
                </a:tc>
                <a:tc>
                  <a:txBody>
                    <a:bodyPr/>
                    <a:lstStyle/>
                    <a:p>
                      <a:pPr marL="0" algn="l" defTabSz="914400" rtl="0" eaLnBrk="1" latinLnBrk="0" hangingPunct="1"/>
                      <a:r>
                        <a:rPr lang="pt-BR" sz="1800" kern="1200" dirty="0">
                          <a:solidFill>
                            <a:schemeClr val="accent6"/>
                          </a:solidFill>
                          <a:latin typeface="+mn-lt"/>
                          <a:ea typeface="+mn-ea"/>
                          <a:cs typeface="+mn-cs"/>
                        </a:rPr>
                        <a:t>Malha ferroviária sucateada</a:t>
                      </a:r>
                    </a:p>
                  </a:txBody>
                  <a:tcPr anchor="ctr"/>
                </a:tc>
                <a:extLst>
                  <a:ext uri="{0D108BD9-81ED-4DB2-BD59-A6C34878D82A}">
                    <a16:rowId xmlns:a16="http://schemas.microsoft.com/office/drawing/2014/main" val="10004"/>
                  </a:ext>
                </a:extLst>
              </a:tr>
              <a:tr h="458672">
                <a:tc>
                  <a:txBody>
                    <a:bodyPr/>
                    <a:lstStyle/>
                    <a:p>
                      <a:pPr marL="0" algn="l" defTabSz="914400" rtl="0" eaLnBrk="1" latinLnBrk="0" hangingPunct="1"/>
                      <a:r>
                        <a:rPr lang="pt-BR" sz="1800" kern="1200">
                          <a:solidFill>
                            <a:schemeClr val="accent6"/>
                          </a:solidFill>
                          <a:latin typeface="+mn-lt"/>
                          <a:ea typeface="+mn-ea"/>
                          <a:cs typeface="+mn-cs"/>
                        </a:rPr>
                        <a:t>Melhores condições de segurança da carga.</a:t>
                      </a:r>
                    </a:p>
                  </a:txBody>
                  <a:tcPr anchor="ctr"/>
                </a:tc>
                <a:tc>
                  <a:txBody>
                    <a:bodyPr/>
                    <a:lstStyle/>
                    <a:p>
                      <a:pPr marL="0" algn="l" defTabSz="914400" rtl="0" eaLnBrk="1" latinLnBrk="0" hangingPunct="1"/>
                      <a:r>
                        <a:rPr lang="pt-BR" sz="1800" kern="1200" dirty="0">
                          <a:solidFill>
                            <a:schemeClr val="accent6"/>
                          </a:solidFill>
                          <a:latin typeface="+mn-lt"/>
                          <a:ea typeface="+mn-ea"/>
                          <a:cs typeface="+mn-cs"/>
                        </a:rPr>
                        <a:t>Necessita de entrepostos especializados.</a:t>
                      </a:r>
                    </a:p>
                  </a:txBody>
                  <a:tcPr anchor="ctr"/>
                </a:tc>
                <a:extLst>
                  <a:ext uri="{0D108BD9-81ED-4DB2-BD59-A6C34878D82A}">
                    <a16:rowId xmlns:a16="http://schemas.microsoft.com/office/drawing/2014/main" val="10005"/>
                  </a:ext>
                </a:extLst>
              </a:tr>
              <a:tr h="458672">
                <a:tc>
                  <a:txBody>
                    <a:bodyPr/>
                    <a:lstStyle/>
                    <a:p>
                      <a:pPr marL="0" algn="l" defTabSz="914400" rtl="0" eaLnBrk="1" latinLnBrk="0" hangingPunct="1"/>
                      <a:r>
                        <a:rPr lang="pt-BR" sz="1800" kern="1200">
                          <a:solidFill>
                            <a:schemeClr val="accent6"/>
                          </a:solidFill>
                          <a:latin typeface="+mn-lt"/>
                          <a:ea typeface="+mn-ea"/>
                          <a:cs typeface="+mn-cs"/>
                        </a:rPr>
                        <a:t>Menor poluição do meio ambiente.</a:t>
                      </a:r>
                    </a:p>
                  </a:txBody>
                  <a:tcPr anchor="ctr"/>
                </a:tc>
                <a:tc>
                  <a:txBody>
                    <a:bodyPr/>
                    <a:lstStyle/>
                    <a:p>
                      <a:pPr marL="0" algn="l" defTabSz="914400" rtl="0" eaLnBrk="1" latinLnBrk="0" hangingPunct="1"/>
                      <a:r>
                        <a:rPr lang="pt-BR" sz="1800" kern="1200" dirty="0">
                          <a:solidFill>
                            <a:schemeClr val="accent6"/>
                          </a:solidFill>
                          <a:latin typeface="+mn-lt"/>
                          <a:ea typeface="+mn-ea"/>
                          <a:cs typeface="+mn-cs"/>
                        </a:rPr>
                        <a:t>Nem sempre chega no destino final, dependendo de outros modais.</a:t>
                      </a:r>
                    </a:p>
                  </a:txBody>
                  <a:tcPr anchor="ctr"/>
                </a:tc>
                <a:extLst>
                  <a:ext uri="{0D108BD9-81ED-4DB2-BD59-A6C34878D82A}">
                    <a16:rowId xmlns:a16="http://schemas.microsoft.com/office/drawing/2014/main" val="10006"/>
                  </a:ext>
                </a:extLst>
              </a:tr>
              <a:tr h="458672">
                <a:tc>
                  <a:txBody>
                    <a:bodyPr/>
                    <a:lstStyle/>
                    <a:p>
                      <a:pPr marL="0" algn="l" defTabSz="914400" rtl="0" eaLnBrk="1" latinLnBrk="0" hangingPunct="1"/>
                      <a:r>
                        <a:rPr lang="pt-BR" sz="1800" kern="1200" dirty="0">
                          <a:solidFill>
                            <a:schemeClr val="accent6"/>
                          </a:solidFill>
                          <a:latin typeface="+mn-lt"/>
                          <a:ea typeface="+mn-ea"/>
                          <a:cs typeface="+mn-cs"/>
                        </a:rPr>
                        <a:t> </a:t>
                      </a:r>
                    </a:p>
                  </a:txBody>
                  <a:tcPr anchor="ctr">
                    <a:lnL w="12700" cmpd="sng">
                      <a:noFill/>
                    </a:lnL>
                    <a:lnB w="12700" cmpd="sng">
                      <a:noFill/>
                    </a:lnB>
                  </a:tcPr>
                </a:tc>
                <a:tc>
                  <a:txBody>
                    <a:bodyPr/>
                    <a:lstStyle/>
                    <a:p>
                      <a:pPr marL="0" algn="l" defTabSz="914400" rtl="0" eaLnBrk="1" latinLnBrk="0" hangingPunct="1"/>
                      <a:r>
                        <a:rPr lang="pt-BR" sz="1800" kern="1200" dirty="0">
                          <a:solidFill>
                            <a:schemeClr val="accent6"/>
                          </a:solidFill>
                          <a:latin typeface="+mn-lt"/>
                          <a:ea typeface="+mn-ea"/>
                          <a:cs typeface="+mn-cs"/>
                        </a:rPr>
                        <a:t>Pouca flexibilidade de equipamentos.</a:t>
                      </a:r>
                    </a:p>
                  </a:txBody>
                  <a:tcPr anchor="ct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560247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1000" fill="hold"/>
                                        <p:tgtEl>
                                          <p:spTgt spid="9"/>
                                        </p:tgtEl>
                                        <p:attrNameLst>
                                          <p:attrName>ppt_w</p:attrName>
                                        </p:attrNameLst>
                                      </p:cBhvr>
                                      <p:tavLst>
                                        <p:tav tm="0">
                                          <p:val>
                                            <p:fltVal val="0"/>
                                          </p:val>
                                        </p:tav>
                                        <p:tav tm="100000">
                                          <p:val>
                                            <p:strVal val="#ppt_w"/>
                                          </p:val>
                                        </p:tav>
                                      </p:tavLst>
                                    </p:anim>
                                    <p:anim calcmode="lin" valueType="num">
                                      <p:cBhvr>
                                        <p:cTn id="8" dur="1000" fill="hold"/>
                                        <p:tgtEl>
                                          <p:spTgt spid="9"/>
                                        </p:tgtEl>
                                        <p:attrNameLst>
                                          <p:attrName>ppt_h</p:attrName>
                                        </p:attrNameLst>
                                      </p:cBhvr>
                                      <p:tavLst>
                                        <p:tav tm="0">
                                          <p:val>
                                            <p:fltVal val="0"/>
                                          </p:val>
                                        </p:tav>
                                        <p:tav tm="100000">
                                          <p:val>
                                            <p:strVal val="#ppt_h"/>
                                          </p:val>
                                        </p:tav>
                                      </p:tavLst>
                                    </p:anim>
                                    <p:anim calcmode="lin" valueType="num">
                                      <p:cBhvr>
                                        <p:cTn id="9" dur="1000" fill="hold"/>
                                        <p:tgtEl>
                                          <p:spTgt spid="9"/>
                                        </p:tgtEl>
                                        <p:attrNameLst>
                                          <p:attrName>style.rotation</p:attrName>
                                        </p:attrNameLst>
                                      </p:cBhvr>
                                      <p:tavLst>
                                        <p:tav tm="0">
                                          <p:val>
                                            <p:fltVal val="90"/>
                                          </p:val>
                                        </p:tav>
                                        <p:tav tm="100000">
                                          <p:val>
                                            <p:fltVal val="0"/>
                                          </p:val>
                                        </p:tav>
                                      </p:tavLst>
                                    </p:anim>
                                    <p:animEffect transition="in" filter="fade">
                                      <p:cBhvr>
                                        <p:cTn id="10"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3" name="Tabela 2"/>
          <p:cNvGraphicFramePr>
            <a:graphicFrameLocks noGrp="1"/>
          </p:cNvGraphicFramePr>
          <p:nvPr/>
        </p:nvGraphicFramePr>
        <p:xfrm>
          <a:off x="10985500" y="5562600"/>
          <a:ext cx="208280" cy="365760"/>
        </p:xfrm>
        <a:graphic>
          <a:graphicData uri="http://schemas.openxmlformats.org/drawingml/2006/table">
            <a:tbl>
              <a:tblPr/>
              <a:tblGrid>
                <a:gridCol w="208280">
                  <a:extLst>
                    <a:ext uri="{9D8B030D-6E8A-4147-A177-3AD203B41FA5}">
                      <a16:colId xmlns:a16="http://schemas.microsoft.com/office/drawing/2014/main" val="20000"/>
                    </a:ext>
                  </a:extLst>
                </a:gridCol>
              </a:tblGrid>
              <a:tr h="0">
                <a:tc>
                  <a:txBody>
                    <a:bodyPr/>
                    <a:lstStyle/>
                    <a:p>
                      <a:endParaRPr lang="pt-BR" dirty="0"/>
                    </a:p>
                  </a:txBody>
                  <a:tcP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tcPr>
                </a:tc>
                <a:extLst>
                  <a:ext uri="{0D108BD9-81ED-4DB2-BD59-A6C34878D82A}">
                    <a16:rowId xmlns:a16="http://schemas.microsoft.com/office/drawing/2014/main" val="10000"/>
                  </a:ext>
                </a:extLst>
              </a:tr>
            </a:tbl>
          </a:graphicData>
        </a:graphic>
      </p:graphicFrame>
      <p:sp>
        <p:nvSpPr>
          <p:cNvPr id="2" name="Retângulo 1"/>
          <p:cNvSpPr/>
          <p:nvPr/>
        </p:nvSpPr>
        <p:spPr>
          <a:xfrm>
            <a:off x="3225663" y="4109748"/>
            <a:ext cx="5740674" cy="400110"/>
          </a:xfrm>
          <a:prstGeom prst="rect">
            <a:avLst/>
          </a:prstGeom>
        </p:spPr>
        <p:txBody>
          <a:bodyPr wrap="none">
            <a:spAutoFit/>
          </a:bodyPr>
          <a:lstStyle/>
          <a:p>
            <a:pPr algn="ctr"/>
            <a:r>
              <a:rPr lang="pt-BR" sz="2000" dirty="0">
                <a:solidFill>
                  <a:schemeClr val="accent6"/>
                </a:solidFill>
                <a:hlinkClick r:id="rId2"/>
              </a:rPr>
              <a:t>www.youtube.com/watch?v=qAWWyGxKI8Q</a:t>
            </a:r>
            <a:endParaRPr lang="pt-BR" sz="2000" dirty="0">
              <a:solidFill>
                <a:schemeClr val="accent6"/>
              </a:solidFill>
            </a:endParaRPr>
          </a:p>
        </p:txBody>
      </p:sp>
      <p:sp>
        <p:nvSpPr>
          <p:cNvPr id="7" name="CaixaDeTexto 6"/>
          <p:cNvSpPr txBox="1"/>
          <p:nvPr/>
        </p:nvSpPr>
        <p:spPr>
          <a:xfrm>
            <a:off x="2790734" y="3546655"/>
            <a:ext cx="6610532" cy="400110"/>
          </a:xfrm>
          <a:prstGeom prst="rect">
            <a:avLst/>
          </a:prstGeom>
          <a:noFill/>
        </p:spPr>
        <p:txBody>
          <a:bodyPr wrap="square" rtlCol="0">
            <a:spAutoFit/>
          </a:bodyPr>
          <a:lstStyle/>
          <a:p>
            <a:pPr marL="1257300" indent="-1257300" algn="ctr"/>
            <a:r>
              <a:rPr lang="pt-BR" sz="2000" dirty="0">
                <a:solidFill>
                  <a:schemeClr val="accent6"/>
                </a:solidFill>
              </a:rPr>
              <a:t>00:03:10 </a:t>
            </a:r>
            <a:r>
              <a:rPr lang="pt-BR" sz="2000" b="1" dirty="0">
                <a:solidFill>
                  <a:schemeClr val="accent6"/>
                </a:solidFill>
              </a:rPr>
              <a:t>Canal </a:t>
            </a:r>
            <a:r>
              <a:rPr lang="pt-BR" sz="2000" b="1" dirty="0" err="1">
                <a:solidFill>
                  <a:schemeClr val="accent6"/>
                </a:solidFill>
              </a:rPr>
              <a:t>Aquaviário</a:t>
            </a:r>
            <a:r>
              <a:rPr lang="pt-BR" sz="2000" b="1">
                <a:solidFill>
                  <a:schemeClr val="accent6"/>
                </a:solidFill>
              </a:rPr>
              <a:t> - MODAL </a:t>
            </a:r>
            <a:r>
              <a:rPr lang="pt-BR" sz="2000" b="1" dirty="0">
                <a:solidFill>
                  <a:schemeClr val="accent6"/>
                </a:solidFill>
              </a:rPr>
              <a:t>FERROVIÁRIO</a:t>
            </a:r>
          </a:p>
        </p:txBody>
      </p:sp>
      <p:sp>
        <p:nvSpPr>
          <p:cNvPr id="8" name="Retângulo 7"/>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
        <p:nvSpPr>
          <p:cNvPr id="9" name="Title 1"/>
          <p:cNvSpPr txBox="1">
            <a:spLocks/>
          </p:cNvSpPr>
          <p:nvPr/>
        </p:nvSpPr>
        <p:spPr bwMode="auto">
          <a:xfrm>
            <a:off x="2702982" y="822118"/>
            <a:ext cx="6786036" cy="4005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noAutofit/>
          </a:bodyPr>
          <a:lstStyle>
            <a:lvl1pPr algn="l" defTabSz="449263" rtl="0" eaLnBrk="1" fontAlgn="base" hangingPunct="1">
              <a:spcBef>
                <a:spcPct val="0"/>
              </a:spcBef>
              <a:spcAft>
                <a:spcPct val="0"/>
              </a:spcAft>
              <a:buClr>
                <a:srgbClr val="000000"/>
              </a:buClr>
              <a:buSzPct val="100000"/>
              <a:buFont typeface="Times New Roman" panose="02020603050405020304" pitchFamily="18" charset="0"/>
              <a:defRPr sz="4100" b="1" kern="1200">
                <a:solidFill>
                  <a:srgbClr val="464646"/>
                </a:solidFill>
                <a:latin typeface="+mj-lt"/>
                <a:ea typeface="+mj-ea"/>
                <a:cs typeface="+mj-cs"/>
              </a:defRPr>
            </a:lvl1pPr>
            <a:lvl2pPr marL="742950" indent="-28575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2pPr>
            <a:lvl3pPr marL="1143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3pPr>
            <a:lvl4pPr marL="1600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4pPr>
            <a:lvl5pPr marL="20574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5pPr>
            <a:lvl6pPr marL="25146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6pPr>
            <a:lvl7pPr marL="29718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7pPr>
            <a:lvl8pPr marL="3429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8pPr>
            <a:lvl9pPr marL="3886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9pPr>
          </a:lstStyle>
          <a:p>
            <a:pPr algn="ctr"/>
            <a:r>
              <a:rPr lang="pt-BR" sz="2000" dirty="0">
                <a:solidFill>
                  <a:schemeClr val="accent6"/>
                </a:solidFill>
                <a:latin typeface="+mn-lt"/>
              </a:rPr>
              <a:t>MODAL FERROVIÁRIO</a:t>
            </a:r>
          </a:p>
        </p:txBody>
      </p:sp>
    </p:spTree>
    <p:extLst>
      <p:ext uri="{BB962C8B-B14F-4D97-AF65-F5344CB8AC3E}">
        <p14:creationId xmlns:p14="http://schemas.microsoft.com/office/powerpoint/2010/main" val="1171275029"/>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3" name="Tabela 2"/>
          <p:cNvGraphicFramePr>
            <a:graphicFrameLocks noGrp="1"/>
          </p:cNvGraphicFramePr>
          <p:nvPr/>
        </p:nvGraphicFramePr>
        <p:xfrm>
          <a:off x="10985500" y="5562600"/>
          <a:ext cx="208280" cy="365760"/>
        </p:xfrm>
        <a:graphic>
          <a:graphicData uri="http://schemas.openxmlformats.org/drawingml/2006/table">
            <a:tbl>
              <a:tblPr/>
              <a:tblGrid>
                <a:gridCol w="208280">
                  <a:extLst>
                    <a:ext uri="{9D8B030D-6E8A-4147-A177-3AD203B41FA5}">
                      <a16:colId xmlns:a16="http://schemas.microsoft.com/office/drawing/2014/main" val="20000"/>
                    </a:ext>
                  </a:extLst>
                </a:gridCol>
              </a:tblGrid>
              <a:tr h="0">
                <a:tc>
                  <a:txBody>
                    <a:bodyPr/>
                    <a:lstStyle/>
                    <a:p>
                      <a:endParaRPr lang="pt-BR" dirty="0"/>
                    </a:p>
                  </a:txBody>
                  <a:tcP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tcPr>
                </a:tc>
                <a:extLst>
                  <a:ext uri="{0D108BD9-81ED-4DB2-BD59-A6C34878D82A}">
                    <a16:rowId xmlns:a16="http://schemas.microsoft.com/office/drawing/2014/main" val="10000"/>
                  </a:ext>
                </a:extLst>
              </a:tr>
            </a:tbl>
          </a:graphicData>
        </a:graphic>
      </p:graphicFrame>
      <p:sp>
        <p:nvSpPr>
          <p:cNvPr id="2" name="Retângulo 1"/>
          <p:cNvSpPr/>
          <p:nvPr/>
        </p:nvSpPr>
        <p:spPr>
          <a:xfrm>
            <a:off x="1046965" y="4193627"/>
            <a:ext cx="10098069" cy="400110"/>
          </a:xfrm>
          <a:prstGeom prst="rect">
            <a:avLst/>
          </a:prstGeom>
        </p:spPr>
        <p:txBody>
          <a:bodyPr wrap="square">
            <a:spAutoFit/>
          </a:bodyPr>
          <a:lstStyle/>
          <a:p>
            <a:pPr algn="ctr"/>
            <a:r>
              <a:rPr lang="pt-BR" sz="2000" dirty="0">
                <a:solidFill>
                  <a:schemeClr val="accent6"/>
                </a:solidFill>
                <a:hlinkClick r:id="rId2"/>
              </a:rPr>
              <a:t>www.youtube.com/watch?v=VjrpCTv-zsM</a:t>
            </a:r>
            <a:endParaRPr lang="pt-BR" sz="2000" dirty="0">
              <a:solidFill>
                <a:schemeClr val="accent6"/>
              </a:solidFill>
            </a:endParaRPr>
          </a:p>
        </p:txBody>
      </p:sp>
      <p:sp>
        <p:nvSpPr>
          <p:cNvPr id="7" name="CaixaDeTexto 6"/>
          <p:cNvSpPr txBox="1"/>
          <p:nvPr/>
        </p:nvSpPr>
        <p:spPr>
          <a:xfrm>
            <a:off x="1046964" y="3565244"/>
            <a:ext cx="10098069" cy="400110"/>
          </a:xfrm>
          <a:prstGeom prst="rect">
            <a:avLst/>
          </a:prstGeom>
          <a:noFill/>
        </p:spPr>
        <p:txBody>
          <a:bodyPr wrap="square" rtlCol="0">
            <a:spAutoFit/>
          </a:bodyPr>
          <a:lstStyle/>
          <a:p>
            <a:pPr algn="ctr"/>
            <a:r>
              <a:rPr lang="pt-BR" sz="2000" dirty="0">
                <a:solidFill>
                  <a:schemeClr val="accent6"/>
                </a:solidFill>
              </a:rPr>
              <a:t>00:22:54 </a:t>
            </a:r>
            <a:r>
              <a:rPr lang="pt-BR" sz="2000" b="1" dirty="0">
                <a:solidFill>
                  <a:schemeClr val="accent6"/>
                </a:solidFill>
              </a:rPr>
              <a:t>Globo News - EM MOVIMENTO: FERROVIAS NO BRASIL</a:t>
            </a:r>
          </a:p>
        </p:txBody>
      </p:sp>
      <p:sp>
        <p:nvSpPr>
          <p:cNvPr id="8" name="Retângulo 7"/>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
        <p:nvSpPr>
          <p:cNvPr id="9" name="Title 1"/>
          <p:cNvSpPr txBox="1">
            <a:spLocks/>
          </p:cNvSpPr>
          <p:nvPr/>
        </p:nvSpPr>
        <p:spPr bwMode="auto">
          <a:xfrm>
            <a:off x="2702982" y="822118"/>
            <a:ext cx="6786036" cy="4005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noAutofit/>
          </a:bodyPr>
          <a:lstStyle>
            <a:lvl1pPr algn="l" defTabSz="449263" rtl="0" eaLnBrk="1" fontAlgn="base" hangingPunct="1">
              <a:spcBef>
                <a:spcPct val="0"/>
              </a:spcBef>
              <a:spcAft>
                <a:spcPct val="0"/>
              </a:spcAft>
              <a:buClr>
                <a:srgbClr val="000000"/>
              </a:buClr>
              <a:buSzPct val="100000"/>
              <a:buFont typeface="Times New Roman" panose="02020603050405020304" pitchFamily="18" charset="0"/>
              <a:defRPr sz="4100" b="1" kern="1200">
                <a:solidFill>
                  <a:srgbClr val="464646"/>
                </a:solidFill>
                <a:latin typeface="+mj-lt"/>
                <a:ea typeface="+mj-ea"/>
                <a:cs typeface="+mj-cs"/>
              </a:defRPr>
            </a:lvl1pPr>
            <a:lvl2pPr marL="742950" indent="-28575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2pPr>
            <a:lvl3pPr marL="1143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3pPr>
            <a:lvl4pPr marL="1600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4pPr>
            <a:lvl5pPr marL="20574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5pPr>
            <a:lvl6pPr marL="25146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6pPr>
            <a:lvl7pPr marL="29718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7pPr>
            <a:lvl8pPr marL="3429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8pPr>
            <a:lvl9pPr marL="3886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9pPr>
          </a:lstStyle>
          <a:p>
            <a:pPr algn="ctr"/>
            <a:r>
              <a:rPr lang="pt-BR" sz="2000" dirty="0">
                <a:solidFill>
                  <a:schemeClr val="accent6"/>
                </a:solidFill>
                <a:latin typeface="+mn-lt"/>
              </a:rPr>
              <a:t>MODAL FERROVIÁRIO</a:t>
            </a:r>
          </a:p>
        </p:txBody>
      </p:sp>
    </p:spTree>
    <p:extLst>
      <p:ext uri="{BB962C8B-B14F-4D97-AF65-F5344CB8AC3E}">
        <p14:creationId xmlns:p14="http://schemas.microsoft.com/office/powerpoint/2010/main" val="2347828416"/>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3" name="Tabela 2"/>
          <p:cNvGraphicFramePr>
            <a:graphicFrameLocks noGrp="1"/>
          </p:cNvGraphicFramePr>
          <p:nvPr/>
        </p:nvGraphicFramePr>
        <p:xfrm>
          <a:off x="10985500" y="5562600"/>
          <a:ext cx="208280" cy="365760"/>
        </p:xfrm>
        <a:graphic>
          <a:graphicData uri="http://schemas.openxmlformats.org/drawingml/2006/table">
            <a:tbl>
              <a:tblPr/>
              <a:tblGrid>
                <a:gridCol w="208280">
                  <a:extLst>
                    <a:ext uri="{9D8B030D-6E8A-4147-A177-3AD203B41FA5}">
                      <a16:colId xmlns:a16="http://schemas.microsoft.com/office/drawing/2014/main" val="20000"/>
                    </a:ext>
                  </a:extLst>
                </a:gridCol>
              </a:tblGrid>
              <a:tr h="0">
                <a:tc>
                  <a:txBody>
                    <a:bodyPr/>
                    <a:lstStyle/>
                    <a:p>
                      <a:endParaRPr lang="pt-BR" dirty="0"/>
                    </a:p>
                  </a:txBody>
                  <a:tcP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tcPr>
                </a:tc>
                <a:extLst>
                  <a:ext uri="{0D108BD9-81ED-4DB2-BD59-A6C34878D82A}">
                    <a16:rowId xmlns:a16="http://schemas.microsoft.com/office/drawing/2014/main" val="10000"/>
                  </a:ext>
                </a:extLst>
              </a:tr>
            </a:tbl>
          </a:graphicData>
        </a:graphic>
      </p:graphicFrame>
      <p:sp>
        <p:nvSpPr>
          <p:cNvPr id="2" name="Retângulo 1"/>
          <p:cNvSpPr/>
          <p:nvPr/>
        </p:nvSpPr>
        <p:spPr>
          <a:xfrm>
            <a:off x="1046965" y="4193627"/>
            <a:ext cx="10098069" cy="707886"/>
          </a:xfrm>
          <a:prstGeom prst="rect">
            <a:avLst/>
          </a:prstGeom>
        </p:spPr>
        <p:txBody>
          <a:bodyPr wrap="square">
            <a:spAutoFit/>
          </a:bodyPr>
          <a:lstStyle/>
          <a:p>
            <a:pPr algn="ctr"/>
            <a:r>
              <a:rPr lang="pt-BR" sz="2000" dirty="0">
                <a:solidFill>
                  <a:schemeClr val="accent6"/>
                </a:solidFill>
                <a:hlinkClick r:id="rId2"/>
              </a:rPr>
              <a:t>http://g1.globo.com/globo-news/jornal-globo-news/videos/v/projeto-da-ferrovia-norte-sul-de-mais-de-30-anos-ainda-nao-foi-concluido/6975237/</a:t>
            </a:r>
            <a:endParaRPr lang="pt-BR" sz="2000" dirty="0">
              <a:solidFill>
                <a:schemeClr val="accent6"/>
              </a:solidFill>
            </a:endParaRPr>
          </a:p>
        </p:txBody>
      </p:sp>
      <p:sp>
        <p:nvSpPr>
          <p:cNvPr id="7" name="CaixaDeTexto 6"/>
          <p:cNvSpPr txBox="1"/>
          <p:nvPr/>
        </p:nvSpPr>
        <p:spPr>
          <a:xfrm>
            <a:off x="1046964" y="3178597"/>
            <a:ext cx="10098069" cy="707886"/>
          </a:xfrm>
          <a:prstGeom prst="rect">
            <a:avLst/>
          </a:prstGeom>
          <a:noFill/>
        </p:spPr>
        <p:txBody>
          <a:bodyPr wrap="square" rtlCol="0">
            <a:spAutoFit/>
          </a:bodyPr>
          <a:lstStyle/>
          <a:p>
            <a:pPr algn="ctr"/>
            <a:r>
              <a:rPr lang="pt-BR" sz="2000" dirty="0">
                <a:solidFill>
                  <a:schemeClr val="accent6"/>
                </a:solidFill>
              </a:rPr>
              <a:t>00:02:39 </a:t>
            </a:r>
            <a:r>
              <a:rPr lang="pt-BR" sz="2000" b="1" dirty="0">
                <a:solidFill>
                  <a:schemeClr val="accent6"/>
                </a:solidFill>
              </a:rPr>
              <a:t>Globo News - PROJETO DA FERROVIA NORTE-SUL AINDA NÃO FOI CONCLUÍDO</a:t>
            </a:r>
          </a:p>
        </p:txBody>
      </p:sp>
      <p:sp>
        <p:nvSpPr>
          <p:cNvPr id="8" name="Retângulo 7"/>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
        <p:nvSpPr>
          <p:cNvPr id="9" name="Title 1"/>
          <p:cNvSpPr txBox="1">
            <a:spLocks/>
          </p:cNvSpPr>
          <p:nvPr/>
        </p:nvSpPr>
        <p:spPr bwMode="auto">
          <a:xfrm>
            <a:off x="2702982" y="822118"/>
            <a:ext cx="6786036" cy="4005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noAutofit/>
          </a:bodyPr>
          <a:lstStyle>
            <a:lvl1pPr algn="l" defTabSz="449263" rtl="0" eaLnBrk="1" fontAlgn="base" hangingPunct="1">
              <a:spcBef>
                <a:spcPct val="0"/>
              </a:spcBef>
              <a:spcAft>
                <a:spcPct val="0"/>
              </a:spcAft>
              <a:buClr>
                <a:srgbClr val="000000"/>
              </a:buClr>
              <a:buSzPct val="100000"/>
              <a:buFont typeface="Times New Roman" panose="02020603050405020304" pitchFamily="18" charset="0"/>
              <a:defRPr sz="4100" b="1" kern="1200">
                <a:solidFill>
                  <a:srgbClr val="464646"/>
                </a:solidFill>
                <a:latin typeface="+mj-lt"/>
                <a:ea typeface="+mj-ea"/>
                <a:cs typeface="+mj-cs"/>
              </a:defRPr>
            </a:lvl1pPr>
            <a:lvl2pPr marL="742950" indent="-28575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2pPr>
            <a:lvl3pPr marL="1143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3pPr>
            <a:lvl4pPr marL="1600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4pPr>
            <a:lvl5pPr marL="20574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5pPr>
            <a:lvl6pPr marL="25146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6pPr>
            <a:lvl7pPr marL="29718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7pPr>
            <a:lvl8pPr marL="3429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8pPr>
            <a:lvl9pPr marL="3886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9pPr>
          </a:lstStyle>
          <a:p>
            <a:pPr algn="ctr"/>
            <a:r>
              <a:rPr lang="pt-BR" sz="2000" dirty="0">
                <a:solidFill>
                  <a:schemeClr val="accent6"/>
                </a:solidFill>
                <a:latin typeface="+mn-lt"/>
              </a:rPr>
              <a:t>MODAL FERROVIÁRIO</a:t>
            </a:r>
          </a:p>
        </p:txBody>
      </p:sp>
    </p:spTree>
    <p:extLst>
      <p:ext uri="{BB962C8B-B14F-4D97-AF65-F5344CB8AC3E}">
        <p14:creationId xmlns:p14="http://schemas.microsoft.com/office/powerpoint/2010/main" val="422366306"/>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tângulo 3"/>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
        <p:nvSpPr>
          <p:cNvPr id="8" name="Title 1"/>
          <p:cNvSpPr txBox="1">
            <a:spLocks/>
          </p:cNvSpPr>
          <p:nvPr/>
        </p:nvSpPr>
        <p:spPr bwMode="auto">
          <a:xfrm>
            <a:off x="2702982" y="822118"/>
            <a:ext cx="6786036" cy="4005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noAutofit/>
          </a:bodyPr>
          <a:lstStyle>
            <a:lvl1pPr algn="l" defTabSz="449263" rtl="0" eaLnBrk="1" fontAlgn="base" hangingPunct="1">
              <a:spcBef>
                <a:spcPct val="0"/>
              </a:spcBef>
              <a:spcAft>
                <a:spcPct val="0"/>
              </a:spcAft>
              <a:buClr>
                <a:srgbClr val="000000"/>
              </a:buClr>
              <a:buSzPct val="100000"/>
              <a:buFont typeface="Times New Roman" panose="02020603050405020304" pitchFamily="18" charset="0"/>
              <a:defRPr sz="4100" b="1" kern="1200">
                <a:solidFill>
                  <a:srgbClr val="464646"/>
                </a:solidFill>
                <a:latin typeface="+mj-lt"/>
                <a:ea typeface="+mj-ea"/>
                <a:cs typeface="+mj-cs"/>
              </a:defRPr>
            </a:lvl1pPr>
            <a:lvl2pPr marL="742950" indent="-28575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2pPr>
            <a:lvl3pPr marL="1143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3pPr>
            <a:lvl4pPr marL="1600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4pPr>
            <a:lvl5pPr marL="20574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5pPr>
            <a:lvl6pPr marL="25146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6pPr>
            <a:lvl7pPr marL="29718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7pPr>
            <a:lvl8pPr marL="3429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8pPr>
            <a:lvl9pPr marL="3886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9pPr>
          </a:lstStyle>
          <a:p>
            <a:pPr algn="ctr"/>
            <a:r>
              <a:rPr lang="pt-BR" sz="2000" dirty="0">
                <a:solidFill>
                  <a:schemeClr val="accent6"/>
                </a:solidFill>
                <a:latin typeface="+mn-lt"/>
              </a:rPr>
              <a:t>MODAL AEROVIÁRIO</a:t>
            </a:r>
          </a:p>
        </p:txBody>
      </p:sp>
      <p:sp>
        <p:nvSpPr>
          <p:cNvPr id="9" name="TextBox 2"/>
          <p:cNvSpPr txBox="1"/>
          <p:nvPr/>
        </p:nvSpPr>
        <p:spPr>
          <a:xfrm>
            <a:off x="2099554" y="1895833"/>
            <a:ext cx="7992891" cy="923330"/>
          </a:xfrm>
          <a:prstGeom prst="rect">
            <a:avLst/>
          </a:prstGeom>
          <a:noFill/>
        </p:spPr>
        <p:txBody>
          <a:bodyPr wrap="square" rtlCol="0">
            <a:spAutoFit/>
          </a:bodyPr>
          <a:lstStyle/>
          <a:p>
            <a:pPr algn="just"/>
            <a:r>
              <a:rPr lang="pt-BR" dirty="0">
                <a:solidFill>
                  <a:schemeClr val="accent6"/>
                </a:solidFill>
                <a:cs typeface="Helvetica Neue"/>
              </a:rPr>
              <a:t>O sistema aeroviário engloba as aerovias, os terminais de passageiros e cargas e o sistema de controle de tráfego aéreo. As vias de transporte do setor aéreo são intituladas de aerovias.</a:t>
            </a:r>
          </a:p>
        </p:txBody>
      </p:sp>
      <p:sp>
        <p:nvSpPr>
          <p:cNvPr id="12" name="TextBox 7"/>
          <p:cNvSpPr txBox="1"/>
          <p:nvPr/>
        </p:nvSpPr>
        <p:spPr>
          <a:xfrm>
            <a:off x="2099554" y="3171521"/>
            <a:ext cx="7992890" cy="923330"/>
          </a:xfrm>
          <a:prstGeom prst="rect">
            <a:avLst/>
          </a:prstGeom>
          <a:noFill/>
        </p:spPr>
        <p:txBody>
          <a:bodyPr wrap="square" rtlCol="0">
            <a:spAutoFit/>
          </a:bodyPr>
          <a:lstStyle/>
          <a:p>
            <a:pPr algn="just"/>
            <a:r>
              <a:rPr lang="pt-BR" dirty="0">
                <a:solidFill>
                  <a:schemeClr val="accent6"/>
                </a:solidFill>
                <a:cs typeface="Helvetica Neue"/>
              </a:rPr>
              <a:t>O transporte aéreo é utilizado para o transporte de mercadorias de alto valor agregado, ou perecíveis</a:t>
            </a:r>
            <a:r>
              <a:rPr lang="pt-BR" baseline="30000" dirty="0">
                <a:solidFill>
                  <a:schemeClr val="accent6"/>
                </a:solidFill>
                <a:cs typeface="Helvetica Neue"/>
              </a:rPr>
              <a:t>1</a:t>
            </a:r>
            <a:r>
              <a:rPr lang="pt-BR" dirty="0">
                <a:solidFill>
                  <a:schemeClr val="accent6"/>
                </a:solidFill>
                <a:cs typeface="Helvetica Neue"/>
              </a:rPr>
              <a:t>,</a:t>
            </a:r>
            <a:r>
              <a:rPr lang="pt-BR" baseline="30000" dirty="0">
                <a:solidFill>
                  <a:schemeClr val="accent6"/>
                </a:solidFill>
                <a:cs typeface="Helvetica Neue"/>
              </a:rPr>
              <a:t> </a:t>
            </a:r>
            <a:r>
              <a:rPr lang="pt-BR" dirty="0">
                <a:solidFill>
                  <a:schemeClr val="accent6"/>
                </a:solidFill>
                <a:cs typeface="Helvetica Neue"/>
              </a:rPr>
              <a:t>pequenos volumes ou com urgência de entrega.</a:t>
            </a:r>
          </a:p>
        </p:txBody>
      </p:sp>
      <p:sp>
        <p:nvSpPr>
          <p:cNvPr id="14" name="TextBox 10"/>
          <p:cNvSpPr txBox="1"/>
          <p:nvPr/>
        </p:nvSpPr>
        <p:spPr>
          <a:xfrm>
            <a:off x="5015752" y="4613603"/>
            <a:ext cx="5076691" cy="1200329"/>
          </a:xfrm>
          <a:prstGeom prst="rect">
            <a:avLst/>
          </a:prstGeom>
          <a:noFill/>
        </p:spPr>
        <p:txBody>
          <a:bodyPr wrap="square" rtlCol="0">
            <a:spAutoFit/>
          </a:bodyPr>
          <a:lstStyle/>
          <a:p>
            <a:pPr algn="just"/>
            <a:r>
              <a:rPr lang="pt-BR" dirty="0">
                <a:solidFill>
                  <a:schemeClr val="accent6"/>
                </a:solidFill>
                <a:cs typeface="Helvetica Neue"/>
              </a:rPr>
              <a:t>Ele também é utilizado para o transporte de documentos e dinheiro, já que a rapidez e a segurança são exigidas para entregas a longas distâncias.</a:t>
            </a:r>
          </a:p>
        </p:txBody>
      </p:sp>
      <p:sp>
        <p:nvSpPr>
          <p:cNvPr id="17" name="TextBox 9"/>
          <p:cNvSpPr txBox="1"/>
          <p:nvPr/>
        </p:nvSpPr>
        <p:spPr>
          <a:xfrm>
            <a:off x="6536661" y="5889291"/>
            <a:ext cx="3555782" cy="307777"/>
          </a:xfrm>
          <a:prstGeom prst="rect">
            <a:avLst/>
          </a:prstGeom>
          <a:noFill/>
        </p:spPr>
        <p:txBody>
          <a:bodyPr wrap="none" rtlCol="0">
            <a:spAutoFit/>
          </a:bodyPr>
          <a:lstStyle/>
          <a:p>
            <a:r>
              <a:rPr lang="pt-BR" sz="1400" i="1" baseline="30000" dirty="0">
                <a:solidFill>
                  <a:schemeClr val="accent6"/>
                </a:solidFill>
              </a:rPr>
              <a:t>1</a:t>
            </a:r>
            <a:r>
              <a:rPr lang="pt-BR" sz="1400" i="1" dirty="0">
                <a:solidFill>
                  <a:schemeClr val="accent6"/>
                </a:solidFill>
              </a:rPr>
              <a:t> Flores, frutas nobres, medicamentos.</a:t>
            </a:r>
          </a:p>
        </p:txBody>
      </p:sp>
      <p:pic>
        <p:nvPicPr>
          <p:cNvPr id="19" name="Picture 13" descr="model-airplane-332056_640 (1).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3683" y="4327982"/>
            <a:ext cx="2794895" cy="1869086"/>
          </a:xfrm>
          <a:prstGeom prst="rect">
            <a:avLst/>
          </a:prstGeom>
        </p:spPr>
      </p:pic>
    </p:spTree>
    <p:extLst>
      <p:ext uri="{BB962C8B-B14F-4D97-AF65-F5344CB8AC3E}">
        <p14:creationId xmlns:p14="http://schemas.microsoft.com/office/powerpoint/2010/main" val="1780201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1000"/>
                                        <p:tgtEl>
                                          <p:spTgt spid="12"/>
                                        </p:tgtEl>
                                      </p:cBhvr>
                                    </p:animEffect>
                                    <p:anim calcmode="lin" valueType="num">
                                      <p:cBhvr>
                                        <p:cTn id="15" dur="1000" fill="hold"/>
                                        <p:tgtEl>
                                          <p:spTgt spid="12"/>
                                        </p:tgtEl>
                                        <p:attrNameLst>
                                          <p:attrName>ppt_x</p:attrName>
                                        </p:attrNameLst>
                                      </p:cBhvr>
                                      <p:tavLst>
                                        <p:tav tm="0">
                                          <p:val>
                                            <p:strVal val="#ppt_x"/>
                                          </p:val>
                                        </p:tav>
                                        <p:tav tm="100000">
                                          <p:val>
                                            <p:strVal val="#ppt_x"/>
                                          </p:val>
                                        </p:tav>
                                      </p:tavLst>
                                    </p:anim>
                                    <p:anim calcmode="lin" valueType="num">
                                      <p:cBhvr>
                                        <p:cTn id="16" dur="1000" fill="hold"/>
                                        <p:tgtEl>
                                          <p:spTgt spid="12"/>
                                        </p:tgtEl>
                                        <p:attrNameLst>
                                          <p:attrName>ppt_y</p:attrName>
                                        </p:attrNameLst>
                                      </p:cBhvr>
                                      <p:tavLst>
                                        <p:tav tm="0">
                                          <p:val>
                                            <p:strVal val="#ppt_y+.1"/>
                                          </p:val>
                                        </p:tav>
                                        <p:tav tm="100000">
                                          <p:val>
                                            <p:strVal val="#ppt_y"/>
                                          </p:val>
                                        </p:tav>
                                      </p:tavLst>
                                    </p:anim>
                                  </p:childTnLst>
                                </p:cTn>
                              </p:par>
                            </p:childTnLst>
                          </p:cTn>
                        </p:par>
                        <p:par>
                          <p:cTn id="17" fill="hold">
                            <p:stCondLst>
                              <p:cond delay="1000"/>
                            </p:stCondLst>
                            <p:childTnLst>
                              <p:par>
                                <p:cTn id="18" presetID="42" presetClass="entr" presetSubtype="0" fill="hold" grpId="0" nodeType="after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1000"/>
                                        <p:tgtEl>
                                          <p:spTgt spid="17"/>
                                        </p:tgtEl>
                                      </p:cBhvr>
                                    </p:animEffect>
                                    <p:anim calcmode="lin" valueType="num">
                                      <p:cBhvr>
                                        <p:cTn id="21" dur="1000" fill="hold"/>
                                        <p:tgtEl>
                                          <p:spTgt spid="17"/>
                                        </p:tgtEl>
                                        <p:attrNameLst>
                                          <p:attrName>ppt_x</p:attrName>
                                        </p:attrNameLst>
                                      </p:cBhvr>
                                      <p:tavLst>
                                        <p:tav tm="0">
                                          <p:val>
                                            <p:strVal val="#ppt_x"/>
                                          </p:val>
                                        </p:tav>
                                        <p:tav tm="100000">
                                          <p:val>
                                            <p:strVal val="#ppt_x"/>
                                          </p:val>
                                        </p:tav>
                                      </p:tavLst>
                                    </p:anim>
                                    <p:anim calcmode="lin" valueType="num">
                                      <p:cBhvr>
                                        <p:cTn id="22"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down)">
                                      <p:cBhvr>
                                        <p:cTn id="27" dur="500"/>
                                        <p:tgtEl>
                                          <p:spTgt spid="14"/>
                                        </p:tgtEl>
                                      </p:cBhvr>
                                    </p:animEffect>
                                  </p:childTnLst>
                                </p:cTn>
                              </p:par>
                              <p:par>
                                <p:cTn id="28" presetID="2" presetClass="entr" presetSubtype="4" fill="hold" nodeType="withEffect">
                                  <p:stCondLst>
                                    <p:cond delay="0"/>
                                  </p:stCondLst>
                                  <p:childTnLst>
                                    <p:set>
                                      <p:cBhvr>
                                        <p:cTn id="29" dur="1" fill="hold">
                                          <p:stCondLst>
                                            <p:cond delay="0"/>
                                          </p:stCondLst>
                                        </p:cTn>
                                        <p:tgtEl>
                                          <p:spTgt spid="19"/>
                                        </p:tgtEl>
                                        <p:attrNameLst>
                                          <p:attrName>style.visibility</p:attrName>
                                        </p:attrNameLst>
                                      </p:cBhvr>
                                      <p:to>
                                        <p:strVal val="visible"/>
                                      </p:to>
                                    </p:set>
                                    <p:anim calcmode="lin" valueType="num">
                                      <p:cBhvr additive="base">
                                        <p:cTn id="30" dur="500" fill="hold"/>
                                        <p:tgtEl>
                                          <p:spTgt spid="19"/>
                                        </p:tgtEl>
                                        <p:attrNameLst>
                                          <p:attrName>ppt_x</p:attrName>
                                        </p:attrNameLst>
                                      </p:cBhvr>
                                      <p:tavLst>
                                        <p:tav tm="0">
                                          <p:val>
                                            <p:strVal val="#ppt_x"/>
                                          </p:val>
                                        </p:tav>
                                        <p:tav tm="100000">
                                          <p:val>
                                            <p:strVal val="#ppt_x"/>
                                          </p:val>
                                        </p:tav>
                                      </p:tavLst>
                                    </p:anim>
                                    <p:anim calcmode="lin" valueType="num">
                                      <p:cBhvr additive="base">
                                        <p:cTn id="31"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P spid="14" grpId="0"/>
      <p:bldP spid="17" grpId="0"/>
    </p:bldLst>
  </p:timing>
</p:sld>
</file>

<file path=ppt/slides/slide1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tângulo 3"/>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
        <p:nvSpPr>
          <p:cNvPr id="8" name="Title 1"/>
          <p:cNvSpPr txBox="1">
            <a:spLocks/>
          </p:cNvSpPr>
          <p:nvPr/>
        </p:nvSpPr>
        <p:spPr bwMode="auto">
          <a:xfrm>
            <a:off x="2702982" y="822118"/>
            <a:ext cx="6786036" cy="4005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noAutofit/>
          </a:bodyPr>
          <a:lstStyle>
            <a:lvl1pPr algn="l" defTabSz="449263" rtl="0" eaLnBrk="1" fontAlgn="base" hangingPunct="1">
              <a:spcBef>
                <a:spcPct val="0"/>
              </a:spcBef>
              <a:spcAft>
                <a:spcPct val="0"/>
              </a:spcAft>
              <a:buClr>
                <a:srgbClr val="000000"/>
              </a:buClr>
              <a:buSzPct val="100000"/>
              <a:buFont typeface="Times New Roman" panose="02020603050405020304" pitchFamily="18" charset="0"/>
              <a:defRPr sz="4100" b="1" kern="1200">
                <a:solidFill>
                  <a:srgbClr val="464646"/>
                </a:solidFill>
                <a:latin typeface="+mj-lt"/>
                <a:ea typeface="+mj-ea"/>
                <a:cs typeface="+mj-cs"/>
              </a:defRPr>
            </a:lvl1pPr>
            <a:lvl2pPr marL="742950" indent="-28575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2pPr>
            <a:lvl3pPr marL="1143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3pPr>
            <a:lvl4pPr marL="1600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4pPr>
            <a:lvl5pPr marL="20574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5pPr>
            <a:lvl6pPr marL="25146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6pPr>
            <a:lvl7pPr marL="29718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7pPr>
            <a:lvl8pPr marL="3429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8pPr>
            <a:lvl9pPr marL="3886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9pPr>
          </a:lstStyle>
          <a:p>
            <a:pPr algn="ctr"/>
            <a:r>
              <a:rPr lang="pt-BR" sz="2000" dirty="0">
                <a:solidFill>
                  <a:schemeClr val="accent6"/>
                </a:solidFill>
                <a:latin typeface="+mn-lt"/>
              </a:rPr>
              <a:t>MODAL AEROVIÁRIO</a:t>
            </a:r>
          </a:p>
        </p:txBody>
      </p:sp>
      <p:sp>
        <p:nvSpPr>
          <p:cNvPr id="10" name="TextBox 8"/>
          <p:cNvSpPr txBox="1"/>
          <p:nvPr/>
        </p:nvSpPr>
        <p:spPr>
          <a:xfrm>
            <a:off x="2099555" y="1964997"/>
            <a:ext cx="7992889" cy="923330"/>
          </a:xfrm>
          <a:prstGeom prst="rect">
            <a:avLst/>
          </a:prstGeom>
          <a:noFill/>
        </p:spPr>
        <p:txBody>
          <a:bodyPr wrap="square" rtlCol="0">
            <a:spAutoFit/>
          </a:bodyPr>
          <a:lstStyle/>
          <a:p>
            <a:pPr algn="just"/>
            <a:r>
              <a:rPr lang="pt-BR" dirty="0">
                <a:solidFill>
                  <a:schemeClr val="accent6"/>
                </a:solidFill>
                <a:cs typeface="Helvetica Neue"/>
              </a:rPr>
              <a:t>Empresas e agentes de todo o mundo formam uma associação que atua como um órgão regulador do transporte aéreo internacional, a </a:t>
            </a:r>
            <a:r>
              <a:rPr lang="pt-BR" b="1" dirty="0">
                <a:solidFill>
                  <a:schemeClr val="accent6"/>
                </a:solidFill>
                <a:cs typeface="Helvetica Neue"/>
              </a:rPr>
              <a:t>IATA</a:t>
            </a:r>
            <a:r>
              <a:rPr lang="pt-BR" dirty="0">
                <a:solidFill>
                  <a:schemeClr val="accent6"/>
                </a:solidFill>
                <a:cs typeface="Helvetica Neue"/>
              </a:rPr>
              <a:t> - </a:t>
            </a:r>
            <a:r>
              <a:rPr lang="pt-BR" i="1" dirty="0" err="1">
                <a:solidFill>
                  <a:schemeClr val="accent6"/>
                </a:solidFill>
                <a:cs typeface="Helvetica Neue"/>
              </a:rPr>
              <a:t>International</a:t>
            </a:r>
            <a:r>
              <a:rPr lang="pt-BR" i="1" dirty="0">
                <a:solidFill>
                  <a:schemeClr val="accent6"/>
                </a:solidFill>
                <a:cs typeface="Helvetica Neue"/>
              </a:rPr>
              <a:t> Air </a:t>
            </a:r>
            <a:r>
              <a:rPr lang="pt-BR" i="1" dirty="0" err="1">
                <a:solidFill>
                  <a:schemeClr val="accent6"/>
                </a:solidFill>
                <a:cs typeface="Helvetica Neue"/>
              </a:rPr>
              <a:t>Transportation</a:t>
            </a:r>
            <a:r>
              <a:rPr lang="pt-BR" i="1" dirty="0">
                <a:solidFill>
                  <a:schemeClr val="accent6"/>
                </a:solidFill>
                <a:cs typeface="Helvetica Neue"/>
              </a:rPr>
              <a:t> </a:t>
            </a:r>
            <a:r>
              <a:rPr lang="pt-BR" i="1" dirty="0" err="1">
                <a:solidFill>
                  <a:schemeClr val="accent6"/>
                </a:solidFill>
                <a:cs typeface="Helvetica Neue"/>
              </a:rPr>
              <a:t>Association</a:t>
            </a:r>
            <a:r>
              <a:rPr lang="pt-BR" i="1" dirty="0">
                <a:solidFill>
                  <a:schemeClr val="accent6"/>
                </a:solidFill>
                <a:cs typeface="Helvetica Neue"/>
              </a:rPr>
              <a:t> </a:t>
            </a:r>
            <a:r>
              <a:rPr lang="pt-BR" dirty="0">
                <a:solidFill>
                  <a:schemeClr val="accent6"/>
                </a:solidFill>
                <a:cs typeface="Helvetica Neue"/>
              </a:rPr>
              <a:t>.  </a:t>
            </a:r>
          </a:p>
        </p:txBody>
      </p:sp>
      <p:sp>
        <p:nvSpPr>
          <p:cNvPr id="15" name="TextBox 11"/>
          <p:cNvSpPr txBox="1"/>
          <p:nvPr/>
        </p:nvSpPr>
        <p:spPr>
          <a:xfrm>
            <a:off x="2099555" y="4391730"/>
            <a:ext cx="5659398" cy="923330"/>
          </a:xfrm>
          <a:prstGeom prst="rect">
            <a:avLst/>
          </a:prstGeom>
          <a:noFill/>
        </p:spPr>
        <p:txBody>
          <a:bodyPr wrap="square" rtlCol="0">
            <a:spAutoFit/>
          </a:bodyPr>
          <a:lstStyle/>
          <a:p>
            <a:pPr algn="just"/>
            <a:r>
              <a:rPr lang="pt-BR" dirty="0">
                <a:solidFill>
                  <a:schemeClr val="accent6"/>
                </a:solidFill>
                <a:cs typeface="Helvetica Neue"/>
              </a:rPr>
              <a:t>O principais terminais de movimentação de cargas são o de Viracopos (Campinas) e o de Cumbica (SP).</a:t>
            </a:r>
          </a:p>
        </p:txBody>
      </p:sp>
      <p:sp>
        <p:nvSpPr>
          <p:cNvPr id="16" name="TextBox 12"/>
          <p:cNvSpPr txBox="1"/>
          <p:nvPr/>
        </p:nvSpPr>
        <p:spPr>
          <a:xfrm>
            <a:off x="2099555" y="3316863"/>
            <a:ext cx="8111246" cy="646331"/>
          </a:xfrm>
          <a:prstGeom prst="rect">
            <a:avLst/>
          </a:prstGeom>
          <a:noFill/>
        </p:spPr>
        <p:txBody>
          <a:bodyPr wrap="square" rtlCol="0">
            <a:spAutoFit/>
          </a:bodyPr>
          <a:lstStyle/>
          <a:p>
            <a:pPr algn="just"/>
            <a:r>
              <a:rPr lang="pt-BR" dirty="0">
                <a:solidFill>
                  <a:schemeClr val="accent6"/>
                </a:solidFill>
                <a:cs typeface="Helvetica Neue"/>
              </a:rPr>
              <a:t>O transporte de cargas pode ser feito em aviões puramente cargueiros ou em aviões </a:t>
            </a:r>
            <a:r>
              <a:rPr lang="pt-BR" dirty="0" err="1">
                <a:solidFill>
                  <a:schemeClr val="accent6"/>
                </a:solidFill>
                <a:cs typeface="Helvetica Neue"/>
              </a:rPr>
              <a:t>Combi</a:t>
            </a:r>
            <a:r>
              <a:rPr lang="pt-BR" dirty="0">
                <a:solidFill>
                  <a:schemeClr val="accent6"/>
                </a:solidFill>
                <a:cs typeface="Helvetica Neue"/>
              </a:rPr>
              <a:t> (carga e passageiros). </a:t>
            </a:r>
          </a:p>
        </p:txBody>
      </p:sp>
      <p:pic>
        <p:nvPicPr>
          <p:cNvPr id="18" name="Picture 14" descr="plane-352730_640 (1).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60396" y="3745191"/>
            <a:ext cx="3419151" cy="2529393"/>
          </a:xfrm>
          <a:prstGeom prst="rect">
            <a:avLst/>
          </a:prstGeom>
        </p:spPr>
      </p:pic>
      <p:sp>
        <p:nvSpPr>
          <p:cNvPr id="13" name="Rectangle 9"/>
          <p:cNvSpPr/>
          <p:nvPr/>
        </p:nvSpPr>
        <p:spPr>
          <a:xfrm>
            <a:off x="2126449" y="5689808"/>
            <a:ext cx="6035916" cy="584776"/>
          </a:xfrm>
          <a:prstGeom prst="rect">
            <a:avLst/>
          </a:prstGeom>
        </p:spPr>
        <p:txBody>
          <a:bodyPr wrap="square">
            <a:spAutoFit/>
          </a:bodyPr>
          <a:lstStyle/>
          <a:p>
            <a:r>
              <a:rPr lang="pt-BR" sz="1600" b="1" i="1" dirty="0">
                <a:solidFill>
                  <a:schemeClr val="accent6"/>
                </a:solidFill>
              </a:rPr>
              <a:t>Mapa do transporte aéreo</a:t>
            </a:r>
            <a:r>
              <a:rPr lang="pt-BR" sz="1600" dirty="0">
                <a:solidFill>
                  <a:schemeClr val="accent6"/>
                </a:solidFill>
              </a:rPr>
              <a:t>:  </a:t>
            </a:r>
          </a:p>
          <a:p>
            <a:r>
              <a:rPr lang="pt-BR" sz="1600" dirty="0">
                <a:solidFill>
                  <a:schemeClr val="accent6"/>
                </a:solidFill>
                <a:hlinkClick r:id="rId3"/>
              </a:rPr>
              <a:t>www.cnt.org.br/Paginas/Atlas-do-Transporte.aspx</a:t>
            </a:r>
            <a:r>
              <a:rPr lang="pt-BR" sz="1600" dirty="0">
                <a:solidFill>
                  <a:schemeClr val="accent6"/>
                </a:solidFill>
              </a:rPr>
              <a:t> </a:t>
            </a:r>
          </a:p>
        </p:txBody>
      </p:sp>
    </p:spTree>
    <p:extLst>
      <p:ext uri="{BB962C8B-B14F-4D97-AF65-F5344CB8AC3E}">
        <p14:creationId xmlns:p14="http://schemas.microsoft.com/office/powerpoint/2010/main" val="2047191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up)">
                                      <p:cBhvr>
                                        <p:cTn id="12" dur="500"/>
                                        <p:tgtEl>
                                          <p:spTgt spid="16"/>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up)">
                                      <p:cBhvr>
                                        <p:cTn id="15" dur="500"/>
                                        <p:tgtEl>
                                          <p:spTgt spid="15"/>
                                        </p:tgtEl>
                                      </p:cBhvr>
                                    </p:animEffect>
                                  </p:childTnLst>
                                </p:cTn>
                              </p:par>
                            </p:childTnLst>
                          </p:cTn>
                        </p:par>
                        <p:par>
                          <p:cTn id="16" fill="hold">
                            <p:stCondLst>
                              <p:cond delay="500"/>
                            </p:stCondLst>
                            <p:childTnLst>
                              <p:par>
                                <p:cTn id="17" presetID="22" presetClass="entr" presetSubtype="4" fill="hold" grpId="0"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down)">
                                      <p:cBhvr>
                                        <p:cTn id="1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5" grpId="0"/>
      <p:bldP spid="16" grpId="0"/>
      <p:bldP spid="13" grpId="0"/>
    </p:bldLst>
  </p:timing>
</p:sld>
</file>

<file path=ppt/slides/slide1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tângulo 3"/>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
        <p:nvSpPr>
          <p:cNvPr id="8" name="Title 1"/>
          <p:cNvSpPr txBox="1">
            <a:spLocks/>
          </p:cNvSpPr>
          <p:nvPr/>
        </p:nvSpPr>
        <p:spPr bwMode="auto">
          <a:xfrm>
            <a:off x="2702982" y="822118"/>
            <a:ext cx="6786036" cy="4005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noAutofit/>
          </a:bodyPr>
          <a:lstStyle>
            <a:lvl1pPr algn="l" defTabSz="449263" rtl="0" eaLnBrk="1" fontAlgn="base" hangingPunct="1">
              <a:spcBef>
                <a:spcPct val="0"/>
              </a:spcBef>
              <a:spcAft>
                <a:spcPct val="0"/>
              </a:spcAft>
              <a:buClr>
                <a:srgbClr val="000000"/>
              </a:buClr>
              <a:buSzPct val="100000"/>
              <a:buFont typeface="Times New Roman" panose="02020603050405020304" pitchFamily="18" charset="0"/>
              <a:defRPr sz="4100" b="1" kern="1200">
                <a:solidFill>
                  <a:srgbClr val="464646"/>
                </a:solidFill>
                <a:latin typeface="+mj-lt"/>
                <a:ea typeface="+mj-ea"/>
                <a:cs typeface="+mj-cs"/>
              </a:defRPr>
            </a:lvl1pPr>
            <a:lvl2pPr marL="742950" indent="-28575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2pPr>
            <a:lvl3pPr marL="1143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3pPr>
            <a:lvl4pPr marL="1600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4pPr>
            <a:lvl5pPr marL="20574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5pPr>
            <a:lvl6pPr marL="25146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6pPr>
            <a:lvl7pPr marL="29718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7pPr>
            <a:lvl8pPr marL="3429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8pPr>
            <a:lvl9pPr marL="3886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9pPr>
          </a:lstStyle>
          <a:p>
            <a:pPr algn="ctr"/>
            <a:r>
              <a:rPr lang="pt-BR" sz="2000" dirty="0">
                <a:solidFill>
                  <a:schemeClr val="accent6"/>
                </a:solidFill>
                <a:latin typeface="+mn-lt"/>
              </a:rPr>
              <a:t>MODAL AEROVIÁRIO</a:t>
            </a:r>
          </a:p>
        </p:txBody>
      </p:sp>
      <p:sp>
        <p:nvSpPr>
          <p:cNvPr id="13" name="Rectangle 5"/>
          <p:cNvSpPr/>
          <p:nvPr/>
        </p:nvSpPr>
        <p:spPr>
          <a:xfrm>
            <a:off x="1961060" y="1448607"/>
            <a:ext cx="7514634" cy="369332"/>
          </a:xfrm>
          <a:prstGeom prst="rect">
            <a:avLst/>
          </a:prstGeom>
        </p:spPr>
        <p:txBody>
          <a:bodyPr wrap="square">
            <a:spAutoFit/>
          </a:bodyPr>
          <a:lstStyle/>
          <a:p>
            <a:r>
              <a:rPr lang="pt-BR" b="1" dirty="0">
                <a:solidFill>
                  <a:schemeClr val="accent6"/>
                </a:solidFill>
                <a:cs typeface="Helvetica Neue"/>
              </a:rPr>
              <a:t>Características do transporte aéreo de carga no Brasil</a:t>
            </a:r>
          </a:p>
        </p:txBody>
      </p:sp>
      <p:sp>
        <p:nvSpPr>
          <p:cNvPr id="20" name="TextBox 7"/>
          <p:cNvSpPr txBox="1"/>
          <p:nvPr/>
        </p:nvSpPr>
        <p:spPr>
          <a:xfrm>
            <a:off x="1981200" y="2064902"/>
            <a:ext cx="8111244" cy="3539430"/>
          </a:xfrm>
          <a:prstGeom prst="rect">
            <a:avLst/>
          </a:prstGeom>
        </p:spPr>
        <p:txBody>
          <a:bodyPr wrap="square">
            <a:spAutoFit/>
          </a:bodyPr>
          <a:lstStyle>
            <a:defPPr>
              <a:defRPr lang="pt-BR"/>
            </a:defPPr>
            <a:lvl1pPr marL="342900" indent="-342900">
              <a:buFont typeface="Courier New" panose="02070309020205020404" pitchFamily="49" charset="0"/>
              <a:buChar char="o"/>
              <a:defRPr sz="1600">
                <a:solidFill>
                  <a:schemeClr val="accent6"/>
                </a:solidFill>
                <a:cs typeface="Helvetica Neue"/>
              </a:defRPr>
            </a:lvl1pPr>
          </a:lstStyle>
          <a:p>
            <a:r>
              <a:rPr lang="pt-BR" dirty="0"/>
              <a:t>Adequado para situações de prazos para longa distância;</a:t>
            </a:r>
          </a:p>
          <a:p>
            <a:r>
              <a:rPr lang="pt-BR" dirty="0"/>
              <a:t>Adequado para mercadorias de elevado valor a grandes distâncias;</a:t>
            </a:r>
          </a:p>
          <a:p>
            <a:r>
              <a:rPr lang="pt-BR" dirty="0"/>
              <a:t>Boa flexibilidade e frequência entre cidades;</a:t>
            </a:r>
          </a:p>
          <a:p>
            <a:r>
              <a:rPr lang="pt-BR" dirty="0"/>
              <a:t>Rápido e confiável;</a:t>
            </a:r>
          </a:p>
          <a:p>
            <a:r>
              <a:rPr lang="pt-BR" dirty="0"/>
              <a:t>Baixa capacidade de carga com limitação de volume e peso, o que faz com que o contêineres usados sejam diferentes do marítimo;</a:t>
            </a:r>
          </a:p>
          <a:p>
            <a:r>
              <a:rPr lang="pt-BR" dirty="0"/>
              <a:t>Pouco flexível, pois trabalha de terminal a terminal;</a:t>
            </a:r>
          </a:p>
          <a:p>
            <a:r>
              <a:rPr lang="pt-BR" dirty="0"/>
              <a:t>Tempo maior que o rodoviário para pequenas distâncias;</a:t>
            </a:r>
          </a:p>
          <a:p>
            <a:r>
              <a:rPr lang="pt-BR" dirty="0"/>
              <a:t>Elevado custo para grande parte das mercadorias;</a:t>
            </a:r>
          </a:p>
          <a:p>
            <a:r>
              <a:rPr lang="pt-BR" dirty="0"/>
              <a:t>Influenciado pelas condições climáticas;</a:t>
            </a:r>
          </a:p>
          <a:p>
            <a:r>
              <a:rPr lang="pt-BR" dirty="0"/>
              <a:t>Dependente de outros modais (rodoviário);</a:t>
            </a:r>
          </a:p>
          <a:p>
            <a:r>
              <a:rPr lang="pt-BR" dirty="0"/>
              <a:t>Boa integração com o modal rodoviário;</a:t>
            </a:r>
          </a:p>
          <a:p>
            <a:r>
              <a:rPr lang="pt-BR" dirty="0"/>
              <a:t>Alto custo de manutenção;</a:t>
            </a:r>
          </a:p>
          <a:p>
            <a:r>
              <a:rPr lang="pt-BR" dirty="0"/>
              <a:t>Meio de transporte poluente e ruidoso.</a:t>
            </a:r>
          </a:p>
        </p:txBody>
      </p:sp>
      <p:sp>
        <p:nvSpPr>
          <p:cNvPr id="22" name="TextBox 4"/>
          <p:cNvSpPr txBox="1"/>
          <p:nvPr/>
        </p:nvSpPr>
        <p:spPr>
          <a:xfrm>
            <a:off x="2142484" y="5820517"/>
            <a:ext cx="7907032" cy="338554"/>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rtlCol="0">
            <a:spAutoFit/>
          </a:bodyPr>
          <a:lstStyle/>
          <a:p>
            <a:pPr algn="just"/>
            <a:r>
              <a:rPr lang="pt-BR" sz="1600" b="1" dirty="0">
                <a:solidFill>
                  <a:srgbClr val="FF0000"/>
                </a:solidFill>
              </a:rPr>
              <a:t>QUAL O PONTO MAIS RELEVANTE PARA A ESCOLHA DO MODAL AEROVIÁRIO ?</a:t>
            </a:r>
          </a:p>
        </p:txBody>
      </p:sp>
      <p:pic>
        <p:nvPicPr>
          <p:cNvPr id="2" name="Imagem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87799" y="3471130"/>
            <a:ext cx="3809289" cy="2133202"/>
          </a:xfrm>
          <a:prstGeom prst="rect">
            <a:avLst/>
          </a:prstGeom>
        </p:spPr>
      </p:pic>
    </p:spTree>
    <p:extLst>
      <p:ext uri="{BB962C8B-B14F-4D97-AF65-F5344CB8AC3E}">
        <p14:creationId xmlns:p14="http://schemas.microsoft.com/office/powerpoint/2010/main" val="3563538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20">
                                            <p:txEl>
                                              <p:pRg st="0" end="0"/>
                                            </p:txEl>
                                          </p:spTgt>
                                        </p:tgtEl>
                                        <p:attrNameLst>
                                          <p:attrName>style.visibility</p:attrName>
                                        </p:attrNameLst>
                                      </p:cBhvr>
                                      <p:to>
                                        <p:strVal val="visible"/>
                                      </p:to>
                                    </p:set>
                                    <p:animEffect transition="in" filter="wipe(up)">
                                      <p:cBhvr>
                                        <p:cTn id="19" dur="500"/>
                                        <p:tgtEl>
                                          <p:spTgt spid="20">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20">
                                            <p:txEl>
                                              <p:pRg st="1" end="1"/>
                                            </p:txEl>
                                          </p:spTgt>
                                        </p:tgtEl>
                                        <p:attrNameLst>
                                          <p:attrName>style.visibility</p:attrName>
                                        </p:attrNameLst>
                                      </p:cBhvr>
                                      <p:to>
                                        <p:strVal val="visible"/>
                                      </p:to>
                                    </p:set>
                                    <p:animEffect transition="in" filter="wipe(up)">
                                      <p:cBhvr>
                                        <p:cTn id="24" dur="500"/>
                                        <p:tgtEl>
                                          <p:spTgt spid="20">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20">
                                            <p:txEl>
                                              <p:pRg st="2" end="2"/>
                                            </p:txEl>
                                          </p:spTgt>
                                        </p:tgtEl>
                                        <p:attrNameLst>
                                          <p:attrName>style.visibility</p:attrName>
                                        </p:attrNameLst>
                                      </p:cBhvr>
                                      <p:to>
                                        <p:strVal val="visible"/>
                                      </p:to>
                                    </p:set>
                                    <p:animEffect transition="in" filter="wipe(up)">
                                      <p:cBhvr>
                                        <p:cTn id="29" dur="500"/>
                                        <p:tgtEl>
                                          <p:spTgt spid="20">
                                            <p:txEl>
                                              <p:pRg st="2" end="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20">
                                            <p:txEl>
                                              <p:pRg st="3" end="3"/>
                                            </p:txEl>
                                          </p:spTgt>
                                        </p:tgtEl>
                                        <p:attrNameLst>
                                          <p:attrName>style.visibility</p:attrName>
                                        </p:attrNameLst>
                                      </p:cBhvr>
                                      <p:to>
                                        <p:strVal val="visible"/>
                                      </p:to>
                                    </p:set>
                                    <p:animEffect transition="in" filter="wipe(up)">
                                      <p:cBhvr>
                                        <p:cTn id="34" dur="500"/>
                                        <p:tgtEl>
                                          <p:spTgt spid="20">
                                            <p:txEl>
                                              <p:pRg st="3" end="3"/>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20">
                                            <p:txEl>
                                              <p:pRg st="4" end="4"/>
                                            </p:txEl>
                                          </p:spTgt>
                                        </p:tgtEl>
                                        <p:attrNameLst>
                                          <p:attrName>style.visibility</p:attrName>
                                        </p:attrNameLst>
                                      </p:cBhvr>
                                      <p:to>
                                        <p:strVal val="visible"/>
                                      </p:to>
                                    </p:set>
                                    <p:animEffect transition="in" filter="wipe(up)">
                                      <p:cBhvr>
                                        <p:cTn id="39" dur="500"/>
                                        <p:tgtEl>
                                          <p:spTgt spid="20">
                                            <p:txEl>
                                              <p:pRg st="4" end="4"/>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20">
                                            <p:txEl>
                                              <p:pRg st="5" end="5"/>
                                            </p:txEl>
                                          </p:spTgt>
                                        </p:tgtEl>
                                        <p:attrNameLst>
                                          <p:attrName>style.visibility</p:attrName>
                                        </p:attrNameLst>
                                      </p:cBhvr>
                                      <p:to>
                                        <p:strVal val="visible"/>
                                      </p:to>
                                    </p:set>
                                    <p:animEffect transition="in" filter="wipe(up)">
                                      <p:cBhvr>
                                        <p:cTn id="44" dur="500"/>
                                        <p:tgtEl>
                                          <p:spTgt spid="20">
                                            <p:txEl>
                                              <p:pRg st="5" end="5"/>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grpId="0" nodeType="clickEffect">
                                  <p:stCondLst>
                                    <p:cond delay="0"/>
                                  </p:stCondLst>
                                  <p:childTnLst>
                                    <p:set>
                                      <p:cBhvr>
                                        <p:cTn id="48" dur="1" fill="hold">
                                          <p:stCondLst>
                                            <p:cond delay="0"/>
                                          </p:stCondLst>
                                        </p:cTn>
                                        <p:tgtEl>
                                          <p:spTgt spid="20">
                                            <p:txEl>
                                              <p:pRg st="6" end="6"/>
                                            </p:txEl>
                                          </p:spTgt>
                                        </p:tgtEl>
                                        <p:attrNameLst>
                                          <p:attrName>style.visibility</p:attrName>
                                        </p:attrNameLst>
                                      </p:cBhvr>
                                      <p:to>
                                        <p:strVal val="visible"/>
                                      </p:to>
                                    </p:set>
                                    <p:animEffect transition="in" filter="wipe(up)">
                                      <p:cBhvr>
                                        <p:cTn id="49" dur="500"/>
                                        <p:tgtEl>
                                          <p:spTgt spid="20">
                                            <p:txEl>
                                              <p:pRg st="6" end="6"/>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1" fill="hold" grpId="0" nodeType="clickEffect">
                                  <p:stCondLst>
                                    <p:cond delay="0"/>
                                  </p:stCondLst>
                                  <p:childTnLst>
                                    <p:set>
                                      <p:cBhvr>
                                        <p:cTn id="53" dur="1" fill="hold">
                                          <p:stCondLst>
                                            <p:cond delay="0"/>
                                          </p:stCondLst>
                                        </p:cTn>
                                        <p:tgtEl>
                                          <p:spTgt spid="20">
                                            <p:txEl>
                                              <p:pRg st="7" end="7"/>
                                            </p:txEl>
                                          </p:spTgt>
                                        </p:tgtEl>
                                        <p:attrNameLst>
                                          <p:attrName>style.visibility</p:attrName>
                                        </p:attrNameLst>
                                      </p:cBhvr>
                                      <p:to>
                                        <p:strVal val="visible"/>
                                      </p:to>
                                    </p:set>
                                    <p:animEffect transition="in" filter="wipe(up)">
                                      <p:cBhvr>
                                        <p:cTn id="54" dur="500"/>
                                        <p:tgtEl>
                                          <p:spTgt spid="20">
                                            <p:txEl>
                                              <p:pRg st="7" end="7"/>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1" fill="hold" grpId="0" nodeType="clickEffect">
                                  <p:stCondLst>
                                    <p:cond delay="0"/>
                                  </p:stCondLst>
                                  <p:childTnLst>
                                    <p:set>
                                      <p:cBhvr>
                                        <p:cTn id="58" dur="1" fill="hold">
                                          <p:stCondLst>
                                            <p:cond delay="0"/>
                                          </p:stCondLst>
                                        </p:cTn>
                                        <p:tgtEl>
                                          <p:spTgt spid="20">
                                            <p:txEl>
                                              <p:pRg st="8" end="8"/>
                                            </p:txEl>
                                          </p:spTgt>
                                        </p:tgtEl>
                                        <p:attrNameLst>
                                          <p:attrName>style.visibility</p:attrName>
                                        </p:attrNameLst>
                                      </p:cBhvr>
                                      <p:to>
                                        <p:strVal val="visible"/>
                                      </p:to>
                                    </p:set>
                                    <p:animEffect transition="in" filter="wipe(up)">
                                      <p:cBhvr>
                                        <p:cTn id="59" dur="500"/>
                                        <p:tgtEl>
                                          <p:spTgt spid="20">
                                            <p:txEl>
                                              <p:pRg st="8" end="8"/>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1" fill="hold" grpId="0" nodeType="clickEffect">
                                  <p:stCondLst>
                                    <p:cond delay="0"/>
                                  </p:stCondLst>
                                  <p:childTnLst>
                                    <p:set>
                                      <p:cBhvr>
                                        <p:cTn id="63" dur="1" fill="hold">
                                          <p:stCondLst>
                                            <p:cond delay="0"/>
                                          </p:stCondLst>
                                        </p:cTn>
                                        <p:tgtEl>
                                          <p:spTgt spid="20">
                                            <p:txEl>
                                              <p:pRg st="9" end="9"/>
                                            </p:txEl>
                                          </p:spTgt>
                                        </p:tgtEl>
                                        <p:attrNameLst>
                                          <p:attrName>style.visibility</p:attrName>
                                        </p:attrNameLst>
                                      </p:cBhvr>
                                      <p:to>
                                        <p:strVal val="visible"/>
                                      </p:to>
                                    </p:set>
                                    <p:animEffect transition="in" filter="wipe(up)">
                                      <p:cBhvr>
                                        <p:cTn id="64" dur="500"/>
                                        <p:tgtEl>
                                          <p:spTgt spid="20">
                                            <p:txEl>
                                              <p:pRg st="9" end="9"/>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1" fill="hold" grpId="0" nodeType="clickEffect">
                                  <p:stCondLst>
                                    <p:cond delay="0"/>
                                  </p:stCondLst>
                                  <p:childTnLst>
                                    <p:set>
                                      <p:cBhvr>
                                        <p:cTn id="68" dur="1" fill="hold">
                                          <p:stCondLst>
                                            <p:cond delay="0"/>
                                          </p:stCondLst>
                                        </p:cTn>
                                        <p:tgtEl>
                                          <p:spTgt spid="20">
                                            <p:txEl>
                                              <p:pRg st="10" end="10"/>
                                            </p:txEl>
                                          </p:spTgt>
                                        </p:tgtEl>
                                        <p:attrNameLst>
                                          <p:attrName>style.visibility</p:attrName>
                                        </p:attrNameLst>
                                      </p:cBhvr>
                                      <p:to>
                                        <p:strVal val="visible"/>
                                      </p:to>
                                    </p:set>
                                    <p:animEffect transition="in" filter="wipe(up)">
                                      <p:cBhvr>
                                        <p:cTn id="69" dur="500"/>
                                        <p:tgtEl>
                                          <p:spTgt spid="20">
                                            <p:txEl>
                                              <p:pRg st="10" end="10"/>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1" fill="hold" grpId="0" nodeType="clickEffect">
                                  <p:stCondLst>
                                    <p:cond delay="0"/>
                                  </p:stCondLst>
                                  <p:childTnLst>
                                    <p:set>
                                      <p:cBhvr>
                                        <p:cTn id="73" dur="1" fill="hold">
                                          <p:stCondLst>
                                            <p:cond delay="0"/>
                                          </p:stCondLst>
                                        </p:cTn>
                                        <p:tgtEl>
                                          <p:spTgt spid="20">
                                            <p:txEl>
                                              <p:pRg st="11" end="11"/>
                                            </p:txEl>
                                          </p:spTgt>
                                        </p:tgtEl>
                                        <p:attrNameLst>
                                          <p:attrName>style.visibility</p:attrName>
                                        </p:attrNameLst>
                                      </p:cBhvr>
                                      <p:to>
                                        <p:strVal val="visible"/>
                                      </p:to>
                                    </p:set>
                                    <p:animEffect transition="in" filter="wipe(up)">
                                      <p:cBhvr>
                                        <p:cTn id="74" dur="500"/>
                                        <p:tgtEl>
                                          <p:spTgt spid="20">
                                            <p:txEl>
                                              <p:pRg st="11" end="11"/>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1" fill="hold" grpId="0" nodeType="clickEffect">
                                  <p:stCondLst>
                                    <p:cond delay="0"/>
                                  </p:stCondLst>
                                  <p:childTnLst>
                                    <p:set>
                                      <p:cBhvr>
                                        <p:cTn id="78" dur="1" fill="hold">
                                          <p:stCondLst>
                                            <p:cond delay="0"/>
                                          </p:stCondLst>
                                        </p:cTn>
                                        <p:tgtEl>
                                          <p:spTgt spid="20">
                                            <p:txEl>
                                              <p:pRg st="12" end="12"/>
                                            </p:txEl>
                                          </p:spTgt>
                                        </p:tgtEl>
                                        <p:attrNameLst>
                                          <p:attrName>style.visibility</p:attrName>
                                        </p:attrNameLst>
                                      </p:cBhvr>
                                      <p:to>
                                        <p:strVal val="visible"/>
                                      </p:to>
                                    </p:set>
                                    <p:animEffect transition="in" filter="wipe(up)">
                                      <p:cBhvr>
                                        <p:cTn id="79" dur="500"/>
                                        <p:tgtEl>
                                          <p:spTgt spid="20">
                                            <p:txEl>
                                              <p:pRg st="12" end="12"/>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22"/>
                                        </p:tgtEl>
                                        <p:attrNameLst>
                                          <p:attrName>style.visibility</p:attrName>
                                        </p:attrNameLst>
                                      </p:cBhvr>
                                      <p:to>
                                        <p:strVal val="visible"/>
                                      </p:to>
                                    </p:set>
                                    <p:animEffect transition="in" filter="wipe(left)">
                                      <p:cBhvr>
                                        <p:cTn id="84"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0" grpId="0" build="p"/>
      <p:bldP spid="22" grpId="0"/>
    </p:bldLst>
  </p:timing>
</p:sld>
</file>

<file path=ppt/slides/slide1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tângulo 3"/>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
        <p:nvSpPr>
          <p:cNvPr id="8" name="Title 1"/>
          <p:cNvSpPr txBox="1">
            <a:spLocks/>
          </p:cNvSpPr>
          <p:nvPr/>
        </p:nvSpPr>
        <p:spPr bwMode="auto">
          <a:xfrm>
            <a:off x="2702982" y="822118"/>
            <a:ext cx="6786036" cy="4005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noAutofit/>
          </a:bodyPr>
          <a:lstStyle>
            <a:lvl1pPr algn="l" defTabSz="449263" rtl="0" eaLnBrk="1" fontAlgn="base" hangingPunct="1">
              <a:spcBef>
                <a:spcPct val="0"/>
              </a:spcBef>
              <a:spcAft>
                <a:spcPct val="0"/>
              </a:spcAft>
              <a:buClr>
                <a:srgbClr val="000000"/>
              </a:buClr>
              <a:buSzPct val="100000"/>
              <a:buFont typeface="Times New Roman" panose="02020603050405020304" pitchFamily="18" charset="0"/>
              <a:defRPr sz="4100" b="1" kern="1200">
                <a:solidFill>
                  <a:srgbClr val="464646"/>
                </a:solidFill>
                <a:latin typeface="+mj-lt"/>
                <a:ea typeface="+mj-ea"/>
                <a:cs typeface="+mj-cs"/>
              </a:defRPr>
            </a:lvl1pPr>
            <a:lvl2pPr marL="742950" indent="-28575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2pPr>
            <a:lvl3pPr marL="1143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3pPr>
            <a:lvl4pPr marL="1600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4pPr>
            <a:lvl5pPr marL="20574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5pPr>
            <a:lvl6pPr marL="25146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6pPr>
            <a:lvl7pPr marL="29718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7pPr>
            <a:lvl8pPr marL="3429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8pPr>
            <a:lvl9pPr marL="3886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9pPr>
          </a:lstStyle>
          <a:p>
            <a:pPr algn="ctr"/>
            <a:r>
              <a:rPr lang="pt-BR" sz="2000" dirty="0">
                <a:solidFill>
                  <a:schemeClr val="accent6"/>
                </a:solidFill>
                <a:latin typeface="+mn-lt"/>
              </a:rPr>
              <a:t>MODAL AEROVIÁRIO</a:t>
            </a:r>
          </a:p>
        </p:txBody>
      </p:sp>
      <p:sp>
        <p:nvSpPr>
          <p:cNvPr id="5" name="Retângulo 4"/>
          <p:cNvSpPr/>
          <p:nvPr/>
        </p:nvSpPr>
        <p:spPr>
          <a:xfrm>
            <a:off x="2057852" y="1624773"/>
            <a:ext cx="8076296" cy="2723823"/>
          </a:xfrm>
          <a:prstGeom prst="rect">
            <a:avLst/>
          </a:prstGeom>
        </p:spPr>
        <p:txBody>
          <a:bodyPr wrap="square">
            <a:spAutoFit/>
          </a:bodyPr>
          <a:lstStyle/>
          <a:p>
            <a:pPr algn="just"/>
            <a:r>
              <a:rPr lang="pt-BR" b="1" dirty="0">
                <a:solidFill>
                  <a:schemeClr val="accent6"/>
                </a:solidFill>
              </a:rPr>
              <a:t>CARACTERÍSTICAS PARA SELEÇÃO</a:t>
            </a:r>
          </a:p>
          <a:p>
            <a:endParaRPr lang="pt-BR" dirty="0">
              <a:solidFill>
                <a:schemeClr val="accent6"/>
              </a:solidFill>
            </a:endParaRPr>
          </a:p>
          <a:p>
            <a:pPr>
              <a:lnSpc>
                <a:spcPct val="150000"/>
              </a:lnSpc>
            </a:pPr>
            <a:r>
              <a:rPr lang="pt-BR" dirty="0">
                <a:solidFill>
                  <a:schemeClr val="accent6"/>
                </a:solidFill>
              </a:rPr>
              <a:t>Pequenos volumes de cargas.</a:t>
            </a:r>
          </a:p>
          <a:p>
            <a:pPr>
              <a:lnSpc>
                <a:spcPct val="150000"/>
              </a:lnSpc>
            </a:pPr>
            <a:r>
              <a:rPr lang="pt-BR" dirty="0">
                <a:solidFill>
                  <a:schemeClr val="accent6"/>
                </a:solidFill>
              </a:rPr>
              <a:t>Mercadorias com curto prazo de validade e/ou frágeis.</a:t>
            </a:r>
          </a:p>
          <a:p>
            <a:pPr>
              <a:lnSpc>
                <a:spcPct val="150000"/>
              </a:lnSpc>
            </a:pPr>
            <a:r>
              <a:rPr lang="pt-BR" dirty="0">
                <a:solidFill>
                  <a:schemeClr val="accent6"/>
                </a:solidFill>
              </a:rPr>
              <a:t>Grandes distâncias a transportar.</a:t>
            </a:r>
          </a:p>
          <a:p>
            <a:pPr>
              <a:lnSpc>
                <a:spcPct val="150000"/>
              </a:lnSpc>
            </a:pPr>
            <a:r>
              <a:rPr lang="pt-BR" dirty="0">
                <a:solidFill>
                  <a:schemeClr val="accent6"/>
                </a:solidFill>
              </a:rPr>
              <a:t>Trajetos exclusivos (não há via para outros modais).</a:t>
            </a:r>
          </a:p>
          <a:p>
            <a:pPr>
              <a:lnSpc>
                <a:spcPct val="150000"/>
              </a:lnSpc>
            </a:pPr>
            <a:r>
              <a:rPr lang="pt-BR" dirty="0">
                <a:solidFill>
                  <a:schemeClr val="accent6"/>
                </a:solidFill>
              </a:rPr>
              <a:t>Tempo de trânsito é muito importante.</a:t>
            </a:r>
          </a:p>
        </p:txBody>
      </p:sp>
      <p:sp>
        <p:nvSpPr>
          <p:cNvPr id="6" name="Retângulo 5"/>
          <p:cNvSpPr/>
          <p:nvPr/>
        </p:nvSpPr>
        <p:spPr>
          <a:xfrm>
            <a:off x="2057852" y="4566623"/>
            <a:ext cx="2929644" cy="1892826"/>
          </a:xfrm>
          <a:prstGeom prst="rect">
            <a:avLst/>
          </a:prstGeom>
        </p:spPr>
        <p:txBody>
          <a:bodyPr wrap="square">
            <a:spAutoFit/>
          </a:bodyPr>
          <a:lstStyle/>
          <a:p>
            <a:r>
              <a:rPr lang="pt-BR" b="1" dirty="0">
                <a:solidFill>
                  <a:schemeClr val="accent6"/>
                </a:solidFill>
              </a:rPr>
              <a:t>Adaptabilidade</a:t>
            </a:r>
            <a:r>
              <a:rPr lang="pt-BR" dirty="0">
                <a:solidFill>
                  <a:schemeClr val="accent6"/>
                </a:solidFill>
              </a:rPr>
              <a:t>:</a:t>
            </a:r>
          </a:p>
          <a:p>
            <a:endParaRPr lang="pt-BR" dirty="0">
              <a:solidFill>
                <a:schemeClr val="accent6"/>
              </a:solidFill>
            </a:endParaRPr>
          </a:p>
          <a:p>
            <a:pPr>
              <a:lnSpc>
                <a:spcPct val="150000"/>
              </a:lnSpc>
            </a:pPr>
            <a:r>
              <a:rPr lang="pt-BR" dirty="0">
                <a:solidFill>
                  <a:schemeClr val="accent6"/>
                </a:solidFill>
              </a:rPr>
              <a:t>Container</a:t>
            </a:r>
          </a:p>
          <a:p>
            <a:pPr>
              <a:lnSpc>
                <a:spcPct val="150000"/>
              </a:lnSpc>
            </a:pPr>
            <a:r>
              <a:rPr lang="pt-BR" dirty="0">
                <a:solidFill>
                  <a:schemeClr val="accent6"/>
                </a:solidFill>
              </a:rPr>
              <a:t>Pallet</a:t>
            </a:r>
          </a:p>
          <a:p>
            <a:pPr>
              <a:lnSpc>
                <a:spcPct val="150000"/>
              </a:lnSpc>
            </a:pPr>
            <a:r>
              <a:rPr lang="pt-BR" dirty="0">
                <a:solidFill>
                  <a:schemeClr val="accent6"/>
                </a:solidFill>
              </a:rPr>
              <a:t>Elevadores de carga.</a:t>
            </a:r>
          </a:p>
        </p:txBody>
      </p:sp>
      <p:sp>
        <p:nvSpPr>
          <p:cNvPr id="7" name="Retângulo 6"/>
          <p:cNvSpPr/>
          <p:nvPr/>
        </p:nvSpPr>
        <p:spPr>
          <a:xfrm>
            <a:off x="4987496" y="4600157"/>
            <a:ext cx="4640838" cy="1892826"/>
          </a:xfrm>
          <a:prstGeom prst="rect">
            <a:avLst/>
          </a:prstGeom>
        </p:spPr>
        <p:txBody>
          <a:bodyPr wrap="square">
            <a:spAutoFit/>
          </a:bodyPr>
          <a:lstStyle/>
          <a:p>
            <a:r>
              <a:rPr lang="pt-BR" b="1" dirty="0">
                <a:solidFill>
                  <a:schemeClr val="accent6"/>
                </a:solidFill>
              </a:rPr>
              <a:t>Tipos</a:t>
            </a:r>
            <a:r>
              <a:rPr lang="pt-BR" dirty="0">
                <a:solidFill>
                  <a:schemeClr val="accent6"/>
                </a:solidFill>
              </a:rPr>
              <a:t>:</a:t>
            </a:r>
          </a:p>
          <a:p>
            <a:endParaRPr lang="pt-BR" dirty="0">
              <a:solidFill>
                <a:schemeClr val="accent6"/>
              </a:solidFill>
            </a:endParaRPr>
          </a:p>
          <a:p>
            <a:pPr>
              <a:lnSpc>
                <a:spcPct val="150000"/>
              </a:lnSpc>
            </a:pPr>
            <a:r>
              <a:rPr lang="pt-BR" dirty="0" err="1">
                <a:solidFill>
                  <a:schemeClr val="accent6"/>
                </a:solidFill>
              </a:rPr>
              <a:t>Full</a:t>
            </a:r>
            <a:r>
              <a:rPr lang="pt-BR" dirty="0">
                <a:solidFill>
                  <a:schemeClr val="accent6"/>
                </a:solidFill>
              </a:rPr>
              <a:t> </a:t>
            </a:r>
            <a:r>
              <a:rPr lang="pt-BR" dirty="0" err="1">
                <a:solidFill>
                  <a:schemeClr val="accent6"/>
                </a:solidFill>
              </a:rPr>
              <a:t>pax</a:t>
            </a:r>
            <a:r>
              <a:rPr lang="pt-BR" dirty="0">
                <a:solidFill>
                  <a:schemeClr val="accent6"/>
                </a:solidFill>
              </a:rPr>
              <a:t> = somente de passageiros.</a:t>
            </a:r>
          </a:p>
          <a:p>
            <a:pPr>
              <a:lnSpc>
                <a:spcPct val="150000"/>
              </a:lnSpc>
            </a:pPr>
            <a:r>
              <a:rPr lang="pt-BR" dirty="0" err="1">
                <a:solidFill>
                  <a:schemeClr val="accent6"/>
                </a:solidFill>
              </a:rPr>
              <a:t>Full</a:t>
            </a:r>
            <a:r>
              <a:rPr lang="pt-BR" dirty="0">
                <a:solidFill>
                  <a:schemeClr val="accent6"/>
                </a:solidFill>
              </a:rPr>
              <a:t> cargo = somente de cargas.</a:t>
            </a:r>
          </a:p>
          <a:p>
            <a:pPr>
              <a:lnSpc>
                <a:spcPct val="150000"/>
              </a:lnSpc>
            </a:pPr>
            <a:r>
              <a:rPr lang="pt-BR" dirty="0" err="1">
                <a:solidFill>
                  <a:schemeClr val="accent6"/>
                </a:solidFill>
              </a:rPr>
              <a:t>Combi</a:t>
            </a:r>
            <a:r>
              <a:rPr lang="pt-BR" dirty="0">
                <a:solidFill>
                  <a:schemeClr val="accent6"/>
                </a:solidFill>
              </a:rPr>
              <a:t> = misto de carga e passageiros</a:t>
            </a:r>
          </a:p>
        </p:txBody>
      </p:sp>
    </p:spTree>
    <p:extLst>
      <p:ext uri="{BB962C8B-B14F-4D97-AF65-F5344CB8AC3E}">
        <p14:creationId xmlns:p14="http://schemas.microsoft.com/office/powerpoint/2010/main" val="2391356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1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3" name="Tabela 2"/>
          <p:cNvGraphicFramePr>
            <a:graphicFrameLocks noGrp="1"/>
          </p:cNvGraphicFramePr>
          <p:nvPr/>
        </p:nvGraphicFramePr>
        <p:xfrm>
          <a:off x="10985500" y="5562600"/>
          <a:ext cx="208280" cy="365760"/>
        </p:xfrm>
        <a:graphic>
          <a:graphicData uri="http://schemas.openxmlformats.org/drawingml/2006/table">
            <a:tbl>
              <a:tblPr/>
              <a:tblGrid>
                <a:gridCol w="208280">
                  <a:extLst>
                    <a:ext uri="{9D8B030D-6E8A-4147-A177-3AD203B41FA5}">
                      <a16:colId xmlns:a16="http://schemas.microsoft.com/office/drawing/2014/main" val="20000"/>
                    </a:ext>
                  </a:extLst>
                </a:gridCol>
              </a:tblGrid>
              <a:tr h="0">
                <a:tc>
                  <a:txBody>
                    <a:bodyPr/>
                    <a:lstStyle/>
                    <a:p>
                      <a:endParaRPr lang="pt-BR" dirty="0"/>
                    </a:p>
                  </a:txBody>
                  <a:tcP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tcPr>
                </a:tc>
                <a:extLst>
                  <a:ext uri="{0D108BD9-81ED-4DB2-BD59-A6C34878D82A}">
                    <a16:rowId xmlns:a16="http://schemas.microsoft.com/office/drawing/2014/main" val="10000"/>
                  </a:ext>
                </a:extLst>
              </a:tr>
            </a:tbl>
          </a:graphicData>
        </a:graphic>
      </p:graphicFrame>
      <p:sp>
        <p:nvSpPr>
          <p:cNvPr id="2" name="Retângulo 1"/>
          <p:cNvSpPr/>
          <p:nvPr/>
        </p:nvSpPr>
        <p:spPr>
          <a:xfrm>
            <a:off x="3225663" y="4109748"/>
            <a:ext cx="5740674" cy="400110"/>
          </a:xfrm>
          <a:prstGeom prst="rect">
            <a:avLst/>
          </a:prstGeom>
        </p:spPr>
        <p:txBody>
          <a:bodyPr wrap="none">
            <a:spAutoFit/>
          </a:bodyPr>
          <a:lstStyle/>
          <a:p>
            <a:pPr algn="ctr"/>
            <a:r>
              <a:rPr lang="pt-BR" sz="2000" dirty="0">
                <a:solidFill>
                  <a:schemeClr val="accent6"/>
                </a:solidFill>
                <a:hlinkClick r:id="rId2"/>
              </a:rPr>
              <a:t>www.youtube.com/watch?v=40qM5xDgL_Y</a:t>
            </a:r>
            <a:endParaRPr lang="pt-BR" sz="2000" dirty="0">
              <a:solidFill>
                <a:schemeClr val="accent6"/>
              </a:solidFill>
            </a:endParaRPr>
          </a:p>
        </p:txBody>
      </p:sp>
      <p:sp>
        <p:nvSpPr>
          <p:cNvPr id="7" name="CaixaDeTexto 6"/>
          <p:cNvSpPr txBox="1"/>
          <p:nvPr/>
        </p:nvSpPr>
        <p:spPr>
          <a:xfrm>
            <a:off x="2790734" y="3546655"/>
            <a:ext cx="6610532" cy="400110"/>
          </a:xfrm>
          <a:prstGeom prst="rect">
            <a:avLst/>
          </a:prstGeom>
          <a:noFill/>
        </p:spPr>
        <p:txBody>
          <a:bodyPr wrap="square" rtlCol="0">
            <a:spAutoFit/>
          </a:bodyPr>
          <a:lstStyle/>
          <a:p>
            <a:pPr marL="1257300" indent="-1257300" algn="ctr"/>
            <a:r>
              <a:rPr lang="pt-BR" sz="2000" dirty="0">
                <a:solidFill>
                  <a:schemeClr val="accent6"/>
                </a:solidFill>
              </a:rPr>
              <a:t>00:06:30 </a:t>
            </a:r>
            <a:r>
              <a:rPr lang="pt-BR" sz="2000" b="1" dirty="0">
                <a:solidFill>
                  <a:schemeClr val="accent6"/>
                </a:solidFill>
              </a:rPr>
              <a:t>TV TAM -  TAM CARGO</a:t>
            </a:r>
          </a:p>
        </p:txBody>
      </p:sp>
      <p:sp>
        <p:nvSpPr>
          <p:cNvPr id="8" name="Retângulo 7"/>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
        <p:nvSpPr>
          <p:cNvPr id="9" name="Title 1"/>
          <p:cNvSpPr txBox="1">
            <a:spLocks/>
          </p:cNvSpPr>
          <p:nvPr/>
        </p:nvSpPr>
        <p:spPr bwMode="auto">
          <a:xfrm>
            <a:off x="2702982" y="822118"/>
            <a:ext cx="6786036" cy="4005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noAutofit/>
          </a:bodyPr>
          <a:lstStyle>
            <a:lvl1pPr algn="l" defTabSz="449263" rtl="0" eaLnBrk="1" fontAlgn="base" hangingPunct="1">
              <a:spcBef>
                <a:spcPct val="0"/>
              </a:spcBef>
              <a:spcAft>
                <a:spcPct val="0"/>
              </a:spcAft>
              <a:buClr>
                <a:srgbClr val="000000"/>
              </a:buClr>
              <a:buSzPct val="100000"/>
              <a:buFont typeface="Times New Roman" panose="02020603050405020304" pitchFamily="18" charset="0"/>
              <a:defRPr sz="4100" b="1" kern="1200">
                <a:solidFill>
                  <a:srgbClr val="464646"/>
                </a:solidFill>
                <a:latin typeface="+mj-lt"/>
                <a:ea typeface="+mj-ea"/>
                <a:cs typeface="+mj-cs"/>
              </a:defRPr>
            </a:lvl1pPr>
            <a:lvl2pPr marL="742950" indent="-28575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2pPr>
            <a:lvl3pPr marL="1143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3pPr>
            <a:lvl4pPr marL="1600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4pPr>
            <a:lvl5pPr marL="20574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5pPr>
            <a:lvl6pPr marL="25146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6pPr>
            <a:lvl7pPr marL="29718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7pPr>
            <a:lvl8pPr marL="3429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8pPr>
            <a:lvl9pPr marL="3886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9pPr>
          </a:lstStyle>
          <a:p>
            <a:pPr algn="ctr"/>
            <a:r>
              <a:rPr lang="pt-BR" sz="2000" dirty="0">
                <a:solidFill>
                  <a:schemeClr val="accent6"/>
                </a:solidFill>
                <a:latin typeface="+mn-lt"/>
              </a:rPr>
              <a:t>MODAL AEROVIÁRIO</a:t>
            </a:r>
          </a:p>
        </p:txBody>
      </p:sp>
    </p:spTree>
    <p:extLst>
      <p:ext uri="{BB962C8B-B14F-4D97-AF65-F5344CB8AC3E}">
        <p14:creationId xmlns:p14="http://schemas.microsoft.com/office/powerpoint/2010/main" val="3159951220"/>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tângulo 3"/>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
        <p:nvSpPr>
          <p:cNvPr id="8" name="Title 1"/>
          <p:cNvSpPr txBox="1">
            <a:spLocks/>
          </p:cNvSpPr>
          <p:nvPr/>
        </p:nvSpPr>
        <p:spPr bwMode="auto">
          <a:xfrm>
            <a:off x="2702982" y="822118"/>
            <a:ext cx="6786036" cy="4005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noAutofit/>
          </a:bodyPr>
          <a:lstStyle>
            <a:lvl1pPr algn="l" defTabSz="449263" rtl="0" eaLnBrk="1" fontAlgn="base" hangingPunct="1">
              <a:spcBef>
                <a:spcPct val="0"/>
              </a:spcBef>
              <a:spcAft>
                <a:spcPct val="0"/>
              </a:spcAft>
              <a:buClr>
                <a:srgbClr val="000000"/>
              </a:buClr>
              <a:buSzPct val="100000"/>
              <a:buFont typeface="Times New Roman" panose="02020603050405020304" pitchFamily="18" charset="0"/>
              <a:defRPr sz="4100" b="1" kern="1200">
                <a:solidFill>
                  <a:srgbClr val="464646"/>
                </a:solidFill>
                <a:latin typeface="+mj-lt"/>
                <a:ea typeface="+mj-ea"/>
                <a:cs typeface="+mj-cs"/>
              </a:defRPr>
            </a:lvl1pPr>
            <a:lvl2pPr marL="742950" indent="-28575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2pPr>
            <a:lvl3pPr marL="1143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3pPr>
            <a:lvl4pPr marL="1600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4pPr>
            <a:lvl5pPr marL="20574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5pPr>
            <a:lvl6pPr marL="25146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6pPr>
            <a:lvl7pPr marL="29718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7pPr>
            <a:lvl8pPr marL="3429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8pPr>
            <a:lvl9pPr marL="3886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9pPr>
          </a:lstStyle>
          <a:p>
            <a:pPr algn="ctr"/>
            <a:r>
              <a:rPr lang="pt-BR" sz="2000" dirty="0">
                <a:solidFill>
                  <a:schemeClr val="accent6"/>
                </a:solidFill>
                <a:latin typeface="+mn-lt"/>
              </a:rPr>
              <a:t>MODAL AEROVIÁRIO</a:t>
            </a:r>
          </a:p>
        </p:txBody>
      </p:sp>
      <p:graphicFrame>
        <p:nvGraphicFramePr>
          <p:cNvPr id="5" name="Tabela 4"/>
          <p:cNvGraphicFramePr>
            <a:graphicFrameLocks noGrp="1"/>
          </p:cNvGraphicFramePr>
          <p:nvPr/>
        </p:nvGraphicFramePr>
        <p:xfrm>
          <a:off x="1214034" y="2469181"/>
          <a:ext cx="9763932" cy="2790170"/>
        </p:xfrm>
        <a:graphic>
          <a:graphicData uri="http://schemas.openxmlformats.org/drawingml/2006/table">
            <a:tbl>
              <a:tblPr>
                <a:tableStyleId>{5DA37D80-6434-44D0-A028-1B22A696006F}</a:tableStyleId>
              </a:tblPr>
              <a:tblGrid>
                <a:gridCol w="4881966">
                  <a:extLst>
                    <a:ext uri="{9D8B030D-6E8A-4147-A177-3AD203B41FA5}">
                      <a16:colId xmlns:a16="http://schemas.microsoft.com/office/drawing/2014/main" val="20000"/>
                    </a:ext>
                  </a:extLst>
                </a:gridCol>
                <a:gridCol w="4881966">
                  <a:extLst>
                    <a:ext uri="{9D8B030D-6E8A-4147-A177-3AD203B41FA5}">
                      <a16:colId xmlns:a16="http://schemas.microsoft.com/office/drawing/2014/main" val="20001"/>
                    </a:ext>
                  </a:extLst>
                </a:gridCol>
              </a:tblGrid>
              <a:tr h="352888">
                <a:tc>
                  <a:txBody>
                    <a:bodyPr/>
                    <a:lstStyle/>
                    <a:p>
                      <a:pPr marL="0" algn="ctr" defTabSz="914400" rtl="0" eaLnBrk="1" latinLnBrk="0" hangingPunct="1"/>
                      <a:r>
                        <a:rPr lang="pt-BR" sz="1800" kern="1200" dirty="0">
                          <a:solidFill>
                            <a:schemeClr val="bg1"/>
                          </a:solidFill>
                          <a:latin typeface="+mn-lt"/>
                          <a:ea typeface="+mn-ea"/>
                          <a:cs typeface="+mn-cs"/>
                        </a:rPr>
                        <a:t>VANTAGENS    </a:t>
                      </a:r>
                    </a:p>
                  </a:txBody>
                  <a:tcPr anchor="ctr">
                    <a:solidFill>
                      <a:schemeClr val="accent2">
                        <a:lumMod val="75000"/>
                      </a:schemeClr>
                    </a:solidFill>
                  </a:tcPr>
                </a:tc>
                <a:tc>
                  <a:txBody>
                    <a:bodyPr/>
                    <a:lstStyle/>
                    <a:p>
                      <a:pPr marL="0" algn="ctr" defTabSz="914400" rtl="0" eaLnBrk="1" latinLnBrk="0" hangingPunct="1"/>
                      <a:r>
                        <a:rPr lang="pt-BR" sz="1800" kern="1200" dirty="0">
                          <a:solidFill>
                            <a:schemeClr val="bg1"/>
                          </a:solidFill>
                          <a:latin typeface="+mn-lt"/>
                          <a:ea typeface="+mn-ea"/>
                          <a:cs typeface="+mn-cs"/>
                        </a:rPr>
                        <a:t>DESVANTAGENS</a:t>
                      </a:r>
                    </a:p>
                  </a:txBody>
                  <a:tcPr anchor="ctr">
                    <a:solidFill>
                      <a:schemeClr val="accent2">
                        <a:lumMod val="75000"/>
                      </a:schemeClr>
                    </a:solidFill>
                  </a:tcPr>
                </a:tc>
                <a:extLst>
                  <a:ext uri="{0D108BD9-81ED-4DB2-BD59-A6C34878D82A}">
                    <a16:rowId xmlns:a16="http://schemas.microsoft.com/office/drawing/2014/main" val="10000"/>
                  </a:ext>
                </a:extLst>
              </a:tr>
              <a:tr h="655246">
                <a:tc>
                  <a:txBody>
                    <a:bodyPr/>
                    <a:lstStyle/>
                    <a:p>
                      <a:r>
                        <a:rPr lang="pt-BR" dirty="0">
                          <a:solidFill>
                            <a:schemeClr val="accent6"/>
                          </a:solidFill>
                        </a:rPr>
                        <a:t>Transporte de grandes distâncias.</a:t>
                      </a:r>
                    </a:p>
                  </a:txBody>
                  <a:tcPr anchor="ctr"/>
                </a:tc>
                <a:tc>
                  <a:txBody>
                    <a:bodyPr/>
                    <a:lstStyle/>
                    <a:p>
                      <a:r>
                        <a:rPr lang="pt-BR">
                          <a:solidFill>
                            <a:schemeClr val="accent6"/>
                          </a:solidFill>
                        </a:rPr>
                        <a:t>Limite de volume e peso.</a:t>
                      </a:r>
                    </a:p>
                  </a:txBody>
                  <a:tcPr anchor="ctr"/>
                </a:tc>
                <a:extLst>
                  <a:ext uri="{0D108BD9-81ED-4DB2-BD59-A6C34878D82A}">
                    <a16:rowId xmlns:a16="http://schemas.microsoft.com/office/drawing/2014/main" val="10001"/>
                  </a:ext>
                </a:extLst>
              </a:tr>
              <a:tr h="458672">
                <a:tc>
                  <a:txBody>
                    <a:bodyPr/>
                    <a:lstStyle/>
                    <a:p>
                      <a:r>
                        <a:rPr lang="pt-BR" dirty="0">
                          <a:solidFill>
                            <a:schemeClr val="accent6"/>
                          </a:solidFill>
                        </a:rPr>
                        <a:t>Tempo de trânsito muito curto.</a:t>
                      </a:r>
                    </a:p>
                  </a:txBody>
                  <a:tcPr anchor="ctr"/>
                </a:tc>
                <a:tc>
                  <a:txBody>
                    <a:bodyPr/>
                    <a:lstStyle/>
                    <a:p>
                      <a:r>
                        <a:rPr lang="pt-BR" dirty="0">
                          <a:solidFill>
                            <a:schemeClr val="accent6"/>
                          </a:solidFill>
                        </a:rPr>
                        <a:t>Frete elevado.</a:t>
                      </a:r>
                    </a:p>
                  </a:txBody>
                  <a:tcPr anchor="ctr"/>
                </a:tc>
                <a:extLst>
                  <a:ext uri="{0D108BD9-81ED-4DB2-BD59-A6C34878D82A}">
                    <a16:rowId xmlns:a16="http://schemas.microsoft.com/office/drawing/2014/main" val="10002"/>
                  </a:ext>
                </a:extLst>
              </a:tr>
              <a:tr h="458672">
                <a:tc>
                  <a:txBody>
                    <a:bodyPr/>
                    <a:lstStyle/>
                    <a:p>
                      <a:r>
                        <a:rPr lang="pt-BR" dirty="0">
                          <a:solidFill>
                            <a:schemeClr val="accent6"/>
                          </a:solidFill>
                        </a:rPr>
                        <a:t>Seguro de transporte é muito baixo.</a:t>
                      </a:r>
                    </a:p>
                  </a:txBody>
                  <a:tcPr anchor="ctr"/>
                </a:tc>
                <a:tc>
                  <a:txBody>
                    <a:bodyPr/>
                    <a:lstStyle/>
                    <a:p>
                      <a:r>
                        <a:rPr lang="pt-BR" dirty="0">
                          <a:solidFill>
                            <a:schemeClr val="accent6"/>
                          </a:solidFill>
                        </a:rPr>
                        <a:t>Depende de terminais de acesso.</a:t>
                      </a:r>
                    </a:p>
                  </a:txBody>
                  <a:tcPr anchor="ctr"/>
                </a:tc>
                <a:extLst>
                  <a:ext uri="{0D108BD9-81ED-4DB2-BD59-A6C34878D82A}">
                    <a16:rowId xmlns:a16="http://schemas.microsoft.com/office/drawing/2014/main" val="10003"/>
                  </a:ext>
                </a:extLst>
              </a:tr>
              <a:tr h="851820">
                <a:tc>
                  <a:txBody>
                    <a:bodyPr/>
                    <a:lstStyle/>
                    <a:p>
                      <a:r>
                        <a:rPr lang="pt-BR">
                          <a:solidFill>
                            <a:schemeClr val="accent6"/>
                          </a:solidFill>
                        </a:rPr>
                        <a:t>Está proximo aos centros urbanos.</a:t>
                      </a:r>
                    </a:p>
                  </a:txBody>
                  <a:tcPr anchor="ctr"/>
                </a:tc>
                <a:tc>
                  <a:txBody>
                    <a:bodyPr/>
                    <a:lstStyle/>
                    <a:p>
                      <a:r>
                        <a:rPr lang="pt-BR" dirty="0">
                          <a:solidFill>
                            <a:schemeClr val="accent6"/>
                          </a:solidFill>
                        </a:rPr>
                        <a:t> </a:t>
                      </a:r>
                    </a:p>
                  </a:txBody>
                  <a:tcPr anchor="ctr">
                    <a:lnR w="12700" cmpd="sng">
                      <a:noFill/>
                    </a:lnR>
                    <a:lnB w="12700" cmpd="sng">
                      <a:noFill/>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167100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tângulo 3"/>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
        <p:nvSpPr>
          <p:cNvPr id="8" name="Title 1"/>
          <p:cNvSpPr txBox="1">
            <a:spLocks/>
          </p:cNvSpPr>
          <p:nvPr/>
        </p:nvSpPr>
        <p:spPr bwMode="auto">
          <a:xfrm>
            <a:off x="2702982" y="822118"/>
            <a:ext cx="6786036" cy="4005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noAutofit/>
          </a:bodyPr>
          <a:lstStyle>
            <a:lvl1pPr algn="l" defTabSz="449263" rtl="0" eaLnBrk="1" fontAlgn="base" hangingPunct="1">
              <a:spcBef>
                <a:spcPct val="0"/>
              </a:spcBef>
              <a:spcAft>
                <a:spcPct val="0"/>
              </a:spcAft>
              <a:buClr>
                <a:srgbClr val="000000"/>
              </a:buClr>
              <a:buSzPct val="100000"/>
              <a:buFont typeface="Times New Roman" panose="02020603050405020304" pitchFamily="18" charset="0"/>
              <a:defRPr sz="4100" b="1" kern="1200">
                <a:solidFill>
                  <a:srgbClr val="464646"/>
                </a:solidFill>
                <a:latin typeface="+mj-lt"/>
                <a:ea typeface="+mj-ea"/>
                <a:cs typeface="+mj-cs"/>
              </a:defRPr>
            </a:lvl1pPr>
            <a:lvl2pPr marL="742950" indent="-28575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2pPr>
            <a:lvl3pPr marL="1143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3pPr>
            <a:lvl4pPr marL="1600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4pPr>
            <a:lvl5pPr marL="20574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5pPr>
            <a:lvl6pPr marL="25146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6pPr>
            <a:lvl7pPr marL="29718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7pPr>
            <a:lvl8pPr marL="3429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8pPr>
            <a:lvl9pPr marL="3886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9pPr>
          </a:lstStyle>
          <a:p>
            <a:pPr algn="ctr"/>
            <a:r>
              <a:rPr lang="pt-BR" sz="2000" dirty="0">
                <a:solidFill>
                  <a:schemeClr val="accent6"/>
                </a:solidFill>
                <a:latin typeface="+mn-lt"/>
              </a:rPr>
              <a:t>MODAL DUTOVIÁRIO</a:t>
            </a:r>
          </a:p>
        </p:txBody>
      </p:sp>
      <p:sp>
        <p:nvSpPr>
          <p:cNvPr id="6" name="TextBox 5"/>
          <p:cNvSpPr txBox="1"/>
          <p:nvPr/>
        </p:nvSpPr>
        <p:spPr>
          <a:xfrm>
            <a:off x="2099556" y="2070092"/>
            <a:ext cx="5431544" cy="1815882"/>
          </a:xfrm>
          <a:prstGeom prst="rect">
            <a:avLst/>
          </a:prstGeom>
          <a:noFill/>
        </p:spPr>
        <p:txBody>
          <a:bodyPr wrap="square" rtlCol="0">
            <a:spAutoFit/>
          </a:bodyPr>
          <a:lstStyle/>
          <a:p>
            <a:pPr algn="just"/>
            <a:r>
              <a:rPr lang="pt-BR" sz="1600" dirty="0">
                <a:solidFill>
                  <a:schemeClr val="accent6"/>
                </a:solidFill>
                <a:cs typeface="Helvetica Neue"/>
              </a:rPr>
              <a:t>Utilizado no transporte de gases, líquidos ou minérios por meio de tubos. Os tubos podem ser submarinos, subterrâneos ou terrestres.</a:t>
            </a:r>
          </a:p>
          <a:p>
            <a:pPr algn="just"/>
            <a:endParaRPr lang="pt-BR" sz="1600" dirty="0">
              <a:solidFill>
                <a:schemeClr val="accent6"/>
              </a:solidFill>
              <a:cs typeface="Helvetica Neue"/>
            </a:endParaRPr>
          </a:p>
          <a:p>
            <a:pPr algn="just"/>
            <a:r>
              <a:rPr lang="pt-BR" sz="1600" dirty="0">
                <a:solidFill>
                  <a:schemeClr val="accent6"/>
                </a:solidFill>
                <a:cs typeface="Helvetica Neue"/>
              </a:rPr>
              <a:t>As únicas tubovias de petróleo, de seus derivados e de álcool do Brasil são da </a:t>
            </a:r>
            <a:r>
              <a:rPr lang="pt-BR" sz="1600" b="1" dirty="0">
                <a:solidFill>
                  <a:schemeClr val="accent6"/>
                </a:solidFill>
                <a:cs typeface="Helvetica Neue"/>
              </a:rPr>
              <a:t>Transpetro </a:t>
            </a:r>
            <a:r>
              <a:rPr lang="pt-BR" sz="1600" dirty="0">
                <a:solidFill>
                  <a:schemeClr val="accent6"/>
                </a:solidFill>
                <a:cs typeface="Helvetica Neue"/>
              </a:rPr>
              <a:t>(Petrobras) e contam com cerca de </a:t>
            </a:r>
            <a:r>
              <a:rPr lang="pt-BR" sz="1600" b="1" dirty="0">
                <a:solidFill>
                  <a:schemeClr val="accent6"/>
                </a:solidFill>
                <a:cs typeface="Helvetica Neue"/>
              </a:rPr>
              <a:t>26.000 km de extensão</a:t>
            </a:r>
            <a:r>
              <a:rPr lang="pt-BR" sz="1600" dirty="0">
                <a:solidFill>
                  <a:schemeClr val="accent6"/>
                </a:solidFill>
                <a:cs typeface="Helvetica Neue"/>
              </a:rPr>
              <a:t>.  </a:t>
            </a:r>
          </a:p>
        </p:txBody>
      </p:sp>
      <p:sp>
        <p:nvSpPr>
          <p:cNvPr id="7" name="TextBox 8"/>
          <p:cNvSpPr txBox="1"/>
          <p:nvPr/>
        </p:nvSpPr>
        <p:spPr>
          <a:xfrm>
            <a:off x="2099556" y="4650908"/>
            <a:ext cx="7992888" cy="584775"/>
          </a:xfrm>
          <a:prstGeom prst="rect">
            <a:avLst/>
          </a:prstGeom>
          <a:noFill/>
        </p:spPr>
        <p:txBody>
          <a:bodyPr wrap="square" rtlCol="0">
            <a:spAutoFit/>
          </a:bodyPr>
          <a:lstStyle/>
          <a:p>
            <a:pPr algn="just"/>
            <a:r>
              <a:rPr lang="pt-BR" sz="1600" b="1" dirty="0">
                <a:solidFill>
                  <a:schemeClr val="accent6"/>
                </a:solidFill>
                <a:cs typeface="Helvetica Neue"/>
              </a:rPr>
              <a:t>Oleodutos</a:t>
            </a:r>
            <a:r>
              <a:rPr lang="pt-BR" sz="1600" dirty="0">
                <a:solidFill>
                  <a:schemeClr val="accent6"/>
                </a:solidFill>
                <a:cs typeface="Helvetica Neue"/>
              </a:rPr>
              <a:t>: utilizados para transporte de petróleo bruto e seus derivados, dos terminais portuários e marítimos às refinarias ou centros de distribuição. </a:t>
            </a:r>
          </a:p>
        </p:txBody>
      </p:sp>
      <p:sp>
        <p:nvSpPr>
          <p:cNvPr id="9" name="Rectangle 9"/>
          <p:cNvSpPr/>
          <p:nvPr/>
        </p:nvSpPr>
        <p:spPr>
          <a:xfrm>
            <a:off x="2099556" y="4101485"/>
            <a:ext cx="8111244" cy="338554"/>
          </a:xfrm>
          <a:prstGeom prst="rect">
            <a:avLst/>
          </a:prstGeom>
        </p:spPr>
        <p:txBody>
          <a:bodyPr wrap="square">
            <a:spAutoFit/>
          </a:bodyPr>
          <a:lstStyle/>
          <a:p>
            <a:pPr lvl="0"/>
            <a:r>
              <a:rPr lang="pt-BR" sz="1600" b="1" dirty="0">
                <a:solidFill>
                  <a:schemeClr val="accent6"/>
                </a:solidFill>
                <a:cs typeface="Helvetica Neue"/>
              </a:rPr>
              <a:t>Principais dutos no Brasil</a:t>
            </a:r>
          </a:p>
        </p:txBody>
      </p:sp>
      <p:sp>
        <p:nvSpPr>
          <p:cNvPr id="10" name="TextBox 10"/>
          <p:cNvSpPr txBox="1"/>
          <p:nvPr/>
        </p:nvSpPr>
        <p:spPr>
          <a:xfrm>
            <a:off x="2099556" y="5445292"/>
            <a:ext cx="7992888" cy="830997"/>
          </a:xfrm>
          <a:prstGeom prst="rect">
            <a:avLst/>
          </a:prstGeom>
          <a:noFill/>
        </p:spPr>
        <p:txBody>
          <a:bodyPr wrap="square" rtlCol="0">
            <a:spAutoFit/>
          </a:bodyPr>
          <a:lstStyle/>
          <a:p>
            <a:pPr algn="just"/>
            <a:r>
              <a:rPr lang="pt-BR" sz="1600" b="1" dirty="0">
                <a:solidFill>
                  <a:schemeClr val="accent6"/>
                </a:solidFill>
                <a:cs typeface="Helvetica Neue"/>
              </a:rPr>
              <a:t>Gasodutos</a:t>
            </a:r>
            <a:r>
              <a:rPr lang="pt-BR" sz="1600" dirty="0">
                <a:solidFill>
                  <a:schemeClr val="accent6"/>
                </a:solidFill>
                <a:cs typeface="Helvetica Neue"/>
              </a:rPr>
              <a:t>: utilizados para transporte de gases entre os centros produtores e os centros consumidores. Um exemplo é o gasoduto Bolívia-Brasil, com cerca de 2.000 km de extensão.</a:t>
            </a:r>
          </a:p>
        </p:txBody>
      </p:sp>
      <p:pic>
        <p:nvPicPr>
          <p:cNvPr id="14" name="Picture 6" descr="ThinkstockPhotos-473096826.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62804" y="2070092"/>
            <a:ext cx="3432275" cy="2284609"/>
          </a:xfrm>
          <a:prstGeom prst="rect">
            <a:avLst/>
          </a:prstGeom>
        </p:spPr>
      </p:pic>
    </p:spTree>
    <p:extLst>
      <p:ext uri="{BB962C8B-B14F-4D97-AF65-F5344CB8AC3E}">
        <p14:creationId xmlns:p14="http://schemas.microsoft.com/office/powerpoint/2010/main" val="4041007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1000"/>
                                        <p:tgtEl>
                                          <p:spTgt spid="14"/>
                                        </p:tgtEl>
                                      </p:cBhvr>
                                    </p:animEffect>
                                    <p:anim calcmode="lin" valueType="num">
                                      <p:cBhvr>
                                        <p:cTn id="13" dur="1000" fill="hold"/>
                                        <p:tgtEl>
                                          <p:spTgt spid="14"/>
                                        </p:tgtEl>
                                        <p:attrNameLst>
                                          <p:attrName>ppt_x</p:attrName>
                                        </p:attrNameLst>
                                      </p:cBhvr>
                                      <p:tavLst>
                                        <p:tav tm="0">
                                          <p:val>
                                            <p:strVal val="#ppt_x"/>
                                          </p:val>
                                        </p:tav>
                                        <p:tav tm="100000">
                                          <p:val>
                                            <p:strVal val="#ppt_x"/>
                                          </p:val>
                                        </p:tav>
                                      </p:tavLst>
                                    </p:anim>
                                    <p:anim calcmode="lin" valueType="num">
                                      <p:cBhvr>
                                        <p:cTn id="14"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6">
                                            <p:txEl>
                                              <p:pRg st="0" end="0"/>
                                            </p:txEl>
                                          </p:spTgt>
                                        </p:tgtEl>
                                        <p:attrNameLst>
                                          <p:attrName>style.visibility</p:attrName>
                                        </p:attrNameLst>
                                      </p:cBhvr>
                                      <p:to>
                                        <p:strVal val="visible"/>
                                      </p:to>
                                    </p:set>
                                    <p:animEffect transition="in" filter="fade">
                                      <p:cBhvr>
                                        <p:cTn id="19" dur="1000"/>
                                        <p:tgtEl>
                                          <p:spTgt spid="6">
                                            <p:txEl>
                                              <p:pRg st="0" end="0"/>
                                            </p:txEl>
                                          </p:spTgt>
                                        </p:tgtEl>
                                      </p:cBhvr>
                                    </p:animEffect>
                                    <p:anim calcmode="lin" valueType="num">
                                      <p:cBhvr>
                                        <p:cTn id="20"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21"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6">
                                            <p:txEl>
                                              <p:pRg st="2" end="2"/>
                                            </p:txEl>
                                          </p:spTgt>
                                        </p:tgtEl>
                                        <p:attrNameLst>
                                          <p:attrName>style.visibility</p:attrName>
                                        </p:attrNameLst>
                                      </p:cBhvr>
                                      <p:to>
                                        <p:strVal val="visible"/>
                                      </p:to>
                                    </p:set>
                                    <p:animEffect transition="in" filter="fade">
                                      <p:cBhvr>
                                        <p:cTn id="26" dur="1000"/>
                                        <p:tgtEl>
                                          <p:spTgt spid="6">
                                            <p:txEl>
                                              <p:pRg st="2" end="2"/>
                                            </p:txEl>
                                          </p:spTgt>
                                        </p:tgtEl>
                                      </p:cBhvr>
                                    </p:animEffect>
                                    <p:anim calcmode="lin" valueType="num">
                                      <p:cBhvr>
                                        <p:cTn id="27"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wipe(down)">
                                      <p:cBhvr>
                                        <p:cTn id="33" dur="500"/>
                                        <p:tgtEl>
                                          <p:spTgt spid="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wipe(down)">
                                      <p:cBhvr>
                                        <p:cTn id="38" dur="500"/>
                                        <p:tgtEl>
                                          <p:spTgt spid="7"/>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wipe(down)">
                                      <p:cBhvr>
                                        <p:cTn id="4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6" grpId="0" build="p"/>
      <p:bldP spid="7" grpId="0"/>
      <p:bldP spid="9" grpId="0"/>
      <p:bldP spid="10" grpId="0"/>
    </p:bldLst>
  </p:timing>
</p:sld>
</file>

<file path=ppt/slides/slide1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tângulo 3"/>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
        <p:nvSpPr>
          <p:cNvPr id="8" name="Title 1"/>
          <p:cNvSpPr txBox="1">
            <a:spLocks/>
          </p:cNvSpPr>
          <p:nvPr/>
        </p:nvSpPr>
        <p:spPr bwMode="auto">
          <a:xfrm>
            <a:off x="2702982" y="822118"/>
            <a:ext cx="6786036" cy="4005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noAutofit/>
          </a:bodyPr>
          <a:lstStyle>
            <a:lvl1pPr algn="l" defTabSz="449263" rtl="0" eaLnBrk="1" fontAlgn="base" hangingPunct="1">
              <a:spcBef>
                <a:spcPct val="0"/>
              </a:spcBef>
              <a:spcAft>
                <a:spcPct val="0"/>
              </a:spcAft>
              <a:buClr>
                <a:srgbClr val="000000"/>
              </a:buClr>
              <a:buSzPct val="100000"/>
              <a:buFont typeface="Times New Roman" panose="02020603050405020304" pitchFamily="18" charset="0"/>
              <a:defRPr sz="4100" b="1" kern="1200">
                <a:solidFill>
                  <a:srgbClr val="464646"/>
                </a:solidFill>
                <a:latin typeface="+mj-lt"/>
                <a:ea typeface="+mj-ea"/>
                <a:cs typeface="+mj-cs"/>
              </a:defRPr>
            </a:lvl1pPr>
            <a:lvl2pPr marL="742950" indent="-28575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2pPr>
            <a:lvl3pPr marL="1143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3pPr>
            <a:lvl4pPr marL="1600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4pPr>
            <a:lvl5pPr marL="20574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5pPr>
            <a:lvl6pPr marL="25146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6pPr>
            <a:lvl7pPr marL="29718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7pPr>
            <a:lvl8pPr marL="3429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8pPr>
            <a:lvl9pPr marL="3886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9pPr>
          </a:lstStyle>
          <a:p>
            <a:pPr algn="ctr"/>
            <a:r>
              <a:rPr lang="pt-BR" sz="2000" dirty="0">
                <a:solidFill>
                  <a:schemeClr val="accent6"/>
                </a:solidFill>
                <a:latin typeface="+mn-lt"/>
              </a:rPr>
              <a:t>MODAL DUTOVIÁRIO</a:t>
            </a:r>
          </a:p>
        </p:txBody>
      </p:sp>
      <p:sp>
        <p:nvSpPr>
          <p:cNvPr id="9" name="Rectangle 9"/>
          <p:cNvSpPr/>
          <p:nvPr/>
        </p:nvSpPr>
        <p:spPr>
          <a:xfrm>
            <a:off x="2099556" y="1867026"/>
            <a:ext cx="8111244" cy="338554"/>
          </a:xfrm>
          <a:prstGeom prst="rect">
            <a:avLst/>
          </a:prstGeom>
        </p:spPr>
        <p:txBody>
          <a:bodyPr wrap="square">
            <a:spAutoFit/>
          </a:bodyPr>
          <a:lstStyle/>
          <a:p>
            <a:pPr lvl="0"/>
            <a:r>
              <a:rPr lang="pt-BR" sz="1600" b="1" dirty="0">
                <a:solidFill>
                  <a:schemeClr val="accent6"/>
                </a:solidFill>
                <a:cs typeface="Helvetica Neue"/>
              </a:rPr>
              <a:t>Principais dutos no Brasil</a:t>
            </a:r>
          </a:p>
        </p:txBody>
      </p:sp>
      <p:sp>
        <p:nvSpPr>
          <p:cNvPr id="11" name="TextBox 11"/>
          <p:cNvSpPr txBox="1"/>
          <p:nvPr/>
        </p:nvSpPr>
        <p:spPr>
          <a:xfrm>
            <a:off x="2099556" y="2378920"/>
            <a:ext cx="7992888" cy="1077218"/>
          </a:xfrm>
          <a:prstGeom prst="rect">
            <a:avLst/>
          </a:prstGeom>
          <a:solidFill>
            <a:srgbClr val="FFFFFF"/>
          </a:solidFill>
        </p:spPr>
        <p:txBody>
          <a:bodyPr wrap="square" rtlCol="0">
            <a:spAutoFit/>
          </a:bodyPr>
          <a:lstStyle/>
          <a:p>
            <a:pPr algn="just"/>
            <a:r>
              <a:rPr lang="pt-BR" sz="1600" b="1" dirty="0">
                <a:solidFill>
                  <a:schemeClr val="accent6"/>
                </a:solidFill>
                <a:cs typeface="Helvetica Neue"/>
              </a:rPr>
              <a:t>Minerodutos</a:t>
            </a:r>
            <a:r>
              <a:rPr lang="pt-BR" sz="1600" dirty="0">
                <a:solidFill>
                  <a:schemeClr val="accent6"/>
                </a:solidFill>
                <a:cs typeface="Helvetica Neue"/>
              </a:rPr>
              <a:t>: utilizados para transporte de minérios entre regiões produtoras e usinas siderúrgicas ou terminais portuários. O único existente no país conta com 396 km de extensão e interliga a unidade produtora em Germano (Minas Gerais) e o terminal portuário do </a:t>
            </a:r>
            <a:r>
              <a:rPr lang="pt-BR" sz="1600" dirty="0" err="1">
                <a:solidFill>
                  <a:schemeClr val="accent6"/>
                </a:solidFill>
                <a:cs typeface="Helvetica Neue"/>
              </a:rPr>
              <a:t>Ubu</a:t>
            </a:r>
            <a:r>
              <a:rPr lang="pt-BR" sz="1600" dirty="0">
                <a:solidFill>
                  <a:schemeClr val="accent6"/>
                </a:solidFill>
                <a:cs typeface="Helvetica Neue"/>
              </a:rPr>
              <a:t> (Espírito Santo).</a:t>
            </a:r>
          </a:p>
        </p:txBody>
      </p:sp>
      <p:sp>
        <p:nvSpPr>
          <p:cNvPr id="12" name="TextBox 13"/>
          <p:cNvSpPr txBox="1"/>
          <p:nvPr/>
        </p:nvSpPr>
        <p:spPr>
          <a:xfrm>
            <a:off x="2099556" y="3747387"/>
            <a:ext cx="4669544" cy="1569660"/>
          </a:xfrm>
          <a:prstGeom prst="rect">
            <a:avLst/>
          </a:prstGeom>
          <a:noFill/>
        </p:spPr>
        <p:txBody>
          <a:bodyPr wrap="square" rtlCol="0">
            <a:spAutoFit/>
          </a:bodyPr>
          <a:lstStyle/>
          <a:p>
            <a:pPr algn="just"/>
            <a:r>
              <a:rPr lang="pt-BR" sz="1600" b="1" dirty="0">
                <a:solidFill>
                  <a:schemeClr val="accent6"/>
                </a:solidFill>
                <a:cs typeface="Helvetica Neue"/>
              </a:rPr>
              <a:t>Dutos de saneamento básico</a:t>
            </a:r>
            <a:r>
              <a:rPr lang="pt-BR" sz="1600" dirty="0">
                <a:solidFill>
                  <a:schemeClr val="accent6"/>
                </a:solidFill>
                <a:cs typeface="Helvetica Neue"/>
              </a:rPr>
              <a:t>: tubulações usadas para levar água dos mananciais até as estações de tratamento, onde será distribuída aos consumidores, e para a captação do esgoto e sua condução a rios, mares ou estações de tratamento.</a:t>
            </a:r>
          </a:p>
        </p:txBody>
      </p:sp>
      <p:pic>
        <p:nvPicPr>
          <p:cNvPr id="13" name="Picture 7" descr="ThinkstockPhotos-177328418.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73900" y="3464264"/>
            <a:ext cx="3746476" cy="2135907"/>
          </a:xfrm>
          <a:prstGeom prst="rect">
            <a:avLst/>
          </a:prstGeom>
        </p:spPr>
      </p:pic>
      <p:sp>
        <p:nvSpPr>
          <p:cNvPr id="2" name="Retângulo 1"/>
          <p:cNvSpPr/>
          <p:nvPr/>
        </p:nvSpPr>
        <p:spPr>
          <a:xfrm>
            <a:off x="2946400" y="5587471"/>
            <a:ext cx="7873976" cy="830997"/>
          </a:xfrm>
          <a:prstGeom prst="rect">
            <a:avLst/>
          </a:prstGeom>
        </p:spPr>
        <p:txBody>
          <a:bodyPr wrap="square">
            <a:spAutoFit/>
          </a:bodyPr>
          <a:lstStyle/>
          <a:p>
            <a:r>
              <a:rPr lang="pt-BR" sz="1600" b="1" i="1" dirty="0">
                <a:solidFill>
                  <a:schemeClr val="accent6"/>
                </a:solidFill>
                <a:cs typeface="Helvetica Neue"/>
              </a:rPr>
              <a:t>Mapa da malha </a:t>
            </a:r>
            <a:r>
              <a:rPr lang="pt-BR" sz="1600" b="1" i="1" dirty="0" err="1">
                <a:solidFill>
                  <a:schemeClr val="accent6"/>
                </a:solidFill>
                <a:cs typeface="Helvetica Neue"/>
              </a:rPr>
              <a:t>dutoviária</a:t>
            </a:r>
            <a:r>
              <a:rPr lang="pt-BR" sz="1600" dirty="0">
                <a:solidFill>
                  <a:schemeClr val="accent6"/>
                </a:solidFill>
                <a:cs typeface="Helvetica Neue"/>
              </a:rPr>
              <a:t>:</a:t>
            </a:r>
          </a:p>
          <a:p>
            <a:r>
              <a:rPr lang="pt-BR" sz="1600" dirty="0">
                <a:solidFill>
                  <a:schemeClr val="accent6"/>
                </a:solidFill>
                <a:cs typeface="Helvetica Neue"/>
                <a:hlinkClick r:id="rId3"/>
              </a:rPr>
              <a:t>www.transportes.gov.br/</a:t>
            </a:r>
            <a:r>
              <a:rPr lang="pt-BR" sz="1600" dirty="0" err="1">
                <a:solidFill>
                  <a:schemeClr val="accent6"/>
                </a:solidFill>
                <a:cs typeface="Helvetica Neue"/>
                <a:hlinkClick r:id="rId3"/>
              </a:rPr>
              <a:t>images</a:t>
            </a:r>
            <a:r>
              <a:rPr lang="pt-BR" sz="1600" dirty="0">
                <a:solidFill>
                  <a:schemeClr val="accent6"/>
                </a:solidFill>
                <a:cs typeface="Helvetica Neue"/>
                <a:hlinkClick r:id="rId3"/>
              </a:rPr>
              <a:t>/bit/</a:t>
            </a:r>
            <a:r>
              <a:rPr lang="pt-BR" sz="1600" dirty="0" err="1">
                <a:solidFill>
                  <a:schemeClr val="accent6"/>
                </a:solidFill>
                <a:cs typeface="Helvetica Neue"/>
                <a:hlinkClick r:id="rId3"/>
              </a:rPr>
              <a:t>Tabelas_Anuário_Estatístico_de_Transportes</a:t>
            </a:r>
            <a:r>
              <a:rPr lang="pt-BR" sz="1600" dirty="0">
                <a:solidFill>
                  <a:schemeClr val="accent6"/>
                </a:solidFill>
                <a:cs typeface="Helvetica Neue"/>
                <a:hlinkClick r:id="rId3"/>
              </a:rPr>
              <a:t>/10_Mapas/MapaDutoviario.pdf</a:t>
            </a:r>
            <a:endParaRPr lang="pt-BR" sz="1600" dirty="0"/>
          </a:p>
        </p:txBody>
      </p:sp>
    </p:spTree>
    <p:extLst>
      <p:ext uri="{BB962C8B-B14F-4D97-AF65-F5344CB8AC3E}">
        <p14:creationId xmlns:p14="http://schemas.microsoft.com/office/powerpoint/2010/main" val="2390418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32"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diamond(out)">
                                      <p:cBhvr>
                                        <p:cTn id="7" dur="20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down)">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down)">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down)">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barn(inVertical)">
                                      <p:cBhvr>
                                        <p:cTn id="2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animBg="1"/>
      <p:bldP spid="12" grpId="0"/>
      <p:bldP spid="2" grpId="0"/>
    </p:bldLst>
  </p:timing>
</p:sld>
</file>

<file path=ppt/slides/slide1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Retângulo de cantos arredondados 6"/>
          <p:cNvSpPr/>
          <p:nvPr/>
        </p:nvSpPr>
        <p:spPr>
          <a:xfrm>
            <a:off x="10798139" y="6741926"/>
            <a:ext cx="555661" cy="474486"/>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9" name="Imagem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951" y="1222650"/>
            <a:ext cx="6874224" cy="4728369"/>
          </a:xfrm>
          <a:prstGeom prst="rect">
            <a:avLst/>
          </a:prstGeom>
        </p:spPr>
      </p:pic>
      <p:sp>
        <p:nvSpPr>
          <p:cNvPr id="10" name="Espaço Reservado para Conteúdo 2"/>
          <p:cNvSpPr txBox="1">
            <a:spLocks/>
          </p:cNvSpPr>
          <p:nvPr/>
        </p:nvSpPr>
        <p:spPr>
          <a:xfrm>
            <a:off x="8155302" y="1836132"/>
            <a:ext cx="2667432" cy="42832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pt-BR" sz="1800" b="1" dirty="0">
                <a:solidFill>
                  <a:schemeClr val="accent6"/>
                </a:solidFill>
              </a:rPr>
              <a:t>DUTOVIA DO ETANOL</a:t>
            </a:r>
          </a:p>
        </p:txBody>
      </p:sp>
      <p:sp>
        <p:nvSpPr>
          <p:cNvPr id="11" name="Espaço Reservado para Conteúdo 2"/>
          <p:cNvSpPr txBox="1">
            <a:spLocks/>
          </p:cNvSpPr>
          <p:nvPr/>
        </p:nvSpPr>
        <p:spPr>
          <a:xfrm>
            <a:off x="7200900" y="2412192"/>
            <a:ext cx="4523470" cy="2382296"/>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anose="05000000000000000000" pitchFamily="2" charset="2"/>
              <a:buChar char="q"/>
            </a:pPr>
            <a:r>
              <a:rPr lang="pt-BR" sz="1800" dirty="0">
                <a:solidFill>
                  <a:schemeClr val="accent6"/>
                </a:solidFill>
              </a:rPr>
              <a:t>Atualmente em operação de Uberaba a Paulínia.</a:t>
            </a:r>
          </a:p>
          <a:p>
            <a:pPr marL="0" indent="0">
              <a:buNone/>
            </a:pPr>
            <a:endParaRPr lang="pt-BR" sz="1800" dirty="0">
              <a:solidFill>
                <a:schemeClr val="accent6"/>
              </a:solidFill>
            </a:endParaRPr>
          </a:p>
          <a:p>
            <a:pPr>
              <a:buFont typeface="Wingdings" panose="05000000000000000000" pitchFamily="2" charset="2"/>
              <a:buChar char="q"/>
            </a:pPr>
            <a:r>
              <a:rPr lang="pt-BR" sz="1800" dirty="0">
                <a:solidFill>
                  <a:schemeClr val="accent6"/>
                </a:solidFill>
              </a:rPr>
              <a:t>350 km de extensão, sendo 288 km com tubulação enterrada;</a:t>
            </a:r>
          </a:p>
          <a:p>
            <a:pPr marL="0" indent="0">
              <a:buNone/>
            </a:pPr>
            <a:endParaRPr lang="pt-BR" sz="1800" dirty="0">
              <a:solidFill>
                <a:schemeClr val="accent6"/>
              </a:solidFill>
            </a:endParaRPr>
          </a:p>
          <a:p>
            <a:pPr>
              <a:buFont typeface="Wingdings" panose="05000000000000000000" pitchFamily="2" charset="2"/>
              <a:buChar char="q"/>
            </a:pPr>
            <a:r>
              <a:rPr lang="pt-BR" sz="1800" dirty="0">
                <a:solidFill>
                  <a:schemeClr val="accent6"/>
                </a:solidFill>
              </a:rPr>
              <a:t>21 milhões de metros cúbicos de etanol por ano;</a:t>
            </a:r>
          </a:p>
        </p:txBody>
      </p:sp>
      <p:cxnSp>
        <p:nvCxnSpPr>
          <p:cNvPr id="8" name="Conector reto 7"/>
          <p:cNvCxnSpPr/>
          <p:nvPr/>
        </p:nvCxnSpPr>
        <p:spPr>
          <a:xfrm>
            <a:off x="7396843" y="5372753"/>
            <a:ext cx="114300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4" name="Conector reto 13"/>
          <p:cNvCxnSpPr/>
          <p:nvPr/>
        </p:nvCxnSpPr>
        <p:spPr>
          <a:xfrm>
            <a:off x="7396843" y="5781742"/>
            <a:ext cx="1143000" cy="0"/>
          </a:xfrm>
          <a:prstGeom prst="line">
            <a:avLst/>
          </a:prstGeom>
          <a:ln w="76200">
            <a:solidFill>
              <a:schemeClr val="accent3">
                <a:lumMod val="50000"/>
              </a:schemeClr>
            </a:solidFill>
          </a:ln>
          <a:effectLst>
            <a:outerShdw blurRad="50800" dist="38100" dir="16200000"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5" name="Retângulo 14"/>
          <p:cNvSpPr/>
          <p:nvPr/>
        </p:nvSpPr>
        <p:spPr>
          <a:xfrm>
            <a:off x="8694361" y="5203476"/>
            <a:ext cx="1237839" cy="338554"/>
          </a:xfrm>
          <a:prstGeom prst="rect">
            <a:avLst/>
          </a:prstGeom>
        </p:spPr>
        <p:txBody>
          <a:bodyPr wrap="none">
            <a:spAutoFit/>
          </a:bodyPr>
          <a:lstStyle/>
          <a:p>
            <a:r>
              <a:rPr lang="pt-BR" sz="1600" dirty="0">
                <a:solidFill>
                  <a:schemeClr val="accent6"/>
                </a:solidFill>
              </a:rPr>
              <a:t>HIDROVIA </a:t>
            </a:r>
            <a:endParaRPr lang="pt-BR" sz="1600" dirty="0"/>
          </a:p>
        </p:txBody>
      </p:sp>
      <p:sp>
        <p:nvSpPr>
          <p:cNvPr id="16" name="Retângulo 15"/>
          <p:cNvSpPr/>
          <p:nvPr/>
        </p:nvSpPr>
        <p:spPr>
          <a:xfrm>
            <a:off x="8694361" y="5612465"/>
            <a:ext cx="1170513" cy="338554"/>
          </a:xfrm>
          <a:prstGeom prst="rect">
            <a:avLst/>
          </a:prstGeom>
        </p:spPr>
        <p:txBody>
          <a:bodyPr wrap="none">
            <a:spAutoFit/>
          </a:bodyPr>
          <a:lstStyle/>
          <a:p>
            <a:r>
              <a:rPr lang="pt-BR" sz="1600" dirty="0">
                <a:solidFill>
                  <a:schemeClr val="accent6"/>
                </a:solidFill>
              </a:rPr>
              <a:t>DUTOVIA </a:t>
            </a:r>
            <a:endParaRPr lang="pt-BR" sz="1600" dirty="0"/>
          </a:p>
        </p:txBody>
      </p:sp>
      <p:sp>
        <p:nvSpPr>
          <p:cNvPr id="17" name="Retângulo 16"/>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
        <p:nvSpPr>
          <p:cNvPr id="18" name="Title 1"/>
          <p:cNvSpPr txBox="1">
            <a:spLocks/>
          </p:cNvSpPr>
          <p:nvPr/>
        </p:nvSpPr>
        <p:spPr bwMode="auto">
          <a:xfrm>
            <a:off x="2702982" y="822118"/>
            <a:ext cx="6786036" cy="4005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noAutofit/>
          </a:bodyPr>
          <a:lstStyle>
            <a:lvl1pPr algn="l" defTabSz="449263" rtl="0" eaLnBrk="1" fontAlgn="base" hangingPunct="1">
              <a:spcBef>
                <a:spcPct val="0"/>
              </a:spcBef>
              <a:spcAft>
                <a:spcPct val="0"/>
              </a:spcAft>
              <a:buClr>
                <a:srgbClr val="000000"/>
              </a:buClr>
              <a:buSzPct val="100000"/>
              <a:buFont typeface="Times New Roman" panose="02020603050405020304" pitchFamily="18" charset="0"/>
              <a:defRPr sz="4100" b="1" kern="1200">
                <a:solidFill>
                  <a:srgbClr val="464646"/>
                </a:solidFill>
                <a:latin typeface="+mj-lt"/>
                <a:ea typeface="+mj-ea"/>
                <a:cs typeface="+mj-cs"/>
              </a:defRPr>
            </a:lvl1pPr>
            <a:lvl2pPr marL="742950" indent="-28575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2pPr>
            <a:lvl3pPr marL="1143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3pPr>
            <a:lvl4pPr marL="1600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4pPr>
            <a:lvl5pPr marL="20574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5pPr>
            <a:lvl6pPr marL="25146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6pPr>
            <a:lvl7pPr marL="29718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7pPr>
            <a:lvl8pPr marL="3429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8pPr>
            <a:lvl9pPr marL="3886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9pPr>
          </a:lstStyle>
          <a:p>
            <a:pPr algn="ctr"/>
            <a:r>
              <a:rPr lang="pt-BR" sz="2000" dirty="0">
                <a:solidFill>
                  <a:schemeClr val="accent6"/>
                </a:solidFill>
                <a:latin typeface="+mn-lt"/>
              </a:rPr>
              <a:t>MODAL DUTOVIÁRIO</a:t>
            </a:r>
          </a:p>
        </p:txBody>
      </p:sp>
    </p:spTree>
    <p:extLst>
      <p:ext uri="{BB962C8B-B14F-4D97-AF65-F5344CB8AC3E}">
        <p14:creationId xmlns:p14="http://schemas.microsoft.com/office/powerpoint/2010/main" val="1819628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22" presetClass="entr" presetSubtype="8" fill="hold" nodeType="after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ipe(left)">
                                      <p:cBhvr>
                                        <p:cTn id="18" dur="500"/>
                                        <p:tgtEl>
                                          <p:spTgt spid="9"/>
                                        </p:tgtEl>
                                      </p:cBhvr>
                                    </p:animEffect>
                                  </p:childTnLst>
                                </p:cTn>
                              </p:par>
                              <p:par>
                                <p:cTn id="19" presetID="10"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5" grpId="0"/>
      <p:bldP spid="16" grpId="0"/>
    </p:bldLst>
  </p:timing>
</p:sld>
</file>

<file path=ppt/slides/slide1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tângulo 3"/>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
        <p:nvSpPr>
          <p:cNvPr id="8" name="Title 1"/>
          <p:cNvSpPr txBox="1">
            <a:spLocks/>
          </p:cNvSpPr>
          <p:nvPr/>
        </p:nvSpPr>
        <p:spPr bwMode="auto">
          <a:xfrm>
            <a:off x="2702982" y="822118"/>
            <a:ext cx="6786036" cy="4005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noAutofit/>
          </a:bodyPr>
          <a:lstStyle>
            <a:lvl1pPr algn="l" defTabSz="449263" rtl="0" eaLnBrk="1" fontAlgn="base" hangingPunct="1">
              <a:spcBef>
                <a:spcPct val="0"/>
              </a:spcBef>
              <a:spcAft>
                <a:spcPct val="0"/>
              </a:spcAft>
              <a:buClr>
                <a:srgbClr val="000000"/>
              </a:buClr>
              <a:buSzPct val="100000"/>
              <a:buFont typeface="Times New Roman" panose="02020603050405020304" pitchFamily="18" charset="0"/>
              <a:defRPr sz="4100" b="1" kern="1200">
                <a:solidFill>
                  <a:srgbClr val="464646"/>
                </a:solidFill>
                <a:latin typeface="+mj-lt"/>
                <a:ea typeface="+mj-ea"/>
                <a:cs typeface="+mj-cs"/>
              </a:defRPr>
            </a:lvl1pPr>
            <a:lvl2pPr marL="742950" indent="-28575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2pPr>
            <a:lvl3pPr marL="1143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3pPr>
            <a:lvl4pPr marL="1600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4pPr>
            <a:lvl5pPr marL="20574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5pPr>
            <a:lvl6pPr marL="25146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6pPr>
            <a:lvl7pPr marL="29718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7pPr>
            <a:lvl8pPr marL="3429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8pPr>
            <a:lvl9pPr marL="3886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9pPr>
          </a:lstStyle>
          <a:p>
            <a:pPr algn="ctr"/>
            <a:r>
              <a:rPr lang="pt-BR" sz="2000" dirty="0">
                <a:solidFill>
                  <a:schemeClr val="accent6"/>
                </a:solidFill>
                <a:latin typeface="+mn-lt"/>
              </a:rPr>
              <a:t>MODAL DUTOVIÁRIO</a:t>
            </a:r>
          </a:p>
        </p:txBody>
      </p:sp>
      <p:sp>
        <p:nvSpPr>
          <p:cNvPr id="5" name="Rectangle 1027"/>
          <p:cNvSpPr>
            <a:spLocks noChangeArrowheads="1"/>
          </p:cNvSpPr>
          <p:nvPr/>
        </p:nvSpPr>
        <p:spPr bwMode="auto">
          <a:xfrm>
            <a:off x="1257300" y="1859535"/>
            <a:ext cx="9385300" cy="402056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cmpd="sng">
                <a:solidFill>
                  <a:srgbClr val="000000"/>
                </a:solidFill>
                <a:prstDash val="solid"/>
                <a:miter lim="800000"/>
                <a:headEnd/>
                <a:tailEnd/>
              </a14:hiddenLine>
            </a:ext>
            <a:ext uri="{AF507438-7753-43e0-B8FC-AC1667EBCBE1}">
              <a14:hiddenEffects xmlns="" xmlns:a14="http://schemas.microsoft.com/office/drawing/2010/main">
                <a:effectLst>
                  <a:outerShdw blurRad="63500" dist="35921" dir="2700000" algn="ctr" rotWithShape="0">
                    <a:srgbClr val="808080"/>
                  </a:outerShdw>
                </a:effectLst>
              </a14:hiddenEffects>
            </a:ext>
          </a:extLst>
        </p:spPr>
        <p:txBody>
          <a:bodyPr/>
          <a:lstStyle/>
          <a:p>
            <a:pPr marL="342900" lvl="1" indent="-342900" algn="just" eaLnBrk="0" hangingPunct="0">
              <a:spcBef>
                <a:spcPts val="300"/>
              </a:spcBef>
              <a:buFont typeface="Courier New" panose="02070309020205020404" pitchFamily="49" charset="0"/>
              <a:buChar char="o"/>
            </a:pPr>
            <a:r>
              <a:rPr kumimoji="1" lang="pt-BR" sz="1600" dirty="0">
                <a:solidFill>
                  <a:schemeClr val="accent6"/>
                </a:solidFill>
                <a:cs typeface="Helvetica Neue"/>
              </a:rPr>
              <a:t>Elevado custo de instalação;</a:t>
            </a:r>
          </a:p>
          <a:p>
            <a:pPr marL="342900" lvl="1" indent="-342900" algn="just" eaLnBrk="0" hangingPunct="0">
              <a:spcBef>
                <a:spcPts val="300"/>
              </a:spcBef>
              <a:buFont typeface="Courier New" panose="02070309020205020404" pitchFamily="49" charset="0"/>
              <a:buChar char="o"/>
            </a:pPr>
            <a:r>
              <a:rPr kumimoji="1" lang="pt-BR" sz="1600" dirty="0">
                <a:solidFill>
                  <a:schemeClr val="accent6"/>
                </a:solidFill>
                <a:cs typeface="Helvetica Neue"/>
              </a:rPr>
              <a:t>Custo de operação e de manutenção baixo;</a:t>
            </a:r>
          </a:p>
          <a:p>
            <a:pPr marL="342900" lvl="1" indent="-342900" algn="just" eaLnBrk="0" hangingPunct="0">
              <a:spcBef>
                <a:spcPts val="300"/>
              </a:spcBef>
              <a:buFont typeface="Courier New" panose="02070309020205020404" pitchFamily="49" charset="0"/>
              <a:buChar char="o"/>
            </a:pPr>
            <a:r>
              <a:rPr kumimoji="1" lang="pt-BR" sz="1600" dirty="0">
                <a:solidFill>
                  <a:schemeClr val="accent6"/>
                </a:solidFill>
                <a:cs typeface="Helvetica Neue"/>
              </a:rPr>
              <a:t>Vida útil longa;</a:t>
            </a:r>
          </a:p>
          <a:p>
            <a:pPr marL="342900" lvl="1" indent="-342900" algn="just" eaLnBrk="0" hangingPunct="0">
              <a:spcBef>
                <a:spcPts val="300"/>
              </a:spcBef>
              <a:buFont typeface="Courier New" panose="02070309020205020404" pitchFamily="49" charset="0"/>
              <a:buChar char="o"/>
            </a:pPr>
            <a:r>
              <a:rPr kumimoji="1" lang="pt-BR" sz="1600" dirty="0">
                <a:solidFill>
                  <a:schemeClr val="accent6"/>
                </a:solidFill>
                <a:cs typeface="Helvetica Neue"/>
              </a:rPr>
              <a:t>Rápido;</a:t>
            </a:r>
          </a:p>
          <a:p>
            <a:pPr marL="342900" lvl="1" indent="-342900" algn="just" eaLnBrk="0" hangingPunct="0">
              <a:spcBef>
                <a:spcPts val="300"/>
              </a:spcBef>
              <a:buFont typeface="Courier New" panose="02070309020205020404" pitchFamily="49" charset="0"/>
              <a:buChar char="o"/>
            </a:pPr>
            <a:r>
              <a:rPr kumimoji="1" lang="pt-BR" sz="1600" dirty="0">
                <a:solidFill>
                  <a:schemeClr val="accent6"/>
                </a:solidFill>
                <a:cs typeface="Helvetica Neue"/>
              </a:rPr>
              <a:t>Os tipos de produtos que podem ser utilizados neste modal são restritos;</a:t>
            </a:r>
          </a:p>
          <a:p>
            <a:pPr marL="342900" lvl="1" indent="-342900" algn="just" eaLnBrk="0" hangingPunct="0">
              <a:spcBef>
                <a:spcPts val="300"/>
              </a:spcBef>
              <a:buFont typeface="Courier New" panose="02070309020205020404" pitchFamily="49" charset="0"/>
              <a:buChar char="o"/>
            </a:pPr>
            <a:r>
              <a:rPr kumimoji="1" lang="pt-BR" sz="1600" dirty="0">
                <a:solidFill>
                  <a:schemeClr val="accent6"/>
                </a:solidFill>
                <a:cs typeface="Helvetica Neue"/>
              </a:rPr>
              <a:t>A </a:t>
            </a:r>
            <a:r>
              <a:rPr kumimoji="1" lang="pt-BR" sz="1600" dirty="0" err="1">
                <a:solidFill>
                  <a:schemeClr val="accent6"/>
                </a:solidFill>
                <a:cs typeface="Helvetica Neue"/>
              </a:rPr>
              <a:t>dutovia</a:t>
            </a:r>
            <a:r>
              <a:rPr kumimoji="1" lang="pt-BR" sz="1600" dirty="0">
                <a:solidFill>
                  <a:schemeClr val="accent6"/>
                </a:solidFill>
                <a:cs typeface="Helvetica Neue"/>
              </a:rPr>
              <a:t> é a própria unidade de carregamento, por isso não há necessidade de se usar embalagens de transporte;</a:t>
            </a:r>
          </a:p>
          <a:p>
            <a:pPr marL="342900" lvl="1" indent="-342900" algn="just" eaLnBrk="0" hangingPunct="0">
              <a:spcBef>
                <a:spcPts val="300"/>
              </a:spcBef>
              <a:buFont typeface="Courier New" panose="02070309020205020404" pitchFamily="49" charset="0"/>
              <a:buChar char="o"/>
            </a:pPr>
            <a:r>
              <a:rPr kumimoji="1" lang="pt-BR" sz="1600" dirty="0">
                <a:solidFill>
                  <a:schemeClr val="accent6"/>
                </a:solidFill>
                <a:cs typeface="Helvetica Neue"/>
              </a:rPr>
              <a:t>Não existe o problema da viagem de retorno para equacionar, bem como o processo não sofre influência do congestionamento ou dificuldades físicas a transpor;</a:t>
            </a:r>
          </a:p>
          <a:p>
            <a:pPr marL="342900" lvl="1" indent="-342900" algn="just" eaLnBrk="0" hangingPunct="0">
              <a:spcBef>
                <a:spcPts val="300"/>
              </a:spcBef>
              <a:buFont typeface="Courier New" panose="02070309020205020404" pitchFamily="49" charset="0"/>
              <a:buChar char="o"/>
            </a:pPr>
            <a:r>
              <a:rPr kumimoji="1" lang="pt-BR" sz="1600" dirty="0">
                <a:solidFill>
                  <a:schemeClr val="accent6"/>
                </a:solidFill>
                <a:cs typeface="Helvetica Neue"/>
              </a:rPr>
              <a:t>Independência em relação às condições de tempo na sua operação;</a:t>
            </a:r>
          </a:p>
          <a:p>
            <a:pPr marL="342900" lvl="1" indent="-342900" algn="just" eaLnBrk="0" hangingPunct="0">
              <a:spcBef>
                <a:spcPts val="300"/>
              </a:spcBef>
              <a:buFont typeface="Courier New" panose="02070309020205020404" pitchFamily="49" charset="0"/>
              <a:buChar char="o"/>
            </a:pPr>
            <a:r>
              <a:rPr kumimoji="1" lang="pt-BR" sz="1600" dirty="0">
                <a:solidFill>
                  <a:schemeClr val="accent6"/>
                </a:solidFill>
                <a:cs typeface="Helvetica Neue"/>
              </a:rPr>
              <a:t>Em geral, a segurança nas dutovias é superior à de outros modais; sendo assim, são indicadas para o transporte de produtos perigosos, como etileno. Porém, há o risco de poluição e explosão em caso de acidente e vazamento;</a:t>
            </a:r>
          </a:p>
          <a:p>
            <a:pPr marL="342900" lvl="1" indent="-342900" algn="just" eaLnBrk="0" hangingPunct="0">
              <a:spcBef>
                <a:spcPts val="300"/>
              </a:spcBef>
              <a:buFont typeface="Courier New" panose="02070309020205020404" pitchFamily="49" charset="0"/>
              <a:buChar char="o"/>
            </a:pPr>
            <a:r>
              <a:rPr kumimoji="1" lang="pt-BR" sz="1600" dirty="0">
                <a:solidFill>
                  <a:schemeClr val="accent6"/>
                </a:solidFill>
                <a:cs typeface="Helvetica Neue"/>
              </a:rPr>
              <a:t>Pouca concorrência no setor de óleo e gás, o que eleva os custos neste tipo de transporte.</a:t>
            </a:r>
          </a:p>
        </p:txBody>
      </p:sp>
      <p:sp>
        <p:nvSpPr>
          <p:cNvPr id="6" name="Rectangle 2"/>
          <p:cNvSpPr/>
          <p:nvPr/>
        </p:nvSpPr>
        <p:spPr>
          <a:xfrm>
            <a:off x="1257300" y="1444738"/>
            <a:ext cx="7157252" cy="369332"/>
          </a:xfrm>
          <a:prstGeom prst="rect">
            <a:avLst/>
          </a:prstGeom>
        </p:spPr>
        <p:txBody>
          <a:bodyPr wrap="square">
            <a:spAutoFit/>
          </a:bodyPr>
          <a:lstStyle/>
          <a:p>
            <a:pPr eaLnBrk="0" hangingPunct="0">
              <a:buClr>
                <a:srgbClr val="FF6600"/>
              </a:buClr>
              <a:buSzPct val="150000"/>
            </a:pPr>
            <a:r>
              <a:rPr kumimoji="1" lang="pt-BR" b="1" dirty="0">
                <a:solidFill>
                  <a:schemeClr val="accent6"/>
                </a:solidFill>
                <a:cs typeface="Helvetica Neue"/>
              </a:rPr>
              <a:t>Características do transporte </a:t>
            </a:r>
            <a:r>
              <a:rPr kumimoji="1" lang="pt-BR" b="1" dirty="0" err="1">
                <a:solidFill>
                  <a:schemeClr val="accent6"/>
                </a:solidFill>
                <a:cs typeface="Helvetica Neue"/>
              </a:rPr>
              <a:t>dutoviário</a:t>
            </a:r>
            <a:r>
              <a:rPr kumimoji="1" lang="pt-BR" b="1" dirty="0">
                <a:solidFill>
                  <a:schemeClr val="accent6"/>
                </a:solidFill>
                <a:cs typeface="Helvetica Neue"/>
              </a:rPr>
              <a:t> no Brasil</a:t>
            </a:r>
            <a:endParaRPr kumimoji="1" lang="en-US" b="1" dirty="0">
              <a:solidFill>
                <a:schemeClr val="accent6"/>
              </a:solidFill>
              <a:cs typeface="Helvetica Neue"/>
            </a:endParaRPr>
          </a:p>
        </p:txBody>
      </p:sp>
      <p:sp>
        <p:nvSpPr>
          <p:cNvPr id="7" name="TextBox 7"/>
          <p:cNvSpPr txBox="1"/>
          <p:nvPr/>
        </p:nvSpPr>
        <p:spPr>
          <a:xfrm>
            <a:off x="2145210" y="5965362"/>
            <a:ext cx="7901581" cy="338554"/>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rtlCol="0">
            <a:spAutoFit/>
          </a:bodyPr>
          <a:lstStyle/>
          <a:p>
            <a:pPr algn="ctr"/>
            <a:r>
              <a:rPr lang="pt-BR" sz="1600" b="1" dirty="0">
                <a:solidFill>
                  <a:srgbClr val="FF0000"/>
                </a:solidFill>
              </a:rPr>
              <a:t>QUAL O PONTO MAIS RELEVANTE PARA A ESCOLHA DO MODAL DUTOVIÁRIO ?</a:t>
            </a:r>
          </a:p>
        </p:txBody>
      </p:sp>
      <p:pic>
        <p:nvPicPr>
          <p:cNvPr id="2" name="Imagem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52953" y="740598"/>
            <a:ext cx="2987675" cy="2237873"/>
          </a:xfrm>
          <a:prstGeom prst="rect">
            <a:avLst/>
          </a:prstGeom>
        </p:spPr>
      </p:pic>
    </p:spTree>
    <p:extLst>
      <p:ext uri="{BB962C8B-B14F-4D97-AF65-F5344CB8AC3E}">
        <p14:creationId xmlns:p14="http://schemas.microsoft.com/office/powerpoint/2010/main" val="1093101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5">
                                            <p:txEl>
                                              <p:pRg st="0" end="0"/>
                                            </p:txEl>
                                          </p:spTgt>
                                        </p:tgtEl>
                                        <p:attrNameLst>
                                          <p:attrName>style.visibility</p:attrName>
                                        </p:attrNameLst>
                                      </p:cBhvr>
                                      <p:to>
                                        <p:strVal val="visible"/>
                                      </p:to>
                                    </p:set>
                                    <p:animEffect transition="in" filter="wipe(down)">
                                      <p:cBhvr>
                                        <p:cTn id="19" dur="500"/>
                                        <p:tgtEl>
                                          <p:spTgt spid="5">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5">
                                            <p:txEl>
                                              <p:pRg st="1" end="1"/>
                                            </p:txEl>
                                          </p:spTgt>
                                        </p:tgtEl>
                                        <p:attrNameLst>
                                          <p:attrName>style.visibility</p:attrName>
                                        </p:attrNameLst>
                                      </p:cBhvr>
                                      <p:to>
                                        <p:strVal val="visible"/>
                                      </p:to>
                                    </p:set>
                                    <p:animEffect transition="in" filter="wipe(down)">
                                      <p:cBhvr>
                                        <p:cTn id="24" dur="500"/>
                                        <p:tgtEl>
                                          <p:spTgt spid="5">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5">
                                            <p:txEl>
                                              <p:pRg st="2" end="2"/>
                                            </p:txEl>
                                          </p:spTgt>
                                        </p:tgtEl>
                                        <p:attrNameLst>
                                          <p:attrName>style.visibility</p:attrName>
                                        </p:attrNameLst>
                                      </p:cBhvr>
                                      <p:to>
                                        <p:strVal val="visible"/>
                                      </p:to>
                                    </p:set>
                                    <p:animEffect transition="in" filter="wipe(down)">
                                      <p:cBhvr>
                                        <p:cTn id="29" dur="500"/>
                                        <p:tgtEl>
                                          <p:spTgt spid="5">
                                            <p:txEl>
                                              <p:pRg st="2" end="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5">
                                            <p:txEl>
                                              <p:pRg st="3" end="3"/>
                                            </p:txEl>
                                          </p:spTgt>
                                        </p:tgtEl>
                                        <p:attrNameLst>
                                          <p:attrName>style.visibility</p:attrName>
                                        </p:attrNameLst>
                                      </p:cBhvr>
                                      <p:to>
                                        <p:strVal val="visible"/>
                                      </p:to>
                                    </p:set>
                                    <p:animEffect transition="in" filter="wipe(down)">
                                      <p:cBhvr>
                                        <p:cTn id="34" dur="500"/>
                                        <p:tgtEl>
                                          <p:spTgt spid="5">
                                            <p:txEl>
                                              <p:pRg st="3" end="3"/>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5">
                                            <p:txEl>
                                              <p:pRg st="4" end="4"/>
                                            </p:txEl>
                                          </p:spTgt>
                                        </p:tgtEl>
                                        <p:attrNameLst>
                                          <p:attrName>style.visibility</p:attrName>
                                        </p:attrNameLst>
                                      </p:cBhvr>
                                      <p:to>
                                        <p:strVal val="visible"/>
                                      </p:to>
                                    </p:set>
                                    <p:animEffect transition="in" filter="wipe(down)">
                                      <p:cBhvr>
                                        <p:cTn id="39" dur="500"/>
                                        <p:tgtEl>
                                          <p:spTgt spid="5">
                                            <p:txEl>
                                              <p:pRg st="4" end="4"/>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nodeType="clickEffect">
                                  <p:stCondLst>
                                    <p:cond delay="0"/>
                                  </p:stCondLst>
                                  <p:childTnLst>
                                    <p:set>
                                      <p:cBhvr>
                                        <p:cTn id="43" dur="1" fill="hold">
                                          <p:stCondLst>
                                            <p:cond delay="0"/>
                                          </p:stCondLst>
                                        </p:cTn>
                                        <p:tgtEl>
                                          <p:spTgt spid="5">
                                            <p:txEl>
                                              <p:pRg st="5" end="5"/>
                                            </p:txEl>
                                          </p:spTgt>
                                        </p:tgtEl>
                                        <p:attrNameLst>
                                          <p:attrName>style.visibility</p:attrName>
                                        </p:attrNameLst>
                                      </p:cBhvr>
                                      <p:to>
                                        <p:strVal val="visible"/>
                                      </p:to>
                                    </p:set>
                                    <p:animEffect transition="in" filter="wipe(down)">
                                      <p:cBhvr>
                                        <p:cTn id="44" dur="500"/>
                                        <p:tgtEl>
                                          <p:spTgt spid="5">
                                            <p:txEl>
                                              <p:pRg st="5" end="5"/>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nodeType="clickEffect">
                                  <p:stCondLst>
                                    <p:cond delay="0"/>
                                  </p:stCondLst>
                                  <p:childTnLst>
                                    <p:set>
                                      <p:cBhvr>
                                        <p:cTn id="48" dur="1" fill="hold">
                                          <p:stCondLst>
                                            <p:cond delay="0"/>
                                          </p:stCondLst>
                                        </p:cTn>
                                        <p:tgtEl>
                                          <p:spTgt spid="5">
                                            <p:txEl>
                                              <p:pRg st="6" end="6"/>
                                            </p:txEl>
                                          </p:spTgt>
                                        </p:tgtEl>
                                        <p:attrNameLst>
                                          <p:attrName>style.visibility</p:attrName>
                                        </p:attrNameLst>
                                      </p:cBhvr>
                                      <p:to>
                                        <p:strVal val="visible"/>
                                      </p:to>
                                    </p:set>
                                    <p:animEffect transition="in" filter="wipe(down)">
                                      <p:cBhvr>
                                        <p:cTn id="49" dur="500"/>
                                        <p:tgtEl>
                                          <p:spTgt spid="5">
                                            <p:txEl>
                                              <p:pRg st="6" end="6"/>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4" fill="hold" nodeType="clickEffect">
                                  <p:stCondLst>
                                    <p:cond delay="0"/>
                                  </p:stCondLst>
                                  <p:childTnLst>
                                    <p:set>
                                      <p:cBhvr>
                                        <p:cTn id="53" dur="1" fill="hold">
                                          <p:stCondLst>
                                            <p:cond delay="0"/>
                                          </p:stCondLst>
                                        </p:cTn>
                                        <p:tgtEl>
                                          <p:spTgt spid="5">
                                            <p:txEl>
                                              <p:pRg st="7" end="7"/>
                                            </p:txEl>
                                          </p:spTgt>
                                        </p:tgtEl>
                                        <p:attrNameLst>
                                          <p:attrName>style.visibility</p:attrName>
                                        </p:attrNameLst>
                                      </p:cBhvr>
                                      <p:to>
                                        <p:strVal val="visible"/>
                                      </p:to>
                                    </p:set>
                                    <p:animEffect transition="in" filter="wipe(down)">
                                      <p:cBhvr>
                                        <p:cTn id="54" dur="500"/>
                                        <p:tgtEl>
                                          <p:spTgt spid="5">
                                            <p:txEl>
                                              <p:pRg st="7" end="7"/>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4" fill="hold" nodeType="clickEffect">
                                  <p:stCondLst>
                                    <p:cond delay="0"/>
                                  </p:stCondLst>
                                  <p:childTnLst>
                                    <p:set>
                                      <p:cBhvr>
                                        <p:cTn id="58" dur="1" fill="hold">
                                          <p:stCondLst>
                                            <p:cond delay="0"/>
                                          </p:stCondLst>
                                        </p:cTn>
                                        <p:tgtEl>
                                          <p:spTgt spid="5">
                                            <p:txEl>
                                              <p:pRg st="8" end="8"/>
                                            </p:txEl>
                                          </p:spTgt>
                                        </p:tgtEl>
                                        <p:attrNameLst>
                                          <p:attrName>style.visibility</p:attrName>
                                        </p:attrNameLst>
                                      </p:cBhvr>
                                      <p:to>
                                        <p:strVal val="visible"/>
                                      </p:to>
                                    </p:set>
                                    <p:animEffect transition="in" filter="wipe(down)">
                                      <p:cBhvr>
                                        <p:cTn id="59" dur="500"/>
                                        <p:tgtEl>
                                          <p:spTgt spid="5">
                                            <p:txEl>
                                              <p:pRg st="8" end="8"/>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4" fill="hold" nodeType="clickEffect">
                                  <p:stCondLst>
                                    <p:cond delay="0"/>
                                  </p:stCondLst>
                                  <p:childTnLst>
                                    <p:set>
                                      <p:cBhvr>
                                        <p:cTn id="63" dur="1" fill="hold">
                                          <p:stCondLst>
                                            <p:cond delay="0"/>
                                          </p:stCondLst>
                                        </p:cTn>
                                        <p:tgtEl>
                                          <p:spTgt spid="5">
                                            <p:txEl>
                                              <p:pRg st="9" end="9"/>
                                            </p:txEl>
                                          </p:spTgt>
                                        </p:tgtEl>
                                        <p:attrNameLst>
                                          <p:attrName>style.visibility</p:attrName>
                                        </p:attrNameLst>
                                      </p:cBhvr>
                                      <p:to>
                                        <p:strVal val="visible"/>
                                      </p:to>
                                    </p:set>
                                    <p:animEffect transition="in" filter="wipe(down)">
                                      <p:cBhvr>
                                        <p:cTn id="64" dur="500"/>
                                        <p:tgtEl>
                                          <p:spTgt spid="5">
                                            <p:txEl>
                                              <p:pRg st="9" end="9"/>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4" fill="hold" grpId="0" nodeType="clickEffect">
                                  <p:stCondLst>
                                    <p:cond delay="0"/>
                                  </p:stCondLst>
                                  <p:childTnLst>
                                    <p:set>
                                      <p:cBhvr>
                                        <p:cTn id="68" dur="1" fill="hold">
                                          <p:stCondLst>
                                            <p:cond delay="0"/>
                                          </p:stCondLst>
                                        </p:cTn>
                                        <p:tgtEl>
                                          <p:spTgt spid="7"/>
                                        </p:tgtEl>
                                        <p:attrNameLst>
                                          <p:attrName>style.visibility</p:attrName>
                                        </p:attrNameLst>
                                      </p:cBhvr>
                                      <p:to>
                                        <p:strVal val="visible"/>
                                      </p:to>
                                    </p:set>
                                    <p:animEffect transition="in" filter="wipe(down)">
                                      <p:cBhvr>
                                        <p:cTn id="6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tângulo 3"/>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
        <p:nvSpPr>
          <p:cNvPr id="8" name="Title 1"/>
          <p:cNvSpPr txBox="1">
            <a:spLocks/>
          </p:cNvSpPr>
          <p:nvPr/>
        </p:nvSpPr>
        <p:spPr bwMode="auto">
          <a:xfrm>
            <a:off x="2702982" y="822118"/>
            <a:ext cx="6786036" cy="4005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noAutofit/>
          </a:bodyPr>
          <a:lstStyle>
            <a:lvl1pPr algn="l" defTabSz="449263" rtl="0" eaLnBrk="1" fontAlgn="base" hangingPunct="1">
              <a:spcBef>
                <a:spcPct val="0"/>
              </a:spcBef>
              <a:spcAft>
                <a:spcPct val="0"/>
              </a:spcAft>
              <a:buClr>
                <a:srgbClr val="000000"/>
              </a:buClr>
              <a:buSzPct val="100000"/>
              <a:buFont typeface="Times New Roman" panose="02020603050405020304" pitchFamily="18" charset="0"/>
              <a:defRPr sz="4100" b="1" kern="1200">
                <a:solidFill>
                  <a:srgbClr val="464646"/>
                </a:solidFill>
                <a:latin typeface="+mj-lt"/>
                <a:ea typeface="+mj-ea"/>
                <a:cs typeface="+mj-cs"/>
              </a:defRPr>
            </a:lvl1pPr>
            <a:lvl2pPr marL="742950" indent="-28575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2pPr>
            <a:lvl3pPr marL="1143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3pPr>
            <a:lvl4pPr marL="1600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4pPr>
            <a:lvl5pPr marL="20574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5pPr>
            <a:lvl6pPr marL="25146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6pPr>
            <a:lvl7pPr marL="29718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7pPr>
            <a:lvl8pPr marL="3429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8pPr>
            <a:lvl9pPr marL="3886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9pPr>
          </a:lstStyle>
          <a:p>
            <a:pPr algn="ctr"/>
            <a:r>
              <a:rPr lang="pt-BR" sz="2000" dirty="0">
                <a:solidFill>
                  <a:schemeClr val="accent6"/>
                </a:solidFill>
                <a:latin typeface="+mn-lt"/>
              </a:rPr>
              <a:t>MODAL DUTOVIÁRIO</a:t>
            </a:r>
          </a:p>
        </p:txBody>
      </p:sp>
      <p:sp>
        <p:nvSpPr>
          <p:cNvPr id="5" name="Retângulo 4"/>
          <p:cNvSpPr/>
          <p:nvPr/>
        </p:nvSpPr>
        <p:spPr>
          <a:xfrm>
            <a:off x="1455162" y="2074705"/>
            <a:ext cx="9281676" cy="1477328"/>
          </a:xfrm>
          <a:prstGeom prst="rect">
            <a:avLst/>
          </a:prstGeom>
        </p:spPr>
        <p:txBody>
          <a:bodyPr wrap="square">
            <a:spAutoFit/>
          </a:bodyPr>
          <a:lstStyle/>
          <a:p>
            <a:pPr algn="just"/>
            <a:r>
              <a:rPr lang="pt-BR" b="1" dirty="0">
                <a:solidFill>
                  <a:schemeClr val="accent6"/>
                </a:solidFill>
              </a:rPr>
              <a:t>CARACTERÍSTICAS</a:t>
            </a:r>
          </a:p>
          <a:p>
            <a:endParaRPr lang="pt-BR" dirty="0">
              <a:solidFill>
                <a:schemeClr val="accent6"/>
              </a:solidFill>
            </a:endParaRPr>
          </a:p>
          <a:p>
            <a:pPr>
              <a:lnSpc>
                <a:spcPct val="150000"/>
              </a:lnSpc>
            </a:pPr>
            <a:r>
              <a:rPr lang="pt-BR" dirty="0">
                <a:solidFill>
                  <a:schemeClr val="accent6"/>
                </a:solidFill>
              </a:rPr>
              <a:t>Tubulações especialmente desenvolvidas e construídas para transportar produtos a granel por distâncias especialmente longas.</a:t>
            </a:r>
          </a:p>
        </p:txBody>
      </p:sp>
      <p:sp>
        <p:nvSpPr>
          <p:cNvPr id="6" name="Retângulo 5"/>
          <p:cNvSpPr/>
          <p:nvPr/>
        </p:nvSpPr>
        <p:spPr>
          <a:xfrm>
            <a:off x="1455162" y="3952143"/>
            <a:ext cx="5928566" cy="2308324"/>
          </a:xfrm>
          <a:prstGeom prst="rect">
            <a:avLst/>
          </a:prstGeom>
        </p:spPr>
        <p:txBody>
          <a:bodyPr wrap="square">
            <a:spAutoFit/>
          </a:bodyPr>
          <a:lstStyle/>
          <a:p>
            <a:r>
              <a:rPr lang="pt-BR" b="1" dirty="0">
                <a:solidFill>
                  <a:schemeClr val="accent6"/>
                </a:solidFill>
              </a:rPr>
              <a:t>Adaptabilidade</a:t>
            </a:r>
            <a:r>
              <a:rPr lang="pt-BR" dirty="0">
                <a:solidFill>
                  <a:schemeClr val="accent6"/>
                </a:solidFill>
              </a:rPr>
              <a:t>:</a:t>
            </a:r>
          </a:p>
          <a:p>
            <a:endParaRPr lang="pt-BR" dirty="0">
              <a:solidFill>
                <a:schemeClr val="accent6"/>
              </a:solidFill>
            </a:endParaRPr>
          </a:p>
          <a:p>
            <a:pPr>
              <a:lnSpc>
                <a:spcPct val="150000"/>
              </a:lnSpc>
            </a:pPr>
            <a:r>
              <a:rPr lang="pt-BR" dirty="0">
                <a:solidFill>
                  <a:schemeClr val="accent6"/>
                </a:solidFill>
              </a:rPr>
              <a:t>Oleodutos = gasolina, álcool, nafta, </a:t>
            </a:r>
            <a:r>
              <a:rPr lang="pt-BR" dirty="0" err="1">
                <a:solidFill>
                  <a:schemeClr val="accent6"/>
                </a:solidFill>
              </a:rPr>
              <a:t>glp</a:t>
            </a:r>
            <a:r>
              <a:rPr lang="pt-BR" dirty="0">
                <a:solidFill>
                  <a:schemeClr val="accent6"/>
                </a:solidFill>
              </a:rPr>
              <a:t>, diesel.</a:t>
            </a:r>
          </a:p>
          <a:p>
            <a:pPr>
              <a:lnSpc>
                <a:spcPct val="150000"/>
              </a:lnSpc>
            </a:pPr>
            <a:r>
              <a:rPr lang="pt-BR" dirty="0" err="1">
                <a:solidFill>
                  <a:schemeClr val="accent6"/>
                </a:solidFill>
              </a:rPr>
              <a:t>Minerodutos</a:t>
            </a:r>
            <a:r>
              <a:rPr lang="pt-BR" dirty="0">
                <a:solidFill>
                  <a:schemeClr val="accent6"/>
                </a:solidFill>
              </a:rPr>
              <a:t> = sal-gema, ferro, concentrados fosfáticos.</a:t>
            </a:r>
          </a:p>
          <a:p>
            <a:pPr>
              <a:lnSpc>
                <a:spcPct val="150000"/>
              </a:lnSpc>
            </a:pPr>
            <a:r>
              <a:rPr lang="pt-BR" dirty="0">
                <a:solidFill>
                  <a:schemeClr val="accent6"/>
                </a:solidFill>
              </a:rPr>
              <a:t>Gasodutos = gás natural.</a:t>
            </a:r>
          </a:p>
        </p:txBody>
      </p:sp>
      <p:sp>
        <p:nvSpPr>
          <p:cNvPr id="7" name="Retângulo 6"/>
          <p:cNvSpPr/>
          <p:nvPr/>
        </p:nvSpPr>
        <p:spPr>
          <a:xfrm>
            <a:off x="8483203" y="3952143"/>
            <a:ext cx="3218481" cy="1892826"/>
          </a:xfrm>
          <a:prstGeom prst="rect">
            <a:avLst/>
          </a:prstGeom>
        </p:spPr>
        <p:txBody>
          <a:bodyPr wrap="square">
            <a:spAutoFit/>
          </a:bodyPr>
          <a:lstStyle/>
          <a:p>
            <a:r>
              <a:rPr lang="pt-BR" b="1" dirty="0">
                <a:solidFill>
                  <a:schemeClr val="accent6"/>
                </a:solidFill>
              </a:rPr>
              <a:t>Tipos</a:t>
            </a:r>
            <a:r>
              <a:rPr lang="pt-BR" dirty="0">
                <a:solidFill>
                  <a:schemeClr val="accent6"/>
                </a:solidFill>
              </a:rPr>
              <a:t>:</a:t>
            </a:r>
          </a:p>
          <a:p>
            <a:endParaRPr lang="pt-BR" dirty="0">
              <a:solidFill>
                <a:schemeClr val="accent6"/>
              </a:solidFill>
            </a:endParaRPr>
          </a:p>
          <a:p>
            <a:pPr>
              <a:lnSpc>
                <a:spcPct val="150000"/>
              </a:lnSpc>
            </a:pPr>
            <a:r>
              <a:rPr lang="pt-BR" dirty="0">
                <a:solidFill>
                  <a:schemeClr val="accent6"/>
                </a:solidFill>
              </a:rPr>
              <a:t>Subterrâneos</a:t>
            </a:r>
          </a:p>
          <a:p>
            <a:pPr>
              <a:lnSpc>
                <a:spcPct val="150000"/>
              </a:lnSpc>
            </a:pPr>
            <a:r>
              <a:rPr lang="pt-BR" dirty="0">
                <a:solidFill>
                  <a:schemeClr val="accent6"/>
                </a:solidFill>
              </a:rPr>
              <a:t>Aparentes</a:t>
            </a:r>
          </a:p>
          <a:p>
            <a:pPr>
              <a:lnSpc>
                <a:spcPct val="150000"/>
              </a:lnSpc>
            </a:pPr>
            <a:r>
              <a:rPr lang="pt-BR" dirty="0">
                <a:solidFill>
                  <a:schemeClr val="accent6"/>
                </a:solidFill>
              </a:rPr>
              <a:t>Submarinos</a:t>
            </a:r>
          </a:p>
        </p:txBody>
      </p:sp>
    </p:spTree>
    <p:extLst>
      <p:ext uri="{BB962C8B-B14F-4D97-AF65-F5344CB8AC3E}">
        <p14:creationId xmlns:p14="http://schemas.microsoft.com/office/powerpoint/2010/main" val="4097052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barn(inVertical)">
                                      <p:cBhvr>
                                        <p:cTn id="14" dur="5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barn(inVertical)">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1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tângulo 3"/>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
        <p:nvSpPr>
          <p:cNvPr id="8" name="Title 1"/>
          <p:cNvSpPr txBox="1">
            <a:spLocks/>
          </p:cNvSpPr>
          <p:nvPr/>
        </p:nvSpPr>
        <p:spPr bwMode="auto">
          <a:xfrm>
            <a:off x="2702982" y="822118"/>
            <a:ext cx="6786036" cy="4005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noAutofit/>
          </a:bodyPr>
          <a:lstStyle>
            <a:lvl1pPr algn="l" defTabSz="449263" rtl="0" eaLnBrk="1" fontAlgn="base" hangingPunct="1">
              <a:spcBef>
                <a:spcPct val="0"/>
              </a:spcBef>
              <a:spcAft>
                <a:spcPct val="0"/>
              </a:spcAft>
              <a:buClr>
                <a:srgbClr val="000000"/>
              </a:buClr>
              <a:buSzPct val="100000"/>
              <a:buFont typeface="Times New Roman" panose="02020603050405020304" pitchFamily="18" charset="0"/>
              <a:defRPr sz="4100" b="1" kern="1200">
                <a:solidFill>
                  <a:srgbClr val="464646"/>
                </a:solidFill>
                <a:latin typeface="+mj-lt"/>
                <a:ea typeface="+mj-ea"/>
                <a:cs typeface="+mj-cs"/>
              </a:defRPr>
            </a:lvl1pPr>
            <a:lvl2pPr marL="742950" indent="-28575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2pPr>
            <a:lvl3pPr marL="1143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3pPr>
            <a:lvl4pPr marL="1600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4pPr>
            <a:lvl5pPr marL="20574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5pPr>
            <a:lvl6pPr marL="25146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6pPr>
            <a:lvl7pPr marL="29718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7pPr>
            <a:lvl8pPr marL="3429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8pPr>
            <a:lvl9pPr marL="3886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9pPr>
          </a:lstStyle>
          <a:p>
            <a:pPr algn="ctr"/>
            <a:r>
              <a:rPr lang="pt-BR" sz="2000" dirty="0">
                <a:solidFill>
                  <a:schemeClr val="accent6"/>
                </a:solidFill>
                <a:latin typeface="+mn-lt"/>
              </a:rPr>
              <a:t>MODAL DUTOVIÁRIO</a:t>
            </a:r>
          </a:p>
        </p:txBody>
      </p:sp>
      <p:graphicFrame>
        <p:nvGraphicFramePr>
          <p:cNvPr id="9" name="Tabela 8"/>
          <p:cNvGraphicFramePr>
            <a:graphicFrameLocks noGrp="1"/>
          </p:cNvGraphicFramePr>
          <p:nvPr/>
        </p:nvGraphicFramePr>
        <p:xfrm>
          <a:off x="1214034" y="1413795"/>
          <a:ext cx="9763932" cy="4468098"/>
        </p:xfrm>
        <a:graphic>
          <a:graphicData uri="http://schemas.openxmlformats.org/drawingml/2006/table">
            <a:tbl>
              <a:tblPr>
                <a:tableStyleId>{5DA37D80-6434-44D0-A028-1B22A696006F}</a:tableStyleId>
              </a:tblPr>
              <a:tblGrid>
                <a:gridCol w="4881966">
                  <a:extLst>
                    <a:ext uri="{9D8B030D-6E8A-4147-A177-3AD203B41FA5}">
                      <a16:colId xmlns:a16="http://schemas.microsoft.com/office/drawing/2014/main" val="20000"/>
                    </a:ext>
                  </a:extLst>
                </a:gridCol>
                <a:gridCol w="4881966">
                  <a:extLst>
                    <a:ext uri="{9D8B030D-6E8A-4147-A177-3AD203B41FA5}">
                      <a16:colId xmlns:a16="http://schemas.microsoft.com/office/drawing/2014/main" val="20001"/>
                    </a:ext>
                  </a:extLst>
                </a:gridCol>
              </a:tblGrid>
              <a:tr h="291125">
                <a:tc>
                  <a:txBody>
                    <a:bodyPr/>
                    <a:lstStyle/>
                    <a:p>
                      <a:pPr marL="0" algn="ctr" defTabSz="914400" rtl="0" eaLnBrk="1" latinLnBrk="0" hangingPunct="1"/>
                      <a:r>
                        <a:rPr lang="pt-BR" sz="1800" kern="1200" dirty="0">
                          <a:solidFill>
                            <a:schemeClr val="bg1"/>
                          </a:solidFill>
                          <a:latin typeface="+mn-lt"/>
                          <a:ea typeface="+mn-ea"/>
                          <a:cs typeface="+mn-cs"/>
                        </a:rPr>
                        <a:t>VANTAGENS    </a:t>
                      </a:r>
                    </a:p>
                  </a:txBody>
                  <a:tcPr anchor="ctr">
                    <a:solidFill>
                      <a:schemeClr val="accent2">
                        <a:lumMod val="75000"/>
                      </a:schemeClr>
                    </a:solidFill>
                  </a:tcPr>
                </a:tc>
                <a:tc>
                  <a:txBody>
                    <a:bodyPr/>
                    <a:lstStyle/>
                    <a:p>
                      <a:pPr marL="0" algn="ctr" defTabSz="914400" rtl="0" eaLnBrk="1" latinLnBrk="0" hangingPunct="1"/>
                      <a:r>
                        <a:rPr lang="pt-BR" sz="1800" kern="1200" dirty="0">
                          <a:solidFill>
                            <a:schemeClr val="bg1"/>
                          </a:solidFill>
                          <a:latin typeface="+mn-lt"/>
                          <a:ea typeface="+mn-ea"/>
                          <a:cs typeface="+mn-cs"/>
                        </a:rPr>
                        <a:t>DESVANTAGENS</a:t>
                      </a:r>
                    </a:p>
                  </a:txBody>
                  <a:tcPr anchor="ctr">
                    <a:solidFill>
                      <a:schemeClr val="accent2">
                        <a:lumMod val="75000"/>
                      </a:schemeClr>
                    </a:solidFill>
                  </a:tcPr>
                </a:tc>
                <a:extLst>
                  <a:ext uri="{0D108BD9-81ED-4DB2-BD59-A6C34878D82A}">
                    <a16:rowId xmlns:a16="http://schemas.microsoft.com/office/drawing/2014/main" val="10000"/>
                  </a:ext>
                </a:extLst>
              </a:tr>
              <a:tr h="555783">
                <a:tc>
                  <a:txBody>
                    <a:bodyPr/>
                    <a:lstStyle/>
                    <a:p>
                      <a:r>
                        <a:rPr lang="pt-BR" dirty="0">
                          <a:solidFill>
                            <a:schemeClr val="accent6"/>
                          </a:solidFill>
                          <a:effectLst/>
                        </a:rPr>
                        <a:t>Transporte de grandes distâncias.</a:t>
                      </a:r>
                    </a:p>
                  </a:txBody>
                  <a:tcPr anchor="ctr"/>
                </a:tc>
                <a:tc>
                  <a:txBody>
                    <a:bodyPr/>
                    <a:lstStyle/>
                    <a:p>
                      <a:r>
                        <a:rPr lang="pt-BR">
                          <a:solidFill>
                            <a:schemeClr val="accent6"/>
                          </a:solidFill>
                          <a:effectLst/>
                        </a:rPr>
                        <a:t>Acidentes ambientais de grandes proporções</a:t>
                      </a:r>
                    </a:p>
                  </a:txBody>
                  <a:tcPr anchor="ctr"/>
                </a:tc>
                <a:extLst>
                  <a:ext uri="{0D108BD9-81ED-4DB2-BD59-A6C34878D82A}">
                    <a16:rowId xmlns:a16="http://schemas.microsoft.com/office/drawing/2014/main" val="10001"/>
                  </a:ext>
                </a:extLst>
              </a:tr>
              <a:tr h="555783">
                <a:tc>
                  <a:txBody>
                    <a:bodyPr/>
                    <a:lstStyle/>
                    <a:p>
                      <a:r>
                        <a:rPr lang="pt-BR" dirty="0">
                          <a:solidFill>
                            <a:schemeClr val="accent6"/>
                          </a:solidFill>
                        </a:rPr>
                        <a:t>Transporte de volumes granéis muito elevados.</a:t>
                      </a:r>
                    </a:p>
                  </a:txBody>
                  <a:tcPr anchor="ctr"/>
                </a:tc>
                <a:tc>
                  <a:txBody>
                    <a:bodyPr/>
                    <a:lstStyle/>
                    <a:p>
                      <a:r>
                        <a:rPr lang="pt-BR">
                          <a:solidFill>
                            <a:schemeClr val="accent6"/>
                          </a:solidFill>
                        </a:rPr>
                        <a:t>Investimento inicial elevado.</a:t>
                      </a:r>
                    </a:p>
                  </a:txBody>
                  <a:tcPr anchor="ctr"/>
                </a:tc>
                <a:extLst>
                  <a:ext uri="{0D108BD9-81ED-4DB2-BD59-A6C34878D82A}">
                    <a16:rowId xmlns:a16="http://schemas.microsoft.com/office/drawing/2014/main" val="10002"/>
                  </a:ext>
                </a:extLst>
              </a:tr>
              <a:tr h="353367">
                <a:tc>
                  <a:txBody>
                    <a:bodyPr/>
                    <a:lstStyle/>
                    <a:p>
                      <a:r>
                        <a:rPr lang="pt-BR" dirty="0">
                          <a:solidFill>
                            <a:schemeClr val="accent6"/>
                          </a:solidFill>
                        </a:rPr>
                        <a:t>Simplificação de carga e descarga.</a:t>
                      </a:r>
                    </a:p>
                  </a:txBody>
                  <a:tcPr anchor="ctr"/>
                </a:tc>
                <a:tc>
                  <a:txBody>
                    <a:bodyPr/>
                    <a:lstStyle/>
                    <a:p>
                      <a:r>
                        <a:rPr lang="pt-BR">
                          <a:solidFill>
                            <a:schemeClr val="accent6"/>
                          </a:solidFill>
                        </a:rPr>
                        <a:t>Custo fixo elevado.</a:t>
                      </a:r>
                    </a:p>
                  </a:txBody>
                  <a:tcPr anchor="ctr"/>
                </a:tc>
                <a:extLst>
                  <a:ext uri="{0D108BD9-81ED-4DB2-BD59-A6C34878D82A}">
                    <a16:rowId xmlns:a16="http://schemas.microsoft.com/office/drawing/2014/main" val="10003"/>
                  </a:ext>
                </a:extLst>
              </a:tr>
              <a:tr h="656253">
                <a:tc>
                  <a:txBody>
                    <a:bodyPr/>
                    <a:lstStyle/>
                    <a:p>
                      <a:r>
                        <a:rPr lang="pt-BR" dirty="0">
                          <a:solidFill>
                            <a:schemeClr val="accent6"/>
                          </a:solidFill>
                        </a:rPr>
                        <a:t>Menor possibilidade de perda e roubo.</a:t>
                      </a:r>
                    </a:p>
                  </a:txBody>
                  <a:tcPr anchor="ctr"/>
                </a:tc>
                <a:tc>
                  <a:txBody>
                    <a:bodyPr/>
                    <a:lstStyle/>
                    <a:p>
                      <a:r>
                        <a:rPr lang="pt-BR" dirty="0">
                          <a:solidFill>
                            <a:schemeClr val="accent6"/>
                          </a:solidFill>
                        </a:rPr>
                        <a:t>Requer mais licenças ambientais.</a:t>
                      </a:r>
                    </a:p>
                  </a:txBody>
                  <a:tcPr anchor="ctr"/>
                </a:tc>
                <a:extLst>
                  <a:ext uri="{0D108BD9-81ED-4DB2-BD59-A6C34878D82A}">
                    <a16:rowId xmlns:a16="http://schemas.microsoft.com/office/drawing/2014/main" val="10004"/>
                  </a:ext>
                </a:extLst>
              </a:tr>
              <a:tr h="656253">
                <a:tc>
                  <a:txBody>
                    <a:bodyPr/>
                    <a:lstStyle/>
                    <a:p>
                      <a:r>
                        <a:rPr lang="pt-BR" dirty="0">
                          <a:solidFill>
                            <a:schemeClr val="accent6"/>
                          </a:solidFill>
                        </a:rPr>
                        <a:t>Baixo consumo de energia.</a:t>
                      </a:r>
                    </a:p>
                  </a:txBody>
                  <a:tcPr anchor="ctr"/>
                </a:tc>
                <a:tc rowSpan="3">
                  <a:txBody>
                    <a:bodyPr/>
                    <a:lstStyle/>
                    <a:p>
                      <a:r>
                        <a:rPr lang="pt-BR" dirty="0">
                          <a:solidFill>
                            <a:schemeClr val="accent6"/>
                          </a:solidFill>
                        </a:rPr>
                        <a:t> </a:t>
                      </a:r>
                    </a:p>
                    <a:p>
                      <a:r>
                        <a:rPr lang="pt-BR" dirty="0">
                          <a:solidFill>
                            <a:schemeClr val="accent6"/>
                          </a:solidFill>
                        </a:rPr>
                        <a:t> </a:t>
                      </a:r>
                    </a:p>
                  </a:txBody>
                  <a:tcPr anchor="ctr">
                    <a:lnR w="12700" cmpd="sng">
                      <a:noFill/>
                    </a:lnR>
                    <a:lnB w="12700" cmpd="sng">
                      <a:noFill/>
                    </a:lnB>
                  </a:tcPr>
                </a:tc>
                <a:extLst>
                  <a:ext uri="{0D108BD9-81ED-4DB2-BD59-A6C34878D82A}">
                    <a16:rowId xmlns:a16="http://schemas.microsoft.com/office/drawing/2014/main" val="10005"/>
                  </a:ext>
                </a:extLst>
              </a:tr>
              <a:tr h="656253">
                <a:tc>
                  <a:txBody>
                    <a:bodyPr/>
                    <a:lstStyle/>
                    <a:p>
                      <a:r>
                        <a:rPr lang="pt-BR" dirty="0">
                          <a:solidFill>
                            <a:schemeClr val="accent6"/>
                          </a:solidFill>
                        </a:rPr>
                        <a:t>Baixos custos operacionais.</a:t>
                      </a:r>
                    </a:p>
                  </a:txBody>
                  <a:tcPr anchor="ctr"/>
                </a:tc>
                <a:tc vMerge="1">
                  <a:txBody>
                    <a:bodyPr/>
                    <a:lstStyle/>
                    <a:p>
                      <a:endParaRPr lang="pt-BR" dirty="0">
                        <a:solidFill>
                          <a:schemeClr val="accent6"/>
                        </a:solidFill>
                      </a:endParaRPr>
                    </a:p>
                  </a:txBody>
                  <a:tcPr anchor="ctr">
                    <a:lnR w="12700" cmpd="sng">
                      <a:noFill/>
                    </a:lnR>
                  </a:tcPr>
                </a:tc>
                <a:extLst>
                  <a:ext uri="{0D108BD9-81ED-4DB2-BD59-A6C34878D82A}">
                    <a16:rowId xmlns:a16="http://schemas.microsoft.com/office/drawing/2014/main" val="10006"/>
                  </a:ext>
                </a:extLst>
              </a:tr>
              <a:tr h="656253">
                <a:tc>
                  <a:txBody>
                    <a:bodyPr/>
                    <a:lstStyle/>
                    <a:p>
                      <a:r>
                        <a:rPr lang="pt-BR" dirty="0">
                          <a:solidFill>
                            <a:schemeClr val="accent6"/>
                          </a:solidFill>
                        </a:rPr>
                        <a:t>Alta confiabilidade.</a:t>
                      </a:r>
                    </a:p>
                  </a:txBody>
                  <a:tcPr anchor="ctr"/>
                </a:tc>
                <a:tc vMerge="1">
                  <a:txBody>
                    <a:bodyPr/>
                    <a:lstStyle/>
                    <a:p>
                      <a:endParaRPr lang="pt-BR" dirty="0">
                        <a:solidFill>
                          <a:schemeClr val="accent6"/>
                        </a:solidFill>
                      </a:endParaRPr>
                    </a:p>
                  </a:txBody>
                  <a:tcPr>
                    <a:lnR w="12700" cmpd="sng">
                      <a:noFill/>
                    </a:lnR>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641065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 calcmode="lin" valueType="num">
                                      <p:cBhvr>
                                        <p:cTn id="9" dur="500" fill="hold"/>
                                        <p:tgtEl>
                                          <p:spTgt spid="9"/>
                                        </p:tgtEl>
                                        <p:attrNameLst>
                                          <p:attrName>style.rotation</p:attrName>
                                        </p:attrNameLst>
                                      </p:cBhvr>
                                      <p:tavLst>
                                        <p:tav tm="0">
                                          <p:val>
                                            <p:fltVal val="360"/>
                                          </p:val>
                                        </p:tav>
                                        <p:tav tm="100000">
                                          <p:val>
                                            <p:fltVal val="0"/>
                                          </p:val>
                                        </p:tav>
                                      </p:tavLst>
                                    </p:anim>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tângulo 3"/>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
        <p:nvSpPr>
          <p:cNvPr id="8" name="Title 1"/>
          <p:cNvSpPr txBox="1">
            <a:spLocks/>
          </p:cNvSpPr>
          <p:nvPr/>
        </p:nvSpPr>
        <p:spPr bwMode="auto">
          <a:xfrm>
            <a:off x="2702982" y="822118"/>
            <a:ext cx="6786036" cy="4005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noAutofit/>
          </a:bodyPr>
          <a:lstStyle>
            <a:lvl1pPr algn="l" defTabSz="449263" rtl="0" eaLnBrk="1" fontAlgn="base" hangingPunct="1">
              <a:spcBef>
                <a:spcPct val="0"/>
              </a:spcBef>
              <a:spcAft>
                <a:spcPct val="0"/>
              </a:spcAft>
              <a:buClr>
                <a:srgbClr val="000000"/>
              </a:buClr>
              <a:buSzPct val="100000"/>
              <a:buFont typeface="Times New Roman" panose="02020603050405020304" pitchFamily="18" charset="0"/>
              <a:defRPr sz="4100" b="1" kern="1200">
                <a:solidFill>
                  <a:srgbClr val="464646"/>
                </a:solidFill>
                <a:latin typeface="+mj-lt"/>
                <a:ea typeface="+mj-ea"/>
                <a:cs typeface="+mj-cs"/>
              </a:defRPr>
            </a:lvl1pPr>
            <a:lvl2pPr marL="742950" indent="-28575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2pPr>
            <a:lvl3pPr marL="1143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3pPr>
            <a:lvl4pPr marL="1600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4pPr>
            <a:lvl5pPr marL="20574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5pPr>
            <a:lvl6pPr marL="25146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6pPr>
            <a:lvl7pPr marL="29718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7pPr>
            <a:lvl8pPr marL="3429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8pPr>
            <a:lvl9pPr marL="3886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9pPr>
          </a:lstStyle>
          <a:p>
            <a:pPr algn="ctr"/>
            <a:r>
              <a:rPr lang="pt-BR" sz="2000" dirty="0">
                <a:solidFill>
                  <a:schemeClr val="accent6"/>
                </a:solidFill>
                <a:latin typeface="+mn-lt"/>
              </a:rPr>
              <a:t>MODAL AQUAVIÁRIO</a:t>
            </a:r>
          </a:p>
        </p:txBody>
      </p:sp>
      <p:sp>
        <p:nvSpPr>
          <p:cNvPr id="5" name="TextBox 2"/>
          <p:cNvSpPr txBox="1"/>
          <p:nvPr/>
        </p:nvSpPr>
        <p:spPr>
          <a:xfrm>
            <a:off x="568927" y="1443049"/>
            <a:ext cx="11054147" cy="1554272"/>
          </a:xfrm>
          <a:prstGeom prst="rect">
            <a:avLst/>
          </a:prstGeom>
          <a:noFill/>
        </p:spPr>
        <p:txBody>
          <a:bodyPr wrap="square" rtlCol="0">
            <a:spAutoFit/>
          </a:bodyPr>
          <a:lstStyle/>
          <a:p>
            <a:pPr algn="just">
              <a:spcBef>
                <a:spcPts val="600"/>
              </a:spcBef>
            </a:pPr>
            <a:r>
              <a:rPr lang="pt-BR" dirty="0">
                <a:solidFill>
                  <a:schemeClr val="accent6"/>
                </a:solidFill>
                <a:cs typeface="Helvetica Neue"/>
              </a:rPr>
              <a:t>Quando o transporte </a:t>
            </a:r>
            <a:r>
              <a:rPr lang="pt-BR" dirty="0" err="1">
                <a:solidFill>
                  <a:schemeClr val="accent6"/>
                </a:solidFill>
                <a:cs typeface="Helvetica Neue"/>
              </a:rPr>
              <a:t>aquaviário</a:t>
            </a:r>
            <a:r>
              <a:rPr lang="pt-BR" dirty="0">
                <a:solidFill>
                  <a:schemeClr val="accent6"/>
                </a:solidFill>
                <a:cs typeface="Helvetica Neue"/>
              </a:rPr>
              <a:t> se dá nos oceanos temos o transporte </a:t>
            </a:r>
            <a:r>
              <a:rPr lang="pt-BR" b="1" dirty="0">
                <a:solidFill>
                  <a:schemeClr val="accent6"/>
                </a:solidFill>
                <a:cs typeface="Helvetica Neue"/>
              </a:rPr>
              <a:t>marítimo</a:t>
            </a:r>
            <a:r>
              <a:rPr lang="pt-BR" dirty="0">
                <a:solidFill>
                  <a:schemeClr val="accent6"/>
                </a:solidFill>
                <a:cs typeface="Helvetica Neue"/>
              </a:rPr>
              <a:t>;</a:t>
            </a:r>
            <a:r>
              <a:rPr lang="pt-BR" b="1" dirty="0">
                <a:solidFill>
                  <a:schemeClr val="accent6"/>
                </a:solidFill>
                <a:cs typeface="Helvetica Neue"/>
              </a:rPr>
              <a:t> </a:t>
            </a:r>
            <a:r>
              <a:rPr lang="pt-BR" dirty="0">
                <a:solidFill>
                  <a:schemeClr val="accent6"/>
                </a:solidFill>
                <a:cs typeface="Helvetica Neue"/>
              </a:rPr>
              <a:t>nos rios, o </a:t>
            </a:r>
            <a:r>
              <a:rPr lang="pt-BR" b="1" dirty="0">
                <a:solidFill>
                  <a:schemeClr val="accent6"/>
                </a:solidFill>
                <a:cs typeface="Helvetica Neue"/>
              </a:rPr>
              <a:t>fluvial</a:t>
            </a:r>
            <a:r>
              <a:rPr lang="pt-BR" dirty="0">
                <a:solidFill>
                  <a:schemeClr val="accent6"/>
                </a:solidFill>
                <a:cs typeface="Helvetica Neue"/>
              </a:rPr>
              <a:t>,</a:t>
            </a:r>
            <a:r>
              <a:rPr lang="pt-BR" b="1" dirty="0">
                <a:solidFill>
                  <a:schemeClr val="accent6"/>
                </a:solidFill>
                <a:cs typeface="Helvetica Neue"/>
              </a:rPr>
              <a:t> </a:t>
            </a:r>
            <a:r>
              <a:rPr lang="pt-BR" dirty="0">
                <a:solidFill>
                  <a:schemeClr val="accent6"/>
                </a:solidFill>
                <a:cs typeface="Helvetica Neue"/>
              </a:rPr>
              <a:t>e nos lagos, o </a:t>
            </a:r>
            <a:r>
              <a:rPr lang="pt-BR" b="1" dirty="0">
                <a:solidFill>
                  <a:schemeClr val="accent6"/>
                </a:solidFill>
                <a:cs typeface="Helvetica Neue"/>
              </a:rPr>
              <a:t>lacustre. </a:t>
            </a:r>
            <a:r>
              <a:rPr lang="pt-BR" dirty="0">
                <a:solidFill>
                  <a:schemeClr val="accent6"/>
                </a:solidFill>
                <a:cs typeface="Helvetica Neue"/>
              </a:rPr>
              <a:t>O transporte que margeia a costa é chamado de </a:t>
            </a:r>
            <a:r>
              <a:rPr lang="pt-BR" b="1" dirty="0">
                <a:solidFill>
                  <a:schemeClr val="accent6"/>
                </a:solidFill>
                <a:cs typeface="Helvetica Neue"/>
              </a:rPr>
              <a:t>navegação de cabotagem.</a:t>
            </a:r>
          </a:p>
          <a:p>
            <a:pPr algn="just">
              <a:spcBef>
                <a:spcPts val="600"/>
              </a:spcBef>
            </a:pPr>
            <a:r>
              <a:rPr lang="pt-BR" dirty="0">
                <a:solidFill>
                  <a:schemeClr val="accent6"/>
                </a:solidFill>
                <a:cs typeface="Helvetica Neue"/>
              </a:rPr>
              <a:t>Transporte </a:t>
            </a:r>
            <a:r>
              <a:rPr lang="pt-BR" b="1" dirty="0">
                <a:solidFill>
                  <a:schemeClr val="accent6"/>
                </a:solidFill>
                <a:cs typeface="Helvetica Neue"/>
              </a:rPr>
              <a:t>hidroviário</a:t>
            </a:r>
            <a:r>
              <a:rPr lang="pt-BR" dirty="0">
                <a:solidFill>
                  <a:schemeClr val="accent6"/>
                </a:solidFill>
                <a:cs typeface="Helvetica Neue"/>
              </a:rPr>
              <a:t> é o transporte </a:t>
            </a:r>
            <a:r>
              <a:rPr lang="pt-BR" dirty="0" err="1">
                <a:solidFill>
                  <a:schemeClr val="accent6"/>
                </a:solidFill>
                <a:cs typeface="Helvetica Neue"/>
              </a:rPr>
              <a:t>aquaviário</a:t>
            </a:r>
            <a:r>
              <a:rPr lang="pt-BR" dirty="0">
                <a:solidFill>
                  <a:schemeClr val="accent6"/>
                </a:solidFill>
                <a:cs typeface="Helvetica Neue"/>
              </a:rPr>
              <a:t> realizado nas hidrovias, em percursos pré-determinados para o tráfego sobre águas. </a:t>
            </a:r>
            <a:endParaRPr lang="pt-BR" dirty="0">
              <a:solidFill>
                <a:schemeClr val="accent6"/>
              </a:solidFill>
            </a:endParaRPr>
          </a:p>
        </p:txBody>
      </p:sp>
      <p:pic>
        <p:nvPicPr>
          <p:cNvPr id="12" name="Picture 4" descr="ThinkstockPhotos-487549151 (1).jpg"/>
          <p:cNvPicPr>
            <a:picLocks noChangeAspect="1"/>
          </p:cNvPicPr>
          <p:nvPr/>
        </p:nvPicPr>
        <p:blipFill rotWithShape="1">
          <a:blip r:embed="rId2">
            <a:extLst>
              <a:ext uri="{28A0092B-C50C-407E-A947-70E740481C1C}">
                <a14:useLocalDpi xmlns:a14="http://schemas.microsoft.com/office/drawing/2010/main" val="0"/>
              </a:ext>
            </a:extLst>
          </a:blip>
          <a:srcRect b="17617"/>
          <a:stretch/>
        </p:blipFill>
        <p:spPr>
          <a:xfrm>
            <a:off x="9106066" y="2938202"/>
            <a:ext cx="2517008" cy="3115223"/>
          </a:xfrm>
          <a:prstGeom prst="rect">
            <a:avLst/>
          </a:prstGeom>
        </p:spPr>
      </p:pic>
      <p:sp>
        <p:nvSpPr>
          <p:cNvPr id="13" name="TextBox 6"/>
          <p:cNvSpPr txBox="1"/>
          <p:nvPr/>
        </p:nvSpPr>
        <p:spPr>
          <a:xfrm>
            <a:off x="568927" y="4671831"/>
            <a:ext cx="8537139" cy="1554272"/>
          </a:xfrm>
          <a:prstGeom prst="rect">
            <a:avLst/>
          </a:prstGeom>
          <a:noFill/>
        </p:spPr>
        <p:txBody>
          <a:bodyPr wrap="square" rtlCol="0">
            <a:spAutoFit/>
          </a:bodyPr>
          <a:lstStyle/>
          <a:p>
            <a:pPr algn="just">
              <a:spcBef>
                <a:spcPts val="600"/>
              </a:spcBef>
            </a:pPr>
            <a:r>
              <a:rPr lang="pt-BR" dirty="0">
                <a:solidFill>
                  <a:schemeClr val="accent6"/>
                </a:solidFill>
                <a:cs typeface="Helvetica Neue"/>
              </a:rPr>
              <a:t>Há também um grande número de bacias hidrográficas, especialmente na região Norte do país, onde está o Porto de Manaus (porto fluvial), e grande parte do transporte é feito pelos rios.</a:t>
            </a:r>
          </a:p>
          <a:p>
            <a:pPr algn="just">
              <a:spcBef>
                <a:spcPts val="600"/>
              </a:spcBef>
            </a:pPr>
            <a:r>
              <a:rPr lang="pt-BR" dirty="0">
                <a:solidFill>
                  <a:schemeClr val="accent6"/>
                </a:solidFill>
                <a:cs typeface="Helvetica Neue"/>
              </a:rPr>
              <a:t>Em outras bacias, há a necessidade de intervenções para que os rios possam ser navegáveis, como é o caso das hidrovias Tietê-Paraná.</a:t>
            </a:r>
          </a:p>
        </p:txBody>
      </p:sp>
      <p:sp>
        <p:nvSpPr>
          <p:cNvPr id="11" name="TextBox 11"/>
          <p:cNvSpPr txBox="1"/>
          <p:nvPr/>
        </p:nvSpPr>
        <p:spPr>
          <a:xfrm>
            <a:off x="568927" y="3095912"/>
            <a:ext cx="8537139" cy="1477328"/>
          </a:xfrm>
          <a:prstGeom prst="rect">
            <a:avLst/>
          </a:prstGeom>
          <a:noFill/>
          <a:ln>
            <a:noFill/>
          </a:ln>
        </p:spPr>
        <p:style>
          <a:lnRef idx="3">
            <a:schemeClr val="lt1"/>
          </a:lnRef>
          <a:fillRef idx="1">
            <a:schemeClr val="accent6"/>
          </a:fillRef>
          <a:effectRef idx="1">
            <a:schemeClr val="accent6"/>
          </a:effectRef>
          <a:fontRef idx="minor">
            <a:schemeClr val="lt1"/>
          </a:fontRef>
        </p:style>
        <p:txBody>
          <a:bodyPr wrap="square" rtlCol="0">
            <a:spAutoFit/>
          </a:bodyPr>
          <a:lstStyle/>
          <a:p>
            <a:pPr algn="just"/>
            <a:r>
              <a:rPr lang="pt-BR" dirty="0">
                <a:solidFill>
                  <a:schemeClr val="accent6"/>
                </a:solidFill>
                <a:cs typeface="Helvetica Neue"/>
              </a:rPr>
              <a:t>O Brasil possui:</a:t>
            </a:r>
          </a:p>
          <a:p>
            <a:pPr algn="just"/>
            <a:endParaRPr lang="pt-BR" dirty="0">
              <a:solidFill>
                <a:schemeClr val="accent6"/>
              </a:solidFill>
              <a:cs typeface="Helvetica Neue"/>
            </a:endParaRPr>
          </a:p>
          <a:p>
            <a:pPr algn="just"/>
            <a:r>
              <a:rPr lang="pt-BR" dirty="0">
                <a:solidFill>
                  <a:schemeClr val="accent6"/>
                </a:solidFill>
                <a:cs typeface="Helvetica Neue"/>
              </a:rPr>
              <a:t>42.000 km de rios,</a:t>
            </a:r>
          </a:p>
          <a:p>
            <a:pPr algn="just"/>
            <a:r>
              <a:rPr lang="pt-BR" dirty="0">
                <a:solidFill>
                  <a:schemeClr val="accent6"/>
                </a:solidFill>
                <a:cs typeface="Helvetica Neue"/>
              </a:rPr>
              <a:t>27.000 km são navegáveis,</a:t>
            </a:r>
          </a:p>
          <a:p>
            <a:pPr algn="just"/>
            <a:r>
              <a:rPr lang="pt-BR" dirty="0">
                <a:solidFill>
                  <a:schemeClr val="accent6"/>
                </a:solidFill>
                <a:cs typeface="Helvetica Neue"/>
              </a:rPr>
              <a:t>15.000 km são usados e destes 50% estão na Bacia Amazônica.</a:t>
            </a:r>
            <a:endParaRPr lang="pt-BR" dirty="0">
              <a:solidFill>
                <a:schemeClr val="accent6"/>
              </a:solidFill>
            </a:endParaRPr>
          </a:p>
        </p:txBody>
      </p:sp>
    </p:spTree>
    <p:extLst>
      <p:ext uri="{BB962C8B-B14F-4D97-AF65-F5344CB8AC3E}">
        <p14:creationId xmlns:p14="http://schemas.microsoft.com/office/powerpoint/2010/main" val="1755295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1000"/>
                                        <p:tgtEl>
                                          <p:spTgt spid="11"/>
                                        </p:tgtEl>
                                      </p:cBhvr>
                                    </p:animEffect>
                                    <p:anim calcmode="lin" valueType="num">
                                      <p:cBhvr>
                                        <p:cTn id="27" dur="1000" fill="hold"/>
                                        <p:tgtEl>
                                          <p:spTgt spid="11"/>
                                        </p:tgtEl>
                                        <p:attrNameLst>
                                          <p:attrName>ppt_x</p:attrName>
                                        </p:attrNameLst>
                                      </p:cBhvr>
                                      <p:tavLst>
                                        <p:tav tm="0">
                                          <p:val>
                                            <p:strVal val="#ppt_x"/>
                                          </p:val>
                                        </p:tav>
                                        <p:tav tm="100000">
                                          <p:val>
                                            <p:strVal val="#ppt_x"/>
                                          </p:val>
                                        </p:tav>
                                      </p:tavLst>
                                    </p:anim>
                                    <p:anim calcmode="lin" valueType="num">
                                      <p:cBhvr>
                                        <p:cTn id="28"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1000"/>
                                        <p:tgtEl>
                                          <p:spTgt spid="13"/>
                                        </p:tgtEl>
                                      </p:cBhvr>
                                    </p:animEffect>
                                    <p:anim calcmode="lin" valueType="num">
                                      <p:cBhvr>
                                        <p:cTn id="34" dur="1000" fill="hold"/>
                                        <p:tgtEl>
                                          <p:spTgt spid="13"/>
                                        </p:tgtEl>
                                        <p:attrNameLst>
                                          <p:attrName>ppt_x</p:attrName>
                                        </p:attrNameLst>
                                      </p:cBhvr>
                                      <p:tavLst>
                                        <p:tav tm="0">
                                          <p:val>
                                            <p:strVal val="#ppt_x"/>
                                          </p:val>
                                        </p:tav>
                                        <p:tav tm="100000">
                                          <p:val>
                                            <p:strVal val="#ppt_x"/>
                                          </p:val>
                                        </p:tav>
                                      </p:tavLst>
                                    </p:anim>
                                    <p:anim calcmode="lin" valueType="num">
                                      <p:cBhvr>
                                        <p:cTn id="35"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5" grpId="0"/>
      <p:bldP spid="13" grpId="0"/>
      <p:bldP spid="11" grpId="0"/>
    </p:bldLst>
  </p:timing>
</p:sld>
</file>

<file path=ppt/slides/slide1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CaixaDeTexto 7"/>
          <p:cNvSpPr txBox="1"/>
          <p:nvPr/>
        </p:nvSpPr>
        <p:spPr>
          <a:xfrm>
            <a:off x="1943146" y="1566758"/>
            <a:ext cx="5852409" cy="1754326"/>
          </a:xfrm>
          <a:prstGeom prst="rect">
            <a:avLst/>
          </a:prstGeom>
          <a:noFill/>
        </p:spPr>
        <p:txBody>
          <a:bodyPr wrap="square" rtlCol="0">
            <a:spAutoFit/>
          </a:bodyPr>
          <a:lstStyle/>
          <a:p>
            <a:pPr algn="r"/>
            <a:r>
              <a:rPr lang="pt-BR" b="1" dirty="0">
                <a:solidFill>
                  <a:schemeClr val="accent6"/>
                </a:solidFill>
              </a:rPr>
              <a:t>MARITIMO</a:t>
            </a:r>
          </a:p>
          <a:p>
            <a:pPr algn="r"/>
            <a:r>
              <a:rPr lang="pt-BR" dirty="0">
                <a:solidFill>
                  <a:schemeClr val="accent6"/>
                </a:solidFill>
              </a:rPr>
              <a:t>Grande capacidade de carga;</a:t>
            </a:r>
          </a:p>
          <a:p>
            <a:pPr algn="r"/>
            <a:r>
              <a:rPr lang="pt-BR" dirty="0">
                <a:solidFill>
                  <a:schemeClr val="accent6"/>
                </a:solidFill>
              </a:rPr>
              <a:t>Longas distâncias;</a:t>
            </a:r>
          </a:p>
          <a:p>
            <a:pPr algn="r"/>
            <a:r>
              <a:rPr lang="pt-BR" dirty="0">
                <a:solidFill>
                  <a:schemeClr val="accent6"/>
                </a:solidFill>
              </a:rPr>
              <a:t>Carga: fardos, caixotes, granéis e contêineres;</a:t>
            </a:r>
          </a:p>
          <a:p>
            <a:pPr algn="r"/>
            <a:r>
              <a:rPr lang="pt-BR" dirty="0">
                <a:solidFill>
                  <a:schemeClr val="accent6"/>
                </a:solidFill>
              </a:rPr>
              <a:t>Transporte </a:t>
            </a:r>
            <a:r>
              <a:rPr lang="pt-BR" dirty="0" err="1">
                <a:solidFill>
                  <a:schemeClr val="accent6"/>
                </a:solidFill>
              </a:rPr>
              <a:t>intenacional</a:t>
            </a:r>
            <a:r>
              <a:rPr lang="pt-BR" dirty="0">
                <a:solidFill>
                  <a:schemeClr val="accent6"/>
                </a:solidFill>
              </a:rPr>
              <a:t>;</a:t>
            </a:r>
          </a:p>
          <a:p>
            <a:pPr algn="r"/>
            <a:r>
              <a:rPr lang="pt-BR" dirty="0">
                <a:solidFill>
                  <a:schemeClr val="accent6"/>
                </a:solidFill>
              </a:rPr>
              <a:t>Velocidade média de 24 km/h.</a:t>
            </a:r>
          </a:p>
        </p:txBody>
      </p:sp>
      <p:sp>
        <p:nvSpPr>
          <p:cNvPr id="12" name="CaixaDeTexto 11"/>
          <p:cNvSpPr txBox="1"/>
          <p:nvPr/>
        </p:nvSpPr>
        <p:spPr>
          <a:xfrm>
            <a:off x="4782271" y="4818964"/>
            <a:ext cx="4879087" cy="1754326"/>
          </a:xfrm>
          <a:prstGeom prst="rect">
            <a:avLst/>
          </a:prstGeom>
          <a:noFill/>
        </p:spPr>
        <p:txBody>
          <a:bodyPr wrap="square" rtlCol="0">
            <a:spAutoFit/>
          </a:bodyPr>
          <a:lstStyle/>
          <a:p>
            <a:r>
              <a:rPr lang="pt-BR" b="1" dirty="0">
                <a:solidFill>
                  <a:schemeClr val="accent6"/>
                </a:solidFill>
              </a:rPr>
              <a:t>FLUVIAL / LACUSTRE / HIDROVIÁRIO</a:t>
            </a:r>
          </a:p>
          <a:p>
            <a:r>
              <a:rPr lang="pt-BR" dirty="0">
                <a:solidFill>
                  <a:schemeClr val="accent6"/>
                </a:solidFill>
              </a:rPr>
              <a:t>Grande capacidade de carga;</a:t>
            </a:r>
          </a:p>
          <a:p>
            <a:r>
              <a:rPr lang="pt-BR" dirty="0">
                <a:solidFill>
                  <a:schemeClr val="accent6"/>
                </a:solidFill>
              </a:rPr>
              <a:t>Longas distâncias;</a:t>
            </a:r>
          </a:p>
          <a:p>
            <a:r>
              <a:rPr lang="pt-BR" dirty="0">
                <a:solidFill>
                  <a:schemeClr val="accent6"/>
                </a:solidFill>
              </a:rPr>
              <a:t>Carga: primordialmente granéis;</a:t>
            </a:r>
          </a:p>
          <a:p>
            <a:r>
              <a:rPr lang="pt-BR" dirty="0">
                <a:solidFill>
                  <a:schemeClr val="accent6"/>
                </a:solidFill>
              </a:rPr>
              <a:t>Transporte nacional;</a:t>
            </a:r>
          </a:p>
          <a:p>
            <a:r>
              <a:rPr lang="pt-BR" dirty="0">
                <a:solidFill>
                  <a:schemeClr val="accent6"/>
                </a:solidFill>
              </a:rPr>
              <a:t>Velocidade média de 15 km/h.</a:t>
            </a:r>
          </a:p>
        </p:txBody>
      </p:sp>
      <p:pic>
        <p:nvPicPr>
          <p:cNvPr id="1026" name="Picture 2" descr="Resultado de imagem para capacidade chata barcaça fluvia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803" y="3708496"/>
            <a:ext cx="4548450" cy="277609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Resultado de imagem para maior navio cargueir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51965" y="1489779"/>
            <a:ext cx="4057086" cy="3042816"/>
          </a:xfrm>
          <a:prstGeom prst="rect">
            <a:avLst/>
          </a:prstGeom>
          <a:noFill/>
          <a:extLst>
            <a:ext uri="{909E8E84-426E-40DD-AFC4-6F175D3DCCD1}">
              <a14:hiddenFill xmlns:a14="http://schemas.microsoft.com/office/drawing/2010/main">
                <a:solidFill>
                  <a:srgbClr val="FFFFFF"/>
                </a:solidFill>
              </a14:hiddenFill>
            </a:ext>
          </a:extLst>
        </p:spPr>
      </p:pic>
      <p:sp>
        <p:nvSpPr>
          <p:cNvPr id="9" name="Retângulo 8"/>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
        <p:nvSpPr>
          <p:cNvPr id="11" name="Title 1"/>
          <p:cNvSpPr txBox="1">
            <a:spLocks/>
          </p:cNvSpPr>
          <p:nvPr/>
        </p:nvSpPr>
        <p:spPr bwMode="auto">
          <a:xfrm>
            <a:off x="2702982" y="822118"/>
            <a:ext cx="6786036" cy="4005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noAutofit/>
          </a:bodyPr>
          <a:lstStyle>
            <a:lvl1pPr algn="l" defTabSz="449263" rtl="0" eaLnBrk="1" fontAlgn="base" hangingPunct="1">
              <a:spcBef>
                <a:spcPct val="0"/>
              </a:spcBef>
              <a:spcAft>
                <a:spcPct val="0"/>
              </a:spcAft>
              <a:buClr>
                <a:srgbClr val="000000"/>
              </a:buClr>
              <a:buSzPct val="100000"/>
              <a:buFont typeface="Times New Roman" panose="02020603050405020304" pitchFamily="18" charset="0"/>
              <a:defRPr sz="4100" b="1" kern="1200">
                <a:solidFill>
                  <a:srgbClr val="464646"/>
                </a:solidFill>
                <a:latin typeface="+mj-lt"/>
                <a:ea typeface="+mj-ea"/>
                <a:cs typeface="+mj-cs"/>
              </a:defRPr>
            </a:lvl1pPr>
            <a:lvl2pPr marL="742950" indent="-28575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2pPr>
            <a:lvl3pPr marL="1143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3pPr>
            <a:lvl4pPr marL="1600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4pPr>
            <a:lvl5pPr marL="20574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5pPr>
            <a:lvl6pPr marL="25146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6pPr>
            <a:lvl7pPr marL="29718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7pPr>
            <a:lvl8pPr marL="3429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8pPr>
            <a:lvl9pPr marL="3886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9pPr>
          </a:lstStyle>
          <a:p>
            <a:pPr algn="ctr"/>
            <a:r>
              <a:rPr lang="pt-BR" sz="2000" dirty="0">
                <a:solidFill>
                  <a:schemeClr val="accent6"/>
                </a:solidFill>
                <a:latin typeface="+mn-lt"/>
              </a:rPr>
              <a:t>MODAL AQUAVIÁRIO</a:t>
            </a:r>
          </a:p>
        </p:txBody>
      </p:sp>
    </p:spTree>
    <p:extLst>
      <p:ext uri="{BB962C8B-B14F-4D97-AF65-F5344CB8AC3E}">
        <p14:creationId xmlns:p14="http://schemas.microsoft.com/office/powerpoint/2010/main" val="2214560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028"/>
                                        </p:tgtEl>
                                        <p:attrNameLst>
                                          <p:attrName>style.visibility</p:attrName>
                                        </p:attrNameLst>
                                      </p:cBhvr>
                                      <p:to>
                                        <p:strVal val="visible"/>
                                      </p:to>
                                    </p:set>
                                    <p:anim calcmode="lin" valueType="num">
                                      <p:cBhvr additive="base">
                                        <p:cTn id="11" dur="500" fill="hold"/>
                                        <p:tgtEl>
                                          <p:spTgt spid="1028"/>
                                        </p:tgtEl>
                                        <p:attrNameLst>
                                          <p:attrName>ppt_x</p:attrName>
                                        </p:attrNameLst>
                                      </p:cBhvr>
                                      <p:tavLst>
                                        <p:tav tm="0">
                                          <p:val>
                                            <p:strVal val="1+#ppt_w/2"/>
                                          </p:val>
                                        </p:tav>
                                        <p:tav tm="100000">
                                          <p:val>
                                            <p:strVal val="#ppt_x"/>
                                          </p:val>
                                        </p:tav>
                                      </p:tavLst>
                                    </p:anim>
                                    <p:anim calcmode="lin" valueType="num">
                                      <p:cBhvr additive="base">
                                        <p:cTn id="12" dur="500" fill="hold"/>
                                        <p:tgtEl>
                                          <p:spTgt spid="1028"/>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additive="base">
                                        <p:cTn id="17" dur="500" fill="hold"/>
                                        <p:tgtEl>
                                          <p:spTgt spid="12"/>
                                        </p:tgtEl>
                                        <p:attrNameLst>
                                          <p:attrName>ppt_x</p:attrName>
                                        </p:attrNameLst>
                                      </p:cBhvr>
                                      <p:tavLst>
                                        <p:tav tm="0">
                                          <p:val>
                                            <p:strVal val="1+#ppt_w/2"/>
                                          </p:val>
                                        </p:tav>
                                        <p:tav tm="100000">
                                          <p:val>
                                            <p:strVal val="#ppt_x"/>
                                          </p:val>
                                        </p:tav>
                                      </p:tavLst>
                                    </p:anim>
                                    <p:anim calcmode="lin" valueType="num">
                                      <p:cBhvr additive="base">
                                        <p:cTn id="18" dur="500" fill="hold"/>
                                        <p:tgtEl>
                                          <p:spTgt spid="12"/>
                                        </p:tgtEl>
                                        <p:attrNameLst>
                                          <p:attrName>ppt_y</p:attrName>
                                        </p:attrNameLst>
                                      </p:cBhvr>
                                      <p:tavLst>
                                        <p:tav tm="0">
                                          <p:val>
                                            <p:strVal val="#ppt_y"/>
                                          </p:val>
                                        </p:tav>
                                        <p:tav tm="100000">
                                          <p:val>
                                            <p:strVal val="#ppt_y"/>
                                          </p:val>
                                        </p:tav>
                                      </p:tavLst>
                                    </p:anim>
                                  </p:childTnLst>
                                </p:cTn>
                              </p:par>
                              <p:par>
                                <p:cTn id="19" presetID="2" presetClass="entr" presetSubtype="8" fill="hold" nodeType="withEffect">
                                  <p:stCondLst>
                                    <p:cond delay="0"/>
                                  </p:stCondLst>
                                  <p:childTnLst>
                                    <p:set>
                                      <p:cBhvr>
                                        <p:cTn id="20" dur="1" fill="hold">
                                          <p:stCondLst>
                                            <p:cond delay="0"/>
                                          </p:stCondLst>
                                        </p:cTn>
                                        <p:tgtEl>
                                          <p:spTgt spid="1026"/>
                                        </p:tgtEl>
                                        <p:attrNameLst>
                                          <p:attrName>style.visibility</p:attrName>
                                        </p:attrNameLst>
                                      </p:cBhvr>
                                      <p:to>
                                        <p:strVal val="visible"/>
                                      </p:to>
                                    </p:set>
                                    <p:anim calcmode="lin" valueType="num">
                                      <p:cBhvr additive="base">
                                        <p:cTn id="21" dur="500" fill="hold"/>
                                        <p:tgtEl>
                                          <p:spTgt spid="1026"/>
                                        </p:tgtEl>
                                        <p:attrNameLst>
                                          <p:attrName>ppt_x</p:attrName>
                                        </p:attrNameLst>
                                      </p:cBhvr>
                                      <p:tavLst>
                                        <p:tav tm="0">
                                          <p:val>
                                            <p:strVal val="0-#ppt_w/2"/>
                                          </p:val>
                                        </p:tav>
                                        <p:tav tm="100000">
                                          <p:val>
                                            <p:strVal val="#ppt_x"/>
                                          </p:val>
                                        </p:tav>
                                      </p:tavLst>
                                    </p:anim>
                                    <p:anim calcmode="lin" valueType="num">
                                      <p:cBhvr additive="base">
                                        <p:cTn id="22" dur="500" fill="hold"/>
                                        <p:tgtEl>
                                          <p:spTgt spid="10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p:bldLst>
  </p:timing>
</p:sld>
</file>

<file path=ppt/slides/slide1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tângulo 3"/>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
        <p:nvSpPr>
          <p:cNvPr id="8" name="Title 1"/>
          <p:cNvSpPr txBox="1">
            <a:spLocks/>
          </p:cNvSpPr>
          <p:nvPr/>
        </p:nvSpPr>
        <p:spPr bwMode="auto">
          <a:xfrm>
            <a:off x="2702982" y="822118"/>
            <a:ext cx="6786036" cy="4005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noAutofit/>
          </a:bodyPr>
          <a:lstStyle>
            <a:lvl1pPr algn="l" defTabSz="449263" rtl="0" eaLnBrk="1" fontAlgn="base" hangingPunct="1">
              <a:spcBef>
                <a:spcPct val="0"/>
              </a:spcBef>
              <a:spcAft>
                <a:spcPct val="0"/>
              </a:spcAft>
              <a:buClr>
                <a:srgbClr val="000000"/>
              </a:buClr>
              <a:buSzPct val="100000"/>
              <a:buFont typeface="Times New Roman" panose="02020603050405020304" pitchFamily="18" charset="0"/>
              <a:defRPr sz="4100" b="1" kern="1200">
                <a:solidFill>
                  <a:srgbClr val="464646"/>
                </a:solidFill>
                <a:latin typeface="+mj-lt"/>
                <a:ea typeface="+mj-ea"/>
                <a:cs typeface="+mj-cs"/>
              </a:defRPr>
            </a:lvl1pPr>
            <a:lvl2pPr marL="742950" indent="-28575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2pPr>
            <a:lvl3pPr marL="1143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3pPr>
            <a:lvl4pPr marL="1600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4pPr>
            <a:lvl5pPr marL="20574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5pPr>
            <a:lvl6pPr marL="25146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6pPr>
            <a:lvl7pPr marL="29718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7pPr>
            <a:lvl8pPr marL="3429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8pPr>
            <a:lvl9pPr marL="3886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9pPr>
          </a:lstStyle>
          <a:p>
            <a:pPr algn="ctr"/>
            <a:r>
              <a:rPr lang="pt-BR" sz="2000" dirty="0">
                <a:solidFill>
                  <a:schemeClr val="accent6"/>
                </a:solidFill>
                <a:latin typeface="+mn-lt"/>
              </a:rPr>
              <a:t>MODAL AQUAVIÁRIO</a:t>
            </a:r>
          </a:p>
        </p:txBody>
      </p:sp>
      <p:pic>
        <p:nvPicPr>
          <p:cNvPr id="6" name="Picture 5" descr="ThinkstockPhotos-467773613 (1).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58225" y="2470557"/>
            <a:ext cx="3833149" cy="2419676"/>
          </a:xfrm>
          <a:prstGeom prst="rect">
            <a:avLst/>
          </a:prstGeom>
        </p:spPr>
      </p:pic>
      <p:sp>
        <p:nvSpPr>
          <p:cNvPr id="7" name="TextBox 9"/>
          <p:cNvSpPr txBox="1"/>
          <p:nvPr/>
        </p:nvSpPr>
        <p:spPr>
          <a:xfrm>
            <a:off x="1000626" y="1824226"/>
            <a:ext cx="10190748" cy="646331"/>
          </a:xfrm>
          <a:prstGeom prst="rect">
            <a:avLst/>
          </a:prstGeom>
          <a:noFill/>
        </p:spPr>
        <p:txBody>
          <a:bodyPr wrap="square" rtlCol="0">
            <a:spAutoFit/>
          </a:bodyPr>
          <a:lstStyle/>
          <a:p>
            <a:pPr algn="just">
              <a:spcBef>
                <a:spcPts val="600"/>
              </a:spcBef>
            </a:pPr>
            <a:r>
              <a:rPr lang="pt-BR" dirty="0">
                <a:solidFill>
                  <a:schemeClr val="accent6"/>
                </a:solidFill>
                <a:cs typeface="Helvetica Neue"/>
              </a:rPr>
              <a:t>O Brasil apresenta uma extensa área de costa que potencializa tanto a navegação marítima quanto a de cabotagem. O principal porto marítimo é o Porto de Santos.</a:t>
            </a:r>
          </a:p>
        </p:txBody>
      </p:sp>
      <p:sp>
        <p:nvSpPr>
          <p:cNvPr id="14" name="Rectangle 12"/>
          <p:cNvSpPr/>
          <p:nvPr/>
        </p:nvSpPr>
        <p:spPr>
          <a:xfrm>
            <a:off x="1000626" y="4890233"/>
            <a:ext cx="10190748" cy="923330"/>
          </a:xfrm>
          <a:prstGeom prst="rect">
            <a:avLst/>
          </a:prstGeom>
        </p:spPr>
        <p:txBody>
          <a:bodyPr wrap="square">
            <a:spAutoFit/>
          </a:bodyPr>
          <a:lstStyle/>
          <a:p>
            <a:pPr algn="just">
              <a:spcBef>
                <a:spcPts val="300"/>
              </a:spcBef>
            </a:pPr>
            <a:r>
              <a:rPr lang="pt-BR" dirty="0">
                <a:solidFill>
                  <a:schemeClr val="accent6"/>
                </a:solidFill>
                <a:cs typeface="Helvetica Neue"/>
              </a:rPr>
              <a:t>Há problemas de infraestrutura e capacidade dos portos, o que resulta em limitações, por exemplo, no tipo de navio que pode atracar e na longa fila de espera, com impactos nos custos do transporte e tempo de trânsito (prazos).</a:t>
            </a:r>
          </a:p>
        </p:txBody>
      </p:sp>
      <p:sp>
        <p:nvSpPr>
          <p:cNvPr id="15" name="Rectangle 13"/>
          <p:cNvSpPr/>
          <p:nvPr/>
        </p:nvSpPr>
        <p:spPr>
          <a:xfrm>
            <a:off x="1649891" y="5993756"/>
            <a:ext cx="8507193" cy="338554"/>
          </a:xfrm>
          <a:prstGeom prst="rect">
            <a:avLst/>
          </a:prstGeom>
          <a:noFill/>
          <a:ln>
            <a:noFill/>
          </a:ln>
        </p:spPr>
        <p:txBody>
          <a:bodyPr wrap="square">
            <a:spAutoFit/>
          </a:bodyPr>
          <a:lstStyle/>
          <a:p>
            <a:pPr algn="just">
              <a:spcBef>
                <a:spcPts val="300"/>
              </a:spcBef>
            </a:pPr>
            <a:r>
              <a:rPr lang="pt-BR" sz="1600" b="1" i="1" dirty="0">
                <a:solidFill>
                  <a:schemeClr val="accent6"/>
                </a:solidFill>
                <a:cs typeface="Helvetica Neue"/>
              </a:rPr>
              <a:t>Mapa da malha hidroviária</a:t>
            </a:r>
            <a:r>
              <a:rPr lang="pt-BR" sz="1600" dirty="0">
                <a:solidFill>
                  <a:schemeClr val="accent6"/>
                </a:solidFill>
                <a:cs typeface="Helvetica Neue"/>
              </a:rPr>
              <a:t>: </a:t>
            </a:r>
            <a:r>
              <a:rPr lang="pt-BR" sz="1600" dirty="0">
                <a:solidFill>
                  <a:schemeClr val="accent6"/>
                </a:solidFill>
                <a:cs typeface="Helvetica Neue"/>
                <a:hlinkClick r:id="rId3"/>
              </a:rPr>
              <a:t>www2.transportes.gov.br/bit/05-mar/mar.html</a:t>
            </a:r>
            <a:r>
              <a:rPr lang="pt-BR" sz="1600" dirty="0">
                <a:solidFill>
                  <a:schemeClr val="accent6"/>
                </a:solidFill>
                <a:cs typeface="Helvetica Neue"/>
              </a:rPr>
              <a:t>  </a:t>
            </a:r>
          </a:p>
        </p:txBody>
      </p:sp>
      <p:sp>
        <p:nvSpPr>
          <p:cNvPr id="16" name="TextBox 7"/>
          <p:cNvSpPr txBox="1"/>
          <p:nvPr/>
        </p:nvSpPr>
        <p:spPr>
          <a:xfrm>
            <a:off x="1000626" y="3036989"/>
            <a:ext cx="5929563" cy="1477328"/>
          </a:xfrm>
          <a:prstGeom prst="rect">
            <a:avLst/>
          </a:prstGeom>
          <a:noFill/>
        </p:spPr>
        <p:txBody>
          <a:bodyPr wrap="square" rtlCol="0">
            <a:spAutoFit/>
          </a:bodyPr>
          <a:lstStyle/>
          <a:p>
            <a:pPr algn="just">
              <a:spcBef>
                <a:spcPts val="300"/>
              </a:spcBef>
            </a:pPr>
            <a:r>
              <a:rPr lang="pt-BR" dirty="0">
                <a:solidFill>
                  <a:schemeClr val="accent6"/>
                </a:solidFill>
                <a:cs typeface="Helvetica Neue"/>
              </a:rPr>
              <a:t>O sistema portuário brasileiro comporta hoje dois tipos de terminais: o terminal especializado (privado) e o do cais de uso público (Companhia Docas), com grandes diferenciais de desempenho e eficiência.</a:t>
            </a:r>
          </a:p>
        </p:txBody>
      </p:sp>
    </p:spTree>
    <p:extLst>
      <p:ext uri="{BB962C8B-B14F-4D97-AF65-F5344CB8AC3E}">
        <p14:creationId xmlns:p14="http://schemas.microsoft.com/office/powerpoint/2010/main" val="2676024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up)">
                                      <p:cBhvr>
                                        <p:cTn id="12" dur="500"/>
                                        <p:tgtEl>
                                          <p:spTgt spid="16"/>
                                        </p:tgtEl>
                                      </p:cBhvr>
                                    </p:animEffect>
                                  </p:childTnLst>
                                </p:cTn>
                              </p:par>
                              <p:par>
                                <p:cTn id="13" presetID="22" presetClass="entr" presetSubtype="4"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down)">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wipe(down)">
                                      <p:cBhvr>
                                        <p:cTn id="20" dur="500"/>
                                        <p:tgtEl>
                                          <p:spTgt spid="14"/>
                                        </p:tgtEl>
                                      </p:cBhvr>
                                    </p:animEffect>
                                  </p:childTnLst>
                                </p:cTn>
                              </p:par>
                            </p:childTnLst>
                          </p:cTn>
                        </p:par>
                        <p:par>
                          <p:cTn id="21" fill="hold">
                            <p:stCondLst>
                              <p:cond delay="500"/>
                            </p:stCondLst>
                            <p:childTnLst>
                              <p:par>
                                <p:cTn id="22" presetID="22" presetClass="entr" presetSubtype="4" fill="hold" grpId="0" nodeType="after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wipe(down)">
                                      <p:cBhvr>
                                        <p:cTn id="2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4" grpId="0"/>
      <p:bldP spid="15" grpId="0"/>
      <p:bldP spid="16" grpId="0"/>
    </p:bldLst>
  </p:timing>
</p:sld>
</file>

<file path=ppt/slides/slide1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tângulo 3"/>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
        <p:nvSpPr>
          <p:cNvPr id="8" name="Title 1"/>
          <p:cNvSpPr txBox="1">
            <a:spLocks/>
          </p:cNvSpPr>
          <p:nvPr/>
        </p:nvSpPr>
        <p:spPr bwMode="auto">
          <a:xfrm>
            <a:off x="2702982" y="822118"/>
            <a:ext cx="6786036" cy="4005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noAutofit/>
          </a:bodyPr>
          <a:lstStyle>
            <a:lvl1pPr algn="l" defTabSz="449263" rtl="0" eaLnBrk="1" fontAlgn="base" hangingPunct="1">
              <a:spcBef>
                <a:spcPct val="0"/>
              </a:spcBef>
              <a:spcAft>
                <a:spcPct val="0"/>
              </a:spcAft>
              <a:buClr>
                <a:srgbClr val="000000"/>
              </a:buClr>
              <a:buSzPct val="100000"/>
              <a:buFont typeface="Times New Roman" panose="02020603050405020304" pitchFamily="18" charset="0"/>
              <a:defRPr sz="4100" b="1" kern="1200">
                <a:solidFill>
                  <a:srgbClr val="464646"/>
                </a:solidFill>
                <a:latin typeface="+mj-lt"/>
                <a:ea typeface="+mj-ea"/>
                <a:cs typeface="+mj-cs"/>
              </a:defRPr>
            </a:lvl1pPr>
            <a:lvl2pPr marL="742950" indent="-28575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2pPr>
            <a:lvl3pPr marL="1143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3pPr>
            <a:lvl4pPr marL="1600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4pPr>
            <a:lvl5pPr marL="20574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5pPr>
            <a:lvl6pPr marL="25146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6pPr>
            <a:lvl7pPr marL="29718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7pPr>
            <a:lvl8pPr marL="3429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8pPr>
            <a:lvl9pPr marL="3886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9pPr>
          </a:lstStyle>
          <a:p>
            <a:pPr algn="ctr"/>
            <a:r>
              <a:rPr lang="pt-BR" sz="2000" dirty="0">
                <a:solidFill>
                  <a:schemeClr val="accent6"/>
                </a:solidFill>
                <a:latin typeface="+mn-lt"/>
              </a:rPr>
              <a:t>MODAL AQUAVIÁRIO</a:t>
            </a:r>
          </a:p>
        </p:txBody>
      </p:sp>
      <p:sp>
        <p:nvSpPr>
          <p:cNvPr id="9" name="TextBox 5"/>
          <p:cNvSpPr txBox="1"/>
          <p:nvPr/>
        </p:nvSpPr>
        <p:spPr>
          <a:xfrm>
            <a:off x="977900" y="1430595"/>
            <a:ext cx="7023100" cy="369332"/>
          </a:xfrm>
          <a:prstGeom prst="rect">
            <a:avLst/>
          </a:prstGeom>
          <a:noFill/>
        </p:spPr>
        <p:txBody>
          <a:bodyPr wrap="square" rtlCol="0">
            <a:spAutoFit/>
          </a:bodyPr>
          <a:lstStyle/>
          <a:p>
            <a:r>
              <a:rPr lang="pt-BR" b="1" dirty="0">
                <a:solidFill>
                  <a:schemeClr val="accent6"/>
                </a:solidFill>
                <a:cs typeface="Helvetica Neue"/>
              </a:rPr>
              <a:t>Características do transporte aquaviário de carga no Brasil:</a:t>
            </a:r>
          </a:p>
        </p:txBody>
      </p:sp>
      <p:sp>
        <p:nvSpPr>
          <p:cNvPr id="10" name="TextBox 6"/>
          <p:cNvSpPr txBox="1"/>
          <p:nvPr/>
        </p:nvSpPr>
        <p:spPr>
          <a:xfrm>
            <a:off x="977900" y="1799927"/>
            <a:ext cx="10325100" cy="4308872"/>
          </a:xfrm>
          <a:prstGeom prst="rect">
            <a:avLst/>
          </a:prstGeom>
          <a:noFill/>
        </p:spPr>
        <p:txBody>
          <a:bodyPr wrap="square" rtlCol="0">
            <a:spAutoFit/>
          </a:bodyPr>
          <a:lstStyle/>
          <a:p>
            <a:pPr marL="285750" indent="-285750" algn="just">
              <a:spcBef>
                <a:spcPts val="600"/>
              </a:spcBef>
              <a:buFont typeface="Courier New" panose="02070309020205020404" pitchFamily="49" charset="0"/>
              <a:buChar char="o"/>
            </a:pPr>
            <a:r>
              <a:rPr lang="pt-BR" sz="1600" dirty="0">
                <a:solidFill>
                  <a:schemeClr val="accent6"/>
                </a:solidFill>
                <a:cs typeface="Helvetica Neue"/>
              </a:rPr>
              <a:t>Grande capacidade de carga; diversos tipos de carga;</a:t>
            </a:r>
          </a:p>
          <a:p>
            <a:pPr marL="285750" indent="-285750" algn="just">
              <a:spcBef>
                <a:spcPts val="600"/>
              </a:spcBef>
              <a:buFont typeface="Courier New" panose="02070309020205020404" pitchFamily="49" charset="0"/>
              <a:buChar char="o"/>
            </a:pPr>
            <a:r>
              <a:rPr lang="pt-BR" sz="1600" dirty="0">
                <a:solidFill>
                  <a:schemeClr val="accent6"/>
                </a:solidFill>
                <a:cs typeface="Helvetica Neue"/>
              </a:rPr>
              <a:t>Baixo custo de transporte;</a:t>
            </a:r>
          </a:p>
          <a:p>
            <a:pPr marL="285750" indent="-285750" algn="just">
              <a:spcBef>
                <a:spcPts val="600"/>
              </a:spcBef>
              <a:buFont typeface="Courier New" panose="02070309020205020404" pitchFamily="49" charset="0"/>
              <a:buChar char="o"/>
            </a:pPr>
            <a:r>
              <a:rPr lang="pt-BR" sz="1600" dirty="0">
                <a:solidFill>
                  <a:schemeClr val="accent6"/>
                </a:solidFill>
                <a:cs typeface="Helvetica Neue"/>
              </a:rPr>
              <a:t>Adequado para transporte de longa distância em grande volume de carga, especialmente commodities;</a:t>
            </a:r>
          </a:p>
          <a:p>
            <a:pPr marL="285750" indent="-285750" algn="just">
              <a:spcBef>
                <a:spcPts val="600"/>
              </a:spcBef>
              <a:buFont typeface="Courier New" panose="02070309020205020404" pitchFamily="49" charset="0"/>
              <a:buChar char="o"/>
            </a:pPr>
            <a:r>
              <a:rPr lang="pt-BR" sz="1600" dirty="0">
                <a:solidFill>
                  <a:schemeClr val="accent6"/>
                </a:solidFill>
                <a:cs typeface="Helvetica Neue"/>
              </a:rPr>
              <a:t>Flexibilidade baixa para transporte fluvial e média para marítimo; </a:t>
            </a:r>
          </a:p>
          <a:p>
            <a:pPr marL="285750" indent="-285750" algn="just">
              <a:spcBef>
                <a:spcPts val="600"/>
              </a:spcBef>
              <a:buFont typeface="Courier New" panose="02070309020205020404" pitchFamily="49" charset="0"/>
              <a:buChar char="o"/>
            </a:pPr>
            <a:r>
              <a:rPr lang="pt-BR" sz="1600" dirty="0">
                <a:solidFill>
                  <a:schemeClr val="accent6"/>
                </a:solidFill>
                <a:cs typeface="Helvetica Neue"/>
              </a:rPr>
              <a:t>Transporte lento (baixa velocidade);</a:t>
            </a:r>
          </a:p>
          <a:p>
            <a:pPr marL="285750" indent="-285750" algn="just">
              <a:spcBef>
                <a:spcPts val="600"/>
              </a:spcBef>
              <a:buFont typeface="Courier New" panose="02070309020205020404" pitchFamily="49" charset="0"/>
              <a:buChar char="o"/>
            </a:pPr>
            <a:r>
              <a:rPr lang="pt-BR" sz="1600" dirty="0">
                <a:solidFill>
                  <a:schemeClr val="accent6"/>
                </a:solidFill>
                <a:cs typeface="Helvetica Neue"/>
              </a:rPr>
              <a:t>Limitado a zonas da orla marítima, rios ou lagoas navegáveis;</a:t>
            </a:r>
          </a:p>
          <a:p>
            <a:pPr marL="285750" indent="-285750" algn="just">
              <a:spcBef>
                <a:spcPts val="600"/>
              </a:spcBef>
              <a:buFont typeface="Courier New" panose="02070309020205020404" pitchFamily="49" charset="0"/>
              <a:buChar char="o"/>
            </a:pPr>
            <a:r>
              <a:rPr lang="pt-BR" sz="1600" dirty="0">
                <a:solidFill>
                  <a:schemeClr val="accent6"/>
                </a:solidFill>
                <a:cs typeface="Helvetica Neue"/>
              </a:rPr>
              <a:t>Dependente de outros modais (rodoviário);</a:t>
            </a:r>
          </a:p>
          <a:p>
            <a:pPr marL="285750" indent="-285750" algn="just">
              <a:spcBef>
                <a:spcPts val="600"/>
              </a:spcBef>
              <a:buFont typeface="Courier New" panose="02070309020205020404" pitchFamily="49" charset="0"/>
              <a:buChar char="o"/>
            </a:pPr>
            <a:r>
              <a:rPr lang="pt-BR" sz="1600" dirty="0">
                <a:solidFill>
                  <a:schemeClr val="accent6"/>
                </a:solidFill>
                <a:cs typeface="Helvetica Neue"/>
              </a:rPr>
              <a:t>Influenciado pelas condições climáticas;</a:t>
            </a:r>
          </a:p>
          <a:p>
            <a:pPr marL="285750" indent="-285750" algn="just">
              <a:spcBef>
                <a:spcPts val="600"/>
              </a:spcBef>
              <a:buFont typeface="Courier New" panose="02070309020205020404" pitchFamily="49" charset="0"/>
              <a:buChar char="o"/>
            </a:pPr>
            <a:r>
              <a:rPr lang="pt-BR" sz="1600" dirty="0">
                <a:solidFill>
                  <a:schemeClr val="accent6"/>
                </a:solidFill>
                <a:cs typeface="Helvetica Neue"/>
              </a:rPr>
              <a:t>Manutenção: custo baixo no fluvial; alto no marítimo;</a:t>
            </a:r>
          </a:p>
          <a:p>
            <a:pPr marL="285750" indent="-285750" algn="just">
              <a:spcBef>
                <a:spcPts val="600"/>
              </a:spcBef>
              <a:buFont typeface="Courier New" panose="02070309020205020404" pitchFamily="49" charset="0"/>
              <a:buChar char="o"/>
            </a:pPr>
            <a:r>
              <a:rPr lang="pt-BR" sz="1600" dirty="0">
                <a:solidFill>
                  <a:schemeClr val="accent6"/>
                </a:solidFill>
                <a:cs typeface="Helvetica Neue"/>
              </a:rPr>
              <a:t>Baixo nível de poluição em relação aos outros modais;</a:t>
            </a:r>
          </a:p>
          <a:p>
            <a:pPr marL="285750" indent="-285750" algn="just">
              <a:spcBef>
                <a:spcPts val="600"/>
              </a:spcBef>
              <a:buFont typeface="Courier New" panose="02070309020205020404" pitchFamily="49" charset="0"/>
              <a:buChar char="o"/>
            </a:pPr>
            <a:r>
              <a:rPr lang="pt-BR" sz="1600" dirty="0">
                <a:solidFill>
                  <a:schemeClr val="accent6"/>
                </a:solidFill>
                <a:cs typeface="Helvetica Neue"/>
              </a:rPr>
              <a:t>Baixo custo de implantação do fluvial quando se analisa uma via de leito natural, mas pode ser elevado se existir necessidade de construção de infraestruturas especiais, como: eclusas, barragens, canais, etc. </a:t>
            </a:r>
          </a:p>
        </p:txBody>
      </p:sp>
      <p:sp>
        <p:nvSpPr>
          <p:cNvPr id="11" name="TextBox 7"/>
          <p:cNvSpPr txBox="1"/>
          <p:nvPr/>
        </p:nvSpPr>
        <p:spPr>
          <a:xfrm>
            <a:off x="2119983" y="5958589"/>
            <a:ext cx="7952035" cy="338554"/>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rtlCol="0">
            <a:spAutoFit/>
          </a:bodyPr>
          <a:lstStyle/>
          <a:p>
            <a:pPr algn="ctr"/>
            <a:r>
              <a:rPr lang="pt-BR" sz="1600" b="1" dirty="0">
                <a:solidFill>
                  <a:srgbClr val="FF0000"/>
                </a:solidFill>
              </a:rPr>
              <a:t>QUAL O PONTO MAIS RELEVANTE PARA A ESCOLHA DO MODAL AQUAVIÁRIO ?</a:t>
            </a:r>
          </a:p>
        </p:txBody>
      </p:sp>
      <p:pic>
        <p:nvPicPr>
          <p:cNvPr id="12" name="Picture 4" descr="ThinkstockPhotos-165492661.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01000" y="2844133"/>
            <a:ext cx="3419397" cy="2276037"/>
          </a:xfrm>
          <a:prstGeom prst="rect">
            <a:avLst/>
          </a:prstGeom>
        </p:spPr>
      </p:pic>
    </p:spTree>
    <p:extLst>
      <p:ext uri="{BB962C8B-B14F-4D97-AF65-F5344CB8AC3E}">
        <p14:creationId xmlns:p14="http://schemas.microsoft.com/office/powerpoint/2010/main" val="1710248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10">
                                            <p:txEl>
                                              <p:pRg st="0" end="0"/>
                                            </p:txEl>
                                          </p:spTgt>
                                        </p:tgtEl>
                                        <p:attrNameLst>
                                          <p:attrName>style.visibility</p:attrName>
                                        </p:attrNameLst>
                                      </p:cBhvr>
                                      <p:to>
                                        <p:strVal val="visible"/>
                                      </p:to>
                                    </p:set>
                                    <p:animEffect transition="in" filter="wipe(up)">
                                      <p:cBhvr>
                                        <p:cTn id="19" dur="500"/>
                                        <p:tgtEl>
                                          <p:spTgt spid="10">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10">
                                            <p:txEl>
                                              <p:pRg st="1" end="1"/>
                                            </p:txEl>
                                          </p:spTgt>
                                        </p:tgtEl>
                                        <p:attrNameLst>
                                          <p:attrName>style.visibility</p:attrName>
                                        </p:attrNameLst>
                                      </p:cBhvr>
                                      <p:to>
                                        <p:strVal val="visible"/>
                                      </p:to>
                                    </p:set>
                                    <p:animEffect transition="in" filter="wipe(up)">
                                      <p:cBhvr>
                                        <p:cTn id="24" dur="500"/>
                                        <p:tgtEl>
                                          <p:spTgt spid="10">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10">
                                            <p:txEl>
                                              <p:pRg st="2" end="2"/>
                                            </p:txEl>
                                          </p:spTgt>
                                        </p:tgtEl>
                                        <p:attrNameLst>
                                          <p:attrName>style.visibility</p:attrName>
                                        </p:attrNameLst>
                                      </p:cBhvr>
                                      <p:to>
                                        <p:strVal val="visible"/>
                                      </p:to>
                                    </p:set>
                                    <p:animEffect transition="in" filter="wipe(up)">
                                      <p:cBhvr>
                                        <p:cTn id="29" dur="500"/>
                                        <p:tgtEl>
                                          <p:spTgt spid="10">
                                            <p:txEl>
                                              <p:pRg st="2" end="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10">
                                            <p:txEl>
                                              <p:pRg st="3" end="3"/>
                                            </p:txEl>
                                          </p:spTgt>
                                        </p:tgtEl>
                                        <p:attrNameLst>
                                          <p:attrName>style.visibility</p:attrName>
                                        </p:attrNameLst>
                                      </p:cBhvr>
                                      <p:to>
                                        <p:strVal val="visible"/>
                                      </p:to>
                                    </p:set>
                                    <p:animEffect transition="in" filter="wipe(up)">
                                      <p:cBhvr>
                                        <p:cTn id="34" dur="500"/>
                                        <p:tgtEl>
                                          <p:spTgt spid="10">
                                            <p:txEl>
                                              <p:pRg st="3" end="3"/>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10">
                                            <p:txEl>
                                              <p:pRg st="4" end="4"/>
                                            </p:txEl>
                                          </p:spTgt>
                                        </p:tgtEl>
                                        <p:attrNameLst>
                                          <p:attrName>style.visibility</p:attrName>
                                        </p:attrNameLst>
                                      </p:cBhvr>
                                      <p:to>
                                        <p:strVal val="visible"/>
                                      </p:to>
                                    </p:set>
                                    <p:animEffect transition="in" filter="wipe(up)">
                                      <p:cBhvr>
                                        <p:cTn id="39" dur="500"/>
                                        <p:tgtEl>
                                          <p:spTgt spid="10">
                                            <p:txEl>
                                              <p:pRg st="4" end="4"/>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10">
                                            <p:txEl>
                                              <p:pRg st="5" end="5"/>
                                            </p:txEl>
                                          </p:spTgt>
                                        </p:tgtEl>
                                        <p:attrNameLst>
                                          <p:attrName>style.visibility</p:attrName>
                                        </p:attrNameLst>
                                      </p:cBhvr>
                                      <p:to>
                                        <p:strVal val="visible"/>
                                      </p:to>
                                    </p:set>
                                    <p:animEffect transition="in" filter="wipe(up)">
                                      <p:cBhvr>
                                        <p:cTn id="44" dur="500"/>
                                        <p:tgtEl>
                                          <p:spTgt spid="10">
                                            <p:txEl>
                                              <p:pRg st="5" end="5"/>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grpId="0" nodeType="clickEffect">
                                  <p:stCondLst>
                                    <p:cond delay="0"/>
                                  </p:stCondLst>
                                  <p:childTnLst>
                                    <p:set>
                                      <p:cBhvr>
                                        <p:cTn id="48" dur="1" fill="hold">
                                          <p:stCondLst>
                                            <p:cond delay="0"/>
                                          </p:stCondLst>
                                        </p:cTn>
                                        <p:tgtEl>
                                          <p:spTgt spid="10">
                                            <p:txEl>
                                              <p:pRg st="6" end="6"/>
                                            </p:txEl>
                                          </p:spTgt>
                                        </p:tgtEl>
                                        <p:attrNameLst>
                                          <p:attrName>style.visibility</p:attrName>
                                        </p:attrNameLst>
                                      </p:cBhvr>
                                      <p:to>
                                        <p:strVal val="visible"/>
                                      </p:to>
                                    </p:set>
                                    <p:animEffect transition="in" filter="wipe(up)">
                                      <p:cBhvr>
                                        <p:cTn id="49" dur="500"/>
                                        <p:tgtEl>
                                          <p:spTgt spid="10">
                                            <p:txEl>
                                              <p:pRg st="6" end="6"/>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1" fill="hold" grpId="0" nodeType="clickEffect">
                                  <p:stCondLst>
                                    <p:cond delay="0"/>
                                  </p:stCondLst>
                                  <p:childTnLst>
                                    <p:set>
                                      <p:cBhvr>
                                        <p:cTn id="53" dur="1" fill="hold">
                                          <p:stCondLst>
                                            <p:cond delay="0"/>
                                          </p:stCondLst>
                                        </p:cTn>
                                        <p:tgtEl>
                                          <p:spTgt spid="10">
                                            <p:txEl>
                                              <p:pRg st="7" end="7"/>
                                            </p:txEl>
                                          </p:spTgt>
                                        </p:tgtEl>
                                        <p:attrNameLst>
                                          <p:attrName>style.visibility</p:attrName>
                                        </p:attrNameLst>
                                      </p:cBhvr>
                                      <p:to>
                                        <p:strVal val="visible"/>
                                      </p:to>
                                    </p:set>
                                    <p:animEffect transition="in" filter="wipe(up)">
                                      <p:cBhvr>
                                        <p:cTn id="54" dur="500"/>
                                        <p:tgtEl>
                                          <p:spTgt spid="10">
                                            <p:txEl>
                                              <p:pRg st="7" end="7"/>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1" fill="hold" grpId="0" nodeType="clickEffect">
                                  <p:stCondLst>
                                    <p:cond delay="0"/>
                                  </p:stCondLst>
                                  <p:childTnLst>
                                    <p:set>
                                      <p:cBhvr>
                                        <p:cTn id="58" dur="1" fill="hold">
                                          <p:stCondLst>
                                            <p:cond delay="0"/>
                                          </p:stCondLst>
                                        </p:cTn>
                                        <p:tgtEl>
                                          <p:spTgt spid="10">
                                            <p:txEl>
                                              <p:pRg st="8" end="8"/>
                                            </p:txEl>
                                          </p:spTgt>
                                        </p:tgtEl>
                                        <p:attrNameLst>
                                          <p:attrName>style.visibility</p:attrName>
                                        </p:attrNameLst>
                                      </p:cBhvr>
                                      <p:to>
                                        <p:strVal val="visible"/>
                                      </p:to>
                                    </p:set>
                                    <p:animEffect transition="in" filter="wipe(up)">
                                      <p:cBhvr>
                                        <p:cTn id="59" dur="500"/>
                                        <p:tgtEl>
                                          <p:spTgt spid="10">
                                            <p:txEl>
                                              <p:pRg st="8" end="8"/>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1" fill="hold" grpId="0" nodeType="clickEffect">
                                  <p:stCondLst>
                                    <p:cond delay="0"/>
                                  </p:stCondLst>
                                  <p:childTnLst>
                                    <p:set>
                                      <p:cBhvr>
                                        <p:cTn id="63" dur="1" fill="hold">
                                          <p:stCondLst>
                                            <p:cond delay="0"/>
                                          </p:stCondLst>
                                        </p:cTn>
                                        <p:tgtEl>
                                          <p:spTgt spid="10">
                                            <p:txEl>
                                              <p:pRg st="9" end="9"/>
                                            </p:txEl>
                                          </p:spTgt>
                                        </p:tgtEl>
                                        <p:attrNameLst>
                                          <p:attrName>style.visibility</p:attrName>
                                        </p:attrNameLst>
                                      </p:cBhvr>
                                      <p:to>
                                        <p:strVal val="visible"/>
                                      </p:to>
                                    </p:set>
                                    <p:animEffect transition="in" filter="wipe(up)">
                                      <p:cBhvr>
                                        <p:cTn id="64" dur="500"/>
                                        <p:tgtEl>
                                          <p:spTgt spid="10">
                                            <p:txEl>
                                              <p:pRg st="9" end="9"/>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1" fill="hold" grpId="0" nodeType="clickEffect">
                                  <p:stCondLst>
                                    <p:cond delay="0"/>
                                  </p:stCondLst>
                                  <p:childTnLst>
                                    <p:set>
                                      <p:cBhvr>
                                        <p:cTn id="68" dur="1" fill="hold">
                                          <p:stCondLst>
                                            <p:cond delay="0"/>
                                          </p:stCondLst>
                                        </p:cTn>
                                        <p:tgtEl>
                                          <p:spTgt spid="10">
                                            <p:txEl>
                                              <p:pRg st="10" end="10"/>
                                            </p:txEl>
                                          </p:spTgt>
                                        </p:tgtEl>
                                        <p:attrNameLst>
                                          <p:attrName>style.visibility</p:attrName>
                                        </p:attrNameLst>
                                      </p:cBhvr>
                                      <p:to>
                                        <p:strVal val="visible"/>
                                      </p:to>
                                    </p:set>
                                    <p:animEffect transition="in" filter="wipe(up)">
                                      <p:cBhvr>
                                        <p:cTn id="69" dur="500"/>
                                        <p:tgtEl>
                                          <p:spTgt spid="10">
                                            <p:txEl>
                                              <p:pRg st="10" end="10"/>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4" fill="hold" grpId="0" nodeType="clickEffect">
                                  <p:stCondLst>
                                    <p:cond delay="0"/>
                                  </p:stCondLst>
                                  <p:childTnLst>
                                    <p:set>
                                      <p:cBhvr>
                                        <p:cTn id="73" dur="1" fill="hold">
                                          <p:stCondLst>
                                            <p:cond delay="0"/>
                                          </p:stCondLst>
                                        </p:cTn>
                                        <p:tgtEl>
                                          <p:spTgt spid="11"/>
                                        </p:tgtEl>
                                        <p:attrNameLst>
                                          <p:attrName>style.visibility</p:attrName>
                                        </p:attrNameLst>
                                      </p:cBhvr>
                                      <p:to>
                                        <p:strVal val="visible"/>
                                      </p:to>
                                    </p:set>
                                    <p:animEffect transition="in" filter="wipe(down)">
                                      <p:cBhvr>
                                        <p:cTn id="7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build="p"/>
      <p:bldP spid="11" grpId="0"/>
    </p:bldLst>
  </p:timing>
</p:sld>
</file>

<file path=ppt/slides/slide1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tângulo 1"/>
          <p:cNvSpPr/>
          <p:nvPr/>
        </p:nvSpPr>
        <p:spPr>
          <a:xfrm>
            <a:off x="2099556" y="2388405"/>
            <a:ext cx="9281676" cy="2723823"/>
          </a:xfrm>
          <a:prstGeom prst="rect">
            <a:avLst/>
          </a:prstGeom>
        </p:spPr>
        <p:txBody>
          <a:bodyPr wrap="square">
            <a:spAutoFit/>
          </a:bodyPr>
          <a:lstStyle/>
          <a:p>
            <a:pPr algn="just"/>
            <a:r>
              <a:rPr lang="pt-BR" b="1" dirty="0">
                <a:solidFill>
                  <a:schemeClr val="accent6"/>
                </a:solidFill>
              </a:rPr>
              <a:t>CARACTERÍSTICAS PARA SELEÇÃO</a:t>
            </a:r>
          </a:p>
          <a:p>
            <a:pPr algn="just"/>
            <a:endParaRPr lang="pt-BR" dirty="0">
              <a:solidFill>
                <a:schemeClr val="accent6"/>
              </a:solidFill>
            </a:endParaRPr>
          </a:p>
          <a:p>
            <a:pPr>
              <a:lnSpc>
                <a:spcPct val="150000"/>
              </a:lnSpc>
            </a:pPr>
            <a:r>
              <a:rPr lang="pt-BR" dirty="0">
                <a:solidFill>
                  <a:schemeClr val="accent6"/>
                </a:solidFill>
              </a:rPr>
              <a:t>Grandes volumes de carga.</a:t>
            </a:r>
          </a:p>
          <a:p>
            <a:pPr>
              <a:lnSpc>
                <a:spcPct val="150000"/>
              </a:lnSpc>
            </a:pPr>
            <a:r>
              <a:rPr lang="pt-BR" dirty="0">
                <a:solidFill>
                  <a:schemeClr val="accent6"/>
                </a:solidFill>
              </a:rPr>
              <a:t>Grandes distâncias a transportar.</a:t>
            </a:r>
          </a:p>
          <a:p>
            <a:pPr>
              <a:lnSpc>
                <a:spcPct val="150000"/>
              </a:lnSpc>
            </a:pPr>
            <a:r>
              <a:rPr lang="pt-BR" dirty="0">
                <a:solidFill>
                  <a:schemeClr val="accent6"/>
                </a:solidFill>
              </a:rPr>
              <a:t>Trajetos exclusivos (não há vias para outros modais).</a:t>
            </a:r>
          </a:p>
          <a:p>
            <a:pPr>
              <a:lnSpc>
                <a:spcPct val="150000"/>
              </a:lnSpc>
            </a:pPr>
            <a:r>
              <a:rPr lang="pt-BR" dirty="0">
                <a:solidFill>
                  <a:schemeClr val="accent6"/>
                </a:solidFill>
              </a:rPr>
              <a:t>Tempo de trânsito não é importante.</a:t>
            </a:r>
          </a:p>
          <a:p>
            <a:pPr>
              <a:lnSpc>
                <a:spcPct val="150000"/>
              </a:lnSpc>
            </a:pPr>
            <a:r>
              <a:rPr lang="pt-BR" dirty="0">
                <a:solidFill>
                  <a:schemeClr val="accent6"/>
                </a:solidFill>
              </a:rPr>
              <a:t>Médio custo de frete.</a:t>
            </a:r>
          </a:p>
        </p:txBody>
      </p:sp>
      <p:sp>
        <p:nvSpPr>
          <p:cNvPr id="5" name="Retângulo 4"/>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
        <p:nvSpPr>
          <p:cNvPr id="7" name="Title 1"/>
          <p:cNvSpPr txBox="1">
            <a:spLocks/>
          </p:cNvSpPr>
          <p:nvPr/>
        </p:nvSpPr>
        <p:spPr bwMode="auto">
          <a:xfrm>
            <a:off x="2702982" y="822118"/>
            <a:ext cx="6786036" cy="4005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noAutofit/>
          </a:bodyPr>
          <a:lstStyle>
            <a:lvl1pPr algn="l" defTabSz="449263" rtl="0" eaLnBrk="1" fontAlgn="base" hangingPunct="1">
              <a:spcBef>
                <a:spcPct val="0"/>
              </a:spcBef>
              <a:spcAft>
                <a:spcPct val="0"/>
              </a:spcAft>
              <a:buClr>
                <a:srgbClr val="000000"/>
              </a:buClr>
              <a:buSzPct val="100000"/>
              <a:buFont typeface="Times New Roman" panose="02020603050405020304" pitchFamily="18" charset="0"/>
              <a:defRPr sz="4100" b="1" kern="1200">
                <a:solidFill>
                  <a:srgbClr val="464646"/>
                </a:solidFill>
                <a:latin typeface="+mj-lt"/>
                <a:ea typeface="+mj-ea"/>
                <a:cs typeface="+mj-cs"/>
              </a:defRPr>
            </a:lvl1pPr>
            <a:lvl2pPr marL="742950" indent="-28575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2pPr>
            <a:lvl3pPr marL="1143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3pPr>
            <a:lvl4pPr marL="1600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4pPr>
            <a:lvl5pPr marL="20574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5pPr>
            <a:lvl6pPr marL="25146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6pPr>
            <a:lvl7pPr marL="29718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7pPr>
            <a:lvl8pPr marL="3429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8pPr>
            <a:lvl9pPr marL="3886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9pPr>
          </a:lstStyle>
          <a:p>
            <a:pPr algn="ctr"/>
            <a:r>
              <a:rPr lang="pt-BR" sz="2000" dirty="0">
                <a:solidFill>
                  <a:schemeClr val="accent6"/>
                </a:solidFill>
                <a:latin typeface="+mn-lt"/>
              </a:rPr>
              <a:t>MODAL AQUAVIÁRIO</a:t>
            </a:r>
          </a:p>
        </p:txBody>
      </p:sp>
    </p:spTree>
    <p:extLst>
      <p:ext uri="{BB962C8B-B14F-4D97-AF65-F5344CB8AC3E}">
        <p14:creationId xmlns:p14="http://schemas.microsoft.com/office/powerpoint/2010/main" val="2756825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arn(inVertic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fade">
                                      <p:cBhvr>
                                        <p:cTn id="12" dur="1000"/>
                                        <p:tgtEl>
                                          <p:spTgt spid="2">
                                            <p:txEl>
                                              <p:pRg st="2" end="2"/>
                                            </p:txEl>
                                          </p:spTgt>
                                        </p:tgtEl>
                                      </p:cBhvr>
                                    </p:animEffect>
                                    <p:anim calcmode="lin" valueType="num">
                                      <p:cBhvr>
                                        <p:cTn id="13"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fade">
                                      <p:cBhvr>
                                        <p:cTn id="19" dur="1000"/>
                                        <p:tgtEl>
                                          <p:spTgt spid="2">
                                            <p:txEl>
                                              <p:pRg st="3" end="3"/>
                                            </p:txEl>
                                          </p:spTgt>
                                        </p:tgtEl>
                                      </p:cBhvr>
                                    </p:animEffect>
                                    <p:anim calcmode="lin" valueType="num">
                                      <p:cBhvr>
                                        <p:cTn id="20"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2">
                                            <p:txEl>
                                              <p:pRg st="4" end="4"/>
                                            </p:txEl>
                                          </p:spTgt>
                                        </p:tgtEl>
                                        <p:attrNameLst>
                                          <p:attrName>style.visibility</p:attrName>
                                        </p:attrNameLst>
                                      </p:cBhvr>
                                      <p:to>
                                        <p:strVal val="visible"/>
                                      </p:to>
                                    </p:set>
                                    <p:animEffect transition="in" filter="fade">
                                      <p:cBhvr>
                                        <p:cTn id="26" dur="1000"/>
                                        <p:tgtEl>
                                          <p:spTgt spid="2">
                                            <p:txEl>
                                              <p:pRg st="4" end="4"/>
                                            </p:txEl>
                                          </p:spTgt>
                                        </p:tgtEl>
                                      </p:cBhvr>
                                    </p:animEffect>
                                    <p:anim calcmode="lin" valueType="num">
                                      <p:cBhvr>
                                        <p:cTn id="27"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2">
                                            <p:txEl>
                                              <p:pRg st="5" end="5"/>
                                            </p:txEl>
                                          </p:spTgt>
                                        </p:tgtEl>
                                        <p:attrNameLst>
                                          <p:attrName>style.visibility</p:attrName>
                                        </p:attrNameLst>
                                      </p:cBhvr>
                                      <p:to>
                                        <p:strVal val="visible"/>
                                      </p:to>
                                    </p:set>
                                    <p:animEffect transition="in" filter="fade">
                                      <p:cBhvr>
                                        <p:cTn id="33" dur="1000"/>
                                        <p:tgtEl>
                                          <p:spTgt spid="2">
                                            <p:txEl>
                                              <p:pRg st="5" end="5"/>
                                            </p:txEl>
                                          </p:spTgt>
                                        </p:tgtEl>
                                      </p:cBhvr>
                                    </p:animEffect>
                                    <p:anim calcmode="lin" valueType="num">
                                      <p:cBhvr>
                                        <p:cTn id="34"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35"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2">
                                            <p:txEl>
                                              <p:pRg st="6" end="6"/>
                                            </p:txEl>
                                          </p:spTgt>
                                        </p:tgtEl>
                                        <p:attrNameLst>
                                          <p:attrName>style.visibility</p:attrName>
                                        </p:attrNameLst>
                                      </p:cBhvr>
                                      <p:to>
                                        <p:strVal val="visible"/>
                                      </p:to>
                                    </p:set>
                                    <p:animEffect transition="in" filter="fade">
                                      <p:cBhvr>
                                        <p:cTn id="40" dur="1000"/>
                                        <p:tgtEl>
                                          <p:spTgt spid="2">
                                            <p:txEl>
                                              <p:pRg st="6" end="6"/>
                                            </p:txEl>
                                          </p:spTgt>
                                        </p:tgtEl>
                                      </p:cBhvr>
                                    </p:animEffect>
                                    <p:anim calcmode="lin" valueType="num">
                                      <p:cBhvr>
                                        <p:cTn id="41"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42"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tângulo 1"/>
          <p:cNvSpPr/>
          <p:nvPr/>
        </p:nvSpPr>
        <p:spPr>
          <a:xfrm>
            <a:off x="962526" y="1652075"/>
            <a:ext cx="6929969" cy="1477328"/>
          </a:xfrm>
          <a:prstGeom prst="rect">
            <a:avLst/>
          </a:prstGeom>
        </p:spPr>
        <p:txBody>
          <a:bodyPr wrap="square">
            <a:spAutoFit/>
          </a:bodyPr>
          <a:lstStyle/>
          <a:p>
            <a:pPr algn="r"/>
            <a:r>
              <a:rPr lang="pt-BR" b="1" dirty="0">
                <a:solidFill>
                  <a:schemeClr val="accent6"/>
                </a:solidFill>
              </a:rPr>
              <a:t>NAVIOS PARA CARGAS GERAIS OU CONVENCIONAIS:</a:t>
            </a:r>
          </a:p>
          <a:p>
            <a:pPr algn="r"/>
            <a:endParaRPr lang="pt-BR" dirty="0">
              <a:solidFill>
                <a:schemeClr val="accent6"/>
              </a:solidFill>
            </a:endParaRPr>
          </a:p>
          <a:p>
            <a:pPr marL="263525" indent="-263525" algn="r"/>
            <a:r>
              <a:rPr lang="pt-BR" dirty="0">
                <a:solidFill>
                  <a:schemeClr val="accent6"/>
                </a:solidFill>
              </a:rPr>
              <a:t>Navios dotados de porões (</a:t>
            </a:r>
            <a:r>
              <a:rPr lang="pt-BR" dirty="0" err="1">
                <a:solidFill>
                  <a:schemeClr val="accent6"/>
                </a:solidFill>
              </a:rPr>
              <a:t>holds</a:t>
            </a:r>
            <a:r>
              <a:rPr lang="pt-BR" dirty="0">
                <a:solidFill>
                  <a:schemeClr val="accent6"/>
                </a:solidFill>
              </a:rPr>
              <a:t>) e pisos (decks), utilizados para carga seca ou refrigerada, embalada ou não.</a:t>
            </a:r>
          </a:p>
          <a:p>
            <a:pPr algn="r"/>
            <a:r>
              <a:rPr lang="pt-BR" dirty="0">
                <a:solidFill>
                  <a:schemeClr val="accent6"/>
                </a:solidFill>
              </a:rPr>
              <a:t> </a:t>
            </a:r>
          </a:p>
        </p:txBody>
      </p:sp>
      <p:sp>
        <p:nvSpPr>
          <p:cNvPr id="9" name="Title 1"/>
          <p:cNvSpPr txBox="1">
            <a:spLocks/>
          </p:cNvSpPr>
          <p:nvPr/>
        </p:nvSpPr>
        <p:spPr bwMode="auto">
          <a:xfrm>
            <a:off x="2702982" y="822118"/>
            <a:ext cx="6786036" cy="4005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noAutofit/>
          </a:bodyPr>
          <a:lstStyle>
            <a:lvl1pPr algn="l" defTabSz="449263" rtl="0" eaLnBrk="1" fontAlgn="base" hangingPunct="1">
              <a:spcBef>
                <a:spcPct val="0"/>
              </a:spcBef>
              <a:spcAft>
                <a:spcPct val="0"/>
              </a:spcAft>
              <a:buClr>
                <a:srgbClr val="000000"/>
              </a:buClr>
              <a:buSzPct val="100000"/>
              <a:buFont typeface="Times New Roman" panose="02020603050405020304" pitchFamily="18" charset="0"/>
              <a:defRPr sz="4100" b="1" kern="1200">
                <a:solidFill>
                  <a:srgbClr val="464646"/>
                </a:solidFill>
                <a:latin typeface="+mj-lt"/>
                <a:ea typeface="+mj-ea"/>
                <a:cs typeface="+mj-cs"/>
              </a:defRPr>
            </a:lvl1pPr>
            <a:lvl2pPr marL="742950" indent="-28575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2pPr>
            <a:lvl3pPr marL="1143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3pPr>
            <a:lvl4pPr marL="1600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4pPr>
            <a:lvl5pPr marL="20574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5pPr>
            <a:lvl6pPr marL="25146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6pPr>
            <a:lvl7pPr marL="29718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7pPr>
            <a:lvl8pPr marL="3429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8pPr>
            <a:lvl9pPr marL="3886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9pPr>
          </a:lstStyle>
          <a:p>
            <a:pPr algn="ctr"/>
            <a:r>
              <a:rPr lang="pt-BR" sz="2000" dirty="0">
                <a:solidFill>
                  <a:schemeClr val="accent6"/>
                </a:solidFill>
                <a:latin typeface="+mn-lt"/>
              </a:rPr>
              <a:t>MODAL AQUAVIÁRIO – TIPOS DE EQUIPAMENTOS</a:t>
            </a:r>
          </a:p>
        </p:txBody>
      </p:sp>
      <p:pic>
        <p:nvPicPr>
          <p:cNvPr id="4" name="Imagem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92495" y="1646916"/>
            <a:ext cx="4299505" cy="2532584"/>
          </a:xfrm>
          <a:prstGeom prst="rect">
            <a:avLst/>
          </a:prstGeom>
        </p:spPr>
      </p:pic>
      <p:pic>
        <p:nvPicPr>
          <p:cNvPr id="6" name="Imagem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2953" y="3741646"/>
            <a:ext cx="4707095" cy="2647740"/>
          </a:xfrm>
          <a:prstGeom prst="rect">
            <a:avLst/>
          </a:prstGeom>
        </p:spPr>
      </p:pic>
      <p:sp>
        <p:nvSpPr>
          <p:cNvPr id="8" name="Retângulo 7"/>
          <p:cNvSpPr/>
          <p:nvPr/>
        </p:nvSpPr>
        <p:spPr>
          <a:xfrm>
            <a:off x="5342359" y="5321131"/>
            <a:ext cx="5100271" cy="923330"/>
          </a:xfrm>
          <a:prstGeom prst="rect">
            <a:avLst/>
          </a:prstGeom>
        </p:spPr>
        <p:txBody>
          <a:bodyPr wrap="square">
            <a:spAutoFit/>
          </a:bodyPr>
          <a:lstStyle/>
          <a:p>
            <a:r>
              <a:rPr lang="pt-BR" b="1" dirty="0">
                <a:solidFill>
                  <a:schemeClr val="accent6"/>
                </a:solidFill>
              </a:rPr>
              <a:t>RO-RO (</a:t>
            </a:r>
            <a:r>
              <a:rPr lang="pt-BR" b="1" dirty="0" err="1">
                <a:solidFill>
                  <a:schemeClr val="accent6"/>
                </a:solidFill>
              </a:rPr>
              <a:t>roll-on</a:t>
            </a:r>
            <a:r>
              <a:rPr lang="pt-BR" b="1" dirty="0">
                <a:solidFill>
                  <a:schemeClr val="accent6"/>
                </a:solidFill>
              </a:rPr>
              <a:t>, </a:t>
            </a:r>
            <a:r>
              <a:rPr lang="pt-BR" b="1" dirty="0" err="1">
                <a:solidFill>
                  <a:schemeClr val="accent6"/>
                </a:solidFill>
              </a:rPr>
              <a:t>roll</a:t>
            </a:r>
            <a:r>
              <a:rPr lang="pt-BR" b="1" dirty="0">
                <a:solidFill>
                  <a:schemeClr val="accent6"/>
                </a:solidFill>
              </a:rPr>
              <a:t>-off):</a:t>
            </a:r>
          </a:p>
          <a:p>
            <a:r>
              <a:rPr lang="pt-BR" dirty="0">
                <a:solidFill>
                  <a:schemeClr val="accent6"/>
                </a:solidFill>
              </a:rPr>
              <a:t>Cargas rolantes,  veículos entram por rampa, vários decks, de diversas alturas.</a:t>
            </a:r>
          </a:p>
        </p:txBody>
      </p:sp>
      <p:sp>
        <p:nvSpPr>
          <p:cNvPr id="10" name="Retângulo 9"/>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Tree>
    <p:extLst>
      <p:ext uri="{BB962C8B-B14F-4D97-AF65-F5344CB8AC3E}">
        <p14:creationId xmlns:p14="http://schemas.microsoft.com/office/powerpoint/2010/main" val="3393585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2">
                                            <p:txEl>
                                              <p:pRg st="2" end="2"/>
                                            </p:txEl>
                                          </p:spTgt>
                                        </p:tgtEl>
                                        <p:attrNameLst>
                                          <p:attrName>style.visibility</p:attrName>
                                        </p:attrNameLst>
                                      </p:cBhvr>
                                      <p:to>
                                        <p:strVal val="visible"/>
                                      </p:to>
                                    </p:set>
                                    <p:animEffect transition="in" filter="fade">
                                      <p:cBhvr>
                                        <p:cTn id="26" dur="1000"/>
                                        <p:tgtEl>
                                          <p:spTgt spid="2">
                                            <p:txEl>
                                              <p:pRg st="2" end="2"/>
                                            </p:txEl>
                                          </p:spTgt>
                                        </p:tgtEl>
                                      </p:cBhvr>
                                    </p:animEffect>
                                    <p:anim calcmode="lin" valueType="num">
                                      <p:cBhvr>
                                        <p:cTn id="27"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4" presetClass="entr" presetSubtype="5"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randombar(vertical)">
                                      <p:cBhvr>
                                        <p:cTn id="33" dur="500"/>
                                        <p:tgtEl>
                                          <p:spTgt spid="8"/>
                                        </p:tgtEl>
                                      </p:cBhvr>
                                    </p:animEffect>
                                  </p:childTnLst>
                                </p:cTn>
                              </p:par>
                              <p:par>
                                <p:cTn id="34" presetID="14" presetClass="entr" presetSubtype="5" fill="hold" nodeType="with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randombar(vertical)">
                                      <p:cBhvr>
                                        <p:cTn id="3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9" grpId="0"/>
      <p:bldP spid="8" grpId="0"/>
    </p:bldLst>
  </p:timing>
</p:sld>
</file>

<file path=ppt/slides/slide1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Title 1"/>
          <p:cNvSpPr txBox="1">
            <a:spLocks/>
          </p:cNvSpPr>
          <p:nvPr/>
        </p:nvSpPr>
        <p:spPr bwMode="auto">
          <a:xfrm>
            <a:off x="2702982" y="822118"/>
            <a:ext cx="6786036" cy="4005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noAutofit/>
          </a:bodyPr>
          <a:lstStyle>
            <a:lvl1pPr algn="l" defTabSz="449263" rtl="0" eaLnBrk="1" fontAlgn="base" hangingPunct="1">
              <a:spcBef>
                <a:spcPct val="0"/>
              </a:spcBef>
              <a:spcAft>
                <a:spcPct val="0"/>
              </a:spcAft>
              <a:buClr>
                <a:srgbClr val="000000"/>
              </a:buClr>
              <a:buSzPct val="100000"/>
              <a:buFont typeface="Times New Roman" panose="02020603050405020304" pitchFamily="18" charset="0"/>
              <a:defRPr sz="4100" b="1" kern="1200">
                <a:solidFill>
                  <a:srgbClr val="464646"/>
                </a:solidFill>
                <a:latin typeface="+mj-lt"/>
                <a:ea typeface="+mj-ea"/>
                <a:cs typeface="+mj-cs"/>
              </a:defRPr>
            </a:lvl1pPr>
            <a:lvl2pPr marL="742950" indent="-28575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2pPr>
            <a:lvl3pPr marL="1143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3pPr>
            <a:lvl4pPr marL="1600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4pPr>
            <a:lvl5pPr marL="20574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5pPr>
            <a:lvl6pPr marL="25146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6pPr>
            <a:lvl7pPr marL="29718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7pPr>
            <a:lvl8pPr marL="3429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8pPr>
            <a:lvl9pPr marL="3886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9pPr>
          </a:lstStyle>
          <a:p>
            <a:pPr algn="ctr"/>
            <a:r>
              <a:rPr lang="pt-BR" sz="2000" dirty="0">
                <a:solidFill>
                  <a:schemeClr val="accent6"/>
                </a:solidFill>
                <a:latin typeface="+mn-lt"/>
              </a:rPr>
              <a:t>MODAL AQUAVIÁRIO – TIPOS DE EQUIPAMENTOS</a:t>
            </a:r>
          </a:p>
        </p:txBody>
      </p:sp>
      <p:sp>
        <p:nvSpPr>
          <p:cNvPr id="10" name="Retângulo 9"/>
          <p:cNvSpPr/>
          <p:nvPr/>
        </p:nvSpPr>
        <p:spPr>
          <a:xfrm>
            <a:off x="1619442" y="2596109"/>
            <a:ext cx="4453601" cy="369332"/>
          </a:xfrm>
          <a:prstGeom prst="rect">
            <a:avLst/>
          </a:prstGeom>
        </p:spPr>
        <p:txBody>
          <a:bodyPr wrap="square">
            <a:spAutoFit/>
          </a:bodyPr>
          <a:lstStyle/>
          <a:p>
            <a:pPr algn="just"/>
            <a:r>
              <a:rPr lang="pt-BR" dirty="0" err="1">
                <a:solidFill>
                  <a:schemeClr val="accent6"/>
                </a:solidFill>
              </a:rPr>
              <a:t>Graneleiros</a:t>
            </a:r>
            <a:r>
              <a:rPr lang="pt-BR" dirty="0">
                <a:solidFill>
                  <a:schemeClr val="accent6"/>
                </a:solidFill>
              </a:rPr>
              <a:t> (bulk </a:t>
            </a:r>
            <a:r>
              <a:rPr lang="pt-BR" dirty="0" err="1">
                <a:solidFill>
                  <a:schemeClr val="accent6"/>
                </a:solidFill>
              </a:rPr>
              <a:t>vessels</a:t>
            </a:r>
            <a:r>
              <a:rPr lang="pt-BR" dirty="0">
                <a:solidFill>
                  <a:schemeClr val="accent6"/>
                </a:solidFill>
              </a:rPr>
              <a:t>), sem decks.</a:t>
            </a:r>
          </a:p>
        </p:txBody>
      </p:sp>
      <p:sp>
        <p:nvSpPr>
          <p:cNvPr id="11" name="Retângulo 10"/>
          <p:cNvSpPr/>
          <p:nvPr/>
        </p:nvSpPr>
        <p:spPr>
          <a:xfrm>
            <a:off x="1619442" y="2215904"/>
            <a:ext cx="3039615" cy="369332"/>
          </a:xfrm>
          <a:prstGeom prst="rect">
            <a:avLst/>
          </a:prstGeom>
        </p:spPr>
        <p:txBody>
          <a:bodyPr wrap="none">
            <a:spAutoFit/>
          </a:bodyPr>
          <a:lstStyle/>
          <a:p>
            <a:pPr algn="just"/>
            <a:r>
              <a:rPr lang="pt-BR" b="1" dirty="0">
                <a:solidFill>
                  <a:schemeClr val="accent6"/>
                </a:solidFill>
              </a:rPr>
              <a:t>NAVIOS ESPECIALIZADOS:</a:t>
            </a:r>
          </a:p>
        </p:txBody>
      </p:sp>
      <p:pic>
        <p:nvPicPr>
          <p:cNvPr id="12" name="Imagem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98107" y="3927918"/>
            <a:ext cx="3922975" cy="2125968"/>
          </a:xfrm>
          <a:prstGeom prst="rect">
            <a:avLst/>
          </a:prstGeom>
        </p:spPr>
      </p:pic>
      <p:sp>
        <p:nvSpPr>
          <p:cNvPr id="4" name="Retângulo 3"/>
          <p:cNvSpPr/>
          <p:nvPr/>
        </p:nvSpPr>
        <p:spPr>
          <a:xfrm>
            <a:off x="10092444" y="2369791"/>
            <a:ext cx="1899879" cy="369332"/>
          </a:xfrm>
          <a:prstGeom prst="rect">
            <a:avLst/>
          </a:prstGeom>
        </p:spPr>
        <p:txBody>
          <a:bodyPr wrap="none">
            <a:spAutoFit/>
          </a:bodyPr>
          <a:lstStyle/>
          <a:p>
            <a:r>
              <a:rPr lang="pt-BR" dirty="0">
                <a:solidFill>
                  <a:schemeClr val="accent6"/>
                </a:solidFill>
              </a:rPr>
              <a:t>Granéis sólidos</a:t>
            </a:r>
            <a:endParaRPr lang="pt-BR" dirty="0"/>
          </a:p>
        </p:txBody>
      </p:sp>
      <p:sp>
        <p:nvSpPr>
          <p:cNvPr id="17" name="Retângulo 16"/>
          <p:cNvSpPr/>
          <p:nvPr/>
        </p:nvSpPr>
        <p:spPr>
          <a:xfrm>
            <a:off x="9597989" y="4806236"/>
            <a:ext cx="2008883" cy="369332"/>
          </a:xfrm>
          <a:prstGeom prst="rect">
            <a:avLst/>
          </a:prstGeom>
        </p:spPr>
        <p:txBody>
          <a:bodyPr wrap="none">
            <a:spAutoFit/>
          </a:bodyPr>
          <a:lstStyle/>
          <a:p>
            <a:r>
              <a:rPr lang="pt-BR" dirty="0">
                <a:solidFill>
                  <a:schemeClr val="accent6"/>
                </a:solidFill>
              </a:rPr>
              <a:t>Granéis gasosos</a:t>
            </a:r>
            <a:endParaRPr lang="pt-BR" dirty="0"/>
          </a:p>
        </p:txBody>
      </p:sp>
      <p:pic>
        <p:nvPicPr>
          <p:cNvPr id="3074" name="Picture 2" descr="Resultado de imagem para navio tanqu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9092" y="4039532"/>
            <a:ext cx="4459744" cy="1774607"/>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Resultado de imagem para navio graneleir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15061" y="1374552"/>
            <a:ext cx="3497576" cy="2359811"/>
          </a:xfrm>
          <a:prstGeom prst="rect">
            <a:avLst/>
          </a:prstGeom>
          <a:noFill/>
          <a:extLst>
            <a:ext uri="{909E8E84-426E-40DD-AFC4-6F175D3DCCD1}">
              <a14:hiddenFill xmlns:a14="http://schemas.microsoft.com/office/drawing/2010/main">
                <a:solidFill>
                  <a:srgbClr val="FFFFFF"/>
                </a:solidFill>
              </a14:hiddenFill>
            </a:ext>
          </a:extLst>
        </p:spPr>
      </p:pic>
      <p:sp>
        <p:nvSpPr>
          <p:cNvPr id="20" name="Retângulo 19"/>
          <p:cNvSpPr/>
          <p:nvPr/>
        </p:nvSpPr>
        <p:spPr>
          <a:xfrm>
            <a:off x="1540132" y="5869220"/>
            <a:ext cx="1997663" cy="369332"/>
          </a:xfrm>
          <a:prstGeom prst="rect">
            <a:avLst/>
          </a:prstGeom>
        </p:spPr>
        <p:txBody>
          <a:bodyPr wrap="none">
            <a:spAutoFit/>
          </a:bodyPr>
          <a:lstStyle/>
          <a:p>
            <a:r>
              <a:rPr lang="pt-BR" dirty="0">
                <a:solidFill>
                  <a:schemeClr val="accent6"/>
                </a:solidFill>
              </a:rPr>
              <a:t>Granéis líquidos</a:t>
            </a:r>
            <a:endParaRPr lang="pt-BR" dirty="0"/>
          </a:p>
        </p:txBody>
      </p:sp>
      <p:sp>
        <p:nvSpPr>
          <p:cNvPr id="13" name="Retângulo 12"/>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Tree>
    <p:extLst>
      <p:ext uri="{BB962C8B-B14F-4D97-AF65-F5344CB8AC3E}">
        <p14:creationId xmlns:p14="http://schemas.microsoft.com/office/powerpoint/2010/main" val="1613458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heel(1)">
                                      <p:cBhvr>
                                        <p:cTn id="7" dur="20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randombar(horizontal)">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randombar(horizontal)">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3076"/>
                                        </p:tgtEl>
                                        <p:attrNameLst>
                                          <p:attrName>style.visibility</p:attrName>
                                        </p:attrNameLst>
                                      </p:cBhvr>
                                      <p:to>
                                        <p:strVal val="visible"/>
                                      </p:to>
                                    </p:set>
                                    <p:animEffect transition="in" filter="barn(inVertical)">
                                      <p:cBhvr>
                                        <p:cTn id="22" dur="500"/>
                                        <p:tgtEl>
                                          <p:spTgt spid="3076"/>
                                        </p:tgtEl>
                                      </p:cBhvr>
                                    </p:animEffect>
                                  </p:childTnLst>
                                </p:cTn>
                              </p:par>
                              <p:par>
                                <p:cTn id="23" presetID="16" presetClass="entr" presetSubtype="21" fill="hold" grpId="0" nodeType="with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barn(inVertical)">
                                      <p:cBhvr>
                                        <p:cTn id="25" dur="500"/>
                                        <p:tgtEl>
                                          <p:spTgt spid="4"/>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2" fill="hold" nodeType="clickEffect">
                                  <p:stCondLst>
                                    <p:cond delay="0"/>
                                  </p:stCondLst>
                                  <p:childTnLst>
                                    <p:set>
                                      <p:cBhvr>
                                        <p:cTn id="29" dur="1" fill="hold">
                                          <p:stCondLst>
                                            <p:cond delay="0"/>
                                          </p:stCondLst>
                                        </p:cTn>
                                        <p:tgtEl>
                                          <p:spTgt spid="3074"/>
                                        </p:tgtEl>
                                        <p:attrNameLst>
                                          <p:attrName>style.visibility</p:attrName>
                                        </p:attrNameLst>
                                      </p:cBhvr>
                                      <p:to>
                                        <p:strVal val="visible"/>
                                      </p:to>
                                    </p:set>
                                    <p:animEffect transition="in" filter="wipe(right)">
                                      <p:cBhvr>
                                        <p:cTn id="30" dur="500"/>
                                        <p:tgtEl>
                                          <p:spTgt spid="3074"/>
                                        </p:tgtEl>
                                      </p:cBhvr>
                                    </p:animEffect>
                                  </p:childTnLst>
                                </p:cTn>
                              </p:par>
                              <p:par>
                                <p:cTn id="31" presetID="22" presetClass="entr" presetSubtype="2"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wipe(right)">
                                      <p:cBhvr>
                                        <p:cTn id="33" dur="500"/>
                                        <p:tgtEl>
                                          <p:spTgt spid="20"/>
                                        </p:tgtEl>
                                      </p:cBhvr>
                                    </p:animEffect>
                                  </p:childTnLst>
                                </p:cTn>
                              </p:par>
                              <p:par>
                                <p:cTn id="34" presetID="14" presetClass="entr" presetSubtype="10"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randombar(horizontal)">
                                      <p:cBhvr>
                                        <p:cTn id="36"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4" grpId="0"/>
      <p:bldP spid="17" grpId="0"/>
      <p:bldP spid="20" grpId="0"/>
    </p:bldLst>
  </p:timing>
</p:sld>
</file>

<file path=ppt/slides/slide1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tângulo 1"/>
          <p:cNvSpPr/>
          <p:nvPr/>
        </p:nvSpPr>
        <p:spPr>
          <a:xfrm>
            <a:off x="1323474" y="5068321"/>
            <a:ext cx="9413364" cy="1200329"/>
          </a:xfrm>
          <a:prstGeom prst="rect">
            <a:avLst/>
          </a:prstGeom>
        </p:spPr>
        <p:txBody>
          <a:bodyPr wrap="square">
            <a:spAutoFit/>
          </a:bodyPr>
          <a:lstStyle/>
          <a:p>
            <a:pPr algn="just"/>
            <a:r>
              <a:rPr lang="pt-BR" dirty="0">
                <a:solidFill>
                  <a:schemeClr val="accent6"/>
                </a:solidFill>
              </a:rPr>
              <a:t> </a:t>
            </a:r>
            <a:r>
              <a:rPr lang="pt-BR" b="1" dirty="0">
                <a:solidFill>
                  <a:schemeClr val="accent6"/>
                </a:solidFill>
              </a:rPr>
              <a:t>NAVIOS MULTIPROPÓSITO:</a:t>
            </a:r>
          </a:p>
          <a:p>
            <a:pPr algn="just"/>
            <a:endParaRPr lang="pt-BR" dirty="0">
              <a:solidFill>
                <a:schemeClr val="accent6"/>
              </a:solidFill>
            </a:endParaRPr>
          </a:p>
          <a:p>
            <a:pPr algn="just"/>
            <a:r>
              <a:rPr lang="pt-BR" dirty="0">
                <a:solidFill>
                  <a:schemeClr val="accent6"/>
                </a:solidFill>
              </a:rPr>
              <a:t>Transportam cargas de navios de cargas gerais e especializados ao mesmo tempo. (GRANEL SÓLIDO + LÍQUIDO; MINÉRIO + ÓLEO; RO-RO + CONTAINER).</a:t>
            </a:r>
          </a:p>
        </p:txBody>
      </p:sp>
      <p:sp>
        <p:nvSpPr>
          <p:cNvPr id="9" name="Title 1"/>
          <p:cNvSpPr txBox="1">
            <a:spLocks/>
          </p:cNvSpPr>
          <p:nvPr/>
        </p:nvSpPr>
        <p:spPr bwMode="auto">
          <a:xfrm>
            <a:off x="2702982" y="822118"/>
            <a:ext cx="6786036" cy="4005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noAutofit/>
          </a:bodyPr>
          <a:lstStyle>
            <a:lvl1pPr algn="l" defTabSz="449263" rtl="0" eaLnBrk="1" fontAlgn="base" hangingPunct="1">
              <a:spcBef>
                <a:spcPct val="0"/>
              </a:spcBef>
              <a:spcAft>
                <a:spcPct val="0"/>
              </a:spcAft>
              <a:buClr>
                <a:srgbClr val="000000"/>
              </a:buClr>
              <a:buSzPct val="100000"/>
              <a:buFont typeface="Times New Roman" panose="02020603050405020304" pitchFamily="18" charset="0"/>
              <a:defRPr sz="4100" b="1" kern="1200">
                <a:solidFill>
                  <a:srgbClr val="464646"/>
                </a:solidFill>
                <a:latin typeface="+mj-lt"/>
                <a:ea typeface="+mj-ea"/>
                <a:cs typeface="+mj-cs"/>
              </a:defRPr>
            </a:lvl1pPr>
            <a:lvl2pPr marL="742950" indent="-28575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2pPr>
            <a:lvl3pPr marL="1143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3pPr>
            <a:lvl4pPr marL="1600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4pPr>
            <a:lvl5pPr marL="20574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5pPr>
            <a:lvl6pPr marL="25146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6pPr>
            <a:lvl7pPr marL="29718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7pPr>
            <a:lvl8pPr marL="3429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8pPr>
            <a:lvl9pPr marL="3886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9pPr>
          </a:lstStyle>
          <a:p>
            <a:pPr algn="ctr"/>
            <a:r>
              <a:rPr lang="pt-BR" sz="2000" dirty="0">
                <a:solidFill>
                  <a:schemeClr val="accent6"/>
                </a:solidFill>
                <a:latin typeface="+mn-lt"/>
              </a:rPr>
              <a:t>MODAL AQUAVIÁRIO – TIPOS DE EQUIPAMENTOS</a:t>
            </a:r>
          </a:p>
        </p:txBody>
      </p:sp>
      <p:sp>
        <p:nvSpPr>
          <p:cNvPr id="3" name="Retângulo 2"/>
          <p:cNvSpPr/>
          <p:nvPr/>
        </p:nvSpPr>
        <p:spPr>
          <a:xfrm>
            <a:off x="518729" y="1836901"/>
            <a:ext cx="5221060" cy="1477328"/>
          </a:xfrm>
          <a:prstGeom prst="rect">
            <a:avLst/>
          </a:prstGeom>
        </p:spPr>
        <p:txBody>
          <a:bodyPr wrap="square">
            <a:spAutoFit/>
          </a:bodyPr>
          <a:lstStyle/>
          <a:p>
            <a:pPr algn="just"/>
            <a:r>
              <a:rPr lang="pt-BR" b="1" dirty="0">
                <a:solidFill>
                  <a:schemeClr val="accent6"/>
                </a:solidFill>
              </a:rPr>
              <a:t>NAVIOS PORTA-CONTAINER:</a:t>
            </a:r>
          </a:p>
          <a:p>
            <a:pPr algn="just"/>
            <a:endParaRPr lang="pt-BR" dirty="0">
              <a:solidFill>
                <a:schemeClr val="accent6"/>
              </a:solidFill>
            </a:endParaRPr>
          </a:p>
          <a:p>
            <a:pPr algn="just"/>
            <a:r>
              <a:rPr lang="pt-BR" dirty="0">
                <a:solidFill>
                  <a:schemeClr val="accent6"/>
                </a:solidFill>
              </a:rPr>
              <a:t>Transportam exclusivamente cargas em container.</a:t>
            </a:r>
          </a:p>
          <a:p>
            <a:pPr algn="just"/>
            <a:r>
              <a:rPr lang="pt-BR" dirty="0">
                <a:solidFill>
                  <a:schemeClr val="accent6"/>
                </a:solidFill>
              </a:rPr>
              <a:t>Têm apenas um deck.</a:t>
            </a:r>
          </a:p>
        </p:txBody>
      </p:sp>
      <p:sp>
        <p:nvSpPr>
          <p:cNvPr id="5" name="Retângulo 4"/>
          <p:cNvSpPr/>
          <p:nvPr/>
        </p:nvSpPr>
        <p:spPr>
          <a:xfrm>
            <a:off x="518729" y="3439664"/>
            <a:ext cx="5221060" cy="1200329"/>
          </a:xfrm>
          <a:prstGeom prst="rect">
            <a:avLst/>
          </a:prstGeom>
        </p:spPr>
        <p:txBody>
          <a:bodyPr wrap="square">
            <a:spAutoFit/>
          </a:bodyPr>
          <a:lstStyle/>
          <a:p>
            <a:pPr algn="just"/>
            <a:r>
              <a:rPr lang="pt-BR" dirty="0">
                <a:solidFill>
                  <a:schemeClr val="accent6"/>
                </a:solidFill>
              </a:rPr>
              <a:t>O maior porta-container do mundo é o MSC Oscar, da </a:t>
            </a:r>
            <a:r>
              <a:rPr lang="pt-BR" dirty="0" err="1">
                <a:solidFill>
                  <a:schemeClr val="accent6"/>
                </a:solidFill>
              </a:rPr>
              <a:t>Mediterranean</a:t>
            </a:r>
            <a:r>
              <a:rPr lang="pt-BR" dirty="0">
                <a:solidFill>
                  <a:schemeClr val="accent6"/>
                </a:solidFill>
              </a:rPr>
              <a:t> </a:t>
            </a:r>
            <a:r>
              <a:rPr lang="pt-BR" dirty="0" err="1">
                <a:solidFill>
                  <a:schemeClr val="accent6"/>
                </a:solidFill>
              </a:rPr>
              <a:t>Shipping</a:t>
            </a:r>
            <a:r>
              <a:rPr lang="pt-BR" dirty="0">
                <a:solidFill>
                  <a:schemeClr val="accent6"/>
                </a:solidFill>
              </a:rPr>
              <a:t> </a:t>
            </a:r>
            <a:r>
              <a:rPr lang="pt-BR" dirty="0" err="1">
                <a:solidFill>
                  <a:schemeClr val="accent6"/>
                </a:solidFill>
              </a:rPr>
              <a:t>Company</a:t>
            </a:r>
            <a:r>
              <a:rPr lang="pt-BR" dirty="0">
                <a:solidFill>
                  <a:schemeClr val="accent6"/>
                </a:solidFill>
              </a:rPr>
              <a:t>. O navio conta com a impressionante capacidade de 19.224 contêineres (TEU).</a:t>
            </a:r>
          </a:p>
        </p:txBody>
      </p:sp>
      <p:pic>
        <p:nvPicPr>
          <p:cNvPr id="6" name="Imagem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43600" y="1864314"/>
            <a:ext cx="5898444" cy="2890041"/>
          </a:xfrm>
          <a:prstGeom prst="rect">
            <a:avLst/>
          </a:prstGeom>
        </p:spPr>
      </p:pic>
      <p:sp>
        <p:nvSpPr>
          <p:cNvPr id="8" name="Retângulo 7"/>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Tree>
    <p:extLst>
      <p:ext uri="{BB962C8B-B14F-4D97-AF65-F5344CB8AC3E}">
        <p14:creationId xmlns:p14="http://schemas.microsoft.com/office/powerpoint/2010/main" val="3810268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500" fill="hold"/>
                                        <p:tgtEl>
                                          <p:spTgt spid="5"/>
                                        </p:tgtEl>
                                        <p:attrNameLst>
                                          <p:attrName>ppt_w</p:attrName>
                                        </p:attrNameLst>
                                      </p:cBhvr>
                                      <p:tavLst>
                                        <p:tav tm="0">
                                          <p:val>
                                            <p:fltVal val="0"/>
                                          </p:val>
                                        </p:tav>
                                        <p:tav tm="100000">
                                          <p:val>
                                            <p:strVal val="#ppt_w"/>
                                          </p:val>
                                        </p:tav>
                                      </p:tavLst>
                                    </p:anim>
                                    <p:anim calcmode="lin" valueType="num">
                                      <p:cBhvr>
                                        <p:cTn id="14" dur="500" fill="hold"/>
                                        <p:tgtEl>
                                          <p:spTgt spid="5"/>
                                        </p:tgtEl>
                                        <p:attrNameLst>
                                          <p:attrName>ppt_h</p:attrName>
                                        </p:attrNameLst>
                                      </p:cBhvr>
                                      <p:tavLst>
                                        <p:tav tm="0">
                                          <p:val>
                                            <p:fltVal val="0"/>
                                          </p:val>
                                        </p:tav>
                                        <p:tav tm="100000">
                                          <p:val>
                                            <p:strVal val="#ppt_h"/>
                                          </p:val>
                                        </p:tav>
                                      </p:tavLst>
                                    </p:anim>
                                    <p:animEffect transition="in" filter="fade">
                                      <p:cBhvr>
                                        <p:cTn id="15" dur="500"/>
                                        <p:tgtEl>
                                          <p:spTgt spid="5"/>
                                        </p:tgtEl>
                                      </p:cBhvr>
                                    </p:animEffect>
                                  </p:childTnLst>
                                </p:cTn>
                              </p:par>
                              <p:par>
                                <p:cTn id="16" presetID="21" presetClass="entr" presetSubtype="1"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heel(1)">
                                      <p:cBhvr>
                                        <p:cTn id="18" dur="20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grpId="0" nodeType="clickEffect">
                                  <p:stCondLst>
                                    <p:cond delay="0"/>
                                  </p:stCondLst>
                                  <p:childTnLst>
                                    <p:set>
                                      <p:cBhvr>
                                        <p:cTn id="22" dur="1" fill="hold">
                                          <p:stCondLst>
                                            <p:cond delay="0"/>
                                          </p:stCondLst>
                                        </p:cTn>
                                        <p:tgtEl>
                                          <p:spTgt spid="2">
                                            <p:txEl>
                                              <p:pRg st="0" end="0"/>
                                            </p:txEl>
                                          </p:spTgt>
                                        </p:tgtEl>
                                        <p:attrNameLst>
                                          <p:attrName>style.visibility</p:attrName>
                                        </p:attrNameLst>
                                      </p:cBhvr>
                                      <p:to>
                                        <p:strVal val="visible"/>
                                      </p:to>
                                    </p:set>
                                    <p:animEffect transition="in" filter="fade">
                                      <p:cBhvr>
                                        <p:cTn id="23" dur="1000"/>
                                        <p:tgtEl>
                                          <p:spTgt spid="2">
                                            <p:txEl>
                                              <p:pRg st="0" end="0"/>
                                            </p:txEl>
                                          </p:spTgt>
                                        </p:tgtEl>
                                      </p:cBhvr>
                                    </p:animEffect>
                                    <p:anim calcmode="lin" valueType="num">
                                      <p:cBhvr>
                                        <p:cTn id="24"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25"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2">
                                            <p:txEl>
                                              <p:pRg st="2" end="2"/>
                                            </p:txEl>
                                          </p:spTgt>
                                        </p:tgtEl>
                                        <p:attrNameLst>
                                          <p:attrName>style.visibility</p:attrName>
                                        </p:attrNameLst>
                                      </p:cBhvr>
                                      <p:to>
                                        <p:strVal val="visible"/>
                                      </p:to>
                                    </p:set>
                                    <p:animEffect transition="in" filter="fade">
                                      <p:cBhvr>
                                        <p:cTn id="30" dur="1000"/>
                                        <p:tgtEl>
                                          <p:spTgt spid="2">
                                            <p:txEl>
                                              <p:pRg st="2" end="2"/>
                                            </p:txEl>
                                          </p:spTgt>
                                        </p:tgtEl>
                                      </p:cBhvr>
                                    </p:animEffect>
                                    <p:anim calcmode="lin" valueType="num">
                                      <p:cBhvr>
                                        <p:cTn id="31"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2"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3" grpId="0"/>
      <p:bldP spid="5" grpId="0"/>
    </p:bldLst>
  </p:timing>
</p:sld>
</file>

<file path=ppt/slides/slide1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CaixaDeTexto 4"/>
          <p:cNvSpPr txBox="1"/>
          <p:nvPr/>
        </p:nvSpPr>
        <p:spPr>
          <a:xfrm>
            <a:off x="2099556" y="953193"/>
            <a:ext cx="7992888" cy="400110"/>
          </a:xfrm>
          <a:prstGeom prst="rect">
            <a:avLst/>
          </a:prstGeom>
          <a:noFill/>
        </p:spPr>
        <p:txBody>
          <a:bodyPr wrap="square" rtlCol="0">
            <a:spAutoFit/>
          </a:bodyPr>
          <a:lstStyle/>
          <a:p>
            <a:pPr algn="ctr"/>
            <a:r>
              <a:rPr lang="pt-BR" sz="2000" b="1" dirty="0">
                <a:solidFill>
                  <a:schemeClr val="accent6"/>
                </a:solidFill>
              </a:rPr>
              <a:t>MODAL AQUAVIÁRIO</a:t>
            </a:r>
          </a:p>
        </p:txBody>
      </p:sp>
      <p:graphicFrame>
        <p:nvGraphicFramePr>
          <p:cNvPr id="4" name="Tabela 3"/>
          <p:cNvGraphicFramePr>
            <a:graphicFrameLocks noGrp="1"/>
          </p:cNvGraphicFramePr>
          <p:nvPr/>
        </p:nvGraphicFramePr>
        <p:xfrm>
          <a:off x="1455162" y="2097222"/>
          <a:ext cx="9763932" cy="3430250"/>
        </p:xfrm>
        <a:graphic>
          <a:graphicData uri="http://schemas.openxmlformats.org/drawingml/2006/table">
            <a:tbl>
              <a:tblPr>
                <a:tableStyleId>{5DA37D80-6434-44D0-A028-1B22A696006F}</a:tableStyleId>
              </a:tblPr>
              <a:tblGrid>
                <a:gridCol w="4881966">
                  <a:extLst>
                    <a:ext uri="{9D8B030D-6E8A-4147-A177-3AD203B41FA5}">
                      <a16:colId xmlns:a16="http://schemas.microsoft.com/office/drawing/2014/main" val="20000"/>
                    </a:ext>
                  </a:extLst>
                </a:gridCol>
                <a:gridCol w="4881966">
                  <a:extLst>
                    <a:ext uri="{9D8B030D-6E8A-4147-A177-3AD203B41FA5}">
                      <a16:colId xmlns:a16="http://schemas.microsoft.com/office/drawing/2014/main" val="20001"/>
                    </a:ext>
                  </a:extLst>
                </a:gridCol>
              </a:tblGrid>
              <a:tr h="352888">
                <a:tc>
                  <a:txBody>
                    <a:bodyPr/>
                    <a:lstStyle/>
                    <a:p>
                      <a:pPr marL="0" algn="ctr" defTabSz="914400" rtl="0" eaLnBrk="1" latinLnBrk="0" hangingPunct="1"/>
                      <a:r>
                        <a:rPr lang="pt-BR" sz="1800" kern="1200" dirty="0">
                          <a:solidFill>
                            <a:schemeClr val="bg1"/>
                          </a:solidFill>
                          <a:latin typeface="+mn-lt"/>
                          <a:ea typeface="+mn-ea"/>
                          <a:cs typeface="+mn-cs"/>
                        </a:rPr>
                        <a:t>VANTAGENS    </a:t>
                      </a:r>
                    </a:p>
                  </a:txBody>
                  <a:tcPr anchor="ctr">
                    <a:solidFill>
                      <a:schemeClr val="accent2">
                        <a:lumMod val="75000"/>
                      </a:schemeClr>
                    </a:solidFill>
                  </a:tcPr>
                </a:tc>
                <a:tc>
                  <a:txBody>
                    <a:bodyPr/>
                    <a:lstStyle/>
                    <a:p>
                      <a:pPr marL="0" algn="ctr" defTabSz="914400" rtl="0" eaLnBrk="1" latinLnBrk="0" hangingPunct="1"/>
                      <a:r>
                        <a:rPr lang="pt-BR" sz="1800" kern="1200" dirty="0">
                          <a:solidFill>
                            <a:schemeClr val="bg1"/>
                          </a:solidFill>
                          <a:latin typeface="+mn-lt"/>
                          <a:ea typeface="+mn-ea"/>
                          <a:cs typeface="+mn-cs"/>
                        </a:rPr>
                        <a:t>DESVANTAGENS</a:t>
                      </a:r>
                    </a:p>
                  </a:txBody>
                  <a:tcPr anchor="ctr">
                    <a:solidFill>
                      <a:schemeClr val="accent2">
                        <a:lumMod val="75000"/>
                      </a:schemeClr>
                    </a:solidFill>
                  </a:tcPr>
                </a:tc>
                <a:extLst>
                  <a:ext uri="{0D108BD9-81ED-4DB2-BD59-A6C34878D82A}">
                    <a16:rowId xmlns:a16="http://schemas.microsoft.com/office/drawing/2014/main" val="10000"/>
                  </a:ext>
                </a:extLst>
              </a:tr>
              <a:tr h="655246">
                <a:tc>
                  <a:txBody>
                    <a:bodyPr/>
                    <a:lstStyle/>
                    <a:p>
                      <a:pPr marL="0" algn="l" defTabSz="914400" rtl="0" eaLnBrk="1" latinLnBrk="0" hangingPunct="1"/>
                      <a:r>
                        <a:rPr lang="pt-BR" sz="1800" kern="1200" dirty="0">
                          <a:solidFill>
                            <a:schemeClr val="accent6"/>
                          </a:solidFill>
                          <a:latin typeface="+mn-lt"/>
                          <a:ea typeface="+mn-ea"/>
                          <a:cs typeface="+mn-cs"/>
                        </a:rPr>
                        <a:t>Transporte de grandes distâncias</a:t>
                      </a:r>
                    </a:p>
                  </a:txBody>
                  <a:tcPr anchor="ctr"/>
                </a:tc>
                <a:tc>
                  <a:txBody>
                    <a:bodyPr/>
                    <a:lstStyle/>
                    <a:p>
                      <a:pPr marL="0" algn="l" defTabSz="914400" rtl="0" eaLnBrk="1" latinLnBrk="0" hangingPunct="1"/>
                      <a:r>
                        <a:rPr lang="pt-BR" sz="1800" kern="1200">
                          <a:solidFill>
                            <a:schemeClr val="accent6"/>
                          </a:solidFill>
                          <a:latin typeface="+mn-lt"/>
                          <a:ea typeface="+mn-ea"/>
                          <a:cs typeface="+mn-cs"/>
                        </a:rPr>
                        <a:t>Depende de vias apropriadas.</a:t>
                      </a:r>
                    </a:p>
                  </a:txBody>
                  <a:tcPr anchor="ctr"/>
                </a:tc>
                <a:extLst>
                  <a:ext uri="{0D108BD9-81ED-4DB2-BD59-A6C34878D82A}">
                    <a16:rowId xmlns:a16="http://schemas.microsoft.com/office/drawing/2014/main" val="10001"/>
                  </a:ext>
                </a:extLst>
              </a:tr>
              <a:tr h="458672">
                <a:tc>
                  <a:txBody>
                    <a:bodyPr/>
                    <a:lstStyle/>
                    <a:p>
                      <a:pPr marL="0" algn="l" defTabSz="914400" rtl="0" eaLnBrk="1" latinLnBrk="0" hangingPunct="1"/>
                      <a:r>
                        <a:rPr lang="pt-BR" sz="1800" kern="1200" dirty="0">
                          <a:solidFill>
                            <a:schemeClr val="accent6"/>
                          </a:solidFill>
                          <a:latin typeface="+mn-lt"/>
                          <a:ea typeface="+mn-ea"/>
                          <a:cs typeface="+mn-cs"/>
                        </a:rPr>
                        <a:t>Transporte de grandes volumes</a:t>
                      </a:r>
                    </a:p>
                  </a:txBody>
                  <a:tcPr anchor="ctr"/>
                </a:tc>
                <a:tc>
                  <a:txBody>
                    <a:bodyPr/>
                    <a:lstStyle/>
                    <a:p>
                      <a:pPr marL="0" algn="l" defTabSz="914400" rtl="0" eaLnBrk="1" latinLnBrk="0" hangingPunct="1"/>
                      <a:r>
                        <a:rPr lang="pt-BR" sz="1800" kern="1200">
                          <a:solidFill>
                            <a:schemeClr val="accent6"/>
                          </a:solidFill>
                          <a:latin typeface="+mn-lt"/>
                          <a:ea typeface="+mn-ea"/>
                          <a:cs typeface="+mn-cs"/>
                        </a:rPr>
                        <a:t>É de gerenciamento complexo, exigindo muitos documentos.</a:t>
                      </a:r>
                    </a:p>
                  </a:txBody>
                  <a:tcPr anchor="ctr"/>
                </a:tc>
                <a:extLst>
                  <a:ext uri="{0D108BD9-81ED-4DB2-BD59-A6C34878D82A}">
                    <a16:rowId xmlns:a16="http://schemas.microsoft.com/office/drawing/2014/main" val="10002"/>
                  </a:ext>
                </a:extLst>
              </a:tr>
              <a:tr h="458672">
                <a:tc>
                  <a:txBody>
                    <a:bodyPr/>
                    <a:lstStyle/>
                    <a:p>
                      <a:pPr marL="0" algn="l" defTabSz="914400" rtl="0" eaLnBrk="1" latinLnBrk="0" hangingPunct="1"/>
                      <a:r>
                        <a:rPr lang="pt-BR" sz="1800" kern="1200" dirty="0">
                          <a:solidFill>
                            <a:schemeClr val="accent6"/>
                          </a:solidFill>
                          <a:latin typeface="+mn-lt"/>
                          <a:ea typeface="+mn-ea"/>
                          <a:cs typeface="+mn-cs"/>
                        </a:rPr>
                        <a:t>Mercadoria de baixo valor agregado.</a:t>
                      </a:r>
                    </a:p>
                  </a:txBody>
                  <a:tcPr anchor="ctr"/>
                </a:tc>
                <a:tc>
                  <a:txBody>
                    <a:bodyPr/>
                    <a:lstStyle/>
                    <a:p>
                      <a:pPr marL="0" algn="l" defTabSz="914400" rtl="0" eaLnBrk="1" latinLnBrk="0" hangingPunct="1"/>
                      <a:r>
                        <a:rPr lang="pt-BR" sz="1800" kern="1200" dirty="0">
                          <a:solidFill>
                            <a:schemeClr val="accent6"/>
                          </a:solidFill>
                          <a:latin typeface="+mn-lt"/>
                          <a:ea typeface="+mn-ea"/>
                          <a:cs typeface="+mn-cs"/>
                        </a:rPr>
                        <a:t>Depende de terminais especializados.</a:t>
                      </a:r>
                    </a:p>
                  </a:txBody>
                  <a:tcPr anchor="ctr"/>
                </a:tc>
                <a:extLst>
                  <a:ext uri="{0D108BD9-81ED-4DB2-BD59-A6C34878D82A}">
                    <a16:rowId xmlns:a16="http://schemas.microsoft.com/office/drawing/2014/main" val="10003"/>
                  </a:ext>
                </a:extLst>
              </a:tr>
              <a:tr h="851820">
                <a:tc>
                  <a:txBody>
                    <a:bodyPr/>
                    <a:lstStyle/>
                    <a:p>
                      <a:pPr marL="0" algn="l" defTabSz="914400" rtl="0" eaLnBrk="1" latinLnBrk="0" hangingPunct="1"/>
                      <a:r>
                        <a:rPr lang="pt-BR" sz="1800" kern="1200" dirty="0">
                          <a:solidFill>
                            <a:schemeClr val="accent6"/>
                          </a:solidFill>
                          <a:latin typeface="+mn-lt"/>
                          <a:ea typeface="+mn-ea"/>
                          <a:cs typeface="+mn-cs"/>
                        </a:rPr>
                        <a:t>Transporte oceânico.</a:t>
                      </a:r>
                    </a:p>
                  </a:txBody>
                  <a:tcPr anchor="ctr"/>
                </a:tc>
                <a:tc>
                  <a:txBody>
                    <a:bodyPr/>
                    <a:lstStyle/>
                    <a:p>
                      <a:pPr marL="0" algn="l" defTabSz="914400" rtl="0" eaLnBrk="1" latinLnBrk="0" hangingPunct="1"/>
                      <a:r>
                        <a:rPr lang="pt-BR" sz="1800" kern="1200" dirty="0">
                          <a:solidFill>
                            <a:schemeClr val="accent6"/>
                          </a:solidFill>
                          <a:latin typeface="+mn-lt"/>
                          <a:ea typeface="+mn-ea"/>
                          <a:cs typeface="+mn-cs"/>
                        </a:rPr>
                        <a:t>Tempo de trânsito longo</a:t>
                      </a:r>
                    </a:p>
                  </a:txBody>
                  <a:tcPr anchor="ctr"/>
                </a:tc>
                <a:extLst>
                  <a:ext uri="{0D108BD9-81ED-4DB2-BD59-A6C34878D82A}">
                    <a16:rowId xmlns:a16="http://schemas.microsoft.com/office/drawing/2014/main" val="10004"/>
                  </a:ext>
                </a:extLst>
              </a:tr>
              <a:tr h="458672">
                <a:tc>
                  <a:txBody>
                    <a:bodyPr/>
                    <a:lstStyle/>
                    <a:p>
                      <a:pPr marL="0" algn="l" defTabSz="914400" rtl="0" eaLnBrk="1" latinLnBrk="0" hangingPunct="1"/>
                      <a:r>
                        <a:rPr lang="pt-BR" sz="1800" kern="1200" dirty="0">
                          <a:solidFill>
                            <a:schemeClr val="accent6"/>
                          </a:solidFill>
                          <a:latin typeface="+mn-lt"/>
                          <a:ea typeface="+mn-ea"/>
                          <a:cs typeface="+mn-cs"/>
                        </a:rPr>
                        <a:t>Frete de custo relativamente baixo.</a:t>
                      </a:r>
                    </a:p>
                  </a:txBody>
                  <a:tcPr anchor="ctr"/>
                </a:tc>
                <a:tc>
                  <a:txBody>
                    <a:bodyPr/>
                    <a:lstStyle/>
                    <a:p>
                      <a:pPr marL="0" algn="l" defTabSz="914400" rtl="0" eaLnBrk="1" latinLnBrk="0" hangingPunct="1"/>
                      <a:r>
                        <a:rPr lang="pt-BR" sz="1800" kern="1200" dirty="0">
                          <a:solidFill>
                            <a:schemeClr val="accent6"/>
                          </a:solidFill>
                          <a:latin typeface="+mn-lt"/>
                          <a:ea typeface="+mn-ea"/>
                          <a:cs typeface="+mn-cs"/>
                        </a:rPr>
                        <a:t> </a:t>
                      </a:r>
                    </a:p>
                  </a:txBody>
                  <a:tcPr anchor="ctr"/>
                </a:tc>
                <a:extLst>
                  <a:ext uri="{0D108BD9-81ED-4DB2-BD59-A6C34878D82A}">
                    <a16:rowId xmlns:a16="http://schemas.microsoft.com/office/drawing/2014/main" val="10005"/>
                  </a:ext>
                </a:extLst>
              </a:tr>
            </a:tbl>
          </a:graphicData>
        </a:graphic>
      </p:graphicFrame>
      <p:sp>
        <p:nvSpPr>
          <p:cNvPr id="6" name="Retângulo 5"/>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Tree>
    <p:extLst>
      <p:ext uri="{BB962C8B-B14F-4D97-AF65-F5344CB8AC3E}">
        <p14:creationId xmlns:p14="http://schemas.microsoft.com/office/powerpoint/2010/main" val="2530755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5" presetClass="entr" presetSubtype="1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checkerboard(across)">
                                      <p:cBhvr>
                                        <p:cTn id="1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3" name="Tabela 2"/>
          <p:cNvGraphicFramePr>
            <a:graphicFrameLocks noGrp="1"/>
          </p:cNvGraphicFramePr>
          <p:nvPr/>
        </p:nvGraphicFramePr>
        <p:xfrm>
          <a:off x="10985500" y="5562600"/>
          <a:ext cx="208280" cy="365760"/>
        </p:xfrm>
        <a:graphic>
          <a:graphicData uri="http://schemas.openxmlformats.org/drawingml/2006/table">
            <a:tbl>
              <a:tblPr/>
              <a:tblGrid>
                <a:gridCol w="208280">
                  <a:extLst>
                    <a:ext uri="{9D8B030D-6E8A-4147-A177-3AD203B41FA5}">
                      <a16:colId xmlns:a16="http://schemas.microsoft.com/office/drawing/2014/main" val="20000"/>
                    </a:ext>
                  </a:extLst>
                </a:gridCol>
              </a:tblGrid>
              <a:tr h="0">
                <a:tc>
                  <a:txBody>
                    <a:bodyPr/>
                    <a:lstStyle/>
                    <a:p>
                      <a:endParaRPr lang="pt-BR" dirty="0"/>
                    </a:p>
                  </a:txBody>
                  <a:tcP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tcPr>
                </a:tc>
                <a:extLst>
                  <a:ext uri="{0D108BD9-81ED-4DB2-BD59-A6C34878D82A}">
                    <a16:rowId xmlns:a16="http://schemas.microsoft.com/office/drawing/2014/main" val="10000"/>
                  </a:ext>
                </a:extLst>
              </a:tr>
            </a:tbl>
          </a:graphicData>
        </a:graphic>
      </p:graphicFrame>
      <p:sp>
        <p:nvSpPr>
          <p:cNvPr id="2" name="Retângulo 1"/>
          <p:cNvSpPr/>
          <p:nvPr/>
        </p:nvSpPr>
        <p:spPr>
          <a:xfrm>
            <a:off x="438040" y="4109748"/>
            <a:ext cx="11315919" cy="400110"/>
          </a:xfrm>
          <a:prstGeom prst="rect">
            <a:avLst/>
          </a:prstGeom>
        </p:spPr>
        <p:txBody>
          <a:bodyPr wrap="none">
            <a:spAutoFit/>
          </a:bodyPr>
          <a:lstStyle/>
          <a:p>
            <a:pPr algn="ctr"/>
            <a:r>
              <a:rPr lang="pt-BR" sz="2000" dirty="0">
                <a:solidFill>
                  <a:schemeClr val="accent6"/>
                </a:solidFill>
                <a:hlinkClick r:id="rId2"/>
              </a:rPr>
              <a:t>www.youtube.com/watch?v=nwfovIps7Do&amp;list=PLDCFC84D842C8676D&amp;index=97&amp;t=0s</a:t>
            </a:r>
            <a:endParaRPr lang="pt-BR" sz="2000" dirty="0">
              <a:solidFill>
                <a:schemeClr val="accent6"/>
              </a:solidFill>
            </a:endParaRPr>
          </a:p>
        </p:txBody>
      </p:sp>
      <p:sp>
        <p:nvSpPr>
          <p:cNvPr id="7" name="CaixaDeTexto 6"/>
          <p:cNvSpPr txBox="1"/>
          <p:nvPr/>
        </p:nvSpPr>
        <p:spPr>
          <a:xfrm>
            <a:off x="2790734" y="3546655"/>
            <a:ext cx="6610532" cy="400110"/>
          </a:xfrm>
          <a:prstGeom prst="rect">
            <a:avLst/>
          </a:prstGeom>
          <a:noFill/>
        </p:spPr>
        <p:txBody>
          <a:bodyPr wrap="square" rtlCol="0">
            <a:spAutoFit/>
          </a:bodyPr>
          <a:lstStyle/>
          <a:p>
            <a:pPr marL="1257300" indent="-1257300" algn="ctr"/>
            <a:r>
              <a:rPr lang="pt-BR" sz="2000" dirty="0">
                <a:solidFill>
                  <a:schemeClr val="accent6"/>
                </a:solidFill>
              </a:rPr>
              <a:t>00:12:27 </a:t>
            </a:r>
            <a:r>
              <a:rPr lang="pt-BR" sz="2000" b="1" dirty="0">
                <a:solidFill>
                  <a:schemeClr val="accent6"/>
                </a:solidFill>
              </a:rPr>
              <a:t>EAD Pernambuco - MODAL AQUAVIÁRIO</a:t>
            </a:r>
          </a:p>
        </p:txBody>
      </p:sp>
      <p:sp>
        <p:nvSpPr>
          <p:cNvPr id="8" name="Retângulo 7"/>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
        <p:nvSpPr>
          <p:cNvPr id="9" name="Title 1"/>
          <p:cNvSpPr txBox="1">
            <a:spLocks/>
          </p:cNvSpPr>
          <p:nvPr/>
        </p:nvSpPr>
        <p:spPr bwMode="auto">
          <a:xfrm>
            <a:off x="2702982" y="822118"/>
            <a:ext cx="6786036" cy="4005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noAutofit/>
          </a:bodyPr>
          <a:lstStyle>
            <a:lvl1pPr algn="l" defTabSz="449263" rtl="0" eaLnBrk="1" fontAlgn="base" hangingPunct="1">
              <a:spcBef>
                <a:spcPct val="0"/>
              </a:spcBef>
              <a:spcAft>
                <a:spcPct val="0"/>
              </a:spcAft>
              <a:buClr>
                <a:srgbClr val="000000"/>
              </a:buClr>
              <a:buSzPct val="100000"/>
              <a:buFont typeface="Times New Roman" panose="02020603050405020304" pitchFamily="18" charset="0"/>
              <a:defRPr sz="4100" b="1" kern="1200">
                <a:solidFill>
                  <a:srgbClr val="464646"/>
                </a:solidFill>
                <a:latin typeface="+mj-lt"/>
                <a:ea typeface="+mj-ea"/>
                <a:cs typeface="+mj-cs"/>
              </a:defRPr>
            </a:lvl1pPr>
            <a:lvl2pPr marL="742950" indent="-28575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2pPr>
            <a:lvl3pPr marL="1143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3pPr>
            <a:lvl4pPr marL="1600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4pPr>
            <a:lvl5pPr marL="20574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5pPr>
            <a:lvl6pPr marL="25146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6pPr>
            <a:lvl7pPr marL="29718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7pPr>
            <a:lvl8pPr marL="3429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8pPr>
            <a:lvl9pPr marL="3886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9pPr>
          </a:lstStyle>
          <a:p>
            <a:pPr algn="ctr"/>
            <a:r>
              <a:rPr lang="pt-BR" sz="2000" dirty="0">
                <a:solidFill>
                  <a:schemeClr val="accent6"/>
                </a:solidFill>
                <a:latin typeface="+mn-lt"/>
              </a:rPr>
              <a:t>MODAL AQUAVIÁRIO</a:t>
            </a:r>
          </a:p>
        </p:txBody>
      </p:sp>
    </p:spTree>
    <p:extLst>
      <p:ext uri="{BB962C8B-B14F-4D97-AF65-F5344CB8AC3E}">
        <p14:creationId xmlns:p14="http://schemas.microsoft.com/office/powerpoint/2010/main" val="3242333187"/>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Retângulo 6"/>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MODAIS DE TRANSPORTE</a:t>
            </a:r>
          </a:p>
        </p:txBody>
      </p:sp>
      <p:sp>
        <p:nvSpPr>
          <p:cNvPr id="9" name="Title 1"/>
          <p:cNvSpPr txBox="1">
            <a:spLocks/>
          </p:cNvSpPr>
          <p:nvPr/>
        </p:nvSpPr>
        <p:spPr bwMode="auto">
          <a:xfrm>
            <a:off x="2683213" y="1060248"/>
            <a:ext cx="6786036" cy="4005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noAutofit/>
          </a:bodyPr>
          <a:lstStyle>
            <a:lvl1pPr algn="l" defTabSz="449263" rtl="0" eaLnBrk="1" fontAlgn="base" hangingPunct="1">
              <a:spcBef>
                <a:spcPct val="0"/>
              </a:spcBef>
              <a:spcAft>
                <a:spcPct val="0"/>
              </a:spcAft>
              <a:buClr>
                <a:srgbClr val="000000"/>
              </a:buClr>
              <a:buSzPct val="100000"/>
              <a:buFont typeface="Times New Roman" panose="02020603050405020304" pitchFamily="18" charset="0"/>
              <a:defRPr sz="4100" b="1" kern="1200">
                <a:solidFill>
                  <a:srgbClr val="464646"/>
                </a:solidFill>
                <a:latin typeface="+mj-lt"/>
                <a:ea typeface="+mj-ea"/>
                <a:cs typeface="+mj-cs"/>
              </a:defRPr>
            </a:lvl1pPr>
            <a:lvl2pPr marL="742950" indent="-28575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2pPr>
            <a:lvl3pPr marL="1143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3pPr>
            <a:lvl4pPr marL="1600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4pPr>
            <a:lvl5pPr marL="20574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5pPr>
            <a:lvl6pPr marL="25146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6pPr>
            <a:lvl7pPr marL="29718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7pPr>
            <a:lvl8pPr marL="3429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8pPr>
            <a:lvl9pPr marL="3886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9pPr>
          </a:lstStyle>
          <a:p>
            <a:pPr algn="ctr">
              <a:buClrTx/>
              <a:buFontTx/>
              <a:buNone/>
            </a:pPr>
            <a:r>
              <a:rPr lang="pt-BR" altLang="pt-BR" sz="2000" dirty="0">
                <a:solidFill>
                  <a:schemeClr val="accent6"/>
                </a:solidFill>
                <a:latin typeface="Lucida Sans Unicode" panose="020B0602030504020204" pitchFamily="34" charset="0"/>
              </a:rPr>
              <a:t>COMPARAÇÃO DE VARIÁVEIS</a:t>
            </a:r>
            <a:endParaRPr lang="pt-BR" altLang="pt-BR" sz="2000" dirty="0">
              <a:solidFill>
                <a:schemeClr val="accent6"/>
              </a:solidFill>
              <a:effectLst>
                <a:outerShdw blurRad="38100" dist="38100" dir="2700000" algn="tl">
                  <a:srgbClr val="C0C0C0"/>
                </a:outerShdw>
              </a:effectLst>
              <a:latin typeface="Lucida Sans Unicode" panose="020B0602030504020204" pitchFamily="34" charset="0"/>
            </a:endParaRPr>
          </a:p>
        </p:txBody>
      </p:sp>
      <p:graphicFrame>
        <p:nvGraphicFramePr>
          <p:cNvPr id="13" name="Group 1"/>
          <p:cNvGraphicFramePr>
            <a:graphicFrameLocks noGrp="1"/>
          </p:cNvGraphicFramePr>
          <p:nvPr/>
        </p:nvGraphicFramePr>
        <p:xfrm>
          <a:off x="2312277" y="1744717"/>
          <a:ext cx="7641021" cy="4433835"/>
        </p:xfrm>
        <a:graphic>
          <a:graphicData uri="http://schemas.openxmlformats.org/drawingml/2006/table">
            <a:tbl>
              <a:tblPr/>
              <a:tblGrid>
                <a:gridCol w="1759027">
                  <a:extLst>
                    <a:ext uri="{9D8B030D-6E8A-4147-A177-3AD203B41FA5}">
                      <a16:colId xmlns:a16="http://schemas.microsoft.com/office/drawing/2014/main" val="20000"/>
                    </a:ext>
                  </a:extLst>
                </a:gridCol>
                <a:gridCol w="937193">
                  <a:extLst>
                    <a:ext uri="{9D8B030D-6E8A-4147-A177-3AD203B41FA5}">
                      <a16:colId xmlns:a16="http://schemas.microsoft.com/office/drawing/2014/main" val="20001"/>
                    </a:ext>
                  </a:extLst>
                </a:gridCol>
                <a:gridCol w="1165931">
                  <a:extLst>
                    <a:ext uri="{9D8B030D-6E8A-4147-A177-3AD203B41FA5}">
                      <a16:colId xmlns:a16="http://schemas.microsoft.com/office/drawing/2014/main" val="2098740600"/>
                    </a:ext>
                  </a:extLst>
                </a:gridCol>
                <a:gridCol w="1509465">
                  <a:extLst>
                    <a:ext uri="{9D8B030D-6E8A-4147-A177-3AD203B41FA5}">
                      <a16:colId xmlns:a16="http://schemas.microsoft.com/office/drawing/2014/main" val="20002"/>
                    </a:ext>
                  </a:extLst>
                </a:gridCol>
                <a:gridCol w="1290854">
                  <a:extLst>
                    <a:ext uri="{9D8B030D-6E8A-4147-A177-3AD203B41FA5}">
                      <a16:colId xmlns:a16="http://schemas.microsoft.com/office/drawing/2014/main" val="20003"/>
                    </a:ext>
                  </a:extLst>
                </a:gridCol>
                <a:gridCol w="978551">
                  <a:extLst>
                    <a:ext uri="{9D8B030D-6E8A-4147-A177-3AD203B41FA5}">
                      <a16:colId xmlns:a16="http://schemas.microsoft.com/office/drawing/2014/main" val="20004"/>
                    </a:ext>
                  </a:extLst>
                </a:gridCol>
              </a:tblGrid>
              <a:tr h="949409">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76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kumimoji="0" lang="pt-BR" altLang="pt-BR" sz="1800" b="0" i="0" u="none" strike="noStrike" cap="none" normalizeH="0" baseline="0" dirty="0">
                          <a:ln>
                            <a:noFill/>
                          </a:ln>
                          <a:solidFill>
                            <a:srgbClr val="000080"/>
                          </a:solidFill>
                          <a:effectLst/>
                          <a:latin typeface="Arial" panose="020B0604020202020204" pitchFamily="34" charset="0"/>
                          <a:ea typeface="Microsoft YaHei" panose="020B0503020204020204" pitchFamily="34" charset="-122"/>
                        </a:rPr>
                        <a:t>Modais</a:t>
                      </a:r>
                    </a:p>
                  </a:txBody>
                  <a:tcPr marL="90000" marR="90000" marT="189791" marB="46800"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B3B3B3"/>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76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kumimoji="0" lang="pt-BR" altLang="pt-BR" sz="1800" b="0" i="0" u="none" strike="noStrike" cap="none" normalizeH="0" baseline="0" dirty="0">
                          <a:ln>
                            <a:noFill/>
                          </a:ln>
                          <a:solidFill>
                            <a:srgbClr val="000080"/>
                          </a:solidFill>
                          <a:effectLst/>
                          <a:latin typeface="Arial" panose="020B0604020202020204" pitchFamily="34" charset="0"/>
                          <a:ea typeface="Microsoft YaHei" panose="020B0503020204020204" pitchFamily="34" charset="-122"/>
                        </a:rPr>
                        <a:t>Custo</a:t>
                      </a:r>
                    </a:p>
                    <a:p>
                      <a:pPr marL="0" marR="0" lvl="0" indent="0" algn="ctr" defTabSz="449263" rtl="0" eaLnBrk="1" fontAlgn="base" latinLnBrk="0" hangingPunct="0">
                        <a:lnSpc>
                          <a:spcPct val="76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kumimoji="0" lang="pt-BR" altLang="pt-BR" sz="1800" b="0" i="0" u="none" strike="noStrike" cap="none" normalizeH="0" baseline="0" dirty="0">
                          <a:ln>
                            <a:noFill/>
                          </a:ln>
                          <a:solidFill>
                            <a:srgbClr val="000080"/>
                          </a:solidFill>
                          <a:effectLst/>
                          <a:latin typeface="Arial" panose="020B0604020202020204" pitchFamily="34" charset="0"/>
                          <a:ea typeface="Microsoft YaHei" panose="020B0503020204020204" pitchFamily="34" charset="-122"/>
                        </a:rPr>
                        <a:t>Fixo</a:t>
                      </a:r>
                    </a:p>
                  </a:txBody>
                  <a:tcPr marL="90000" marR="90000" marT="189791" marB="46800"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B3B3B3"/>
                    </a:solidFill>
                  </a:tcPr>
                </a:tc>
                <a:tc>
                  <a:txBody>
                    <a:bodyPr/>
                    <a:lstStyle/>
                    <a:p>
                      <a:pPr marL="0" marR="0" lvl="0" indent="0" algn="ctr" defTabSz="449263" rtl="0" eaLnBrk="1" fontAlgn="base" latinLnBrk="0" hangingPunct="0">
                        <a:lnSpc>
                          <a:spcPct val="76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kumimoji="0" lang="pt-BR" altLang="pt-BR" sz="1800" b="0" i="0" u="none" strike="noStrike" cap="none" normalizeH="0" baseline="0" dirty="0">
                          <a:ln>
                            <a:noFill/>
                          </a:ln>
                          <a:solidFill>
                            <a:srgbClr val="000080"/>
                          </a:solidFill>
                          <a:effectLst/>
                          <a:latin typeface="Arial" panose="020B0604020202020204" pitchFamily="34" charset="0"/>
                          <a:ea typeface="Microsoft YaHei" panose="020B0503020204020204" pitchFamily="34" charset="-122"/>
                        </a:rPr>
                        <a:t>Custo</a:t>
                      </a:r>
                    </a:p>
                    <a:p>
                      <a:pPr marL="0" marR="0" lvl="0" indent="0" algn="ctr" defTabSz="449263" rtl="0" eaLnBrk="1" fontAlgn="base" latinLnBrk="0" hangingPunct="0">
                        <a:lnSpc>
                          <a:spcPct val="76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kumimoji="0" lang="pt-BR" altLang="pt-BR" sz="1800" b="0" i="0" u="none" strike="noStrike" cap="none" normalizeH="0" baseline="0" dirty="0">
                          <a:ln>
                            <a:noFill/>
                          </a:ln>
                          <a:solidFill>
                            <a:srgbClr val="000080"/>
                          </a:solidFill>
                          <a:effectLst/>
                          <a:latin typeface="Arial" panose="020B0604020202020204" pitchFamily="34" charset="0"/>
                          <a:ea typeface="Microsoft YaHei" panose="020B0503020204020204" pitchFamily="34" charset="-122"/>
                        </a:rPr>
                        <a:t>Variável</a:t>
                      </a:r>
                    </a:p>
                  </a:txBody>
                  <a:tcPr marL="90000" marR="90000" marT="189791" marB="46800"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B3B3B3"/>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76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kumimoji="0" lang="pt-BR" altLang="pt-BR" sz="1800" b="0" i="0" u="none" strike="noStrike" cap="none" normalizeH="0" baseline="0" dirty="0">
                          <a:ln>
                            <a:noFill/>
                          </a:ln>
                          <a:solidFill>
                            <a:srgbClr val="000080"/>
                          </a:solidFill>
                          <a:effectLst/>
                          <a:latin typeface="Arial" panose="020B0604020202020204" pitchFamily="34" charset="0"/>
                          <a:ea typeface="Microsoft YaHei" panose="020B0503020204020204" pitchFamily="34" charset="-122"/>
                        </a:rPr>
                        <a:t>Tempo médio viagem</a:t>
                      </a:r>
                    </a:p>
                  </a:txBody>
                  <a:tcPr marL="90000" marR="90000" marT="189791" marB="46800"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B3B3B3"/>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76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kumimoji="0" lang="pt-BR" altLang="pt-BR" sz="1800" b="0" i="0" u="none" strike="noStrike" cap="none" normalizeH="0" baseline="0" dirty="0">
                          <a:ln>
                            <a:noFill/>
                          </a:ln>
                          <a:solidFill>
                            <a:srgbClr val="000080"/>
                          </a:solidFill>
                          <a:effectLst/>
                          <a:latin typeface="Arial" panose="020B0604020202020204" pitchFamily="34" charset="0"/>
                          <a:ea typeface="Microsoft YaHei" panose="020B0503020204020204" pitchFamily="34" charset="-122"/>
                        </a:rPr>
                        <a:t>Variação de tempo</a:t>
                      </a:r>
                    </a:p>
                  </a:txBody>
                  <a:tcPr marL="90000" marR="90000" marT="189791" marB="46800"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B3B3B3"/>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76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kumimoji="0" lang="pt-BR" altLang="pt-BR" sz="1800" b="0" i="0" u="none" strike="noStrike" cap="none" normalizeH="0" baseline="0" dirty="0">
                          <a:ln>
                            <a:noFill/>
                          </a:ln>
                          <a:solidFill>
                            <a:srgbClr val="000080"/>
                          </a:solidFill>
                          <a:effectLst/>
                          <a:latin typeface="Arial" panose="020B0604020202020204" pitchFamily="34" charset="0"/>
                          <a:ea typeface="Microsoft YaHei" panose="020B0503020204020204" pitchFamily="34" charset="-122"/>
                        </a:rPr>
                        <a:t>Perdas e danos</a:t>
                      </a:r>
                    </a:p>
                  </a:txBody>
                  <a:tcPr marL="90000" marR="90000" marT="189791" marB="46800"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B3B3B3"/>
                    </a:solidFill>
                  </a:tcPr>
                </a:tc>
                <a:extLst>
                  <a:ext uri="{0D108BD9-81ED-4DB2-BD59-A6C34878D82A}">
                    <a16:rowId xmlns:a16="http://schemas.microsoft.com/office/drawing/2014/main" val="10000"/>
                  </a:ext>
                </a:extLst>
              </a:tr>
              <a:tr h="696559">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76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kumimoji="0" lang="pt-BR" altLang="pt-BR" sz="1800" b="0" i="0" u="none" strike="noStrike" cap="none" normalizeH="0" baseline="0">
                          <a:ln>
                            <a:noFill/>
                          </a:ln>
                          <a:solidFill>
                            <a:srgbClr val="000080"/>
                          </a:solidFill>
                          <a:effectLst/>
                          <a:latin typeface="Arial" panose="020B0604020202020204" pitchFamily="34" charset="0"/>
                          <a:ea typeface="Microsoft YaHei" panose="020B0503020204020204" pitchFamily="34" charset="-122"/>
                        </a:rPr>
                        <a:t>RODOVIÁRIO</a:t>
                      </a:r>
                    </a:p>
                  </a:txBody>
                  <a:tcPr marL="90000" marR="90000" marT="189791" marB="46800"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81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ea typeface="Microsoft YaHei" panose="020B0503020204020204" pitchFamily="34" charset="-122"/>
                      </a:endParaRPr>
                    </a:p>
                  </a:txBody>
                  <a:tcPr marL="90000" marR="90000" marT="151092" marB="46800"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p>
                      <a:pPr marL="0" marR="0" lvl="0" indent="0" algn="l" defTabSz="449263" rtl="0" eaLnBrk="0" fontAlgn="base" latinLnBrk="0" hangingPunct="0">
                        <a:lnSpc>
                          <a:spcPct val="81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ea typeface="Microsoft YaHei" panose="020B0503020204020204" pitchFamily="34" charset="-122"/>
                      </a:endParaRPr>
                    </a:p>
                  </a:txBody>
                  <a:tcPr marL="90000" marR="90000" marT="151092" marB="46800"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81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a:ln>
                          <a:noFill/>
                        </a:ln>
                        <a:solidFill>
                          <a:srgbClr val="000000"/>
                        </a:solidFill>
                        <a:effectLst/>
                        <a:latin typeface="Arial" panose="020B0604020202020204" pitchFamily="34" charset="0"/>
                        <a:ea typeface="Microsoft YaHei" panose="020B0503020204020204" pitchFamily="34" charset="-122"/>
                      </a:endParaRPr>
                    </a:p>
                  </a:txBody>
                  <a:tcPr marL="90000" marR="90000" marT="151092" marB="46800"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81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a:ln>
                          <a:noFill/>
                        </a:ln>
                        <a:solidFill>
                          <a:srgbClr val="000000"/>
                        </a:solidFill>
                        <a:effectLst/>
                        <a:latin typeface="Arial" panose="020B0604020202020204" pitchFamily="34" charset="0"/>
                        <a:ea typeface="Microsoft YaHei" panose="020B0503020204020204" pitchFamily="34" charset="-122"/>
                      </a:endParaRPr>
                    </a:p>
                  </a:txBody>
                  <a:tcPr marL="90000" marR="90000" marT="151092" marB="46800"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81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a:ln>
                          <a:noFill/>
                        </a:ln>
                        <a:solidFill>
                          <a:srgbClr val="000000"/>
                        </a:solidFill>
                        <a:effectLst/>
                        <a:latin typeface="Arial" panose="020B0604020202020204" pitchFamily="34" charset="0"/>
                        <a:ea typeface="Microsoft YaHei" panose="020B0503020204020204" pitchFamily="34" charset="-122"/>
                      </a:endParaRPr>
                    </a:p>
                  </a:txBody>
                  <a:tcPr marL="90000" marR="90000" marT="151092" marB="46800"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10001"/>
                  </a:ext>
                </a:extLst>
              </a:tr>
              <a:tr h="696559">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76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kumimoji="0" lang="pt-BR" altLang="pt-BR" sz="1800" b="0" i="0" u="none" strike="noStrike" cap="none" normalizeH="0" baseline="0" dirty="0">
                          <a:ln>
                            <a:noFill/>
                          </a:ln>
                          <a:solidFill>
                            <a:srgbClr val="000080"/>
                          </a:solidFill>
                          <a:effectLst/>
                          <a:latin typeface="Arial" panose="020B0604020202020204" pitchFamily="34" charset="0"/>
                          <a:ea typeface="Microsoft YaHei" panose="020B0503020204020204" pitchFamily="34" charset="-122"/>
                        </a:rPr>
                        <a:t>FERROVIÁRIO</a:t>
                      </a:r>
                    </a:p>
                  </a:txBody>
                  <a:tcPr marL="90000" marR="90000" marT="189791" marB="46800"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81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ea typeface="Microsoft YaHei" panose="020B0503020204020204" pitchFamily="34" charset="-122"/>
                      </a:endParaRPr>
                    </a:p>
                  </a:txBody>
                  <a:tcPr marL="90000" marR="90000" marT="151092" marB="46800"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449263" rtl="0" eaLnBrk="0" fontAlgn="base" latinLnBrk="0" hangingPunct="0">
                        <a:lnSpc>
                          <a:spcPct val="81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ea typeface="Microsoft YaHei" panose="020B0503020204020204" pitchFamily="34" charset="-122"/>
                      </a:endParaRPr>
                    </a:p>
                  </a:txBody>
                  <a:tcPr marL="90000" marR="90000" marT="151092" marB="46800"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81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a:ln>
                          <a:noFill/>
                        </a:ln>
                        <a:solidFill>
                          <a:srgbClr val="000000"/>
                        </a:solidFill>
                        <a:effectLst/>
                        <a:latin typeface="Arial" panose="020B0604020202020204" pitchFamily="34" charset="0"/>
                        <a:ea typeface="Microsoft YaHei" panose="020B0503020204020204" pitchFamily="34" charset="-122"/>
                      </a:endParaRPr>
                    </a:p>
                  </a:txBody>
                  <a:tcPr marL="90000" marR="90000" marT="151092" marB="46800"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81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a:ln>
                          <a:noFill/>
                        </a:ln>
                        <a:solidFill>
                          <a:srgbClr val="000000"/>
                        </a:solidFill>
                        <a:effectLst/>
                        <a:latin typeface="Arial" panose="020B0604020202020204" pitchFamily="34" charset="0"/>
                        <a:ea typeface="Microsoft YaHei" panose="020B0503020204020204" pitchFamily="34" charset="-122"/>
                      </a:endParaRPr>
                    </a:p>
                  </a:txBody>
                  <a:tcPr marL="90000" marR="90000" marT="151092" marB="46800"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81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ea typeface="Microsoft YaHei" panose="020B0503020204020204" pitchFamily="34" charset="-122"/>
                      </a:endParaRPr>
                    </a:p>
                  </a:txBody>
                  <a:tcPr marL="90000" marR="90000" marT="151092" marB="46800"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10002"/>
                  </a:ext>
                </a:extLst>
              </a:tr>
              <a:tr h="696559">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76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kumimoji="0" lang="pt-BR" altLang="pt-BR" sz="1800" b="0" i="0" u="none" strike="noStrike" cap="none" normalizeH="0" baseline="0">
                          <a:ln>
                            <a:noFill/>
                          </a:ln>
                          <a:solidFill>
                            <a:srgbClr val="000080"/>
                          </a:solidFill>
                          <a:effectLst/>
                          <a:latin typeface="Arial" panose="020B0604020202020204" pitchFamily="34" charset="0"/>
                          <a:ea typeface="Microsoft YaHei" panose="020B0503020204020204" pitchFamily="34" charset="-122"/>
                        </a:rPr>
                        <a:t>AQUAVIÁRIO</a:t>
                      </a:r>
                    </a:p>
                  </a:txBody>
                  <a:tcPr marL="90000" marR="90000" marT="189791" marB="46800"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81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a:ln>
                          <a:noFill/>
                        </a:ln>
                        <a:solidFill>
                          <a:srgbClr val="000000"/>
                        </a:solidFill>
                        <a:effectLst/>
                        <a:latin typeface="Arial" panose="020B0604020202020204" pitchFamily="34" charset="0"/>
                        <a:ea typeface="Microsoft YaHei" panose="020B0503020204020204" pitchFamily="34" charset="-122"/>
                      </a:endParaRPr>
                    </a:p>
                  </a:txBody>
                  <a:tcPr marL="90000" marR="90000" marT="151092" marB="46800"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p>
                      <a:pPr marL="0" marR="0" lvl="0" indent="0" algn="l" defTabSz="449263" rtl="0" eaLnBrk="0" fontAlgn="base" latinLnBrk="0" hangingPunct="0">
                        <a:lnSpc>
                          <a:spcPct val="81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a:ln>
                          <a:noFill/>
                        </a:ln>
                        <a:solidFill>
                          <a:srgbClr val="000000"/>
                        </a:solidFill>
                        <a:effectLst/>
                        <a:latin typeface="Arial" panose="020B0604020202020204" pitchFamily="34" charset="0"/>
                        <a:ea typeface="Microsoft YaHei" panose="020B0503020204020204" pitchFamily="34" charset="-122"/>
                      </a:endParaRPr>
                    </a:p>
                  </a:txBody>
                  <a:tcPr marL="90000" marR="90000" marT="151092" marB="46800"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81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a:ln>
                          <a:noFill/>
                        </a:ln>
                        <a:solidFill>
                          <a:srgbClr val="000000"/>
                        </a:solidFill>
                        <a:effectLst/>
                        <a:latin typeface="Arial" panose="020B0604020202020204" pitchFamily="34" charset="0"/>
                        <a:ea typeface="Microsoft YaHei" panose="020B0503020204020204" pitchFamily="34" charset="-122"/>
                      </a:endParaRPr>
                    </a:p>
                  </a:txBody>
                  <a:tcPr marL="90000" marR="90000" marT="151092" marB="46800"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81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a:ln>
                          <a:noFill/>
                        </a:ln>
                        <a:solidFill>
                          <a:srgbClr val="000000"/>
                        </a:solidFill>
                        <a:effectLst/>
                        <a:latin typeface="Arial" panose="020B0604020202020204" pitchFamily="34" charset="0"/>
                        <a:ea typeface="Microsoft YaHei" panose="020B0503020204020204" pitchFamily="34" charset="-122"/>
                      </a:endParaRPr>
                    </a:p>
                  </a:txBody>
                  <a:tcPr marL="90000" marR="90000" marT="151092" marB="46800"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81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ea typeface="Microsoft YaHei" panose="020B0503020204020204" pitchFamily="34" charset="-122"/>
                      </a:endParaRPr>
                    </a:p>
                  </a:txBody>
                  <a:tcPr marL="90000" marR="90000" marT="151092" marB="46800"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10003"/>
                  </a:ext>
                </a:extLst>
              </a:tr>
              <a:tr h="696559">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76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kumimoji="0" lang="pt-BR" altLang="pt-BR" sz="1800" b="0" i="0" u="none" strike="noStrike" cap="none" normalizeH="0" baseline="0">
                          <a:ln>
                            <a:noFill/>
                          </a:ln>
                          <a:solidFill>
                            <a:srgbClr val="000080"/>
                          </a:solidFill>
                          <a:effectLst/>
                          <a:latin typeface="Arial" panose="020B0604020202020204" pitchFamily="34" charset="0"/>
                          <a:ea typeface="Microsoft YaHei" panose="020B0503020204020204" pitchFamily="34" charset="-122"/>
                        </a:rPr>
                        <a:t>AEROVIÁRIO</a:t>
                      </a:r>
                    </a:p>
                  </a:txBody>
                  <a:tcPr marL="90000" marR="90000" marT="189791" marB="46800"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81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a:ln>
                          <a:noFill/>
                        </a:ln>
                        <a:solidFill>
                          <a:srgbClr val="000000"/>
                        </a:solidFill>
                        <a:effectLst/>
                        <a:latin typeface="Arial" panose="020B0604020202020204" pitchFamily="34" charset="0"/>
                        <a:ea typeface="Microsoft YaHei" panose="020B0503020204020204" pitchFamily="34" charset="-122"/>
                      </a:endParaRPr>
                    </a:p>
                  </a:txBody>
                  <a:tcPr marL="90000" marR="90000" marT="151092" marB="46800"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449263" rtl="0" eaLnBrk="0" fontAlgn="base" latinLnBrk="0" hangingPunct="0">
                        <a:lnSpc>
                          <a:spcPct val="81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ea typeface="Microsoft YaHei" panose="020B0503020204020204" pitchFamily="34" charset="-122"/>
                      </a:endParaRPr>
                    </a:p>
                  </a:txBody>
                  <a:tcPr marL="90000" marR="90000" marT="151092" marB="46800"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81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a:ln>
                          <a:noFill/>
                        </a:ln>
                        <a:solidFill>
                          <a:srgbClr val="000000"/>
                        </a:solidFill>
                        <a:effectLst/>
                        <a:latin typeface="Arial" panose="020B0604020202020204" pitchFamily="34" charset="0"/>
                        <a:ea typeface="Microsoft YaHei" panose="020B0503020204020204" pitchFamily="34" charset="-122"/>
                      </a:endParaRPr>
                    </a:p>
                  </a:txBody>
                  <a:tcPr marL="90000" marR="90000" marT="151092" marB="46800"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81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a:ln>
                          <a:noFill/>
                        </a:ln>
                        <a:solidFill>
                          <a:srgbClr val="000000"/>
                        </a:solidFill>
                        <a:effectLst/>
                        <a:latin typeface="Arial" panose="020B0604020202020204" pitchFamily="34" charset="0"/>
                        <a:ea typeface="Microsoft YaHei" panose="020B0503020204020204" pitchFamily="34" charset="-122"/>
                      </a:endParaRPr>
                    </a:p>
                  </a:txBody>
                  <a:tcPr marL="90000" marR="90000" marT="151092" marB="46800"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81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a:ln>
                          <a:noFill/>
                        </a:ln>
                        <a:solidFill>
                          <a:srgbClr val="000000"/>
                        </a:solidFill>
                        <a:effectLst/>
                        <a:latin typeface="Arial" panose="020B0604020202020204" pitchFamily="34" charset="0"/>
                        <a:ea typeface="Microsoft YaHei" panose="020B0503020204020204" pitchFamily="34" charset="-122"/>
                      </a:endParaRPr>
                    </a:p>
                  </a:txBody>
                  <a:tcPr marL="90000" marR="90000" marT="151092" marB="46800"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10004"/>
                  </a:ext>
                </a:extLst>
              </a:tr>
              <a:tr h="698190">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76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kumimoji="0" lang="pt-BR" altLang="pt-BR" sz="1800" b="0" i="0" u="none" strike="noStrike" cap="none" normalizeH="0" baseline="0">
                          <a:ln>
                            <a:noFill/>
                          </a:ln>
                          <a:solidFill>
                            <a:srgbClr val="000080"/>
                          </a:solidFill>
                          <a:effectLst/>
                          <a:latin typeface="Arial" panose="020B0604020202020204" pitchFamily="34" charset="0"/>
                          <a:ea typeface="Microsoft YaHei" panose="020B0503020204020204" pitchFamily="34" charset="-122"/>
                        </a:rPr>
                        <a:t>DUTOVIÁRIO</a:t>
                      </a:r>
                    </a:p>
                  </a:txBody>
                  <a:tcPr marL="90000" marR="90000" marT="189791" marB="46800"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81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a:ln>
                          <a:noFill/>
                        </a:ln>
                        <a:solidFill>
                          <a:srgbClr val="000000"/>
                        </a:solidFill>
                        <a:effectLst/>
                        <a:latin typeface="Arial" panose="020B0604020202020204" pitchFamily="34" charset="0"/>
                        <a:ea typeface="Microsoft YaHei" panose="020B0503020204020204" pitchFamily="34" charset="-122"/>
                      </a:endParaRPr>
                    </a:p>
                  </a:txBody>
                  <a:tcPr marL="90000" marR="90000" marT="151092" marB="46800"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p>
                      <a:pPr marL="0" marR="0" lvl="0" indent="0" algn="l" defTabSz="449263" rtl="0" eaLnBrk="0" fontAlgn="base" latinLnBrk="0" hangingPunct="0">
                        <a:lnSpc>
                          <a:spcPct val="81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ea typeface="Microsoft YaHei" panose="020B0503020204020204" pitchFamily="34" charset="-122"/>
                      </a:endParaRPr>
                    </a:p>
                  </a:txBody>
                  <a:tcPr marL="90000" marR="90000" marT="151092" marB="46800"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81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ea typeface="Microsoft YaHei" panose="020B0503020204020204" pitchFamily="34" charset="-122"/>
                      </a:endParaRPr>
                    </a:p>
                  </a:txBody>
                  <a:tcPr marL="90000" marR="90000" marT="151092" marB="46800"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81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a:ln>
                          <a:noFill/>
                        </a:ln>
                        <a:solidFill>
                          <a:srgbClr val="000000"/>
                        </a:solidFill>
                        <a:effectLst/>
                        <a:latin typeface="Arial" panose="020B0604020202020204" pitchFamily="34" charset="0"/>
                        <a:ea typeface="Microsoft YaHei" panose="020B0503020204020204" pitchFamily="34" charset="-122"/>
                      </a:endParaRPr>
                    </a:p>
                  </a:txBody>
                  <a:tcPr marL="90000" marR="90000" marT="151092" marB="46800"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81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ea typeface="Microsoft YaHei" panose="020B0503020204020204" pitchFamily="34" charset="-122"/>
                      </a:endParaRPr>
                    </a:p>
                  </a:txBody>
                  <a:tcPr marL="90000" marR="90000" marT="151092" marB="46800"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10005"/>
                  </a:ext>
                </a:extLst>
              </a:tr>
            </a:tbl>
          </a:graphicData>
        </a:graphic>
      </p:graphicFrame>
      <p:sp>
        <p:nvSpPr>
          <p:cNvPr id="14" name="Text Box 103"/>
          <p:cNvSpPr txBox="1">
            <a:spLocks noChangeArrowheads="1"/>
          </p:cNvSpPr>
          <p:nvPr/>
        </p:nvSpPr>
        <p:spPr bwMode="auto">
          <a:xfrm>
            <a:off x="4129191" y="4276841"/>
            <a:ext cx="809625" cy="331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9pPr>
          </a:lstStyle>
          <a:p>
            <a:pPr algn="ctr">
              <a:buClrTx/>
              <a:buFontTx/>
              <a:buNone/>
            </a:pPr>
            <a:r>
              <a:rPr lang="pt-BR" altLang="pt-BR" dirty="0">
                <a:solidFill>
                  <a:srgbClr val="FFFF00"/>
                </a:solidFill>
              </a:rPr>
              <a:t>Médio</a:t>
            </a:r>
            <a:r>
              <a:rPr lang="pt-BR" altLang="pt-BR" sz="3200" b="1" dirty="0">
                <a:solidFill>
                  <a:srgbClr val="002060"/>
                </a:solidFill>
                <a:effectLst>
                  <a:outerShdw blurRad="38100" dist="38100" dir="2700000" algn="tl">
                    <a:srgbClr val="C0C0C0"/>
                  </a:outerShdw>
                </a:effectLst>
                <a:latin typeface="Lucida Sans Unicode" panose="020B0602030504020204" pitchFamily="34" charset="0"/>
              </a:rPr>
              <a:t> </a:t>
            </a:r>
          </a:p>
        </p:txBody>
      </p:sp>
      <p:sp>
        <p:nvSpPr>
          <p:cNvPr id="15" name="Text Box 104"/>
          <p:cNvSpPr txBox="1">
            <a:spLocks noChangeArrowheads="1"/>
          </p:cNvSpPr>
          <p:nvPr/>
        </p:nvSpPr>
        <p:spPr bwMode="auto">
          <a:xfrm>
            <a:off x="6501559" y="2861412"/>
            <a:ext cx="809625" cy="331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9pPr>
          </a:lstStyle>
          <a:p>
            <a:pPr algn="ctr">
              <a:buClrTx/>
              <a:buFontTx/>
              <a:buNone/>
            </a:pPr>
            <a:r>
              <a:rPr lang="pt-BR" altLang="pt-BR" dirty="0">
                <a:solidFill>
                  <a:srgbClr val="FFFF00"/>
                </a:solidFill>
              </a:rPr>
              <a:t>Médio</a:t>
            </a:r>
            <a:r>
              <a:rPr lang="pt-BR" altLang="pt-BR" sz="3200" b="1" dirty="0">
                <a:solidFill>
                  <a:srgbClr val="002060"/>
                </a:solidFill>
                <a:effectLst>
                  <a:outerShdw blurRad="38100" dist="38100" dir="2700000" algn="tl">
                    <a:srgbClr val="C0C0C0"/>
                  </a:outerShdw>
                </a:effectLst>
                <a:latin typeface="Lucida Sans Unicode" panose="020B0602030504020204" pitchFamily="34" charset="0"/>
              </a:rPr>
              <a:t> </a:t>
            </a:r>
          </a:p>
        </p:txBody>
      </p:sp>
      <p:sp>
        <p:nvSpPr>
          <p:cNvPr id="16" name="Text Box 105"/>
          <p:cNvSpPr txBox="1">
            <a:spLocks noChangeArrowheads="1"/>
          </p:cNvSpPr>
          <p:nvPr/>
        </p:nvSpPr>
        <p:spPr bwMode="auto">
          <a:xfrm>
            <a:off x="4129190" y="4960595"/>
            <a:ext cx="809625" cy="331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9pPr>
          </a:lstStyle>
          <a:p>
            <a:pPr algn="ctr">
              <a:buClrTx/>
              <a:buFontTx/>
              <a:buNone/>
            </a:pPr>
            <a:r>
              <a:rPr lang="pt-BR" altLang="pt-BR" dirty="0">
                <a:solidFill>
                  <a:srgbClr val="FF0000"/>
                </a:solidFill>
              </a:rPr>
              <a:t>Alto</a:t>
            </a:r>
            <a:r>
              <a:rPr lang="pt-BR" altLang="pt-BR" sz="3200" b="1" dirty="0">
                <a:solidFill>
                  <a:srgbClr val="002060"/>
                </a:solidFill>
                <a:effectLst>
                  <a:outerShdw blurRad="38100" dist="38100" dir="2700000" algn="tl">
                    <a:srgbClr val="C0C0C0"/>
                  </a:outerShdw>
                </a:effectLst>
                <a:latin typeface="Lucida Sans Unicode" panose="020B0602030504020204" pitchFamily="34" charset="0"/>
              </a:rPr>
              <a:t> </a:t>
            </a:r>
          </a:p>
        </p:txBody>
      </p:sp>
      <p:sp>
        <p:nvSpPr>
          <p:cNvPr id="19" name="Text Box 108"/>
          <p:cNvSpPr txBox="1">
            <a:spLocks noChangeArrowheads="1"/>
          </p:cNvSpPr>
          <p:nvPr/>
        </p:nvSpPr>
        <p:spPr bwMode="auto">
          <a:xfrm>
            <a:off x="6498001" y="4265634"/>
            <a:ext cx="809625" cy="331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9pPr>
          </a:lstStyle>
          <a:p>
            <a:pPr algn="ctr">
              <a:buClrTx/>
              <a:buFontTx/>
              <a:buNone/>
            </a:pPr>
            <a:r>
              <a:rPr lang="pt-BR" altLang="pt-BR" dirty="0">
                <a:solidFill>
                  <a:srgbClr val="FFFF00"/>
                </a:solidFill>
              </a:rPr>
              <a:t>Médio</a:t>
            </a:r>
            <a:r>
              <a:rPr lang="pt-BR" altLang="pt-BR" sz="3200" b="1" dirty="0">
                <a:solidFill>
                  <a:srgbClr val="002060"/>
                </a:solidFill>
                <a:effectLst>
                  <a:outerShdw blurRad="38100" dist="38100" dir="2700000" algn="tl">
                    <a:srgbClr val="C0C0C0"/>
                  </a:outerShdw>
                </a:effectLst>
                <a:latin typeface="Lucida Sans Unicode" panose="020B0602030504020204" pitchFamily="34" charset="0"/>
              </a:rPr>
              <a:t> </a:t>
            </a:r>
          </a:p>
        </p:txBody>
      </p:sp>
      <p:sp>
        <p:nvSpPr>
          <p:cNvPr id="20" name="Text Box 109"/>
          <p:cNvSpPr txBox="1">
            <a:spLocks noChangeArrowheads="1"/>
          </p:cNvSpPr>
          <p:nvPr/>
        </p:nvSpPr>
        <p:spPr bwMode="auto">
          <a:xfrm>
            <a:off x="7916480" y="4958854"/>
            <a:ext cx="809625" cy="331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9pPr>
          </a:lstStyle>
          <a:p>
            <a:pPr algn="ctr">
              <a:buClrTx/>
              <a:buFontTx/>
              <a:buNone/>
            </a:pPr>
            <a:r>
              <a:rPr lang="pt-BR" altLang="pt-BR" dirty="0">
                <a:solidFill>
                  <a:srgbClr val="FFFF00"/>
                </a:solidFill>
              </a:rPr>
              <a:t>Média</a:t>
            </a:r>
            <a:r>
              <a:rPr lang="pt-BR" altLang="pt-BR" sz="3200" b="1" dirty="0">
                <a:solidFill>
                  <a:srgbClr val="002060"/>
                </a:solidFill>
                <a:effectLst>
                  <a:outerShdw blurRad="38100" dist="38100" dir="2700000" algn="tl">
                    <a:srgbClr val="C0C0C0"/>
                  </a:outerShdw>
                </a:effectLst>
                <a:latin typeface="Lucida Sans Unicode" panose="020B0602030504020204" pitchFamily="34" charset="0"/>
              </a:rPr>
              <a:t> </a:t>
            </a:r>
          </a:p>
        </p:txBody>
      </p:sp>
      <p:sp>
        <p:nvSpPr>
          <p:cNvPr id="22" name="Text Box 113"/>
          <p:cNvSpPr txBox="1">
            <a:spLocks noChangeArrowheads="1"/>
          </p:cNvSpPr>
          <p:nvPr/>
        </p:nvSpPr>
        <p:spPr bwMode="auto">
          <a:xfrm>
            <a:off x="6482125" y="4974882"/>
            <a:ext cx="841375" cy="303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9pPr>
          </a:lstStyle>
          <a:p>
            <a:pPr algn="ctr">
              <a:buClrTx/>
              <a:buFontTx/>
              <a:buNone/>
            </a:pPr>
            <a:r>
              <a:rPr lang="pt-BR" altLang="pt-BR" dirty="0">
                <a:solidFill>
                  <a:srgbClr val="00CC00"/>
                </a:solidFill>
              </a:rPr>
              <a:t>Baixo</a:t>
            </a:r>
            <a:r>
              <a:rPr lang="pt-BR" altLang="pt-BR" sz="3200" b="1" dirty="0">
                <a:solidFill>
                  <a:srgbClr val="002060"/>
                </a:solidFill>
                <a:effectLst>
                  <a:outerShdw blurRad="38100" dist="38100" dir="2700000" algn="tl">
                    <a:srgbClr val="C0C0C0"/>
                  </a:outerShdw>
                </a:effectLst>
                <a:latin typeface="Lucida Sans Unicode" panose="020B0602030504020204" pitchFamily="34" charset="0"/>
              </a:rPr>
              <a:t> </a:t>
            </a:r>
          </a:p>
        </p:txBody>
      </p:sp>
      <p:sp>
        <p:nvSpPr>
          <p:cNvPr id="23" name="Text Box 114"/>
          <p:cNvSpPr txBox="1">
            <a:spLocks noChangeArrowheads="1"/>
          </p:cNvSpPr>
          <p:nvPr/>
        </p:nvSpPr>
        <p:spPr bwMode="auto">
          <a:xfrm>
            <a:off x="6482125" y="5695995"/>
            <a:ext cx="841375" cy="303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9pPr>
          </a:lstStyle>
          <a:p>
            <a:pPr algn="ctr">
              <a:buClrTx/>
              <a:buFontTx/>
              <a:buNone/>
            </a:pPr>
            <a:r>
              <a:rPr lang="pt-BR" altLang="pt-BR" dirty="0">
                <a:solidFill>
                  <a:srgbClr val="00CC00"/>
                </a:solidFill>
              </a:rPr>
              <a:t>Baixo</a:t>
            </a:r>
            <a:r>
              <a:rPr lang="pt-BR" altLang="pt-BR" sz="3200" b="1" dirty="0">
                <a:solidFill>
                  <a:srgbClr val="002060"/>
                </a:solidFill>
                <a:effectLst>
                  <a:outerShdw blurRad="38100" dist="38100" dir="2700000" algn="tl">
                    <a:srgbClr val="C0C0C0"/>
                  </a:outerShdw>
                </a:effectLst>
                <a:latin typeface="Lucida Sans Unicode" panose="020B0602030504020204" pitchFamily="34" charset="0"/>
              </a:rPr>
              <a:t> </a:t>
            </a:r>
          </a:p>
        </p:txBody>
      </p:sp>
      <p:sp>
        <p:nvSpPr>
          <p:cNvPr id="24" name="Text Box 115"/>
          <p:cNvSpPr txBox="1">
            <a:spLocks noChangeArrowheads="1"/>
          </p:cNvSpPr>
          <p:nvPr/>
        </p:nvSpPr>
        <p:spPr bwMode="auto">
          <a:xfrm>
            <a:off x="7900604" y="2871232"/>
            <a:ext cx="809625" cy="331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9pPr>
          </a:lstStyle>
          <a:p>
            <a:pPr algn="ctr">
              <a:buClrTx/>
              <a:buFontTx/>
              <a:buNone/>
            </a:pPr>
            <a:r>
              <a:rPr lang="pt-BR" altLang="pt-BR" dirty="0">
                <a:solidFill>
                  <a:srgbClr val="FF0000"/>
                </a:solidFill>
              </a:rPr>
              <a:t>Alta</a:t>
            </a:r>
            <a:r>
              <a:rPr lang="pt-BR" altLang="pt-BR" sz="3200" b="1" dirty="0">
                <a:solidFill>
                  <a:srgbClr val="002060"/>
                </a:solidFill>
                <a:effectLst>
                  <a:outerShdw blurRad="38100" dist="38100" dir="2700000" algn="tl">
                    <a:srgbClr val="C0C0C0"/>
                  </a:outerShdw>
                </a:effectLst>
                <a:latin typeface="Lucida Sans Unicode" panose="020B0602030504020204" pitchFamily="34" charset="0"/>
              </a:rPr>
              <a:t> </a:t>
            </a:r>
          </a:p>
        </p:txBody>
      </p:sp>
      <p:sp>
        <p:nvSpPr>
          <p:cNvPr id="25" name="Text Box 116"/>
          <p:cNvSpPr txBox="1">
            <a:spLocks noChangeArrowheads="1"/>
          </p:cNvSpPr>
          <p:nvPr/>
        </p:nvSpPr>
        <p:spPr bwMode="auto">
          <a:xfrm>
            <a:off x="6501559" y="3550137"/>
            <a:ext cx="809625" cy="331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9pPr>
          </a:lstStyle>
          <a:p>
            <a:pPr algn="ctr">
              <a:buClrTx/>
              <a:buFontTx/>
              <a:buNone/>
            </a:pPr>
            <a:r>
              <a:rPr lang="pt-BR" altLang="pt-BR" dirty="0">
                <a:solidFill>
                  <a:srgbClr val="FF0000"/>
                </a:solidFill>
              </a:rPr>
              <a:t>Alto</a:t>
            </a:r>
            <a:r>
              <a:rPr lang="pt-BR" altLang="pt-BR" sz="3200" b="1" dirty="0">
                <a:solidFill>
                  <a:srgbClr val="002060"/>
                </a:solidFill>
                <a:effectLst>
                  <a:outerShdw blurRad="38100" dist="38100" dir="2700000" algn="tl">
                    <a:srgbClr val="C0C0C0"/>
                  </a:outerShdw>
                </a:effectLst>
                <a:latin typeface="Lucida Sans Unicode" panose="020B0602030504020204" pitchFamily="34" charset="0"/>
              </a:rPr>
              <a:t> </a:t>
            </a:r>
          </a:p>
        </p:txBody>
      </p:sp>
      <p:sp>
        <p:nvSpPr>
          <p:cNvPr id="26" name="Text Box 117"/>
          <p:cNvSpPr txBox="1">
            <a:spLocks noChangeArrowheads="1"/>
          </p:cNvSpPr>
          <p:nvPr/>
        </p:nvSpPr>
        <p:spPr bwMode="auto">
          <a:xfrm>
            <a:off x="7916480" y="3578712"/>
            <a:ext cx="841375" cy="303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9pPr>
          </a:lstStyle>
          <a:p>
            <a:pPr algn="ctr">
              <a:buClrTx/>
              <a:buFontTx/>
              <a:buNone/>
            </a:pPr>
            <a:r>
              <a:rPr lang="pt-BR" altLang="pt-BR" dirty="0">
                <a:solidFill>
                  <a:srgbClr val="00CC00"/>
                </a:solidFill>
              </a:rPr>
              <a:t>Baixa</a:t>
            </a:r>
            <a:r>
              <a:rPr lang="pt-BR" altLang="pt-BR" sz="3200" b="1" dirty="0">
                <a:solidFill>
                  <a:srgbClr val="002060"/>
                </a:solidFill>
                <a:effectLst>
                  <a:outerShdw blurRad="38100" dist="38100" dir="2700000" algn="tl">
                    <a:srgbClr val="C0C0C0"/>
                  </a:outerShdw>
                </a:effectLst>
                <a:latin typeface="Lucida Sans Unicode" panose="020B0602030504020204" pitchFamily="34" charset="0"/>
              </a:rPr>
              <a:t> </a:t>
            </a:r>
          </a:p>
        </p:txBody>
      </p:sp>
      <p:sp>
        <p:nvSpPr>
          <p:cNvPr id="27" name="Text Box 118"/>
          <p:cNvSpPr txBox="1">
            <a:spLocks noChangeArrowheads="1"/>
          </p:cNvSpPr>
          <p:nvPr/>
        </p:nvSpPr>
        <p:spPr bwMode="auto">
          <a:xfrm>
            <a:off x="7916480" y="5695996"/>
            <a:ext cx="841375" cy="303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9pPr>
          </a:lstStyle>
          <a:p>
            <a:pPr algn="ctr">
              <a:buClrTx/>
              <a:buFontTx/>
              <a:buNone/>
            </a:pPr>
            <a:r>
              <a:rPr lang="pt-BR" altLang="pt-BR" dirty="0">
                <a:solidFill>
                  <a:srgbClr val="00CC00"/>
                </a:solidFill>
              </a:rPr>
              <a:t>Baixa</a:t>
            </a:r>
            <a:r>
              <a:rPr lang="pt-BR" altLang="pt-BR" sz="3200" b="1" dirty="0">
                <a:solidFill>
                  <a:srgbClr val="002060"/>
                </a:solidFill>
                <a:effectLst>
                  <a:outerShdw blurRad="38100" dist="38100" dir="2700000" algn="tl">
                    <a:srgbClr val="C0C0C0"/>
                  </a:outerShdw>
                </a:effectLst>
                <a:latin typeface="Lucida Sans Unicode" panose="020B0602030504020204" pitchFamily="34" charset="0"/>
              </a:rPr>
              <a:t> </a:t>
            </a:r>
          </a:p>
        </p:txBody>
      </p:sp>
      <p:sp>
        <p:nvSpPr>
          <p:cNvPr id="28" name="Text Box 119"/>
          <p:cNvSpPr txBox="1">
            <a:spLocks noChangeArrowheads="1"/>
          </p:cNvSpPr>
          <p:nvPr/>
        </p:nvSpPr>
        <p:spPr bwMode="auto">
          <a:xfrm>
            <a:off x="7900604" y="4265634"/>
            <a:ext cx="809625" cy="331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9pPr>
          </a:lstStyle>
          <a:p>
            <a:pPr algn="ctr">
              <a:buClrTx/>
              <a:buFontTx/>
              <a:buNone/>
            </a:pPr>
            <a:r>
              <a:rPr lang="pt-BR" altLang="pt-BR" dirty="0">
                <a:solidFill>
                  <a:srgbClr val="FFFF00"/>
                </a:solidFill>
              </a:rPr>
              <a:t>Média</a:t>
            </a:r>
            <a:r>
              <a:rPr lang="pt-BR" altLang="pt-BR" sz="3200" b="1" dirty="0">
                <a:solidFill>
                  <a:srgbClr val="002060"/>
                </a:solidFill>
                <a:effectLst>
                  <a:outerShdw blurRad="38100" dist="38100" dir="2700000" algn="tl">
                    <a:srgbClr val="C0C0C0"/>
                  </a:outerShdw>
                </a:effectLst>
                <a:latin typeface="Lucida Sans Unicode" panose="020B0602030504020204" pitchFamily="34" charset="0"/>
              </a:rPr>
              <a:t> </a:t>
            </a:r>
          </a:p>
        </p:txBody>
      </p:sp>
      <p:sp>
        <p:nvSpPr>
          <p:cNvPr id="29" name="Text Box 120"/>
          <p:cNvSpPr txBox="1">
            <a:spLocks noChangeArrowheads="1"/>
          </p:cNvSpPr>
          <p:nvPr/>
        </p:nvSpPr>
        <p:spPr bwMode="auto">
          <a:xfrm>
            <a:off x="9032686" y="3564423"/>
            <a:ext cx="841375" cy="303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9pPr>
          </a:lstStyle>
          <a:p>
            <a:pPr algn="ctr">
              <a:buClrTx/>
              <a:buFontTx/>
              <a:buNone/>
            </a:pPr>
            <a:r>
              <a:rPr lang="pt-BR" altLang="pt-BR" dirty="0">
                <a:solidFill>
                  <a:srgbClr val="00CC00"/>
                </a:solidFill>
              </a:rPr>
              <a:t>Baixo</a:t>
            </a:r>
            <a:r>
              <a:rPr lang="pt-BR" altLang="pt-BR" sz="3200" b="1" dirty="0">
                <a:solidFill>
                  <a:srgbClr val="002060"/>
                </a:solidFill>
                <a:effectLst>
                  <a:outerShdw blurRad="38100" dist="38100" dir="2700000" algn="tl">
                    <a:srgbClr val="C0C0C0"/>
                  </a:outerShdw>
                </a:effectLst>
                <a:latin typeface="Lucida Sans Unicode" panose="020B0602030504020204" pitchFamily="34" charset="0"/>
              </a:rPr>
              <a:t> </a:t>
            </a:r>
          </a:p>
        </p:txBody>
      </p:sp>
      <p:sp>
        <p:nvSpPr>
          <p:cNvPr id="30" name="Text Box 121"/>
          <p:cNvSpPr txBox="1">
            <a:spLocks noChangeArrowheads="1"/>
          </p:cNvSpPr>
          <p:nvPr/>
        </p:nvSpPr>
        <p:spPr bwMode="auto">
          <a:xfrm>
            <a:off x="9040248" y="4977110"/>
            <a:ext cx="841375" cy="303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9pPr>
          </a:lstStyle>
          <a:p>
            <a:pPr algn="ctr">
              <a:buClrTx/>
              <a:buFontTx/>
              <a:buNone/>
            </a:pPr>
            <a:r>
              <a:rPr lang="pt-BR" altLang="pt-BR" dirty="0">
                <a:solidFill>
                  <a:srgbClr val="00CC00"/>
                </a:solidFill>
              </a:rPr>
              <a:t>Baixo</a:t>
            </a:r>
            <a:r>
              <a:rPr lang="pt-BR" altLang="pt-BR" sz="3200" b="1" dirty="0">
                <a:solidFill>
                  <a:srgbClr val="002060"/>
                </a:solidFill>
                <a:effectLst>
                  <a:outerShdw blurRad="38100" dist="38100" dir="2700000" algn="tl">
                    <a:srgbClr val="C0C0C0"/>
                  </a:outerShdw>
                </a:effectLst>
                <a:latin typeface="Lucida Sans Unicode" panose="020B0602030504020204" pitchFamily="34" charset="0"/>
              </a:rPr>
              <a:t> </a:t>
            </a:r>
          </a:p>
        </p:txBody>
      </p:sp>
      <p:sp>
        <p:nvSpPr>
          <p:cNvPr id="31" name="Text Box 122"/>
          <p:cNvSpPr txBox="1">
            <a:spLocks noChangeArrowheads="1"/>
          </p:cNvSpPr>
          <p:nvPr/>
        </p:nvSpPr>
        <p:spPr bwMode="auto">
          <a:xfrm>
            <a:off x="9048562" y="5695996"/>
            <a:ext cx="841375" cy="303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9pPr>
          </a:lstStyle>
          <a:p>
            <a:pPr algn="ctr">
              <a:buClrTx/>
              <a:buFontTx/>
              <a:buNone/>
            </a:pPr>
            <a:r>
              <a:rPr lang="pt-BR" altLang="pt-BR" dirty="0">
                <a:solidFill>
                  <a:srgbClr val="00CC00"/>
                </a:solidFill>
              </a:rPr>
              <a:t>Baixo</a:t>
            </a:r>
            <a:r>
              <a:rPr lang="pt-BR" altLang="pt-BR" sz="3200" b="1" dirty="0">
                <a:solidFill>
                  <a:srgbClr val="002060"/>
                </a:solidFill>
                <a:effectLst>
                  <a:outerShdw blurRad="38100" dist="38100" dir="2700000" algn="tl">
                    <a:srgbClr val="C0C0C0"/>
                  </a:outerShdw>
                </a:effectLst>
                <a:latin typeface="Lucida Sans Unicode" panose="020B0602030504020204" pitchFamily="34" charset="0"/>
              </a:rPr>
              <a:t> </a:t>
            </a:r>
          </a:p>
        </p:txBody>
      </p:sp>
      <p:sp>
        <p:nvSpPr>
          <p:cNvPr id="32" name="Text Box 123"/>
          <p:cNvSpPr txBox="1">
            <a:spLocks noChangeArrowheads="1"/>
          </p:cNvSpPr>
          <p:nvPr/>
        </p:nvSpPr>
        <p:spPr bwMode="auto">
          <a:xfrm>
            <a:off x="9048562" y="2865008"/>
            <a:ext cx="809625" cy="331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9pPr>
          </a:lstStyle>
          <a:p>
            <a:pPr algn="ctr">
              <a:buClrTx/>
              <a:buFontTx/>
              <a:buNone/>
            </a:pPr>
            <a:r>
              <a:rPr lang="pt-BR" altLang="pt-BR" dirty="0">
                <a:solidFill>
                  <a:srgbClr val="FF0000"/>
                </a:solidFill>
              </a:rPr>
              <a:t>Alto</a:t>
            </a:r>
            <a:r>
              <a:rPr lang="pt-BR" altLang="pt-BR" sz="3200" b="1" dirty="0">
                <a:solidFill>
                  <a:srgbClr val="002060"/>
                </a:solidFill>
                <a:effectLst>
                  <a:outerShdw blurRad="38100" dist="38100" dir="2700000" algn="tl">
                    <a:srgbClr val="C0C0C0"/>
                  </a:outerShdw>
                </a:effectLst>
                <a:latin typeface="Lucida Sans Unicode" panose="020B0602030504020204" pitchFamily="34" charset="0"/>
              </a:rPr>
              <a:t> </a:t>
            </a:r>
          </a:p>
        </p:txBody>
      </p:sp>
      <p:sp>
        <p:nvSpPr>
          <p:cNvPr id="33" name="Text Box 124"/>
          <p:cNvSpPr txBox="1">
            <a:spLocks noChangeArrowheads="1"/>
          </p:cNvSpPr>
          <p:nvPr/>
        </p:nvSpPr>
        <p:spPr bwMode="auto">
          <a:xfrm>
            <a:off x="9050114" y="4265633"/>
            <a:ext cx="809625" cy="331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9pPr>
          </a:lstStyle>
          <a:p>
            <a:pPr algn="ctr">
              <a:buClrTx/>
              <a:buFontTx/>
              <a:buNone/>
            </a:pPr>
            <a:r>
              <a:rPr lang="pt-BR" altLang="pt-BR" dirty="0">
                <a:solidFill>
                  <a:srgbClr val="FFFF00"/>
                </a:solidFill>
              </a:rPr>
              <a:t>Médio</a:t>
            </a:r>
            <a:r>
              <a:rPr lang="pt-BR" altLang="pt-BR" sz="3200" b="1" dirty="0">
                <a:solidFill>
                  <a:srgbClr val="002060"/>
                </a:solidFill>
                <a:effectLst>
                  <a:outerShdw blurRad="38100" dist="38100" dir="2700000" algn="tl">
                    <a:srgbClr val="C0C0C0"/>
                  </a:outerShdw>
                </a:effectLst>
                <a:latin typeface="Lucida Sans Unicode" panose="020B0602030504020204" pitchFamily="34" charset="0"/>
              </a:rPr>
              <a:t> </a:t>
            </a:r>
          </a:p>
        </p:txBody>
      </p:sp>
      <p:sp>
        <p:nvSpPr>
          <p:cNvPr id="35" name="Text Box 106"/>
          <p:cNvSpPr txBox="1">
            <a:spLocks noChangeArrowheads="1"/>
          </p:cNvSpPr>
          <p:nvPr/>
        </p:nvSpPr>
        <p:spPr bwMode="auto">
          <a:xfrm>
            <a:off x="5165482" y="3581086"/>
            <a:ext cx="841375" cy="303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9pPr>
          </a:lstStyle>
          <a:p>
            <a:pPr algn="ctr">
              <a:buClrTx/>
              <a:buFontTx/>
              <a:buNone/>
            </a:pPr>
            <a:r>
              <a:rPr lang="pt-BR" altLang="pt-BR" dirty="0">
                <a:solidFill>
                  <a:srgbClr val="00CC00"/>
                </a:solidFill>
              </a:rPr>
              <a:t>Baixo</a:t>
            </a:r>
            <a:r>
              <a:rPr lang="pt-BR" altLang="pt-BR" sz="3200" b="1" dirty="0">
                <a:solidFill>
                  <a:srgbClr val="002060"/>
                </a:solidFill>
                <a:effectLst>
                  <a:outerShdw blurRad="38100" dist="38100" dir="2700000" algn="tl">
                    <a:srgbClr val="C0C0C0"/>
                  </a:outerShdw>
                </a:effectLst>
                <a:latin typeface="Lucida Sans Unicode" panose="020B0602030504020204" pitchFamily="34" charset="0"/>
              </a:rPr>
              <a:t> </a:t>
            </a:r>
          </a:p>
        </p:txBody>
      </p:sp>
      <p:sp>
        <p:nvSpPr>
          <p:cNvPr id="36" name="Text Box 106"/>
          <p:cNvSpPr txBox="1">
            <a:spLocks noChangeArrowheads="1"/>
          </p:cNvSpPr>
          <p:nvPr/>
        </p:nvSpPr>
        <p:spPr bwMode="auto">
          <a:xfrm>
            <a:off x="5183927" y="4283472"/>
            <a:ext cx="841375" cy="303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9pPr>
          </a:lstStyle>
          <a:p>
            <a:pPr algn="ctr">
              <a:buClrTx/>
              <a:buFontTx/>
              <a:buNone/>
            </a:pPr>
            <a:r>
              <a:rPr lang="pt-BR" altLang="pt-BR" dirty="0">
                <a:solidFill>
                  <a:srgbClr val="00CC00"/>
                </a:solidFill>
              </a:rPr>
              <a:t>Baixo</a:t>
            </a:r>
            <a:r>
              <a:rPr lang="pt-BR" altLang="pt-BR" sz="3200" b="1" dirty="0">
                <a:solidFill>
                  <a:srgbClr val="002060"/>
                </a:solidFill>
                <a:effectLst>
                  <a:outerShdw blurRad="38100" dist="38100" dir="2700000" algn="tl">
                    <a:srgbClr val="C0C0C0"/>
                  </a:outerShdw>
                </a:effectLst>
                <a:latin typeface="Lucida Sans Unicode" panose="020B0602030504020204" pitchFamily="34" charset="0"/>
              </a:rPr>
              <a:t> </a:t>
            </a:r>
          </a:p>
        </p:txBody>
      </p:sp>
      <p:sp>
        <p:nvSpPr>
          <p:cNvPr id="37" name="Text Box 105"/>
          <p:cNvSpPr txBox="1">
            <a:spLocks noChangeArrowheads="1"/>
          </p:cNvSpPr>
          <p:nvPr/>
        </p:nvSpPr>
        <p:spPr bwMode="auto">
          <a:xfrm>
            <a:off x="5191943" y="4960595"/>
            <a:ext cx="809625" cy="331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9pPr>
          </a:lstStyle>
          <a:p>
            <a:pPr algn="ctr">
              <a:buClrTx/>
              <a:buFontTx/>
              <a:buNone/>
            </a:pPr>
            <a:r>
              <a:rPr lang="pt-BR" altLang="pt-BR" dirty="0">
                <a:solidFill>
                  <a:srgbClr val="FF0000"/>
                </a:solidFill>
              </a:rPr>
              <a:t>Alto</a:t>
            </a:r>
            <a:r>
              <a:rPr lang="pt-BR" altLang="pt-BR" sz="3200" b="1" dirty="0">
                <a:solidFill>
                  <a:srgbClr val="002060"/>
                </a:solidFill>
                <a:effectLst>
                  <a:outerShdw blurRad="38100" dist="38100" dir="2700000" algn="tl">
                    <a:srgbClr val="C0C0C0"/>
                  </a:outerShdw>
                </a:effectLst>
                <a:latin typeface="Lucida Sans Unicode" panose="020B0602030504020204" pitchFamily="34" charset="0"/>
              </a:rPr>
              <a:t> </a:t>
            </a:r>
          </a:p>
        </p:txBody>
      </p:sp>
      <p:sp>
        <p:nvSpPr>
          <p:cNvPr id="38" name="Text Box 106"/>
          <p:cNvSpPr txBox="1">
            <a:spLocks noChangeArrowheads="1"/>
          </p:cNvSpPr>
          <p:nvPr/>
        </p:nvSpPr>
        <p:spPr bwMode="auto">
          <a:xfrm>
            <a:off x="5160193" y="5695996"/>
            <a:ext cx="841375" cy="303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9pPr>
          </a:lstStyle>
          <a:p>
            <a:pPr algn="ctr">
              <a:buClrTx/>
              <a:buFontTx/>
              <a:buNone/>
            </a:pPr>
            <a:r>
              <a:rPr lang="pt-BR" altLang="pt-BR" dirty="0">
                <a:solidFill>
                  <a:srgbClr val="00CC00"/>
                </a:solidFill>
              </a:rPr>
              <a:t>Baixo</a:t>
            </a:r>
            <a:r>
              <a:rPr lang="pt-BR" altLang="pt-BR" sz="3200" b="1" dirty="0">
                <a:solidFill>
                  <a:srgbClr val="002060"/>
                </a:solidFill>
                <a:effectLst>
                  <a:outerShdw blurRad="38100" dist="38100" dir="2700000" algn="tl">
                    <a:srgbClr val="C0C0C0"/>
                  </a:outerShdw>
                </a:effectLst>
                <a:latin typeface="Lucida Sans Unicode" panose="020B0602030504020204" pitchFamily="34" charset="0"/>
              </a:rPr>
              <a:t> </a:t>
            </a:r>
          </a:p>
        </p:txBody>
      </p:sp>
      <p:sp>
        <p:nvSpPr>
          <p:cNvPr id="40" name="Text Box 103"/>
          <p:cNvSpPr txBox="1">
            <a:spLocks noChangeArrowheads="1"/>
          </p:cNvSpPr>
          <p:nvPr/>
        </p:nvSpPr>
        <p:spPr bwMode="auto">
          <a:xfrm>
            <a:off x="4129190" y="5681709"/>
            <a:ext cx="809625" cy="331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9pPr>
          </a:lstStyle>
          <a:p>
            <a:pPr algn="ctr">
              <a:buClrTx/>
              <a:buFontTx/>
              <a:buNone/>
            </a:pPr>
            <a:r>
              <a:rPr lang="pt-BR" altLang="pt-BR" dirty="0">
                <a:solidFill>
                  <a:srgbClr val="FFFF00"/>
                </a:solidFill>
              </a:rPr>
              <a:t>Médio</a:t>
            </a:r>
            <a:r>
              <a:rPr lang="pt-BR" altLang="pt-BR" sz="3200" b="1" dirty="0">
                <a:solidFill>
                  <a:srgbClr val="002060"/>
                </a:solidFill>
                <a:effectLst>
                  <a:outerShdw blurRad="38100" dist="38100" dir="2700000" algn="tl">
                    <a:srgbClr val="C0C0C0"/>
                  </a:outerShdw>
                </a:effectLst>
                <a:latin typeface="Lucida Sans Unicode" panose="020B0602030504020204" pitchFamily="34" charset="0"/>
              </a:rPr>
              <a:t> </a:t>
            </a:r>
          </a:p>
        </p:txBody>
      </p:sp>
      <p:sp>
        <p:nvSpPr>
          <p:cNvPr id="41" name="Text Box 105"/>
          <p:cNvSpPr txBox="1">
            <a:spLocks noChangeArrowheads="1"/>
          </p:cNvSpPr>
          <p:nvPr/>
        </p:nvSpPr>
        <p:spPr bwMode="auto">
          <a:xfrm>
            <a:off x="4144774" y="3553639"/>
            <a:ext cx="809625" cy="331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9pPr>
          </a:lstStyle>
          <a:p>
            <a:pPr algn="ctr">
              <a:buClrTx/>
              <a:buFontTx/>
              <a:buNone/>
            </a:pPr>
            <a:r>
              <a:rPr lang="pt-BR" altLang="pt-BR" dirty="0">
                <a:solidFill>
                  <a:srgbClr val="FF0000"/>
                </a:solidFill>
              </a:rPr>
              <a:t>Alto</a:t>
            </a:r>
            <a:r>
              <a:rPr lang="pt-BR" altLang="pt-BR" sz="3200" b="1" dirty="0">
                <a:solidFill>
                  <a:srgbClr val="002060"/>
                </a:solidFill>
                <a:effectLst>
                  <a:outerShdw blurRad="38100" dist="38100" dir="2700000" algn="tl">
                    <a:srgbClr val="C0C0C0"/>
                  </a:outerShdw>
                </a:effectLst>
                <a:latin typeface="Lucida Sans Unicode" panose="020B0602030504020204" pitchFamily="34" charset="0"/>
              </a:rPr>
              <a:t> </a:t>
            </a:r>
          </a:p>
        </p:txBody>
      </p:sp>
      <p:sp>
        <p:nvSpPr>
          <p:cNvPr id="43" name="Text Box 103"/>
          <p:cNvSpPr txBox="1">
            <a:spLocks noChangeArrowheads="1"/>
          </p:cNvSpPr>
          <p:nvPr/>
        </p:nvSpPr>
        <p:spPr bwMode="auto">
          <a:xfrm>
            <a:off x="4129192" y="2868126"/>
            <a:ext cx="809625" cy="331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defPPr>
              <a:defRPr lang="pt-BR"/>
            </a:defPPr>
            <a:lvl1pPr algn="ct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CC00"/>
                </a:solidFill>
                <a:latin typeface="Arial" panose="020B0604020202020204" pitchFamily="34"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9pPr>
          </a:lstStyle>
          <a:p>
            <a:r>
              <a:rPr lang="pt-BR" altLang="pt-BR" dirty="0"/>
              <a:t>Baixo </a:t>
            </a:r>
          </a:p>
        </p:txBody>
      </p:sp>
      <p:sp>
        <p:nvSpPr>
          <p:cNvPr id="44" name="Text Box 103"/>
          <p:cNvSpPr txBox="1">
            <a:spLocks noChangeArrowheads="1"/>
          </p:cNvSpPr>
          <p:nvPr/>
        </p:nvSpPr>
        <p:spPr bwMode="auto">
          <a:xfrm>
            <a:off x="5202294" y="2863879"/>
            <a:ext cx="809625" cy="331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Arial" panose="020B0604020202020204" pitchFamily="34" charset="0"/>
                <a:ea typeface="Microsoft YaHei" panose="020B0503020204020204" pitchFamily="34" charset="-122"/>
              </a:defRPr>
            </a:lvl9pPr>
          </a:lstStyle>
          <a:p>
            <a:pPr algn="ctr">
              <a:buClrTx/>
              <a:buFontTx/>
              <a:buNone/>
            </a:pPr>
            <a:r>
              <a:rPr lang="pt-BR" altLang="pt-BR" dirty="0">
                <a:solidFill>
                  <a:srgbClr val="FFFF00"/>
                </a:solidFill>
              </a:rPr>
              <a:t>Médio</a:t>
            </a:r>
            <a:r>
              <a:rPr lang="pt-BR" altLang="pt-BR" sz="3200" b="1" dirty="0">
                <a:solidFill>
                  <a:srgbClr val="002060"/>
                </a:solidFill>
                <a:effectLst>
                  <a:outerShdw blurRad="38100" dist="38100" dir="2700000" algn="tl">
                    <a:srgbClr val="C0C0C0"/>
                  </a:outerShdw>
                </a:effectLst>
                <a:latin typeface="Lucida Sans Unicode" panose="020B0602030504020204" pitchFamily="34" charset="0"/>
              </a:rPr>
              <a:t> </a:t>
            </a:r>
          </a:p>
        </p:txBody>
      </p:sp>
    </p:spTree>
    <p:extLst>
      <p:ext uri="{BB962C8B-B14F-4D97-AF65-F5344CB8AC3E}">
        <p14:creationId xmlns:p14="http://schemas.microsoft.com/office/powerpoint/2010/main" val="2961373645"/>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1" presetClass="entr" presetSubtype="1" fill="hold" nodeType="click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wheel(1)">
                                      <p:cBhvr>
                                        <p:cTn id="14" dur="2000"/>
                                        <p:tgtEl>
                                          <p:spTgt spid="13"/>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3"/>
                                        </p:tgtEl>
                                        <p:attrNameLst>
                                          <p:attrName>style.visibility</p:attrName>
                                        </p:attrNameLst>
                                      </p:cBhvr>
                                      <p:to>
                                        <p:strVal val="visible"/>
                                      </p:to>
                                    </p:set>
                                    <p:anim calcmode="lin" valueType="num">
                                      <p:cBhvr additive="base">
                                        <p:cTn id="19" dur="500" fill="hold"/>
                                        <p:tgtEl>
                                          <p:spTgt spid="43"/>
                                        </p:tgtEl>
                                        <p:attrNameLst>
                                          <p:attrName>ppt_x</p:attrName>
                                        </p:attrNameLst>
                                      </p:cBhvr>
                                      <p:tavLst>
                                        <p:tav tm="0">
                                          <p:val>
                                            <p:strVal val="#ppt_x"/>
                                          </p:val>
                                        </p:tav>
                                        <p:tav tm="100000">
                                          <p:val>
                                            <p:strVal val="#ppt_x"/>
                                          </p:val>
                                        </p:tav>
                                      </p:tavLst>
                                    </p:anim>
                                    <p:anim calcmode="lin" valueType="num">
                                      <p:cBhvr additive="base">
                                        <p:cTn id="20"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4"/>
                                        </p:tgtEl>
                                        <p:attrNameLst>
                                          <p:attrName>style.visibility</p:attrName>
                                        </p:attrNameLst>
                                      </p:cBhvr>
                                      <p:to>
                                        <p:strVal val="visible"/>
                                      </p:to>
                                    </p:set>
                                    <p:anim calcmode="lin" valueType="num">
                                      <p:cBhvr additive="base">
                                        <p:cTn id="25" dur="500" fill="hold"/>
                                        <p:tgtEl>
                                          <p:spTgt spid="44"/>
                                        </p:tgtEl>
                                        <p:attrNameLst>
                                          <p:attrName>ppt_x</p:attrName>
                                        </p:attrNameLst>
                                      </p:cBhvr>
                                      <p:tavLst>
                                        <p:tav tm="0">
                                          <p:val>
                                            <p:strVal val="#ppt_x"/>
                                          </p:val>
                                        </p:tav>
                                        <p:tav tm="100000">
                                          <p:val>
                                            <p:strVal val="#ppt_x"/>
                                          </p:val>
                                        </p:tav>
                                      </p:tavLst>
                                    </p:anim>
                                    <p:anim calcmode="lin" valueType="num">
                                      <p:cBhvr additive="base">
                                        <p:cTn id="26"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anim calcmode="lin" valueType="num">
                                      <p:cBhvr additive="base">
                                        <p:cTn id="31" dur="500" fill="hold"/>
                                        <p:tgtEl>
                                          <p:spTgt spid="15"/>
                                        </p:tgtEl>
                                        <p:attrNameLst>
                                          <p:attrName>ppt_x</p:attrName>
                                        </p:attrNameLst>
                                      </p:cBhvr>
                                      <p:tavLst>
                                        <p:tav tm="0">
                                          <p:val>
                                            <p:strVal val="#ppt_x"/>
                                          </p:val>
                                        </p:tav>
                                        <p:tav tm="100000">
                                          <p:val>
                                            <p:strVal val="#ppt_x"/>
                                          </p:val>
                                        </p:tav>
                                      </p:tavLst>
                                    </p:anim>
                                    <p:anim calcmode="lin" valueType="num">
                                      <p:cBhvr additive="base">
                                        <p:cTn id="3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4"/>
                                        </p:tgtEl>
                                        <p:attrNameLst>
                                          <p:attrName>style.visibility</p:attrName>
                                        </p:attrNameLst>
                                      </p:cBhvr>
                                      <p:to>
                                        <p:strVal val="visible"/>
                                      </p:to>
                                    </p:set>
                                    <p:anim calcmode="lin" valueType="num">
                                      <p:cBhvr additive="base">
                                        <p:cTn id="37" dur="500" fill="hold"/>
                                        <p:tgtEl>
                                          <p:spTgt spid="24"/>
                                        </p:tgtEl>
                                        <p:attrNameLst>
                                          <p:attrName>ppt_x</p:attrName>
                                        </p:attrNameLst>
                                      </p:cBhvr>
                                      <p:tavLst>
                                        <p:tav tm="0">
                                          <p:val>
                                            <p:strVal val="#ppt_x"/>
                                          </p:val>
                                        </p:tav>
                                        <p:tav tm="100000">
                                          <p:val>
                                            <p:strVal val="#ppt_x"/>
                                          </p:val>
                                        </p:tav>
                                      </p:tavLst>
                                    </p:anim>
                                    <p:anim calcmode="lin" valueType="num">
                                      <p:cBhvr additive="base">
                                        <p:cTn id="38"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2"/>
                                        </p:tgtEl>
                                        <p:attrNameLst>
                                          <p:attrName>style.visibility</p:attrName>
                                        </p:attrNameLst>
                                      </p:cBhvr>
                                      <p:to>
                                        <p:strVal val="visible"/>
                                      </p:to>
                                    </p:set>
                                    <p:anim calcmode="lin" valueType="num">
                                      <p:cBhvr additive="base">
                                        <p:cTn id="43" dur="500" fill="hold"/>
                                        <p:tgtEl>
                                          <p:spTgt spid="32"/>
                                        </p:tgtEl>
                                        <p:attrNameLst>
                                          <p:attrName>ppt_x</p:attrName>
                                        </p:attrNameLst>
                                      </p:cBhvr>
                                      <p:tavLst>
                                        <p:tav tm="0">
                                          <p:val>
                                            <p:strVal val="#ppt_x"/>
                                          </p:val>
                                        </p:tav>
                                        <p:tav tm="100000">
                                          <p:val>
                                            <p:strVal val="#ppt_x"/>
                                          </p:val>
                                        </p:tav>
                                      </p:tavLst>
                                    </p:anim>
                                    <p:anim calcmode="lin" valueType="num">
                                      <p:cBhvr additive="base">
                                        <p:cTn id="44"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41"/>
                                        </p:tgtEl>
                                        <p:attrNameLst>
                                          <p:attrName>style.visibility</p:attrName>
                                        </p:attrNameLst>
                                      </p:cBhvr>
                                      <p:to>
                                        <p:strVal val="visible"/>
                                      </p:to>
                                    </p:set>
                                    <p:anim calcmode="lin" valueType="num">
                                      <p:cBhvr additive="base">
                                        <p:cTn id="49" dur="500" fill="hold"/>
                                        <p:tgtEl>
                                          <p:spTgt spid="41"/>
                                        </p:tgtEl>
                                        <p:attrNameLst>
                                          <p:attrName>ppt_x</p:attrName>
                                        </p:attrNameLst>
                                      </p:cBhvr>
                                      <p:tavLst>
                                        <p:tav tm="0">
                                          <p:val>
                                            <p:strVal val="#ppt_x"/>
                                          </p:val>
                                        </p:tav>
                                        <p:tav tm="100000">
                                          <p:val>
                                            <p:strVal val="#ppt_x"/>
                                          </p:val>
                                        </p:tav>
                                      </p:tavLst>
                                    </p:anim>
                                    <p:anim calcmode="lin" valueType="num">
                                      <p:cBhvr additive="base">
                                        <p:cTn id="50"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5"/>
                                        </p:tgtEl>
                                        <p:attrNameLst>
                                          <p:attrName>style.visibility</p:attrName>
                                        </p:attrNameLst>
                                      </p:cBhvr>
                                      <p:to>
                                        <p:strVal val="visible"/>
                                      </p:to>
                                    </p:set>
                                    <p:anim calcmode="lin" valueType="num">
                                      <p:cBhvr additive="base">
                                        <p:cTn id="55" dur="500" fill="hold"/>
                                        <p:tgtEl>
                                          <p:spTgt spid="35"/>
                                        </p:tgtEl>
                                        <p:attrNameLst>
                                          <p:attrName>ppt_x</p:attrName>
                                        </p:attrNameLst>
                                      </p:cBhvr>
                                      <p:tavLst>
                                        <p:tav tm="0">
                                          <p:val>
                                            <p:strVal val="#ppt_x"/>
                                          </p:val>
                                        </p:tav>
                                        <p:tav tm="100000">
                                          <p:val>
                                            <p:strVal val="#ppt_x"/>
                                          </p:val>
                                        </p:tav>
                                      </p:tavLst>
                                    </p:anim>
                                    <p:anim calcmode="lin" valueType="num">
                                      <p:cBhvr additive="base">
                                        <p:cTn id="56"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25"/>
                                        </p:tgtEl>
                                        <p:attrNameLst>
                                          <p:attrName>style.visibility</p:attrName>
                                        </p:attrNameLst>
                                      </p:cBhvr>
                                      <p:to>
                                        <p:strVal val="visible"/>
                                      </p:to>
                                    </p:set>
                                    <p:anim calcmode="lin" valueType="num">
                                      <p:cBhvr additive="base">
                                        <p:cTn id="61" dur="500" fill="hold"/>
                                        <p:tgtEl>
                                          <p:spTgt spid="25"/>
                                        </p:tgtEl>
                                        <p:attrNameLst>
                                          <p:attrName>ppt_x</p:attrName>
                                        </p:attrNameLst>
                                      </p:cBhvr>
                                      <p:tavLst>
                                        <p:tav tm="0">
                                          <p:val>
                                            <p:strVal val="#ppt_x"/>
                                          </p:val>
                                        </p:tav>
                                        <p:tav tm="100000">
                                          <p:val>
                                            <p:strVal val="#ppt_x"/>
                                          </p:val>
                                        </p:tav>
                                      </p:tavLst>
                                    </p:anim>
                                    <p:anim calcmode="lin" valueType="num">
                                      <p:cBhvr additive="base">
                                        <p:cTn id="62"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26"/>
                                        </p:tgtEl>
                                        <p:attrNameLst>
                                          <p:attrName>style.visibility</p:attrName>
                                        </p:attrNameLst>
                                      </p:cBhvr>
                                      <p:to>
                                        <p:strVal val="visible"/>
                                      </p:to>
                                    </p:set>
                                    <p:anim calcmode="lin" valueType="num">
                                      <p:cBhvr additive="base">
                                        <p:cTn id="67" dur="500" fill="hold"/>
                                        <p:tgtEl>
                                          <p:spTgt spid="26"/>
                                        </p:tgtEl>
                                        <p:attrNameLst>
                                          <p:attrName>ppt_x</p:attrName>
                                        </p:attrNameLst>
                                      </p:cBhvr>
                                      <p:tavLst>
                                        <p:tav tm="0">
                                          <p:val>
                                            <p:strVal val="#ppt_x"/>
                                          </p:val>
                                        </p:tav>
                                        <p:tav tm="100000">
                                          <p:val>
                                            <p:strVal val="#ppt_x"/>
                                          </p:val>
                                        </p:tav>
                                      </p:tavLst>
                                    </p:anim>
                                    <p:anim calcmode="lin" valueType="num">
                                      <p:cBhvr additive="base">
                                        <p:cTn id="68"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29"/>
                                        </p:tgtEl>
                                        <p:attrNameLst>
                                          <p:attrName>style.visibility</p:attrName>
                                        </p:attrNameLst>
                                      </p:cBhvr>
                                      <p:to>
                                        <p:strVal val="visible"/>
                                      </p:to>
                                    </p:set>
                                    <p:anim calcmode="lin" valueType="num">
                                      <p:cBhvr additive="base">
                                        <p:cTn id="73" dur="500" fill="hold"/>
                                        <p:tgtEl>
                                          <p:spTgt spid="29"/>
                                        </p:tgtEl>
                                        <p:attrNameLst>
                                          <p:attrName>ppt_x</p:attrName>
                                        </p:attrNameLst>
                                      </p:cBhvr>
                                      <p:tavLst>
                                        <p:tav tm="0">
                                          <p:val>
                                            <p:strVal val="#ppt_x"/>
                                          </p:val>
                                        </p:tav>
                                        <p:tav tm="100000">
                                          <p:val>
                                            <p:strVal val="#ppt_x"/>
                                          </p:val>
                                        </p:tav>
                                      </p:tavLst>
                                    </p:anim>
                                    <p:anim calcmode="lin" valueType="num">
                                      <p:cBhvr additive="base">
                                        <p:cTn id="74"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14"/>
                                        </p:tgtEl>
                                        <p:attrNameLst>
                                          <p:attrName>style.visibility</p:attrName>
                                        </p:attrNameLst>
                                      </p:cBhvr>
                                      <p:to>
                                        <p:strVal val="visible"/>
                                      </p:to>
                                    </p:set>
                                    <p:anim calcmode="lin" valueType="num">
                                      <p:cBhvr additive="base">
                                        <p:cTn id="79" dur="500" fill="hold"/>
                                        <p:tgtEl>
                                          <p:spTgt spid="14"/>
                                        </p:tgtEl>
                                        <p:attrNameLst>
                                          <p:attrName>ppt_x</p:attrName>
                                        </p:attrNameLst>
                                      </p:cBhvr>
                                      <p:tavLst>
                                        <p:tav tm="0">
                                          <p:val>
                                            <p:strVal val="#ppt_x"/>
                                          </p:val>
                                        </p:tav>
                                        <p:tav tm="100000">
                                          <p:val>
                                            <p:strVal val="#ppt_x"/>
                                          </p:val>
                                        </p:tav>
                                      </p:tavLst>
                                    </p:anim>
                                    <p:anim calcmode="lin" valueType="num">
                                      <p:cBhvr additive="base">
                                        <p:cTn id="8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nodeType="clickEffect">
                                  <p:stCondLst>
                                    <p:cond delay="0"/>
                                  </p:stCondLst>
                                  <p:childTnLst>
                                    <p:set>
                                      <p:cBhvr>
                                        <p:cTn id="84" dur="1" fill="hold">
                                          <p:stCondLst>
                                            <p:cond delay="0"/>
                                          </p:stCondLst>
                                        </p:cTn>
                                        <p:tgtEl>
                                          <p:spTgt spid="36"/>
                                        </p:tgtEl>
                                        <p:attrNameLst>
                                          <p:attrName>style.visibility</p:attrName>
                                        </p:attrNameLst>
                                      </p:cBhvr>
                                      <p:to>
                                        <p:strVal val="visible"/>
                                      </p:to>
                                    </p:set>
                                    <p:anim calcmode="lin" valueType="num">
                                      <p:cBhvr additive="base">
                                        <p:cTn id="85" dur="500" fill="hold"/>
                                        <p:tgtEl>
                                          <p:spTgt spid="36"/>
                                        </p:tgtEl>
                                        <p:attrNameLst>
                                          <p:attrName>ppt_x</p:attrName>
                                        </p:attrNameLst>
                                      </p:cBhvr>
                                      <p:tavLst>
                                        <p:tav tm="0">
                                          <p:val>
                                            <p:strVal val="#ppt_x"/>
                                          </p:val>
                                        </p:tav>
                                        <p:tav tm="100000">
                                          <p:val>
                                            <p:strVal val="#ppt_x"/>
                                          </p:val>
                                        </p:tav>
                                      </p:tavLst>
                                    </p:anim>
                                    <p:anim calcmode="lin" valueType="num">
                                      <p:cBhvr additive="base">
                                        <p:cTn id="86"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19"/>
                                        </p:tgtEl>
                                        <p:attrNameLst>
                                          <p:attrName>style.visibility</p:attrName>
                                        </p:attrNameLst>
                                      </p:cBhvr>
                                      <p:to>
                                        <p:strVal val="visible"/>
                                      </p:to>
                                    </p:set>
                                    <p:anim calcmode="lin" valueType="num">
                                      <p:cBhvr additive="base">
                                        <p:cTn id="91" dur="500" fill="hold"/>
                                        <p:tgtEl>
                                          <p:spTgt spid="19"/>
                                        </p:tgtEl>
                                        <p:attrNameLst>
                                          <p:attrName>ppt_x</p:attrName>
                                        </p:attrNameLst>
                                      </p:cBhvr>
                                      <p:tavLst>
                                        <p:tav tm="0">
                                          <p:val>
                                            <p:strVal val="#ppt_x"/>
                                          </p:val>
                                        </p:tav>
                                        <p:tav tm="100000">
                                          <p:val>
                                            <p:strVal val="#ppt_x"/>
                                          </p:val>
                                        </p:tav>
                                      </p:tavLst>
                                    </p:anim>
                                    <p:anim calcmode="lin" valueType="num">
                                      <p:cBhvr additive="base">
                                        <p:cTn id="9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nodeType="clickEffect">
                                  <p:stCondLst>
                                    <p:cond delay="0"/>
                                  </p:stCondLst>
                                  <p:childTnLst>
                                    <p:set>
                                      <p:cBhvr>
                                        <p:cTn id="96" dur="1" fill="hold">
                                          <p:stCondLst>
                                            <p:cond delay="0"/>
                                          </p:stCondLst>
                                        </p:cTn>
                                        <p:tgtEl>
                                          <p:spTgt spid="28"/>
                                        </p:tgtEl>
                                        <p:attrNameLst>
                                          <p:attrName>style.visibility</p:attrName>
                                        </p:attrNameLst>
                                      </p:cBhvr>
                                      <p:to>
                                        <p:strVal val="visible"/>
                                      </p:to>
                                    </p:set>
                                    <p:anim calcmode="lin" valueType="num">
                                      <p:cBhvr additive="base">
                                        <p:cTn id="97" dur="500" fill="hold"/>
                                        <p:tgtEl>
                                          <p:spTgt spid="28"/>
                                        </p:tgtEl>
                                        <p:attrNameLst>
                                          <p:attrName>ppt_x</p:attrName>
                                        </p:attrNameLst>
                                      </p:cBhvr>
                                      <p:tavLst>
                                        <p:tav tm="0">
                                          <p:val>
                                            <p:strVal val="#ppt_x"/>
                                          </p:val>
                                        </p:tav>
                                        <p:tav tm="100000">
                                          <p:val>
                                            <p:strVal val="#ppt_x"/>
                                          </p:val>
                                        </p:tav>
                                      </p:tavLst>
                                    </p:anim>
                                    <p:anim calcmode="lin" valueType="num">
                                      <p:cBhvr additive="base">
                                        <p:cTn id="98"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nodeType="clickEffect">
                                  <p:stCondLst>
                                    <p:cond delay="0"/>
                                  </p:stCondLst>
                                  <p:childTnLst>
                                    <p:set>
                                      <p:cBhvr>
                                        <p:cTn id="102" dur="1" fill="hold">
                                          <p:stCondLst>
                                            <p:cond delay="0"/>
                                          </p:stCondLst>
                                        </p:cTn>
                                        <p:tgtEl>
                                          <p:spTgt spid="33"/>
                                        </p:tgtEl>
                                        <p:attrNameLst>
                                          <p:attrName>style.visibility</p:attrName>
                                        </p:attrNameLst>
                                      </p:cBhvr>
                                      <p:to>
                                        <p:strVal val="visible"/>
                                      </p:to>
                                    </p:set>
                                    <p:anim calcmode="lin" valueType="num">
                                      <p:cBhvr additive="base">
                                        <p:cTn id="103" dur="500" fill="hold"/>
                                        <p:tgtEl>
                                          <p:spTgt spid="33"/>
                                        </p:tgtEl>
                                        <p:attrNameLst>
                                          <p:attrName>ppt_x</p:attrName>
                                        </p:attrNameLst>
                                      </p:cBhvr>
                                      <p:tavLst>
                                        <p:tav tm="0">
                                          <p:val>
                                            <p:strVal val="#ppt_x"/>
                                          </p:val>
                                        </p:tav>
                                        <p:tav tm="100000">
                                          <p:val>
                                            <p:strVal val="#ppt_x"/>
                                          </p:val>
                                        </p:tav>
                                      </p:tavLst>
                                    </p:anim>
                                    <p:anim calcmode="lin" valueType="num">
                                      <p:cBhvr additive="base">
                                        <p:cTn id="104"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nodeType="clickEffect">
                                  <p:stCondLst>
                                    <p:cond delay="0"/>
                                  </p:stCondLst>
                                  <p:childTnLst>
                                    <p:set>
                                      <p:cBhvr>
                                        <p:cTn id="108" dur="1" fill="hold">
                                          <p:stCondLst>
                                            <p:cond delay="0"/>
                                          </p:stCondLst>
                                        </p:cTn>
                                        <p:tgtEl>
                                          <p:spTgt spid="16"/>
                                        </p:tgtEl>
                                        <p:attrNameLst>
                                          <p:attrName>style.visibility</p:attrName>
                                        </p:attrNameLst>
                                      </p:cBhvr>
                                      <p:to>
                                        <p:strVal val="visible"/>
                                      </p:to>
                                    </p:set>
                                    <p:anim calcmode="lin" valueType="num">
                                      <p:cBhvr additive="base">
                                        <p:cTn id="109" dur="500" fill="hold"/>
                                        <p:tgtEl>
                                          <p:spTgt spid="16"/>
                                        </p:tgtEl>
                                        <p:attrNameLst>
                                          <p:attrName>ppt_x</p:attrName>
                                        </p:attrNameLst>
                                      </p:cBhvr>
                                      <p:tavLst>
                                        <p:tav tm="0">
                                          <p:val>
                                            <p:strVal val="#ppt_x"/>
                                          </p:val>
                                        </p:tav>
                                        <p:tav tm="100000">
                                          <p:val>
                                            <p:strVal val="#ppt_x"/>
                                          </p:val>
                                        </p:tav>
                                      </p:tavLst>
                                    </p:anim>
                                    <p:anim calcmode="lin" valueType="num">
                                      <p:cBhvr additive="base">
                                        <p:cTn id="11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4" fill="hold" nodeType="clickEffect">
                                  <p:stCondLst>
                                    <p:cond delay="0"/>
                                  </p:stCondLst>
                                  <p:childTnLst>
                                    <p:set>
                                      <p:cBhvr>
                                        <p:cTn id="114" dur="1" fill="hold">
                                          <p:stCondLst>
                                            <p:cond delay="0"/>
                                          </p:stCondLst>
                                        </p:cTn>
                                        <p:tgtEl>
                                          <p:spTgt spid="37"/>
                                        </p:tgtEl>
                                        <p:attrNameLst>
                                          <p:attrName>style.visibility</p:attrName>
                                        </p:attrNameLst>
                                      </p:cBhvr>
                                      <p:to>
                                        <p:strVal val="visible"/>
                                      </p:to>
                                    </p:set>
                                    <p:anim calcmode="lin" valueType="num">
                                      <p:cBhvr additive="base">
                                        <p:cTn id="115" dur="500" fill="hold"/>
                                        <p:tgtEl>
                                          <p:spTgt spid="37"/>
                                        </p:tgtEl>
                                        <p:attrNameLst>
                                          <p:attrName>ppt_x</p:attrName>
                                        </p:attrNameLst>
                                      </p:cBhvr>
                                      <p:tavLst>
                                        <p:tav tm="0">
                                          <p:val>
                                            <p:strVal val="#ppt_x"/>
                                          </p:val>
                                        </p:tav>
                                        <p:tav tm="100000">
                                          <p:val>
                                            <p:strVal val="#ppt_x"/>
                                          </p:val>
                                        </p:tav>
                                      </p:tavLst>
                                    </p:anim>
                                    <p:anim calcmode="lin" valueType="num">
                                      <p:cBhvr additive="base">
                                        <p:cTn id="116"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ntr" presetSubtype="4" fill="hold" nodeType="clickEffect">
                                  <p:stCondLst>
                                    <p:cond delay="0"/>
                                  </p:stCondLst>
                                  <p:childTnLst>
                                    <p:set>
                                      <p:cBhvr>
                                        <p:cTn id="120" dur="1" fill="hold">
                                          <p:stCondLst>
                                            <p:cond delay="0"/>
                                          </p:stCondLst>
                                        </p:cTn>
                                        <p:tgtEl>
                                          <p:spTgt spid="22"/>
                                        </p:tgtEl>
                                        <p:attrNameLst>
                                          <p:attrName>style.visibility</p:attrName>
                                        </p:attrNameLst>
                                      </p:cBhvr>
                                      <p:to>
                                        <p:strVal val="visible"/>
                                      </p:to>
                                    </p:set>
                                    <p:anim calcmode="lin" valueType="num">
                                      <p:cBhvr additive="base">
                                        <p:cTn id="121" dur="500" fill="hold"/>
                                        <p:tgtEl>
                                          <p:spTgt spid="22"/>
                                        </p:tgtEl>
                                        <p:attrNameLst>
                                          <p:attrName>ppt_x</p:attrName>
                                        </p:attrNameLst>
                                      </p:cBhvr>
                                      <p:tavLst>
                                        <p:tav tm="0">
                                          <p:val>
                                            <p:strVal val="#ppt_x"/>
                                          </p:val>
                                        </p:tav>
                                        <p:tav tm="100000">
                                          <p:val>
                                            <p:strVal val="#ppt_x"/>
                                          </p:val>
                                        </p:tav>
                                      </p:tavLst>
                                    </p:anim>
                                    <p:anim calcmode="lin" valueType="num">
                                      <p:cBhvr additive="base">
                                        <p:cTn id="122"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2" presetClass="entr" presetSubtype="4" fill="hold" nodeType="clickEffect">
                                  <p:stCondLst>
                                    <p:cond delay="0"/>
                                  </p:stCondLst>
                                  <p:childTnLst>
                                    <p:set>
                                      <p:cBhvr>
                                        <p:cTn id="126" dur="1" fill="hold">
                                          <p:stCondLst>
                                            <p:cond delay="0"/>
                                          </p:stCondLst>
                                        </p:cTn>
                                        <p:tgtEl>
                                          <p:spTgt spid="20"/>
                                        </p:tgtEl>
                                        <p:attrNameLst>
                                          <p:attrName>style.visibility</p:attrName>
                                        </p:attrNameLst>
                                      </p:cBhvr>
                                      <p:to>
                                        <p:strVal val="visible"/>
                                      </p:to>
                                    </p:set>
                                    <p:anim calcmode="lin" valueType="num">
                                      <p:cBhvr additive="base">
                                        <p:cTn id="127" dur="500" fill="hold"/>
                                        <p:tgtEl>
                                          <p:spTgt spid="20"/>
                                        </p:tgtEl>
                                        <p:attrNameLst>
                                          <p:attrName>ppt_x</p:attrName>
                                        </p:attrNameLst>
                                      </p:cBhvr>
                                      <p:tavLst>
                                        <p:tav tm="0">
                                          <p:val>
                                            <p:strVal val="#ppt_x"/>
                                          </p:val>
                                        </p:tav>
                                        <p:tav tm="100000">
                                          <p:val>
                                            <p:strVal val="#ppt_x"/>
                                          </p:val>
                                        </p:tav>
                                      </p:tavLst>
                                    </p:anim>
                                    <p:anim calcmode="lin" valueType="num">
                                      <p:cBhvr additive="base">
                                        <p:cTn id="12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2" presetClass="entr" presetSubtype="4" fill="hold" nodeType="clickEffect">
                                  <p:stCondLst>
                                    <p:cond delay="0"/>
                                  </p:stCondLst>
                                  <p:childTnLst>
                                    <p:set>
                                      <p:cBhvr>
                                        <p:cTn id="132" dur="1" fill="hold">
                                          <p:stCondLst>
                                            <p:cond delay="0"/>
                                          </p:stCondLst>
                                        </p:cTn>
                                        <p:tgtEl>
                                          <p:spTgt spid="30"/>
                                        </p:tgtEl>
                                        <p:attrNameLst>
                                          <p:attrName>style.visibility</p:attrName>
                                        </p:attrNameLst>
                                      </p:cBhvr>
                                      <p:to>
                                        <p:strVal val="visible"/>
                                      </p:to>
                                    </p:set>
                                    <p:anim calcmode="lin" valueType="num">
                                      <p:cBhvr additive="base">
                                        <p:cTn id="133" dur="500" fill="hold"/>
                                        <p:tgtEl>
                                          <p:spTgt spid="30"/>
                                        </p:tgtEl>
                                        <p:attrNameLst>
                                          <p:attrName>ppt_x</p:attrName>
                                        </p:attrNameLst>
                                      </p:cBhvr>
                                      <p:tavLst>
                                        <p:tav tm="0">
                                          <p:val>
                                            <p:strVal val="#ppt_x"/>
                                          </p:val>
                                        </p:tav>
                                        <p:tav tm="100000">
                                          <p:val>
                                            <p:strVal val="#ppt_x"/>
                                          </p:val>
                                        </p:tav>
                                      </p:tavLst>
                                    </p:anim>
                                    <p:anim calcmode="lin" valueType="num">
                                      <p:cBhvr additive="base">
                                        <p:cTn id="134"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135" fill="hold">
                      <p:stCondLst>
                        <p:cond delay="indefinite"/>
                      </p:stCondLst>
                      <p:childTnLst>
                        <p:par>
                          <p:cTn id="136" fill="hold">
                            <p:stCondLst>
                              <p:cond delay="0"/>
                            </p:stCondLst>
                            <p:childTnLst>
                              <p:par>
                                <p:cTn id="137" presetID="2" presetClass="entr" presetSubtype="4" fill="hold" nodeType="clickEffect">
                                  <p:stCondLst>
                                    <p:cond delay="0"/>
                                  </p:stCondLst>
                                  <p:childTnLst>
                                    <p:set>
                                      <p:cBhvr>
                                        <p:cTn id="138" dur="1" fill="hold">
                                          <p:stCondLst>
                                            <p:cond delay="0"/>
                                          </p:stCondLst>
                                        </p:cTn>
                                        <p:tgtEl>
                                          <p:spTgt spid="40"/>
                                        </p:tgtEl>
                                        <p:attrNameLst>
                                          <p:attrName>style.visibility</p:attrName>
                                        </p:attrNameLst>
                                      </p:cBhvr>
                                      <p:to>
                                        <p:strVal val="visible"/>
                                      </p:to>
                                    </p:set>
                                    <p:anim calcmode="lin" valueType="num">
                                      <p:cBhvr additive="base">
                                        <p:cTn id="139" dur="500" fill="hold"/>
                                        <p:tgtEl>
                                          <p:spTgt spid="40"/>
                                        </p:tgtEl>
                                        <p:attrNameLst>
                                          <p:attrName>ppt_x</p:attrName>
                                        </p:attrNameLst>
                                      </p:cBhvr>
                                      <p:tavLst>
                                        <p:tav tm="0">
                                          <p:val>
                                            <p:strVal val="#ppt_x"/>
                                          </p:val>
                                        </p:tav>
                                        <p:tav tm="100000">
                                          <p:val>
                                            <p:strVal val="#ppt_x"/>
                                          </p:val>
                                        </p:tav>
                                      </p:tavLst>
                                    </p:anim>
                                    <p:anim calcmode="lin" valueType="num">
                                      <p:cBhvr additive="base">
                                        <p:cTn id="140"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141" fill="hold">
                      <p:stCondLst>
                        <p:cond delay="indefinite"/>
                      </p:stCondLst>
                      <p:childTnLst>
                        <p:par>
                          <p:cTn id="142" fill="hold">
                            <p:stCondLst>
                              <p:cond delay="0"/>
                            </p:stCondLst>
                            <p:childTnLst>
                              <p:par>
                                <p:cTn id="143" presetID="2" presetClass="entr" presetSubtype="4" fill="hold" nodeType="clickEffect">
                                  <p:stCondLst>
                                    <p:cond delay="0"/>
                                  </p:stCondLst>
                                  <p:childTnLst>
                                    <p:set>
                                      <p:cBhvr>
                                        <p:cTn id="144" dur="1" fill="hold">
                                          <p:stCondLst>
                                            <p:cond delay="0"/>
                                          </p:stCondLst>
                                        </p:cTn>
                                        <p:tgtEl>
                                          <p:spTgt spid="38"/>
                                        </p:tgtEl>
                                        <p:attrNameLst>
                                          <p:attrName>style.visibility</p:attrName>
                                        </p:attrNameLst>
                                      </p:cBhvr>
                                      <p:to>
                                        <p:strVal val="visible"/>
                                      </p:to>
                                    </p:set>
                                    <p:anim calcmode="lin" valueType="num">
                                      <p:cBhvr additive="base">
                                        <p:cTn id="145" dur="500" fill="hold"/>
                                        <p:tgtEl>
                                          <p:spTgt spid="38"/>
                                        </p:tgtEl>
                                        <p:attrNameLst>
                                          <p:attrName>ppt_x</p:attrName>
                                        </p:attrNameLst>
                                      </p:cBhvr>
                                      <p:tavLst>
                                        <p:tav tm="0">
                                          <p:val>
                                            <p:strVal val="#ppt_x"/>
                                          </p:val>
                                        </p:tav>
                                        <p:tav tm="100000">
                                          <p:val>
                                            <p:strVal val="#ppt_x"/>
                                          </p:val>
                                        </p:tav>
                                      </p:tavLst>
                                    </p:anim>
                                    <p:anim calcmode="lin" valueType="num">
                                      <p:cBhvr additive="base">
                                        <p:cTn id="146"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147" fill="hold">
                      <p:stCondLst>
                        <p:cond delay="indefinite"/>
                      </p:stCondLst>
                      <p:childTnLst>
                        <p:par>
                          <p:cTn id="148" fill="hold">
                            <p:stCondLst>
                              <p:cond delay="0"/>
                            </p:stCondLst>
                            <p:childTnLst>
                              <p:par>
                                <p:cTn id="149" presetID="2" presetClass="entr" presetSubtype="4" fill="hold" nodeType="clickEffect">
                                  <p:stCondLst>
                                    <p:cond delay="0"/>
                                  </p:stCondLst>
                                  <p:childTnLst>
                                    <p:set>
                                      <p:cBhvr>
                                        <p:cTn id="150" dur="1" fill="hold">
                                          <p:stCondLst>
                                            <p:cond delay="0"/>
                                          </p:stCondLst>
                                        </p:cTn>
                                        <p:tgtEl>
                                          <p:spTgt spid="23"/>
                                        </p:tgtEl>
                                        <p:attrNameLst>
                                          <p:attrName>style.visibility</p:attrName>
                                        </p:attrNameLst>
                                      </p:cBhvr>
                                      <p:to>
                                        <p:strVal val="visible"/>
                                      </p:to>
                                    </p:set>
                                    <p:anim calcmode="lin" valueType="num">
                                      <p:cBhvr additive="base">
                                        <p:cTn id="151" dur="500" fill="hold"/>
                                        <p:tgtEl>
                                          <p:spTgt spid="23"/>
                                        </p:tgtEl>
                                        <p:attrNameLst>
                                          <p:attrName>ppt_x</p:attrName>
                                        </p:attrNameLst>
                                      </p:cBhvr>
                                      <p:tavLst>
                                        <p:tav tm="0">
                                          <p:val>
                                            <p:strVal val="#ppt_x"/>
                                          </p:val>
                                        </p:tav>
                                        <p:tav tm="100000">
                                          <p:val>
                                            <p:strVal val="#ppt_x"/>
                                          </p:val>
                                        </p:tav>
                                      </p:tavLst>
                                    </p:anim>
                                    <p:anim calcmode="lin" valueType="num">
                                      <p:cBhvr additive="base">
                                        <p:cTn id="152"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153" fill="hold">
                      <p:stCondLst>
                        <p:cond delay="indefinite"/>
                      </p:stCondLst>
                      <p:childTnLst>
                        <p:par>
                          <p:cTn id="154" fill="hold">
                            <p:stCondLst>
                              <p:cond delay="0"/>
                            </p:stCondLst>
                            <p:childTnLst>
                              <p:par>
                                <p:cTn id="155" presetID="2" presetClass="entr" presetSubtype="4" fill="hold" nodeType="clickEffect">
                                  <p:stCondLst>
                                    <p:cond delay="0"/>
                                  </p:stCondLst>
                                  <p:childTnLst>
                                    <p:set>
                                      <p:cBhvr>
                                        <p:cTn id="156" dur="1" fill="hold">
                                          <p:stCondLst>
                                            <p:cond delay="0"/>
                                          </p:stCondLst>
                                        </p:cTn>
                                        <p:tgtEl>
                                          <p:spTgt spid="27"/>
                                        </p:tgtEl>
                                        <p:attrNameLst>
                                          <p:attrName>style.visibility</p:attrName>
                                        </p:attrNameLst>
                                      </p:cBhvr>
                                      <p:to>
                                        <p:strVal val="visible"/>
                                      </p:to>
                                    </p:set>
                                    <p:anim calcmode="lin" valueType="num">
                                      <p:cBhvr additive="base">
                                        <p:cTn id="157" dur="500" fill="hold"/>
                                        <p:tgtEl>
                                          <p:spTgt spid="27"/>
                                        </p:tgtEl>
                                        <p:attrNameLst>
                                          <p:attrName>ppt_x</p:attrName>
                                        </p:attrNameLst>
                                      </p:cBhvr>
                                      <p:tavLst>
                                        <p:tav tm="0">
                                          <p:val>
                                            <p:strVal val="#ppt_x"/>
                                          </p:val>
                                        </p:tav>
                                        <p:tav tm="100000">
                                          <p:val>
                                            <p:strVal val="#ppt_x"/>
                                          </p:val>
                                        </p:tav>
                                      </p:tavLst>
                                    </p:anim>
                                    <p:anim calcmode="lin" valueType="num">
                                      <p:cBhvr additive="base">
                                        <p:cTn id="158"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159" fill="hold">
                      <p:stCondLst>
                        <p:cond delay="indefinite"/>
                      </p:stCondLst>
                      <p:childTnLst>
                        <p:par>
                          <p:cTn id="160" fill="hold">
                            <p:stCondLst>
                              <p:cond delay="0"/>
                            </p:stCondLst>
                            <p:childTnLst>
                              <p:par>
                                <p:cTn id="161" presetID="2" presetClass="entr" presetSubtype="4" fill="hold" nodeType="clickEffect">
                                  <p:stCondLst>
                                    <p:cond delay="0"/>
                                  </p:stCondLst>
                                  <p:childTnLst>
                                    <p:set>
                                      <p:cBhvr>
                                        <p:cTn id="162" dur="1" fill="hold">
                                          <p:stCondLst>
                                            <p:cond delay="0"/>
                                          </p:stCondLst>
                                        </p:cTn>
                                        <p:tgtEl>
                                          <p:spTgt spid="31"/>
                                        </p:tgtEl>
                                        <p:attrNameLst>
                                          <p:attrName>style.visibility</p:attrName>
                                        </p:attrNameLst>
                                      </p:cBhvr>
                                      <p:to>
                                        <p:strVal val="visible"/>
                                      </p:to>
                                    </p:set>
                                    <p:anim calcmode="lin" valueType="num">
                                      <p:cBhvr additive="base">
                                        <p:cTn id="163" dur="500" fill="hold"/>
                                        <p:tgtEl>
                                          <p:spTgt spid="31"/>
                                        </p:tgtEl>
                                        <p:attrNameLst>
                                          <p:attrName>ppt_x</p:attrName>
                                        </p:attrNameLst>
                                      </p:cBhvr>
                                      <p:tavLst>
                                        <p:tav tm="0">
                                          <p:val>
                                            <p:strVal val="#ppt_x"/>
                                          </p:val>
                                        </p:tav>
                                        <p:tav tm="100000">
                                          <p:val>
                                            <p:strVal val="#ppt_x"/>
                                          </p:val>
                                        </p:tav>
                                      </p:tavLst>
                                    </p:anim>
                                    <p:anim calcmode="lin" valueType="num">
                                      <p:cBhvr additive="base">
                                        <p:cTn id="164"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tângulo 3"/>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pic>
        <p:nvPicPr>
          <p:cNvPr id="2" name="Imagem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2633" y="2103120"/>
            <a:ext cx="4800697" cy="3609413"/>
          </a:xfrm>
          <a:prstGeom prst="rect">
            <a:avLst/>
          </a:prstGeom>
        </p:spPr>
      </p:pic>
      <p:sp>
        <p:nvSpPr>
          <p:cNvPr id="5" name="Title 1"/>
          <p:cNvSpPr>
            <a:spLocks noGrp="1"/>
          </p:cNvSpPr>
          <p:nvPr>
            <p:ph type="title" idx="4294967295"/>
          </p:nvPr>
        </p:nvSpPr>
        <p:spPr>
          <a:xfrm>
            <a:off x="0" y="822325"/>
            <a:ext cx="6784975" cy="400050"/>
          </a:xfrm>
        </p:spPr>
        <p:txBody>
          <a:bodyPr>
            <a:noAutofit/>
          </a:bodyPr>
          <a:lstStyle/>
          <a:p>
            <a:pPr algn="ctr"/>
            <a:r>
              <a:rPr lang="pt-BR" sz="2000" b="1" dirty="0">
                <a:solidFill>
                  <a:schemeClr val="accent6"/>
                </a:solidFill>
                <a:latin typeface="+mn-lt"/>
              </a:rPr>
              <a:t>MODAIS DE TRANSPORTE</a:t>
            </a:r>
          </a:p>
        </p:txBody>
      </p:sp>
      <p:grpSp>
        <p:nvGrpSpPr>
          <p:cNvPr id="6" name="Group 11"/>
          <p:cNvGrpSpPr/>
          <p:nvPr/>
        </p:nvGrpSpPr>
        <p:grpSpPr>
          <a:xfrm>
            <a:off x="5051644" y="1161300"/>
            <a:ext cx="7424636" cy="5009863"/>
            <a:chOff x="4434925" y="1650234"/>
            <a:chExt cx="5604934" cy="3614186"/>
          </a:xfrm>
        </p:grpSpPr>
        <p:sp>
          <p:nvSpPr>
            <p:cNvPr id="7" name="TextBox 8"/>
            <p:cNvSpPr txBox="1"/>
            <p:nvPr/>
          </p:nvSpPr>
          <p:spPr>
            <a:xfrm>
              <a:off x="5056567" y="1650234"/>
              <a:ext cx="3837414" cy="369332"/>
            </a:xfrm>
            <a:prstGeom prst="rect">
              <a:avLst/>
            </a:prstGeom>
            <a:noFill/>
          </p:spPr>
          <p:txBody>
            <a:bodyPr wrap="square" rtlCol="0">
              <a:spAutoFit/>
            </a:bodyPr>
            <a:lstStyle/>
            <a:p>
              <a:pPr algn="ctr"/>
              <a:r>
                <a:rPr lang="pt-BR" b="1" dirty="0">
                  <a:solidFill>
                    <a:schemeClr val="accent6"/>
                  </a:solidFill>
                  <a:cs typeface="Helvetica Neue"/>
                </a:rPr>
                <a:t>COMPARAÇÃO ENTRE PAÍSES</a:t>
              </a:r>
            </a:p>
          </p:txBody>
        </p:sp>
        <p:graphicFrame>
          <p:nvGraphicFramePr>
            <p:cNvPr id="9" name="Chart 7"/>
            <p:cNvGraphicFramePr/>
            <p:nvPr/>
          </p:nvGraphicFramePr>
          <p:xfrm>
            <a:off x="4434925" y="1702356"/>
            <a:ext cx="5604934" cy="3562064"/>
          </p:xfrm>
          <a:graphic>
            <a:graphicData uri="http://schemas.openxmlformats.org/drawingml/2006/chart">
              <c:chart xmlns:c="http://schemas.openxmlformats.org/drawingml/2006/chart" xmlns:r="http://schemas.openxmlformats.org/officeDocument/2006/relationships" r:id="rId3"/>
            </a:graphicData>
          </a:graphic>
        </p:graphicFrame>
      </p:grpSp>
      <p:sp>
        <p:nvSpPr>
          <p:cNvPr id="14" name="TextBox 9"/>
          <p:cNvSpPr txBox="1"/>
          <p:nvPr/>
        </p:nvSpPr>
        <p:spPr>
          <a:xfrm>
            <a:off x="1213404" y="5950635"/>
            <a:ext cx="9140529" cy="584775"/>
          </a:xfrm>
          <a:prstGeom prst="rect">
            <a:avLst/>
          </a:prstGeom>
          <a:noFill/>
          <a:ln>
            <a:noFill/>
          </a:ln>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pt-BR" sz="1600" dirty="0">
                <a:solidFill>
                  <a:schemeClr val="accent6"/>
                </a:solidFill>
              </a:rPr>
              <a:t>Estima-se que até 2025 o Brasil tenha alterado sua matriz modal FERRO/RODO/AQUA de 21%, 61%, 18% para 35%, 30%, 29%.</a:t>
            </a:r>
          </a:p>
        </p:txBody>
      </p:sp>
      <p:sp>
        <p:nvSpPr>
          <p:cNvPr id="15" name="TextBox 8"/>
          <p:cNvSpPr txBox="1"/>
          <p:nvPr/>
        </p:nvSpPr>
        <p:spPr>
          <a:xfrm>
            <a:off x="733240" y="1395130"/>
            <a:ext cx="3934580" cy="369332"/>
          </a:xfrm>
          <a:prstGeom prst="rect">
            <a:avLst/>
          </a:prstGeom>
          <a:noFill/>
        </p:spPr>
        <p:txBody>
          <a:bodyPr wrap="square" rtlCol="0">
            <a:spAutoFit/>
          </a:bodyPr>
          <a:lstStyle/>
          <a:p>
            <a:pPr algn="ctr"/>
            <a:r>
              <a:rPr lang="pt-BR" b="1" dirty="0">
                <a:solidFill>
                  <a:schemeClr val="accent6"/>
                </a:solidFill>
                <a:cs typeface="Helvetica Neue"/>
              </a:rPr>
              <a:t>MATRIZ BRASIL</a:t>
            </a:r>
          </a:p>
        </p:txBody>
      </p:sp>
    </p:spTree>
    <p:extLst>
      <p:ext uri="{BB962C8B-B14F-4D97-AF65-F5344CB8AC3E}">
        <p14:creationId xmlns:p14="http://schemas.microsoft.com/office/powerpoint/2010/main" val="1724507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arn(inVertical)">
                                      <p:cBhvr>
                                        <p:cTn id="7" dur="500"/>
                                        <p:tgtEl>
                                          <p:spTgt spid="15"/>
                                        </p:tgtEl>
                                      </p:cBhvr>
                                    </p:animEffect>
                                  </p:childTnLst>
                                </p:cTn>
                              </p:par>
                              <p:par>
                                <p:cTn id="8" presetID="16" presetClass="entr" presetSubtype="21"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barn(inVertical)">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up)">
                                      <p:cBhvr>
                                        <p:cTn id="15" dur="500"/>
                                        <p:tgtEl>
                                          <p:spTgt spid="6"/>
                                        </p:tgtEl>
                                      </p:cBhvr>
                                    </p:animEffect>
                                  </p:childTnLst>
                                </p:cTn>
                              </p:par>
                            </p:childTnLst>
                          </p:cTn>
                        </p:par>
                        <p:par>
                          <p:cTn id="16" fill="hold">
                            <p:stCondLst>
                              <p:cond delay="500"/>
                            </p:stCondLst>
                            <p:childTnLst>
                              <p:par>
                                <p:cTn id="17" presetID="22" presetClass="entr" presetSubtype="4" fill="hold" grpId="0"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down)">
                                      <p:cBhvr>
                                        <p:cTn id="1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Lst>
  </p:timing>
</p:sld>
</file>

<file path=ppt/slides/slide1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CaixaDeTexto 1"/>
          <p:cNvSpPr txBox="1"/>
          <p:nvPr/>
        </p:nvSpPr>
        <p:spPr>
          <a:xfrm>
            <a:off x="1455162" y="2715064"/>
            <a:ext cx="9281676" cy="2862322"/>
          </a:xfrm>
          <a:prstGeom prst="rect">
            <a:avLst/>
          </a:prstGeom>
          <a:noFill/>
        </p:spPr>
        <p:txBody>
          <a:bodyPr wrap="square" rtlCol="0">
            <a:spAutoFit/>
          </a:bodyPr>
          <a:lstStyle/>
          <a:p>
            <a:pPr marL="285750" indent="-285750" algn="just" fontAlgn="base">
              <a:buFontTx/>
              <a:buChar char="-"/>
            </a:pPr>
            <a:r>
              <a:rPr lang="pt-BR" b="1" dirty="0">
                <a:solidFill>
                  <a:schemeClr val="accent6"/>
                </a:solidFill>
              </a:rPr>
              <a:t>Modal</a:t>
            </a:r>
            <a:r>
              <a:rPr lang="pt-BR" dirty="0">
                <a:solidFill>
                  <a:schemeClr val="accent6"/>
                </a:solidFill>
              </a:rPr>
              <a:t> ou </a:t>
            </a:r>
            <a:r>
              <a:rPr lang="pt-BR" b="1" dirty="0" err="1">
                <a:solidFill>
                  <a:schemeClr val="accent6"/>
                </a:solidFill>
              </a:rPr>
              <a:t>Unimodal</a:t>
            </a:r>
            <a:r>
              <a:rPr lang="pt-BR" dirty="0">
                <a:solidFill>
                  <a:schemeClr val="accent6"/>
                </a:solidFill>
              </a:rPr>
              <a:t> - Deslocamento de carga através de um </a:t>
            </a:r>
            <a:r>
              <a:rPr lang="pt-BR" u="sng" dirty="0">
                <a:solidFill>
                  <a:schemeClr val="accent6"/>
                </a:solidFill>
              </a:rPr>
              <a:t>único meio de transporte</a:t>
            </a:r>
            <a:r>
              <a:rPr lang="pt-BR" dirty="0">
                <a:solidFill>
                  <a:schemeClr val="accent6"/>
                </a:solidFill>
                <a:latin typeface="+mj-lt"/>
                <a:cs typeface="Helvetica Neue"/>
              </a:rPr>
              <a:t>, em </a:t>
            </a:r>
            <a:r>
              <a:rPr lang="pt-BR" u="sng" dirty="0">
                <a:solidFill>
                  <a:schemeClr val="accent6"/>
                </a:solidFill>
                <a:latin typeface="+mj-lt"/>
                <a:cs typeface="Helvetica Neue"/>
              </a:rPr>
              <a:t>uma única</a:t>
            </a:r>
            <a:r>
              <a:rPr lang="pt-BR" dirty="0">
                <a:solidFill>
                  <a:schemeClr val="accent6"/>
                </a:solidFill>
                <a:latin typeface="+mj-lt"/>
                <a:cs typeface="Helvetica Neue"/>
              </a:rPr>
              <a:t> </a:t>
            </a:r>
            <a:r>
              <a:rPr lang="pt-BR" u="sng" dirty="0">
                <a:solidFill>
                  <a:schemeClr val="accent6"/>
                </a:solidFill>
                <a:latin typeface="+mj-lt"/>
                <a:cs typeface="Helvetica Neue"/>
              </a:rPr>
              <a:t>modalidade</a:t>
            </a:r>
            <a:r>
              <a:rPr lang="pt-BR" dirty="0">
                <a:solidFill>
                  <a:schemeClr val="accent6"/>
                </a:solidFill>
                <a:latin typeface="+mj-lt"/>
                <a:cs typeface="Helvetica Neue"/>
              </a:rPr>
              <a:t> de transporte e com </a:t>
            </a:r>
            <a:r>
              <a:rPr lang="pt-BR" u="sng" dirty="0">
                <a:solidFill>
                  <a:schemeClr val="accent6"/>
                </a:solidFill>
                <a:latin typeface="+mj-lt"/>
                <a:cs typeface="Helvetica Neue"/>
              </a:rPr>
              <a:t>um contrato</a:t>
            </a:r>
            <a:r>
              <a:rPr lang="pt-BR" dirty="0">
                <a:solidFill>
                  <a:schemeClr val="accent6"/>
                </a:solidFill>
                <a:latin typeface="+mj-lt"/>
                <a:cs typeface="Helvetica Neue"/>
              </a:rPr>
              <a:t> de transporte.</a:t>
            </a:r>
          </a:p>
          <a:p>
            <a:pPr marL="285750" indent="-285750" algn="just" fontAlgn="base">
              <a:buFontTx/>
              <a:buChar char="-"/>
            </a:pPr>
            <a:endParaRPr lang="pt-BR" dirty="0">
              <a:solidFill>
                <a:schemeClr val="accent6"/>
              </a:solidFill>
              <a:latin typeface="+mj-lt"/>
            </a:endParaRPr>
          </a:p>
          <a:p>
            <a:pPr marL="285750" indent="-285750" algn="just" fontAlgn="base">
              <a:buFontTx/>
              <a:buChar char="-"/>
            </a:pPr>
            <a:r>
              <a:rPr lang="pt-BR" b="1" dirty="0">
                <a:solidFill>
                  <a:schemeClr val="accent6"/>
                </a:solidFill>
              </a:rPr>
              <a:t>Intermodal</a:t>
            </a:r>
            <a:r>
              <a:rPr lang="pt-BR" dirty="0">
                <a:solidFill>
                  <a:schemeClr val="accent6"/>
                </a:solidFill>
              </a:rPr>
              <a:t> – Deslocamento que </a:t>
            </a:r>
            <a:r>
              <a:rPr lang="pt-BR" dirty="0">
                <a:solidFill>
                  <a:schemeClr val="accent6"/>
                </a:solidFill>
                <a:cs typeface="Helvetica Neue"/>
              </a:rPr>
              <a:t>utiliza vários  equipamentos, em </a:t>
            </a:r>
            <a:r>
              <a:rPr lang="pt-BR" u="sng" dirty="0">
                <a:solidFill>
                  <a:schemeClr val="accent6"/>
                </a:solidFill>
                <a:cs typeface="Helvetica Neue"/>
              </a:rPr>
              <a:t>diversas modalidades </a:t>
            </a:r>
            <a:r>
              <a:rPr lang="pt-BR" dirty="0">
                <a:solidFill>
                  <a:schemeClr val="accent6"/>
                </a:solidFill>
                <a:cs typeface="Helvetica Neue"/>
              </a:rPr>
              <a:t>de transporte e com </a:t>
            </a:r>
            <a:r>
              <a:rPr lang="pt-BR" u="sng" dirty="0">
                <a:solidFill>
                  <a:schemeClr val="accent6"/>
                </a:solidFill>
                <a:cs typeface="Helvetica Neue"/>
              </a:rPr>
              <a:t>diversos contratos</a:t>
            </a:r>
            <a:r>
              <a:rPr lang="pt-BR" dirty="0">
                <a:solidFill>
                  <a:schemeClr val="accent6"/>
                </a:solidFill>
                <a:cs typeface="Helvetica Neue"/>
              </a:rPr>
              <a:t> envolvidos.</a:t>
            </a:r>
          </a:p>
          <a:p>
            <a:pPr algn="just" fontAlgn="base"/>
            <a:endParaRPr lang="pt-BR" dirty="0">
              <a:solidFill>
                <a:schemeClr val="accent6"/>
              </a:solidFill>
            </a:endParaRPr>
          </a:p>
          <a:p>
            <a:pPr marL="285750" indent="-285750" algn="just" fontAlgn="base">
              <a:buFontTx/>
              <a:buChar char="-"/>
            </a:pPr>
            <a:r>
              <a:rPr lang="pt-BR" b="1" dirty="0">
                <a:solidFill>
                  <a:schemeClr val="accent6"/>
                </a:solidFill>
              </a:rPr>
              <a:t>Multimodal</a:t>
            </a:r>
            <a:r>
              <a:rPr lang="pt-BR" dirty="0">
                <a:solidFill>
                  <a:schemeClr val="accent6"/>
                </a:solidFill>
              </a:rPr>
              <a:t> – Quando o transportador que organiza o transporte assume inteira responsabilidade pelo transporte porta-a-porta. U</a:t>
            </a:r>
            <a:r>
              <a:rPr lang="pt-BR" dirty="0">
                <a:solidFill>
                  <a:schemeClr val="accent6"/>
                </a:solidFill>
                <a:cs typeface="Helvetica Neue"/>
              </a:rPr>
              <a:t>tiliza </a:t>
            </a:r>
            <a:r>
              <a:rPr lang="pt-BR" u="sng" dirty="0">
                <a:solidFill>
                  <a:schemeClr val="accent6"/>
                </a:solidFill>
                <a:cs typeface="Helvetica Neue"/>
              </a:rPr>
              <a:t>vários equipamentos</a:t>
            </a:r>
            <a:r>
              <a:rPr lang="pt-BR" dirty="0">
                <a:solidFill>
                  <a:schemeClr val="accent6"/>
                </a:solidFill>
                <a:cs typeface="Helvetica Neue"/>
              </a:rPr>
              <a:t>, em </a:t>
            </a:r>
            <a:r>
              <a:rPr lang="pt-BR" u="sng" dirty="0">
                <a:solidFill>
                  <a:schemeClr val="accent6"/>
                </a:solidFill>
                <a:cs typeface="Helvetica Neue"/>
              </a:rPr>
              <a:t>diversas modalidades</a:t>
            </a:r>
            <a:r>
              <a:rPr lang="pt-BR" dirty="0">
                <a:solidFill>
                  <a:schemeClr val="accent6"/>
                </a:solidFill>
                <a:cs typeface="Helvetica Neue"/>
              </a:rPr>
              <a:t> de transporte e </a:t>
            </a:r>
            <a:r>
              <a:rPr lang="pt-BR" u="sng" dirty="0">
                <a:solidFill>
                  <a:schemeClr val="accent6"/>
                </a:solidFill>
                <a:cs typeface="Helvetica Neue"/>
              </a:rPr>
              <a:t>um único contrato</a:t>
            </a:r>
            <a:r>
              <a:rPr lang="pt-BR" dirty="0">
                <a:solidFill>
                  <a:schemeClr val="accent6"/>
                </a:solidFill>
                <a:cs typeface="Helvetica Neue"/>
              </a:rPr>
              <a:t>.</a:t>
            </a:r>
            <a:endParaRPr lang="pt-BR" dirty="0">
              <a:solidFill>
                <a:schemeClr val="accent6"/>
              </a:solidFill>
            </a:endParaRPr>
          </a:p>
        </p:txBody>
      </p:sp>
      <p:sp>
        <p:nvSpPr>
          <p:cNvPr id="6" name="Retângulo 5"/>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
        <p:nvSpPr>
          <p:cNvPr id="8" name="Title 1"/>
          <p:cNvSpPr txBox="1">
            <a:spLocks/>
          </p:cNvSpPr>
          <p:nvPr/>
        </p:nvSpPr>
        <p:spPr>
          <a:xfrm>
            <a:off x="2702982" y="822118"/>
            <a:ext cx="6786036" cy="400532"/>
          </a:xfrm>
          <a:prstGeom prst="rect">
            <a:avLst/>
          </a:prstGeom>
        </p:spPr>
        <p:txBody>
          <a:bodyPr>
            <a:noAutofit/>
          </a:bodyPr>
          <a:lstStyle>
            <a:lvl1pPr algn="l" defTabSz="449263" rtl="0" eaLnBrk="1" fontAlgn="base" hangingPunct="1">
              <a:spcBef>
                <a:spcPct val="0"/>
              </a:spcBef>
              <a:spcAft>
                <a:spcPct val="0"/>
              </a:spcAft>
              <a:buClr>
                <a:srgbClr val="000000"/>
              </a:buClr>
              <a:buSzPct val="100000"/>
              <a:buFont typeface="Times New Roman" panose="02020603050405020304" pitchFamily="18" charset="0"/>
              <a:defRPr sz="4100" b="1" kern="1200">
                <a:solidFill>
                  <a:srgbClr val="464646"/>
                </a:solidFill>
                <a:latin typeface="+mj-lt"/>
                <a:ea typeface="+mj-ea"/>
                <a:cs typeface="+mj-cs"/>
              </a:defRPr>
            </a:lvl1pPr>
            <a:lvl2pPr marL="742950" indent="-28575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2pPr>
            <a:lvl3pPr marL="1143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3pPr>
            <a:lvl4pPr marL="1600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4pPr>
            <a:lvl5pPr marL="20574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5pPr>
            <a:lvl6pPr marL="25146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6pPr>
            <a:lvl7pPr marL="29718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7pPr>
            <a:lvl8pPr marL="3429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8pPr>
            <a:lvl9pPr marL="3886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9pPr>
          </a:lstStyle>
          <a:p>
            <a:pPr algn="ctr"/>
            <a:r>
              <a:rPr lang="pt-BR" sz="2000" dirty="0">
                <a:solidFill>
                  <a:schemeClr val="accent6"/>
                </a:solidFill>
                <a:latin typeface="+mn-lt"/>
              </a:rPr>
              <a:t>TRANSPORTE DE CARGAS - CLASSIFICAÇÃO</a:t>
            </a:r>
          </a:p>
        </p:txBody>
      </p:sp>
      <p:sp>
        <p:nvSpPr>
          <p:cNvPr id="3" name="Retângulo 2"/>
          <p:cNvSpPr/>
          <p:nvPr/>
        </p:nvSpPr>
        <p:spPr>
          <a:xfrm>
            <a:off x="4913625" y="1784191"/>
            <a:ext cx="2364750" cy="369332"/>
          </a:xfrm>
          <a:prstGeom prst="rect">
            <a:avLst/>
          </a:prstGeom>
        </p:spPr>
        <p:txBody>
          <a:bodyPr wrap="none">
            <a:spAutoFit/>
          </a:bodyPr>
          <a:lstStyle/>
          <a:p>
            <a:pPr algn="just"/>
            <a:r>
              <a:rPr lang="pt-BR" b="1" dirty="0">
                <a:solidFill>
                  <a:schemeClr val="accent6"/>
                </a:solidFill>
              </a:rPr>
              <a:t>QUANTO À FORMA</a:t>
            </a:r>
            <a:r>
              <a:rPr lang="pt-BR" dirty="0">
                <a:solidFill>
                  <a:schemeClr val="accent6"/>
                </a:solidFill>
              </a:rPr>
              <a:t>:</a:t>
            </a:r>
          </a:p>
        </p:txBody>
      </p:sp>
    </p:spTree>
    <p:extLst>
      <p:ext uri="{BB962C8B-B14F-4D97-AF65-F5344CB8AC3E}">
        <p14:creationId xmlns:p14="http://schemas.microsoft.com/office/powerpoint/2010/main" val="1139397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additive="base">
                                        <p:cTn id="14" dur="500" fill="hold"/>
                                        <p:tgtEl>
                                          <p:spTgt spid="3"/>
                                        </p:tgtEl>
                                        <p:attrNameLst>
                                          <p:attrName>ppt_x</p:attrName>
                                        </p:attrNameLst>
                                      </p:cBhvr>
                                      <p:tavLst>
                                        <p:tav tm="0">
                                          <p:val>
                                            <p:strVal val="#ppt_x"/>
                                          </p:val>
                                        </p:tav>
                                        <p:tav tm="100000">
                                          <p:val>
                                            <p:strVal val="#ppt_x"/>
                                          </p:val>
                                        </p:tav>
                                      </p:tavLst>
                                    </p:anim>
                                    <p:anim calcmode="lin" valueType="num">
                                      <p:cBhvr additive="base">
                                        <p:cTn id="1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2">
                                            <p:txEl>
                                              <p:pRg st="0" end="0"/>
                                            </p:txEl>
                                          </p:spTgt>
                                        </p:tgtEl>
                                        <p:attrNameLst>
                                          <p:attrName>style.visibility</p:attrName>
                                        </p:attrNameLst>
                                      </p:cBhvr>
                                      <p:to>
                                        <p:strVal val="visible"/>
                                      </p:to>
                                    </p:set>
                                    <p:animEffect transition="in" filter="fade">
                                      <p:cBhvr>
                                        <p:cTn id="20" dur="1000"/>
                                        <p:tgtEl>
                                          <p:spTgt spid="2">
                                            <p:txEl>
                                              <p:pRg st="0" end="0"/>
                                            </p:txEl>
                                          </p:spTgt>
                                        </p:tgtEl>
                                      </p:cBhvr>
                                    </p:animEffect>
                                    <p:anim calcmode="lin" valueType="num">
                                      <p:cBhvr>
                                        <p:cTn id="21"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22"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2">
                                            <p:txEl>
                                              <p:pRg st="2" end="2"/>
                                            </p:txEl>
                                          </p:spTgt>
                                        </p:tgtEl>
                                        <p:attrNameLst>
                                          <p:attrName>style.visibility</p:attrName>
                                        </p:attrNameLst>
                                      </p:cBhvr>
                                      <p:to>
                                        <p:strVal val="visible"/>
                                      </p:to>
                                    </p:set>
                                    <p:animEffect transition="in" filter="fade">
                                      <p:cBhvr>
                                        <p:cTn id="27" dur="1000"/>
                                        <p:tgtEl>
                                          <p:spTgt spid="2">
                                            <p:txEl>
                                              <p:pRg st="2" end="2"/>
                                            </p:txEl>
                                          </p:spTgt>
                                        </p:tgtEl>
                                      </p:cBhvr>
                                    </p:animEffect>
                                    <p:anim calcmode="lin" valueType="num">
                                      <p:cBhvr>
                                        <p:cTn id="28"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2">
                                            <p:txEl>
                                              <p:pRg st="4" end="4"/>
                                            </p:txEl>
                                          </p:spTgt>
                                        </p:tgtEl>
                                        <p:attrNameLst>
                                          <p:attrName>style.visibility</p:attrName>
                                        </p:attrNameLst>
                                      </p:cBhvr>
                                      <p:to>
                                        <p:strVal val="visible"/>
                                      </p:to>
                                    </p:set>
                                    <p:animEffect transition="in" filter="fade">
                                      <p:cBhvr>
                                        <p:cTn id="34" dur="1000"/>
                                        <p:tgtEl>
                                          <p:spTgt spid="2">
                                            <p:txEl>
                                              <p:pRg st="4" end="4"/>
                                            </p:txEl>
                                          </p:spTgt>
                                        </p:tgtEl>
                                      </p:cBhvr>
                                    </p:animEffect>
                                    <p:anim calcmode="lin" valueType="num">
                                      <p:cBhvr>
                                        <p:cTn id="35"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8" grpId="0"/>
      <p:bldP spid="3" grpId="0"/>
    </p:bldLst>
  </p:timing>
</p:sld>
</file>

<file path=ppt/slides/slide1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CaixaDeTexto 5"/>
          <p:cNvSpPr txBox="1"/>
          <p:nvPr/>
        </p:nvSpPr>
        <p:spPr>
          <a:xfrm>
            <a:off x="1455162" y="2715064"/>
            <a:ext cx="9281676" cy="3416320"/>
          </a:xfrm>
          <a:prstGeom prst="rect">
            <a:avLst/>
          </a:prstGeom>
          <a:noFill/>
        </p:spPr>
        <p:txBody>
          <a:bodyPr wrap="square" rtlCol="0">
            <a:spAutoFit/>
          </a:bodyPr>
          <a:lstStyle/>
          <a:p>
            <a:pPr marL="285750" indent="-285750" algn="just" fontAlgn="base">
              <a:buFontTx/>
              <a:buChar char="-"/>
            </a:pPr>
            <a:r>
              <a:rPr lang="pt-BR" dirty="0">
                <a:solidFill>
                  <a:schemeClr val="accent6"/>
                </a:solidFill>
              </a:rPr>
              <a:t> </a:t>
            </a:r>
            <a:r>
              <a:rPr lang="pt-BR" b="1" dirty="0">
                <a:solidFill>
                  <a:schemeClr val="accent6"/>
                </a:solidFill>
              </a:rPr>
              <a:t>Segmentado</a:t>
            </a:r>
            <a:r>
              <a:rPr lang="pt-BR" dirty="0">
                <a:solidFill>
                  <a:schemeClr val="accent6"/>
                </a:solidFill>
              </a:rPr>
              <a:t> – Quando a prestação de serviços for realizada por </a:t>
            </a:r>
            <a:r>
              <a:rPr lang="pt-BR" u="sng" dirty="0">
                <a:solidFill>
                  <a:schemeClr val="accent6"/>
                </a:solidFill>
              </a:rPr>
              <a:t>mais de um meio de transporte</a:t>
            </a:r>
            <a:r>
              <a:rPr lang="pt-BR" dirty="0">
                <a:solidFill>
                  <a:schemeClr val="accent6"/>
                </a:solidFill>
              </a:rPr>
              <a:t>, emitindo </a:t>
            </a:r>
            <a:r>
              <a:rPr lang="pt-BR" u="sng" dirty="0">
                <a:solidFill>
                  <a:schemeClr val="accent6"/>
                </a:solidFill>
              </a:rPr>
              <a:t>cada transportador um conhecimento de transporte</a:t>
            </a:r>
            <a:r>
              <a:rPr lang="pt-BR" dirty="0">
                <a:solidFill>
                  <a:schemeClr val="accent6"/>
                </a:solidFill>
              </a:rPr>
              <a:t> e assumindo a responsabilidade de transportar a mercadoria no trajeto que lhe competir.</a:t>
            </a:r>
          </a:p>
          <a:p>
            <a:pPr algn="just" fontAlgn="base"/>
            <a:endParaRPr lang="pt-BR" dirty="0">
              <a:solidFill>
                <a:schemeClr val="accent6"/>
              </a:solidFill>
            </a:endParaRPr>
          </a:p>
          <a:p>
            <a:pPr marL="285750" indent="-285750" algn="just" fontAlgn="base">
              <a:buFontTx/>
              <a:buChar char="-"/>
            </a:pPr>
            <a:r>
              <a:rPr lang="pt-BR" dirty="0">
                <a:solidFill>
                  <a:schemeClr val="accent6"/>
                </a:solidFill>
              </a:rPr>
              <a:t> </a:t>
            </a:r>
            <a:r>
              <a:rPr lang="pt-BR" b="1" dirty="0">
                <a:solidFill>
                  <a:schemeClr val="accent6"/>
                </a:solidFill>
              </a:rPr>
              <a:t>Sucessivo</a:t>
            </a:r>
            <a:r>
              <a:rPr lang="pt-BR" dirty="0">
                <a:solidFill>
                  <a:schemeClr val="accent6"/>
                </a:solidFill>
              </a:rPr>
              <a:t> – Quando a mercadoria, para alcançar o destino final, necessitar ser transportada para prosseguimento em veículo da </a:t>
            </a:r>
            <a:r>
              <a:rPr lang="pt-BR" u="sng" dirty="0">
                <a:solidFill>
                  <a:schemeClr val="accent6"/>
                </a:solidFill>
              </a:rPr>
              <a:t>mesma modalidade</a:t>
            </a:r>
            <a:r>
              <a:rPr lang="pt-BR" dirty="0">
                <a:solidFill>
                  <a:schemeClr val="accent6"/>
                </a:solidFill>
              </a:rPr>
              <a:t> de transporte, regido por </a:t>
            </a:r>
            <a:r>
              <a:rPr lang="pt-BR" u="sng" dirty="0">
                <a:solidFill>
                  <a:schemeClr val="accent6"/>
                </a:solidFill>
              </a:rPr>
              <a:t>um único contrato</a:t>
            </a:r>
            <a:r>
              <a:rPr lang="pt-BR" dirty="0">
                <a:solidFill>
                  <a:schemeClr val="accent6"/>
                </a:solidFill>
              </a:rPr>
              <a:t>.</a:t>
            </a:r>
          </a:p>
          <a:p>
            <a:pPr algn="just" fontAlgn="base"/>
            <a:endParaRPr lang="pt-BR" dirty="0">
              <a:solidFill>
                <a:schemeClr val="accent6"/>
              </a:solidFill>
            </a:endParaRPr>
          </a:p>
          <a:p>
            <a:pPr marL="285750" indent="-285750" algn="just" fontAlgn="base">
              <a:buFontTx/>
              <a:buChar char="-"/>
            </a:pPr>
            <a:r>
              <a:rPr lang="pt-BR" b="1" dirty="0">
                <a:solidFill>
                  <a:schemeClr val="accent6"/>
                </a:solidFill>
              </a:rPr>
              <a:t>Combinado</a:t>
            </a:r>
            <a:r>
              <a:rPr lang="pt-BR" dirty="0">
                <a:solidFill>
                  <a:schemeClr val="accent6"/>
                </a:solidFill>
              </a:rPr>
              <a:t> – É o transporte de carga em um </a:t>
            </a:r>
            <a:r>
              <a:rPr lang="pt-BR" u="sng" dirty="0">
                <a:solidFill>
                  <a:schemeClr val="accent6"/>
                </a:solidFill>
              </a:rPr>
              <a:t>único carregamento ou veículo</a:t>
            </a:r>
            <a:r>
              <a:rPr lang="pt-BR" dirty="0">
                <a:solidFill>
                  <a:schemeClr val="accent6"/>
                </a:solidFill>
              </a:rPr>
              <a:t>, através de uma combinação entre modais rodoviário/ferroviário/</a:t>
            </a:r>
            <a:r>
              <a:rPr lang="pt-BR" dirty="0" err="1">
                <a:solidFill>
                  <a:schemeClr val="accent6"/>
                </a:solidFill>
              </a:rPr>
              <a:t>aquaviário</a:t>
            </a:r>
            <a:r>
              <a:rPr lang="pt-BR" dirty="0">
                <a:solidFill>
                  <a:schemeClr val="accent6"/>
                </a:solidFill>
              </a:rPr>
              <a:t>.</a:t>
            </a:r>
          </a:p>
          <a:p>
            <a:pPr marL="285750" indent="-285750" algn="just" fontAlgn="base">
              <a:buFontTx/>
              <a:buChar char="-"/>
            </a:pPr>
            <a:endParaRPr lang="pt-BR" u="sng" dirty="0">
              <a:solidFill>
                <a:schemeClr val="accent6"/>
              </a:solidFill>
            </a:endParaRPr>
          </a:p>
        </p:txBody>
      </p:sp>
      <p:sp>
        <p:nvSpPr>
          <p:cNvPr id="8" name="Retângulo 7"/>
          <p:cNvSpPr/>
          <p:nvPr/>
        </p:nvSpPr>
        <p:spPr>
          <a:xfrm>
            <a:off x="4913625" y="1784191"/>
            <a:ext cx="2364750" cy="369332"/>
          </a:xfrm>
          <a:prstGeom prst="rect">
            <a:avLst/>
          </a:prstGeom>
        </p:spPr>
        <p:txBody>
          <a:bodyPr wrap="none">
            <a:spAutoFit/>
          </a:bodyPr>
          <a:lstStyle/>
          <a:p>
            <a:pPr algn="just"/>
            <a:r>
              <a:rPr lang="pt-BR" b="1" dirty="0">
                <a:solidFill>
                  <a:schemeClr val="accent6"/>
                </a:solidFill>
              </a:rPr>
              <a:t>QUANTO À FORMA</a:t>
            </a:r>
            <a:r>
              <a:rPr lang="pt-BR" dirty="0">
                <a:solidFill>
                  <a:schemeClr val="accent6"/>
                </a:solidFill>
              </a:rPr>
              <a:t>:</a:t>
            </a:r>
          </a:p>
        </p:txBody>
      </p:sp>
      <p:sp>
        <p:nvSpPr>
          <p:cNvPr id="11" name="Retângulo 10"/>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
        <p:nvSpPr>
          <p:cNvPr id="12" name="Title 1"/>
          <p:cNvSpPr txBox="1">
            <a:spLocks/>
          </p:cNvSpPr>
          <p:nvPr/>
        </p:nvSpPr>
        <p:spPr>
          <a:xfrm>
            <a:off x="2702982" y="822118"/>
            <a:ext cx="6786036" cy="400532"/>
          </a:xfrm>
          <a:prstGeom prst="rect">
            <a:avLst/>
          </a:prstGeom>
        </p:spPr>
        <p:txBody>
          <a:bodyPr>
            <a:noAutofit/>
          </a:bodyPr>
          <a:lstStyle>
            <a:lvl1pPr algn="l" defTabSz="449263" rtl="0" eaLnBrk="1" fontAlgn="base" hangingPunct="1">
              <a:spcBef>
                <a:spcPct val="0"/>
              </a:spcBef>
              <a:spcAft>
                <a:spcPct val="0"/>
              </a:spcAft>
              <a:buClr>
                <a:srgbClr val="000000"/>
              </a:buClr>
              <a:buSzPct val="100000"/>
              <a:buFont typeface="Times New Roman" panose="02020603050405020304" pitchFamily="18" charset="0"/>
              <a:defRPr sz="4100" b="1" kern="1200">
                <a:solidFill>
                  <a:srgbClr val="464646"/>
                </a:solidFill>
                <a:latin typeface="+mj-lt"/>
                <a:ea typeface="+mj-ea"/>
                <a:cs typeface="+mj-cs"/>
              </a:defRPr>
            </a:lvl1pPr>
            <a:lvl2pPr marL="742950" indent="-28575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2pPr>
            <a:lvl3pPr marL="1143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3pPr>
            <a:lvl4pPr marL="1600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4pPr>
            <a:lvl5pPr marL="20574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5pPr>
            <a:lvl6pPr marL="25146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6pPr>
            <a:lvl7pPr marL="29718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7pPr>
            <a:lvl8pPr marL="3429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8pPr>
            <a:lvl9pPr marL="3886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9pPr>
          </a:lstStyle>
          <a:p>
            <a:pPr algn="ctr"/>
            <a:r>
              <a:rPr lang="pt-BR" sz="2000" dirty="0">
                <a:solidFill>
                  <a:schemeClr val="accent6"/>
                </a:solidFill>
                <a:latin typeface="+mn-lt"/>
              </a:rPr>
              <a:t>TRANSPORTE DE CARGAS - CLASSIFICAÇÃO</a:t>
            </a:r>
          </a:p>
        </p:txBody>
      </p:sp>
    </p:spTree>
    <p:extLst>
      <p:ext uri="{BB962C8B-B14F-4D97-AF65-F5344CB8AC3E}">
        <p14:creationId xmlns:p14="http://schemas.microsoft.com/office/powerpoint/2010/main" val="4186864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xEl>
                                              <p:pRg st="2" end="2"/>
                                            </p:txEl>
                                          </p:spTgt>
                                        </p:tgtEl>
                                        <p:attrNameLst>
                                          <p:attrName>style.visibility</p:attrName>
                                        </p:attrNameLst>
                                      </p:cBhvr>
                                      <p:to>
                                        <p:strVal val="visible"/>
                                      </p:to>
                                    </p:set>
                                    <p:animEffect transition="in" filter="fade">
                                      <p:cBhvr>
                                        <p:cTn id="14" dur="1000"/>
                                        <p:tgtEl>
                                          <p:spTgt spid="6">
                                            <p:txEl>
                                              <p:pRg st="2" end="2"/>
                                            </p:txEl>
                                          </p:spTgt>
                                        </p:tgtEl>
                                      </p:cBhvr>
                                    </p:animEffect>
                                    <p:anim calcmode="lin" valueType="num">
                                      <p:cBhvr>
                                        <p:cTn id="15"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animEffect transition="in" filter="fade">
                                      <p:cBhvr>
                                        <p:cTn id="21" dur="1000"/>
                                        <p:tgtEl>
                                          <p:spTgt spid="6">
                                            <p:txEl>
                                              <p:pRg st="4" end="4"/>
                                            </p:txEl>
                                          </p:spTgt>
                                        </p:tgtEl>
                                      </p:cBhvr>
                                    </p:animEffect>
                                    <p:anim calcmode="lin" valueType="num">
                                      <p:cBhvr>
                                        <p:cTn id="22"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Rectangle 3"/>
          <p:cNvSpPr>
            <a:spLocks noChangeArrowheads="1"/>
          </p:cNvSpPr>
          <p:nvPr/>
        </p:nvSpPr>
        <p:spPr bwMode="auto">
          <a:xfrm>
            <a:off x="487680" y="1486922"/>
            <a:ext cx="11423904" cy="422405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cmpd="sng">
                <a:solidFill>
                  <a:srgbClr val="000000"/>
                </a:solidFill>
                <a:prstDash val="solid"/>
                <a:miter lim="800000"/>
                <a:headEnd/>
                <a:tailEnd/>
              </a14:hiddenLine>
            </a:ext>
            <a:ext uri="{AF507438-7753-43e0-B8FC-AC1667EBCBE1}">
              <a14:hiddenEffects xmlns="" xmlns:a14="http://schemas.microsoft.com/office/drawing/2010/main">
                <a:effectLst>
                  <a:outerShdw blurRad="63500" dist="35921" dir="2700000" algn="ctr" rotWithShape="0">
                    <a:srgbClr val="808080"/>
                  </a:outerShdw>
                </a:effectLst>
              </a14:hiddenEffects>
            </a:ext>
          </a:extLst>
        </p:spPr>
        <p:txBody>
          <a:bodyPr/>
          <a:lstStyle/>
          <a:p>
            <a:pPr algn="just" eaLnBrk="0" hangingPunct="0">
              <a:spcBef>
                <a:spcPts val="600"/>
              </a:spcBef>
            </a:pPr>
            <a:r>
              <a:rPr kumimoji="1" lang="pt-BR" dirty="0">
                <a:solidFill>
                  <a:schemeClr val="accent6"/>
                </a:solidFill>
                <a:cs typeface="Helvetica Neue"/>
              </a:rPr>
              <a:t>Transporte multimodal de cargas é aquele que, regido por </a:t>
            </a:r>
            <a:r>
              <a:rPr kumimoji="1" lang="pt-BR" u="sng" dirty="0">
                <a:solidFill>
                  <a:schemeClr val="accent6"/>
                </a:solidFill>
                <a:cs typeface="Helvetica Neue"/>
              </a:rPr>
              <a:t>um único contrato</a:t>
            </a:r>
            <a:r>
              <a:rPr kumimoji="1" lang="pt-BR" dirty="0">
                <a:solidFill>
                  <a:schemeClr val="accent6"/>
                </a:solidFill>
                <a:cs typeface="Helvetica Neue"/>
              </a:rPr>
              <a:t>, utiliza </a:t>
            </a:r>
            <a:r>
              <a:rPr kumimoji="1" lang="pt-BR" u="sng" dirty="0">
                <a:solidFill>
                  <a:schemeClr val="accent6"/>
                </a:solidFill>
                <a:cs typeface="Helvetica Neue"/>
              </a:rPr>
              <a:t>duas ou mais modalidades de transporte</a:t>
            </a:r>
            <a:r>
              <a:rPr kumimoji="1" lang="pt-BR" dirty="0">
                <a:solidFill>
                  <a:schemeClr val="accent6"/>
                </a:solidFill>
                <a:cs typeface="Helvetica Neue"/>
              </a:rPr>
              <a:t>, desde a origem até o destino, e é executado sob a responsabilidade única de um </a:t>
            </a:r>
            <a:r>
              <a:rPr kumimoji="1" lang="pt-BR" b="1" dirty="0">
                <a:solidFill>
                  <a:schemeClr val="accent6"/>
                </a:solidFill>
                <a:cs typeface="Helvetica Neue"/>
              </a:rPr>
              <a:t>operador de transporte multimodal</a:t>
            </a:r>
            <a:r>
              <a:rPr kumimoji="1" lang="pt-BR" dirty="0">
                <a:solidFill>
                  <a:schemeClr val="accent6"/>
                </a:solidFill>
                <a:cs typeface="Helvetica Neue"/>
              </a:rPr>
              <a:t> – </a:t>
            </a:r>
            <a:r>
              <a:rPr kumimoji="1" lang="pt-BR" b="1" dirty="0">
                <a:solidFill>
                  <a:schemeClr val="accent6"/>
                </a:solidFill>
                <a:cs typeface="Helvetica Neue"/>
              </a:rPr>
              <a:t>OTM. </a:t>
            </a:r>
            <a:r>
              <a:rPr kumimoji="1" lang="pt-BR" dirty="0">
                <a:solidFill>
                  <a:schemeClr val="accent6"/>
                </a:solidFill>
                <a:cs typeface="Helvetica Neue"/>
              </a:rPr>
              <a:t>(Transporte regulado pela lei nº 9.611, de 19 de fevereiro de 1998.)</a:t>
            </a:r>
          </a:p>
          <a:p>
            <a:pPr algn="just" eaLnBrk="0" hangingPunct="0">
              <a:spcBef>
                <a:spcPts val="600"/>
              </a:spcBef>
            </a:pPr>
            <a:endParaRPr kumimoji="1" lang="pt-BR" dirty="0">
              <a:solidFill>
                <a:schemeClr val="accent6"/>
              </a:solidFill>
              <a:cs typeface="Helvetica Neue"/>
            </a:endParaRPr>
          </a:p>
          <a:p>
            <a:pPr algn="just" eaLnBrk="0" hangingPunct="0">
              <a:spcBef>
                <a:spcPts val="600"/>
              </a:spcBef>
            </a:pPr>
            <a:r>
              <a:rPr kumimoji="1" lang="pt-BR" dirty="0">
                <a:solidFill>
                  <a:schemeClr val="accent6"/>
                </a:solidFill>
                <a:cs typeface="Helvetica Neue"/>
              </a:rPr>
              <a:t>O conhecimento de transporte multimodal de cargas evidencia o contrato de transporte multimodal e rege toda a operação de transporte, desde o recebimento da carga até a sua entrega no destino, podendo ser negociável ou não, a critério do expedidor. </a:t>
            </a:r>
          </a:p>
          <a:p>
            <a:pPr algn="just" eaLnBrk="0" hangingPunct="0">
              <a:spcBef>
                <a:spcPts val="600"/>
              </a:spcBef>
            </a:pPr>
            <a:r>
              <a:rPr kumimoji="1" lang="pt-BR" dirty="0">
                <a:solidFill>
                  <a:schemeClr val="accent6"/>
                </a:solidFill>
                <a:cs typeface="Helvetica Neue"/>
              </a:rPr>
              <a:t>O operador de transporte multimodal é a pessoa jurídica contratada para a realização do transporte multimodal de cargas, da origem até o destino, por meios próprios ou por intermédio de terceiros.</a:t>
            </a:r>
          </a:p>
          <a:p>
            <a:pPr algn="just" eaLnBrk="0" hangingPunct="0">
              <a:spcBef>
                <a:spcPts val="600"/>
              </a:spcBef>
            </a:pPr>
            <a:endParaRPr kumimoji="1" lang="pt-BR" dirty="0">
              <a:solidFill>
                <a:schemeClr val="accent6"/>
              </a:solidFill>
              <a:cs typeface="Helvetica Neue"/>
            </a:endParaRPr>
          </a:p>
          <a:p>
            <a:pPr algn="just" eaLnBrk="0" hangingPunct="0">
              <a:spcBef>
                <a:spcPts val="600"/>
              </a:spcBef>
            </a:pPr>
            <a:r>
              <a:rPr kumimoji="1" lang="pt-BR" dirty="0">
                <a:solidFill>
                  <a:schemeClr val="accent6"/>
                </a:solidFill>
                <a:cs typeface="Helvetica Neue"/>
              </a:rPr>
              <a:t>O transporte multimodal implica o uso de transporte terrestre; a lei nº 10.233/01 dispõe que a </a:t>
            </a:r>
            <a:r>
              <a:rPr kumimoji="1" lang="pt-BR" b="1" dirty="0">
                <a:solidFill>
                  <a:schemeClr val="accent6"/>
                </a:solidFill>
                <a:cs typeface="Helvetica Neue"/>
              </a:rPr>
              <a:t>Agência Nacional de Transportes Terrestres</a:t>
            </a:r>
            <a:r>
              <a:rPr kumimoji="1" lang="pt-BR" dirty="0">
                <a:solidFill>
                  <a:schemeClr val="accent6"/>
                </a:solidFill>
                <a:cs typeface="Helvetica Neue"/>
              </a:rPr>
              <a:t> (ANTT) é a responsável pela habilitação dos OTMs, em articulação com as demais agências e entidades de transporte.</a:t>
            </a:r>
          </a:p>
        </p:txBody>
      </p:sp>
      <p:sp>
        <p:nvSpPr>
          <p:cNvPr id="9" name="TextBox 10"/>
          <p:cNvSpPr txBox="1"/>
          <p:nvPr/>
        </p:nvSpPr>
        <p:spPr>
          <a:xfrm>
            <a:off x="2366360" y="5759746"/>
            <a:ext cx="6854762" cy="584775"/>
          </a:xfrm>
          <a:prstGeom prst="rect">
            <a:avLst/>
          </a:prstGeom>
          <a:noFill/>
        </p:spPr>
        <p:txBody>
          <a:bodyPr wrap="none" rtlCol="0">
            <a:spAutoFit/>
          </a:bodyPr>
          <a:lstStyle/>
          <a:p>
            <a:r>
              <a:rPr lang="pt-BR" sz="1600" b="1" i="1" dirty="0">
                <a:solidFill>
                  <a:schemeClr val="accent6"/>
                </a:solidFill>
              </a:rPr>
              <a:t>OTM habilitados</a:t>
            </a:r>
            <a:r>
              <a:rPr lang="pt-BR" sz="1600" dirty="0">
                <a:solidFill>
                  <a:schemeClr val="accent6"/>
                </a:solidFill>
              </a:rPr>
              <a:t>:</a:t>
            </a:r>
          </a:p>
          <a:p>
            <a:r>
              <a:rPr lang="pt-BR" sz="1600" dirty="0">
                <a:solidFill>
                  <a:schemeClr val="accent6"/>
                </a:solidFill>
                <a:hlinkClick r:id="rId3"/>
              </a:rPr>
              <a:t>www.antt.gov.br/index.php/content/view/4963/Multimodal.html</a:t>
            </a:r>
            <a:r>
              <a:rPr lang="pt-BR" sz="1600" dirty="0">
                <a:solidFill>
                  <a:schemeClr val="accent6"/>
                </a:solidFill>
              </a:rPr>
              <a:t>  </a:t>
            </a:r>
          </a:p>
        </p:txBody>
      </p:sp>
      <p:sp>
        <p:nvSpPr>
          <p:cNvPr id="10" name="Retângulo 9"/>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
        <p:nvSpPr>
          <p:cNvPr id="11" name="Title 1"/>
          <p:cNvSpPr txBox="1">
            <a:spLocks/>
          </p:cNvSpPr>
          <p:nvPr/>
        </p:nvSpPr>
        <p:spPr bwMode="auto">
          <a:xfrm>
            <a:off x="2702982" y="822118"/>
            <a:ext cx="6786036" cy="4005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noAutofit/>
          </a:bodyPr>
          <a:lstStyle>
            <a:lvl1pPr algn="l" defTabSz="449263" rtl="0" eaLnBrk="1" fontAlgn="base" hangingPunct="1">
              <a:spcBef>
                <a:spcPct val="0"/>
              </a:spcBef>
              <a:spcAft>
                <a:spcPct val="0"/>
              </a:spcAft>
              <a:buClr>
                <a:srgbClr val="000000"/>
              </a:buClr>
              <a:buSzPct val="100000"/>
              <a:buFont typeface="Times New Roman" panose="02020603050405020304" pitchFamily="18" charset="0"/>
              <a:defRPr sz="4100" b="1" kern="1200">
                <a:solidFill>
                  <a:srgbClr val="464646"/>
                </a:solidFill>
                <a:latin typeface="+mj-lt"/>
                <a:ea typeface="+mj-ea"/>
                <a:cs typeface="+mj-cs"/>
              </a:defRPr>
            </a:lvl1pPr>
            <a:lvl2pPr marL="742950" indent="-28575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2pPr>
            <a:lvl3pPr marL="1143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3pPr>
            <a:lvl4pPr marL="1600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4pPr>
            <a:lvl5pPr marL="20574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5pPr>
            <a:lvl6pPr marL="25146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6pPr>
            <a:lvl7pPr marL="29718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7pPr>
            <a:lvl8pPr marL="3429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8pPr>
            <a:lvl9pPr marL="3886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9pPr>
          </a:lstStyle>
          <a:p>
            <a:pPr algn="ctr"/>
            <a:r>
              <a:rPr lang="pt-BR" sz="2000" dirty="0">
                <a:solidFill>
                  <a:schemeClr val="accent6"/>
                </a:solidFill>
                <a:latin typeface="+mn-lt"/>
              </a:rPr>
              <a:t>TRANSPORTE MULTIMODAL</a:t>
            </a:r>
          </a:p>
        </p:txBody>
      </p:sp>
    </p:spTree>
    <p:extLst>
      <p:ext uri="{BB962C8B-B14F-4D97-AF65-F5344CB8AC3E}">
        <p14:creationId xmlns:p14="http://schemas.microsoft.com/office/powerpoint/2010/main" val="2433883132"/>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xmlns:p14="http://schemas.microsoft.com/office/powerpoint/2010/mai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1" fill="hold" grpId="0" nodeType="clickEffect">
                                  <p:stCondLst>
                                    <p:cond delay="0"/>
                                  </p:stCondLst>
                                  <p:childTnLst>
                                    <p:set>
                                      <p:cBhvr>
                                        <p:cTn id="13" dur="1" fill="hold">
                                          <p:stCondLst>
                                            <p:cond delay="0"/>
                                          </p:stCondLst>
                                        </p:cTn>
                                        <p:tgtEl>
                                          <p:spTgt spid="6">
                                            <p:txEl>
                                              <p:pRg st="0" end="0"/>
                                            </p:txEl>
                                          </p:spTgt>
                                        </p:tgtEl>
                                        <p:attrNameLst>
                                          <p:attrName>style.visibility</p:attrName>
                                        </p:attrNameLst>
                                      </p:cBhvr>
                                      <p:to>
                                        <p:strVal val="visible"/>
                                      </p:to>
                                    </p:set>
                                    <p:animEffect transition="in" filter="wipe(up)">
                                      <p:cBhvr>
                                        <p:cTn id="14" dur="500"/>
                                        <p:tgtEl>
                                          <p:spTgt spid="6">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Effect transition="in" filter="wipe(up)">
                                      <p:cBhvr>
                                        <p:cTn id="19" dur="500"/>
                                        <p:tgtEl>
                                          <p:spTgt spid="6">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6">
                                            <p:txEl>
                                              <p:pRg st="3" end="3"/>
                                            </p:txEl>
                                          </p:spTgt>
                                        </p:tgtEl>
                                        <p:attrNameLst>
                                          <p:attrName>style.visibility</p:attrName>
                                        </p:attrNameLst>
                                      </p:cBhvr>
                                      <p:to>
                                        <p:strVal val="visible"/>
                                      </p:to>
                                    </p:set>
                                    <p:animEffect transition="in" filter="wipe(up)">
                                      <p:cBhvr>
                                        <p:cTn id="24" dur="500"/>
                                        <p:tgtEl>
                                          <p:spTgt spid="6">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6">
                                            <p:txEl>
                                              <p:pRg st="5" end="5"/>
                                            </p:txEl>
                                          </p:spTgt>
                                        </p:tgtEl>
                                        <p:attrNameLst>
                                          <p:attrName>style.visibility</p:attrName>
                                        </p:attrNameLst>
                                      </p:cBhvr>
                                      <p:to>
                                        <p:strVal val="visible"/>
                                      </p:to>
                                    </p:set>
                                    <p:animEffect transition="in" filter="wipe(up)">
                                      <p:cBhvr>
                                        <p:cTn id="29" dur="500"/>
                                        <p:tgtEl>
                                          <p:spTgt spid="6">
                                            <p:txEl>
                                              <p:pRg st="5" end="5"/>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wipe(down)">
                                      <p:cBhvr>
                                        <p:cTn id="3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9" grpId="0"/>
      <p:bldP spid="11" grpId="0"/>
    </p:bldLst>
  </p:timing>
</p:sld>
</file>

<file path=ppt/slides/slide1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Retângulo 9"/>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
        <p:nvSpPr>
          <p:cNvPr id="2" name="Retângulo 1"/>
          <p:cNvSpPr/>
          <p:nvPr/>
        </p:nvSpPr>
        <p:spPr>
          <a:xfrm>
            <a:off x="3404398" y="3815834"/>
            <a:ext cx="5383205" cy="400110"/>
          </a:xfrm>
          <a:prstGeom prst="rect">
            <a:avLst/>
          </a:prstGeom>
        </p:spPr>
        <p:txBody>
          <a:bodyPr wrap="none">
            <a:spAutoFit/>
          </a:bodyPr>
          <a:lstStyle/>
          <a:p>
            <a:pPr algn="ctr"/>
            <a:r>
              <a:rPr lang="pt-BR" sz="2000" dirty="0">
                <a:solidFill>
                  <a:schemeClr val="accent6"/>
                </a:solidFill>
                <a:hlinkClick r:id="rId3"/>
              </a:rPr>
              <a:t>www.youtube.com/watch?v=-dwqlvkeLMI</a:t>
            </a:r>
            <a:endParaRPr lang="pt-BR" sz="2000" dirty="0">
              <a:solidFill>
                <a:schemeClr val="accent6"/>
              </a:solidFill>
            </a:endParaRPr>
          </a:p>
        </p:txBody>
      </p:sp>
      <p:sp>
        <p:nvSpPr>
          <p:cNvPr id="3" name="Retângulo 2"/>
          <p:cNvSpPr/>
          <p:nvPr/>
        </p:nvSpPr>
        <p:spPr>
          <a:xfrm>
            <a:off x="4140176" y="3123951"/>
            <a:ext cx="3911648" cy="400110"/>
          </a:xfrm>
          <a:prstGeom prst="rect">
            <a:avLst/>
          </a:prstGeom>
        </p:spPr>
        <p:txBody>
          <a:bodyPr wrap="none">
            <a:spAutoFit/>
          </a:bodyPr>
          <a:lstStyle/>
          <a:p>
            <a:r>
              <a:rPr lang="pt-BR" sz="2000" dirty="0">
                <a:solidFill>
                  <a:schemeClr val="accent6"/>
                </a:solidFill>
              </a:rPr>
              <a:t>00:06:42 - </a:t>
            </a:r>
            <a:r>
              <a:rPr lang="pt-BR" sz="2000" b="1" dirty="0">
                <a:solidFill>
                  <a:schemeClr val="accent6"/>
                </a:solidFill>
              </a:rPr>
              <a:t>RAPIDÃO COMETA</a:t>
            </a:r>
            <a:endParaRPr lang="pt-BR" sz="2000" b="1" i="0" dirty="0">
              <a:solidFill>
                <a:schemeClr val="accent6"/>
              </a:solidFill>
              <a:effectLst/>
            </a:endParaRPr>
          </a:p>
        </p:txBody>
      </p:sp>
      <p:sp>
        <p:nvSpPr>
          <p:cNvPr id="6" name="Title 1"/>
          <p:cNvSpPr txBox="1">
            <a:spLocks/>
          </p:cNvSpPr>
          <p:nvPr/>
        </p:nvSpPr>
        <p:spPr bwMode="auto">
          <a:xfrm>
            <a:off x="2702982" y="822118"/>
            <a:ext cx="6786036" cy="4005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noAutofit/>
          </a:bodyPr>
          <a:lstStyle>
            <a:lvl1pPr algn="l" defTabSz="449263" rtl="0" eaLnBrk="1" fontAlgn="base" hangingPunct="1">
              <a:spcBef>
                <a:spcPct val="0"/>
              </a:spcBef>
              <a:spcAft>
                <a:spcPct val="0"/>
              </a:spcAft>
              <a:buClr>
                <a:srgbClr val="000000"/>
              </a:buClr>
              <a:buSzPct val="100000"/>
              <a:buFont typeface="Times New Roman" panose="02020603050405020304" pitchFamily="18" charset="0"/>
              <a:defRPr sz="4100" b="1" kern="1200">
                <a:solidFill>
                  <a:srgbClr val="464646"/>
                </a:solidFill>
                <a:latin typeface="+mj-lt"/>
                <a:ea typeface="+mj-ea"/>
                <a:cs typeface="+mj-cs"/>
              </a:defRPr>
            </a:lvl1pPr>
            <a:lvl2pPr marL="742950" indent="-28575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2pPr>
            <a:lvl3pPr marL="1143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3pPr>
            <a:lvl4pPr marL="1600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4pPr>
            <a:lvl5pPr marL="20574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5pPr>
            <a:lvl6pPr marL="25146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6pPr>
            <a:lvl7pPr marL="29718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7pPr>
            <a:lvl8pPr marL="3429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8pPr>
            <a:lvl9pPr marL="3886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9pPr>
          </a:lstStyle>
          <a:p>
            <a:pPr algn="ctr"/>
            <a:r>
              <a:rPr lang="pt-BR" sz="2000" dirty="0">
                <a:solidFill>
                  <a:schemeClr val="accent6"/>
                </a:solidFill>
                <a:latin typeface="+mn-lt"/>
              </a:rPr>
              <a:t>TRANSPORTE MULTIMODAL</a:t>
            </a:r>
          </a:p>
        </p:txBody>
      </p:sp>
    </p:spTree>
    <p:extLst>
      <p:ext uri="{BB962C8B-B14F-4D97-AF65-F5344CB8AC3E}">
        <p14:creationId xmlns:p14="http://schemas.microsoft.com/office/powerpoint/2010/main" val="4115735203"/>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xmlns:p14="http://schemas.microsoft.com/office/powerpoint/2010/mai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Rectangle 6"/>
          <p:cNvSpPr/>
          <p:nvPr/>
        </p:nvSpPr>
        <p:spPr>
          <a:xfrm>
            <a:off x="2832096" y="1554945"/>
            <a:ext cx="6527803" cy="369332"/>
          </a:xfrm>
          <a:prstGeom prst="rect">
            <a:avLst/>
          </a:prstGeom>
        </p:spPr>
        <p:txBody>
          <a:bodyPr wrap="square">
            <a:spAutoFit/>
          </a:bodyPr>
          <a:lstStyle/>
          <a:p>
            <a:pPr algn="ctr" eaLnBrk="0" hangingPunct="0">
              <a:buClr>
                <a:srgbClr val="FF6600"/>
              </a:buClr>
              <a:buSzPct val="150000"/>
            </a:pPr>
            <a:r>
              <a:rPr kumimoji="1" lang="pt-BR" b="1" dirty="0">
                <a:solidFill>
                  <a:schemeClr val="accent6"/>
                </a:solidFill>
                <a:cs typeface="Helvetica Neue"/>
              </a:rPr>
              <a:t>CARACTERÍSTICAS DO TRANSPORTE MULTIMODAL</a:t>
            </a:r>
            <a:endParaRPr kumimoji="1" lang="en-US" b="1" dirty="0">
              <a:solidFill>
                <a:schemeClr val="accent6"/>
              </a:solidFill>
              <a:cs typeface="Helvetica Neue"/>
            </a:endParaRPr>
          </a:p>
        </p:txBody>
      </p:sp>
      <p:pic>
        <p:nvPicPr>
          <p:cNvPr id="8" name="Picture 7" descr="ThinkstockPhotos-513180179.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05408" y="604944"/>
            <a:ext cx="2519295" cy="2519295"/>
          </a:xfrm>
          <a:prstGeom prst="rect">
            <a:avLst/>
          </a:prstGeom>
        </p:spPr>
      </p:pic>
      <p:sp>
        <p:nvSpPr>
          <p:cNvPr id="9" name="TextBox 8"/>
          <p:cNvSpPr txBox="1"/>
          <p:nvPr/>
        </p:nvSpPr>
        <p:spPr>
          <a:xfrm>
            <a:off x="278109" y="2133394"/>
            <a:ext cx="11635781" cy="3600986"/>
          </a:xfrm>
          <a:prstGeom prst="rect">
            <a:avLst/>
          </a:prstGeom>
          <a:noFill/>
        </p:spPr>
        <p:txBody>
          <a:bodyPr wrap="square" rtlCol="0">
            <a:spAutoFit/>
          </a:bodyPr>
          <a:lstStyle/>
          <a:p>
            <a:pPr marL="285750" indent="-285750" algn="just">
              <a:spcBef>
                <a:spcPts val="600"/>
              </a:spcBef>
              <a:buFont typeface="Courier New" panose="02070309020205020404" pitchFamily="49" charset="0"/>
              <a:buChar char="o"/>
            </a:pPr>
            <a:r>
              <a:rPr lang="pt-BR" dirty="0">
                <a:solidFill>
                  <a:schemeClr val="accent6"/>
                </a:solidFill>
                <a:cs typeface="Helvetica Neue"/>
              </a:rPr>
              <a:t>Melhor utilização da capacidade disponível da matriz de transporte;</a:t>
            </a:r>
          </a:p>
          <a:p>
            <a:pPr marL="285750" indent="-285750" algn="just">
              <a:spcBef>
                <a:spcPts val="600"/>
              </a:spcBef>
              <a:buFont typeface="Courier New" panose="02070309020205020404" pitchFamily="49" charset="0"/>
              <a:buChar char="o"/>
            </a:pPr>
            <a:r>
              <a:rPr lang="pt-BR" dirty="0">
                <a:solidFill>
                  <a:schemeClr val="accent6"/>
                </a:solidFill>
                <a:cs typeface="Helvetica Neue"/>
              </a:rPr>
              <a:t>Utilização de combinações de modais mais eficientes energeticamente;</a:t>
            </a:r>
          </a:p>
          <a:p>
            <a:pPr marL="285750" indent="-285750" algn="just">
              <a:spcBef>
                <a:spcPts val="600"/>
              </a:spcBef>
              <a:buFont typeface="Courier New" panose="02070309020205020404" pitchFamily="49" charset="0"/>
              <a:buChar char="o"/>
            </a:pPr>
            <a:r>
              <a:rPr lang="pt-BR" dirty="0">
                <a:solidFill>
                  <a:schemeClr val="accent6"/>
                </a:solidFill>
                <a:cs typeface="Helvetica Neue"/>
              </a:rPr>
              <a:t>Melhor utilização da tecnologia de informação;</a:t>
            </a:r>
          </a:p>
          <a:p>
            <a:pPr marL="285750" indent="-285750" algn="just">
              <a:spcBef>
                <a:spcPts val="600"/>
              </a:spcBef>
              <a:buFont typeface="Courier New" panose="02070309020205020404" pitchFamily="49" charset="0"/>
              <a:buChar char="o"/>
            </a:pPr>
            <a:r>
              <a:rPr lang="pt-BR" dirty="0">
                <a:solidFill>
                  <a:schemeClr val="accent6"/>
                </a:solidFill>
                <a:cs typeface="Helvetica Neue"/>
              </a:rPr>
              <a:t>Ganhos no processo, considerando todas as operações entre origem e destino, já que no serviço porta a porta o OTM pode agregar valor oferecendo serviços adicionais;</a:t>
            </a:r>
          </a:p>
          <a:p>
            <a:pPr marL="285750" indent="-285750" algn="just">
              <a:spcBef>
                <a:spcPts val="600"/>
              </a:spcBef>
              <a:buFont typeface="Courier New" panose="02070309020205020404" pitchFamily="49" charset="0"/>
              <a:buChar char="o"/>
            </a:pPr>
            <a:r>
              <a:rPr lang="pt-BR" dirty="0">
                <a:solidFill>
                  <a:schemeClr val="accent6"/>
                </a:solidFill>
                <a:cs typeface="Helvetica Neue"/>
              </a:rPr>
              <a:t>Melhor utilização da infraestrutura para as atividades de apoio, tais como armazenagem e manuseio; </a:t>
            </a:r>
          </a:p>
          <a:p>
            <a:pPr marL="285750" indent="-285750" algn="just">
              <a:spcBef>
                <a:spcPts val="600"/>
              </a:spcBef>
              <a:buFont typeface="Courier New" panose="02070309020205020404" pitchFamily="49" charset="0"/>
              <a:buChar char="o"/>
            </a:pPr>
            <a:r>
              <a:rPr lang="pt-BR" dirty="0">
                <a:solidFill>
                  <a:schemeClr val="accent6"/>
                </a:solidFill>
                <a:cs typeface="Helvetica Neue"/>
              </a:rPr>
              <a:t>A responsabilidade da carga, perante o cliente, entre origem e destino, é de apenas uma empresa, o </a:t>
            </a:r>
            <a:r>
              <a:rPr lang="pt-BR" b="1" dirty="0">
                <a:solidFill>
                  <a:schemeClr val="accent6"/>
                </a:solidFill>
                <a:cs typeface="Helvetica Neue"/>
              </a:rPr>
              <a:t>OTM</a:t>
            </a:r>
            <a:r>
              <a:rPr lang="pt-BR" dirty="0">
                <a:solidFill>
                  <a:schemeClr val="accent6"/>
                </a:solidFill>
                <a:cs typeface="Helvetica Neue"/>
              </a:rPr>
              <a:t>;</a:t>
            </a:r>
          </a:p>
          <a:p>
            <a:pPr marL="285750" indent="-285750" algn="just">
              <a:spcBef>
                <a:spcPts val="600"/>
              </a:spcBef>
              <a:buFont typeface="Courier New" panose="02070309020205020404" pitchFamily="49" charset="0"/>
              <a:buChar char="o"/>
            </a:pPr>
            <a:r>
              <a:rPr lang="pt-BR" dirty="0">
                <a:solidFill>
                  <a:schemeClr val="accent6"/>
                </a:solidFill>
                <a:cs typeface="Helvetica Neue"/>
              </a:rPr>
              <a:t>No Brasil, temos 480 empresas (460 nacionais e 20 internacionais) habilitadas a operarem como OTM pela ANTT (dados de maio/2015).</a:t>
            </a:r>
          </a:p>
        </p:txBody>
      </p:sp>
      <p:sp>
        <p:nvSpPr>
          <p:cNvPr id="10" name="TextBox 7"/>
          <p:cNvSpPr txBox="1"/>
          <p:nvPr/>
        </p:nvSpPr>
        <p:spPr>
          <a:xfrm>
            <a:off x="938462" y="5734380"/>
            <a:ext cx="10315073" cy="400110"/>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rtlCol="0">
            <a:spAutoFit/>
          </a:bodyPr>
          <a:lstStyle/>
          <a:p>
            <a:pPr algn="ctr"/>
            <a:r>
              <a:rPr lang="pt-BR" sz="2000" b="1" dirty="0">
                <a:solidFill>
                  <a:srgbClr val="FF0000"/>
                </a:solidFill>
              </a:rPr>
              <a:t>QUAL A VANTAGEM DE UTILIZAR UM OPERADOR LOGÍSTICO MULTIMODAL (OTM) ?</a:t>
            </a:r>
          </a:p>
        </p:txBody>
      </p:sp>
      <p:sp>
        <p:nvSpPr>
          <p:cNvPr id="11" name="Retângulo 10"/>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
        <p:nvSpPr>
          <p:cNvPr id="12" name="Title 1"/>
          <p:cNvSpPr txBox="1">
            <a:spLocks/>
          </p:cNvSpPr>
          <p:nvPr/>
        </p:nvSpPr>
        <p:spPr bwMode="auto">
          <a:xfrm>
            <a:off x="2702982" y="822118"/>
            <a:ext cx="6786036" cy="4005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noAutofit/>
          </a:bodyPr>
          <a:lstStyle>
            <a:lvl1pPr algn="l" defTabSz="449263" rtl="0" eaLnBrk="1" fontAlgn="base" hangingPunct="1">
              <a:spcBef>
                <a:spcPct val="0"/>
              </a:spcBef>
              <a:spcAft>
                <a:spcPct val="0"/>
              </a:spcAft>
              <a:buClr>
                <a:srgbClr val="000000"/>
              </a:buClr>
              <a:buSzPct val="100000"/>
              <a:buFont typeface="Times New Roman" panose="02020603050405020304" pitchFamily="18" charset="0"/>
              <a:defRPr sz="4100" b="1" kern="1200">
                <a:solidFill>
                  <a:srgbClr val="464646"/>
                </a:solidFill>
                <a:latin typeface="+mj-lt"/>
                <a:ea typeface="+mj-ea"/>
                <a:cs typeface="+mj-cs"/>
              </a:defRPr>
            </a:lvl1pPr>
            <a:lvl2pPr marL="742950" indent="-28575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2pPr>
            <a:lvl3pPr marL="1143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3pPr>
            <a:lvl4pPr marL="1600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4pPr>
            <a:lvl5pPr marL="20574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5pPr>
            <a:lvl6pPr marL="25146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6pPr>
            <a:lvl7pPr marL="29718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7pPr>
            <a:lvl8pPr marL="3429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8pPr>
            <a:lvl9pPr marL="3886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9pPr>
          </a:lstStyle>
          <a:p>
            <a:pPr algn="ctr"/>
            <a:r>
              <a:rPr lang="pt-BR" sz="2000" dirty="0">
                <a:solidFill>
                  <a:schemeClr val="accent6"/>
                </a:solidFill>
                <a:latin typeface="+mn-lt"/>
              </a:rPr>
              <a:t>TRANSPORTE MULTIMODAL</a:t>
            </a:r>
          </a:p>
        </p:txBody>
      </p:sp>
    </p:spTree>
    <p:extLst>
      <p:ext uri="{BB962C8B-B14F-4D97-AF65-F5344CB8AC3E}">
        <p14:creationId xmlns:p14="http://schemas.microsoft.com/office/powerpoint/2010/main" val="3778578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1000"/>
                                        <p:tgtEl>
                                          <p:spTgt spid="8"/>
                                        </p:tgtEl>
                                      </p:cBhvr>
                                    </p:animEffect>
                                    <p:anim calcmode="lin" valueType="num">
                                      <p:cBhvr>
                                        <p:cTn id="20" dur="1000" fill="hold"/>
                                        <p:tgtEl>
                                          <p:spTgt spid="8"/>
                                        </p:tgtEl>
                                        <p:attrNameLst>
                                          <p:attrName>ppt_x</p:attrName>
                                        </p:attrNameLst>
                                      </p:cBhvr>
                                      <p:tavLst>
                                        <p:tav tm="0">
                                          <p:val>
                                            <p:strVal val="#ppt_x"/>
                                          </p:val>
                                        </p:tav>
                                        <p:tav tm="100000">
                                          <p:val>
                                            <p:strVal val="#ppt_x"/>
                                          </p:val>
                                        </p:tav>
                                      </p:tavLst>
                                    </p:anim>
                                    <p:anim calcmode="lin" valueType="num">
                                      <p:cBhvr>
                                        <p:cTn id="21"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9">
                                            <p:txEl>
                                              <p:pRg st="0" end="0"/>
                                            </p:txEl>
                                          </p:spTgt>
                                        </p:tgtEl>
                                        <p:attrNameLst>
                                          <p:attrName>style.visibility</p:attrName>
                                        </p:attrNameLst>
                                      </p:cBhvr>
                                      <p:to>
                                        <p:strVal val="visible"/>
                                      </p:to>
                                    </p:set>
                                    <p:animEffect transition="in" filter="wipe(down)">
                                      <p:cBhvr>
                                        <p:cTn id="26" dur="500"/>
                                        <p:tgtEl>
                                          <p:spTgt spid="9">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9">
                                            <p:txEl>
                                              <p:pRg st="1" end="1"/>
                                            </p:txEl>
                                          </p:spTgt>
                                        </p:tgtEl>
                                        <p:attrNameLst>
                                          <p:attrName>style.visibility</p:attrName>
                                        </p:attrNameLst>
                                      </p:cBhvr>
                                      <p:to>
                                        <p:strVal val="visible"/>
                                      </p:to>
                                    </p:set>
                                    <p:animEffect transition="in" filter="wipe(down)">
                                      <p:cBhvr>
                                        <p:cTn id="31" dur="500"/>
                                        <p:tgtEl>
                                          <p:spTgt spid="9">
                                            <p:txEl>
                                              <p:pRg st="1" end="1"/>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9">
                                            <p:txEl>
                                              <p:pRg st="2" end="2"/>
                                            </p:txEl>
                                          </p:spTgt>
                                        </p:tgtEl>
                                        <p:attrNameLst>
                                          <p:attrName>style.visibility</p:attrName>
                                        </p:attrNameLst>
                                      </p:cBhvr>
                                      <p:to>
                                        <p:strVal val="visible"/>
                                      </p:to>
                                    </p:set>
                                    <p:animEffect transition="in" filter="wipe(down)">
                                      <p:cBhvr>
                                        <p:cTn id="36" dur="500"/>
                                        <p:tgtEl>
                                          <p:spTgt spid="9">
                                            <p:txEl>
                                              <p:pRg st="2" end="2"/>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grpId="0" nodeType="clickEffect">
                                  <p:stCondLst>
                                    <p:cond delay="0"/>
                                  </p:stCondLst>
                                  <p:childTnLst>
                                    <p:set>
                                      <p:cBhvr>
                                        <p:cTn id="40" dur="1" fill="hold">
                                          <p:stCondLst>
                                            <p:cond delay="0"/>
                                          </p:stCondLst>
                                        </p:cTn>
                                        <p:tgtEl>
                                          <p:spTgt spid="9">
                                            <p:txEl>
                                              <p:pRg st="3" end="3"/>
                                            </p:txEl>
                                          </p:spTgt>
                                        </p:tgtEl>
                                        <p:attrNameLst>
                                          <p:attrName>style.visibility</p:attrName>
                                        </p:attrNameLst>
                                      </p:cBhvr>
                                      <p:to>
                                        <p:strVal val="visible"/>
                                      </p:to>
                                    </p:set>
                                    <p:animEffect transition="in" filter="wipe(down)">
                                      <p:cBhvr>
                                        <p:cTn id="41" dur="500"/>
                                        <p:tgtEl>
                                          <p:spTgt spid="9">
                                            <p:txEl>
                                              <p:pRg st="3" end="3"/>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9">
                                            <p:txEl>
                                              <p:pRg st="4" end="4"/>
                                            </p:txEl>
                                          </p:spTgt>
                                        </p:tgtEl>
                                        <p:attrNameLst>
                                          <p:attrName>style.visibility</p:attrName>
                                        </p:attrNameLst>
                                      </p:cBhvr>
                                      <p:to>
                                        <p:strVal val="visible"/>
                                      </p:to>
                                    </p:set>
                                    <p:animEffect transition="in" filter="wipe(down)">
                                      <p:cBhvr>
                                        <p:cTn id="46" dur="500"/>
                                        <p:tgtEl>
                                          <p:spTgt spid="9">
                                            <p:txEl>
                                              <p:pRg st="4" end="4"/>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grpId="0" nodeType="clickEffect">
                                  <p:stCondLst>
                                    <p:cond delay="0"/>
                                  </p:stCondLst>
                                  <p:childTnLst>
                                    <p:set>
                                      <p:cBhvr>
                                        <p:cTn id="50" dur="1" fill="hold">
                                          <p:stCondLst>
                                            <p:cond delay="0"/>
                                          </p:stCondLst>
                                        </p:cTn>
                                        <p:tgtEl>
                                          <p:spTgt spid="9">
                                            <p:txEl>
                                              <p:pRg st="5" end="5"/>
                                            </p:txEl>
                                          </p:spTgt>
                                        </p:tgtEl>
                                        <p:attrNameLst>
                                          <p:attrName>style.visibility</p:attrName>
                                        </p:attrNameLst>
                                      </p:cBhvr>
                                      <p:to>
                                        <p:strVal val="visible"/>
                                      </p:to>
                                    </p:set>
                                    <p:animEffect transition="in" filter="wipe(down)">
                                      <p:cBhvr>
                                        <p:cTn id="51" dur="500"/>
                                        <p:tgtEl>
                                          <p:spTgt spid="9">
                                            <p:txEl>
                                              <p:pRg st="5" end="5"/>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4" fill="hold" grpId="0" nodeType="clickEffect">
                                  <p:stCondLst>
                                    <p:cond delay="0"/>
                                  </p:stCondLst>
                                  <p:childTnLst>
                                    <p:set>
                                      <p:cBhvr>
                                        <p:cTn id="55" dur="1" fill="hold">
                                          <p:stCondLst>
                                            <p:cond delay="0"/>
                                          </p:stCondLst>
                                        </p:cTn>
                                        <p:tgtEl>
                                          <p:spTgt spid="9">
                                            <p:txEl>
                                              <p:pRg st="6" end="6"/>
                                            </p:txEl>
                                          </p:spTgt>
                                        </p:tgtEl>
                                        <p:attrNameLst>
                                          <p:attrName>style.visibility</p:attrName>
                                        </p:attrNameLst>
                                      </p:cBhvr>
                                      <p:to>
                                        <p:strVal val="visible"/>
                                      </p:to>
                                    </p:set>
                                    <p:animEffect transition="in" filter="wipe(down)">
                                      <p:cBhvr>
                                        <p:cTn id="56" dur="500"/>
                                        <p:tgtEl>
                                          <p:spTgt spid="9">
                                            <p:txEl>
                                              <p:pRg st="6" end="6"/>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4" fill="hold" grpId="0" nodeType="clickEffect">
                                  <p:stCondLst>
                                    <p:cond delay="0"/>
                                  </p:stCondLst>
                                  <p:childTnLst>
                                    <p:set>
                                      <p:cBhvr>
                                        <p:cTn id="60" dur="1" fill="hold">
                                          <p:stCondLst>
                                            <p:cond delay="0"/>
                                          </p:stCondLst>
                                        </p:cTn>
                                        <p:tgtEl>
                                          <p:spTgt spid="10"/>
                                        </p:tgtEl>
                                        <p:attrNameLst>
                                          <p:attrName>style.visibility</p:attrName>
                                        </p:attrNameLst>
                                      </p:cBhvr>
                                      <p:to>
                                        <p:strVal val="visible"/>
                                      </p:to>
                                    </p:set>
                                    <p:animEffect transition="in" filter="wipe(down)">
                                      <p:cBhvr>
                                        <p:cTn id="6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build="p"/>
      <p:bldP spid="10" grpId="0"/>
      <p:bldP spid="12" grpId="0"/>
    </p:bldLst>
  </p:timing>
</p:sld>
</file>

<file path=ppt/slides/slide1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Retângulo 6"/>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
        <p:nvSpPr>
          <p:cNvPr id="2" name="Retângulo 1"/>
          <p:cNvSpPr/>
          <p:nvPr/>
        </p:nvSpPr>
        <p:spPr>
          <a:xfrm>
            <a:off x="4166626" y="1441830"/>
            <a:ext cx="3858749" cy="461665"/>
          </a:xfrm>
          <a:prstGeom prst="rect">
            <a:avLst/>
          </a:prstGeom>
        </p:spPr>
        <p:txBody>
          <a:bodyPr wrap="none">
            <a:spAutoFit/>
          </a:bodyPr>
          <a:lstStyle/>
          <a:p>
            <a:r>
              <a:rPr lang="pt-BR" sz="2400" b="1" dirty="0">
                <a:solidFill>
                  <a:srgbClr val="FF0000"/>
                </a:solidFill>
              </a:rPr>
              <a:t>ATIVIDADE (INDIVIDUAL)</a:t>
            </a:r>
          </a:p>
        </p:txBody>
      </p:sp>
      <p:pic>
        <p:nvPicPr>
          <p:cNvPr id="11" name="Picture 7" descr="ThinkstockPhotos-475383667 (1).jpg"/>
          <p:cNvPicPr>
            <a:picLocks noChangeAspect="1"/>
          </p:cNvPicPr>
          <p:nvPr/>
        </p:nvPicPr>
        <p:blipFill rotWithShape="1">
          <a:blip r:embed="rId3">
            <a:extLst>
              <a:ext uri="{BEBA8EAE-BF5A-486C-A8C5-ECC9F3942E4B}">
                <a14:imgProps xmlns:a14="http://schemas.microsoft.com/office/drawing/2010/main">
                  <a14:imgLayer r:embed="rId4">
                    <a14:imgEffect>
                      <a14:sharpenSoften amount="24000"/>
                    </a14:imgEffect>
                    <a14:imgEffect>
                      <a14:brightnessContrast bright="3000" contrast="1000"/>
                    </a14:imgEffect>
                  </a14:imgLayer>
                </a14:imgProps>
              </a:ext>
              <a:ext uri="{28A0092B-C50C-407E-A947-70E740481C1C}">
                <a14:useLocalDpi xmlns:a14="http://schemas.microsoft.com/office/drawing/2010/main" val="0"/>
              </a:ext>
            </a:extLst>
          </a:blip>
          <a:srcRect l="10540" r="6409"/>
          <a:stretch/>
        </p:blipFill>
        <p:spPr>
          <a:xfrm>
            <a:off x="9577755" y="306285"/>
            <a:ext cx="1839186" cy="1757805"/>
          </a:xfrm>
          <a:prstGeom prst="rect">
            <a:avLst/>
          </a:prstGeom>
        </p:spPr>
      </p:pic>
      <p:sp>
        <p:nvSpPr>
          <p:cNvPr id="4" name="Retângulo 3"/>
          <p:cNvSpPr/>
          <p:nvPr/>
        </p:nvSpPr>
        <p:spPr>
          <a:xfrm>
            <a:off x="882699" y="2985734"/>
            <a:ext cx="10426602" cy="830997"/>
          </a:xfrm>
          <a:prstGeom prst="rect">
            <a:avLst/>
          </a:prstGeom>
        </p:spPr>
        <p:txBody>
          <a:bodyPr wrap="square">
            <a:spAutoFit/>
          </a:bodyPr>
          <a:lstStyle/>
          <a:p>
            <a:pPr marL="285750" indent="-285750" algn="just">
              <a:buFont typeface="Wingdings" panose="05000000000000000000" pitchFamily="2" charset="2"/>
              <a:buChar char="v"/>
            </a:pPr>
            <a:r>
              <a:rPr lang="pt-BR" sz="1600" dirty="0">
                <a:solidFill>
                  <a:schemeClr val="accent6"/>
                </a:solidFill>
              </a:rPr>
              <a:t> </a:t>
            </a:r>
            <a:r>
              <a:rPr lang="pt-BR" sz="1600" b="1" dirty="0">
                <a:solidFill>
                  <a:schemeClr val="accent6"/>
                </a:solidFill>
              </a:rPr>
              <a:t>Caso 1</a:t>
            </a:r>
            <a:r>
              <a:rPr lang="pt-BR" sz="1600" dirty="0">
                <a:solidFill>
                  <a:schemeClr val="accent6"/>
                </a:solidFill>
              </a:rPr>
              <a:t>: Transporte de joias – SP a BH.</a:t>
            </a:r>
          </a:p>
          <a:p>
            <a:pPr algn="just"/>
            <a:r>
              <a:rPr lang="pt-BR" sz="1600" dirty="0">
                <a:solidFill>
                  <a:schemeClr val="accent6"/>
                </a:solidFill>
              </a:rPr>
              <a:t>A distância entre São Paulo e a cidade de Belo Horizonte é aproximadamente 600 km. Essas cidades estão interligadas por rodovias, ferrovias e aeroportos. </a:t>
            </a:r>
          </a:p>
        </p:txBody>
      </p:sp>
      <p:sp>
        <p:nvSpPr>
          <p:cNvPr id="5" name="Retângulo 4"/>
          <p:cNvSpPr/>
          <p:nvPr/>
        </p:nvSpPr>
        <p:spPr>
          <a:xfrm>
            <a:off x="882699" y="4135471"/>
            <a:ext cx="10426602" cy="830997"/>
          </a:xfrm>
          <a:prstGeom prst="rect">
            <a:avLst/>
          </a:prstGeom>
        </p:spPr>
        <p:txBody>
          <a:bodyPr wrap="square">
            <a:spAutoFit/>
          </a:bodyPr>
          <a:lstStyle/>
          <a:p>
            <a:pPr marL="285750" indent="-285750" algn="just">
              <a:buFont typeface="Wingdings" panose="05000000000000000000" pitchFamily="2" charset="2"/>
              <a:buChar char="v"/>
            </a:pPr>
            <a:r>
              <a:rPr lang="pt-BR" sz="1600" dirty="0">
                <a:solidFill>
                  <a:schemeClr val="accent6"/>
                </a:solidFill>
              </a:rPr>
              <a:t> </a:t>
            </a:r>
            <a:r>
              <a:rPr lang="pt-BR" sz="1600" b="1" dirty="0">
                <a:solidFill>
                  <a:schemeClr val="accent6"/>
                </a:solidFill>
              </a:rPr>
              <a:t>Caso 2</a:t>
            </a:r>
            <a:r>
              <a:rPr lang="pt-BR" sz="1600" dirty="0">
                <a:solidFill>
                  <a:schemeClr val="accent6"/>
                </a:solidFill>
              </a:rPr>
              <a:t>: Transporte de minérios – interior de MG até o porto de Tubarão.</a:t>
            </a:r>
          </a:p>
          <a:p>
            <a:pPr algn="just"/>
            <a:r>
              <a:rPr lang="pt-BR" sz="1600" dirty="0">
                <a:solidFill>
                  <a:schemeClr val="accent6"/>
                </a:solidFill>
              </a:rPr>
              <a:t>A distância entre Conselheiro Lafaiete e o porto da cidade de Vitória no Espírito Santo é aproximadamente 500 km. Essas cidades estão interligadas por rodovias e ferrovias.  </a:t>
            </a:r>
          </a:p>
        </p:txBody>
      </p:sp>
      <p:sp>
        <p:nvSpPr>
          <p:cNvPr id="6" name="Retângulo 5"/>
          <p:cNvSpPr/>
          <p:nvPr/>
        </p:nvSpPr>
        <p:spPr>
          <a:xfrm>
            <a:off x="882699" y="5285208"/>
            <a:ext cx="10426602" cy="830997"/>
          </a:xfrm>
          <a:prstGeom prst="rect">
            <a:avLst/>
          </a:prstGeom>
        </p:spPr>
        <p:txBody>
          <a:bodyPr wrap="square">
            <a:spAutoFit/>
          </a:bodyPr>
          <a:lstStyle/>
          <a:p>
            <a:pPr marL="285750" indent="-285750" algn="just">
              <a:buFont typeface="Wingdings" panose="05000000000000000000" pitchFamily="2" charset="2"/>
              <a:buChar char="v"/>
            </a:pPr>
            <a:r>
              <a:rPr lang="pt-BR" sz="1600" dirty="0">
                <a:solidFill>
                  <a:schemeClr val="accent6"/>
                </a:solidFill>
              </a:rPr>
              <a:t> </a:t>
            </a:r>
            <a:r>
              <a:rPr lang="pt-BR" sz="1600" b="1" dirty="0">
                <a:solidFill>
                  <a:schemeClr val="accent6"/>
                </a:solidFill>
              </a:rPr>
              <a:t>Caso 3</a:t>
            </a:r>
            <a:r>
              <a:rPr lang="pt-BR" sz="1600" dirty="0">
                <a:solidFill>
                  <a:schemeClr val="accent6"/>
                </a:solidFill>
              </a:rPr>
              <a:t>: Transporte de frutas – Mogi das Cruzes-SP.</a:t>
            </a:r>
          </a:p>
          <a:p>
            <a:pPr algn="just"/>
            <a:r>
              <a:rPr lang="pt-BR" sz="1600" dirty="0">
                <a:solidFill>
                  <a:schemeClr val="accent6"/>
                </a:solidFill>
              </a:rPr>
              <a:t>A distância entre Mogi das Cruzes e São Paulo é aproximadamente 65 km em um trajeto quase totalmente urbano. Essas cidades estão interligadas por rodovias e ferrovias. </a:t>
            </a:r>
          </a:p>
        </p:txBody>
      </p:sp>
      <p:sp>
        <p:nvSpPr>
          <p:cNvPr id="14" name="Retângulo 13"/>
          <p:cNvSpPr/>
          <p:nvPr/>
        </p:nvSpPr>
        <p:spPr>
          <a:xfrm>
            <a:off x="2070650" y="2101410"/>
            <a:ext cx="8050701" cy="646331"/>
          </a:xfrm>
          <a:prstGeom prst="rect">
            <a:avLst/>
          </a:prstGeom>
        </p:spPr>
        <p:txBody>
          <a:bodyPr wrap="square">
            <a:spAutoFit/>
          </a:bodyPr>
          <a:lstStyle/>
          <a:p>
            <a:pPr algn="just"/>
            <a:r>
              <a:rPr lang="pt-BR" b="1" dirty="0">
                <a:solidFill>
                  <a:schemeClr val="accent6"/>
                </a:solidFill>
              </a:rPr>
              <a:t>QUAL O PRINCIPAL MODAL DE TRANSPORTE A SER UTILIZADO, DE ACORDO COM OS LOCAIS DE ORIGEM E DESTINO E O TIPO DE CARGA ?</a:t>
            </a:r>
          </a:p>
        </p:txBody>
      </p:sp>
      <p:sp>
        <p:nvSpPr>
          <p:cNvPr id="10" name="Title 1"/>
          <p:cNvSpPr txBox="1">
            <a:spLocks/>
          </p:cNvSpPr>
          <p:nvPr/>
        </p:nvSpPr>
        <p:spPr>
          <a:xfrm>
            <a:off x="2702982" y="822118"/>
            <a:ext cx="6786036" cy="400532"/>
          </a:xfrm>
          <a:prstGeom prst="rect">
            <a:avLst/>
          </a:prstGeom>
        </p:spPr>
        <p:txBody>
          <a:bodyPr>
            <a:noAutofit/>
          </a:bodyPr>
          <a:lstStyle>
            <a:lvl1pPr algn="l" defTabSz="449263" rtl="0" eaLnBrk="1" fontAlgn="base" hangingPunct="1">
              <a:spcBef>
                <a:spcPct val="0"/>
              </a:spcBef>
              <a:spcAft>
                <a:spcPct val="0"/>
              </a:spcAft>
              <a:buClr>
                <a:srgbClr val="000000"/>
              </a:buClr>
              <a:buSzPct val="100000"/>
              <a:buFont typeface="Times New Roman" panose="02020603050405020304" pitchFamily="18" charset="0"/>
              <a:defRPr sz="4100" b="1" kern="1200">
                <a:solidFill>
                  <a:srgbClr val="464646"/>
                </a:solidFill>
                <a:latin typeface="+mj-lt"/>
                <a:ea typeface="+mj-ea"/>
                <a:cs typeface="+mj-cs"/>
              </a:defRPr>
            </a:lvl1pPr>
            <a:lvl2pPr marL="742950" indent="-28575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2pPr>
            <a:lvl3pPr marL="1143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3pPr>
            <a:lvl4pPr marL="1600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4pPr>
            <a:lvl5pPr marL="20574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5pPr>
            <a:lvl6pPr marL="25146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6pPr>
            <a:lvl7pPr marL="29718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7pPr>
            <a:lvl8pPr marL="3429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8pPr>
            <a:lvl9pPr marL="3886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9pPr>
          </a:lstStyle>
          <a:p>
            <a:pPr algn="ctr"/>
            <a:r>
              <a:rPr lang="pt-BR" sz="2000" dirty="0">
                <a:solidFill>
                  <a:schemeClr val="accent6"/>
                </a:solidFill>
                <a:latin typeface="+mn-lt"/>
              </a:rPr>
              <a:t>TRANSPORTE DE CARGAS</a:t>
            </a:r>
          </a:p>
        </p:txBody>
      </p:sp>
    </p:spTree>
    <p:extLst>
      <p:ext uri="{BB962C8B-B14F-4D97-AF65-F5344CB8AC3E}">
        <p14:creationId xmlns:p14="http://schemas.microsoft.com/office/powerpoint/2010/main" val="376123053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xmlns:p14="http://schemas.microsoft.com/office/powerpoint/2010/mai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down)">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barn(inVertical)">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1000"/>
                                        <p:tgtEl>
                                          <p:spTgt spid="4"/>
                                        </p:tgtEl>
                                      </p:cBhvr>
                                    </p:animEffect>
                                    <p:anim calcmode="lin" valueType="num">
                                      <p:cBhvr>
                                        <p:cTn id="23" dur="1000" fill="hold"/>
                                        <p:tgtEl>
                                          <p:spTgt spid="4"/>
                                        </p:tgtEl>
                                        <p:attrNameLst>
                                          <p:attrName>ppt_x</p:attrName>
                                        </p:attrNameLst>
                                      </p:cBhvr>
                                      <p:tavLst>
                                        <p:tav tm="0">
                                          <p:val>
                                            <p:strVal val="#ppt_x"/>
                                          </p:val>
                                        </p:tav>
                                        <p:tav tm="100000">
                                          <p:val>
                                            <p:strVal val="#ppt_x"/>
                                          </p:val>
                                        </p:tav>
                                      </p:tavLst>
                                    </p:anim>
                                    <p:anim calcmode="lin" valueType="num">
                                      <p:cBhvr>
                                        <p:cTn id="24" dur="1000" fill="hold"/>
                                        <p:tgtEl>
                                          <p:spTgt spid="4"/>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1000"/>
                                        <p:tgtEl>
                                          <p:spTgt spid="5"/>
                                        </p:tgtEl>
                                      </p:cBhvr>
                                    </p:animEffect>
                                    <p:anim calcmode="lin" valueType="num">
                                      <p:cBhvr>
                                        <p:cTn id="28" dur="1000" fill="hold"/>
                                        <p:tgtEl>
                                          <p:spTgt spid="5"/>
                                        </p:tgtEl>
                                        <p:attrNameLst>
                                          <p:attrName>ppt_x</p:attrName>
                                        </p:attrNameLst>
                                      </p:cBhvr>
                                      <p:tavLst>
                                        <p:tav tm="0">
                                          <p:val>
                                            <p:strVal val="#ppt_x"/>
                                          </p:val>
                                        </p:tav>
                                        <p:tav tm="100000">
                                          <p:val>
                                            <p:strVal val="#ppt_x"/>
                                          </p:val>
                                        </p:tav>
                                      </p:tavLst>
                                    </p:anim>
                                    <p:anim calcmode="lin" valueType="num">
                                      <p:cBhvr>
                                        <p:cTn id="29" dur="1000" fill="hold"/>
                                        <p:tgtEl>
                                          <p:spTgt spid="5"/>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1000"/>
                                        <p:tgtEl>
                                          <p:spTgt spid="6"/>
                                        </p:tgtEl>
                                      </p:cBhvr>
                                    </p:animEffect>
                                    <p:anim calcmode="lin" valueType="num">
                                      <p:cBhvr>
                                        <p:cTn id="33" dur="1000" fill="hold"/>
                                        <p:tgtEl>
                                          <p:spTgt spid="6"/>
                                        </p:tgtEl>
                                        <p:attrNameLst>
                                          <p:attrName>ppt_x</p:attrName>
                                        </p:attrNameLst>
                                      </p:cBhvr>
                                      <p:tavLst>
                                        <p:tav tm="0">
                                          <p:val>
                                            <p:strVal val="#ppt_x"/>
                                          </p:val>
                                        </p:tav>
                                        <p:tav tm="100000">
                                          <p:val>
                                            <p:strVal val="#ppt_x"/>
                                          </p:val>
                                        </p:tav>
                                      </p:tavLst>
                                    </p:anim>
                                    <p:anim calcmode="lin" valueType="num">
                                      <p:cBhvr>
                                        <p:cTn id="3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6" grpId="0"/>
      <p:bldP spid="14" grpId="0"/>
    </p:bldLst>
  </p:timing>
</p:sld>
</file>

<file path=ppt/slides/slide1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Retângulo 6"/>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
        <p:nvSpPr>
          <p:cNvPr id="2" name="Retângulo 1"/>
          <p:cNvSpPr/>
          <p:nvPr/>
        </p:nvSpPr>
        <p:spPr>
          <a:xfrm>
            <a:off x="4166626" y="1441830"/>
            <a:ext cx="3858749" cy="461665"/>
          </a:xfrm>
          <a:prstGeom prst="rect">
            <a:avLst/>
          </a:prstGeom>
        </p:spPr>
        <p:txBody>
          <a:bodyPr wrap="none">
            <a:spAutoFit/>
          </a:bodyPr>
          <a:lstStyle/>
          <a:p>
            <a:r>
              <a:rPr lang="pt-BR" sz="2400" b="1" dirty="0">
                <a:solidFill>
                  <a:srgbClr val="FF0000"/>
                </a:solidFill>
              </a:rPr>
              <a:t>ATIVIDADE (INDIVIDUAL)</a:t>
            </a:r>
          </a:p>
        </p:txBody>
      </p:sp>
      <p:sp>
        <p:nvSpPr>
          <p:cNvPr id="10" name="Retângulo 9"/>
          <p:cNvSpPr/>
          <p:nvPr/>
        </p:nvSpPr>
        <p:spPr>
          <a:xfrm>
            <a:off x="882699" y="2900526"/>
            <a:ext cx="10426602" cy="1077218"/>
          </a:xfrm>
          <a:prstGeom prst="rect">
            <a:avLst/>
          </a:prstGeom>
        </p:spPr>
        <p:txBody>
          <a:bodyPr wrap="square">
            <a:spAutoFit/>
          </a:bodyPr>
          <a:lstStyle/>
          <a:p>
            <a:pPr marL="285750" indent="-285750" algn="just">
              <a:buFont typeface="Wingdings" panose="05000000000000000000" pitchFamily="2" charset="2"/>
              <a:buChar char="v"/>
            </a:pPr>
            <a:r>
              <a:rPr lang="pt-BR" sz="1600" b="1" dirty="0">
                <a:solidFill>
                  <a:schemeClr val="accent6"/>
                </a:solidFill>
              </a:rPr>
              <a:t>Caso 4</a:t>
            </a:r>
            <a:r>
              <a:rPr lang="pt-BR" sz="1600" dirty="0">
                <a:solidFill>
                  <a:schemeClr val="accent6"/>
                </a:solidFill>
              </a:rPr>
              <a:t>: Transporte de gás da Bolívia a Paulínia.</a:t>
            </a:r>
          </a:p>
          <a:p>
            <a:pPr algn="just"/>
            <a:r>
              <a:rPr lang="pt-BR" sz="1600" dirty="0">
                <a:solidFill>
                  <a:schemeClr val="accent6"/>
                </a:solidFill>
              </a:rPr>
              <a:t>A distância entre Santa Cruz de La </a:t>
            </a:r>
            <a:r>
              <a:rPr lang="pt-BR" sz="1600" dirty="0" err="1">
                <a:solidFill>
                  <a:schemeClr val="accent6"/>
                </a:solidFill>
              </a:rPr>
              <a:t>Sierra</a:t>
            </a:r>
            <a:r>
              <a:rPr lang="pt-BR" sz="1600" dirty="0">
                <a:solidFill>
                  <a:schemeClr val="accent6"/>
                </a:solidFill>
              </a:rPr>
              <a:t> – Bolívia e a cidade de Paulínia no Estado de São Paulo é aproximadamente de 2.600 km. Essas cidades estão interligadas por rodovias e </a:t>
            </a:r>
            <a:r>
              <a:rPr lang="pt-BR" sz="1600" dirty="0" err="1">
                <a:solidFill>
                  <a:schemeClr val="accent6"/>
                </a:solidFill>
              </a:rPr>
              <a:t>dutovias</a:t>
            </a:r>
            <a:r>
              <a:rPr lang="pt-BR" sz="1600" dirty="0">
                <a:solidFill>
                  <a:schemeClr val="accent6"/>
                </a:solidFill>
              </a:rPr>
              <a:t>. O volume transportado pode atingir 30 milhões de m3/dia. </a:t>
            </a:r>
          </a:p>
        </p:txBody>
      </p:sp>
      <p:sp>
        <p:nvSpPr>
          <p:cNvPr id="12" name="Retângulo 11"/>
          <p:cNvSpPr/>
          <p:nvPr/>
        </p:nvSpPr>
        <p:spPr>
          <a:xfrm>
            <a:off x="882699" y="4193158"/>
            <a:ext cx="10426602" cy="830997"/>
          </a:xfrm>
          <a:prstGeom prst="rect">
            <a:avLst/>
          </a:prstGeom>
        </p:spPr>
        <p:txBody>
          <a:bodyPr wrap="square">
            <a:spAutoFit/>
          </a:bodyPr>
          <a:lstStyle/>
          <a:p>
            <a:pPr algn="just">
              <a:buFont typeface="Wingdings" panose="05000000000000000000" pitchFamily="2" charset="2"/>
              <a:buChar char="v"/>
            </a:pPr>
            <a:r>
              <a:rPr lang="pt-BR" sz="1600" b="1" dirty="0">
                <a:solidFill>
                  <a:schemeClr val="accent6"/>
                </a:solidFill>
              </a:rPr>
              <a:t>Caso 5</a:t>
            </a:r>
            <a:r>
              <a:rPr lang="pt-BR" sz="1600" dirty="0">
                <a:solidFill>
                  <a:schemeClr val="accent6"/>
                </a:solidFill>
              </a:rPr>
              <a:t>: Transporte de alimentos embalados de um armazém atacadista na cidade de SP para vários supermercados da mesma cidade.</a:t>
            </a:r>
          </a:p>
          <a:p>
            <a:pPr algn="just"/>
            <a:r>
              <a:rPr lang="pt-BR" sz="1600" dirty="0">
                <a:solidFill>
                  <a:schemeClr val="accent6"/>
                </a:solidFill>
              </a:rPr>
              <a:t>As mercadorias são transportadas diariamente, visando abastecer uma rede de supermercados. </a:t>
            </a:r>
          </a:p>
        </p:txBody>
      </p:sp>
      <p:sp>
        <p:nvSpPr>
          <p:cNvPr id="13" name="Retângulo 12"/>
          <p:cNvSpPr/>
          <p:nvPr/>
        </p:nvSpPr>
        <p:spPr>
          <a:xfrm>
            <a:off x="882699" y="5239569"/>
            <a:ext cx="10426602" cy="830997"/>
          </a:xfrm>
          <a:prstGeom prst="rect">
            <a:avLst/>
          </a:prstGeom>
        </p:spPr>
        <p:txBody>
          <a:bodyPr wrap="square">
            <a:spAutoFit/>
          </a:bodyPr>
          <a:lstStyle/>
          <a:p>
            <a:pPr marL="285750" indent="-285750" algn="just">
              <a:buFont typeface="Wingdings" panose="05000000000000000000" pitchFamily="2" charset="2"/>
              <a:buChar char="v"/>
            </a:pPr>
            <a:r>
              <a:rPr lang="pt-BR" sz="1600" b="1" dirty="0">
                <a:solidFill>
                  <a:schemeClr val="accent6"/>
                </a:solidFill>
              </a:rPr>
              <a:t>Caso 6</a:t>
            </a:r>
            <a:r>
              <a:rPr lang="pt-BR" sz="1600" dirty="0">
                <a:solidFill>
                  <a:schemeClr val="accent6"/>
                </a:solidFill>
              </a:rPr>
              <a:t>: Transporte de congelados de Santa Catarina para o RJ.</a:t>
            </a:r>
          </a:p>
          <a:p>
            <a:pPr algn="just"/>
            <a:r>
              <a:rPr lang="pt-BR" sz="1600" dirty="0">
                <a:solidFill>
                  <a:schemeClr val="accent6"/>
                </a:solidFill>
              </a:rPr>
              <a:t>A distância entre Florianópolis e o Rio de Janeiro é aproximadamente 700 km. Essas cidades estão interligadas por rodovias, aeroportos e portos marítimos. </a:t>
            </a:r>
          </a:p>
        </p:txBody>
      </p:sp>
      <p:pic>
        <p:nvPicPr>
          <p:cNvPr id="14" name="Picture 7" descr="ThinkstockPhotos-475383667 (1).jpg"/>
          <p:cNvPicPr>
            <a:picLocks noChangeAspect="1"/>
          </p:cNvPicPr>
          <p:nvPr/>
        </p:nvPicPr>
        <p:blipFill rotWithShape="1">
          <a:blip r:embed="rId3">
            <a:extLst>
              <a:ext uri="{BEBA8EAE-BF5A-486C-A8C5-ECC9F3942E4B}">
                <a14:imgProps xmlns:a14="http://schemas.microsoft.com/office/drawing/2010/main">
                  <a14:imgLayer r:embed="rId4">
                    <a14:imgEffect>
                      <a14:sharpenSoften amount="24000"/>
                    </a14:imgEffect>
                    <a14:imgEffect>
                      <a14:brightnessContrast bright="3000" contrast="1000"/>
                    </a14:imgEffect>
                  </a14:imgLayer>
                </a14:imgProps>
              </a:ext>
              <a:ext uri="{28A0092B-C50C-407E-A947-70E740481C1C}">
                <a14:useLocalDpi xmlns:a14="http://schemas.microsoft.com/office/drawing/2010/main" val="0"/>
              </a:ext>
            </a:extLst>
          </a:blip>
          <a:srcRect l="10540" r="6409"/>
          <a:stretch/>
        </p:blipFill>
        <p:spPr>
          <a:xfrm>
            <a:off x="9577755" y="306285"/>
            <a:ext cx="1839186" cy="1757805"/>
          </a:xfrm>
          <a:prstGeom prst="rect">
            <a:avLst/>
          </a:prstGeom>
        </p:spPr>
      </p:pic>
      <p:sp>
        <p:nvSpPr>
          <p:cNvPr id="16" name="Title 1"/>
          <p:cNvSpPr txBox="1">
            <a:spLocks/>
          </p:cNvSpPr>
          <p:nvPr/>
        </p:nvSpPr>
        <p:spPr>
          <a:xfrm>
            <a:off x="2702982" y="822118"/>
            <a:ext cx="6786036" cy="400532"/>
          </a:xfrm>
          <a:prstGeom prst="rect">
            <a:avLst/>
          </a:prstGeom>
        </p:spPr>
        <p:txBody>
          <a:bodyPr>
            <a:noAutofit/>
          </a:bodyPr>
          <a:lstStyle>
            <a:lvl1pPr algn="l" defTabSz="449263" rtl="0" eaLnBrk="1" fontAlgn="base" hangingPunct="1">
              <a:spcBef>
                <a:spcPct val="0"/>
              </a:spcBef>
              <a:spcAft>
                <a:spcPct val="0"/>
              </a:spcAft>
              <a:buClr>
                <a:srgbClr val="000000"/>
              </a:buClr>
              <a:buSzPct val="100000"/>
              <a:buFont typeface="Times New Roman" panose="02020603050405020304" pitchFamily="18" charset="0"/>
              <a:defRPr sz="4100" b="1" kern="1200">
                <a:solidFill>
                  <a:srgbClr val="464646"/>
                </a:solidFill>
                <a:latin typeface="+mj-lt"/>
                <a:ea typeface="+mj-ea"/>
                <a:cs typeface="+mj-cs"/>
              </a:defRPr>
            </a:lvl1pPr>
            <a:lvl2pPr marL="742950" indent="-28575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2pPr>
            <a:lvl3pPr marL="1143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3pPr>
            <a:lvl4pPr marL="1600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4pPr>
            <a:lvl5pPr marL="20574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5pPr>
            <a:lvl6pPr marL="25146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6pPr>
            <a:lvl7pPr marL="29718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7pPr>
            <a:lvl8pPr marL="3429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8pPr>
            <a:lvl9pPr marL="3886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9pPr>
          </a:lstStyle>
          <a:p>
            <a:pPr algn="ctr"/>
            <a:r>
              <a:rPr lang="pt-BR" sz="2000" dirty="0">
                <a:solidFill>
                  <a:schemeClr val="accent6"/>
                </a:solidFill>
                <a:latin typeface="+mn-lt"/>
              </a:rPr>
              <a:t>TRANSPORTE DE CARGAS</a:t>
            </a:r>
          </a:p>
        </p:txBody>
      </p:sp>
      <p:sp>
        <p:nvSpPr>
          <p:cNvPr id="11" name="Retângulo 10"/>
          <p:cNvSpPr/>
          <p:nvPr/>
        </p:nvSpPr>
        <p:spPr>
          <a:xfrm>
            <a:off x="2074042" y="2101410"/>
            <a:ext cx="8043917" cy="646331"/>
          </a:xfrm>
          <a:prstGeom prst="rect">
            <a:avLst/>
          </a:prstGeom>
        </p:spPr>
        <p:txBody>
          <a:bodyPr wrap="square">
            <a:spAutoFit/>
          </a:bodyPr>
          <a:lstStyle/>
          <a:p>
            <a:pPr algn="just"/>
            <a:r>
              <a:rPr lang="pt-BR" b="1" dirty="0">
                <a:solidFill>
                  <a:schemeClr val="accent6"/>
                </a:solidFill>
              </a:rPr>
              <a:t>QUAL O PRINCIPAL MODAL DE TRANSPORTE A SER UTILIZADO, DE ACORDO COM OS LOCAIS DE ORIGEM E DESTINO E O TIPO DE CARGA ?</a:t>
            </a:r>
          </a:p>
        </p:txBody>
      </p:sp>
    </p:spTree>
    <p:extLst>
      <p:ext uri="{BB962C8B-B14F-4D97-AF65-F5344CB8AC3E}">
        <p14:creationId xmlns:p14="http://schemas.microsoft.com/office/powerpoint/2010/main" val="4179763081"/>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xmlns:p14="http://schemas.microsoft.com/office/powerpoint/2010/mai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1000"/>
                                        <p:tgtEl>
                                          <p:spTgt spid="13"/>
                                        </p:tgtEl>
                                      </p:cBhvr>
                                    </p:animEffect>
                                    <p:anim calcmode="lin" valueType="num">
                                      <p:cBhvr>
                                        <p:cTn id="18" dur="1000" fill="hold"/>
                                        <p:tgtEl>
                                          <p:spTgt spid="13"/>
                                        </p:tgtEl>
                                        <p:attrNameLst>
                                          <p:attrName>ppt_x</p:attrName>
                                        </p:attrNameLst>
                                      </p:cBhvr>
                                      <p:tavLst>
                                        <p:tav tm="0">
                                          <p:val>
                                            <p:strVal val="#ppt_x"/>
                                          </p:val>
                                        </p:tav>
                                        <p:tav tm="100000">
                                          <p:val>
                                            <p:strVal val="#ppt_x"/>
                                          </p:val>
                                        </p:tav>
                                      </p:tavLst>
                                    </p:anim>
                                    <p:anim calcmode="lin" valueType="num">
                                      <p:cBhvr>
                                        <p:cTn id="1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13" grpId="0"/>
    </p:bldLst>
  </p:timing>
</p:sld>
</file>

<file path=ppt/slides/slide1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Retângulo 6"/>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
        <p:nvSpPr>
          <p:cNvPr id="2" name="Retângulo 1"/>
          <p:cNvSpPr/>
          <p:nvPr/>
        </p:nvSpPr>
        <p:spPr>
          <a:xfrm>
            <a:off x="4166626" y="1441830"/>
            <a:ext cx="3858749" cy="461665"/>
          </a:xfrm>
          <a:prstGeom prst="rect">
            <a:avLst/>
          </a:prstGeom>
        </p:spPr>
        <p:txBody>
          <a:bodyPr wrap="none">
            <a:spAutoFit/>
          </a:bodyPr>
          <a:lstStyle/>
          <a:p>
            <a:r>
              <a:rPr lang="pt-BR" sz="2400" b="1" dirty="0">
                <a:solidFill>
                  <a:srgbClr val="FF0000"/>
                </a:solidFill>
              </a:rPr>
              <a:t>ATIVIDADE (INDIVIDUAL)</a:t>
            </a:r>
            <a:endParaRPr lang="pt-BR" sz="2400" dirty="0"/>
          </a:p>
        </p:txBody>
      </p:sp>
      <p:pic>
        <p:nvPicPr>
          <p:cNvPr id="11" name="Picture 7" descr="ThinkstockPhotos-475383667 (1).jpg"/>
          <p:cNvPicPr>
            <a:picLocks noChangeAspect="1"/>
          </p:cNvPicPr>
          <p:nvPr/>
        </p:nvPicPr>
        <p:blipFill rotWithShape="1">
          <a:blip r:embed="rId3">
            <a:extLst>
              <a:ext uri="{BEBA8EAE-BF5A-486C-A8C5-ECC9F3942E4B}">
                <a14:imgProps xmlns:a14="http://schemas.microsoft.com/office/drawing/2010/main">
                  <a14:imgLayer r:embed="rId4">
                    <a14:imgEffect>
                      <a14:sharpenSoften amount="24000"/>
                    </a14:imgEffect>
                    <a14:imgEffect>
                      <a14:brightnessContrast bright="3000" contrast="1000"/>
                    </a14:imgEffect>
                  </a14:imgLayer>
                </a14:imgProps>
              </a:ext>
              <a:ext uri="{28A0092B-C50C-407E-A947-70E740481C1C}">
                <a14:useLocalDpi xmlns:a14="http://schemas.microsoft.com/office/drawing/2010/main" val="0"/>
              </a:ext>
            </a:extLst>
          </a:blip>
          <a:srcRect l="10540" r="6409"/>
          <a:stretch/>
        </p:blipFill>
        <p:spPr>
          <a:xfrm>
            <a:off x="9859009" y="573805"/>
            <a:ext cx="1435101" cy="1371600"/>
          </a:xfrm>
          <a:prstGeom prst="rect">
            <a:avLst/>
          </a:prstGeom>
        </p:spPr>
      </p:pic>
      <p:sp>
        <p:nvSpPr>
          <p:cNvPr id="3" name="Retângulo 2"/>
          <p:cNvSpPr/>
          <p:nvPr/>
        </p:nvSpPr>
        <p:spPr>
          <a:xfrm>
            <a:off x="1157117" y="2082453"/>
            <a:ext cx="9877767" cy="923330"/>
          </a:xfrm>
          <a:prstGeom prst="rect">
            <a:avLst/>
          </a:prstGeom>
        </p:spPr>
        <p:txBody>
          <a:bodyPr wrap="square">
            <a:spAutoFit/>
          </a:bodyPr>
          <a:lstStyle/>
          <a:p>
            <a:pPr algn="just" fontAlgn="b"/>
            <a:r>
              <a:rPr lang="pt-BR" b="1" dirty="0">
                <a:solidFill>
                  <a:schemeClr val="accent6"/>
                </a:solidFill>
              </a:rPr>
              <a:t>INDICAR OS MODAIS MAIS UTILIZADOS (CUSTO X BENEFÍCIO) E OS MODAIS QUE TAMBÉM </a:t>
            </a:r>
            <a:r>
              <a:rPr lang="pt-BR" b="1" i="1" dirty="0">
                <a:solidFill>
                  <a:schemeClr val="accent6"/>
                </a:solidFill>
              </a:rPr>
              <a:t>PODERÃO</a:t>
            </a:r>
            <a:r>
              <a:rPr lang="pt-BR" b="1" dirty="0">
                <a:solidFill>
                  <a:schemeClr val="accent6"/>
                </a:solidFill>
              </a:rPr>
              <a:t> SER UTILIZADOS, </a:t>
            </a:r>
            <a:r>
              <a:rPr lang="pt-BR" b="1" i="1" dirty="0">
                <a:solidFill>
                  <a:schemeClr val="accent6"/>
                </a:solidFill>
              </a:rPr>
              <a:t>NO CASO DE ESCASSEZ DE RECURSOS DOS MAIS UTILIZADOS</a:t>
            </a:r>
            <a:r>
              <a:rPr lang="pt-BR" b="1" dirty="0">
                <a:solidFill>
                  <a:schemeClr val="accent6"/>
                </a:solidFill>
              </a:rPr>
              <a:t>.</a:t>
            </a:r>
          </a:p>
        </p:txBody>
      </p:sp>
      <p:sp>
        <p:nvSpPr>
          <p:cNvPr id="8" name="Retângulo 7"/>
          <p:cNvSpPr/>
          <p:nvPr/>
        </p:nvSpPr>
        <p:spPr>
          <a:xfrm>
            <a:off x="1157117" y="3233536"/>
            <a:ext cx="9877767" cy="2677656"/>
          </a:xfrm>
          <a:prstGeom prst="rect">
            <a:avLst/>
          </a:prstGeom>
        </p:spPr>
        <p:txBody>
          <a:bodyPr wrap="square">
            <a:spAutoFit/>
          </a:bodyPr>
          <a:lstStyle/>
          <a:p>
            <a:pPr marL="342900" indent="-342900" algn="just" fontAlgn="b">
              <a:lnSpc>
                <a:spcPct val="150000"/>
              </a:lnSpc>
              <a:buAutoNum type="alphaLcParenR"/>
            </a:pPr>
            <a:r>
              <a:rPr lang="pt-BR" sz="1600" dirty="0">
                <a:solidFill>
                  <a:schemeClr val="accent6"/>
                </a:solidFill>
              </a:rPr>
              <a:t>Minério de ferro; Origem: Carajás (Pará); Destino: China;</a:t>
            </a:r>
          </a:p>
          <a:p>
            <a:pPr marL="342900" indent="-342900" algn="just" fontAlgn="b">
              <a:lnSpc>
                <a:spcPct val="150000"/>
              </a:lnSpc>
              <a:buAutoNum type="alphaLcParenR"/>
            </a:pPr>
            <a:r>
              <a:rPr lang="pt-BR" sz="1600" dirty="0">
                <a:solidFill>
                  <a:schemeClr val="accent6"/>
                </a:solidFill>
              </a:rPr>
              <a:t>Soja; Origem: Centro Oeste/Brasil; Destino: Europa;</a:t>
            </a:r>
          </a:p>
          <a:p>
            <a:pPr marL="342900" indent="-342900" algn="just" fontAlgn="b">
              <a:lnSpc>
                <a:spcPct val="150000"/>
              </a:lnSpc>
              <a:buAutoNum type="alphaLcParenR"/>
            </a:pPr>
            <a:r>
              <a:rPr lang="pt-BR" sz="1600" dirty="0">
                <a:solidFill>
                  <a:schemeClr val="accent6"/>
                </a:solidFill>
              </a:rPr>
              <a:t>Componentes eletrônicos (commodities): Origem: China; Destino: Manaus;</a:t>
            </a:r>
          </a:p>
          <a:p>
            <a:pPr marL="342900" indent="-342900" algn="just" fontAlgn="b">
              <a:lnSpc>
                <a:spcPct val="150000"/>
              </a:lnSpc>
              <a:buAutoNum type="alphaLcParenR"/>
            </a:pPr>
            <a:r>
              <a:rPr lang="pt-BR" sz="1600" dirty="0">
                <a:solidFill>
                  <a:schemeClr val="accent6"/>
                </a:solidFill>
              </a:rPr>
              <a:t>Memórias e microprocessadores (alto valor/unidade): Origem: Taiwan; Destino: São Paulo;</a:t>
            </a:r>
          </a:p>
          <a:p>
            <a:pPr marL="342900" indent="-342900" algn="just" fontAlgn="b">
              <a:lnSpc>
                <a:spcPct val="150000"/>
              </a:lnSpc>
              <a:buAutoNum type="alphaLcParenR"/>
            </a:pPr>
            <a:r>
              <a:rPr lang="pt-BR" sz="1600" dirty="0">
                <a:solidFill>
                  <a:schemeClr val="accent6"/>
                </a:solidFill>
              </a:rPr>
              <a:t>Gás: Origem: Bolívia; Destino: São Paulo;</a:t>
            </a:r>
          </a:p>
          <a:p>
            <a:pPr marL="342900" indent="-342900" algn="just" fontAlgn="b">
              <a:lnSpc>
                <a:spcPct val="150000"/>
              </a:lnSpc>
              <a:buAutoNum type="alphaLcParenR"/>
            </a:pPr>
            <a:r>
              <a:rPr lang="pt-BR" sz="1600" dirty="0">
                <a:solidFill>
                  <a:schemeClr val="accent6"/>
                </a:solidFill>
              </a:rPr>
              <a:t>Água (granel); Origem: São Paulo; Destino: Guarujá;</a:t>
            </a:r>
          </a:p>
          <a:p>
            <a:pPr marL="342900" indent="-342900" algn="just" fontAlgn="b">
              <a:lnSpc>
                <a:spcPct val="150000"/>
              </a:lnSpc>
              <a:buAutoNum type="alphaLcParenR"/>
            </a:pPr>
            <a:r>
              <a:rPr lang="pt-BR" sz="1600" dirty="0">
                <a:solidFill>
                  <a:schemeClr val="accent6"/>
                </a:solidFill>
              </a:rPr>
              <a:t>Suco de laranja (commodities): Origem: São Paulo; Destino: EUA.</a:t>
            </a:r>
          </a:p>
        </p:txBody>
      </p:sp>
      <p:sp>
        <p:nvSpPr>
          <p:cNvPr id="10" name="Title 1"/>
          <p:cNvSpPr txBox="1">
            <a:spLocks/>
          </p:cNvSpPr>
          <p:nvPr/>
        </p:nvSpPr>
        <p:spPr>
          <a:xfrm>
            <a:off x="2702982" y="822118"/>
            <a:ext cx="6786036" cy="400532"/>
          </a:xfrm>
          <a:prstGeom prst="rect">
            <a:avLst/>
          </a:prstGeom>
        </p:spPr>
        <p:txBody>
          <a:bodyPr>
            <a:noAutofit/>
          </a:bodyPr>
          <a:lstStyle>
            <a:lvl1pPr algn="l" defTabSz="449263" rtl="0" eaLnBrk="1" fontAlgn="base" hangingPunct="1">
              <a:spcBef>
                <a:spcPct val="0"/>
              </a:spcBef>
              <a:spcAft>
                <a:spcPct val="0"/>
              </a:spcAft>
              <a:buClr>
                <a:srgbClr val="000000"/>
              </a:buClr>
              <a:buSzPct val="100000"/>
              <a:buFont typeface="Times New Roman" panose="02020603050405020304" pitchFamily="18" charset="0"/>
              <a:defRPr sz="4100" b="1" kern="1200">
                <a:solidFill>
                  <a:srgbClr val="464646"/>
                </a:solidFill>
                <a:latin typeface="+mj-lt"/>
                <a:ea typeface="+mj-ea"/>
                <a:cs typeface="+mj-cs"/>
              </a:defRPr>
            </a:lvl1pPr>
            <a:lvl2pPr marL="742950" indent="-28575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2pPr>
            <a:lvl3pPr marL="1143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3pPr>
            <a:lvl4pPr marL="1600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4pPr>
            <a:lvl5pPr marL="20574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5pPr>
            <a:lvl6pPr marL="25146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6pPr>
            <a:lvl7pPr marL="29718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7pPr>
            <a:lvl8pPr marL="3429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8pPr>
            <a:lvl9pPr marL="3886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9pPr>
          </a:lstStyle>
          <a:p>
            <a:pPr algn="ctr"/>
            <a:r>
              <a:rPr lang="pt-BR" sz="2000" dirty="0">
                <a:solidFill>
                  <a:schemeClr val="accent6"/>
                </a:solidFill>
                <a:latin typeface="+mn-lt"/>
              </a:rPr>
              <a:t>TRANSPORTE DE CARGAS</a:t>
            </a:r>
          </a:p>
        </p:txBody>
      </p:sp>
    </p:spTree>
    <p:extLst>
      <p:ext uri="{BB962C8B-B14F-4D97-AF65-F5344CB8AC3E}">
        <p14:creationId xmlns:p14="http://schemas.microsoft.com/office/powerpoint/2010/main" val="3291660904"/>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xmlns:p14="http://schemas.microsoft.com/office/powerpoint/2010/mai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down)">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arn(inVertical)">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1000"/>
                                        <p:tgtEl>
                                          <p:spTgt spid="8"/>
                                        </p:tgtEl>
                                      </p:cBhvr>
                                    </p:animEffect>
                                    <p:anim calcmode="lin" valueType="num">
                                      <p:cBhvr>
                                        <p:cTn id="23" dur="1000" fill="hold"/>
                                        <p:tgtEl>
                                          <p:spTgt spid="8"/>
                                        </p:tgtEl>
                                        <p:attrNameLst>
                                          <p:attrName>ppt_x</p:attrName>
                                        </p:attrNameLst>
                                      </p:cBhvr>
                                      <p:tavLst>
                                        <p:tav tm="0">
                                          <p:val>
                                            <p:strVal val="#ppt_x"/>
                                          </p:val>
                                        </p:tav>
                                        <p:tav tm="100000">
                                          <p:val>
                                            <p:strVal val="#ppt_x"/>
                                          </p:val>
                                        </p:tav>
                                      </p:tavLst>
                                    </p:anim>
                                    <p:anim calcmode="lin" valueType="num">
                                      <p:cBhvr>
                                        <p:cTn id="2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8" grpId="0"/>
    </p:bldLst>
  </p:timing>
</p:sld>
</file>

<file path=ppt/slides/slide1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Imagem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62668" y="196426"/>
            <a:ext cx="9793012" cy="6311053"/>
          </a:xfrm>
          <a:prstGeom prst="rect">
            <a:avLst/>
          </a:prstGeom>
        </p:spPr>
      </p:pic>
    </p:spTree>
    <p:extLst>
      <p:ext uri="{BB962C8B-B14F-4D97-AF65-F5344CB8AC3E}">
        <p14:creationId xmlns:p14="http://schemas.microsoft.com/office/powerpoint/2010/main" val="3019082346"/>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Picture 7" descr="ThinkstockPhotos-475383667 (1).jpg"/>
          <p:cNvPicPr>
            <a:picLocks noChangeAspect="1"/>
          </p:cNvPicPr>
          <p:nvPr/>
        </p:nvPicPr>
        <p:blipFill rotWithShape="1">
          <a:blip r:embed="rId3">
            <a:extLst>
              <a:ext uri="{BEBA8EAE-BF5A-486C-A8C5-ECC9F3942E4B}">
                <a14:imgProps xmlns:a14="http://schemas.microsoft.com/office/drawing/2010/main">
                  <a14:imgLayer r:embed="rId4">
                    <a14:imgEffect>
                      <a14:sharpenSoften amount="24000"/>
                    </a14:imgEffect>
                    <a14:imgEffect>
                      <a14:brightnessContrast bright="3000" contrast="1000"/>
                    </a14:imgEffect>
                  </a14:imgLayer>
                </a14:imgProps>
              </a:ext>
              <a:ext uri="{28A0092B-C50C-407E-A947-70E740481C1C}">
                <a14:useLocalDpi xmlns:a14="http://schemas.microsoft.com/office/drawing/2010/main" val="0"/>
              </a:ext>
            </a:extLst>
          </a:blip>
          <a:srcRect l="10540" r="6409"/>
          <a:stretch/>
        </p:blipFill>
        <p:spPr>
          <a:xfrm>
            <a:off x="9859009" y="573805"/>
            <a:ext cx="1435101" cy="1371600"/>
          </a:xfrm>
          <a:prstGeom prst="rect">
            <a:avLst/>
          </a:prstGeom>
        </p:spPr>
      </p:pic>
      <p:sp>
        <p:nvSpPr>
          <p:cNvPr id="7" name="Retângulo 6"/>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
        <p:nvSpPr>
          <p:cNvPr id="9" name="Title 1"/>
          <p:cNvSpPr txBox="1">
            <a:spLocks/>
          </p:cNvSpPr>
          <p:nvPr/>
        </p:nvSpPr>
        <p:spPr bwMode="auto">
          <a:xfrm>
            <a:off x="2702982" y="822118"/>
            <a:ext cx="6786036" cy="4005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noAutofit/>
          </a:bodyPr>
          <a:lstStyle>
            <a:lvl1pPr algn="l" defTabSz="449263" rtl="0" eaLnBrk="1" fontAlgn="base" hangingPunct="1">
              <a:spcBef>
                <a:spcPct val="0"/>
              </a:spcBef>
              <a:spcAft>
                <a:spcPct val="0"/>
              </a:spcAft>
              <a:buClr>
                <a:srgbClr val="000000"/>
              </a:buClr>
              <a:buSzPct val="100000"/>
              <a:buFont typeface="Times New Roman" panose="02020603050405020304" pitchFamily="18" charset="0"/>
              <a:defRPr sz="4100" b="1" kern="1200">
                <a:solidFill>
                  <a:srgbClr val="464646"/>
                </a:solidFill>
                <a:latin typeface="+mj-lt"/>
                <a:ea typeface="+mj-ea"/>
                <a:cs typeface="+mj-cs"/>
              </a:defRPr>
            </a:lvl1pPr>
            <a:lvl2pPr marL="742950" indent="-28575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2pPr>
            <a:lvl3pPr marL="1143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3pPr>
            <a:lvl4pPr marL="1600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4pPr>
            <a:lvl5pPr marL="20574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5pPr>
            <a:lvl6pPr marL="25146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6pPr>
            <a:lvl7pPr marL="29718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7pPr>
            <a:lvl8pPr marL="3429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8pPr>
            <a:lvl9pPr marL="3886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9pPr>
          </a:lstStyle>
          <a:p>
            <a:pPr algn="ctr"/>
            <a:r>
              <a:rPr lang="pt-BR" sz="2000">
                <a:solidFill>
                  <a:schemeClr val="accent6"/>
                </a:solidFill>
                <a:latin typeface="+mn-lt"/>
              </a:rPr>
              <a:t>MODAIS DE TRANSPORTE</a:t>
            </a:r>
            <a:endParaRPr lang="pt-BR" sz="2000" dirty="0">
              <a:solidFill>
                <a:schemeClr val="accent6"/>
              </a:solidFill>
              <a:latin typeface="+mn-lt"/>
            </a:endParaRPr>
          </a:p>
        </p:txBody>
      </p:sp>
      <p:sp>
        <p:nvSpPr>
          <p:cNvPr id="3" name="Retângulo 2"/>
          <p:cNvSpPr/>
          <p:nvPr/>
        </p:nvSpPr>
        <p:spPr>
          <a:xfrm>
            <a:off x="1218220" y="1662147"/>
            <a:ext cx="9755560" cy="2862322"/>
          </a:xfrm>
          <a:prstGeom prst="rect">
            <a:avLst/>
          </a:prstGeom>
        </p:spPr>
        <p:txBody>
          <a:bodyPr wrap="square">
            <a:spAutoFit/>
          </a:bodyPr>
          <a:lstStyle/>
          <a:p>
            <a:pPr algn="just" fontAlgn="b"/>
            <a:r>
              <a:rPr lang="pt-BR" b="1" dirty="0">
                <a:solidFill>
                  <a:schemeClr val="accent6"/>
                </a:solidFill>
              </a:rPr>
              <a:t>Caso 1</a:t>
            </a:r>
            <a:r>
              <a:rPr lang="pt-BR" dirty="0">
                <a:solidFill>
                  <a:schemeClr val="accent6"/>
                </a:solidFill>
              </a:rPr>
              <a:t>: </a:t>
            </a:r>
            <a:r>
              <a:rPr lang="pt-BR" b="1" dirty="0">
                <a:solidFill>
                  <a:schemeClr val="accent6"/>
                </a:solidFill>
              </a:rPr>
              <a:t>Transporte de materiais e componentes semiacabados</a:t>
            </a:r>
            <a:endParaRPr lang="pt-BR" dirty="0">
              <a:solidFill>
                <a:schemeClr val="accent6"/>
              </a:solidFill>
            </a:endParaRPr>
          </a:p>
          <a:p>
            <a:pPr algn="just" fontAlgn="b"/>
            <a:r>
              <a:rPr lang="pt-BR" dirty="0">
                <a:solidFill>
                  <a:schemeClr val="accent6"/>
                </a:solidFill>
              </a:rPr>
              <a:t>Uma empresa especializada em transporte de mercadorias obteve um contrato para transportar, durante um ano, as mercadorias da empresa ABCD, que são desembarcadas mensalmente no porto de Santos e necessitam ser encaminhadas para as plantas de produção instaladas nas cidades de Salvador e Recife. Os materiais a serem transportados são barras de aço, partes para montagem de motores, e peças para montagem de tratores. As barras de aço estão embaladas em feixes com seis metros de comprimento e peso de 4,5 toneladas, e os componentes para montagem de motores e tratores estarão acondicionados em pallets NBR (1,000mm X 1,200 mm), pesando 1.400 kg cada um. </a:t>
            </a:r>
          </a:p>
        </p:txBody>
      </p:sp>
      <p:sp>
        <p:nvSpPr>
          <p:cNvPr id="10" name="Retângulo 9"/>
          <p:cNvSpPr/>
          <p:nvPr/>
        </p:nvSpPr>
        <p:spPr>
          <a:xfrm>
            <a:off x="1218220" y="4824640"/>
            <a:ext cx="9755560" cy="1477328"/>
          </a:xfrm>
          <a:prstGeom prst="rect">
            <a:avLst/>
          </a:prstGeom>
        </p:spPr>
        <p:txBody>
          <a:bodyPr wrap="square">
            <a:spAutoFit/>
          </a:bodyPr>
          <a:lstStyle/>
          <a:p>
            <a:pPr algn="just" fontAlgn="b"/>
            <a:r>
              <a:rPr lang="pt-BR" b="1" dirty="0">
                <a:solidFill>
                  <a:schemeClr val="accent6"/>
                </a:solidFill>
              </a:rPr>
              <a:t>Caso 2</a:t>
            </a:r>
            <a:r>
              <a:rPr lang="pt-BR" dirty="0">
                <a:solidFill>
                  <a:schemeClr val="accent6"/>
                </a:solidFill>
              </a:rPr>
              <a:t>: </a:t>
            </a:r>
            <a:r>
              <a:rPr lang="pt-BR" b="1" dirty="0">
                <a:solidFill>
                  <a:schemeClr val="accent6"/>
                </a:solidFill>
              </a:rPr>
              <a:t>Distribuição de pães em quatro hospitais de São Paulo</a:t>
            </a:r>
            <a:endParaRPr lang="pt-BR" dirty="0">
              <a:solidFill>
                <a:schemeClr val="accent6"/>
              </a:solidFill>
            </a:endParaRPr>
          </a:p>
          <a:p>
            <a:pPr algn="just" fontAlgn="b"/>
            <a:r>
              <a:rPr lang="pt-BR" dirty="0">
                <a:solidFill>
                  <a:schemeClr val="accent6"/>
                </a:solidFill>
              </a:rPr>
              <a:t>Uma padaria localizada na zona oeste de São Paulo (bairro da Lapa) obteve um contrato para abastecer com pãezinhos quatro hospitais da cidade de São Paulo, diariamente, durante um ano. Um dos hospitais está localizado na Zona Sul, outro na Zona Norte, outro na Zona Leste e outro na Região Central. </a:t>
            </a:r>
          </a:p>
        </p:txBody>
      </p:sp>
    </p:spTree>
    <p:extLst>
      <p:ext uri="{BB962C8B-B14F-4D97-AF65-F5344CB8AC3E}">
        <p14:creationId xmlns:p14="http://schemas.microsoft.com/office/powerpoint/2010/main" val="762946933"/>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xmlns:p14="http://schemas.microsoft.com/office/powerpoint/2010/mai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1000"/>
                                        <p:tgtEl>
                                          <p:spTgt spid="10"/>
                                        </p:tgtEl>
                                      </p:cBhvr>
                                    </p:animEffect>
                                    <p:anim calcmode="lin" valueType="num">
                                      <p:cBhvr>
                                        <p:cTn id="15" dur="1000" fill="hold"/>
                                        <p:tgtEl>
                                          <p:spTgt spid="10"/>
                                        </p:tgtEl>
                                        <p:attrNameLst>
                                          <p:attrName>ppt_x</p:attrName>
                                        </p:attrNameLst>
                                      </p:cBhvr>
                                      <p:tavLst>
                                        <p:tav tm="0">
                                          <p:val>
                                            <p:strVal val="#ppt_x"/>
                                          </p:val>
                                        </p:tav>
                                        <p:tav tm="100000">
                                          <p:val>
                                            <p:strVal val="#ppt_x"/>
                                          </p:val>
                                        </p:tav>
                                      </p:tavLst>
                                    </p:anim>
                                    <p:anim calcmode="lin" valueType="num">
                                      <p:cBhvr>
                                        <p:cTn id="1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p:bldLst>
  </p:timing>
</p:sld>
</file>

<file path=ppt/slides/slide1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 name="Picture 7" descr="ThinkstockPhotos-475383667 (1).jpg"/>
          <p:cNvPicPr>
            <a:picLocks noChangeAspect="1"/>
          </p:cNvPicPr>
          <p:nvPr/>
        </p:nvPicPr>
        <p:blipFill rotWithShape="1">
          <a:blip r:embed="rId3">
            <a:extLst>
              <a:ext uri="{BEBA8EAE-BF5A-486C-A8C5-ECC9F3942E4B}">
                <a14:imgProps xmlns:a14="http://schemas.microsoft.com/office/drawing/2010/main">
                  <a14:imgLayer r:embed="rId4">
                    <a14:imgEffect>
                      <a14:sharpenSoften amount="24000"/>
                    </a14:imgEffect>
                    <a14:imgEffect>
                      <a14:brightnessContrast bright="3000" contrast="1000"/>
                    </a14:imgEffect>
                  </a14:imgLayer>
                </a14:imgProps>
              </a:ext>
              <a:ext uri="{28A0092B-C50C-407E-A947-70E740481C1C}">
                <a14:useLocalDpi xmlns:a14="http://schemas.microsoft.com/office/drawing/2010/main" val="0"/>
              </a:ext>
            </a:extLst>
          </a:blip>
          <a:srcRect l="10540" r="6409"/>
          <a:stretch/>
        </p:blipFill>
        <p:spPr>
          <a:xfrm>
            <a:off x="9859009" y="573805"/>
            <a:ext cx="1435101" cy="1371600"/>
          </a:xfrm>
          <a:prstGeom prst="rect">
            <a:avLst/>
          </a:prstGeom>
        </p:spPr>
      </p:pic>
      <p:sp>
        <p:nvSpPr>
          <p:cNvPr id="7" name="Retângulo 6"/>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
        <p:nvSpPr>
          <p:cNvPr id="9" name="Title 1"/>
          <p:cNvSpPr txBox="1">
            <a:spLocks/>
          </p:cNvSpPr>
          <p:nvPr/>
        </p:nvSpPr>
        <p:spPr bwMode="auto">
          <a:xfrm>
            <a:off x="2702982" y="822118"/>
            <a:ext cx="6786036" cy="4005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noAutofit/>
          </a:bodyPr>
          <a:lstStyle>
            <a:lvl1pPr algn="l" defTabSz="449263" rtl="0" eaLnBrk="1" fontAlgn="base" hangingPunct="1">
              <a:spcBef>
                <a:spcPct val="0"/>
              </a:spcBef>
              <a:spcAft>
                <a:spcPct val="0"/>
              </a:spcAft>
              <a:buClr>
                <a:srgbClr val="000000"/>
              </a:buClr>
              <a:buSzPct val="100000"/>
              <a:buFont typeface="Times New Roman" panose="02020603050405020304" pitchFamily="18" charset="0"/>
              <a:defRPr sz="4100" b="1" kern="1200">
                <a:solidFill>
                  <a:srgbClr val="464646"/>
                </a:solidFill>
                <a:latin typeface="+mj-lt"/>
                <a:ea typeface="+mj-ea"/>
                <a:cs typeface="+mj-cs"/>
              </a:defRPr>
            </a:lvl1pPr>
            <a:lvl2pPr marL="742950" indent="-28575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2pPr>
            <a:lvl3pPr marL="1143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3pPr>
            <a:lvl4pPr marL="1600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4pPr>
            <a:lvl5pPr marL="20574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5pPr>
            <a:lvl6pPr marL="25146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6pPr>
            <a:lvl7pPr marL="29718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7pPr>
            <a:lvl8pPr marL="3429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8pPr>
            <a:lvl9pPr marL="3886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9pPr>
          </a:lstStyle>
          <a:p>
            <a:pPr algn="ctr"/>
            <a:r>
              <a:rPr lang="pt-BR" sz="2000" dirty="0">
                <a:solidFill>
                  <a:schemeClr val="accent6"/>
                </a:solidFill>
                <a:latin typeface="+mn-lt"/>
              </a:rPr>
              <a:t>MODAIS DE TRANSPORTE</a:t>
            </a:r>
          </a:p>
        </p:txBody>
      </p:sp>
      <p:sp>
        <p:nvSpPr>
          <p:cNvPr id="3" name="Retângulo 2"/>
          <p:cNvSpPr/>
          <p:nvPr/>
        </p:nvSpPr>
        <p:spPr>
          <a:xfrm>
            <a:off x="1218000" y="1652547"/>
            <a:ext cx="9756000" cy="2308324"/>
          </a:xfrm>
          <a:prstGeom prst="rect">
            <a:avLst/>
          </a:prstGeom>
        </p:spPr>
        <p:txBody>
          <a:bodyPr wrap="square">
            <a:spAutoFit/>
          </a:bodyPr>
          <a:lstStyle/>
          <a:p>
            <a:pPr algn="just" fontAlgn="b"/>
            <a:r>
              <a:rPr lang="pt-BR" b="1" dirty="0">
                <a:solidFill>
                  <a:schemeClr val="accent6"/>
                </a:solidFill>
              </a:rPr>
              <a:t>Caso 3</a:t>
            </a:r>
            <a:r>
              <a:rPr lang="pt-BR" dirty="0">
                <a:solidFill>
                  <a:schemeClr val="accent6"/>
                </a:solidFill>
              </a:rPr>
              <a:t>: </a:t>
            </a:r>
            <a:r>
              <a:rPr lang="pt-BR" b="1" dirty="0">
                <a:solidFill>
                  <a:schemeClr val="accent6"/>
                </a:solidFill>
              </a:rPr>
              <a:t>Transporte de eletrodomésticos de São Paulo à zona franca de Manaus </a:t>
            </a:r>
            <a:r>
              <a:rPr lang="pt-BR" dirty="0">
                <a:solidFill>
                  <a:schemeClr val="accent6"/>
                </a:solidFill>
              </a:rPr>
              <a:t>(o transporte deve retornar a São Paulo com uma carga de frutas)</a:t>
            </a:r>
          </a:p>
          <a:p>
            <a:pPr algn="just" fontAlgn="b"/>
            <a:r>
              <a:rPr lang="pt-BR" dirty="0">
                <a:solidFill>
                  <a:schemeClr val="accent6"/>
                </a:solidFill>
              </a:rPr>
              <a:t>Uma empresa especializada em transporte de mercadorias obteve um contrato para transportar, durante um ano, os eletrodomésticos da empresa WXYZ (refrigeradores e fogões), que são produzidos na cidade de São Paulo e necessitam ser levados ao depósito atacadista na cidade de Manaus.</a:t>
            </a:r>
          </a:p>
          <a:p>
            <a:pPr algn="just" fontAlgn="b"/>
            <a:r>
              <a:rPr lang="pt-BR" dirty="0">
                <a:solidFill>
                  <a:schemeClr val="accent6"/>
                </a:solidFill>
              </a:rPr>
              <a:t>Visando otimizar esse transporte, a transportadora decidiu que no retorno dos veículos serão transportadas frutas acondicionadas em caixotes de madeira.</a:t>
            </a:r>
          </a:p>
        </p:txBody>
      </p:sp>
      <p:sp>
        <p:nvSpPr>
          <p:cNvPr id="4" name="Retângulo 3"/>
          <p:cNvSpPr/>
          <p:nvPr/>
        </p:nvSpPr>
        <p:spPr>
          <a:xfrm>
            <a:off x="1218000" y="4008999"/>
            <a:ext cx="9756000" cy="2308324"/>
          </a:xfrm>
          <a:prstGeom prst="rect">
            <a:avLst/>
          </a:prstGeom>
        </p:spPr>
        <p:txBody>
          <a:bodyPr wrap="square">
            <a:spAutoFit/>
          </a:bodyPr>
          <a:lstStyle/>
          <a:p>
            <a:pPr algn="just"/>
            <a:r>
              <a:rPr lang="pt-BR" b="1" dirty="0">
                <a:solidFill>
                  <a:schemeClr val="accent6"/>
                </a:solidFill>
              </a:rPr>
              <a:t>Caso 4</a:t>
            </a:r>
            <a:r>
              <a:rPr lang="pt-BR" dirty="0">
                <a:solidFill>
                  <a:schemeClr val="accent6"/>
                </a:solidFill>
              </a:rPr>
              <a:t>: </a:t>
            </a:r>
            <a:r>
              <a:rPr lang="pt-BR" b="1" dirty="0">
                <a:solidFill>
                  <a:schemeClr val="accent6"/>
                </a:solidFill>
              </a:rPr>
              <a:t>Transporte de eletrodomésticos de São Paulo à cidade de Recife</a:t>
            </a:r>
            <a:endParaRPr lang="pt-BR" dirty="0">
              <a:solidFill>
                <a:schemeClr val="accent6"/>
              </a:solidFill>
            </a:endParaRPr>
          </a:p>
          <a:p>
            <a:pPr algn="just"/>
            <a:r>
              <a:rPr lang="pt-BR" dirty="0">
                <a:solidFill>
                  <a:schemeClr val="accent6"/>
                </a:solidFill>
              </a:rPr>
              <a:t>(O transporte deve retornar a São Paulo com uma carga de roupas)</a:t>
            </a:r>
          </a:p>
          <a:p>
            <a:pPr algn="just"/>
            <a:r>
              <a:rPr lang="pt-BR" dirty="0">
                <a:solidFill>
                  <a:schemeClr val="accent6"/>
                </a:solidFill>
              </a:rPr>
              <a:t>Uma empresa especializada em transporte de mercadorias obteve um contrato para transportar, durante um ano, os eletrodomésticos da empresa AXBY (refrigeradores e fogões), que são produzidos na cidade de São Paulo e necessitam ser levados ao depósito atacadista na cidade de Recife.</a:t>
            </a:r>
          </a:p>
          <a:p>
            <a:pPr algn="just"/>
            <a:r>
              <a:rPr lang="pt-BR" dirty="0">
                <a:solidFill>
                  <a:schemeClr val="accent6"/>
                </a:solidFill>
              </a:rPr>
              <a:t>Visando otimizar esse transporte, a transportadora decidiu que no retorno dos veículos serão transportadas roupas acondicionadas em pallets.</a:t>
            </a:r>
            <a:endParaRPr lang="pt-BR" dirty="0">
              <a:solidFill>
                <a:schemeClr val="accent6"/>
              </a:solidFill>
              <a:latin typeface="Calibri" panose="020F0502020204030204" pitchFamily="34" charset="0"/>
            </a:endParaRPr>
          </a:p>
        </p:txBody>
      </p:sp>
    </p:spTree>
    <p:extLst>
      <p:ext uri="{BB962C8B-B14F-4D97-AF65-F5344CB8AC3E}">
        <p14:creationId xmlns:p14="http://schemas.microsoft.com/office/powerpoint/2010/main" val="187632037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xmlns:p14="http://schemas.microsoft.com/office/powerpoint/2010/mai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Picture 7" descr="ThinkstockPhotos-475383667 (1).jpg"/>
          <p:cNvPicPr>
            <a:picLocks noChangeAspect="1"/>
          </p:cNvPicPr>
          <p:nvPr/>
        </p:nvPicPr>
        <p:blipFill rotWithShape="1">
          <a:blip r:embed="rId3">
            <a:extLst>
              <a:ext uri="{BEBA8EAE-BF5A-486C-A8C5-ECC9F3942E4B}">
                <a14:imgProps xmlns:a14="http://schemas.microsoft.com/office/drawing/2010/main">
                  <a14:imgLayer r:embed="rId4">
                    <a14:imgEffect>
                      <a14:sharpenSoften amount="24000"/>
                    </a14:imgEffect>
                    <a14:imgEffect>
                      <a14:brightnessContrast bright="3000" contrast="1000"/>
                    </a14:imgEffect>
                  </a14:imgLayer>
                </a14:imgProps>
              </a:ext>
              <a:ext uri="{28A0092B-C50C-407E-A947-70E740481C1C}">
                <a14:useLocalDpi xmlns:a14="http://schemas.microsoft.com/office/drawing/2010/main" val="0"/>
              </a:ext>
            </a:extLst>
          </a:blip>
          <a:srcRect l="10540" r="6409"/>
          <a:stretch/>
        </p:blipFill>
        <p:spPr>
          <a:xfrm>
            <a:off x="9859009" y="573805"/>
            <a:ext cx="1435101" cy="1371600"/>
          </a:xfrm>
          <a:prstGeom prst="rect">
            <a:avLst/>
          </a:prstGeom>
        </p:spPr>
      </p:pic>
      <p:sp>
        <p:nvSpPr>
          <p:cNvPr id="7" name="Retângulo 6"/>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
        <p:nvSpPr>
          <p:cNvPr id="9" name="Title 1"/>
          <p:cNvSpPr txBox="1">
            <a:spLocks/>
          </p:cNvSpPr>
          <p:nvPr/>
        </p:nvSpPr>
        <p:spPr bwMode="auto">
          <a:xfrm>
            <a:off x="2702982" y="822118"/>
            <a:ext cx="6786036" cy="4005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noAutofit/>
          </a:bodyPr>
          <a:lstStyle>
            <a:lvl1pPr algn="l" defTabSz="449263" rtl="0" eaLnBrk="1" fontAlgn="base" hangingPunct="1">
              <a:spcBef>
                <a:spcPct val="0"/>
              </a:spcBef>
              <a:spcAft>
                <a:spcPct val="0"/>
              </a:spcAft>
              <a:buClr>
                <a:srgbClr val="000000"/>
              </a:buClr>
              <a:buSzPct val="100000"/>
              <a:buFont typeface="Times New Roman" panose="02020603050405020304" pitchFamily="18" charset="0"/>
              <a:defRPr sz="4100" b="1" kern="1200">
                <a:solidFill>
                  <a:srgbClr val="464646"/>
                </a:solidFill>
                <a:latin typeface="+mj-lt"/>
                <a:ea typeface="+mj-ea"/>
                <a:cs typeface="+mj-cs"/>
              </a:defRPr>
            </a:lvl1pPr>
            <a:lvl2pPr marL="742950" indent="-28575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2pPr>
            <a:lvl3pPr marL="1143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3pPr>
            <a:lvl4pPr marL="1600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4pPr>
            <a:lvl5pPr marL="20574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5pPr>
            <a:lvl6pPr marL="25146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6pPr>
            <a:lvl7pPr marL="29718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7pPr>
            <a:lvl8pPr marL="3429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8pPr>
            <a:lvl9pPr marL="3886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9pPr>
          </a:lstStyle>
          <a:p>
            <a:pPr algn="ctr"/>
            <a:r>
              <a:rPr lang="pt-BR" sz="2000">
                <a:solidFill>
                  <a:schemeClr val="accent6"/>
                </a:solidFill>
                <a:latin typeface="+mn-lt"/>
              </a:rPr>
              <a:t>MODAIS DE TRANSPORTE</a:t>
            </a:r>
            <a:endParaRPr lang="pt-BR" sz="2000" dirty="0">
              <a:solidFill>
                <a:schemeClr val="accent6"/>
              </a:solidFill>
              <a:latin typeface="+mn-lt"/>
            </a:endParaRPr>
          </a:p>
        </p:txBody>
      </p:sp>
      <p:sp>
        <p:nvSpPr>
          <p:cNvPr id="3" name="Retângulo 2"/>
          <p:cNvSpPr/>
          <p:nvPr/>
        </p:nvSpPr>
        <p:spPr>
          <a:xfrm>
            <a:off x="1218220" y="1662147"/>
            <a:ext cx="9755560" cy="2862322"/>
          </a:xfrm>
          <a:prstGeom prst="rect">
            <a:avLst/>
          </a:prstGeom>
        </p:spPr>
        <p:txBody>
          <a:bodyPr wrap="square">
            <a:spAutoFit/>
          </a:bodyPr>
          <a:lstStyle/>
          <a:p>
            <a:pPr algn="just" fontAlgn="b"/>
            <a:r>
              <a:rPr lang="pt-BR" b="1" dirty="0">
                <a:solidFill>
                  <a:schemeClr val="accent6"/>
                </a:solidFill>
              </a:rPr>
              <a:t>Caso 1</a:t>
            </a:r>
            <a:r>
              <a:rPr lang="pt-BR" dirty="0">
                <a:solidFill>
                  <a:schemeClr val="accent6"/>
                </a:solidFill>
              </a:rPr>
              <a:t>: </a:t>
            </a:r>
            <a:r>
              <a:rPr lang="pt-BR" b="1" dirty="0">
                <a:solidFill>
                  <a:schemeClr val="accent6"/>
                </a:solidFill>
              </a:rPr>
              <a:t>Transporte de materiais e componentes semiacabados</a:t>
            </a:r>
            <a:endParaRPr lang="pt-BR" dirty="0">
              <a:solidFill>
                <a:schemeClr val="accent6"/>
              </a:solidFill>
            </a:endParaRPr>
          </a:p>
          <a:p>
            <a:pPr algn="just" fontAlgn="b"/>
            <a:r>
              <a:rPr lang="pt-BR" dirty="0">
                <a:solidFill>
                  <a:schemeClr val="accent6"/>
                </a:solidFill>
              </a:rPr>
              <a:t>Uma empresa especializada em transporte de mercadorias obteve um contrato para transportar, durante um ano, as mercadorias da empresa ABCD, que são desembarcadas mensalmente no porto de Santos e necessitam ser encaminhadas para as plantas de produção instaladas nas cidades de Salvador e Recife. Os materiais a serem transportados são barras de aço, partes para montagem de motores, e peças para montagem de tratores. As barras de aço estão embaladas em feixes com seis metros de comprimento e peso de 4,5 toneladas, e os componentes para montagem de motores e tratores estarão acondicionados em pallets NBR (1,000mm X 1,200 mm), pesando 1.400 kg cada um. </a:t>
            </a:r>
          </a:p>
        </p:txBody>
      </p:sp>
      <p:sp>
        <p:nvSpPr>
          <p:cNvPr id="10" name="Retângulo 9"/>
          <p:cNvSpPr/>
          <p:nvPr/>
        </p:nvSpPr>
        <p:spPr>
          <a:xfrm>
            <a:off x="1218220" y="4824640"/>
            <a:ext cx="9755560" cy="1477328"/>
          </a:xfrm>
          <a:prstGeom prst="rect">
            <a:avLst/>
          </a:prstGeom>
        </p:spPr>
        <p:txBody>
          <a:bodyPr wrap="square">
            <a:spAutoFit/>
          </a:bodyPr>
          <a:lstStyle/>
          <a:p>
            <a:pPr algn="just" fontAlgn="b"/>
            <a:r>
              <a:rPr lang="pt-BR" b="1" dirty="0">
                <a:solidFill>
                  <a:schemeClr val="accent6"/>
                </a:solidFill>
              </a:rPr>
              <a:t>Caso 2</a:t>
            </a:r>
            <a:r>
              <a:rPr lang="pt-BR" dirty="0">
                <a:solidFill>
                  <a:schemeClr val="accent6"/>
                </a:solidFill>
              </a:rPr>
              <a:t>: </a:t>
            </a:r>
            <a:r>
              <a:rPr lang="pt-BR" b="1" dirty="0">
                <a:solidFill>
                  <a:schemeClr val="accent6"/>
                </a:solidFill>
              </a:rPr>
              <a:t>Distribuição de pães em quatro hospitais de São Paulo</a:t>
            </a:r>
            <a:endParaRPr lang="pt-BR" dirty="0">
              <a:solidFill>
                <a:schemeClr val="accent6"/>
              </a:solidFill>
            </a:endParaRPr>
          </a:p>
          <a:p>
            <a:pPr algn="just" fontAlgn="b"/>
            <a:r>
              <a:rPr lang="pt-BR" dirty="0">
                <a:solidFill>
                  <a:schemeClr val="accent6"/>
                </a:solidFill>
              </a:rPr>
              <a:t>Uma padaria localizada na zona oeste de São Paulo (bairro da Lapa) obteve um contrato para abastecer com pãezinhos quatro hospitais da cidade de São Paulo, diariamente, durante um ano. Um dos hospitais está localizado na Zona Sul, outro na Zona Norte, outro na Zona Leste e outro na Região Central. </a:t>
            </a:r>
          </a:p>
        </p:txBody>
      </p:sp>
    </p:spTree>
    <p:extLst>
      <p:ext uri="{BB962C8B-B14F-4D97-AF65-F5344CB8AC3E}">
        <p14:creationId xmlns:p14="http://schemas.microsoft.com/office/powerpoint/2010/main" val="265343944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xmlns:p14="http://schemas.microsoft.com/office/powerpoint/2010/mai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1000"/>
                                        <p:tgtEl>
                                          <p:spTgt spid="10"/>
                                        </p:tgtEl>
                                      </p:cBhvr>
                                    </p:animEffect>
                                    <p:anim calcmode="lin" valueType="num">
                                      <p:cBhvr>
                                        <p:cTn id="15" dur="1000" fill="hold"/>
                                        <p:tgtEl>
                                          <p:spTgt spid="10"/>
                                        </p:tgtEl>
                                        <p:attrNameLst>
                                          <p:attrName>ppt_x</p:attrName>
                                        </p:attrNameLst>
                                      </p:cBhvr>
                                      <p:tavLst>
                                        <p:tav tm="0">
                                          <p:val>
                                            <p:strVal val="#ppt_x"/>
                                          </p:val>
                                        </p:tav>
                                        <p:tav tm="100000">
                                          <p:val>
                                            <p:strVal val="#ppt_x"/>
                                          </p:val>
                                        </p:tav>
                                      </p:tavLst>
                                    </p:anim>
                                    <p:anim calcmode="lin" valueType="num">
                                      <p:cBhvr>
                                        <p:cTn id="1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p:bldLst>
  </p:timing>
</p:sld>
</file>

<file path=ppt/slides/slide1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ítulo 1"/>
          <p:cNvSpPr>
            <a:spLocks noGrp="1"/>
          </p:cNvSpPr>
          <p:nvPr>
            <p:ph type="title" idx="4294967295"/>
          </p:nvPr>
        </p:nvSpPr>
        <p:spPr>
          <a:xfrm>
            <a:off x="0" y="3454400"/>
            <a:ext cx="9080500" cy="804863"/>
          </a:xfrm>
        </p:spPr>
        <p:txBody>
          <a:bodyPr>
            <a:noAutofit/>
          </a:bodyPr>
          <a:lstStyle/>
          <a:p>
            <a:pPr algn="ctr"/>
            <a:r>
              <a:rPr lang="pt-BR" sz="2000" b="1" dirty="0">
                <a:solidFill>
                  <a:schemeClr val="accent6"/>
                </a:solidFill>
                <a:latin typeface="+mn-lt"/>
              </a:rPr>
              <a:t>CONCEITOS, INDICADORES DE DESEMPENHO, SELEÇÃO DE OPERADORES</a:t>
            </a:r>
          </a:p>
        </p:txBody>
      </p:sp>
      <p:sp>
        <p:nvSpPr>
          <p:cNvPr id="4" name="Retângulo 3"/>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
        <p:nvSpPr>
          <p:cNvPr id="3" name="Retângulo 2"/>
          <p:cNvSpPr/>
          <p:nvPr/>
        </p:nvSpPr>
        <p:spPr>
          <a:xfrm>
            <a:off x="3759462" y="3054006"/>
            <a:ext cx="4673074" cy="400110"/>
          </a:xfrm>
          <a:prstGeom prst="rect">
            <a:avLst/>
          </a:prstGeom>
        </p:spPr>
        <p:txBody>
          <a:bodyPr wrap="none">
            <a:spAutoFit/>
          </a:bodyPr>
          <a:lstStyle/>
          <a:p>
            <a:r>
              <a:rPr lang="pt-BR" sz="2000" b="1" dirty="0">
                <a:solidFill>
                  <a:schemeClr val="accent6"/>
                </a:solidFill>
              </a:rPr>
              <a:t>TERCEIRIZAÇÃO E QUARTEIRIZAÇÃO</a:t>
            </a:r>
            <a:endParaRPr lang="pt-BR" sz="2000" b="1" dirty="0"/>
          </a:p>
        </p:txBody>
      </p:sp>
    </p:spTree>
    <p:extLst>
      <p:ext uri="{BB962C8B-B14F-4D97-AF65-F5344CB8AC3E}">
        <p14:creationId xmlns:p14="http://schemas.microsoft.com/office/powerpoint/2010/main" val="4011020782"/>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Imagem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12538" y="260348"/>
            <a:ext cx="4286728" cy="2852623"/>
          </a:xfrm>
          <a:prstGeom prst="rect">
            <a:avLst/>
          </a:prstGeom>
        </p:spPr>
      </p:pic>
      <p:sp>
        <p:nvSpPr>
          <p:cNvPr id="4" name="Retângulo 3"/>
          <p:cNvSpPr/>
          <p:nvPr/>
        </p:nvSpPr>
        <p:spPr>
          <a:xfrm>
            <a:off x="620740" y="2357503"/>
            <a:ext cx="3448340" cy="907941"/>
          </a:xfrm>
          <a:prstGeom prst="rect">
            <a:avLst/>
          </a:prstGeom>
        </p:spPr>
        <p:txBody>
          <a:bodyPr vert="horz" lIns="91440" tIns="45720" rIns="91440" bIns="45720" rtlCol="0">
            <a:noAutofit/>
          </a:bodyPr>
          <a:lstStyle/>
          <a:p>
            <a:pPr marL="174625" lvl="1" indent="-174625">
              <a:lnSpc>
                <a:spcPct val="90000"/>
              </a:lnSpc>
              <a:spcBef>
                <a:spcPts val="500"/>
              </a:spcBef>
              <a:buClr>
                <a:schemeClr val="accent6"/>
              </a:buClr>
              <a:buFont typeface="Arial" panose="020B0604020202020204" pitchFamily="34" charset="0"/>
              <a:buChar char="•"/>
            </a:pPr>
            <a:r>
              <a:rPr lang="pt-BR" b="1" dirty="0">
                <a:solidFill>
                  <a:schemeClr val="accent6"/>
                </a:solidFill>
                <a:cs typeface="Helvetica" panose="020B0604020202020204" pitchFamily="34" charset="0"/>
              </a:rPr>
              <a:t>Embarcadores¹</a:t>
            </a:r>
          </a:p>
          <a:p>
            <a:pPr marL="449263" lvl="1" indent="-187325">
              <a:lnSpc>
                <a:spcPct val="90000"/>
              </a:lnSpc>
              <a:spcBef>
                <a:spcPts val="500"/>
              </a:spcBef>
              <a:buClr>
                <a:schemeClr val="accent6"/>
              </a:buClr>
              <a:buFont typeface="Wingdings" charset="2"/>
              <a:buChar char="§"/>
            </a:pPr>
            <a:r>
              <a:rPr lang="pt-BR" dirty="0">
                <a:solidFill>
                  <a:schemeClr val="accent6"/>
                </a:solidFill>
                <a:cs typeface="Helvetica" panose="020B0604020202020204" pitchFamily="34" charset="0"/>
              </a:rPr>
              <a:t>Próprias empresas</a:t>
            </a:r>
          </a:p>
          <a:p>
            <a:pPr marL="449263" lvl="1" indent="-187325">
              <a:lnSpc>
                <a:spcPct val="90000"/>
              </a:lnSpc>
              <a:spcBef>
                <a:spcPts val="500"/>
              </a:spcBef>
              <a:buClr>
                <a:schemeClr val="accent6"/>
              </a:buClr>
              <a:buFont typeface="Wingdings" charset="2"/>
              <a:buChar char="§"/>
            </a:pPr>
            <a:r>
              <a:rPr lang="pt-BR" dirty="0">
                <a:solidFill>
                  <a:schemeClr val="accent6"/>
                </a:solidFill>
                <a:cs typeface="Helvetica" panose="020B0604020202020204" pitchFamily="34" charset="0"/>
              </a:rPr>
              <a:t>Operador logístico</a:t>
            </a:r>
            <a:r>
              <a:rPr lang="pt-BR" b="1" dirty="0">
                <a:solidFill>
                  <a:schemeClr val="accent6"/>
                </a:solidFill>
                <a:cs typeface="Helvetica" panose="020B0604020202020204" pitchFamily="34" charset="0"/>
              </a:rPr>
              <a:t>²</a:t>
            </a:r>
          </a:p>
        </p:txBody>
      </p:sp>
      <p:sp>
        <p:nvSpPr>
          <p:cNvPr id="12" name="Retângulo 11"/>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
        <p:nvSpPr>
          <p:cNvPr id="15" name="TextBox 7"/>
          <p:cNvSpPr txBox="1"/>
          <p:nvPr/>
        </p:nvSpPr>
        <p:spPr>
          <a:xfrm>
            <a:off x="2099556" y="6034820"/>
            <a:ext cx="7378271" cy="400110"/>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rtlCol="0">
            <a:spAutoFit/>
          </a:bodyPr>
          <a:lstStyle/>
          <a:p>
            <a:r>
              <a:rPr lang="pt-BR" sz="2000" b="1" dirty="0">
                <a:solidFill>
                  <a:srgbClr val="FF0000"/>
                </a:solidFill>
                <a:cs typeface="Helvetica Neue"/>
              </a:rPr>
              <a:t>COMO É A RELAÇÃO ENTRE OS ATORES DO TRANSPORTE ?</a:t>
            </a:r>
          </a:p>
        </p:txBody>
      </p:sp>
      <p:sp>
        <p:nvSpPr>
          <p:cNvPr id="16" name="TextBox 5"/>
          <p:cNvSpPr txBox="1"/>
          <p:nvPr/>
        </p:nvSpPr>
        <p:spPr>
          <a:xfrm>
            <a:off x="676101" y="4853227"/>
            <a:ext cx="10839797" cy="1077218"/>
          </a:xfrm>
          <a:prstGeom prst="rect">
            <a:avLst/>
          </a:prstGeom>
          <a:noFill/>
          <a:ln w="12700">
            <a:solidFill>
              <a:srgbClr val="FF0000"/>
            </a:solidFill>
          </a:ln>
        </p:spPr>
        <p:style>
          <a:lnRef idx="3">
            <a:schemeClr val="lt1"/>
          </a:lnRef>
          <a:fillRef idx="1">
            <a:schemeClr val="accent6"/>
          </a:fillRef>
          <a:effectRef idx="1">
            <a:schemeClr val="accent6"/>
          </a:effectRef>
          <a:fontRef idx="minor">
            <a:schemeClr val="lt1"/>
          </a:fontRef>
        </p:style>
        <p:txBody>
          <a:bodyPr wrap="square" rtlCol="0">
            <a:spAutoFit/>
          </a:bodyPr>
          <a:lstStyle/>
          <a:p>
            <a:pPr algn="just" fontAlgn="base"/>
            <a:r>
              <a:rPr lang="pt-BR" sz="1600" b="1" dirty="0">
                <a:solidFill>
                  <a:schemeClr val="accent6"/>
                </a:solidFill>
              </a:rPr>
              <a:t>²</a:t>
            </a:r>
            <a:r>
              <a:rPr lang="pt-BR" sz="1600" b="1" i="1" dirty="0">
                <a:solidFill>
                  <a:schemeClr val="accent6"/>
                </a:solidFill>
              </a:rPr>
              <a:t>Operador logístico:</a:t>
            </a:r>
            <a:r>
              <a:rPr lang="pt-BR" sz="1600" dirty="0">
                <a:solidFill>
                  <a:schemeClr val="accent6"/>
                </a:solidFill>
              </a:rPr>
              <a:t> É o fornecedor de serviços logísticos especializado em gerenciar todas as atividades logísticas ou parte delas nas várias fases da cadeia de abastecimento de seus clientes, agregando valor aos produtos dos mesmos e que tenha competência para, no mínimo prestar simultaneamente serviços nas três atividades básicas de: controle de estoques, armazenagem e gestão de transportes. (</a:t>
            </a:r>
            <a:r>
              <a:rPr lang="pt-BR" sz="1600" i="1" dirty="0">
                <a:solidFill>
                  <a:schemeClr val="accent6"/>
                </a:solidFill>
              </a:rPr>
              <a:t>ABML</a:t>
            </a:r>
            <a:r>
              <a:rPr lang="pt-BR" sz="1600" dirty="0">
                <a:solidFill>
                  <a:schemeClr val="accent6"/>
                </a:solidFill>
              </a:rPr>
              <a:t>)</a:t>
            </a:r>
          </a:p>
        </p:txBody>
      </p:sp>
      <p:sp>
        <p:nvSpPr>
          <p:cNvPr id="11" name="Title 1"/>
          <p:cNvSpPr>
            <a:spLocks noGrp="1"/>
          </p:cNvSpPr>
          <p:nvPr>
            <p:ph type="title" idx="4294967295"/>
          </p:nvPr>
        </p:nvSpPr>
        <p:spPr>
          <a:xfrm>
            <a:off x="0" y="669925"/>
            <a:ext cx="5026025" cy="601663"/>
          </a:xfrm>
        </p:spPr>
        <p:txBody>
          <a:bodyPr>
            <a:normAutofit/>
          </a:bodyPr>
          <a:lstStyle/>
          <a:p>
            <a:r>
              <a:rPr lang="pt-BR" sz="2000" b="1" dirty="0">
                <a:solidFill>
                  <a:schemeClr val="accent6"/>
                </a:solidFill>
                <a:latin typeface="+mn-lt"/>
              </a:rPr>
              <a:t>ATORES ENVOLVIDOS NO TRANSPORTE</a:t>
            </a:r>
          </a:p>
        </p:txBody>
      </p:sp>
      <p:sp>
        <p:nvSpPr>
          <p:cNvPr id="14" name="Content Placeholder 2"/>
          <p:cNvSpPr>
            <a:spLocks noGrp="1"/>
          </p:cNvSpPr>
          <p:nvPr>
            <p:ph idx="4294967295"/>
          </p:nvPr>
        </p:nvSpPr>
        <p:spPr>
          <a:xfrm>
            <a:off x="6072188" y="1411288"/>
            <a:ext cx="6119812" cy="2630487"/>
          </a:xfrm>
        </p:spPr>
        <p:txBody>
          <a:bodyPr>
            <a:noAutofit/>
          </a:bodyPr>
          <a:lstStyle/>
          <a:p>
            <a:r>
              <a:rPr lang="pt-BR" sz="1800" b="1" dirty="0">
                <a:solidFill>
                  <a:schemeClr val="accent6"/>
                </a:solidFill>
                <a:latin typeface="+mn-lt"/>
              </a:rPr>
              <a:t>Transportadores</a:t>
            </a:r>
          </a:p>
          <a:p>
            <a:pPr marL="449263" lvl="1" indent="-187325" defTabSz="914400">
              <a:buClr>
                <a:schemeClr val="accent6"/>
              </a:buClr>
              <a:buFont typeface="Wingdings" charset="2"/>
              <a:buChar char="§"/>
            </a:pPr>
            <a:r>
              <a:rPr lang="pt-BR" sz="1800" dirty="0">
                <a:solidFill>
                  <a:schemeClr val="accent6"/>
                </a:solidFill>
                <a:latin typeface="+mn-lt"/>
              </a:rPr>
              <a:t>Empresas de transporte</a:t>
            </a:r>
          </a:p>
          <a:p>
            <a:pPr marL="449263" lvl="1" indent="-187325" defTabSz="914400">
              <a:buClr>
                <a:schemeClr val="accent6"/>
              </a:buClr>
              <a:buFont typeface="Wingdings" charset="2"/>
              <a:buChar char="§"/>
            </a:pPr>
            <a:r>
              <a:rPr lang="pt-BR" sz="1800" dirty="0">
                <a:solidFill>
                  <a:schemeClr val="accent6"/>
                </a:solidFill>
                <a:latin typeface="+mn-lt"/>
              </a:rPr>
              <a:t>Autônomos</a:t>
            </a:r>
          </a:p>
          <a:p>
            <a:r>
              <a:rPr lang="pt-BR" sz="1800" b="1" dirty="0">
                <a:solidFill>
                  <a:schemeClr val="accent6"/>
                </a:solidFill>
                <a:latin typeface="+mn-lt"/>
              </a:rPr>
              <a:t>Governo</a:t>
            </a:r>
          </a:p>
          <a:p>
            <a:pPr marL="449263" lvl="1" indent="-187325">
              <a:buClr>
                <a:schemeClr val="accent6"/>
              </a:buClr>
              <a:buFont typeface="Wingdings" charset="2"/>
              <a:buChar char="§"/>
            </a:pPr>
            <a:r>
              <a:rPr lang="pt-BR" sz="1800" dirty="0">
                <a:solidFill>
                  <a:schemeClr val="accent6"/>
                </a:solidFill>
                <a:latin typeface="+mn-lt"/>
              </a:rPr>
              <a:t>Políticas e infraestrutura do setor</a:t>
            </a:r>
          </a:p>
          <a:p>
            <a:pPr marL="449263" lvl="1" indent="-187325">
              <a:buClr>
                <a:schemeClr val="accent6"/>
              </a:buClr>
              <a:buFont typeface="Wingdings" charset="2"/>
              <a:buChar char="§"/>
            </a:pPr>
            <a:r>
              <a:rPr lang="pt-BR" sz="1800" dirty="0">
                <a:solidFill>
                  <a:schemeClr val="accent6"/>
                </a:solidFill>
                <a:latin typeface="+mn-lt"/>
              </a:rPr>
              <a:t>Regulamentação, controle e fiscalização</a:t>
            </a:r>
          </a:p>
          <a:p>
            <a:pPr marL="449263" lvl="1" indent="-187325">
              <a:buClr>
                <a:schemeClr val="accent6"/>
              </a:buClr>
              <a:buFont typeface="Wingdings" charset="2"/>
              <a:buChar char="§"/>
            </a:pPr>
            <a:r>
              <a:rPr lang="pt-BR" sz="1800" dirty="0">
                <a:solidFill>
                  <a:schemeClr val="accent6"/>
                </a:solidFill>
                <a:latin typeface="+mn-lt"/>
              </a:rPr>
              <a:t>Taxas e impostos</a:t>
            </a:r>
          </a:p>
          <a:p>
            <a:r>
              <a:rPr lang="pt-BR" sz="1800" b="1" dirty="0">
                <a:solidFill>
                  <a:schemeClr val="accent6"/>
                </a:solidFill>
                <a:latin typeface="+mn-lt"/>
              </a:rPr>
              <a:t>Consumidores</a:t>
            </a:r>
          </a:p>
        </p:txBody>
      </p:sp>
      <p:sp>
        <p:nvSpPr>
          <p:cNvPr id="3" name="Retângulo 2"/>
          <p:cNvSpPr/>
          <p:nvPr/>
        </p:nvSpPr>
        <p:spPr>
          <a:xfrm>
            <a:off x="580281" y="1411790"/>
            <a:ext cx="3488799" cy="1010713"/>
          </a:xfrm>
          <a:prstGeom prst="rect">
            <a:avLst/>
          </a:prstGeom>
        </p:spPr>
        <p:txBody>
          <a:bodyPr vert="horz" lIns="91440" tIns="45720" rIns="91440" bIns="45720" rtlCol="0">
            <a:noAutofit/>
          </a:bodyPr>
          <a:lstStyle/>
          <a:p>
            <a:pPr marL="228600" indent="-228600">
              <a:lnSpc>
                <a:spcPct val="90000"/>
              </a:lnSpc>
              <a:spcBef>
                <a:spcPts val="1000"/>
              </a:spcBef>
              <a:buFont typeface="Arial" panose="020B0604020202020204" pitchFamily="34" charset="0"/>
              <a:buChar char="•"/>
            </a:pPr>
            <a:r>
              <a:rPr lang="pt-BR" b="1" dirty="0">
                <a:solidFill>
                  <a:schemeClr val="accent6"/>
                </a:solidFill>
                <a:cs typeface="Helvetica" panose="020B0604020202020204" pitchFamily="34" charset="0"/>
              </a:rPr>
              <a:t>Empresas </a:t>
            </a:r>
          </a:p>
          <a:p>
            <a:pPr marL="449263" lvl="1" indent="-187325">
              <a:lnSpc>
                <a:spcPct val="90000"/>
              </a:lnSpc>
              <a:spcBef>
                <a:spcPts val="500"/>
              </a:spcBef>
              <a:buClr>
                <a:schemeClr val="accent6"/>
              </a:buClr>
              <a:buFont typeface="Wingdings" charset="2"/>
              <a:buChar char="§"/>
            </a:pPr>
            <a:r>
              <a:rPr lang="pt-BR" dirty="0">
                <a:solidFill>
                  <a:schemeClr val="accent6"/>
                </a:solidFill>
                <a:cs typeface="Helvetica" panose="020B0604020202020204" pitchFamily="34" charset="0"/>
              </a:rPr>
              <a:t>Produtoras </a:t>
            </a:r>
          </a:p>
          <a:p>
            <a:pPr marL="449263" lvl="1" indent="-187325">
              <a:lnSpc>
                <a:spcPct val="90000"/>
              </a:lnSpc>
              <a:spcBef>
                <a:spcPts val="500"/>
              </a:spcBef>
              <a:buClr>
                <a:schemeClr val="accent6"/>
              </a:buClr>
              <a:buFont typeface="Wingdings" charset="2"/>
              <a:buChar char="§"/>
            </a:pPr>
            <a:r>
              <a:rPr lang="pt-BR" dirty="0">
                <a:solidFill>
                  <a:schemeClr val="accent6"/>
                </a:solidFill>
                <a:cs typeface="Helvetica" panose="020B0604020202020204" pitchFamily="34" charset="0"/>
              </a:rPr>
              <a:t>Receptoras de produtos</a:t>
            </a:r>
          </a:p>
        </p:txBody>
      </p:sp>
      <p:sp>
        <p:nvSpPr>
          <p:cNvPr id="5" name="Retângulo 4"/>
          <p:cNvSpPr/>
          <p:nvPr/>
        </p:nvSpPr>
        <p:spPr>
          <a:xfrm>
            <a:off x="580280" y="3389903"/>
            <a:ext cx="3488799" cy="369332"/>
          </a:xfrm>
          <a:prstGeom prst="rect">
            <a:avLst/>
          </a:prstGeom>
        </p:spPr>
        <p:txBody>
          <a:bodyPr vert="horz" lIns="91440" tIns="45720" rIns="91440" bIns="45720" rtlCol="0">
            <a:noAutofit/>
          </a:bodyPr>
          <a:lstStyle/>
          <a:p>
            <a:pPr marL="228600" indent="-228600">
              <a:lnSpc>
                <a:spcPct val="90000"/>
              </a:lnSpc>
              <a:spcBef>
                <a:spcPts val="1000"/>
              </a:spcBef>
              <a:buFont typeface="Arial" panose="020B0604020202020204" pitchFamily="34" charset="0"/>
              <a:buChar char="•"/>
            </a:pPr>
            <a:r>
              <a:rPr lang="pt-BR" b="1" dirty="0">
                <a:solidFill>
                  <a:schemeClr val="accent6"/>
                </a:solidFill>
                <a:cs typeface="Helvetica" panose="020B0604020202020204" pitchFamily="34" charset="0"/>
              </a:rPr>
              <a:t>Agenciadores de carga </a:t>
            </a:r>
          </a:p>
        </p:txBody>
      </p:sp>
      <p:sp>
        <p:nvSpPr>
          <p:cNvPr id="6" name="Retângulo 5"/>
          <p:cNvSpPr/>
          <p:nvPr/>
        </p:nvSpPr>
        <p:spPr>
          <a:xfrm>
            <a:off x="676101" y="4163304"/>
            <a:ext cx="10839797" cy="584775"/>
          </a:xfrm>
          <a:prstGeom prst="rect">
            <a:avLst/>
          </a:prstGeom>
          <a:noFill/>
          <a:ln w="12700">
            <a:solidFill>
              <a:srgbClr val="FF0000"/>
            </a:solidFill>
          </a:ln>
        </p:spPr>
        <p:style>
          <a:lnRef idx="3">
            <a:schemeClr val="lt1"/>
          </a:lnRef>
          <a:fillRef idx="1">
            <a:schemeClr val="accent6"/>
          </a:fillRef>
          <a:effectRef idx="1">
            <a:schemeClr val="accent6"/>
          </a:effectRef>
          <a:fontRef idx="minor">
            <a:schemeClr val="lt1"/>
          </a:fontRef>
        </p:style>
        <p:txBody>
          <a:bodyPr wrap="square" rtlCol="0">
            <a:spAutoFit/>
          </a:bodyPr>
          <a:lstStyle/>
          <a:p>
            <a:pPr algn="just" fontAlgn="base"/>
            <a:r>
              <a:rPr lang="pt-BR" sz="1600" b="1" dirty="0">
                <a:solidFill>
                  <a:schemeClr val="accent6"/>
                </a:solidFill>
              </a:rPr>
              <a:t>¹</a:t>
            </a:r>
            <a:r>
              <a:rPr lang="pt-BR" sz="1600" b="1" i="1" dirty="0">
                <a:solidFill>
                  <a:schemeClr val="accent6"/>
                </a:solidFill>
              </a:rPr>
              <a:t>Embarcador ou Expedidor: </a:t>
            </a:r>
            <a:r>
              <a:rPr lang="pt-BR" sz="1600" dirty="0">
                <a:solidFill>
                  <a:schemeClr val="accent6"/>
                </a:solidFill>
              </a:rPr>
              <a:t>refere à pessoa física ou jurídica que celebra o contrato de transporte com o transportador, não necessariamente o proprietário da mercadoria.</a:t>
            </a:r>
          </a:p>
        </p:txBody>
      </p:sp>
    </p:spTree>
    <p:extLst>
      <p:ext uri="{BB962C8B-B14F-4D97-AF65-F5344CB8AC3E}">
        <p14:creationId xmlns:p14="http://schemas.microsoft.com/office/powerpoint/2010/main" val="3207361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par>
                                <p:cTn id="10" presetID="16" presetClass="entr" presetSubtype="21" fill="hold"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1000"/>
                                        <p:tgtEl>
                                          <p:spTgt spid="3">
                                            <p:txEl>
                                              <p:pRg st="0" end="0"/>
                                            </p:txEl>
                                          </p:spTgt>
                                        </p:tgtEl>
                                      </p:cBhvr>
                                    </p:animEffect>
                                    <p:anim calcmode="lin" valueType="num">
                                      <p:cBhvr>
                                        <p:cTn id="1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fade">
                                      <p:cBhvr>
                                        <p:cTn id="22" dur="1000"/>
                                        <p:tgtEl>
                                          <p:spTgt spid="3">
                                            <p:txEl>
                                              <p:pRg st="1" end="1"/>
                                            </p:txEl>
                                          </p:spTgt>
                                        </p:tgtEl>
                                      </p:cBhvr>
                                    </p:animEffect>
                                    <p:anim calcmode="lin" valueType="num">
                                      <p:cBhvr>
                                        <p:cTn id="2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1000"/>
                                        <p:tgtEl>
                                          <p:spTgt spid="3">
                                            <p:txEl>
                                              <p:pRg st="2" end="2"/>
                                            </p:txEl>
                                          </p:spTgt>
                                        </p:tgtEl>
                                      </p:cBhvr>
                                    </p:animEffect>
                                    <p:anim calcmode="lin" valueType="num">
                                      <p:cBhvr>
                                        <p:cTn id="2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3">
                                            <p:txEl>
                                              <p:charRg st="45" end="45"/>
                                            </p:txEl>
                                          </p:spTgt>
                                        </p:tgtEl>
                                        <p:attrNameLst>
                                          <p:attrName>style.visibility</p:attrName>
                                        </p:attrNameLst>
                                      </p:cBhvr>
                                      <p:to>
                                        <p:strVal val="visible"/>
                                      </p:to>
                                    </p:set>
                                    <p:animEffect transition="in" filter="fade">
                                      <p:cBhvr>
                                        <p:cTn id="32" dur="1000"/>
                                        <p:tgtEl>
                                          <p:spTgt spid="3">
                                            <p:txEl>
                                              <p:charRg st="45" end="45"/>
                                            </p:txEl>
                                          </p:spTgt>
                                        </p:tgtEl>
                                      </p:cBhvr>
                                    </p:animEffect>
                                    <p:anim calcmode="lin" valueType="num">
                                      <p:cBhvr>
                                        <p:cTn id="33" dur="1000" fill="hold"/>
                                        <p:tgtEl>
                                          <p:spTgt spid="3">
                                            <p:txEl>
                                              <p:charRg st="45" end="45"/>
                                            </p:txEl>
                                          </p:spTgt>
                                        </p:tgtEl>
                                        <p:attrNameLst>
                                          <p:attrName>ppt_x</p:attrName>
                                        </p:attrNameLst>
                                      </p:cBhvr>
                                      <p:tavLst>
                                        <p:tav tm="0">
                                          <p:val>
                                            <p:strVal val="#ppt_x"/>
                                          </p:val>
                                        </p:tav>
                                        <p:tav tm="100000">
                                          <p:val>
                                            <p:strVal val="#ppt_x"/>
                                          </p:val>
                                        </p:tav>
                                      </p:tavLst>
                                    </p:anim>
                                    <p:anim calcmode="lin" valueType="num">
                                      <p:cBhvr>
                                        <p:cTn id="34" dur="1000" fill="hold"/>
                                        <p:tgtEl>
                                          <p:spTgt spid="3">
                                            <p:txEl>
                                              <p:charRg st="45" end="45"/>
                                            </p:txEl>
                                          </p:spTgt>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3">
                                            <p:txEl>
                                              <p:charRg st="45" end="45"/>
                                            </p:txEl>
                                          </p:spTgt>
                                        </p:tgtEl>
                                        <p:attrNameLst>
                                          <p:attrName>style.visibility</p:attrName>
                                        </p:attrNameLst>
                                      </p:cBhvr>
                                      <p:to>
                                        <p:strVal val="visible"/>
                                      </p:to>
                                    </p:set>
                                    <p:animEffect transition="in" filter="fade">
                                      <p:cBhvr>
                                        <p:cTn id="37" dur="1000"/>
                                        <p:tgtEl>
                                          <p:spTgt spid="3">
                                            <p:txEl>
                                              <p:charRg st="45" end="45"/>
                                            </p:txEl>
                                          </p:spTgt>
                                        </p:tgtEl>
                                      </p:cBhvr>
                                    </p:animEffect>
                                    <p:anim calcmode="lin" valueType="num">
                                      <p:cBhvr>
                                        <p:cTn id="38" dur="1000" fill="hold"/>
                                        <p:tgtEl>
                                          <p:spTgt spid="3">
                                            <p:txEl>
                                              <p:charRg st="45" end="45"/>
                                            </p:txEl>
                                          </p:spTgt>
                                        </p:tgtEl>
                                        <p:attrNameLst>
                                          <p:attrName>ppt_x</p:attrName>
                                        </p:attrNameLst>
                                      </p:cBhvr>
                                      <p:tavLst>
                                        <p:tav tm="0">
                                          <p:val>
                                            <p:strVal val="#ppt_x"/>
                                          </p:val>
                                        </p:tav>
                                        <p:tav tm="100000">
                                          <p:val>
                                            <p:strVal val="#ppt_x"/>
                                          </p:val>
                                        </p:tav>
                                      </p:tavLst>
                                    </p:anim>
                                    <p:anim calcmode="lin" valueType="num">
                                      <p:cBhvr>
                                        <p:cTn id="39" dur="1000" fill="hold"/>
                                        <p:tgtEl>
                                          <p:spTgt spid="3">
                                            <p:txEl>
                                              <p:charRg st="45" end="45"/>
                                            </p:txEl>
                                          </p:spTgt>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3">
                                            <p:txEl>
                                              <p:charRg st="45" end="45"/>
                                            </p:txEl>
                                          </p:spTgt>
                                        </p:tgtEl>
                                        <p:attrNameLst>
                                          <p:attrName>style.visibility</p:attrName>
                                        </p:attrNameLst>
                                      </p:cBhvr>
                                      <p:to>
                                        <p:strVal val="visible"/>
                                      </p:to>
                                    </p:set>
                                    <p:animEffect transition="in" filter="fade">
                                      <p:cBhvr>
                                        <p:cTn id="42" dur="1000"/>
                                        <p:tgtEl>
                                          <p:spTgt spid="3">
                                            <p:txEl>
                                              <p:charRg st="45" end="45"/>
                                            </p:txEl>
                                          </p:spTgt>
                                        </p:tgtEl>
                                      </p:cBhvr>
                                    </p:animEffect>
                                    <p:anim calcmode="lin" valueType="num">
                                      <p:cBhvr>
                                        <p:cTn id="43" dur="1000" fill="hold"/>
                                        <p:tgtEl>
                                          <p:spTgt spid="3">
                                            <p:txEl>
                                              <p:charRg st="45" end="4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charRg st="45" end="4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4">
                                            <p:txEl>
                                              <p:pRg st="0" end="0"/>
                                            </p:txEl>
                                          </p:spTgt>
                                        </p:tgtEl>
                                        <p:attrNameLst>
                                          <p:attrName>style.visibility</p:attrName>
                                        </p:attrNameLst>
                                      </p:cBhvr>
                                      <p:to>
                                        <p:strVal val="visible"/>
                                      </p:to>
                                    </p:set>
                                    <p:animEffect transition="in" filter="fade">
                                      <p:cBhvr>
                                        <p:cTn id="49" dur="1000"/>
                                        <p:tgtEl>
                                          <p:spTgt spid="4">
                                            <p:txEl>
                                              <p:pRg st="0" end="0"/>
                                            </p:txEl>
                                          </p:spTgt>
                                        </p:tgtEl>
                                      </p:cBhvr>
                                    </p:animEffect>
                                    <p:anim calcmode="lin" valueType="num">
                                      <p:cBhvr>
                                        <p:cTn id="50"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51" dur="1000" fill="hold"/>
                                        <p:tgtEl>
                                          <p:spTgt spid="4">
                                            <p:txEl>
                                              <p:pRg st="0" end="0"/>
                                            </p:txEl>
                                          </p:spTgt>
                                        </p:tgtEl>
                                        <p:attrNameLst>
                                          <p:attrName>ppt_y</p:attrName>
                                        </p:attrNameLst>
                                      </p:cBhvr>
                                      <p:tavLst>
                                        <p:tav tm="0">
                                          <p:val>
                                            <p:strVal val="#ppt_y+.1"/>
                                          </p:val>
                                        </p:tav>
                                        <p:tav tm="100000">
                                          <p:val>
                                            <p:strVal val="#ppt_y"/>
                                          </p:val>
                                        </p:tav>
                                      </p:tavLst>
                                    </p:anim>
                                  </p:childTnLst>
                                </p:cTn>
                              </p:par>
                              <p:par>
                                <p:cTn id="52" presetID="16" presetClass="entr" presetSubtype="37" fill="hold" grpId="0" nodeType="withEffect">
                                  <p:stCondLst>
                                    <p:cond delay="0"/>
                                  </p:stCondLst>
                                  <p:childTnLst>
                                    <p:set>
                                      <p:cBhvr>
                                        <p:cTn id="53" dur="1" fill="hold">
                                          <p:stCondLst>
                                            <p:cond delay="0"/>
                                          </p:stCondLst>
                                        </p:cTn>
                                        <p:tgtEl>
                                          <p:spTgt spid="6"/>
                                        </p:tgtEl>
                                        <p:attrNameLst>
                                          <p:attrName>style.visibility</p:attrName>
                                        </p:attrNameLst>
                                      </p:cBhvr>
                                      <p:to>
                                        <p:strVal val="visible"/>
                                      </p:to>
                                    </p:set>
                                    <p:animEffect transition="in" filter="barn(outVertical)">
                                      <p:cBhvr>
                                        <p:cTn id="54" dur="500"/>
                                        <p:tgtEl>
                                          <p:spTgt spid="6"/>
                                        </p:tgtEl>
                                      </p:cBhvr>
                                    </p:animEffect>
                                  </p:childTnLst>
                                </p:cTn>
                              </p:par>
                              <p:par>
                                <p:cTn id="55" presetID="42" presetClass="entr" presetSubtype="0" fill="hold" grpId="0" nodeType="withEffect">
                                  <p:stCondLst>
                                    <p:cond delay="0"/>
                                  </p:stCondLst>
                                  <p:childTnLst>
                                    <p:set>
                                      <p:cBhvr>
                                        <p:cTn id="56" dur="1" fill="hold">
                                          <p:stCondLst>
                                            <p:cond delay="0"/>
                                          </p:stCondLst>
                                        </p:cTn>
                                        <p:tgtEl>
                                          <p:spTgt spid="4">
                                            <p:txEl>
                                              <p:pRg st="1" end="1"/>
                                            </p:txEl>
                                          </p:spTgt>
                                        </p:tgtEl>
                                        <p:attrNameLst>
                                          <p:attrName>style.visibility</p:attrName>
                                        </p:attrNameLst>
                                      </p:cBhvr>
                                      <p:to>
                                        <p:strVal val="visible"/>
                                      </p:to>
                                    </p:set>
                                    <p:animEffect transition="in" filter="fade">
                                      <p:cBhvr>
                                        <p:cTn id="57" dur="1000"/>
                                        <p:tgtEl>
                                          <p:spTgt spid="4">
                                            <p:txEl>
                                              <p:pRg st="1" end="1"/>
                                            </p:txEl>
                                          </p:spTgt>
                                        </p:tgtEl>
                                      </p:cBhvr>
                                    </p:animEffect>
                                    <p:anim calcmode="lin" valueType="num">
                                      <p:cBhvr>
                                        <p:cTn id="58"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59" dur="1000" fill="hold"/>
                                        <p:tgtEl>
                                          <p:spTgt spid="4">
                                            <p:txEl>
                                              <p:pRg st="1" end="1"/>
                                            </p:txEl>
                                          </p:spTgt>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4">
                                            <p:txEl>
                                              <p:pRg st="2" end="2"/>
                                            </p:txEl>
                                          </p:spTgt>
                                        </p:tgtEl>
                                        <p:attrNameLst>
                                          <p:attrName>style.visibility</p:attrName>
                                        </p:attrNameLst>
                                      </p:cBhvr>
                                      <p:to>
                                        <p:strVal val="visible"/>
                                      </p:to>
                                    </p:set>
                                    <p:animEffect transition="in" filter="fade">
                                      <p:cBhvr>
                                        <p:cTn id="62" dur="1000"/>
                                        <p:tgtEl>
                                          <p:spTgt spid="4">
                                            <p:txEl>
                                              <p:pRg st="2" end="2"/>
                                            </p:txEl>
                                          </p:spTgt>
                                        </p:tgtEl>
                                      </p:cBhvr>
                                    </p:animEffect>
                                    <p:anim calcmode="lin" valueType="num">
                                      <p:cBhvr>
                                        <p:cTn id="63"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64" dur="1000" fill="hold"/>
                                        <p:tgtEl>
                                          <p:spTgt spid="4">
                                            <p:txEl>
                                              <p:pRg st="2" end="2"/>
                                            </p:txEl>
                                          </p:spTgt>
                                        </p:tgtEl>
                                        <p:attrNameLst>
                                          <p:attrName>ppt_y</p:attrName>
                                        </p:attrNameLst>
                                      </p:cBhvr>
                                      <p:tavLst>
                                        <p:tav tm="0">
                                          <p:val>
                                            <p:strVal val="#ppt_y+.1"/>
                                          </p:val>
                                        </p:tav>
                                        <p:tav tm="100000">
                                          <p:val>
                                            <p:strVal val="#ppt_y"/>
                                          </p:val>
                                        </p:tav>
                                      </p:tavLst>
                                    </p:anim>
                                  </p:childTnLst>
                                </p:cTn>
                              </p:par>
                              <p:par>
                                <p:cTn id="65" presetID="16" presetClass="entr" presetSubtype="21" fill="hold" grpId="0" nodeType="withEffect">
                                  <p:stCondLst>
                                    <p:cond delay="0"/>
                                  </p:stCondLst>
                                  <p:childTnLst>
                                    <p:set>
                                      <p:cBhvr>
                                        <p:cTn id="66" dur="1" fill="hold">
                                          <p:stCondLst>
                                            <p:cond delay="0"/>
                                          </p:stCondLst>
                                        </p:cTn>
                                        <p:tgtEl>
                                          <p:spTgt spid="16"/>
                                        </p:tgtEl>
                                        <p:attrNameLst>
                                          <p:attrName>style.visibility</p:attrName>
                                        </p:attrNameLst>
                                      </p:cBhvr>
                                      <p:to>
                                        <p:strVal val="visible"/>
                                      </p:to>
                                    </p:set>
                                    <p:animEffect transition="in" filter="barn(inVertical)">
                                      <p:cBhvr>
                                        <p:cTn id="67" dur="500"/>
                                        <p:tgtEl>
                                          <p:spTgt spid="16"/>
                                        </p:tgtEl>
                                      </p:cBhvr>
                                    </p:animEffect>
                                  </p:childTnLst>
                                </p:cTn>
                              </p:par>
                            </p:childTnLst>
                          </p:cTn>
                        </p:par>
                      </p:childTnLst>
                    </p:cTn>
                  </p:par>
                  <p:par>
                    <p:cTn id="68" fill="hold">
                      <p:stCondLst>
                        <p:cond delay="indefinite"/>
                      </p:stCondLst>
                      <p:childTnLst>
                        <p:par>
                          <p:cTn id="69" fill="hold">
                            <p:stCondLst>
                              <p:cond delay="0"/>
                            </p:stCondLst>
                            <p:childTnLst>
                              <p:par>
                                <p:cTn id="70" presetID="42" presetClass="entr" presetSubtype="0" fill="hold" grpId="0" nodeType="clickEffect">
                                  <p:stCondLst>
                                    <p:cond delay="0"/>
                                  </p:stCondLst>
                                  <p:childTnLst>
                                    <p:set>
                                      <p:cBhvr>
                                        <p:cTn id="71" dur="1" fill="hold">
                                          <p:stCondLst>
                                            <p:cond delay="0"/>
                                          </p:stCondLst>
                                        </p:cTn>
                                        <p:tgtEl>
                                          <p:spTgt spid="5"/>
                                        </p:tgtEl>
                                        <p:attrNameLst>
                                          <p:attrName>style.visibility</p:attrName>
                                        </p:attrNameLst>
                                      </p:cBhvr>
                                      <p:to>
                                        <p:strVal val="visible"/>
                                      </p:to>
                                    </p:set>
                                    <p:animEffect transition="in" filter="fade">
                                      <p:cBhvr>
                                        <p:cTn id="72" dur="1000"/>
                                        <p:tgtEl>
                                          <p:spTgt spid="5"/>
                                        </p:tgtEl>
                                      </p:cBhvr>
                                    </p:animEffect>
                                    <p:anim calcmode="lin" valueType="num">
                                      <p:cBhvr>
                                        <p:cTn id="73" dur="1000" fill="hold"/>
                                        <p:tgtEl>
                                          <p:spTgt spid="5"/>
                                        </p:tgtEl>
                                        <p:attrNameLst>
                                          <p:attrName>ppt_x</p:attrName>
                                        </p:attrNameLst>
                                      </p:cBhvr>
                                      <p:tavLst>
                                        <p:tav tm="0">
                                          <p:val>
                                            <p:strVal val="#ppt_x"/>
                                          </p:val>
                                        </p:tav>
                                        <p:tav tm="100000">
                                          <p:val>
                                            <p:strVal val="#ppt_x"/>
                                          </p:val>
                                        </p:tav>
                                      </p:tavLst>
                                    </p:anim>
                                    <p:anim calcmode="lin" valueType="num">
                                      <p:cBhvr>
                                        <p:cTn id="7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42" presetClass="entr" presetSubtype="0" fill="hold" grpId="0" nodeType="clickEffect">
                                  <p:stCondLst>
                                    <p:cond delay="0"/>
                                  </p:stCondLst>
                                  <p:childTnLst>
                                    <p:set>
                                      <p:cBhvr>
                                        <p:cTn id="78" dur="1" fill="hold">
                                          <p:stCondLst>
                                            <p:cond delay="0"/>
                                          </p:stCondLst>
                                        </p:cTn>
                                        <p:tgtEl>
                                          <p:spTgt spid="14">
                                            <p:txEl>
                                              <p:pRg st="0" end="0"/>
                                            </p:txEl>
                                          </p:spTgt>
                                        </p:tgtEl>
                                        <p:attrNameLst>
                                          <p:attrName>style.visibility</p:attrName>
                                        </p:attrNameLst>
                                      </p:cBhvr>
                                      <p:to>
                                        <p:strVal val="visible"/>
                                      </p:to>
                                    </p:set>
                                    <p:animEffect transition="in" filter="fade">
                                      <p:cBhvr>
                                        <p:cTn id="79" dur="1000"/>
                                        <p:tgtEl>
                                          <p:spTgt spid="14">
                                            <p:txEl>
                                              <p:pRg st="0" end="0"/>
                                            </p:txEl>
                                          </p:spTgt>
                                        </p:tgtEl>
                                      </p:cBhvr>
                                    </p:animEffect>
                                    <p:anim calcmode="lin" valueType="num">
                                      <p:cBhvr>
                                        <p:cTn id="80"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81" dur="1000" fill="hold"/>
                                        <p:tgtEl>
                                          <p:spTgt spid="14">
                                            <p:txEl>
                                              <p:pRg st="0" end="0"/>
                                            </p:txEl>
                                          </p:spTgt>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0"/>
                                  </p:stCondLst>
                                  <p:childTnLst>
                                    <p:set>
                                      <p:cBhvr>
                                        <p:cTn id="83" dur="1" fill="hold">
                                          <p:stCondLst>
                                            <p:cond delay="0"/>
                                          </p:stCondLst>
                                        </p:cTn>
                                        <p:tgtEl>
                                          <p:spTgt spid="14">
                                            <p:txEl>
                                              <p:pRg st="1" end="1"/>
                                            </p:txEl>
                                          </p:spTgt>
                                        </p:tgtEl>
                                        <p:attrNameLst>
                                          <p:attrName>style.visibility</p:attrName>
                                        </p:attrNameLst>
                                      </p:cBhvr>
                                      <p:to>
                                        <p:strVal val="visible"/>
                                      </p:to>
                                    </p:set>
                                    <p:animEffect transition="in" filter="fade">
                                      <p:cBhvr>
                                        <p:cTn id="84" dur="1000"/>
                                        <p:tgtEl>
                                          <p:spTgt spid="14">
                                            <p:txEl>
                                              <p:pRg st="1" end="1"/>
                                            </p:txEl>
                                          </p:spTgt>
                                        </p:tgtEl>
                                      </p:cBhvr>
                                    </p:animEffect>
                                    <p:anim calcmode="lin" valueType="num">
                                      <p:cBhvr>
                                        <p:cTn id="85"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86" dur="1000" fill="hold"/>
                                        <p:tgtEl>
                                          <p:spTgt spid="14">
                                            <p:txEl>
                                              <p:pRg st="1" end="1"/>
                                            </p:txEl>
                                          </p:spTgt>
                                        </p:tgtEl>
                                        <p:attrNameLst>
                                          <p:attrName>ppt_y</p:attrName>
                                        </p:attrNameLst>
                                      </p:cBhvr>
                                      <p:tavLst>
                                        <p:tav tm="0">
                                          <p:val>
                                            <p:strVal val="#ppt_y+.1"/>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14">
                                            <p:txEl>
                                              <p:pRg st="2" end="2"/>
                                            </p:txEl>
                                          </p:spTgt>
                                        </p:tgtEl>
                                        <p:attrNameLst>
                                          <p:attrName>style.visibility</p:attrName>
                                        </p:attrNameLst>
                                      </p:cBhvr>
                                      <p:to>
                                        <p:strVal val="visible"/>
                                      </p:to>
                                    </p:set>
                                    <p:animEffect transition="in" filter="fade">
                                      <p:cBhvr>
                                        <p:cTn id="89" dur="1000"/>
                                        <p:tgtEl>
                                          <p:spTgt spid="14">
                                            <p:txEl>
                                              <p:pRg st="2" end="2"/>
                                            </p:txEl>
                                          </p:spTgt>
                                        </p:tgtEl>
                                      </p:cBhvr>
                                    </p:animEffect>
                                    <p:anim calcmode="lin" valueType="num">
                                      <p:cBhvr>
                                        <p:cTn id="90"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91" dur="1000" fill="hold"/>
                                        <p:tgtEl>
                                          <p:spTgt spid="1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92" fill="hold">
                      <p:stCondLst>
                        <p:cond delay="indefinite"/>
                      </p:stCondLst>
                      <p:childTnLst>
                        <p:par>
                          <p:cTn id="93" fill="hold">
                            <p:stCondLst>
                              <p:cond delay="0"/>
                            </p:stCondLst>
                            <p:childTnLst>
                              <p:par>
                                <p:cTn id="94" presetID="42" presetClass="entr" presetSubtype="0" fill="hold" grpId="0" nodeType="clickEffect">
                                  <p:stCondLst>
                                    <p:cond delay="0"/>
                                  </p:stCondLst>
                                  <p:childTnLst>
                                    <p:set>
                                      <p:cBhvr>
                                        <p:cTn id="95" dur="1" fill="hold">
                                          <p:stCondLst>
                                            <p:cond delay="0"/>
                                          </p:stCondLst>
                                        </p:cTn>
                                        <p:tgtEl>
                                          <p:spTgt spid="14">
                                            <p:txEl>
                                              <p:pRg st="3" end="3"/>
                                            </p:txEl>
                                          </p:spTgt>
                                        </p:tgtEl>
                                        <p:attrNameLst>
                                          <p:attrName>style.visibility</p:attrName>
                                        </p:attrNameLst>
                                      </p:cBhvr>
                                      <p:to>
                                        <p:strVal val="visible"/>
                                      </p:to>
                                    </p:set>
                                    <p:animEffect transition="in" filter="fade">
                                      <p:cBhvr>
                                        <p:cTn id="96" dur="1000"/>
                                        <p:tgtEl>
                                          <p:spTgt spid="14">
                                            <p:txEl>
                                              <p:pRg st="3" end="3"/>
                                            </p:txEl>
                                          </p:spTgt>
                                        </p:tgtEl>
                                      </p:cBhvr>
                                    </p:animEffect>
                                    <p:anim calcmode="lin" valueType="num">
                                      <p:cBhvr>
                                        <p:cTn id="97"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98" dur="1000" fill="hold"/>
                                        <p:tgtEl>
                                          <p:spTgt spid="14">
                                            <p:txEl>
                                              <p:pRg st="3" end="3"/>
                                            </p:txEl>
                                          </p:spTgt>
                                        </p:tgtEl>
                                        <p:attrNameLst>
                                          <p:attrName>ppt_y</p:attrName>
                                        </p:attrNameLst>
                                      </p:cBhvr>
                                      <p:tavLst>
                                        <p:tav tm="0">
                                          <p:val>
                                            <p:strVal val="#ppt_y+.1"/>
                                          </p:val>
                                        </p:tav>
                                        <p:tav tm="100000">
                                          <p:val>
                                            <p:strVal val="#ppt_y"/>
                                          </p:val>
                                        </p:tav>
                                      </p:tavLst>
                                    </p:anim>
                                  </p:childTnLst>
                                </p:cTn>
                              </p:par>
                              <p:par>
                                <p:cTn id="99" presetID="42" presetClass="entr" presetSubtype="0" fill="hold" grpId="0" nodeType="withEffect">
                                  <p:stCondLst>
                                    <p:cond delay="0"/>
                                  </p:stCondLst>
                                  <p:childTnLst>
                                    <p:set>
                                      <p:cBhvr>
                                        <p:cTn id="100" dur="1" fill="hold">
                                          <p:stCondLst>
                                            <p:cond delay="0"/>
                                          </p:stCondLst>
                                        </p:cTn>
                                        <p:tgtEl>
                                          <p:spTgt spid="14">
                                            <p:txEl>
                                              <p:pRg st="4" end="4"/>
                                            </p:txEl>
                                          </p:spTgt>
                                        </p:tgtEl>
                                        <p:attrNameLst>
                                          <p:attrName>style.visibility</p:attrName>
                                        </p:attrNameLst>
                                      </p:cBhvr>
                                      <p:to>
                                        <p:strVal val="visible"/>
                                      </p:to>
                                    </p:set>
                                    <p:animEffect transition="in" filter="fade">
                                      <p:cBhvr>
                                        <p:cTn id="101" dur="1000"/>
                                        <p:tgtEl>
                                          <p:spTgt spid="14">
                                            <p:txEl>
                                              <p:pRg st="4" end="4"/>
                                            </p:txEl>
                                          </p:spTgt>
                                        </p:tgtEl>
                                      </p:cBhvr>
                                    </p:animEffect>
                                    <p:anim calcmode="lin" valueType="num">
                                      <p:cBhvr>
                                        <p:cTn id="102" dur="1000" fill="hold"/>
                                        <p:tgtEl>
                                          <p:spTgt spid="14">
                                            <p:txEl>
                                              <p:pRg st="4" end="4"/>
                                            </p:txEl>
                                          </p:spTgt>
                                        </p:tgtEl>
                                        <p:attrNameLst>
                                          <p:attrName>ppt_x</p:attrName>
                                        </p:attrNameLst>
                                      </p:cBhvr>
                                      <p:tavLst>
                                        <p:tav tm="0">
                                          <p:val>
                                            <p:strVal val="#ppt_x"/>
                                          </p:val>
                                        </p:tav>
                                        <p:tav tm="100000">
                                          <p:val>
                                            <p:strVal val="#ppt_x"/>
                                          </p:val>
                                        </p:tav>
                                      </p:tavLst>
                                    </p:anim>
                                    <p:anim calcmode="lin" valueType="num">
                                      <p:cBhvr>
                                        <p:cTn id="103" dur="1000" fill="hold"/>
                                        <p:tgtEl>
                                          <p:spTgt spid="14">
                                            <p:txEl>
                                              <p:pRg st="4" end="4"/>
                                            </p:txEl>
                                          </p:spTgt>
                                        </p:tgtEl>
                                        <p:attrNameLst>
                                          <p:attrName>ppt_y</p:attrName>
                                        </p:attrNameLst>
                                      </p:cBhvr>
                                      <p:tavLst>
                                        <p:tav tm="0">
                                          <p:val>
                                            <p:strVal val="#ppt_y+.1"/>
                                          </p:val>
                                        </p:tav>
                                        <p:tav tm="100000">
                                          <p:val>
                                            <p:strVal val="#ppt_y"/>
                                          </p:val>
                                        </p:tav>
                                      </p:tavLst>
                                    </p:anim>
                                  </p:childTnLst>
                                </p:cTn>
                              </p:par>
                              <p:par>
                                <p:cTn id="104" presetID="42" presetClass="entr" presetSubtype="0" fill="hold" grpId="0" nodeType="withEffect">
                                  <p:stCondLst>
                                    <p:cond delay="0"/>
                                  </p:stCondLst>
                                  <p:childTnLst>
                                    <p:set>
                                      <p:cBhvr>
                                        <p:cTn id="105" dur="1" fill="hold">
                                          <p:stCondLst>
                                            <p:cond delay="0"/>
                                          </p:stCondLst>
                                        </p:cTn>
                                        <p:tgtEl>
                                          <p:spTgt spid="14">
                                            <p:txEl>
                                              <p:pRg st="5" end="5"/>
                                            </p:txEl>
                                          </p:spTgt>
                                        </p:tgtEl>
                                        <p:attrNameLst>
                                          <p:attrName>style.visibility</p:attrName>
                                        </p:attrNameLst>
                                      </p:cBhvr>
                                      <p:to>
                                        <p:strVal val="visible"/>
                                      </p:to>
                                    </p:set>
                                    <p:animEffect transition="in" filter="fade">
                                      <p:cBhvr>
                                        <p:cTn id="106" dur="1000"/>
                                        <p:tgtEl>
                                          <p:spTgt spid="14">
                                            <p:txEl>
                                              <p:pRg st="5" end="5"/>
                                            </p:txEl>
                                          </p:spTgt>
                                        </p:tgtEl>
                                      </p:cBhvr>
                                    </p:animEffect>
                                    <p:anim calcmode="lin" valueType="num">
                                      <p:cBhvr>
                                        <p:cTn id="107" dur="1000" fill="hold"/>
                                        <p:tgtEl>
                                          <p:spTgt spid="14">
                                            <p:txEl>
                                              <p:pRg st="5" end="5"/>
                                            </p:txEl>
                                          </p:spTgt>
                                        </p:tgtEl>
                                        <p:attrNameLst>
                                          <p:attrName>ppt_x</p:attrName>
                                        </p:attrNameLst>
                                      </p:cBhvr>
                                      <p:tavLst>
                                        <p:tav tm="0">
                                          <p:val>
                                            <p:strVal val="#ppt_x"/>
                                          </p:val>
                                        </p:tav>
                                        <p:tav tm="100000">
                                          <p:val>
                                            <p:strVal val="#ppt_x"/>
                                          </p:val>
                                        </p:tav>
                                      </p:tavLst>
                                    </p:anim>
                                    <p:anim calcmode="lin" valueType="num">
                                      <p:cBhvr>
                                        <p:cTn id="108" dur="1000" fill="hold"/>
                                        <p:tgtEl>
                                          <p:spTgt spid="14">
                                            <p:txEl>
                                              <p:pRg st="5" end="5"/>
                                            </p:txEl>
                                          </p:spTgt>
                                        </p:tgtEl>
                                        <p:attrNameLst>
                                          <p:attrName>ppt_y</p:attrName>
                                        </p:attrNameLst>
                                      </p:cBhvr>
                                      <p:tavLst>
                                        <p:tav tm="0">
                                          <p:val>
                                            <p:strVal val="#ppt_y+.1"/>
                                          </p:val>
                                        </p:tav>
                                        <p:tav tm="100000">
                                          <p:val>
                                            <p:strVal val="#ppt_y"/>
                                          </p:val>
                                        </p:tav>
                                      </p:tavLst>
                                    </p:anim>
                                  </p:childTnLst>
                                </p:cTn>
                              </p:par>
                              <p:par>
                                <p:cTn id="109" presetID="42" presetClass="entr" presetSubtype="0" fill="hold" grpId="0" nodeType="withEffect">
                                  <p:stCondLst>
                                    <p:cond delay="0"/>
                                  </p:stCondLst>
                                  <p:childTnLst>
                                    <p:set>
                                      <p:cBhvr>
                                        <p:cTn id="110" dur="1" fill="hold">
                                          <p:stCondLst>
                                            <p:cond delay="0"/>
                                          </p:stCondLst>
                                        </p:cTn>
                                        <p:tgtEl>
                                          <p:spTgt spid="14">
                                            <p:txEl>
                                              <p:pRg st="6" end="6"/>
                                            </p:txEl>
                                          </p:spTgt>
                                        </p:tgtEl>
                                        <p:attrNameLst>
                                          <p:attrName>style.visibility</p:attrName>
                                        </p:attrNameLst>
                                      </p:cBhvr>
                                      <p:to>
                                        <p:strVal val="visible"/>
                                      </p:to>
                                    </p:set>
                                    <p:animEffect transition="in" filter="fade">
                                      <p:cBhvr>
                                        <p:cTn id="111" dur="1000"/>
                                        <p:tgtEl>
                                          <p:spTgt spid="14">
                                            <p:txEl>
                                              <p:pRg st="6" end="6"/>
                                            </p:txEl>
                                          </p:spTgt>
                                        </p:tgtEl>
                                      </p:cBhvr>
                                    </p:animEffect>
                                    <p:anim calcmode="lin" valueType="num">
                                      <p:cBhvr>
                                        <p:cTn id="112" dur="1000" fill="hold"/>
                                        <p:tgtEl>
                                          <p:spTgt spid="14">
                                            <p:txEl>
                                              <p:pRg st="6" end="6"/>
                                            </p:txEl>
                                          </p:spTgt>
                                        </p:tgtEl>
                                        <p:attrNameLst>
                                          <p:attrName>ppt_x</p:attrName>
                                        </p:attrNameLst>
                                      </p:cBhvr>
                                      <p:tavLst>
                                        <p:tav tm="0">
                                          <p:val>
                                            <p:strVal val="#ppt_x"/>
                                          </p:val>
                                        </p:tav>
                                        <p:tav tm="100000">
                                          <p:val>
                                            <p:strVal val="#ppt_x"/>
                                          </p:val>
                                        </p:tav>
                                      </p:tavLst>
                                    </p:anim>
                                    <p:anim calcmode="lin" valueType="num">
                                      <p:cBhvr>
                                        <p:cTn id="113" dur="1000" fill="hold"/>
                                        <p:tgtEl>
                                          <p:spTgt spid="1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114" fill="hold">
                      <p:stCondLst>
                        <p:cond delay="indefinite"/>
                      </p:stCondLst>
                      <p:childTnLst>
                        <p:par>
                          <p:cTn id="115" fill="hold">
                            <p:stCondLst>
                              <p:cond delay="0"/>
                            </p:stCondLst>
                            <p:childTnLst>
                              <p:par>
                                <p:cTn id="116" presetID="42" presetClass="entr" presetSubtype="0" fill="hold" grpId="0" nodeType="clickEffect">
                                  <p:stCondLst>
                                    <p:cond delay="0"/>
                                  </p:stCondLst>
                                  <p:childTnLst>
                                    <p:set>
                                      <p:cBhvr>
                                        <p:cTn id="117" dur="1" fill="hold">
                                          <p:stCondLst>
                                            <p:cond delay="0"/>
                                          </p:stCondLst>
                                        </p:cTn>
                                        <p:tgtEl>
                                          <p:spTgt spid="14">
                                            <p:txEl>
                                              <p:pRg st="7" end="7"/>
                                            </p:txEl>
                                          </p:spTgt>
                                        </p:tgtEl>
                                        <p:attrNameLst>
                                          <p:attrName>style.visibility</p:attrName>
                                        </p:attrNameLst>
                                      </p:cBhvr>
                                      <p:to>
                                        <p:strVal val="visible"/>
                                      </p:to>
                                    </p:set>
                                    <p:animEffect transition="in" filter="fade">
                                      <p:cBhvr>
                                        <p:cTn id="118" dur="1000"/>
                                        <p:tgtEl>
                                          <p:spTgt spid="14">
                                            <p:txEl>
                                              <p:pRg st="7" end="7"/>
                                            </p:txEl>
                                          </p:spTgt>
                                        </p:tgtEl>
                                      </p:cBhvr>
                                    </p:animEffect>
                                    <p:anim calcmode="lin" valueType="num">
                                      <p:cBhvr>
                                        <p:cTn id="119" dur="1000" fill="hold"/>
                                        <p:tgtEl>
                                          <p:spTgt spid="14">
                                            <p:txEl>
                                              <p:pRg st="7" end="7"/>
                                            </p:txEl>
                                          </p:spTgt>
                                        </p:tgtEl>
                                        <p:attrNameLst>
                                          <p:attrName>ppt_x</p:attrName>
                                        </p:attrNameLst>
                                      </p:cBhvr>
                                      <p:tavLst>
                                        <p:tav tm="0">
                                          <p:val>
                                            <p:strVal val="#ppt_x"/>
                                          </p:val>
                                        </p:tav>
                                        <p:tav tm="100000">
                                          <p:val>
                                            <p:strVal val="#ppt_x"/>
                                          </p:val>
                                        </p:tav>
                                      </p:tavLst>
                                    </p:anim>
                                    <p:anim calcmode="lin" valueType="num">
                                      <p:cBhvr>
                                        <p:cTn id="120" dur="1000" fill="hold"/>
                                        <p:tgtEl>
                                          <p:spTgt spid="1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121" fill="hold">
                      <p:stCondLst>
                        <p:cond delay="indefinite"/>
                      </p:stCondLst>
                      <p:childTnLst>
                        <p:par>
                          <p:cTn id="122" fill="hold">
                            <p:stCondLst>
                              <p:cond delay="0"/>
                            </p:stCondLst>
                            <p:childTnLst>
                              <p:par>
                                <p:cTn id="123" presetID="2" presetClass="entr" presetSubtype="2" fill="hold" grpId="0" nodeType="clickEffect">
                                  <p:stCondLst>
                                    <p:cond delay="0"/>
                                  </p:stCondLst>
                                  <p:childTnLst>
                                    <p:set>
                                      <p:cBhvr>
                                        <p:cTn id="124" dur="1" fill="hold">
                                          <p:stCondLst>
                                            <p:cond delay="0"/>
                                          </p:stCondLst>
                                        </p:cTn>
                                        <p:tgtEl>
                                          <p:spTgt spid="15"/>
                                        </p:tgtEl>
                                        <p:attrNameLst>
                                          <p:attrName>style.visibility</p:attrName>
                                        </p:attrNameLst>
                                      </p:cBhvr>
                                      <p:to>
                                        <p:strVal val="visible"/>
                                      </p:to>
                                    </p:set>
                                    <p:anim calcmode="lin" valueType="num">
                                      <p:cBhvr additive="base">
                                        <p:cTn id="125" dur="500" fill="hold"/>
                                        <p:tgtEl>
                                          <p:spTgt spid="15"/>
                                        </p:tgtEl>
                                        <p:attrNameLst>
                                          <p:attrName>ppt_x</p:attrName>
                                        </p:attrNameLst>
                                      </p:cBhvr>
                                      <p:tavLst>
                                        <p:tav tm="0">
                                          <p:val>
                                            <p:strVal val="1+#ppt_w/2"/>
                                          </p:val>
                                        </p:tav>
                                        <p:tav tm="100000">
                                          <p:val>
                                            <p:strVal val="#ppt_x"/>
                                          </p:val>
                                        </p:tav>
                                      </p:tavLst>
                                    </p:anim>
                                    <p:anim calcmode="lin" valueType="num">
                                      <p:cBhvr additive="base">
                                        <p:cTn id="126" dur="500" fill="hold"/>
                                        <p:tgtEl>
                                          <p:spTgt spid="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15" grpId="0"/>
      <p:bldP spid="16" grpId="0" animBg="1"/>
      <p:bldP spid="11" grpId="0"/>
      <p:bldP spid="14" grpId="0" build="p"/>
      <p:bldP spid="3" grpId="0" build="p"/>
      <p:bldP spid="5" grpId="0"/>
      <p:bldP spid="6" grpId="0" animBg="1"/>
    </p:bldLst>
  </p:timing>
</p:sld>
</file>

<file path=ppt/slides/slide1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tângulo 3"/>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grpSp>
        <p:nvGrpSpPr>
          <p:cNvPr id="12" name="Agrupar 11"/>
          <p:cNvGrpSpPr/>
          <p:nvPr/>
        </p:nvGrpSpPr>
        <p:grpSpPr>
          <a:xfrm>
            <a:off x="285056" y="1553181"/>
            <a:ext cx="4073583" cy="4146579"/>
            <a:chOff x="2105518" y="1517596"/>
            <a:chExt cx="3703477" cy="4146579"/>
          </a:xfrm>
        </p:grpSpPr>
        <p:sp>
          <p:nvSpPr>
            <p:cNvPr id="8" name="Forma Livre 7"/>
            <p:cNvSpPr/>
            <p:nvPr/>
          </p:nvSpPr>
          <p:spPr>
            <a:xfrm>
              <a:off x="2105518" y="1517596"/>
              <a:ext cx="3703477" cy="520548"/>
            </a:xfrm>
            <a:custGeom>
              <a:avLst/>
              <a:gdLst>
                <a:gd name="connsiteX0" fmla="*/ 0 w 3703477"/>
                <a:gd name="connsiteY0" fmla="*/ 0 h 520548"/>
                <a:gd name="connsiteX1" fmla="*/ 3703477 w 3703477"/>
                <a:gd name="connsiteY1" fmla="*/ 0 h 520548"/>
                <a:gd name="connsiteX2" fmla="*/ 3703477 w 3703477"/>
                <a:gd name="connsiteY2" fmla="*/ 520548 h 520548"/>
                <a:gd name="connsiteX3" fmla="*/ 0 w 3703477"/>
                <a:gd name="connsiteY3" fmla="*/ 520548 h 520548"/>
                <a:gd name="connsiteX4" fmla="*/ 0 w 3703477"/>
                <a:gd name="connsiteY4" fmla="*/ 0 h 5205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03477" h="520548">
                  <a:moveTo>
                    <a:pt x="0" y="0"/>
                  </a:moveTo>
                  <a:lnTo>
                    <a:pt x="3703477" y="0"/>
                  </a:lnTo>
                  <a:lnTo>
                    <a:pt x="3703477" y="520548"/>
                  </a:lnTo>
                  <a:lnTo>
                    <a:pt x="0" y="520548"/>
                  </a:lnTo>
                  <a:lnTo>
                    <a:pt x="0" y="0"/>
                  </a:lnTo>
                  <a:close/>
                </a:path>
              </a:pathLst>
            </a:custGeom>
            <a:solidFill>
              <a:srgbClr val="00B0F0"/>
            </a:solidFill>
            <a:scene3d>
              <a:camera prst="orthographicFront"/>
              <a:lightRig rig="flat" dir="t"/>
            </a:scene3d>
            <a:sp3d prstMaterial="plastic">
              <a:bevelT w="120900" h="88900"/>
              <a:bevelB w="88900" h="31750" prst="angle"/>
            </a:sp3d>
          </p:spPr>
          <p:style>
            <a:lnRef idx="1">
              <a:schemeClr val="accen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txBody>
            <a:bodyPr spcFirstLastPara="0" vert="horz" wrap="square" lIns="142240" tIns="81280" rIns="142240" bIns="81280" numCol="1" spcCol="1270" anchor="ctr" anchorCtr="0">
              <a:noAutofit/>
            </a:bodyPr>
            <a:lstStyle/>
            <a:p>
              <a:pPr lvl="0" algn="ctr" defTabSz="889000">
                <a:lnSpc>
                  <a:spcPct val="90000"/>
                </a:lnSpc>
                <a:spcBef>
                  <a:spcPct val="0"/>
                </a:spcBef>
                <a:spcAft>
                  <a:spcPct val="35000"/>
                </a:spcAft>
              </a:pPr>
              <a:r>
                <a:rPr lang="pt-BR" kern="1200" dirty="0">
                  <a:latin typeface="+mn-lt"/>
                  <a:cs typeface="Helvetica Neue"/>
                </a:rPr>
                <a:t>Consumidores</a:t>
              </a:r>
            </a:p>
          </p:txBody>
        </p:sp>
        <p:sp>
          <p:nvSpPr>
            <p:cNvPr id="9" name="Forma Livre 8"/>
            <p:cNvSpPr/>
            <p:nvPr/>
          </p:nvSpPr>
          <p:spPr>
            <a:xfrm>
              <a:off x="2105518" y="2038145"/>
              <a:ext cx="3703477" cy="3626030"/>
            </a:xfrm>
            <a:custGeom>
              <a:avLst/>
              <a:gdLst>
                <a:gd name="connsiteX0" fmla="*/ 0 w 3703477"/>
                <a:gd name="connsiteY0" fmla="*/ 0 h 4163635"/>
                <a:gd name="connsiteX1" fmla="*/ 3703477 w 3703477"/>
                <a:gd name="connsiteY1" fmla="*/ 0 h 4163635"/>
                <a:gd name="connsiteX2" fmla="*/ 3703477 w 3703477"/>
                <a:gd name="connsiteY2" fmla="*/ 4163635 h 4163635"/>
                <a:gd name="connsiteX3" fmla="*/ 0 w 3703477"/>
                <a:gd name="connsiteY3" fmla="*/ 4163635 h 4163635"/>
                <a:gd name="connsiteX4" fmla="*/ 0 w 3703477"/>
                <a:gd name="connsiteY4" fmla="*/ 0 h 4163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03477" h="4163635">
                  <a:moveTo>
                    <a:pt x="0" y="0"/>
                  </a:moveTo>
                  <a:lnTo>
                    <a:pt x="3703477" y="0"/>
                  </a:lnTo>
                  <a:lnTo>
                    <a:pt x="3703477" y="4163635"/>
                  </a:lnTo>
                  <a:lnTo>
                    <a:pt x="0" y="4163635"/>
                  </a:lnTo>
                  <a:lnTo>
                    <a:pt x="0" y="0"/>
                  </a:lnTo>
                  <a:close/>
                </a:path>
              </a:pathLst>
            </a:custGeom>
            <a:solidFill>
              <a:srgbClr val="C1D7F7">
                <a:alpha val="89804"/>
              </a:srgbClr>
            </a:solidFill>
            <a:scene3d>
              <a:camera prst="orthographicFront"/>
              <a:lightRig rig="flat" dir="t"/>
            </a:scene3d>
            <a:sp3d extrusionH="12700" prstMaterial="plastic">
              <a:bevelT w="50800" h="50800"/>
            </a:sp3d>
          </p:spPr>
          <p:style>
            <a:lnRef idx="1">
              <a:schemeClr val="accent1">
                <a:alpha val="90000"/>
                <a:tint val="40000"/>
                <a:hueOff val="0"/>
                <a:satOff val="0"/>
                <a:lumOff val="0"/>
                <a:alphaOff val="0"/>
              </a:schemeClr>
            </a:lnRef>
            <a:fillRef idx="1">
              <a:scrgbClr r="0" g="0" b="0"/>
            </a:fillRef>
            <a:effectRef idx="2">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pt-BR" kern="1200" dirty="0">
                  <a:solidFill>
                    <a:schemeClr val="accent6"/>
                  </a:solidFill>
                  <a:latin typeface="+mn-lt"/>
                  <a:cs typeface="Helvetica Neue"/>
                </a:rPr>
                <a:t>Aumento de compras via comércio eletrônico; </a:t>
              </a:r>
            </a:p>
            <a:p>
              <a:pPr marL="171450" lvl="1" indent="-171450" algn="l" defTabSz="711200">
                <a:lnSpc>
                  <a:spcPct val="90000"/>
                </a:lnSpc>
                <a:spcBef>
                  <a:spcPct val="0"/>
                </a:spcBef>
                <a:spcAft>
                  <a:spcPct val="15000"/>
                </a:spcAft>
                <a:buChar char="••"/>
              </a:pPr>
              <a:r>
                <a:rPr lang="pt-BR" kern="1200" dirty="0">
                  <a:solidFill>
                    <a:schemeClr val="accent6"/>
                  </a:solidFill>
                  <a:latin typeface="+mn-lt"/>
                  <a:cs typeface="Helvetica Neue"/>
                </a:rPr>
                <a:t>Maior oferta de produtos e serviços (diversidade);</a:t>
              </a:r>
            </a:p>
            <a:p>
              <a:pPr marL="171450" lvl="1" indent="-171450" algn="l" defTabSz="711200">
                <a:lnSpc>
                  <a:spcPct val="90000"/>
                </a:lnSpc>
                <a:spcBef>
                  <a:spcPct val="0"/>
                </a:spcBef>
                <a:spcAft>
                  <a:spcPct val="15000"/>
                </a:spcAft>
                <a:buChar char="••"/>
              </a:pPr>
              <a:r>
                <a:rPr lang="pt-BR" kern="1200" dirty="0">
                  <a:solidFill>
                    <a:schemeClr val="accent6"/>
                  </a:solidFill>
                  <a:latin typeface="+mn-lt"/>
                  <a:cs typeface="Helvetica Neue"/>
                </a:rPr>
                <a:t>Compras mais fracionadas;</a:t>
              </a:r>
            </a:p>
            <a:p>
              <a:pPr marL="171450" lvl="1" indent="-171450" algn="l" defTabSz="711200">
                <a:lnSpc>
                  <a:spcPct val="90000"/>
                </a:lnSpc>
                <a:spcBef>
                  <a:spcPct val="0"/>
                </a:spcBef>
                <a:spcAft>
                  <a:spcPct val="15000"/>
                </a:spcAft>
                <a:buChar char="••"/>
              </a:pPr>
              <a:r>
                <a:rPr lang="pt-BR" kern="1200" dirty="0">
                  <a:solidFill>
                    <a:schemeClr val="accent6"/>
                  </a:solidFill>
                  <a:latin typeface="+mn-lt"/>
                  <a:cs typeface="Helvetica Neue"/>
                </a:rPr>
                <a:t>Exigentes quanto à conformidade do pedido e dos prazos;</a:t>
              </a:r>
            </a:p>
            <a:p>
              <a:pPr marL="171450" lvl="1" indent="-171450" algn="l" defTabSz="711200">
                <a:lnSpc>
                  <a:spcPct val="90000"/>
                </a:lnSpc>
                <a:spcBef>
                  <a:spcPct val="0"/>
                </a:spcBef>
                <a:spcAft>
                  <a:spcPct val="15000"/>
                </a:spcAft>
                <a:buChar char="••"/>
              </a:pPr>
              <a:r>
                <a:rPr lang="pt-BR" kern="1200" dirty="0">
                  <a:solidFill>
                    <a:schemeClr val="accent6"/>
                  </a:solidFill>
                  <a:latin typeface="+mn-lt"/>
                  <a:cs typeface="Helvetica Neue"/>
                </a:rPr>
                <a:t>Lei de defesa do consumidor;</a:t>
              </a:r>
            </a:p>
            <a:p>
              <a:pPr marL="171450" lvl="1" indent="-171450" algn="l" defTabSz="711200">
                <a:lnSpc>
                  <a:spcPct val="90000"/>
                </a:lnSpc>
                <a:spcBef>
                  <a:spcPct val="0"/>
                </a:spcBef>
                <a:spcAft>
                  <a:spcPct val="15000"/>
                </a:spcAft>
                <a:buChar char="••"/>
              </a:pPr>
              <a:r>
                <a:rPr lang="pt-BR" kern="1200" dirty="0">
                  <a:solidFill>
                    <a:schemeClr val="accent6"/>
                  </a:solidFill>
                  <a:latin typeface="+mn-lt"/>
                  <a:cs typeface="Helvetica Neue"/>
                </a:rPr>
                <a:t>Facilidade de acesso e compartilhamento da informação;</a:t>
              </a:r>
            </a:p>
            <a:p>
              <a:pPr marL="171450" lvl="1" indent="-171450" algn="l" defTabSz="711200">
                <a:lnSpc>
                  <a:spcPct val="90000"/>
                </a:lnSpc>
                <a:spcBef>
                  <a:spcPct val="0"/>
                </a:spcBef>
                <a:spcAft>
                  <a:spcPct val="15000"/>
                </a:spcAft>
                <a:buChar char="••"/>
              </a:pPr>
              <a:r>
                <a:rPr lang="pt-BR" kern="1200" dirty="0">
                  <a:solidFill>
                    <a:schemeClr val="accent6"/>
                  </a:solidFill>
                  <a:latin typeface="+mn-lt"/>
                  <a:cs typeface="Helvetica Neue"/>
                </a:rPr>
                <a:t>Preocupação ambiental.</a:t>
              </a:r>
            </a:p>
          </p:txBody>
        </p:sp>
      </p:grpSp>
      <p:grpSp>
        <p:nvGrpSpPr>
          <p:cNvPr id="13" name="Agrupar 12"/>
          <p:cNvGrpSpPr/>
          <p:nvPr/>
        </p:nvGrpSpPr>
        <p:grpSpPr>
          <a:xfrm>
            <a:off x="4476818" y="1553181"/>
            <a:ext cx="4255702" cy="4789376"/>
            <a:chOff x="6326976" y="1777870"/>
            <a:chExt cx="3699860" cy="5589952"/>
          </a:xfrm>
        </p:grpSpPr>
        <p:sp>
          <p:nvSpPr>
            <p:cNvPr id="10" name="Forma Livre 9"/>
            <p:cNvSpPr/>
            <p:nvPr/>
          </p:nvSpPr>
          <p:spPr>
            <a:xfrm>
              <a:off x="6326976" y="1777870"/>
              <a:ext cx="3699860" cy="607561"/>
            </a:xfrm>
            <a:custGeom>
              <a:avLst/>
              <a:gdLst>
                <a:gd name="connsiteX0" fmla="*/ 0 w 3699860"/>
                <a:gd name="connsiteY0" fmla="*/ 0 h 520548"/>
                <a:gd name="connsiteX1" fmla="*/ 3699860 w 3699860"/>
                <a:gd name="connsiteY1" fmla="*/ 0 h 520548"/>
                <a:gd name="connsiteX2" fmla="*/ 3699860 w 3699860"/>
                <a:gd name="connsiteY2" fmla="*/ 520548 h 520548"/>
                <a:gd name="connsiteX3" fmla="*/ 0 w 3699860"/>
                <a:gd name="connsiteY3" fmla="*/ 520548 h 520548"/>
                <a:gd name="connsiteX4" fmla="*/ 0 w 3699860"/>
                <a:gd name="connsiteY4" fmla="*/ 0 h 5205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9860" h="520548">
                  <a:moveTo>
                    <a:pt x="0" y="0"/>
                  </a:moveTo>
                  <a:lnTo>
                    <a:pt x="3699860" y="0"/>
                  </a:lnTo>
                  <a:lnTo>
                    <a:pt x="3699860" y="520548"/>
                  </a:lnTo>
                  <a:lnTo>
                    <a:pt x="0" y="520548"/>
                  </a:lnTo>
                  <a:lnTo>
                    <a:pt x="0" y="0"/>
                  </a:lnTo>
                  <a:close/>
                </a:path>
              </a:pathLst>
            </a:custGeom>
            <a:solidFill>
              <a:srgbClr val="00B0F0"/>
            </a:solidFill>
            <a:scene3d>
              <a:camera prst="orthographicFront"/>
              <a:lightRig rig="flat" dir="t"/>
            </a:scene3d>
            <a:sp3d prstMaterial="plastic">
              <a:bevelT w="120900" h="88900"/>
              <a:bevelB w="88900" h="31750" prst="angle"/>
            </a:sp3d>
          </p:spPr>
          <p:style>
            <a:lnRef idx="1">
              <a:schemeClr val="accen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txBody>
            <a:bodyPr spcFirstLastPara="0" vert="horz" wrap="square" lIns="142240" tIns="81280" rIns="142240" bIns="81280" numCol="1" spcCol="1270" anchor="ctr" anchorCtr="0">
              <a:noAutofit/>
            </a:bodyPr>
            <a:lstStyle/>
            <a:p>
              <a:pPr lvl="0" algn="ctr" defTabSz="889000">
                <a:lnSpc>
                  <a:spcPct val="90000"/>
                </a:lnSpc>
                <a:spcBef>
                  <a:spcPct val="0"/>
                </a:spcBef>
                <a:spcAft>
                  <a:spcPct val="35000"/>
                </a:spcAft>
              </a:pPr>
              <a:r>
                <a:rPr lang="pt-BR" kern="1200" dirty="0">
                  <a:latin typeface="+mn-lt"/>
                  <a:cs typeface="Helvetica Neue"/>
                </a:rPr>
                <a:t>Embarcadores</a:t>
              </a:r>
            </a:p>
          </p:txBody>
        </p:sp>
        <p:sp>
          <p:nvSpPr>
            <p:cNvPr id="11" name="Forma Livre 10"/>
            <p:cNvSpPr/>
            <p:nvPr/>
          </p:nvSpPr>
          <p:spPr>
            <a:xfrm>
              <a:off x="6326976" y="2385431"/>
              <a:ext cx="3699860" cy="4982391"/>
            </a:xfrm>
            <a:custGeom>
              <a:avLst/>
              <a:gdLst>
                <a:gd name="connsiteX0" fmla="*/ 0 w 3699860"/>
                <a:gd name="connsiteY0" fmla="*/ 0 h 3643086"/>
                <a:gd name="connsiteX1" fmla="*/ 3699860 w 3699860"/>
                <a:gd name="connsiteY1" fmla="*/ 0 h 3643086"/>
                <a:gd name="connsiteX2" fmla="*/ 3699860 w 3699860"/>
                <a:gd name="connsiteY2" fmla="*/ 3643086 h 3643086"/>
                <a:gd name="connsiteX3" fmla="*/ 0 w 3699860"/>
                <a:gd name="connsiteY3" fmla="*/ 3643086 h 3643086"/>
                <a:gd name="connsiteX4" fmla="*/ 0 w 3699860"/>
                <a:gd name="connsiteY4" fmla="*/ 0 h 3643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9860" h="3643086">
                  <a:moveTo>
                    <a:pt x="0" y="0"/>
                  </a:moveTo>
                  <a:lnTo>
                    <a:pt x="3699860" y="0"/>
                  </a:lnTo>
                  <a:lnTo>
                    <a:pt x="3699860" y="3643086"/>
                  </a:lnTo>
                  <a:lnTo>
                    <a:pt x="0" y="3643086"/>
                  </a:lnTo>
                  <a:lnTo>
                    <a:pt x="0" y="0"/>
                  </a:lnTo>
                  <a:close/>
                </a:path>
              </a:pathLst>
            </a:custGeom>
            <a:solidFill>
              <a:srgbClr val="C1D7F7">
                <a:alpha val="89804"/>
              </a:srgbClr>
            </a:solidFill>
            <a:scene3d>
              <a:camera prst="orthographicFront"/>
              <a:lightRig rig="flat" dir="t"/>
            </a:scene3d>
            <a:sp3d extrusionH="12700" prstMaterial="plastic">
              <a:bevelT w="50800" h="50800"/>
            </a:sp3d>
          </p:spPr>
          <p:style>
            <a:lnRef idx="1">
              <a:schemeClr val="accent1">
                <a:alpha val="90000"/>
                <a:tint val="40000"/>
                <a:hueOff val="0"/>
                <a:satOff val="0"/>
                <a:lumOff val="0"/>
                <a:alphaOff val="0"/>
              </a:schemeClr>
            </a:lnRef>
            <a:fillRef idx="1">
              <a:scrgbClr r="0" g="0" b="0"/>
            </a:fillRef>
            <a:effectRef idx="2">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pt-BR" kern="1200" dirty="0">
                  <a:solidFill>
                    <a:schemeClr val="accent6"/>
                  </a:solidFill>
                  <a:latin typeface="+mn-lt"/>
                  <a:cs typeface="Helvetica Neue"/>
                </a:rPr>
                <a:t>Prover soluções adequadas ao tipo de carga;</a:t>
              </a:r>
            </a:p>
            <a:p>
              <a:pPr marL="171450" lvl="1" indent="-171450" algn="l" defTabSz="711200">
                <a:lnSpc>
                  <a:spcPct val="90000"/>
                </a:lnSpc>
                <a:spcBef>
                  <a:spcPct val="0"/>
                </a:spcBef>
                <a:spcAft>
                  <a:spcPct val="15000"/>
                </a:spcAft>
                <a:buChar char="••"/>
              </a:pPr>
              <a:r>
                <a:rPr lang="pt-BR" kern="1200" dirty="0">
                  <a:solidFill>
                    <a:schemeClr val="accent6"/>
                  </a:solidFill>
                  <a:latin typeface="+mn-lt"/>
                  <a:cs typeface="Helvetica Neue"/>
                </a:rPr>
                <a:t>Soluções integradas de transporte;</a:t>
              </a:r>
            </a:p>
            <a:p>
              <a:pPr marL="171450" lvl="1" indent="-171450" algn="l" defTabSz="711200">
                <a:lnSpc>
                  <a:spcPct val="90000"/>
                </a:lnSpc>
                <a:spcBef>
                  <a:spcPct val="0"/>
                </a:spcBef>
                <a:spcAft>
                  <a:spcPct val="15000"/>
                </a:spcAft>
                <a:buChar char="••"/>
              </a:pPr>
              <a:r>
                <a:rPr lang="pt-BR" kern="1200" dirty="0">
                  <a:solidFill>
                    <a:schemeClr val="accent6"/>
                  </a:solidFill>
                  <a:latin typeface="+mn-lt"/>
                  <a:cs typeface="Helvetica Neue"/>
                </a:rPr>
                <a:t>Preços competitivos de transporte;</a:t>
              </a:r>
            </a:p>
            <a:p>
              <a:pPr marL="171450" lvl="1" indent="-171450" algn="l" defTabSz="711200">
                <a:lnSpc>
                  <a:spcPct val="90000"/>
                </a:lnSpc>
                <a:spcBef>
                  <a:spcPct val="0"/>
                </a:spcBef>
                <a:spcAft>
                  <a:spcPct val="15000"/>
                </a:spcAft>
                <a:buChar char="••"/>
              </a:pPr>
              <a:r>
                <a:rPr lang="pt-BR" kern="1200" dirty="0">
                  <a:solidFill>
                    <a:schemeClr val="accent6"/>
                  </a:solidFill>
                  <a:latin typeface="+mn-lt"/>
                  <a:cs typeface="Helvetica Neue"/>
                </a:rPr>
                <a:t>Expectativa sobre o nível de serviço;</a:t>
              </a:r>
            </a:p>
            <a:p>
              <a:pPr marL="171450" lvl="1" indent="-171450" algn="l" defTabSz="711200">
                <a:lnSpc>
                  <a:spcPct val="90000"/>
                </a:lnSpc>
                <a:spcBef>
                  <a:spcPct val="0"/>
                </a:spcBef>
                <a:spcAft>
                  <a:spcPct val="15000"/>
                </a:spcAft>
                <a:buChar char="••"/>
              </a:pPr>
              <a:r>
                <a:rPr lang="pt-BR" kern="1200" dirty="0">
                  <a:solidFill>
                    <a:schemeClr val="accent6"/>
                  </a:solidFill>
                  <a:latin typeface="+mn-lt"/>
                  <a:cs typeface="Helvetica Neue"/>
                </a:rPr>
                <a:t>Confiabilidade e consistência;</a:t>
              </a:r>
            </a:p>
            <a:p>
              <a:pPr marL="171450" lvl="1" indent="-171450" algn="l" defTabSz="711200">
                <a:lnSpc>
                  <a:spcPct val="90000"/>
                </a:lnSpc>
                <a:spcBef>
                  <a:spcPct val="0"/>
                </a:spcBef>
                <a:spcAft>
                  <a:spcPct val="15000"/>
                </a:spcAft>
                <a:buChar char="••"/>
              </a:pPr>
              <a:r>
                <a:rPr lang="pt-BR" kern="1200" dirty="0">
                  <a:solidFill>
                    <a:schemeClr val="accent6"/>
                  </a:solidFill>
                  <a:latin typeface="+mn-lt"/>
                  <a:cs typeface="Helvetica Neue"/>
                </a:rPr>
                <a:t>Requerem informações precisas da carga e do serviço de transporte;</a:t>
              </a:r>
            </a:p>
            <a:p>
              <a:pPr marL="171450" lvl="1" indent="-171450" algn="l" defTabSz="711200">
                <a:lnSpc>
                  <a:spcPct val="90000"/>
                </a:lnSpc>
                <a:spcBef>
                  <a:spcPct val="0"/>
                </a:spcBef>
                <a:spcAft>
                  <a:spcPct val="15000"/>
                </a:spcAft>
                <a:buChar char="••"/>
              </a:pPr>
              <a:r>
                <a:rPr lang="pt-BR" kern="1200" dirty="0">
                  <a:solidFill>
                    <a:schemeClr val="accent6"/>
                  </a:solidFill>
                  <a:latin typeface="+mn-lt"/>
                  <a:cs typeface="Helvetica Neue"/>
                </a:rPr>
                <a:t>Flexibilidade;</a:t>
              </a:r>
            </a:p>
            <a:p>
              <a:pPr marL="171450" lvl="1" indent="-171450" algn="l" defTabSz="711200">
                <a:lnSpc>
                  <a:spcPct val="90000"/>
                </a:lnSpc>
                <a:spcBef>
                  <a:spcPct val="0"/>
                </a:spcBef>
                <a:spcAft>
                  <a:spcPct val="15000"/>
                </a:spcAft>
                <a:buChar char="••"/>
              </a:pPr>
              <a:r>
                <a:rPr lang="pt-BR" kern="1200" dirty="0">
                  <a:solidFill>
                    <a:schemeClr val="accent6"/>
                  </a:solidFill>
                  <a:latin typeface="+mn-lt"/>
                  <a:cs typeface="Helvetica Neue"/>
                </a:rPr>
                <a:t>Agilidade;</a:t>
              </a:r>
            </a:p>
            <a:p>
              <a:pPr marL="171450" lvl="1" indent="-171450" algn="l" defTabSz="711200">
                <a:lnSpc>
                  <a:spcPct val="90000"/>
                </a:lnSpc>
                <a:spcBef>
                  <a:spcPct val="0"/>
                </a:spcBef>
                <a:spcAft>
                  <a:spcPct val="15000"/>
                </a:spcAft>
                <a:buChar char="••"/>
              </a:pPr>
              <a:r>
                <a:rPr lang="pt-BR" kern="1200" dirty="0">
                  <a:solidFill>
                    <a:schemeClr val="accent6"/>
                  </a:solidFill>
                  <a:latin typeface="+mn-lt"/>
                  <a:cs typeface="Helvetica Neue"/>
                </a:rPr>
                <a:t>Segurança (gestão risco);</a:t>
              </a:r>
            </a:p>
            <a:p>
              <a:pPr marL="171450" lvl="1" indent="-171450" algn="l" defTabSz="711200">
                <a:lnSpc>
                  <a:spcPct val="90000"/>
                </a:lnSpc>
                <a:spcBef>
                  <a:spcPct val="0"/>
                </a:spcBef>
                <a:spcAft>
                  <a:spcPct val="15000"/>
                </a:spcAft>
                <a:buChar char="••"/>
              </a:pPr>
              <a:r>
                <a:rPr lang="pt-BR" kern="1200" dirty="0">
                  <a:solidFill>
                    <a:schemeClr val="accent6"/>
                  </a:solidFill>
                  <a:latin typeface="+mn-lt"/>
                  <a:cs typeface="Helvetica Neue"/>
                </a:rPr>
                <a:t>Forma de tratamento de problemas e reclamações;</a:t>
              </a:r>
            </a:p>
            <a:p>
              <a:pPr marL="171450" lvl="1" indent="-171450" algn="l" defTabSz="711200">
                <a:lnSpc>
                  <a:spcPct val="90000"/>
                </a:lnSpc>
                <a:spcBef>
                  <a:spcPct val="0"/>
                </a:spcBef>
                <a:spcAft>
                  <a:spcPct val="15000"/>
                </a:spcAft>
                <a:buChar char="••"/>
              </a:pPr>
              <a:r>
                <a:rPr lang="pt-BR" kern="1200" dirty="0">
                  <a:solidFill>
                    <a:schemeClr val="accent6"/>
                  </a:solidFill>
                  <a:latin typeface="+mn-lt"/>
                  <a:cs typeface="Helvetica Neue"/>
                </a:rPr>
                <a:t>Atender à legislação.</a:t>
              </a:r>
            </a:p>
          </p:txBody>
        </p:sp>
      </p:grpSp>
      <p:sp>
        <p:nvSpPr>
          <p:cNvPr id="6" name="TextBox 15"/>
          <p:cNvSpPr txBox="1"/>
          <p:nvPr/>
        </p:nvSpPr>
        <p:spPr>
          <a:xfrm>
            <a:off x="8999220" y="2484079"/>
            <a:ext cx="2849879" cy="1200329"/>
          </a:xfrm>
          <a:prstGeom prst="rect">
            <a:avLst/>
          </a:prstGeom>
          <a:noFill/>
          <a:ln w="12700">
            <a:solidFill>
              <a:srgbClr val="FF0000"/>
            </a:solidFill>
          </a:ln>
        </p:spPr>
        <p:style>
          <a:lnRef idx="3">
            <a:schemeClr val="lt1"/>
          </a:lnRef>
          <a:fillRef idx="1">
            <a:schemeClr val="accent2"/>
          </a:fillRef>
          <a:effectRef idx="1">
            <a:schemeClr val="accent2"/>
          </a:effectRef>
          <a:fontRef idx="minor">
            <a:schemeClr val="lt1"/>
          </a:fontRef>
        </p:style>
        <p:txBody>
          <a:bodyPr wrap="square" rtlCol="0">
            <a:spAutoFit/>
          </a:bodyPr>
          <a:lstStyle/>
          <a:p>
            <a:pPr algn="just"/>
            <a:r>
              <a:rPr lang="pt-BR" b="1" dirty="0">
                <a:solidFill>
                  <a:schemeClr val="accent6"/>
                </a:solidFill>
              </a:rPr>
              <a:t>TENDO EM VISTA ESTAS DEMANDAS, QUAIS OS CONFLITOS COM O TRANSPORTADOR?</a:t>
            </a:r>
          </a:p>
        </p:txBody>
      </p:sp>
      <p:sp>
        <p:nvSpPr>
          <p:cNvPr id="7" name="TextBox 1"/>
          <p:cNvSpPr txBox="1"/>
          <p:nvPr/>
        </p:nvSpPr>
        <p:spPr>
          <a:xfrm>
            <a:off x="2264349" y="764139"/>
            <a:ext cx="7768473" cy="400110"/>
          </a:xfrm>
          <a:prstGeom prst="rect">
            <a:avLst/>
          </a:prstGeom>
          <a:noFill/>
        </p:spPr>
        <p:txBody>
          <a:bodyPr wrap="none" rtlCol="0">
            <a:spAutoFit/>
          </a:bodyPr>
          <a:lstStyle/>
          <a:p>
            <a:r>
              <a:rPr lang="pt-BR" sz="2000" b="1" dirty="0">
                <a:solidFill>
                  <a:schemeClr val="accent6"/>
                </a:solidFill>
                <a:cs typeface="Helvetica Neue"/>
              </a:rPr>
              <a:t>O QUE OS CLIENTES ESPERAM DO SERVIÇO DE TRANSPORTE? </a:t>
            </a:r>
          </a:p>
        </p:txBody>
      </p:sp>
      <p:sp>
        <p:nvSpPr>
          <p:cNvPr id="14" name="Retângulo 13"/>
          <p:cNvSpPr/>
          <p:nvPr/>
        </p:nvSpPr>
        <p:spPr>
          <a:xfrm>
            <a:off x="8999220" y="4455598"/>
            <a:ext cx="2849879" cy="923330"/>
          </a:xfrm>
          <a:prstGeom prst="rect">
            <a:avLst/>
          </a:prstGeom>
          <a:ln>
            <a:solidFill>
              <a:srgbClr val="FF0000"/>
            </a:solidFill>
          </a:ln>
        </p:spPr>
        <p:txBody>
          <a:bodyPr wrap="square">
            <a:spAutoFit/>
          </a:bodyPr>
          <a:lstStyle/>
          <a:p>
            <a:pPr algn="just"/>
            <a:r>
              <a:rPr lang="pt-BR" b="1" dirty="0">
                <a:solidFill>
                  <a:schemeClr val="accent6"/>
                </a:solidFill>
              </a:rPr>
              <a:t>COMO FICA A ADMINISTRAÇÃO DA IMAGEM / MARCA ?</a:t>
            </a:r>
          </a:p>
        </p:txBody>
      </p:sp>
    </p:spTree>
    <p:extLst>
      <p:ext uri="{BB962C8B-B14F-4D97-AF65-F5344CB8AC3E}">
        <p14:creationId xmlns:p14="http://schemas.microsoft.com/office/powerpoint/2010/main" val="4343005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1+#ppt_w/2"/>
                                          </p:val>
                                        </p:tav>
                                        <p:tav tm="100000">
                                          <p:val>
                                            <p:strVal val="#ppt_x"/>
                                          </p:val>
                                        </p:tav>
                                      </p:tavLst>
                                    </p:anim>
                                    <p:anim calcmode="lin" valueType="num">
                                      <p:cBhvr additive="base">
                                        <p:cTn id="14" dur="5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4" grpId="0" animBg="1"/>
    </p:bldLst>
  </p:timing>
</p:sld>
</file>

<file path=ppt/slides/slide1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tângulo 3"/>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
        <p:nvSpPr>
          <p:cNvPr id="3" name="TextBox 6"/>
          <p:cNvSpPr txBox="1"/>
          <p:nvPr/>
        </p:nvSpPr>
        <p:spPr>
          <a:xfrm>
            <a:off x="3344285" y="795159"/>
            <a:ext cx="5503430" cy="400110"/>
          </a:xfrm>
          <a:prstGeom prst="rect">
            <a:avLst/>
          </a:prstGeom>
          <a:noFill/>
        </p:spPr>
        <p:txBody>
          <a:bodyPr wrap="none" rtlCol="0">
            <a:spAutoFit/>
          </a:bodyPr>
          <a:lstStyle/>
          <a:p>
            <a:r>
              <a:rPr lang="pt-BR" sz="2000" b="1" dirty="0">
                <a:solidFill>
                  <a:schemeClr val="accent6"/>
                </a:solidFill>
                <a:cs typeface="Helvetica Neue"/>
              </a:rPr>
              <a:t>DECISÕES ENVOLVIDAS NOS TRANSPORTES</a:t>
            </a:r>
          </a:p>
        </p:txBody>
      </p:sp>
      <p:sp>
        <p:nvSpPr>
          <p:cNvPr id="5" name="Rectangle 8"/>
          <p:cNvSpPr/>
          <p:nvPr/>
        </p:nvSpPr>
        <p:spPr>
          <a:xfrm>
            <a:off x="924862" y="1410712"/>
            <a:ext cx="10672970" cy="2062103"/>
          </a:xfrm>
          <a:prstGeom prst="rect">
            <a:avLst/>
          </a:prstGeom>
          <a:noFill/>
          <a:ln>
            <a:noFill/>
          </a:ln>
        </p:spPr>
        <p:style>
          <a:lnRef idx="2">
            <a:schemeClr val="accent6"/>
          </a:lnRef>
          <a:fillRef idx="1">
            <a:schemeClr val="lt1"/>
          </a:fillRef>
          <a:effectRef idx="0">
            <a:schemeClr val="accent6"/>
          </a:effectRef>
          <a:fontRef idx="minor">
            <a:schemeClr val="dk1"/>
          </a:fontRef>
        </p:style>
        <p:txBody>
          <a:bodyPr wrap="square">
            <a:spAutoFit/>
          </a:bodyPr>
          <a:lstStyle/>
          <a:p>
            <a:pPr marL="285750" indent="-285750">
              <a:spcBef>
                <a:spcPts val="600"/>
              </a:spcBef>
              <a:buFont typeface="Wingdings" charset="2"/>
              <a:buChar char="§"/>
            </a:pPr>
            <a:r>
              <a:rPr lang="pt-BR" b="1" dirty="0">
                <a:solidFill>
                  <a:schemeClr val="accent6"/>
                </a:solidFill>
                <a:cs typeface="Helvetica Neue"/>
              </a:rPr>
              <a:t>DECISÕES ESTRATÉGICAS </a:t>
            </a:r>
            <a:r>
              <a:rPr lang="pt-BR" dirty="0">
                <a:solidFill>
                  <a:schemeClr val="accent6"/>
                </a:solidFill>
                <a:cs typeface="Helvetica Neue"/>
              </a:rPr>
              <a:t>(definir os serviços abrangidos pelo negócio, parcerias, políticas e diretrizes):</a:t>
            </a:r>
          </a:p>
          <a:p>
            <a:pPr marL="625475" indent="-358775">
              <a:spcBef>
                <a:spcPts val="600"/>
              </a:spcBef>
              <a:buFont typeface="Wingdings" panose="05000000000000000000" pitchFamily="2" charset="2"/>
              <a:buChar char="ü"/>
            </a:pPr>
            <a:r>
              <a:rPr lang="pt-BR" dirty="0">
                <a:solidFill>
                  <a:schemeClr val="accent6"/>
                </a:solidFill>
                <a:cs typeface="Helvetica Neue"/>
              </a:rPr>
              <a:t>Escolha de modais (tipos de transporte);</a:t>
            </a:r>
          </a:p>
          <a:p>
            <a:pPr marL="625475" indent="-358775">
              <a:spcBef>
                <a:spcPts val="600"/>
              </a:spcBef>
              <a:buFont typeface="Wingdings" panose="05000000000000000000" pitchFamily="2" charset="2"/>
              <a:buChar char="ü"/>
            </a:pPr>
            <a:r>
              <a:rPr lang="pt-BR" dirty="0">
                <a:solidFill>
                  <a:schemeClr val="accent6"/>
                </a:solidFill>
                <a:cs typeface="Helvetica Neue"/>
              </a:rPr>
              <a:t>Decisões sobre propriedade da frota (própria ou terceirizada);</a:t>
            </a:r>
          </a:p>
          <a:p>
            <a:pPr marL="625475" indent="-358775">
              <a:spcBef>
                <a:spcPts val="600"/>
              </a:spcBef>
              <a:buFont typeface="Wingdings" panose="05000000000000000000" pitchFamily="2" charset="2"/>
              <a:buChar char="ü"/>
            </a:pPr>
            <a:r>
              <a:rPr lang="pt-BR" dirty="0">
                <a:solidFill>
                  <a:schemeClr val="accent6"/>
                </a:solidFill>
                <a:cs typeface="Helvetica Neue"/>
              </a:rPr>
              <a:t>Seleção e negociação com transportadores;</a:t>
            </a:r>
          </a:p>
          <a:p>
            <a:pPr marL="625475" indent="-358775">
              <a:spcBef>
                <a:spcPts val="600"/>
              </a:spcBef>
              <a:buFont typeface="Wingdings" panose="05000000000000000000" pitchFamily="2" charset="2"/>
              <a:buChar char="ü"/>
            </a:pPr>
            <a:r>
              <a:rPr lang="pt-BR" dirty="0">
                <a:solidFill>
                  <a:schemeClr val="accent6"/>
                </a:solidFill>
                <a:cs typeface="Helvetica Neue"/>
              </a:rPr>
              <a:t>Política de consolidação de cargas.</a:t>
            </a:r>
          </a:p>
        </p:txBody>
      </p:sp>
      <p:sp>
        <p:nvSpPr>
          <p:cNvPr id="6" name="Rectangle 9"/>
          <p:cNvSpPr/>
          <p:nvPr/>
        </p:nvSpPr>
        <p:spPr>
          <a:xfrm>
            <a:off x="924862" y="3651647"/>
            <a:ext cx="7443633" cy="249299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wrap="square">
            <a:spAutoFit/>
          </a:bodyPr>
          <a:lstStyle/>
          <a:p>
            <a:pPr marL="285750" indent="-285750">
              <a:spcBef>
                <a:spcPts val="600"/>
              </a:spcBef>
              <a:buFont typeface="Wingdings" charset="2"/>
              <a:buChar char="§"/>
            </a:pPr>
            <a:r>
              <a:rPr lang="pt-BR" b="1" dirty="0">
                <a:solidFill>
                  <a:schemeClr val="accent6"/>
                </a:solidFill>
                <a:cs typeface="Helvetica Neue"/>
              </a:rPr>
              <a:t>DECISÕES OPERACIONAIS</a:t>
            </a:r>
            <a:r>
              <a:rPr lang="pt-BR" dirty="0">
                <a:solidFill>
                  <a:schemeClr val="accent6"/>
                </a:solidFill>
                <a:cs typeface="Helvetica Neue"/>
              </a:rPr>
              <a:t> (do dia a dia, ligadas à operação): </a:t>
            </a:r>
          </a:p>
          <a:p>
            <a:pPr marL="625475" indent="-358775">
              <a:spcBef>
                <a:spcPts val="600"/>
              </a:spcBef>
              <a:buFont typeface="Wingdings" panose="05000000000000000000" pitchFamily="2" charset="2"/>
              <a:buChar char="ü"/>
            </a:pPr>
            <a:r>
              <a:rPr lang="pt-BR" dirty="0">
                <a:solidFill>
                  <a:schemeClr val="accent6"/>
                </a:solidFill>
                <a:cs typeface="Helvetica Neue"/>
              </a:rPr>
              <a:t>Planejamento de embarques e consolidação de cargas; </a:t>
            </a:r>
          </a:p>
          <a:p>
            <a:pPr marL="625475" indent="-358775">
              <a:spcBef>
                <a:spcPts val="600"/>
              </a:spcBef>
              <a:buFont typeface="Wingdings" panose="05000000000000000000" pitchFamily="2" charset="2"/>
              <a:buChar char="ü"/>
            </a:pPr>
            <a:r>
              <a:rPr lang="pt-BR" dirty="0">
                <a:solidFill>
                  <a:schemeClr val="accent6"/>
                </a:solidFill>
                <a:cs typeface="Helvetica Neue"/>
              </a:rPr>
              <a:t>Programação de veículos;</a:t>
            </a:r>
          </a:p>
          <a:p>
            <a:pPr marL="625475" indent="-358775">
              <a:spcBef>
                <a:spcPts val="600"/>
              </a:spcBef>
              <a:buFont typeface="Wingdings" panose="05000000000000000000" pitchFamily="2" charset="2"/>
              <a:buChar char="ü"/>
            </a:pPr>
            <a:r>
              <a:rPr lang="pt-BR" dirty="0">
                <a:solidFill>
                  <a:schemeClr val="accent6"/>
                </a:solidFill>
                <a:cs typeface="Helvetica Neue"/>
              </a:rPr>
              <a:t>Roteirização;</a:t>
            </a:r>
          </a:p>
          <a:p>
            <a:pPr marL="625475" indent="-358775">
              <a:spcBef>
                <a:spcPts val="600"/>
              </a:spcBef>
              <a:buFont typeface="Wingdings" panose="05000000000000000000" pitchFamily="2" charset="2"/>
              <a:buChar char="ü"/>
            </a:pPr>
            <a:r>
              <a:rPr lang="pt-BR" dirty="0">
                <a:solidFill>
                  <a:schemeClr val="accent6"/>
                </a:solidFill>
                <a:cs typeface="Helvetica Neue"/>
              </a:rPr>
              <a:t>Gerenciamento de risco;</a:t>
            </a:r>
          </a:p>
          <a:p>
            <a:pPr marL="625475" indent="-358775">
              <a:spcBef>
                <a:spcPts val="600"/>
              </a:spcBef>
              <a:buFont typeface="Wingdings" panose="05000000000000000000" pitchFamily="2" charset="2"/>
              <a:buChar char="ü"/>
            </a:pPr>
            <a:r>
              <a:rPr lang="pt-BR" dirty="0">
                <a:solidFill>
                  <a:schemeClr val="accent6"/>
                </a:solidFill>
                <a:cs typeface="Helvetica Neue"/>
              </a:rPr>
              <a:t>Auditoria de fretes;</a:t>
            </a:r>
          </a:p>
          <a:p>
            <a:pPr marL="625475" indent="-358775">
              <a:spcBef>
                <a:spcPts val="600"/>
              </a:spcBef>
              <a:buFont typeface="Wingdings" panose="05000000000000000000" pitchFamily="2" charset="2"/>
              <a:buChar char="ü"/>
            </a:pPr>
            <a:r>
              <a:rPr lang="pt-BR" dirty="0">
                <a:solidFill>
                  <a:schemeClr val="accent6"/>
                </a:solidFill>
                <a:cs typeface="Helvetica Neue"/>
              </a:rPr>
              <a:t>Gerenciamento de avarias.</a:t>
            </a:r>
          </a:p>
        </p:txBody>
      </p:sp>
      <p:sp>
        <p:nvSpPr>
          <p:cNvPr id="8" name="TextBox 11"/>
          <p:cNvSpPr txBox="1"/>
          <p:nvPr/>
        </p:nvSpPr>
        <p:spPr>
          <a:xfrm>
            <a:off x="5995685" y="5128974"/>
            <a:ext cx="5116285" cy="1015663"/>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rtlCol="0">
            <a:spAutoFit/>
          </a:bodyPr>
          <a:lstStyle/>
          <a:p>
            <a:pPr algn="just"/>
            <a:r>
              <a:rPr lang="pt-BR" sz="2000" b="1" dirty="0">
                <a:solidFill>
                  <a:srgbClr val="FF0000"/>
                </a:solidFill>
              </a:rPr>
              <a:t>UMA EMPRESA DEVE OPERAR COM TRANSPORTE PRÓPRIO OU DEVE CONTRATAR SERVIÇO DE TRANSPORTE?</a:t>
            </a:r>
          </a:p>
        </p:txBody>
      </p:sp>
    </p:spTree>
    <p:extLst>
      <p:ext uri="{BB962C8B-B14F-4D97-AF65-F5344CB8AC3E}">
        <p14:creationId xmlns:p14="http://schemas.microsoft.com/office/powerpoint/2010/main" val="22222089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8" grpId="0"/>
    </p:bldLst>
  </p:timing>
</p:sld>
</file>

<file path=ppt/slides/slide1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tângulo 3"/>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TRANSPORTE E MOVIMENTAÇÃO </a:t>
            </a:r>
            <a:endParaRPr lang="pt-BR" sz="2400" dirty="0"/>
          </a:p>
        </p:txBody>
      </p:sp>
      <p:sp>
        <p:nvSpPr>
          <p:cNvPr id="3" name="Title 1"/>
          <p:cNvSpPr txBox="1">
            <a:spLocks/>
          </p:cNvSpPr>
          <p:nvPr/>
        </p:nvSpPr>
        <p:spPr bwMode="auto">
          <a:xfrm>
            <a:off x="2702982" y="822118"/>
            <a:ext cx="6786036" cy="4005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noAutofit/>
          </a:bodyPr>
          <a:lstStyle>
            <a:lvl1pPr algn="l" defTabSz="449263" rtl="0" eaLnBrk="1" fontAlgn="base" hangingPunct="1">
              <a:spcBef>
                <a:spcPct val="0"/>
              </a:spcBef>
              <a:spcAft>
                <a:spcPct val="0"/>
              </a:spcAft>
              <a:buClr>
                <a:srgbClr val="000000"/>
              </a:buClr>
              <a:buSzPct val="100000"/>
              <a:buFont typeface="Times New Roman" panose="02020603050405020304" pitchFamily="18" charset="0"/>
              <a:defRPr sz="4100" b="1" kern="1200">
                <a:solidFill>
                  <a:srgbClr val="464646"/>
                </a:solidFill>
                <a:latin typeface="+mj-lt"/>
                <a:ea typeface="+mj-ea"/>
                <a:cs typeface="+mj-cs"/>
              </a:defRPr>
            </a:lvl1pPr>
            <a:lvl2pPr marL="742950" indent="-28575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2pPr>
            <a:lvl3pPr marL="1143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3pPr>
            <a:lvl4pPr marL="1600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4pPr>
            <a:lvl5pPr marL="20574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5pPr>
            <a:lvl6pPr marL="25146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6pPr>
            <a:lvl7pPr marL="29718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7pPr>
            <a:lvl8pPr marL="34290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8pPr>
            <a:lvl9pPr marL="3886200" indent="-228600" algn="l" defTabSz="449263" rtl="0" eaLnBrk="1" fontAlgn="base" hangingPunct="1">
              <a:spcBef>
                <a:spcPct val="0"/>
              </a:spcBef>
              <a:spcAft>
                <a:spcPct val="0"/>
              </a:spcAft>
              <a:buClr>
                <a:srgbClr val="000000"/>
              </a:buClr>
              <a:buSzPct val="100000"/>
              <a:buFont typeface="Times New Roman" panose="02020603050405020304" pitchFamily="18" charset="0"/>
              <a:defRPr sz="4100" b="1">
                <a:solidFill>
                  <a:srgbClr val="464646"/>
                </a:solidFill>
                <a:latin typeface="Lucida Sans Unicode" panose="020B0602030504020204" pitchFamily="34" charset="0"/>
                <a:ea typeface="Microsoft YaHei" panose="020B0503020204020204" pitchFamily="34" charset="-122"/>
              </a:defRPr>
            </a:lvl9pPr>
          </a:lstStyle>
          <a:p>
            <a:pPr algn="ctr"/>
            <a:r>
              <a:rPr lang="pt-BR" sz="2000" dirty="0">
                <a:solidFill>
                  <a:schemeClr val="accent6"/>
                </a:solidFill>
                <a:latin typeface="+mn-lt"/>
              </a:rPr>
              <a:t>ESTRATÉGIAS DE OPERAÇÃO DOS TRANSPORTES</a:t>
            </a:r>
          </a:p>
        </p:txBody>
      </p:sp>
      <p:sp>
        <p:nvSpPr>
          <p:cNvPr id="2" name="Retângulo 1"/>
          <p:cNvSpPr/>
          <p:nvPr/>
        </p:nvSpPr>
        <p:spPr>
          <a:xfrm>
            <a:off x="571500" y="1814150"/>
            <a:ext cx="11049000" cy="4247317"/>
          </a:xfrm>
          <a:prstGeom prst="rect">
            <a:avLst/>
          </a:prstGeom>
        </p:spPr>
        <p:txBody>
          <a:bodyPr wrap="square">
            <a:spAutoFit/>
          </a:bodyPr>
          <a:lstStyle/>
          <a:p>
            <a:pPr marL="171450" indent="-171450" algn="just">
              <a:buFont typeface="Arial"/>
              <a:buChar char="•"/>
            </a:pPr>
            <a:r>
              <a:rPr lang="pt-BR" b="1" dirty="0">
                <a:solidFill>
                  <a:schemeClr val="accent6"/>
                </a:solidFill>
              </a:rPr>
              <a:t>VERTICALIZAÇÃO</a:t>
            </a:r>
            <a:r>
              <a:rPr lang="pt-BR" dirty="0">
                <a:solidFill>
                  <a:schemeClr val="accent6"/>
                </a:solidFill>
              </a:rPr>
              <a:t>: a empresa decide que o transporte deve estar diretamente em seu controle em todas as suas etapas por ser estratégico.</a:t>
            </a:r>
          </a:p>
          <a:p>
            <a:pPr marL="177800" algn="just"/>
            <a:r>
              <a:rPr lang="pt-BR" b="1" dirty="0">
                <a:solidFill>
                  <a:schemeClr val="accent6"/>
                </a:solidFill>
              </a:rPr>
              <a:t>Exemplo</a:t>
            </a:r>
            <a:r>
              <a:rPr lang="pt-BR" dirty="0">
                <a:solidFill>
                  <a:schemeClr val="accent6"/>
                </a:solidFill>
              </a:rPr>
              <a:t>: Souza Cruz (Fabricante), Casas Bahia – VV Log (Varejista), DHL (Operador Logístico).</a:t>
            </a:r>
          </a:p>
          <a:p>
            <a:pPr marL="171450" indent="-171450" algn="just">
              <a:buFont typeface="Arial"/>
              <a:buChar char="•"/>
            </a:pPr>
            <a:endParaRPr lang="pt-BR" dirty="0">
              <a:solidFill>
                <a:schemeClr val="accent6"/>
              </a:solidFill>
            </a:endParaRPr>
          </a:p>
          <a:p>
            <a:pPr marL="171450" indent="-171450" algn="just">
              <a:buFont typeface="Arial"/>
              <a:buChar char="•"/>
            </a:pPr>
            <a:r>
              <a:rPr lang="pt-BR" b="1" dirty="0">
                <a:solidFill>
                  <a:schemeClr val="accent6"/>
                </a:solidFill>
              </a:rPr>
              <a:t>HORIZONTALIZAÇÃO</a:t>
            </a:r>
            <a:r>
              <a:rPr lang="pt-BR" dirty="0">
                <a:solidFill>
                  <a:schemeClr val="accent6"/>
                </a:solidFill>
              </a:rPr>
              <a:t>: a empresa entende que o transporte é uma atividade importante, mas não é sua atividade chave, preferindo utilizar-se de serviços especializados do mercado, focando seu investimento naquilo que é o essencial para a empresa (“Core Business”).</a:t>
            </a:r>
          </a:p>
          <a:p>
            <a:pPr marL="177800" algn="just"/>
            <a:r>
              <a:rPr lang="pt-BR" b="1" dirty="0">
                <a:solidFill>
                  <a:schemeClr val="accent6"/>
                </a:solidFill>
              </a:rPr>
              <a:t>Exemplo</a:t>
            </a:r>
            <a:r>
              <a:rPr lang="pt-BR" dirty="0">
                <a:solidFill>
                  <a:schemeClr val="accent6"/>
                </a:solidFill>
              </a:rPr>
              <a:t>: Grupo Pão de Açúcar (Varejo), Nestlé (Fabricante), HP (Fabricante), Editora Abril.</a:t>
            </a:r>
          </a:p>
          <a:p>
            <a:pPr algn="just"/>
            <a:endParaRPr lang="pt-BR" dirty="0">
              <a:solidFill>
                <a:schemeClr val="accent6"/>
              </a:solidFill>
            </a:endParaRPr>
          </a:p>
          <a:p>
            <a:pPr algn="just"/>
            <a:r>
              <a:rPr lang="pt-BR" dirty="0">
                <a:solidFill>
                  <a:schemeClr val="accent6"/>
                </a:solidFill>
              </a:rPr>
              <a:t>A </a:t>
            </a:r>
            <a:r>
              <a:rPr lang="pt-BR" b="1" dirty="0">
                <a:solidFill>
                  <a:schemeClr val="accent6"/>
                </a:solidFill>
              </a:rPr>
              <a:t>diferença</a:t>
            </a:r>
            <a:r>
              <a:rPr lang="pt-BR" dirty="0">
                <a:solidFill>
                  <a:schemeClr val="accent6"/>
                </a:solidFill>
              </a:rPr>
              <a:t> na adoção de uma ou outra entre as estratégias está em:</a:t>
            </a:r>
          </a:p>
          <a:p>
            <a:pPr algn="just"/>
            <a:endParaRPr lang="pt-BR" dirty="0">
              <a:solidFill>
                <a:schemeClr val="accent6"/>
              </a:solidFill>
            </a:endParaRPr>
          </a:p>
          <a:p>
            <a:pPr marL="342900" indent="-342900" algn="just">
              <a:buAutoNum type="arabicPeriod"/>
            </a:pPr>
            <a:r>
              <a:rPr lang="pt-BR" dirty="0">
                <a:solidFill>
                  <a:schemeClr val="accent6"/>
                </a:solidFill>
              </a:rPr>
              <a:t>Qual a importância que a empresa dá ao transporte dentro da criação de valor para o seu negócio;</a:t>
            </a:r>
          </a:p>
          <a:p>
            <a:pPr marL="342900" indent="-342900" algn="just">
              <a:buAutoNum type="arabicPeriod"/>
            </a:pPr>
            <a:endParaRPr lang="pt-BR" dirty="0">
              <a:solidFill>
                <a:schemeClr val="accent6"/>
              </a:solidFill>
            </a:endParaRPr>
          </a:p>
          <a:p>
            <a:pPr marL="342900" indent="-342900" algn="just">
              <a:buAutoNum type="arabicPeriod"/>
            </a:pPr>
            <a:r>
              <a:rPr lang="pt-BR" dirty="0">
                <a:solidFill>
                  <a:schemeClr val="accent6"/>
                </a:solidFill>
              </a:rPr>
              <a:t>Qual o capital necessário para fazer esse investimento.</a:t>
            </a:r>
          </a:p>
        </p:txBody>
      </p:sp>
    </p:spTree>
    <p:extLst>
      <p:ext uri="{BB962C8B-B14F-4D97-AF65-F5344CB8AC3E}">
        <p14:creationId xmlns:p14="http://schemas.microsoft.com/office/powerpoint/2010/main" val="308474981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par>
                          <p:cTn id="17" fill="hold">
                            <p:stCondLst>
                              <p:cond delay="1000"/>
                            </p:stCondLst>
                            <p:childTnLst>
                              <p:par>
                                <p:cTn id="18" presetID="42" presetClass="entr" presetSubtype="0" fill="hold" grpId="0" nodeType="afterEffect">
                                  <p:stCondLst>
                                    <p:cond delay="0"/>
                                  </p:stCondLst>
                                  <p:childTnLst>
                                    <p:set>
                                      <p:cBhvr>
                                        <p:cTn id="19" dur="1" fill="hold">
                                          <p:stCondLst>
                                            <p:cond delay="0"/>
                                          </p:stCondLst>
                                        </p:cTn>
                                        <p:tgtEl>
                                          <p:spTgt spid="2">
                                            <p:txEl>
                                              <p:pRg st="1" end="1"/>
                                            </p:txEl>
                                          </p:spTgt>
                                        </p:tgtEl>
                                        <p:attrNameLst>
                                          <p:attrName>style.visibility</p:attrName>
                                        </p:attrNameLst>
                                      </p:cBhvr>
                                      <p:to>
                                        <p:strVal val="visible"/>
                                      </p:to>
                                    </p:set>
                                    <p:animEffect transition="in" filter="fade">
                                      <p:cBhvr>
                                        <p:cTn id="20" dur="1000"/>
                                        <p:tgtEl>
                                          <p:spTgt spid="2">
                                            <p:txEl>
                                              <p:pRg st="1" end="1"/>
                                            </p:txEl>
                                          </p:spTgt>
                                        </p:tgtEl>
                                      </p:cBhvr>
                                    </p:animEffect>
                                    <p:anim calcmode="lin" valueType="num">
                                      <p:cBhvr>
                                        <p:cTn id="21"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2">
                                            <p:txEl>
                                              <p:pRg st="3" end="3"/>
                                            </p:txEl>
                                          </p:spTgt>
                                        </p:tgtEl>
                                        <p:attrNameLst>
                                          <p:attrName>style.visibility</p:attrName>
                                        </p:attrNameLst>
                                      </p:cBhvr>
                                      <p:to>
                                        <p:strVal val="visible"/>
                                      </p:to>
                                    </p:set>
                                    <p:animEffect transition="in" filter="fade">
                                      <p:cBhvr>
                                        <p:cTn id="27" dur="1000"/>
                                        <p:tgtEl>
                                          <p:spTgt spid="2">
                                            <p:txEl>
                                              <p:pRg st="3" end="3"/>
                                            </p:txEl>
                                          </p:spTgt>
                                        </p:tgtEl>
                                      </p:cBhvr>
                                    </p:animEffect>
                                    <p:anim calcmode="lin" valueType="num">
                                      <p:cBhvr>
                                        <p:cTn id="28"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29"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par>
                          <p:cTn id="30" fill="hold">
                            <p:stCondLst>
                              <p:cond delay="1000"/>
                            </p:stCondLst>
                            <p:childTnLst>
                              <p:par>
                                <p:cTn id="31" presetID="42" presetClass="entr" presetSubtype="0" fill="hold" grpId="0" nodeType="afterEffect">
                                  <p:stCondLst>
                                    <p:cond delay="0"/>
                                  </p:stCondLst>
                                  <p:childTnLst>
                                    <p:set>
                                      <p:cBhvr>
                                        <p:cTn id="32" dur="1" fill="hold">
                                          <p:stCondLst>
                                            <p:cond delay="0"/>
                                          </p:stCondLst>
                                        </p:cTn>
                                        <p:tgtEl>
                                          <p:spTgt spid="2">
                                            <p:txEl>
                                              <p:pRg st="4" end="4"/>
                                            </p:txEl>
                                          </p:spTgt>
                                        </p:tgtEl>
                                        <p:attrNameLst>
                                          <p:attrName>style.visibility</p:attrName>
                                        </p:attrNameLst>
                                      </p:cBhvr>
                                      <p:to>
                                        <p:strVal val="visible"/>
                                      </p:to>
                                    </p:set>
                                    <p:animEffect transition="in" filter="fade">
                                      <p:cBhvr>
                                        <p:cTn id="33" dur="1000"/>
                                        <p:tgtEl>
                                          <p:spTgt spid="2">
                                            <p:txEl>
                                              <p:pRg st="4" end="4"/>
                                            </p:txEl>
                                          </p:spTgt>
                                        </p:tgtEl>
                                      </p:cBhvr>
                                    </p:animEffect>
                                    <p:anim calcmode="lin" valueType="num">
                                      <p:cBhvr>
                                        <p:cTn id="34"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2">
                                            <p:txEl>
                                              <p:pRg st="6" end="6"/>
                                            </p:txEl>
                                          </p:spTgt>
                                        </p:tgtEl>
                                        <p:attrNameLst>
                                          <p:attrName>style.visibility</p:attrName>
                                        </p:attrNameLst>
                                      </p:cBhvr>
                                      <p:to>
                                        <p:strVal val="visible"/>
                                      </p:to>
                                    </p:set>
                                    <p:animEffect transition="in" filter="fade">
                                      <p:cBhvr>
                                        <p:cTn id="40" dur="1000"/>
                                        <p:tgtEl>
                                          <p:spTgt spid="2">
                                            <p:txEl>
                                              <p:pRg st="6" end="6"/>
                                            </p:txEl>
                                          </p:spTgt>
                                        </p:tgtEl>
                                      </p:cBhvr>
                                    </p:animEffect>
                                    <p:anim calcmode="lin" valueType="num">
                                      <p:cBhvr>
                                        <p:cTn id="41"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42"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2">
                                            <p:txEl>
                                              <p:pRg st="8" end="8"/>
                                            </p:txEl>
                                          </p:spTgt>
                                        </p:tgtEl>
                                        <p:attrNameLst>
                                          <p:attrName>style.visibility</p:attrName>
                                        </p:attrNameLst>
                                      </p:cBhvr>
                                      <p:to>
                                        <p:strVal val="visible"/>
                                      </p:to>
                                    </p:set>
                                    <p:animEffect transition="in" filter="fade">
                                      <p:cBhvr>
                                        <p:cTn id="47" dur="1000"/>
                                        <p:tgtEl>
                                          <p:spTgt spid="2">
                                            <p:txEl>
                                              <p:pRg st="8" end="8"/>
                                            </p:txEl>
                                          </p:spTgt>
                                        </p:tgtEl>
                                      </p:cBhvr>
                                    </p:animEffect>
                                    <p:anim calcmode="lin" valueType="num">
                                      <p:cBhvr>
                                        <p:cTn id="48"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49" dur="1000" fill="hold"/>
                                        <p:tgtEl>
                                          <p:spTgt spid="2">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grpId="0" nodeType="clickEffect">
                                  <p:stCondLst>
                                    <p:cond delay="0"/>
                                  </p:stCondLst>
                                  <p:childTnLst>
                                    <p:set>
                                      <p:cBhvr>
                                        <p:cTn id="53" dur="1" fill="hold">
                                          <p:stCondLst>
                                            <p:cond delay="0"/>
                                          </p:stCondLst>
                                        </p:cTn>
                                        <p:tgtEl>
                                          <p:spTgt spid="2">
                                            <p:txEl>
                                              <p:pRg st="10" end="10"/>
                                            </p:txEl>
                                          </p:spTgt>
                                        </p:tgtEl>
                                        <p:attrNameLst>
                                          <p:attrName>style.visibility</p:attrName>
                                        </p:attrNameLst>
                                      </p:cBhvr>
                                      <p:to>
                                        <p:strVal val="visible"/>
                                      </p:to>
                                    </p:set>
                                    <p:animEffect transition="in" filter="fade">
                                      <p:cBhvr>
                                        <p:cTn id="54" dur="1000"/>
                                        <p:tgtEl>
                                          <p:spTgt spid="2">
                                            <p:txEl>
                                              <p:pRg st="10" end="10"/>
                                            </p:txEl>
                                          </p:spTgt>
                                        </p:tgtEl>
                                      </p:cBhvr>
                                    </p:animEffect>
                                    <p:anim calcmode="lin" valueType="num">
                                      <p:cBhvr>
                                        <p:cTn id="55" dur="1000" fill="hold"/>
                                        <p:tgtEl>
                                          <p:spTgt spid="2">
                                            <p:txEl>
                                              <p:pRg st="10" end="10"/>
                                            </p:txEl>
                                          </p:spTgt>
                                        </p:tgtEl>
                                        <p:attrNameLst>
                                          <p:attrName>ppt_x</p:attrName>
                                        </p:attrNameLst>
                                      </p:cBhvr>
                                      <p:tavLst>
                                        <p:tav tm="0">
                                          <p:val>
                                            <p:strVal val="#ppt_x"/>
                                          </p:val>
                                        </p:tav>
                                        <p:tav tm="100000">
                                          <p:val>
                                            <p:strVal val="#ppt_x"/>
                                          </p:val>
                                        </p:tav>
                                      </p:tavLst>
                                    </p:anim>
                                    <p:anim calcmode="lin" valueType="num">
                                      <p:cBhvr>
                                        <p:cTn id="56" dur="1000" fill="hold"/>
                                        <p:tgtEl>
                                          <p:spTgt spid="2">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build="p"/>
    </p:bldLst>
  </p:timing>
</p:sld>
</file>

<file path=ppt/slides/slide1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tângulo 1"/>
          <p:cNvSpPr/>
          <p:nvPr/>
        </p:nvSpPr>
        <p:spPr>
          <a:xfrm>
            <a:off x="762000" y="1375982"/>
            <a:ext cx="10668000" cy="4708981"/>
          </a:xfrm>
          <a:prstGeom prst="rect">
            <a:avLst/>
          </a:prstGeom>
        </p:spPr>
        <p:txBody>
          <a:bodyPr wrap="square">
            <a:spAutoFit/>
          </a:bodyPr>
          <a:lstStyle/>
          <a:p>
            <a:pPr algn="just">
              <a:lnSpc>
                <a:spcPct val="150000"/>
              </a:lnSpc>
            </a:pPr>
            <a:r>
              <a:rPr lang="pt-BR" sz="2000" dirty="0">
                <a:solidFill>
                  <a:schemeClr val="accent6"/>
                </a:solidFill>
              </a:rPr>
              <a:t>Se bem implantada, a terceirização oferece a possibilidade de:</a:t>
            </a:r>
          </a:p>
          <a:p>
            <a:pPr algn="just">
              <a:lnSpc>
                <a:spcPct val="150000"/>
              </a:lnSpc>
            </a:pPr>
            <a:endParaRPr lang="pt-BR" sz="2000" dirty="0">
              <a:solidFill>
                <a:schemeClr val="accent6"/>
              </a:solidFill>
            </a:endParaRPr>
          </a:p>
          <a:p>
            <a:pPr marL="342900" indent="-342900" algn="just">
              <a:lnSpc>
                <a:spcPct val="150000"/>
              </a:lnSpc>
              <a:buAutoNum type="alphaLcParenR"/>
            </a:pPr>
            <a:r>
              <a:rPr lang="pt-BR" sz="2000" dirty="0">
                <a:solidFill>
                  <a:schemeClr val="accent6"/>
                </a:solidFill>
              </a:rPr>
              <a:t>melhorar o nível do serviço, pois estes serão executados por empresas especializadas;</a:t>
            </a:r>
          </a:p>
          <a:p>
            <a:pPr marL="342900" indent="-342900" algn="just">
              <a:lnSpc>
                <a:spcPct val="150000"/>
              </a:lnSpc>
              <a:buAutoNum type="alphaLcParenR"/>
            </a:pPr>
            <a:endParaRPr lang="pt-BR" sz="2000" dirty="0">
              <a:solidFill>
                <a:schemeClr val="accent6"/>
              </a:solidFill>
            </a:endParaRPr>
          </a:p>
          <a:p>
            <a:pPr marL="342900" indent="-342900" algn="just">
              <a:lnSpc>
                <a:spcPct val="150000"/>
              </a:lnSpc>
              <a:buAutoNum type="alphaLcParenR"/>
            </a:pPr>
            <a:r>
              <a:rPr lang="pt-BR" sz="2000" dirty="0">
                <a:solidFill>
                  <a:schemeClr val="accent6"/>
                </a:solidFill>
              </a:rPr>
              <a:t>redução do custo, uma vez que a contratante reduz os custos com mão-de-obra e manutenção de equipamentos.</a:t>
            </a:r>
          </a:p>
          <a:p>
            <a:pPr marL="342900" indent="-342900" algn="just">
              <a:lnSpc>
                <a:spcPct val="150000"/>
              </a:lnSpc>
              <a:buAutoNum type="alphaLcParenR"/>
            </a:pPr>
            <a:endParaRPr lang="pt-BR" sz="2000" dirty="0">
              <a:solidFill>
                <a:schemeClr val="accent6"/>
              </a:solidFill>
            </a:endParaRPr>
          </a:p>
          <a:p>
            <a:pPr marL="342900" indent="-342900" algn="just">
              <a:lnSpc>
                <a:spcPct val="150000"/>
              </a:lnSpc>
              <a:buAutoNum type="alphaLcParenR"/>
            </a:pPr>
            <a:r>
              <a:rPr lang="pt-BR" sz="2000" dirty="0">
                <a:solidFill>
                  <a:schemeClr val="accent6"/>
                </a:solidFill>
              </a:rPr>
              <a:t>redução do capital empatado na empresa, uma vez que os equipamentos de transporte/movimentação estarão a cargo do terceiro. </a:t>
            </a:r>
          </a:p>
        </p:txBody>
      </p:sp>
      <p:sp>
        <p:nvSpPr>
          <p:cNvPr id="7" name="Retângulo 6"/>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TERCEIRIZAÇÃO E QUARTEIRIZAÇÃO</a:t>
            </a:r>
          </a:p>
        </p:txBody>
      </p:sp>
    </p:spTree>
    <p:extLst>
      <p:ext uri="{BB962C8B-B14F-4D97-AF65-F5344CB8AC3E}">
        <p14:creationId xmlns:p14="http://schemas.microsoft.com/office/powerpoint/2010/main" val="3702726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Retângulo 5"/>
          <p:cNvSpPr/>
          <p:nvPr/>
        </p:nvSpPr>
        <p:spPr>
          <a:xfrm>
            <a:off x="762000" y="2269554"/>
            <a:ext cx="10668000" cy="3785652"/>
          </a:xfrm>
          <a:prstGeom prst="rect">
            <a:avLst/>
          </a:prstGeom>
        </p:spPr>
        <p:txBody>
          <a:bodyPr wrap="square">
            <a:spAutoFit/>
          </a:bodyPr>
          <a:lstStyle/>
          <a:p>
            <a:pPr algn="just">
              <a:lnSpc>
                <a:spcPct val="150000"/>
              </a:lnSpc>
            </a:pPr>
            <a:r>
              <a:rPr lang="pt-BR" sz="2000" dirty="0">
                <a:solidFill>
                  <a:schemeClr val="accent6"/>
                </a:solidFill>
              </a:rPr>
              <a:t>A </a:t>
            </a:r>
            <a:r>
              <a:rPr lang="pt-BR" sz="2000" b="1" dirty="0">
                <a:solidFill>
                  <a:schemeClr val="accent6"/>
                </a:solidFill>
              </a:rPr>
              <a:t>QUARTEIRIZAÇÃO</a:t>
            </a:r>
            <a:r>
              <a:rPr lang="pt-BR" sz="2000" dirty="0">
                <a:solidFill>
                  <a:schemeClr val="accent6"/>
                </a:solidFill>
              </a:rPr>
              <a:t> vem despontado como solução para retirar da empresa contratante de serviços terceirizados a responsabilidade de gerir todos os seus terceiros.</a:t>
            </a:r>
          </a:p>
          <a:p>
            <a:pPr algn="just">
              <a:lnSpc>
                <a:spcPct val="150000"/>
              </a:lnSpc>
            </a:pPr>
            <a:endParaRPr lang="pt-BR" sz="2000" dirty="0">
              <a:solidFill>
                <a:schemeClr val="accent6"/>
              </a:solidFill>
            </a:endParaRPr>
          </a:p>
          <a:p>
            <a:pPr algn="just">
              <a:lnSpc>
                <a:spcPct val="150000"/>
              </a:lnSpc>
            </a:pPr>
            <a:r>
              <a:rPr lang="pt-BR" sz="2000" dirty="0">
                <a:solidFill>
                  <a:schemeClr val="accent6"/>
                </a:solidFill>
              </a:rPr>
              <a:t>O </a:t>
            </a:r>
            <a:r>
              <a:rPr lang="pt-BR" sz="2000" dirty="0" err="1">
                <a:solidFill>
                  <a:schemeClr val="accent6"/>
                </a:solidFill>
              </a:rPr>
              <a:t>quarteirizador</a:t>
            </a:r>
            <a:r>
              <a:rPr lang="pt-BR" sz="2000" dirty="0">
                <a:solidFill>
                  <a:schemeClr val="accent6"/>
                </a:solidFill>
              </a:rPr>
              <a:t> passa a fiscalizar os serviços dos terceiros e se estão sendo cumpridas as determinações legais a estes impostas, o que também traz ao contratante as vantagens de ter melhor controle dos serviços terceirizados e de não precisar possuir pessoal próprio para gerir as terceirizações, o que traz economia.</a:t>
            </a:r>
          </a:p>
        </p:txBody>
      </p:sp>
      <p:sp>
        <p:nvSpPr>
          <p:cNvPr id="7" name="Retângulo 6"/>
          <p:cNvSpPr/>
          <p:nvPr/>
        </p:nvSpPr>
        <p:spPr>
          <a:xfrm>
            <a:off x="2099556" y="332657"/>
            <a:ext cx="7992888" cy="461665"/>
          </a:xfrm>
          <a:prstGeom prst="rect">
            <a:avLst/>
          </a:prstGeom>
        </p:spPr>
        <p:txBody>
          <a:bodyPr wrap="square">
            <a:spAutoFit/>
          </a:bodyPr>
          <a:lstStyle/>
          <a:p>
            <a:pPr algn="ctr"/>
            <a:r>
              <a:rPr lang="pt-BR" sz="2400" b="1" dirty="0">
                <a:solidFill>
                  <a:schemeClr val="accent6"/>
                </a:solidFill>
              </a:rPr>
              <a:t>TERCEIRIZAÇÃO E QUARTEIRIZAÇÃO</a:t>
            </a:r>
          </a:p>
        </p:txBody>
      </p:sp>
    </p:spTree>
    <p:extLst>
      <p:ext uri="{BB962C8B-B14F-4D97-AF65-F5344CB8AC3E}">
        <p14:creationId xmlns:p14="http://schemas.microsoft.com/office/powerpoint/2010/main" val="1313752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9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tângulo 1"/>
          <p:cNvSpPr/>
          <p:nvPr/>
        </p:nvSpPr>
        <p:spPr>
          <a:xfrm>
            <a:off x="442791" y="2967335"/>
            <a:ext cx="11306429" cy="1323439"/>
          </a:xfrm>
          <a:prstGeom prst="rect">
            <a:avLst/>
          </a:prstGeom>
          <a:noFill/>
        </p:spPr>
        <p:txBody>
          <a:bodyPr wrap="none" lIns="91440" tIns="45720" rIns="91440" bIns="45720">
            <a:spAutoFit/>
          </a:bodyPr>
          <a:lstStyle/>
          <a:p>
            <a:pPr algn="ctr"/>
            <a:r>
              <a:rPr lang="pt-BR" sz="80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CUSTOS DE TRANSPORTES</a:t>
            </a:r>
            <a:endParaRPr lang="pt-BR" sz="80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Tree>
    <p:extLst>
      <p:ext uri="{BB962C8B-B14F-4D97-AF65-F5344CB8AC3E}">
        <p14:creationId xmlns:p14="http://schemas.microsoft.com/office/powerpoint/2010/main" val="1549370801"/>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ubtítulo 2"/>
          <p:cNvSpPr>
            <a:spLocks noGrp="1"/>
          </p:cNvSpPr>
          <p:nvPr>
            <p:ph type="subTitle" idx="4294967295"/>
          </p:nvPr>
        </p:nvSpPr>
        <p:spPr>
          <a:xfrm>
            <a:off x="0" y="1416050"/>
            <a:ext cx="10239375" cy="5075238"/>
          </a:xfrm>
        </p:spPr>
        <p:txBody>
          <a:bodyPr>
            <a:noAutofit/>
          </a:bodyPr>
          <a:lstStyle/>
          <a:p>
            <a:pPr algn="just"/>
            <a:r>
              <a:rPr lang="pt-BR" sz="3200" dirty="0"/>
              <a:t>Indicadores de custos Logísticos:</a:t>
            </a:r>
          </a:p>
          <a:p>
            <a:pPr algn="just"/>
            <a:r>
              <a:rPr lang="pt-BR" sz="3200" dirty="0"/>
              <a:t>São exemplos de indicadores de custos:</a:t>
            </a:r>
          </a:p>
          <a:p>
            <a:pPr algn="just"/>
            <a:r>
              <a:rPr lang="pt-BR" sz="3200" dirty="0"/>
              <a:t>1- Custo com transporte e </a:t>
            </a:r>
          </a:p>
          <a:p>
            <a:pPr algn="just"/>
            <a:r>
              <a:rPr lang="pt-BR" sz="3200" dirty="0"/>
              <a:t>2- Custo com a movimentação e armazenagem de materiais,</a:t>
            </a:r>
          </a:p>
          <a:p>
            <a:pPr algn="just"/>
            <a:r>
              <a:rPr lang="pt-BR" sz="3200" dirty="0"/>
              <a:t>3- Custo com estoques, </a:t>
            </a:r>
          </a:p>
          <a:p>
            <a:pPr algn="just"/>
            <a:r>
              <a:rPr lang="pt-BR" sz="3200" dirty="0"/>
              <a:t>4- Custo com a logística reversa, </a:t>
            </a:r>
          </a:p>
          <a:p>
            <a:pPr algn="just"/>
            <a:r>
              <a:rPr lang="pt-BR" sz="3200" dirty="0"/>
              <a:t>5- Custo com a obsolescência de estoques de insumos;</a:t>
            </a:r>
          </a:p>
          <a:p>
            <a:pPr algn="just"/>
            <a:r>
              <a:rPr lang="pt-BR" sz="3200" dirty="0"/>
              <a:t>6- Custo com produtos acabados, etc..</a:t>
            </a:r>
          </a:p>
        </p:txBody>
      </p:sp>
      <p:sp>
        <p:nvSpPr>
          <p:cNvPr id="4" name="Título 1"/>
          <p:cNvSpPr>
            <a:spLocks noGrp="1"/>
          </p:cNvSpPr>
          <p:nvPr>
            <p:ph type="ctrTitle" idx="4294967295"/>
          </p:nvPr>
        </p:nvSpPr>
        <p:spPr>
          <a:xfrm>
            <a:off x="0" y="306388"/>
            <a:ext cx="12192000" cy="714375"/>
          </a:xfrm>
          <a:solidFill>
            <a:schemeClr val="accent1">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lnRef>
          <a:fillRef idx="1">
            <a:schemeClr val="lt1"/>
          </a:fillRef>
          <a:effectRef idx="0">
            <a:schemeClr val="accent1"/>
          </a:effectRef>
          <a:fontRef idx="minor">
            <a:schemeClr val="dk1"/>
          </a:fontRef>
        </p:style>
        <p:txBody>
          <a:bodyPr>
            <a:normAutofit fontScale="90000"/>
          </a:bodyPr>
          <a:lstStyle/>
          <a:p>
            <a:br>
              <a:rPr lang="pt-BR" sz="4400" dirty="0"/>
            </a:br>
            <a:r>
              <a:rPr lang="pt-BR" sz="4400" dirty="0"/>
              <a:t>	</a:t>
            </a:r>
            <a:br>
              <a:rPr lang="pt-BR" sz="4400" dirty="0"/>
            </a:br>
            <a:endParaRPr lang="pt-BR" sz="3600" dirty="0"/>
          </a:p>
        </p:txBody>
      </p:sp>
    </p:spTree>
    <p:extLst>
      <p:ext uri="{BB962C8B-B14F-4D97-AF65-F5344CB8AC3E}">
        <p14:creationId xmlns:p14="http://schemas.microsoft.com/office/powerpoint/2010/main" val="3707155531"/>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ubtítulo 2"/>
          <p:cNvSpPr>
            <a:spLocks noGrp="1"/>
          </p:cNvSpPr>
          <p:nvPr>
            <p:ph type="subTitle" idx="4294967295"/>
          </p:nvPr>
        </p:nvSpPr>
        <p:spPr>
          <a:xfrm>
            <a:off x="0" y="1416050"/>
            <a:ext cx="10239375" cy="5075238"/>
          </a:xfrm>
        </p:spPr>
        <p:txBody>
          <a:bodyPr>
            <a:noAutofit/>
          </a:bodyPr>
          <a:lstStyle/>
          <a:p>
            <a:pPr algn="just"/>
            <a:r>
              <a:rPr lang="pt-BR" sz="3200" dirty="0"/>
              <a:t>Indicadores de custos Logísticos:</a:t>
            </a:r>
          </a:p>
          <a:p>
            <a:pPr algn="l"/>
            <a:r>
              <a:rPr lang="pt-BR" sz="3200" b="1" dirty="0"/>
              <a:t>1- Custo de Transporte como um % das Vendas</a:t>
            </a:r>
            <a:br>
              <a:rPr lang="pt-BR" sz="3200" dirty="0"/>
            </a:br>
            <a:r>
              <a:rPr lang="pt-BR" sz="3200" dirty="0"/>
              <a:t>Aponta a participação dos custos totais de transportes sobre a receita de vendas da empresa. Pode-se trabalhar com a receita líquida ou bruta.</a:t>
            </a:r>
            <a:br>
              <a:rPr lang="pt-BR" sz="3200" dirty="0"/>
            </a:br>
            <a:r>
              <a:rPr lang="pt-BR" sz="3200" dirty="0"/>
              <a:t>Fórmula de Cálculo:</a:t>
            </a:r>
            <a:br>
              <a:rPr lang="pt-BR" sz="3200" dirty="0"/>
            </a:br>
            <a:r>
              <a:rPr lang="pt-BR" sz="3200" dirty="0"/>
              <a:t>CT%V = custo total de transporte x 100 ÷ receita de vendas</a:t>
            </a:r>
            <a:br>
              <a:rPr lang="pt-BR" sz="3200" dirty="0"/>
            </a:br>
            <a:r>
              <a:rPr lang="pt-BR" sz="3200" dirty="0"/>
              <a:t>Frequência de Medição:  Mensal</a:t>
            </a:r>
            <a:br>
              <a:rPr lang="pt-BR" sz="3200" dirty="0"/>
            </a:br>
            <a:r>
              <a:rPr lang="pt-BR" sz="3200" dirty="0"/>
              <a:t>Práticas de Mercado: variam em função do segmento da empresa, de 0,5% a 15%;</a:t>
            </a:r>
            <a:br>
              <a:rPr lang="pt-BR" sz="3200" dirty="0"/>
            </a:br>
            <a:r>
              <a:rPr lang="pt-BR" sz="3200" dirty="0"/>
              <a:t>maioria das empresas encontra-se na faixa entre 3% a 5%;</a:t>
            </a:r>
            <a:br>
              <a:rPr lang="pt-BR" sz="3200" dirty="0"/>
            </a:br>
            <a:endParaRPr lang="pt-BR" sz="3200" dirty="0"/>
          </a:p>
        </p:txBody>
      </p:sp>
      <p:sp>
        <p:nvSpPr>
          <p:cNvPr id="4" name="Título 1"/>
          <p:cNvSpPr>
            <a:spLocks noGrp="1"/>
          </p:cNvSpPr>
          <p:nvPr>
            <p:ph type="ctrTitle" idx="4294967295"/>
          </p:nvPr>
        </p:nvSpPr>
        <p:spPr>
          <a:xfrm>
            <a:off x="0" y="281354"/>
            <a:ext cx="12192000" cy="714375"/>
          </a:xfrm>
          <a:solidFill>
            <a:schemeClr val="accent1">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lnRef>
          <a:fillRef idx="1">
            <a:schemeClr val="lt1"/>
          </a:fillRef>
          <a:effectRef idx="0">
            <a:schemeClr val="accent1"/>
          </a:effectRef>
          <a:fontRef idx="minor">
            <a:schemeClr val="dk1"/>
          </a:fontRef>
        </p:style>
        <p:txBody>
          <a:bodyPr>
            <a:normAutofit fontScale="90000"/>
          </a:bodyPr>
          <a:lstStyle/>
          <a:p>
            <a:br>
              <a:rPr lang="pt-BR" sz="4400" dirty="0"/>
            </a:br>
            <a:r>
              <a:rPr lang="pt-BR" sz="4400" dirty="0"/>
              <a:t>	</a:t>
            </a:r>
            <a:br>
              <a:rPr lang="pt-BR" sz="4400" dirty="0"/>
            </a:br>
            <a:endParaRPr lang="pt-BR" sz="3600" dirty="0"/>
          </a:p>
        </p:txBody>
      </p:sp>
    </p:spTree>
    <p:extLst>
      <p:ext uri="{BB962C8B-B14F-4D97-AF65-F5344CB8AC3E}">
        <p14:creationId xmlns:p14="http://schemas.microsoft.com/office/powerpoint/2010/main" val="1761413765"/>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ubtítulo 2"/>
          <p:cNvSpPr>
            <a:spLocks noGrp="1"/>
          </p:cNvSpPr>
          <p:nvPr>
            <p:ph type="subTitle" idx="4294967295"/>
          </p:nvPr>
        </p:nvSpPr>
        <p:spPr>
          <a:xfrm>
            <a:off x="0" y="1020763"/>
            <a:ext cx="12192000" cy="5075238"/>
          </a:xfrm>
        </p:spPr>
        <p:txBody>
          <a:bodyPr>
            <a:noAutofit/>
          </a:bodyPr>
          <a:lstStyle/>
          <a:p>
            <a:pPr algn="l"/>
            <a:r>
              <a:rPr lang="pt-BR" b="1" dirty="0"/>
              <a:t>1) Custo com Não-Conformidades em Transportes</a:t>
            </a:r>
            <a:br>
              <a:rPr lang="pt-BR" dirty="0"/>
            </a:br>
            <a:r>
              <a:rPr lang="pt-BR" dirty="0"/>
              <a:t>Mede a participação de custos decorrentes de não conformidades no processo de planejamento, gestão e operação de transportes, como devoluções, </a:t>
            </a:r>
            <a:r>
              <a:rPr lang="pt-BR" dirty="0" err="1"/>
              <a:t>re-entregas</a:t>
            </a:r>
            <a:r>
              <a:rPr lang="pt-BR" dirty="0"/>
              <a:t>, </a:t>
            </a:r>
            <a:r>
              <a:rPr lang="pt-BR" dirty="0" err="1"/>
              <a:t>sobre-estadias</a:t>
            </a:r>
            <a:r>
              <a:rPr lang="pt-BR" dirty="0"/>
              <a:t>, multas por atraso em entregas, indenizações de avarias, frete </a:t>
            </a:r>
            <a:r>
              <a:rPr lang="pt-BR" dirty="0" err="1"/>
              <a:t>premium</a:t>
            </a:r>
            <a:r>
              <a:rPr lang="pt-BR" dirty="0"/>
              <a:t> ou carga expressa, gastos com frete aéreo não estimado, </a:t>
            </a:r>
            <a:r>
              <a:rPr lang="pt-BR" dirty="0" err="1"/>
              <a:t>etc</a:t>
            </a:r>
            <a:br>
              <a:rPr lang="pt-BR" dirty="0"/>
            </a:br>
            <a:r>
              <a:rPr lang="pt-BR" dirty="0"/>
              <a:t>Fórmula de Cálculo:</a:t>
            </a:r>
            <a:br>
              <a:rPr lang="pt-BR" dirty="0"/>
            </a:br>
            <a:r>
              <a:rPr lang="pt-BR" dirty="0"/>
              <a:t>CFUE = custo adicional de transporte com não conformidades ÷ custo total de frete</a:t>
            </a:r>
            <a:br>
              <a:rPr lang="pt-BR" dirty="0"/>
            </a:br>
            <a:r>
              <a:rPr lang="pt-BR" dirty="0"/>
              <a:t>Frequência de Medição: Mensal</a:t>
            </a:r>
            <a:br>
              <a:rPr lang="pt-BR" dirty="0"/>
            </a:br>
            <a:r>
              <a:rPr lang="pt-BR" dirty="0"/>
              <a:t>Práticas de Mercado:</a:t>
            </a:r>
            <a:br>
              <a:rPr lang="pt-BR" dirty="0"/>
            </a:br>
            <a:r>
              <a:rPr lang="pt-BR" dirty="0"/>
              <a:t>Deveriam ser inferiores a 5% do frete normalmente gasto, mas em muitos casos, chegam a atingir ao redor de 15% total das despesas com transporte.</a:t>
            </a:r>
          </a:p>
          <a:p>
            <a:pPr algn="l"/>
            <a:endParaRPr lang="pt-BR" sz="3200" dirty="0"/>
          </a:p>
        </p:txBody>
      </p:sp>
      <p:sp>
        <p:nvSpPr>
          <p:cNvPr id="4" name="Título 1"/>
          <p:cNvSpPr>
            <a:spLocks noGrp="1"/>
          </p:cNvSpPr>
          <p:nvPr>
            <p:ph type="ctrTitle" idx="4294967295"/>
          </p:nvPr>
        </p:nvSpPr>
        <p:spPr>
          <a:xfrm>
            <a:off x="0" y="306388"/>
            <a:ext cx="12192000" cy="714375"/>
          </a:xfrm>
          <a:solidFill>
            <a:schemeClr val="accent1">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lnRef>
          <a:fillRef idx="1">
            <a:schemeClr val="lt1"/>
          </a:fillRef>
          <a:effectRef idx="0">
            <a:schemeClr val="accent1"/>
          </a:effectRef>
          <a:fontRef idx="minor">
            <a:schemeClr val="dk1"/>
          </a:fontRef>
        </p:style>
        <p:txBody>
          <a:bodyPr>
            <a:normAutofit fontScale="90000"/>
          </a:bodyPr>
          <a:lstStyle/>
          <a:p>
            <a:br>
              <a:rPr lang="pt-BR" sz="4400" dirty="0"/>
            </a:br>
            <a:r>
              <a:rPr lang="pt-BR" sz="4400" dirty="0"/>
              <a:t>	</a:t>
            </a:r>
            <a:br>
              <a:rPr lang="pt-BR" sz="4400" dirty="0"/>
            </a:br>
            <a:endParaRPr lang="pt-BR" sz="3600" dirty="0"/>
          </a:p>
        </p:txBody>
      </p:sp>
    </p:spTree>
    <p:extLst>
      <p:ext uri="{BB962C8B-B14F-4D97-AF65-F5344CB8AC3E}">
        <p14:creationId xmlns:p14="http://schemas.microsoft.com/office/powerpoint/2010/main" val="20026165"/>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ubtítulo 2"/>
          <p:cNvSpPr>
            <a:spLocks noGrp="1"/>
          </p:cNvSpPr>
          <p:nvPr>
            <p:ph type="subTitle" idx="4294967295"/>
          </p:nvPr>
        </p:nvSpPr>
        <p:spPr>
          <a:xfrm>
            <a:off x="0" y="1416050"/>
            <a:ext cx="12192000" cy="5075238"/>
          </a:xfrm>
        </p:spPr>
        <p:txBody>
          <a:bodyPr>
            <a:noAutofit/>
          </a:bodyPr>
          <a:lstStyle/>
          <a:p>
            <a:pPr algn="l"/>
            <a:r>
              <a:rPr lang="pt-BR" sz="4400" b="1" dirty="0"/>
              <a:t>1) Custo com Não-Conformidades em Transportes</a:t>
            </a:r>
            <a:br>
              <a:rPr lang="pt-BR" sz="4400" dirty="0"/>
            </a:br>
            <a:r>
              <a:rPr lang="pt-BR" sz="4400" dirty="0"/>
              <a:t>Práticas de Mercado:</a:t>
            </a:r>
            <a:br>
              <a:rPr lang="pt-BR" sz="4400" dirty="0"/>
            </a:br>
            <a:r>
              <a:rPr lang="pt-BR" sz="4400" dirty="0"/>
              <a:t>Deveriam ser inferiores a 5% do frete normalmente gasto, mas em muitos casos, chegam a atingir ao redor de 15% total das despesas com transporte.</a:t>
            </a:r>
          </a:p>
          <a:p>
            <a:pPr algn="l"/>
            <a:endParaRPr lang="pt-BR" sz="3200" dirty="0"/>
          </a:p>
        </p:txBody>
      </p:sp>
      <p:sp>
        <p:nvSpPr>
          <p:cNvPr id="4" name="Título 1"/>
          <p:cNvSpPr>
            <a:spLocks noGrp="1"/>
          </p:cNvSpPr>
          <p:nvPr>
            <p:ph type="ctrTitle" idx="4294967295"/>
          </p:nvPr>
        </p:nvSpPr>
        <p:spPr>
          <a:xfrm>
            <a:off x="0" y="386774"/>
            <a:ext cx="12192000" cy="714375"/>
          </a:xfrm>
          <a:solidFill>
            <a:schemeClr val="accent1">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lnRef>
          <a:fillRef idx="1">
            <a:schemeClr val="lt1"/>
          </a:fillRef>
          <a:effectRef idx="0">
            <a:schemeClr val="accent1"/>
          </a:effectRef>
          <a:fontRef idx="minor">
            <a:schemeClr val="dk1"/>
          </a:fontRef>
        </p:style>
        <p:txBody>
          <a:bodyPr>
            <a:normAutofit fontScale="90000"/>
          </a:bodyPr>
          <a:lstStyle/>
          <a:p>
            <a:br>
              <a:rPr lang="pt-BR" sz="4400" dirty="0"/>
            </a:br>
            <a:r>
              <a:rPr lang="pt-BR" sz="4400" dirty="0"/>
              <a:t>	</a:t>
            </a:r>
            <a:br>
              <a:rPr lang="pt-BR" sz="4400" dirty="0"/>
            </a:br>
            <a:endParaRPr lang="pt-BR" sz="3600" dirty="0"/>
          </a:p>
        </p:txBody>
      </p:sp>
    </p:spTree>
    <p:extLst>
      <p:ext uri="{BB962C8B-B14F-4D97-AF65-F5344CB8AC3E}">
        <p14:creationId xmlns:p14="http://schemas.microsoft.com/office/powerpoint/2010/main" val="3082515820"/>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ubtítulo 2"/>
          <p:cNvSpPr>
            <a:spLocks noGrp="1"/>
          </p:cNvSpPr>
          <p:nvPr>
            <p:ph type="subTitle" idx="4294967295"/>
          </p:nvPr>
        </p:nvSpPr>
        <p:spPr>
          <a:xfrm>
            <a:off x="0" y="1416050"/>
            <a:ext cx="12192000" cy="5075238"/>
          </a:xfrm>
        </p:spPr>
        <p:txBody>
          <a:bodyPr>
            <a:noAutofit/>
          </a:bodyPr>
          <a:lstStyle/>
          <a:p>
            <a:pPr algn="l"/>
            <a:r>
              <a:rPr lang="pt-BR" sz="3200" b="1" dirty="0"/>
              <a:t>1) Avarias no Transporte:</a:t>
            </a:r>
            <a:br>
              <a:rPr lang="pt-BR" sz="3200" dirty="0"/>
            </a:br>
            <a:r>
              <a:rPr lang="pt-BR" sz="3200" dirty="0"/>
              <a:t>Mede as avarias ocorridas durante a operação de transporte.</a:t>
            </a:r>
            <a:br>
              <a:rPr lang="pt-BR" sz="3200" dirty="0"/>
            </a:br>
            <a:r>
              <a:rPr lang="pt-BR" sz="3200" dirty="0"/>
              <a:t>Fórmula de Cálculo: Avarias = avarias no transporte em R$ x 100 ÷ valor total das mercadorias transportadas em R$</a:t>
            </a:r>
            <a:br>
              <a:rPr lang="pt-BR" sz="3200" dirty="0"/>
            </a:br>
            <a:r>
              <a:rPr lang="pt-BR" sz="3200" dirty="0"/>
              <a:t>Frequência de Medição: Mensal</a:t>
            </a:r>
            <a:br>
              <a:rPr lang="pt-BR" sz="3200" dirty="0"/>
            </a:br>
            <a:r>
              <a:rPr lang="pt-BR" sz="3200" dirty="0"/>
              <a:t>Práticas de Mercado:</a:t>
            </a:r>
            <a:br>
              <a:rPr lang="pt-BR" sz="3200" dirty="0"/>
            </a:br>
            <a:r>
              <a:rPr lang="pt-BR" sz="3200" dirty="0"/>
              <a:t>depende do tipo de produto, equipamento utilizado, distância percorrida e rota.</a:t>
            </a:r>
            <a:br>
              <a:rPr lang="pt-BR" sz="3200" dirty="0"/>
            </a:br>
            <a:r>
              <a:rPr lang="pt-BR" sz="3200" dirty="0"/>
              <a:t>Em geral, entre 0,1% e 0,5% do valor total transportado.</a:t>
            </a:r>
          </a:p>
        </p:txBody>
      </p:sp>
      <p:sp>
        <p:nvSpPr>
          <p:cNvPr id="4" name="Título 1"/>
          <p:cNvSpPr>
            <a:spLocks noGrp="1"/>
          </p:cNvSpPr>
          <p:nvPr>
            <p:ph type="ctrTitle" idx="4294967295"/>
          </p:nvPr>
        </p:nvSpPr>
        <p:spPr>
          <a:xfrm>
            <a:off x="0" y="306388"/>
            <a:ext cx="12192000" cy="714375"/>
          </a:xfrm>
          <a:solidFill>
            <a:schemeClr val="accent1">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lnRef>
          <a:fillRef idx="1">
            <a:schemeClr val="lt1"/>
          </a:fillRef>
          <a:effectRef idx="0">
            <a:schemeClr val="accent1"/>
          </a:effectRef>
          <a:fontRef idx="minor">
            <a:schemeClr val="dk1"/>
          </a:fontRef>
        </p:style>
        <p:txBody>
          <a:bodyPr>
            <a:normAutofit fontScale="90000"/>
          </a:bodyPr>
          <a:lstStyle/>
          <a:p>
            <a:br>
              <a:rPr lang="pt-BR" sz="4400" dirty="0"/>
            </a:br>
            <a:r>
              <a:rPr lang="pt-BR" sz="4400" dirty="0"/>
              <a:t>	</a:t>
            </a:r>
            <a:br>
              <a:rPr lang="pt-BR" sz="4400" dirty="0"/>
            </a:br>
            <a:endParaRPr lang="pt-BR" sz="3600" dirty="0"/>
          </a:p>
        </p:txBody>
      </p:sp>
    </p:spTree>
    <p:extLst>
      <p:ext uri="{BB962C8B-B14F-4D97-AF65-F5344CB8AC3E}">
        <p14:creationId xmlns:p14="http://schemas.microsoft.com/office/powerpoint/2010/main" val="487845196"/>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ubtítulo 2"/>
          <p:cNvSpPr>
            <a:spLocks noGrp="1"/>
          </p:cNvSpPr>
          <p:nvPr>
            <p:ph type="subTitle" idx="4294967295"/>
          </p:nvPr>
        </p:nvSpPr>
        <p:spPr>
          <a:xfrm>
            <a:off x="0" y="1416050"/>
            <a:ext cx="12192000" cy="5075238"/>
          </a:xfrm>
        </p:spPr>
        <p:txBody>
          <a:bodyPr>
            <a:noAutofit/>
          </a:bodyPr>
          <a:lstStyle/>
          <a:p>
            <a:pPr marL="514350" indent="-514350" algn="l">
              <a:buAutoNum type="arabicParenR"/>
            </a:pPr>
            <a:r>
              <a:rPr lang="pt-BR" sz="3200" b="1" dirty="0"/>
              <a:t>Utilização da Capacidade de Carga do Caminhão</a:t>
            </a:r>
            <a:br>
              <a:rPr lang="pt-BR" sz="3200" dirty="0"/>
            </a:br>
            <a:r>
              <a:rPr lang="pt-BR" sz="3200" dirty="0"/>
              <a:t>Mede o aproveitamento da capacidade de carga útil dos equipamentos de transporte utilizados.</a:t>
            </a:r>
            <a:br>
              <a:rPr lang="pt-BR" sz="3200" dirty="0"/>
            </a:br>
            <a:r>
              <a:rPr lang="pt-BR" sz="3200" dirty="0"/>
              <a:t>Fórmula de Cálculo:</a:t>
            </a:r>
            <a:br>
              <a:rPr lang="pt-BR" sz="3200" dirty="0"/>
            </a:br>
            <a:r>
              <a:rPr lang="pt-BR" sz="3200" dirty="0"/>
              <a:t>TCU = carga total transportada em </a:t>
            </a:r>
            <a:r>
              <a:rPr lang="pt-BR" sz="3200" dirty="0" err="1"/>
              <a:t>ton</a:t>
            </a:r>
            <a:r>
              <a:rPr lang="pt-BR" sz="3200" dirty="0"/>
              <a:t> ou m³ x 100 ÷ capacidade teórica do equipamento em </a:t>
            </a:r>
            <a:r>
              <a:rPr lang="pt-BR" sz="3200" dirty="0" err="1"/>
              <a:t>ton</a:t>
            </a:r>
            <a:r>
              <a:rPr lang="pt-BR" sz="3200" dirty="0"/>
              <a:t> ou m³.</a:t>
            </a:r>
            <a:br>
              <a:rPr lang="pt-BR" sz="3200" dirty="0"/>
            </a:br>
            <a:r>
              <a:rPr lang="pt-BR" sz="3200" dirty="0"/>
              <a:t>Frequência de Medição: Mensal, mas deve ser monitorada a cada embarque.</a:t>
            </a:r>
            <a:br>
              <a:rPr lang="pt-BR" sz="3200" dirty="0"/>
            </a:br>
            <a:endParaRPr lang="pt-BR" sz="3200" dirty="0"/>
          </a:p>
        </p:txBody>
      </p:sp>
      <p:sp>
        <p:nvSpPr>
          <p:cNvPr id="4" name="Título 1"/>
          <p:cNvSpPr>
            <a:spLocks noGrp="1"/>
          </p:cNvSpPr>
          <p:nvPr>
            <p:ph type="ctrTitle" idx="4294967295"/>
          </p:nvPr>
        </p:nvSpPr>
        <p:spPr>
          <a:xfrm>
            <a:off x="0" y="306388"/>
            <a:ext cx="12192000" cy="714375"/>
          </a:xfrm>
          <a:solidFill>
            <a:schemeClr val="accent1">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lnRef>
          <a:fillRef idx="1">
            <a:schemeClr val="lt1"/>
          </a:fillRef>
          <a:effectRef idx="0">
            <a:schemeClr val="accent1"/>
          </a:effectRef>
          <a:fontRef idx="minor">
            <a:schemeClr val="dk1"/>
          </a:fontRef>
        </p:style>
        <p:txBody>
          <a:bodyPr>
            <a:normAutofit fontScale="90000"/>
          </a:bodyPr>
          <a:lstStyle/>
          <a:p>
            <a:br>
              <a:rPr lang="pt-BR" sz="4400" dirty="0"/>
            </a:br>
            <a:r>
              <a:rPr lang="pt-BR" sz="4400" dirty="0"/>
              <a:t>	</a:t>
            </a:r>
            <a:br>
              <a:rPr lang="pt-BR" sz="4400" dirty="0"/>
            </a:br>
            <a:endParaRPr lang="pt-BR" sz="3600" dirty="0"/>
          </a:p>
        </p:txBody>
      </p:sp>
    </p:spTree>
    <p:extLst>
      <p:ext uri="{BB962C8B-B14F-4D97-AF65-F5344CB8AC3E}">
        <p14:creationId xmlns:p14="http://schemas.microsoft.com/office/powerpoint/2010/main" val="4171536821"/>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ubtítulo 2"/>
          <p:cNvSpPr>
            <a:spLocks noGrp="1"/>
          </p:cNvSpPr>
          <p:nvPr>
            <p:ph type="subTitle" idx="4294967295"/>
          </p:nvPr>
        </p:nvSpPr>
        <p:spPr>
          <a:xfrm>
            <a:off x="0" y="1416050"/>
            <a:ext cx="12192000" cy="5075238"/>
          </a:xfrm>
        </p:spPr>
        <p:txBody>
          <a:bodyPr>
            <a:noAutofit/>
          </a:bodyPr>
          <a:lstStyle/>
          <a:p>
            <a:pPr marL="514350" indent="-514350" algn="l">
              <a:buAutoNum type="arabicParenR"/>
            </a:pPr>
            <a:r>
              <a:rPr lang="pt-BR" sz="3600" b="1" dirty="0"/>
              <a:t>Utilização da Capacidade de Carga do Caminhão</a:t>
            </a:r>
            <a:br>
              <a:rPr lang="pt-BR" sz="3600" dirty="0"/>
            </a:br>
            <a:r>
              <a:rPr lang="pt-BR" sz="3600" dirty="0"/>
              <a:t>Práticas de Mercado:</a:t>
            </a:r>
            <a:br>
              <a:rPr lang="pt-BR" sz="3600" dirty="0"/>
            </a:br>
            <a:r>
              <a:rPr lang="pt-BR" sz="3600" dirty="0"/>
              <a:t>se medido em toneladas, para cargas que atendem a relação 1m³ = 300 kg, o índice chega a 100% facilmente; em cargas menos densas (mais leves), varia ao redor de 60% a 95%, ainda com algumas exceções, como é o caso do transporte de algodão, papel higiênico, plásticos, etc.</a:t>
            </a:r>
          </a:p>
        </p:txBody>
      </p:sp>
      <p:sp>
        <p:nvSpPr>
          <p:cNvPr id="4" name="Título 1"/>
          <p:cNvSpPr>
            <a:spLocks noGrp="1"/>
          </p:cNvSpPr>
          <p:nvPr>
            <p:ph type="ctrTitle" idx="4294967295"/>
          </p:nvPr>
        </p:nvSpPr>
        <p:spPr>
          <a:xfrm>
            <a:off x="0" y="306388"/>
            <a:ext cx="12192000" cy="714375"/>
          </a:xfrm>
          <a:solidFill>
            <a:schemeClr val="accent1">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lnRef>
          <a:fillRef idx="1">
            <a:schemeClr val="lt1"/>
          </a:fillRef>
          <a:effectRef idx="0">
            <a:schemeClr val="accent1"/>
          </a:effectRef>
          <a:fontRef idx="minor">
            <a:schemeClr val="dk1"/>
          </a:fontRef>
        </p:style>
        <p:txBody>
          <a:bodyPr>
            <a:normAutofit fontScale="90000"/>
          </a:bodyPr>
          <a:lstStyle/>
          <a:p>
            <a:br>
              <a:rPr lang="pt-BR" sz="4400" dirty="0"/>
            </a:br>
            <a:r>
              <a:rPr lang="pt-BR" sz="4400" dirty="0"/>
              <a:t>	</a:t>
            </a:r>
            <a:br>
              <a:rPr lang="pt-BR" sz="4400" dirty="0"/>
            </a:br>
            <a:endParaRPr lang="pt-BR" sz="3600" dirty="0"/>
          </a:p>
        </p:txBody>
      </p:sp>
    </p:spTree>
    <p:extLst>
      <p:ext uri="{BB962C8B-B14F-4D97-AF65-F5344CB8AC3E}">
        <p14:creationId xmlns:p14="http://schemas.microsoft.com/office/powerpoint/2010/main" val="3329680371"/>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ubtítulo 2"/>
          <p:cNvSpPr>
            <a:spLocks noGrp="1"/>
          </p:cNvSpPr>
          <p:nvPr>
            <p:ph type="subTitle" idx="4294967295"/>
          </p:nvPr>
        </p:nvSpPr>
        <p:spPr>
          <a:xfrm>
            <a:off x="0" y="1020763"/>
            <a:ext cx="12192000" cy="5075238"/>
          </a:xfrm>
        </p:spPr>
        <p:txBody>
          <a:bodyPr>
            <a:noAutofit/>
          </a:bodyPr>
          <a:lstStyle/>
          <a:p>
            <a:pPr algn="l"/>
            <a:r>
              <a:rPr lang="pt-BR" sz="3200" b="1" dirty="0"/>
              <a:t>1) </a:t>
            </a:r>
            <a:r>
              <a:rPr lang="pt-BR" sz="3200" b="1" dirty="0" err="1"/>
              <a:t>Acuracidade</a:t>
            </a:r>
            <a:r>
              <a:rPr lang="pt-BR" sz="3200" b="1" dirty="0"/>
              <a:t> na Emissão do Conhecimento de Transporte Rodoviário de Carga (CTRC)</a:t>
            </a:r>
            <a:br>
              <a:rPr lang="pt-BR" sz="3200" dirty="0"/>
            </a:br>
            <a:r>
              <a:rPr lang="pt-BR" sz="3200" dirty="0"/>
              <a:t>Permite quantificar os erros na emissão de </a:t>
            </a:r>
            <a:r>
              <a:rPr lang="pt-BR" sz="3200" dirty="0" err="1"/>
              <a:t>CTRCs</a:t>
            </a:r>
            <a:r>
              <a:rPr lang="pt-BR" sz="3200" dirty="0"/>
              <a:t> em relação aos custos totais de transporte.</a:t>
            </a:r>
            <a:br>
              <a:rPr lang="pt-BR" sz="3200" dirty="0"/>
            </a:br>
            <a:r>
              <a:rPr lang="pt-BR" sz="3200" dirty="0"/>
              <a:t>Fórmula de Cálculo:</a:t>
            </a:r>
            <a:br>
              <a:rPr lang="pt-BR" sz="3200" dirty="0"/>
            </a:br>
            <a:r>
              <a:rPr lang="pt-BR" sz="3200" dirty="0"/>
              <a:t>AE_CTRC = erros na cobrança em R$ x 100 total de gastos com transporte em R$.</a:t>
            </a:r>
            <a:br>
              <a:rPr lang="pt-BR" sz="3200" dirty="0"/>
            </a:br>
            <a:r>
              <a:rPr lang="pt-BR" sz="3200" dirty="0"/>
              <a:t>Frequência de Medição: Mensal, por Transportadora.</a:t>
            </a:r>
            <a:br>
              <a:rPr lang="pt-BR" sz="3200" dirty="0"/>
            </a:br>
            <a:r>
              <a:rPr lang="pt-BR" sz="3200" dirty="0"/>
              <a:t>Práticas de Mercado:</a:t>
            </a:r>
            <a:br>
              <a:rPr lang="pt-BR" sz="3200" dirty="0"/>
            </a:br>
            <a:r>
              <a:rPr lang="pt-BR" sz="3200" dirty="0"/>
              <a:t>No caso de conferência manual, entre 2%e 5% do valor total do frete pago. Em casos automatizados, o valor é praticamente nulo.</a:t>
            </a:r>
          </a:p>
          <a:p>
            <a:pPr algn="l"/>
            <a:endParaRPr lang="pt-BR" sz="3200" dirty="0"/>
          </a:p>
        </p:txBody>
      </p:sp>
      <p:sp>
        <p:nvSpPr>
          <p:cNvPr id="4" name="Título 1"/>
          <p:cNvSpPr>
            <a:spLocks noGrp="1"/>
          </p:cNvSpPr>
          <p:nvPr>
            <p:ph type="ctrTitle" idx="4294967295"/>
          </p:nvPr>
        </p:nvSpPr>
        <p:spPr>
          <a:xfrm>
            <a:off x="0" y="306388"/>
            <a:ext cx="12192000" cy="714375"/>
          </a:xfrm>
          <a:solidFill>
            <a:schemeClr val="accent1">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lnRef>
          <a:fillRef idx="1">
            <a:schemeClr val="lt1"/>
          </a:fillRef>
          <a:effectRef idx="0">
            <a:schemeClr val="accent1"/>
          </a:effectRef>
          <a:fontRef idx="minor">
            <a:schemeClr val="dk1"/>
          </a:fontRef>
        </p:style>
        <p:txBody>
          <a:bodyPr>
            <a:normAutofit fontScale="90000"/>
          </a:bodyPr>
          <a:lstStyle/>
          <a:p>
            <a:br>
              <a:rPr lang="pt-BR" sz="4400" dirty="0"/>
            </a:br>
            <a:r>
              <a:rPr lang="pt-BR" sz="4400" dirty="0"/>
              <a:t>	</a:t>
            </a:r>
            <a:br>
              <a:rPr lang="pt-BR" sz="4400" dirty="0"/>
            </a:br>
            <a:endParaRPr lang="pt-BR" sz="3600" dirty="0"/>
          </a:p>
        </p:txBody>
      </p:sp>
    </p:spTree>
    <p:extLst>
      <p:ext uri="{BB962C8B-B14F-4D97-AF65-F5344CB8AC3E}">
        <p14:creationId xmlns:p14="http://schemas.microsoft.com/office/powerpoint/2010/main" val="2919229323"/>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ubtítulo 2"/>
          <p:cNvSpPr>
            <a:spLocks noGrp="1"/>
          </p:cNvSpPr>
          <p:nvPr>
            <p:ph type="subTitle" idx="4294967295"/>
          </p:nvPr>
        </p:nvSpPr>
        <p:spPr>
          <a:xfrm>
            <a:off x="0" y="1094503"/>
            <a:ext cx="12192000" cy="5075238"/>
          </a:xfrm>
        </p:spPr>
        <p:txBody>
          <a:bodyPr>
            <a:noAutofit/>
          </a:bodyPr>
          <a:lstStyle/>
          <a:p>
            <a:pPr algn="l"/>
            <a:r>
              <a:rPr lang="pt-BR" sz="3600" b="1" dirty="0"/>
              <a:t>1) Tempo do Ciclo de Logística Reversa</a:t>
            </a:r>
            <a:br>
              <a:rPr lang="pt-BR" sz="3600" dirty="0"/>
            </a:br>
            <a:r>
              <a:rPr lang="pt-BR" sz="3600" dirty="0"/>
              <a:t>Mede o tempo decorrido entre a identificação do material como parte do fluxo reverso e o seu devido encaminhamento para estocagem, troca, conserto, descarte, etc.</a:t>
            </a:r>
            <a:br>
              <a:rPr lang="pt-BR" sz="3600" dirty="0"/>
            </a:br>
            <a:r>
              <a:rPr lang="pt-BR" sz="3600" dirty="0"/>
              <a:t>Fórmula de Cálculo:</a:t>
            </a:r>
            <a:br>
              <a:rPr lang="pt-BR" sz="3600" dirty="0"/>
            </a:br>
            <a:r>
              <a:rPr lang="pt-BR" sz="3600" dirty="0"/>
              <a:t>TCLR = data / hora de conclusão do encaminhamento do material menos data / hora de entrada do material no fluxo reverso</a:t>
            </a:r>
            <a:br>
              <a:rPr lang="pt-BR" sz="3600" dirty="0"/>
            </a:br>
            <a:r>
              <a:rPr lang="pt-BR" sz="3600" dirty="0"/>
              <a:t>Frequência de Medição: Mensal.</a:t>
            </a:r>
            <a:br>
              <a:rPr lang="pt-BR" sz="3600" dirty="0"/>
            </a:br>
            <a:r>
              <a:rPr lang="pt-BR" sz="3600" dirty="0"/>
              <a:t>Práticas de Mercado: Variável.</a:t>
            </a:r>
            <a:br>
              <a:rPr lang="pt-BR" sz="3600" dirty="0"/>
            </a:br>
            <a:endParaRPr lang="pt-BR" sz="3600" dirty="0"/>
          </a:p>
          <a:p>
            <a:pPr algn="l"/>
            <a:endParaRPr lang="pt-BR" sz="3200" dirty="0"/>
          </a:p>
        </p:txBody>
      </p:sp>
      <p:sp>
        <p:nvSpPr>
          <p:cNvPr id="4" name="Título 1"/>
          <p:cNvSpPr>
            <a:spLocks noGrp="1"/>
          </p:cNvSpPr>
          <p:nvPr>
            <p:ph type="ctrTitle" idx="4294967295"/>
          </p:nvPr>
        </p:nvSpPr>
        <p:spPr>
          <a:xfrm>
            <a:off x="0" y="306388"/>
            <a:ext cx="12192000" cy="714375"/>
          </a:xfrm>
          <a:solidFill>
            <a:schemeClr val="accent1">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lnRef>
          <a:fillRef idx="1">
            <a:schemeClr val="lt1"/>
          </a:fillRef>
          <a:effectRef idx="0">
            <a:schemeClr val="accent1"/>
          </a:effectRef>
          <a:fontRef idx="minor">
            <a:schemeClr val="dk1"/>
          </a:fontRef>
        </p:style>
        <p:txBody>
          <a:bodyPr>
            <a:normAutofit fontScale="90000"/>
          </a:bodyPr>
          <a:lstStyle/>
          <a:p>
            <a:br>
              <a:rPr lang="pt-BR" sz="4400" dirty="0"/>
            </a:br>
            <a:r>
              <a:rPr lang="pt-BR" sz="4400" dirty="0"/>
              <a:t>	</a:t>
            </a:r>
            <a:br>
              <a:rPr lang="pt-BR" sz="4400" dirty="0"/>
            </a:br>
            <a:endParaRPr lang="pt-BR" sz="3600" dirty="0"/>
          </a:p>
        </p:txBody>
      </p:sp>
    </p:spTree>
    <p:extLst>
      <p:ext uri="{BB962C8B-B14F-4D97-AF65-F5344CB8AC3E}">
        <p14:creationId xmlns:p14="http://schemas.microsoft.com/office/powerpoint/2010/main" val="2215913246"/>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ubtítulo 2"/>
          <p:cNvSpPr>
            <a:spLocks noGrp="1"/>
          </p:cNvSpPr>
          <p:nvPr>
            <p:ph type="subTitle" idx="4294967295"/>
          </p:nvPr>
        </p:nvSpPr>
        <p:spPr>
          <a:xfrm>
            <a:off x="0" y="1104551"/>
            <a:ext cx="12192000" cy="5075238"/>
          </a:xfrm>
        </p:spPr>
        <p:txBody>
          <a:bodyPr>
            <a:noAutofit/>
          </a:bodyPr>
          <a:lstStyle/>
          <a:p>
            <a:pPr algn="l"/>
            <a:r>
              <a:rPr lang="pt-BR" sz="3200" b="1" dirty="0"/>
              <a:t>1) Custo de Devolução como um % do Custo das Mercadorias Vendidas (CMV)</a:t>
            </a:r>
            <a:br>
              <a:rPr lang="pt-BR" sz="3200" dirty="0"/>
            </a:br>
            <a:r>
              <a:rPr lang="pt-BR" sz="3200" dirty="0"/>
              <a:t>Mede o custo total para a operação do fluxo reverso, envolvendo gastos com embalagens, manuseio, movimentação, armazenagem e transporte, expressando-o como um percentual do CMV (Custo das Mercadorias Vendidas).</a:t>
            </a:r>
            <a:br>
              <a:rPr lang="pt-BR" sz="3200" dirty="0"/>
            </a:br>
            <a:r>
              <a:rPr lang="pt-BR" sz="3200" dirty="0"/>
              <a:t>Fórmula de Cálculo:</a:t>
            </a:r>
            <a:br>
              <a:rPr lang="pt-BR" sz="3200" dirty="0"/>
            </a:br>
            <a:r>
              <a:rPr lang="pt-BR" sz="3200" dirty="0"/>
              <a:t>TCLR= custo total com o fluxo reverso x 100 ÷ custo das mercadorias vendidas</a:t>
            </a:r>
            <a:br>
              <a:rPr lang="pt-BR" sz="3200" dirty="0"/>
            </a:br>
            <a:r>
              <a:rPr lang="pt-BR" sz="3200" dirty="0"/>
              <a:t>Frequência de Medição: Mensal.</a:t>
            </a:r>
            <a:br>
              <a:rPr lang="pt-BR" sz="3200" dirty="0"/>
            </a:br>
            <a:r>
              <a:rPr lang="pt-BR" sz="3200" dirty="0"/>
              <a:t>Práticas de Mercado: Variável.</a:t>
            </a:r>
            <a:br>
              <a:rPr lang="pt-BR" sz="3200" dirty="0"/>
            </a:br>
            <a:endParaRPr lang="pt-BR" sz="3200" dirty="0"/>
          </a:p>
          <a:p>
            <a:pPr algn="l"/>
            <a:endParaRPr lang="pt-BR" sz="3200" dirty="0"/>
          </a:p>
        </p:txBody>
      </p:sp>
      <p:sp>
        <p:nvSpPr>
          <p:cNvPr id="4" name="Título 1"/>
          <p:cNvSpPr>
            <a:spLocks noGrp="1"/>
          </p:cNvSpPr>
          <p:nvPr>
            <p:ph type="ctrTitle" idx="4294967295"/>
          </p:nvPr>
        </p:nvSpPr>
        <p:spPr>
          <a:xfrm>
            <a:off x="0" y="306388"/>
            <a:ext cx="12192000" cy="714375"/>
          </a:xfrm>
          <a:solidFill>
            <a:schemeClr val="accent1">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lnRef>
          <a:fillRef idx="1">
            <a:schemeClr val="lt1"/>
          </a:fillRef>
          <a:effectRef idx="0">
            <a:schemeClr val="accent1"/>
          </a:effectRef>
          <a:fontRef idx="minor">
            <a:schemeClr val="dk1"/>
          </a:fontRef>
        </p:style>
        <p:txBody>
          <a:bodyPr>
            <a:normAutofit fontScale="90000"/>
          </a:bodyPr>
          <a:lstStyle/>
          <a:p>
            <a:br>
              <a:rPr lang="pt-BR" sz="4400" dirty="0"/>
            </a:br>
            <a:r>
              <a:rPr lang="pt-BR" sz="4400" dirty="0"/>
              <a:t>	</a:t>
            </a:r>
            <a:endParaRPr lang="pt-BR" sz="3600" dirty="0"/>
          </a:p>
        </p:txBody>
      </p:sp>
    </p:spTree>
    <p:extLst>
      <p:ext uri="{BB962C8B-B14F-4D97-AF65-F5344CB8AC3E}">
        <p14:creationId xmlns:p14="http://schemas.microsoft.com/office/powerpoint/2010/main" val="667573198"/>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ubtítulo 2"/>
          <p:cNvSpPr>
            <a:spLocks noGrp="1"/>
          </p:cNvSpPr>
          <p:nvPr>
            <p:ph type="subTitle" idx="4294967295"/>
          </p:nvPr>
        </p:nvSpPr>
        <p:spPr>
          <a:xfrm>
            <a:off x="-145334" y="1104551"/>
            <a:ext cx="12337334" cy="5075238"/>
          </a:xfrm>
        </p:spPr>
        <p:txBody>
          <a:bodyPr>
            <a:noAutofit/>
          </a:bodyPr>
          <a:lstStyle/>
          <a:p>
            <a:pPr algn="l"/>
            <a:r>
              <a:rPr lang="pt-BR" sz="3200" b="1" dirty="0"/>
              <a:t>1) Índice de Atendimento do Pedido</a:t>
            </a:r>
            <a:br>
              <a:rPr lang="pt-BR" sz="3200" dirty="0"/>
            </a:br>
            <a:r>
              <a:rPr lang="pt-BR" sz="3200" dirty="0"/>
              <a:t>Mede o % de pedidos atendidos em sua totalidade, na quantidade e na diversidade e itens, no primeiro envio ao Cliente.</a:t>
            </a:r>
            <a:br>
              <a:rPr lang="pt-BR" sz="3200" dirty="0"/>
            </a:br>
            <a:r>
              <a:rPr lang="pt-BR" sz="3200" dirty="0"/>
              <a:t>É conhecido no meio logístico como </a:t>
            </a:r>
            <a:r>
              <a:rPr lang="pt-BR" sz="3200" dirty="0" err="1"/>
              <a:t>Order</a:t>
            </a:r>
            <a:r>
              <a:rPr lang="pt-BR" sz="3200" dirty="0"/>
              <a:t> </a:t>
            </a:r>
            <a:r>
              <a:rPr lang="pt-BR" sz="3200" dirty="0" err="1"/>
              <a:t>Fill</a:t>
            </a:r>
            <a:r>
              <a:rPr lang="pt-BR" sz="3200" dirty="0"/>
              <a:t> Rate.</a:t>
            </a:r>
            <a:br>
              <a:rPr lang="pt-BR" sz="3200" dirty="0"/>
            </a:br>
            <a:r>
              <a:rPr lang="pt-BR" sz="3200" dirty="0"/>
              <a:t>Fórmula de Cálculo:  OFR = número de pedidos atendidos em sua totalidade x 100 ÷ total de pedidos expedidos</a:t>
            </a:r>
            <a:br>
              <a:rPr lang="pt-BR" sz="3200" dirty="0"/>
            </a:br>
            <a:r>
              <a:rPr lang="pt-BR" sz="3200" dirty="0"/>
              <a:t>Frequência de Medição: Diária, Semanal ou Mensal, por Cliente, linha de produto ou total.</a:t>
            </a:r>
            <a:br>
              <a:rPr lang="pt-BR" sz="3200" dirty="0"/>
            </a:br>
            <a:r>
              <a:rPr lang="pt-BR" sz="3200" dirty="0"/>
              <a:t>Práticas de Mercado: se considerarmos o pedido recebido no armazém, o índice deverá ser próximo de100%;</a:t>
            </a:r>
            <a:br>
              <a:rPr lang="pt-BR" sz="3200" dirty="0"/>
            </a:br>
            <a:r>
              <a:rPr lang="pt-BR" sz="3200" dirty="0"/>
              <a:t>se levarmos em conta o pedido original, o índice poderá variar muito.</a:t>
            </a:r>
          </a:p>
          <a:p>
            <a:pPr algn="l"/>
            <a:endParaRPr lang="pt-BR" sz="3200" dirty="0"/>
          </a:p>
        </p:txBody>
      </p:sp>
      <p:sp>
        <p:nvSpPr>
          <p:cNvPr id="4" name="Título 1"/>
          <p:cNvSpPr>
            <a:spLocks noGrp="1"/>
          </p:cNvSpPr>
          <p:nvPr>
            <p:ph type="ctrTitle" idx="4294967295"/>
          </p:nvPr>
        </p:nvSpPr>
        <p:spPr>
          <a:xfrm>
            <a:off x="0" y="306388"/>
            <a:ext cx="12192000" cy="714375"/>
          </a:xfrm>
          <a:solidFill>
            <a:schemeClr val="accent1">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lnRef>
          <a:fillRef idx="1">
            <a:schemeClr val="lt1"/>
          </a:fillRef>
          <a:effectRef idx="0">
            <a:schemeClr val="accent1"/>
          </a:effectRef>
          <a:fontRef idx="minor">
            <a:schemeClr val="dk1"/>
          </a:fontRef>
        </p:style>
        <p:txBody>
          <a:bodyPr>
            <a:normAutofit fontScale="90000"/>
          </a:bodyPr>
          <a:lstStyle/>
          <a:p>
            <a:br>
              <a:rPr lang="pt-BR" sz="4400" dirty="0"/>
            </a:br>
            <a:r>
              <a:rPr lang="pt-BR" sz="4400" dirty="0"/>
              <a:t>	</a:t>
            </a:r>
            <a:br>
              <a:rPr lang="pt-BR" sz="4400" dirty="0"/>
            </a:br>
            <a:endParaRPr lang="pt-BR" sz="3600" dirty="0"/>
          </a:p>
        </p:txBody>
      </p:sp>
    </p:spTree>
    <p:extLst>
      <p:ext uri="{BB962C8B-B14F-4D97-AF65-F5344CB8AC3E}">
        <p14:creationId xmlns:p14="http://schemas.microsoft.com/office/powerpoint/2010/main" val="916204211"/>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ubtítulo 2"/>
          <p:cNvSpPr>
            <a:spLocks noGrp="1"/>
          </p:cNvSpPr>
          <p:nvPr>
            <p:ph type="subTitle" idx="4294967295"/>
          </p:nvPr>
        </p:nvSpPr>
        <p:spPr>
          <a:xfrm>
            <a:off x="0" y="1094503"/>
            <a:ext cx="12192000" cy="5075238"/>
          </a:xfrm>
        </p:spPr>
        <p:txBody>
          <a:bodyPr>
            <a:noAutofit/>
          </a:bodyPr>
          <a:lstStyle/>
          <a:p>
            <a:pPr algn="l"/>
            <a:r>
              <a:rPr lang="pt-BR" sz="3200" b="1" dirty="0"/>
              <a:t>2) Custo de Armazenagem como um % das Vendas</a:t>
            </a:r>
            <a:br>
              <a:rPr lang="pt-BR" sz="3200" dirty="0"/>
            </a:br>
            <a:r>
              <a:rPr lang="pt-BR" sz="3200" dirty="0"/>
              <a:t>Aponta a participação dos custos totais de movimentação e armazenagem (M&amp;A) da empresa sobre a sua receita de vendas.</a:t>
            </a:r>
            <a:br>
              <a:rPr lang="pt-BR" sz="3200" dirty="0"/>
            </a:br>
            <a:r>
              <a:rPr lang="pt-BR" sz="3200" dirty="0"/>
              <a:t>Envolve o custo com mão-de-obra, espaço, equipamentos, água e energia elétrica e outros custos. Algumas empresas optam por incluir o custo financeiro com estoques.</a:t>
            </a:r>
            <a:br>
              <a:rPr lang="pt-BR" sz="3200" dirty="0"/>
            </a:br>
            <a:r>
              <a:rPr lang="pt-BR" sz="3200" dirty="0"/>
              <a:t>Fórmula de Cálculo:</a:t>
            </a:r>
            <a:br>
              <a:rPr lang="pt-BR" sz="3200" dirty="0"/>
            </a:br>
            <a:r>
              <a:rPr lang="pt-BR" sz="3200" dirty="0"/>
              <a:t>CA%V = custo total de M&amp;A x 100 ÷ receita de vendas</a:t>
            </a:r>
            <a:br>
              <a:rPr lang="pt-BR" sz="3200" dirty="0"/>
            </a:br>
            <a:r>
              <a:rPr lang="pt-BR" sz="3200" dirty="0"/>
              <a:t>Frequência de Medição: Mensal</a:t>
            </a:r>
            <a:br>
              <a:rPr lang="pt-BR" sz="3200" dirty="0"/>
            </a:br>
            <a:r>
              <a:rPr lang="pt-BR" sz="3200" dirty="0"/>
              <a:t>Práticas de Mercado: variam em função do segmento da empresa, em geral de 1% a 3%, mas com algumas exceções.</a:t>
            </a:r>
          </a:p>
          <a:p>
            <a:pPr algn="l"/>
            <a:endParaRPr lang="pt-BR" sz="3200" dirty="0"/>
          </a:p>
        </p:txBody>
      </p:sp>
      <p:sp>
        <p:nvSpPr>
          <p:cNvPr id="4" name="Título 1"/>
          <p:cNvSpPr>
            <a:spLocks noGrp="1"/>
          </p:cNvSpPr>
          <p:nvPr>
            <p:ph type="ctrTitle" idx="4294967295"/>
          </p:nvPr>
        </p:nvSpPr>
        <p:spPr>
          <a:xfrm>
            <a:off x="0" y="306388"/>
            <a:ext cx="12192000" cy="714375"/>
          </a:xfrm>
          <a:solidFill>
            <a:schemeClr val="accent1">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lnRef>
          <a:fillRef idx="1">
            <a:schemeClr val="lt1"/>
          </a:fillRef>
          <a:effectRef idx="0">
            <a:schemeClr val="accent1"/>
          </a:effectRef>
          <a:fontRef idx="minor">
            <a:schemeClr val="dk1"/>
          </a:fontRef>
        </p:style>
        <p:txBody>
          <a:bodyPr>
            <a:normAutofit fontScale="90000"/>
          </a:bodyPr>
          <a:lstStyle/>
          <a:p>
            <a:br>
              <a:rPr lang="pt-BR" sz="4400" dirty="0"/>
            </a:br>
            <a:r>
              <a:rPr lang="pt-BR" sz="4400" dirty="0"/>
              <a:t>	</a:t>
            </a:r>
            <a:endParaRPr lang="pt-BR" sz="3600" dirty="0"/>
          </a:p>
        </p:txBody>
      </p:sp>
    </p:spTree>
    <p:extLst>
      <p:ext uri="{BB962C8B-B14F-4D97-AF65-F5344CB8AC3E}">
        <p14:creationId xmlns:p14="http://schemas.microsoft.com/office/powerpoint/2010/main" val="2032108279"/>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ubtítulo 2"/>
          <p:cNvSpPr>
            <a:spLocks noGrp="1"/>
          </p:cNvSpPr>
          <p:nvPr>
            <p:ph type="subTitle" idx="4294967295"/>
          </p:nvPr>
        </p:nvSpPr>
        <p:spPr>
          <a:xfrm>
            <a:off x="0" y="1020763"/>
            <a:ext cx="12192000" cy="5075238"/>
          </a:xfrm>
        </p:spPr>
        <p:txBody>
          <a:bodyPr>
            <a:noAutofit/>
          </a:bodyPr>
          <a:lstStyle/>
          <a:p>
            <a:pPr algn="l"/>
            <a:r>
              <a:rPr lang="pt-BR" sz="3200" b="1" dirty="0"/>
              <a:t>3) Custos Operacionais com Estoques (K </a:t>
            </a:r>
            <a:r>
              <a:rPr lang="pt-BR" sz="3200" b="1" dirty="0" err="1"/>
              <a:t>factor</a:t>
            </a:r>
            <a:r>
              <a:rPr lang="pt-BR" sz="3200" b="1" dirty="0"/>
              <a:t>)</a:t>
            </a:r>
            <a:br>
              <a:rPr lang="pt-BR" sz="3200" dirty="0"/>
            </a:br>
            <a:r>
              <a:rPr lang="pt-BR" sz="3200" dirty="0"/>
              <a:t>Indica quantos R$ por R$ em estoque a empresa está gastando na movimentação e armazenagem de seus materiais.</a:t>
            </a:r>
            <a:br>
              <a:rPr lang="pt-BR" sz="3200" dirty="0"/>
            </a:br>
            <a:r>
              <a:rPr lang="pt-BR" sz="3200" dirty="0"/>
              <a:t>Envolve os gastos com mão-de-obra, espaço, equipamentos, água e energia elétrica e outros custos operacionais.</a:t>
            </a:r>
            <a:br>
              <a:rPr lang="pt-BR" sz="3200" dirty="0"/>
            </a:br>
            <a:r>
              <a:rPr lang="pt-BR" sz="3200" dirty="0"/>
              <a:t>Fórmula de Cálculo: Fator K=custo total de M&amp;A x 100 ÷ estoque médio.</a:t>
            </a:r>
          </a:p>
          <a:p>
            <a:pPr algn="l"/>
            <a:r>
              <a:rPr lang="pt-BR" sz="3200" dirty="0"/>
              <a:t>Frequência de Medição: Mensal ou Anual.</a:t>
            </a:r>
            <a:br>
              <a:rPr lang="pt-BR" sz="3200" dirty="0"/>
            </a:br>
            <a:r>
              <a:rPr lang="pt-BR" sz="3200" dirty="0"/>
              <a:t>Práticas de Mercado: variam em função do segmento da empresa, em geral de 20% a 30% ao ano, mas com algumas exceções.</a:t>
            </a:r>
          </a:p>
          <a:p>
            <a:pPr marL="0" indent="0" algn="l">
              <a:buNone/>
            </a:pPr>
            <a:endParaRPr lang="pt-BR" sz="3200" dirty="0"/>
          </a:p>
          <a:p>
            <a:pPr algn="l"/>
            <a:endParaRPr lang="pt-BR" sz="3200" dirty="0"/>
          </a:p>
        </p:txBody>
      </p:sp>
      <p:sp>
        <p:nvSpPr>
          <p:cNvPr id="4" name="Título 1"/>
          <p:cNvSpPr>
            <a:spLocks noGrp="1"/>
          </p:cNvSpPr>
          <p:nvPr>
            <p:ph type="ctrTitle" idx="4294967295"/>
          </p:nvPr>
        </p:nvSpPr>
        <p:spPr>
          <a:xfrm>
            <a:off x="0" y="306388"/>
            <a:ext cx="12192000" cy="714375"/>
          </a:xfrm>
          <a:solidFill>
            <a:schemeClr val="accent1">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lnRef>
          <a:fillRef idx="1">
            <a:schemeClr val="lt1"/>
          </a:fillRef>
          <a:effectRef idx="0">
            <a:schemeClr val="accent1"/>
          </a:effectRef>
          <a:fontRef idx="minor">
            <a:schemeClr val="dk1"/>
          </a:fontRef>
        </p:style>
        <p:txBody>
          <a:bodyPr>
            <a:normAutofit fontScale="90000"/>
          </a:bodyPr>
          <a:lstStyle/>
          <a:p>
            <a:br>
              <a:rPr lang="pt-BR" sz="4400" dirty="0"/>
            </a:br>
            <a:r>
              <a:rPr lang="pt-BR" sz="4400" dirty="0"/>
              <a:t>	</a:t>
            </a:r>
            <a:br>
              <a:rPr lang="pt-BR" sz="4400" dirty="0"/>
            </a:br>
            <a:endParaRPr lang="pt-BR" sz="3600" dirty="0"/>
          </a:p>
        </p:txBody>
      </p:sp>
    </p:spTree>
    <p:extLst>
      <p:ext uri="{BB962C8B-B14F-4D97-AF65-F5344CB8AC3E}">
        <p14:creationId xmlns:p14="http://schemas.microsoft.com/office/powerpoint/2010/main" val="4024464987"/>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ubtítulo 2"/>
          <p:cNvSpPr>
            <a:spLocks noGrp="1"/>
          </p:cNvSpPr>
          <p:nvPr>
            <p:ph type="subTitle" idx="4294967295"/>
          </p:nvPr>
        </p:nvSpPr>
        <p:spPr>
          <a:xfrm>
            <a:off x="0" y="1094503"/>
            <a:ext cx="12192000" cy="5075238"/>
          </a:xfrm>
        </p:spPr>
        <p:txBody>
          <a:bodyPr>
            <a:noAutofit/>
          </a:bodyPr>
          <a:lstStyle/>
          <a:p>
            <a:pPr algn="l"/>
            <a:r>
              <a:rPr lang="pt-BR" sz="3200" b="1" dirty="0"/>
              <a:t>3) Custo de Manutenção do Estoque</a:t>
            </a:r>
            <a:br>
              <a:rPr lang="pt-BR" sz="3200" dirty="0"/>
            </a:br>
            <a:r>
              <a:rPr lang="pt-BR" sz="3200" dirty="0"/>
              <a:t>Calculado a partir do custo de oportunidade, ou seja, qual seria o retorno para a empresa caso o valor investido em estoque fosse aplicado no mercado financeiro a uma taxa livre de risco (caderneta de poupança, SELIC, fundos de renda fixa).</a:t>
            </a:r>
            <a:br>
              <a:rPr lang="pt-BR" sz="3200" dirty="0"/>
            </a:br>
            <a:r>
              <a:rPr lang="pt-BR" sz="3200" dirty="0"/>
              <a:t>A taxa varia ao redor de 12% a 20% ao ano.</a:t>
            </a:r>
            <a:br>
              <a:rPr lang="pt-BR" sz="3200" dirty="0"/>
            </a:br>
            <a:r>
              <a:rPr lang="pt-BR" sz="3200" dirty="0"/>
              <a:t>Fórmula de Cálculo:</a:t>
            </a:r>
            <a:br>
              <a:rPr lang="pt-BR" sz="3200" dirty="0"/>
            </a:br>
            <a:r>
              <a:rPr lang="pt-BR" sz="3200" dirty="0"/>
              <a:t>CME = valor do estoque x taxa mínima de atratividade</a:t>
            </a:r>
            <a:br>
              <a:rPr lang="pt-BR" sz="3200" dirty="0"/>
            </a:br>
            <a:r>
              <a:rPr lang="pt-BR" sz="3200" dirty="0"/>
              <a:t>Frequência de Medição: Mensal, a partir do estoque médio.</a:t>
            </a:r>
            <a:br>
              <a:rPr lang="pt-BR" sz="3200" dirty="0"/>
            </a:br>
            <a:r>
              <a:rPr lang="pt-BR" sz="3200" dirty="0"/>
              <a:t>Práticas de Mercado: variável.</a:t>
            </a:r>
          </a:p>
          <a:p>
            <a:pPr algn="l"/>
            <a:endParaRPr lang="pt-BR" sz="3200" dirty="0"/>
          </a:p>
          <a:p>
            <a:pPr algn="l"/>
            <a:endParaRPr lang="pt-BR" sz="3200" dirty="0"/>
          </a:p>
        </p:txBody>
      </p:sp>
      <p:sp>
        <p:nvSpPr>
          <p:cNvPr id="4" name="Título 1"/>
          <p:cNvSpPr>
            <a:spLocks noGrp="1"/>
          </p:cNvSpPr>
          <p:nvPr>
            <p:ph type="ctrTitle" idx="4294967295"/>
          </p:nvPr>
        </p:nvSpPr>
        <p:spPr>
          <a:xfrm>
            <a:off x="0" y="306388"/>
            <a:ext cx="12192000" cy="714375"/>
          </a:xfrm>
          <a:solidFill>
            <a:schemeClr val="accent1">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lnRef>
          <a:fillRef idx="1">
            <a:schemeClr val="lt1"/>
          </a:fillRef>
          <a:effectRef idx="0">
            <a:schemeClr val="accent1"/>
          </a:effectRef>
          <a:fontRef idx="minor">
            <a:schemeClr val="dk1"/>
          </a:fontRef>
        </p:style>
        <p:txBody>
          <a:bodyPr>
            <a:normAutofit fontScale="90000"/>
          </a:bodyPr>
          <a:lstStyle/>
          <a:p>
            <a:br>
              <a:rPr lang="pt-BR" sz="4400" dirty="0"/>
            </a:br>
            <a:r>
              <a:rPr lang="pt-BR" sz="4400" dirty="0"/>
              <a:t>	</a:t>
            </a:r>
            <a:endParaRPr lang="pt-BR" sz="3600" dirty="0"/>
          </a:p>
        </p:txBody>
      </p:sp>
    </p:spTree>
    <p:extLst>
      <p:ext uri="{BB962C8B-B14F-4D97-AF65-F5344CB8AC3E}">
        <p14:creationId xmlns:p14="http://schemas.microsoft.com/office/powerpoint/2010/main" val="943794051"/>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ubtítulo 2"/>
          <p:cNvSpPr>
            <a:spLocks noGrp="1"/>
          </p:cNvSpPr>
          <p:nvPr>
            <p:ph type="subTitle" idx="4294967295"/>
          </p:nvPr>
        </p:nvSpPr>
        <p:spPr>
          <a:xfrm>
            <a:off x="0" y="1094503"/>
            <a:ext cx="12192000" cy="5075238"/>
          </a:xfrm>
        </p:spPr>
        <p:txBody>
          <a:bodyPr>
            <a:noAutofit/>
          </a:bodyPr>
          <a:lstStyle/>
          <a:p>
            <a:pPr algn="l"/>
            <a:r>
              <a:rPr lang="pt-BR" sz="3200" b="1" dirty="0"/>
              <a:t>3) Custos Associados à Falta de Estoque de Produtos Acabados</a:t>
            </a:r>
            <a:br>
              <a:rPr lang="pt-BR" sz="3200" dirty="0"/>
            </a:br>
            <a:r>
              <a:rPr lang="pt-BR" sz="3200" dirty="0"/>
              <a:t>Mede a perda na lucratividade devido à falta de estoques para o atendimento de uma demanda existente.</a:t>
            </a:r>
            <a:br>
              <a:rPr lang="pt-BR" sz="3200" dirty="0"/>
            </a:br>
            <a:r>
              <a:rPr lang="pt-BR" sz="3200" dirty="0"/>
              <a:t>Fórmula de Cálculo:</a:t>
            </a:r>
            <a:br>
              <a:rPr lang="pt-BR" sz="3200" dirty="0"/>
            </a:br>
            <a:r>
              <a:rPr lang="pt-BR" sz="3200" dirty="0"/>
              <a:t>FE_PA = venda perdida por indisponibilidade de produtos x margem de contribuição </a:t>
            </a:r>
            <a:br>
              <a:rPr lang="pt-BR" sz="3200" dirty="0"/>
            </a:br>
            <a:r>
              <a:rPr lang="pt-BR" sz="3200" dirty="0"/>
              <a:t>Frequência de Medição: Mensal.</a:t>
            </a:r>
            <a:br>
              <a:rPr lang="pt-BR" sz="3200" dirty="0"/>
            </a:br>
            <a:r>
              <a:rPr lang="pt-BR" sz="3200" dirty="0"/>
              <a:t>Práticas de Mercado: variável.</a:t>
            </a:r>
          </a:p>
          <a:p>
            <a:pPr marL="0" indent="0" algn="l">
              <a:buNone/>
            </a:pPr>
            <a:endParaRPr lang="pt-BR" sz="3200" dirty="0"/>
          </a:p>
          <a:p>
            <a:pPr algn="l"/>
            <a:endParaRPr lang="pt-BR" sz="3200" dirty="0"/>
          </a:p>
          <a:p>
            <a:pPr algn="l"/>
            <a:endParaRPr lang="pt-BR" sz="3200" dirty="0"/>
          </a:p>
        </p:txBody>
      </p:sp>
      <p:sp>
        <p:nvSpPr>
          <p:cNvPr id="4" name="Título 1"/>
          <p:cNvSpPr>
            <a:spLocks noGrp="1"/>
          </p:cNvSpPr>
          <p:nvPr>
            <p:ph type="ctrTitle" idx="4294967295"/>
          </p:nvPr>
        </p:nvSpPr>
        <p:spPr>
          <a:xfrm>
            <a:off x="0" y="306388"/>
            <a:ext cx="12192000" cy="714375"/>
          </a:xfrm>
          <a:solidFill>
            <a:schemeClr val="accent1">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lnRef>
          <a:fillRef idx="1">
            <a:schemeClr val="lt1"/>
          </a:fillRef>
          <a:effectRef idx="0">
            <a:schemeClr val="accent1"/>
          </a:effectRef>
          <a:fontRef idx="minor">
            <a:schemeClr val="dk1"/>
          </a:fontRef>
        </p:style>
        <p:txBody>
          <a:bodyPr>
            <a:normAutofit fontScale="90000"/>
          </a:bodyPr>
          <a:lstStyle/>
          <a:p>
            <a:br>
              <a:rPr lang="pt-BR" sz="4400" dirty="0"/>
            </a:br>
            <a:r>
              <a:rPr lang="pt-BR" sz="4400" dirty="0"/>
              <a:t>	</a:t>
            </a:r>
            <a:br>
              <a:rPr lang="pt-BR" sz="4400" dirty="0"/>
            </a:br>
            <a:endParaRPr lang="pt-BR" sz="3600" dirty="0"/>
          </a:p>
        </p:txBody>
      </p:sp>
    </p:spTree>
    <p:extLst>
      <p:ext uri="{BB962C8B-B14F-4D97-AF65-F5344CB8AC3E}">
        <p14:creationId xmlns:p14="http://schemas.microsoft.com/office/powerpoint/2010/main" val="4206889862"/>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tângulo 1"/>
          <p:cNvSpPr/>
          <p:nvPr/>
        </p:nvSpPr>
        <p:spPr>
          <a:xfrm>
            <a:off x="226423" y="946946"/>
            <a:ext cx="11834949" cy="4524315"/>
          </a:xfrm>
          <a:prstGeom prst="rect">
            <a:avLst/>
          </a:prstGeom>
          <a:noFill/>
        </p:spPr>
        <p:txBody>
          <a:bodyPr wrap="square" lIns="91440" tIns="45720" rIns="91440" bIns="45720">
            <a:spAutoFit/>
          </a:bodyPr>
          <a:lstStyle/>
          <a:p>
            <a:pPr algn="ctr"/>
            <a:r>
              <a:rPr lang="pt-BR" sz="96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DOCUMENTOS</a:t>
            </a:r>
          </a:p>
          <a:p>
            <a:pPr algn="ctr"/>
            <a:r>
              <a:rPr lang="pt-BR" sz="96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DE </a:t>
            </a:r>
          </a:p>
          <a:p>
            <a:pPr algn="ctr"/>
            <a:r>
              <a:rPr lang="pt-BR" sz="96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TRANSPORTES</a:t>
            </a:r>
          </a:p>
        </p:txBody>
      </p:sp>
    </p:spTree>
    <p:extLst>
      <p:ext uri="{BB962C8B-B14F-4D97-AF65-F5344CB8AC3E}">
        <p14:creationId xmlns:p14="http://schemas.microsoft.com/office/powerpoint/2010/main" val="402517664"/>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65254361"/>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p:cNvSpPr>
            <a:spLocks noGrp="1"/>
          </p:cNvSpPr>
          <p:nvPr>
            <p:ph type="ctrTitle" idx="4294967295"/>
          </p:nvPr>
        </p:nvSpPr>
        <p:spPr>
          <a:xfrm>
            <a:off x="0" y="792481"/>
            <a:ext cx="12192000" cy="2827020"/>
          </a:xfrm>
        </p:spPr>
        <p:txBody>
          <a:bodyPr>
            <a:noAutofit/>
          </a:bodyPr>
          <a:lstStyle/>
          <a:p>
            <a:r>
              <a:rPr lang="pt-BR" sz="7200" dirty="0"/>
              <a:t>Estrutura e regulamentações do transporte de cargas</a:t>
            </a:r>
          </a:p>
        </p:txBody>
      </p:sp>
      <p:sp>
        <p:nvSpPr>
          <p:cNvPr id="6" name="Subtitle 5"/>
          <p:cNvSpPr>
            <a:spLocks noGrp="1"/>
          </p:cNvSpPr>
          <p:nvPr>
            <p:ph type="subTitle" idx="4294967295"/>
          </p:nvPr>
        </p:nvSpPr>
        <p:spPr>
          <a:xfrm>
            <a:off x="-1" y="3905250"/>
            <a:ext cx="11286309" cy="952500"/>
          </a:xfrm>
        </p:spPr>
        <p:txBody>
          <a:bodyPr>
            <a:noAutofit/>
          </a:bodyPr>
          <a:lstStyle/>
          <a:p>
            <a:pPr marL="0" indent="0">
              <a:buNone/>
            </a:pPr>
            <a:r>
              <a:rPr lang="pt-BR" sz="4400" dirty="0"/>
              <a:t>Documentos envolvidos no transporte</a:t>
            </a:r>
          </a:p>
        </p:txBody>
      </p:sp>
    </p:spTree>
    <p:extLst>
      <p:ext uri="{BB962C8B-B14F-4D97-AF65-F5344CB8AC3E}">
        <p14:creationId xmlns:p14="http://schemas.microsoft.com/office/powerpoint/2010/main" val="1138698153"/>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xmlns:p14="http://schemas.microsoft.com/office/powerpoint/2010/main">
        <p:cut/>
      </p:transition>
    </mc:Fallback>
  </mc:AlternateContent>
</p:sld>
</file>

<file path=ppt/slides/slide2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140822" y="0"/>
            <a:ext cx="11504023" cy="581025"/>
          </a:xfrm>
        </p:spPr>
        <p:txBody>
          <a:bodyPr>
            <a:noAutofit/>
          </a:bodyPr>
          <a:lstStyle/>
          <a:p>
            <a:r>
              <a:rPr lang="pt-BR" sz="4000" dirty="0">
                <a:solidFill>
                  <a:srgbClr val="000000"/>
                </a:solidFill>
              </a:rPr>
              <a:t>Órgãos reguladores do transporte no Brasil</a:t>
            </a:r>
          </a:p>
        </p:txBody>
      </p:sp>
      <p:graphicFrame>
        <p:nvGraphicFramePr>
          <p:cNvPr id="6" name="Diagram 5"/>
          <p:cNvGraphicFramePr/>
          <p:nvPr>
            <p:extLst>
              <p:ext uri="{D42A27DB-BD31-4B8C-83A1-F6EECF244321}">
                <p14:modId xmlns:p14="http://schemas.microsoft.com/office/powerpoint/2010/main" val="3263961074"/>
              </p:ext>
            </p:extLst>
          </p:nvPr>
        </p:nvGraphicFramePr>
        <p:xfrm>
          <a:off x="103664" y="1626603"/>
          <a:ext cx="5365318" cy="439684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p:cNvSpPr txBox="1"/>
          <p:nvPr/>
        </p:nvSpPr>
        <p:spPr>
          <a:xfrm>
            <a:off x="5286104" y="1154661"/>
            <a:ext cx="6810102" cy="4847481"/>
          </a:xfrm>
          <a:prstGeom prst="rect">
            <a:avLst/>
          </a:prstGeom>
          <a:noFill/>
          <a:ln>
            <a:noFill/>
          </a:ln>
          <a:effectLst/>
        </p:spPr>
        <p:style>
          <a:lnRef idx="3">
            <a:schemeClr val="lt1"/>
          </a:lnRef>
          <a:fillRef idx="1">
            <a:schemeClr val="accent2"/>
          </a:fillRef>
          <a:effectRef idx="1">
            <a:schemeClr val="accent2"/>
          </a:effectRef>
          <a:fontRef idx="minor">
            <a:schemeClr val="lt1"/>
          </a:fontRef>
        </p:style>
        <p:txBody>
          <a:bodyPr wrap="square" rtlCol="0">
            <a:spAutoFit/>
          </a:bodyPr>
          <a:lstStyle/>
          <a:p>
            <a:pPr algn="ctr"/>
            <a:r>
              <a:rPr lang="pt-BR" sz="1400" b="1" dirty="0">
                <a:solidFill>
                  <a:srgbClr val="000000"/>
                </a:solidFill>
                <a:latin typeface="Helvetica Neue"/>
                <a:cs typeface="Helvetica Neue"/>
              </a:rPr>
              <a:t>Agências reguladoras</a:t>
            </a:r>
          </a:p>
          <a:p>
            <a:pPr algn="ctr">
              <a:spcBef>
                <a:spcPts val="600"/>
              </a:spcBef>
            </a:pPr>
            <a:r>
              <a:rPr lang="pt-BR" sz="1400" b="1" dirty="0">
                <a:solidFill>
                  <a:srgbClr val="000000"/>
                </a:solidFill>
                <a:latin typeface="Helvetica Neue"/>
                <a:cs typeface="Helvetica Neue"/>
              </a:rPr>
              <a:t>ANTT</a:t>
            </a:r>
            <a:r>
              <a:rPr lang="pt-BR" sz="1400" dirty="0">
                <a:solidFill>
                  <a:srgbClr val="000000"/>
                </a:solidFill>
                <a:latin typeface="Helvetica Neue"/>
                <a:cs typeface="Helvetica Neue"/>
              </a:rPr>
              <a:t>: Agência Nacional de Transportes Terrestres</a:t>
            </a:r>
          </a:p>
          <a:p>
            <a:pPr algn="ctr"/>
            <a:r>
              <a:rPr lang="pt-BR" sz="1400" b="1" dirty="0">
                <a:solidFill>
                  <a:srgbClr val="000000"/>
                </a:solidFill>
                <a:latin typeface="Helvetica Neue"/>
                <a:cs typeface="Helvetica Neue"/>
              </a:rPr>
              <a:t>ANTAQ</a:t>
            </a:r>
            <a:r>
              <a:rPr lang="pt-BR" sz="1400" dirty="0">
                <a:solidFill>
                  <a:srgbClr val="000000"/>
                </a:solidFill>
                <a:latin typeface="Helvetica Neue"/>
                <a:cs typeface="Helvetica Neue"/>
              </a:rPr>
              <a:t>: Agência Nacional de Transportes Aquáticos</a:t>
            </a:r>
          </a:p>
          <a:p>
            <a:pPr algn="ctr"/>
            <a:r>
              <a:rPr lang="pt-BR" sz="1400" b="1" dirty="0">
                <a:solidFill>
                  <a:srgbClr val="000000"/>
                </a:solidFill>
                <a:latin typeface="Helvetica Neue"/>
                <a:cs typeface="Helvetica Neue"/>
              </a:rPr>
              <a:t>ANAC</a:t>
            </a:r>
            <a:r>
              <a:rPr lang="pt-BR" sz="1400" dirty="0">
                <a:solidFill>
                  <a:srgbClr val="000000"/>
                </a:solidFill>
                <a:latin typeface="Helvetica Neue"/>
                <a:cs typeface="Helvetica Neue"/>
              </a:rPr>
              <a:t>: Agência Nacional de Aviação Civil</a:t>
            </a:r>
          </a:p>
          <a:p>
            <a:pPr marL="285750" indent="-285750" algn="ctr">
              <a:buFont typeface="Arial"/>
              <a:buChar char="•"/>
            </a:pPr>
            <a:r>
              <a:rPr lang="pt-BR" sz="1400" dirty="0">
                <a:solidFill>
                  <a:srgbClr val="000000"/>
                </a:solidFill>
                <a:latin typeface="Helvetica Neue"/>
                <a:cs typeface="Helvetica Neue"/>
              </a:rPr>
              <a:t>Autarquias </a:t>
            </a:r>
          </a:p>
          <a:p>
            <a:pPr marL="285750" indent="-285750" algn="ctr">
              <a:buFont typeface="Arial"/>
              <a:buChar char="•"/>
            </a:pPr>
            <a:r>
              <a:rPr lang="pt-BR" sz="1400" dirty="0">
                <a:solidFill>
                  <a:srgbClr val="000000"/>
                </a:solidFill>
                <a:latin typeface="Helvetica Neue"/>
                <a:cs typeface="Helvetica Neue"/>
              </a:rPr>
              <a:t>Regulamentam e fiscalizam os seus respectivos modais, os terminais e as concessões</a:t>
            </a:r>
          </a:p>
          <a:p>
            <a:pPr marL="285750" indent="-285750" algn="ctr">
              <a:buFont typeface="Arial"/>
              <a:buChar char="•"/>
            </a:pPr>
            <a:r>
              <a:rPr lang="pt-BR" sz="1400" dirty="0">
                <a:solidFill>
                  <a:srgbClr val="000000"/>
                </a:solidFill>
                <a:latin typeface="Helvetica Neue"/>
                <a:cs typeface="Helvetica Neue"/>
              </a:rPr>
              <a:t>Regime tarifário</a:t>
            </a:r>
          </a:p>
          <a:p>
            <a:pPr marL="285750" indent="-285750" algn="ctr">
              <a:buFont typeface="Arial"/>
              <a:buChar char="•"/>
            </a:pPr>
            <a:r>
              <a:rPr lang="pt-BR" sz="1400" dirty="0">
                <a:solidFill>
                  <a:srgbClr val="000000"/>
                </a:solidFill>
                <a:latin typeface="Helvetica Neue"/>
                <a:cs typeface="Helvetica Neue"/>
              </a:rPr>
              <a:t>Administrar conflitos entre as partes que compõem o sistema de transporte</a:t>
            </a:r>
          </a:p>
          <a:p>
            <a:pPr algn="ctr">
              <a:spcBef>
                <a:spcPts val="600"/>
              </a:spcBef>
            </a:pPr>
            <a:r>
              <a:rPr lang="pt-BR" sz="1400" b="1" dirty="0">
                <a:solidFill>
                  <a:srgbClr val="000000"/>
                </a:solidFill>
                <a:latin typeface="Helvetica Neue"/>
                <a:cs typeface="Helvetica Neue"/>
              </a:rPr>
              <a:t>Planejamento</a:t>
            </a:r>
            <a:r>
              <a:rPr lang="pt-BR" sz="1400" dirty="0">
                <a:solidFill>
                  <a:srgbClr val="000000"/>
                </a:solidFill>
                <a:latin typeface="Helvetica Neue"/>
                <a:cs typeface="Helvetica Neue"/>
              </a:rPr>
              <a:t> </a:t>
            </a:r>
          </a:p>
          <a:p>
            <a:pPr algn="ctr"/>
            <a:r>
              <a:rPr lang="pt-BR" sz="1400" b="1" dirty="0">
                <a:solidFill>
                  <a:srgbClr val="000000"/>
                </a:solidFill>
                <a:latin typeface="Helvetica Neue"/>
                <a:cs typeface="Helvetica Neue"/>
              </a:rPr>
              <a:t>EPL</a:t>
            </a:r>
            <a:r>
              <a:rPr lang="pt-BR" sz="1400" dirty="0">
                <a:solidFill>
                  <a:srgbClr val="000000"/>
                </a:solidFill>
                <a:latin typeface="Helvetica Neue"/>
                <a:cs typeface="Helvetica Neue"/>
              </a:rPr>
              <a:t> – Empresa de Planejamento de Logística (Estatal)</a:t>
            </a:r>
          </a:p>
          <a:p>
            <a:pPr marL="285750" indent="-285750" algn="ctr">
              <a:buFont typeface="Arial"/>
              <a:buChar char="•"/>
            </a:pPr>
            <a:r>
              <a:rPr lang="pt-BR" sz="1400" dirty="0">
                <a:solidFill>
                  <a:srgbClr val="000000"/>
                </a:solidFill>
                <a:latin typeface="Helvetica Neue"/>
                <a:cs typeface="Helvetica Neue"/>
              </a:rPr>
              <a:t>Tem por finalidade estruturar e qualificar, por meio de estudos e pesquisas, o processo de planejamento integrado de logística no país, interligando rodovias, ferrovias, portos, aeroportos e hidrovias. Criada em dezembro de 2012.</a:t>
            </a:r>
          </a:p>
          <a:p>
            <a:pPr algn="ctr">
              <a:spcBef>
                <a:spcPts val="600"/>
              </a:spcBef>
            </a:pPr>
            <a:r>
              <a:rPr lang="pt-BR" sz="1400" b="1" dirty="0">
                <a:solidFill>
                  <a:srgbClr val="000000"/>
                </a:solidFill>
                <a:latin typeface="Helvetica Neue"/>
                <a:cs typeface="Helvetica Neue"/>
              </a:rPr>
              <a:t>Obras e manutenção</a:t>
            </a:r>
          </a:p>
          <a:p>
            <a:pPr algn="ctr"/>
            <a:r>
              <a:rPr lang="pt-BR" sz="1400" b="1" dirty="0">
                <a:solidFill>
                  <a:srgbClr val="000000"/>
                </a:solidFill>
                <a:latin typeface="Helvetica Neue"/>
                <a:cs typeface="Helvetica Neue"/>
              </a:rPr>
              <a:t>DNIT</a:t>
            </a:r>
            <a:r>
              <a:rPr lang="pt-BR" sz="1400" dirty="0">
                <a:solidFill>
                  <a:srgbClr val="000000"/>
                </a:solidFill>
                <a:latin typeface="Helvetica Neue"/>
                <a:cs typeface="Helvetica Neue"/>
              </a:rPr>
              <a:t> – Departamento Nacional de Infraestrutura de Transportes </a:t>
            </a:r>
          </a:p>
          <a:p>
            <a:pPr marL="285750" indent="-285750" algn="ctr">
              <a:buFont typeface="Arial"/>
              <a:buChar char="•"/>
            </a:pPr>
            <a:r>
              <a:rPr lang="pt-BR" sz="1400" dirty="0">
                <a:solidFill>
                  <a:srgbClr val="000000"/>
                </a:solidFill>
                <a:latin typeface="Helvetica Neue"/>
                <a:cs typeface="Helvetica Neue"/>
              </a:rPr>
              <a:t>Órgão responsável por ações de execução para construção, manutenção e operação da infraestrutura dos modais rodoviário, ferroviário e aquaviário.</a:t>
            </a:r>
          </a:p>
          <a:p>
            <a:pPr algn="ctr"/>
            <a:endParaRPr lang="pt-BR" sz="1400" dirty="0">
              <a:solidFill>
                <a:srgbClr val="000000"/>
              </a:solidFill>
              <a:latin typeface="Helvetica Neue"/>
              <a:cs typeface="Helvetica Neue"/>
            </a:endParaRPr>
          </a:p>
          <a:p>
            <a:pPr algn="ctr"/>
            <a:r>
              <a:rPr lang="pt-BR" sz="1400" b="1" dirty="0">
                <a:solidFill>
                  <a:srgbClr val="000000"/>
                </a:solidFill>
                <a:latin typeface="Helvetica Neue"/>
                <a:cs typeface="Helvetica Neue"/>
              </a:rPr>
              <a:t>INFRAERO</a:t>
            </a:r>
          </a:p>
          <a:p>
            <a:pPr marL="285750" indent="-285750" algn="ctr">
              <a:buFont typeface="Arial"/>
              <a:buChar char="•"/>
            </a:pPr>
            <a:r>
              <a:rPr lang="pt-BR" sz="1400" dirty="0">
                <a:solidFill>
                  <a:srgbClr val="000000"/>
                </a:solidFill>
                <a:latin typeface="Helvetica Neue"/>
                <a:cs typeface="Helvetica Neue"/>
              </a:rPr>
              <a:t>Administração e gestão da infraestrutura de aeroportos.</a:t>
            </a:r>
          </a:p>
        </p:txBody>
      </p:sp>
      <p:sp>
        <p:nvSpPr>
          <p:cNvPr id="8" name="TextBox 7"/>
          <p:cNvSpPr txBox="1"/>
          <p:nvPr/>
        </p:nvSpPr>
        <p:spPr>
          <a:xfrm>
            <a:off x="249392" y="876268"/>
            <a:ext cx="1782860" cy="523220"/>
          </a:xfrm>
          <a:prstGeom prst="rect">
            <a:avLst/>
          </a:prstGeom>
          <a:noFill/>
        </p:spPr>
        <p:txBody>
          <a:bodyPr wrap="none" rtlCol="0">
            <a:spAutoFit/>
          </a:bodyPr>
          <a:lstStyle/>
          <a:p>
            <a:r>
              <a:rPr lang="pt-BR" sz="2800" b="1" dirty="0">
                <a:latin typeface="Helvetica Neue"/>
                <a:cs typeface="Helvetica Neue"/>
              </a:rPr>
              <a:t>Estrutura</a:t>
            </a:r>
          </a:p>
        </p:txBody>
      </p:sp>
      <p:sp>
        <p:nvSpPr>
          <p:cNvPr id="3" name="TextBox 2"/>
          <p:cNvSpPr txBox="1"/>
          <p:nvPr/>
        </p:nvSpPr>
        <p:spPr>
          <a:xfrm>
            <a:off x="2082801" y="6119585"/>
            <a:ext cx="3041217" cy="276999"/>
          </a:xfrm>
          <a:prstGeom prst="rect">
            <a:avLst/>
          </a:prstGeom>
          <a:noFill/>
        </p:spPr>
        <p:txBody>
          <a:bodyPr wrap="none" rtlCol="0">
            <a:spAutoFit/>
          </a:bodyPr>
          <a:lstStyle/>
          <a:p>
            <a:r>
              <a:rPr lang="pt-BR" sz="1200" dirty="0">
                <a:latin typeface="Helvetica Neue"/>
                <a:cs typeface="Helvetica Neue"/>
              </a:rPr>
              <a:t>Fonte: Ministério do Planejamento (2015).</a:t>
            </a:r>
          </a:p>
        </p:txBody>
      </p:sp>
    </p:spTree>
    <p:extLst>
      <p:ext uri="{BB962C8B-B14F-4D97-AF65-F5344CB8AC3E}">
        <p14:creationId xmlns:p14="http://schemas.microsoft.com/office/powerpoint/2010/main" val="2715939585"/>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xmlns:p14="http://schemas.microsoft.com/office/powerpoint/2010/main">
        <p:cut/>
      </p:transition>
    </mc:Fallback>
  </mc:AlternateContent>
</p:sld>
</file>

<file path=ppt/slides/slide2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00297" y="74703"/>
            <a:ext cx="8229600" cy="615950"/>
          </a:xfrm>
        </p:spPr>
        <p:txBody>
          <a:bodyPr>
            <a:normAutofit/>
          </a:bodyPr>
          <a:lstStyle/>
          <a:p>
            <a:r>
              <a:rPr lang="pt-BR" sz="3200" dirty="0">
                <a:solidFill>
                  <a:srgbClr val="000000"/>
                </a:solidFill>
              </a:rPr>
              <a:t>Legislações</a:t>
            </a:r>
          </a:p>
        </p:txBody>
      </p:sp>
      <p:sp>
        <p:nvSpPr>
          <p:cNvPr id="6" name="TextBox 5"/>
          <p:cNvSpPr txBox="1"/>
          <p:nvPr/>
        </p:nvSpPr>
        <p:spPr>
          <a:xfrm>
            <a:off x="465735" y="1613983"/>
            <a:ext cx="11556275" cy="3524042"/>
          </a:xfrm>
          <a:prstGeom prst="rect">
            <a:avLst/>
          </a:prstGeom>
          <a:noFill/>
        </p:spPr>
        <p:txBody>
          <a:bodyPr wrap="square" rtlCol="0">
            <a:spAutoFit/>
          </a:bodyPr>
          <a:lstStyle/>
          <a:p>
            <a:pPr>
              <a:spcBef>
                <a:spcPts val="600"/>
              </a:spcBef>
            </a:pPr>
            <a:r>
              <a:rPr lang="pt-BR" dirty="0">
                <a:latin typeface="Helvetica Neue"/>
                <a:cs typeface="Helvetica Neue"/>
              </a:rPr>
              <a:t>Vamos destacar algumas legislações que regulam o transporte rodoviário:</a:t>
            </a:r>
          </a:p>
          <a:p>
            <a:pPr marL="285750" indent="-285750" algn="just">
              <a:spcBef>
                <a:spcPts val="600"/>
              </a:spcBef>
              <a:buFont typeface="Wingdings" charset="2"/>
              <a:buChar char=""/>
            </a:pPr>
            <a:r>
              <a:rPr lang="pt-BR" dirty="0">
                <a:latin typeface="Helvetica Neue"/>
                <a:cs typeface="Helvetica Neue"/>
              </a:rPr>
              <a:t>A legislação que regula os </a:t>
            </a:r>
            <a:r>
              <a:rPr lang="pt-BR" b="1" dirty="0">
                <a:latin typeface="Helvetica Neue"/>
                <a:cs typeface="Helvetica Neue"/>
              </a:rPr>
              <a:t>limites de peso e dimensões para veículos </a:t>
            </a:r>
            <a:r>
              <a:rPr lang="pt-BR" dirty="0">
                <a:latin typeface="Helvetica Neue"/>
                <a:cs typeface="Helvetica Neue"/>
              </a:rPr>
              <a:t>(Lei da Balança), que limita o peso por eixo dos veículos que trafegam nas rodovias, tem como objetivo a preservação do pavimento e a sua durabilidade. As limitações estão descritas na </a:t>
            </a:r>
            <a:r>
              <a:rPr lang="pt-BR" b="1" dirty="0">
                <a:latin typeface="Helvetica Neue"/>
                <a:cs typeface="Helvetica Neue"/>
              </a:rPr>
              <a:t>Portaria nº 86 </a:t>
            </a:r>
            <a:r>
              <a:rPr lang="pt-BR" dirty="0">
                <a:latin typeface="Helvetica Neue"/>
                <a:cs typeface="Helvetica Neue"/>
              </a:rPr>
              <a:t>do Denatran. Disponível em: </a:t>
            </a:r>
          </a:p>
          <a:p>
            <a:pPr algn="just"/>
            <a:r>
              <a:rPr lang="pt-BR" dirty="0">
                <a:latin typeface="Helvetica Neue"/>
                <a:cs typeface="Helvetica Neue"/>
              </a:rPr>
              <a:t>     </a:t>
            </a:r>
            <a:r>
              <a:rPr lang="pt-BR" dirty="0">
                <a:latin typeface="Helvetica Neue"/>
                <a:cs typeface="Helvetica Neue"/>
                <a:hlinkClick r:id="rId3"/>
              </a:rPr>
              <a:t>http://www.denatran.gov.br/download/Portarias/2006/PORTARIA8_06.pdf</a:t>
            </a:r>
            <a:endParaRPr lang="pt-BR" dirty="0">
              <a:latin typeface="Helvetica Neue"/>
              <a:cs typeface="Helvetica Neue"/>
            </a:endParaRPr>
          </a:p>
          <a:p>
            <a:pPr marL="285750" indent="-285750" algn="just">
              <a:spcBef>
                <a:spcPts val="1200"/>
              </a:spcBef>
              <a:buFont typeface="Wingdings" charset="2"/>
              <a:buChar char=""/>
            </a:pPr>
            <a:r>
              <a:rPr lang="pt-BR" b="1" dirty="0">
                <a:latin typeface="Helvetica Neue"/>
                <a:cs typeface="Helvetica Neue"/>
              </a:rPr>
              <a:t>Movimentação de produtos perigosos</a:t>
            </a:r>
            <a:r>
              <a:rPr lang="pt-BR" dirty="0">
                <a:latin typeface="Helvetica Neue"/>
                <a:cs typeface="Helvetica Neue"/>
              </a:rPr>
              <a:t>, regulamentada pela Resolução </a:t>
            </a:r>
            <a:r>
              <a:rPr lang="pt-BR" b="1" dirty="0">
                <a:latin typeface="Helvetica Neue"/>
                <a:cs typeface="Helvetica Neue"/>
              </a:rPr>
              <a:t>nº</a:t>
            </a:r>
            <a:r>
              <a:rPr lang="pt-BR" dirty="0">
                <a:latin typeface="Helvetica Neue"/>
                <a:cs typeface="Helvetica Neue"/>
              </a:rPr>
              <a:t> </a:t>
            </a:r>
            <a:r>
              <a:rPr lang="pt-BR" b="1" dirty="0">
                <a:latin typeface="Helvetica Neue"/>
                <a:cs typeface="Helvetica Neue"/>
              </a:rPr>
              <a:t>420/04 </a:t>
            </a:r>
            <a:r>
              <a:rPr lang="pt-BR" dirty="0">
                <a:latin typeface="Helvetica Neue"/>
                <a:cs typeface="Helvetica Neue"/>
              </a:rPr>
              <a:t>de 12/02/2004 da ANTT, que dispõe sobre a categoria, sinalização, documentação e cuidados na movimentação de produtos perigosos, de acordo com a suas classes de risco.</a:t>
            </a:r>
            <a:r>
              <a:rPr lang="pt-BR" dirty="0"/>
              <a:t> </a:t>
            </a:r>
            <a:r>
              <a:rPr lang="pt-BR" dirty="0">
                <a:latin typeface="Helvetica Neue Light"/>
              </a:rPr>
              <a:t>Disponível em: </a:t>
            </a:r>
            <a:r>
              <a:rPr lang="pt-BR" dirty="0">
                <a:latin typeface="Helvetica Neue Light"/>
                <a:cs typeface="Helvetica Neue"/>
                <a:hlinkClick r:id="rId4"/>
              </a:rPr>
              <a:t>http://www.antt.gov.br/index.php/content/view/1420/Resolucao_420.html</a:t>
            </a:r>
            <a:r>
              <a:rPr lang="pt-BR" dirty="0">
                <a:latin typeface="Helvetica Neue Light"/>
                <a:cs typeface="Helvetica Neue"/>
              </a:rPr>
              <a:t> </a:t>
            </a:r>
          </a:p>
          <a:p>
            <a:pPr marL="285750" indent="-285750" algn="just">
              <a:spcBef>
                <a:spcPts val="1200"/>
              </a:spcBef>
              <a:buFont typeface="Wingdings" charset="2"/>
              <a:buChar char=""/>
            </a:pPr>
            <a:r>
              <a:rPr lang="pt-BR" b="1" dirty="0">
                <a:latin typeface="Helvetica Neue"/>
                <a:cs typeface="Helvetica Neue"/>
              </a:rPr>
              <a:t>Lei nº 13.103</a:t>
            </a:r>
            <a:r>
              <a:rPr lang="pt-BR" dirty="0">
                <a:latin typeface="Helvetica Neue"/>
                <a:cs typeface="Helvetica Neue"/>
              </a:rPr>
              <a:t>, de 2 de março de 2015, dispõe sobre o exercício da profissão de motorista e </a:t>
            </a:r>
            <a:r>
              <a:rPr lang="pt-BR" b="1" dirty="0">
                <a:latin typeface="Helvetica Neue"/>
                <a:cs typeface="Helvetica Neue"/>
              </a:rPr>
              <a:t>disciplina a jornada de trabalho e o tempo de direção </a:t>
            </a:r>
            <a:r>
              <a:rPr lang="pt-BR" dirty="0">
                <a:latin typeface="Helvetica Neue"/>
                <a:cs typeface="Helvetica Neue"/>
              </a:rPr>
              <a:t>do motorista profissional.</a:t>
            </a:r>
          </a:p>
        </p:txBody>
      </p:sp>
      <p:sp>
        <p:nvSpPr>
          <p:cNvPr id="5" name="TextBox 4"/>
          <p:cNvSpPr txBox="1"/>
          <p:nvPr/>
        </p:nvSpPr>
        <p:spPr>
          <a:xfrm>
            <a:off x="465735" y="690653"/>
            <a:ext cx="9087567" cy="646331"/>
          </a:xfrm>
          <a:prstGeom prst="rect">
            <a:avLst/>
          </a:prstGeom>
          <a:noFill/>
        </p:spPr>
        <p:txBody>
          <a:bodyPr wrap="square" rtlCol="0">
            <a:spAutoFit/>
          </a:bodyPr>
          <a:lstStyle/>
          <a:p>
            <a:pPr algn="just"/>
            <a:r>
              <a:rPr lang="pt-BR" dirty="0">
                <a:latin typeface="Helvetica Neue"/>
                <a:cs typeface="Helvetica Neue"/>
              </a:rPr>
              <a:t>As legislações específicas do transporte em cada modal estão disponíveis nos sites das Agências Reguladoras (ANTT, ANTAQ e ANAC).</a:t>
            </a:r>
          </a:p>
        </p:txBody>
      </p:sp>
      <p:pic>
        <p:nvPicPr>
          <p:cNvPr id="3" name="Picture 2" descr="ThinkstockPhotos-145850624 (1).jp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60776" y="240532"/>
            <a:ext cx="1661235" cy="1110950"/>
          </a:xfrm>
          <a:prstGeom prst="rect">
            <a:avLst/>
          </a:prstGeom>
        </p:spPr>
      </p:pic>
    </p:spTree>
    <p:extLst>
      <p:ext uri="{BB962C8B-B14F-4D97-AF65-F5344CB8AC3E}">
        <p14:creationId xmlns:p14="http://schemas.microsoft.com/office/powerpoint/2010/main" val="4140810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down)">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down)">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wipe(down)">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wipe(down)">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wipe(down)">
                                      <p:cBhvr>
                                        <p:cTn id="27"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Footer Placeholder 3"/>
          <p:cNvSpPr>
            <a:spLocks noGrp="1"/>
          </p:cNvSpPr>
          <p:nvPr>
            <p:ph type="ftr" sz="quarter" idx="4294967295"/>
          </p:nvPr>
        </p:nvSpPr>
        <p:spPr>
          <a:xfrm>
            <a:off x="0" y="6356350"/>
            <a:ext cx="4114800" cy="365125"/>
          </a:xfrm>
        </p:spPr>
        <p:txBody>
          <a:bodyPr/>
          <a:lstStyle/>
          <a:p>
            <a:r>
              <a:rPr lang="pt-BR"/>
              <a:t>Senac São Paulo</a:t>
            </a:r>
            <a:endParaRPr lang="en-US" b="1" dirty="0">
              <a:latin typeface="Helvetica Neue"/>
              <a:cs typeface="Helvetica Neue"/>
            </a:endParaRPr>
          </a:p>
        </p:txBody>
      </p:sp>
      <p:sp>
        <p:nvSpPr>
          <p:cNvPr id="5" name="CaixaDeTexto 2"/>
          <p:cNvSpPr txBox="1"/>
          <p:nvPr/>
        </p:nvSpPr>
        <p:spPr>
          <a:xfrm>
            <a:off x="92194" y="897797"/>
            <a:ext cx="8102099" cy="1384995"/>
          </a:xfrm>
          <a:prstGeom prst="rect">
            <a:avLst/>
          </a:prstGeom>
          <a:noFill/>
        </p:spPr>
        <p:txBody>
          <a:bodyPr wrap="square" rtlCol="0">
            <a:spAutoFit/>
          </a:bodyPr>
          <a:lstStyle/>
          <a:p>
            <a:pPr algn="just">
              <a:lnSpc>
                <a:spcPct val="150000"/>
              </a:lnSpc>
            </a:pPr>
            <a:r>
              <a:rPr lang="pt-BR" sz="1400" dirty="0">
                <a:latin typeface="Helvetica Neue"/>
                <a:cs typeface="Helvetica Neue"/>
              </a:rPr>
              <a:t>Cabe à ANTT, como atribuições específicas pertinentes ao transporte rodoviário de cargas, promover estudos e levantamentos relativos à frota de caminhões, empresas constituídas e operadores autônomos, bem como organizar e manter um </a:t>
            </a:r>
            <a:r>
              <a:rPr lang="pt-BR" sz="1400" b="1" dirty="0">
                <a:latin typeface="Helvetica Neue"/>
                <a:cs typeface="Helvetica Neue"/>
              </a:rPr>
              <a:t>registro nacional de transportadores rodoviários de carga – RNTRC </a:t>
            </a:r>
            <a:r>
              <a:rPr lang="pt-BR" sz="1400" dirty="0">
                <a:latin typeface="Helvetica Neue"/>
                <a:cs typeface="Helvetica Neue"/>
              </a:rPr>
              <a:t> (Lei nº 11.442, de 2007).</a:t>
            </a:r>
          </a:p>
        </p:txBody>
      </p:sp>
      <p:grpSp>
        <p:nvGrpSpPr>
          <p:cNvPr id="2" name="Group 1"/>
          <p:cNvGrpSpPr/>
          <p:nvPr/>
        </p:nvGrpSpPr>
        <p:grpSpPr>
          <a:xfrm>
            <a:off x="169595" y="4035120"/>
            <a:ext cx="5795776" cy="1673147"/>
            <a:chOff x="483103" y="4355520"/>
            <a:chExt cx="4868333" cy="1673147"/>
          </a:xfrm>
        </p:grpSpPr>
        <p:pic>
          <p:nvPicPr>
            <p:cNvPr id="10" name="Picture 9"/>
            <p:cNvPicPr>
              <a:picLocks noChangeAspect="1"/>
            </p:cNvPicPr>
            <p:nvPr/>
          </p:nvPicPr>
          <p:blipFill>
            <a:blip r:embed="rId3"/>
            <a:stretch>
              <a:fillRect/>
            </a:stretch>
          </p:blipFill>
          <p:spPr>
            <a:xfrm>
              <a:off x="483103" y="4732867"/>
              <a:ext cx="4868333" cy="1295800"/>
            </a:xfrm>
            <a:prstGeom prst="rect">
              <a:avLst/>
            </a:prstGeom>
          </p:spPr>
        </p:pic>
        <p:sp>
          <p:nvSpPr>
            <p:cNvPr id="12" name="TextBox 11"/>
            <p:cNvSpPr txBox="1"/>
            <p:nvPr/>
          </p:nvSpPr>
          <p:spPr>
            <a:xfrm>
              <a:off x="483103" y="4355520"/>
              <a:ext cx="2595582" cy="369332"/>
            </a:xfrm>
            <a:prstGeom prst="rect">
              <a:avLst/>
            </a:prstGeom>
            <a:noFill/>
          </p:spPr>
          <p:txBody>
            <a:bodyPr wrap="none" rtlCol="0">
              <a:spAutoFit/>
            </a:bodyPr>
            <a:lstStyle/>
            <a:p>
              <a:r>
                <a:rPr lang="pt-BR" b="1" dirty="0"/>
                <a:t>Idade média dos veículos</a:t>
              </a:r>
            </a:p>
          </p:txBody>
        </p:sp>
      </p:grpSp>
      <p:sp>
        <p:nvSpPr>
          <p:cNvPr id="14" name="TextBox 13"/>
          <p:cNvSpPr txBox="1"/>
          <p:nvPr/>
        </p:nvSpPr>
        <p:spPr>
          <a:xfrm>
            <a:off x="7749558" y="3842517"/>
            <a:ext cx="4102807" cy="954107"/>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pPr algn="ctr"/>
            <a:r>
              <a:rPr lang="pt-BR" sz="2800" dirty="0"/>
              <a:t>O que se pode concluir dos dados apresentados?</a:t>
            </a:r>
          </a:p>
        </p:txBody>
      </p:sp>
      <p:grpSp>
        <p:nvGrpSpPr>
          <p:cNvPr id="6" name="Group 5"/>
          <p:cNvGrpSpPr/>
          <p:nvPr/>
        </p:nvGrpSpPr>
        <p:grpSpPr>
          <a:xfrm>
            <a:off x="274098" y="2248041"/>
            <a:ext cx="7345902" cy="3827116"/>
            <a:chOff x="483103" y="2560142"/>
            <a:chExt cx="6510867" cy="3827116"/>
          </a:xfrm>
        </p:grpSpPr>
        <p:sp>
          <p:nvSpPr>
            <p:cNvPr id="13" name="TextBox 12"/>
            <p:cNvSpPr txBox="1"/>
            <p:nvPr/>
          </p:nvSpPr>
          <p:spPr>
            <a:xfrm>
              <a:off x="483103" y="6110259"/>
              <a:ext cx="6510867" cy="276999"/>
            </a:xfrm>
            <a:prstGeom prst="rect">
              <a:avLst/>
            </a:prstGeom>
            <a:noFill/>
          </p:spPr>
          <p:txBody>
            <a:bodyPr wrap="square" rtlCol="0">
              <a:spAutoFit/>
            </a:bodyPr>
            <a:lstStyle/>
            <a:p>
              <a:r>
                <a:rPr lang="pt-BR" sz="1200" dirty="0"/>
                <a:t>Fonte: ANTT cadastro RNTRC em maio/2015, disponível em </a:t>
              </a:r>
              <a:r>
                <a:rPr lang="pt-BR" sz="1200" dirty="0">
                  <a:hlinkClick r:id="rId4"/>
                </a:rPr>
                <a:t>http://www.antt.gov.br/index.php</a:t>
              </a:r>
              <a:r>
                <a:rPr lang="pt-BR" sz="1200" dirty="0"/>
                <a:t>.  </a:t>
              </a:r>
            </a:p>
          </p:txBody>
        </p:sp>
        <p:grpSp>
          <p:nvGrpSpPr>
            <p:cNvPr id="3" name="Group 2"/>
            <p:cNvGrpSpPr/>
            <p:nvPr/>
          </p:nvGrpSpPr>
          <p:grpSpPr>
            <a:xfrm>
              <a:off x="483103" y="2560142"/>
              <a:ext cx="4919136" cy="1795966"/>
              <a:chOff x="483103" y="2560142"/>
              <a:chExt cx="4919136" cy="1795966"/>
            </a:xfrm>
          </p:grpSpPr>
          <p:sp>
            <p:nvSpPr>
              <p:cNvPr id="7" name="TextBox 6"/>
              <p:cNvSpPr txBox="1"/>
              <p:nvPr/>
            </p:nvSpPr>
            <p:spPr>
              <a:xfrm>
                <a:off x="483103" y="2560142"/>
                <a:ext cx="4398147" cy="369332"/>
              </a:xfrm>
              <a:prstGeom prst="rect">
                <a:avLst/>
              </a:prstGeom>
              <a:noFill/>
            </p:spPr>
            <p:txBody>
              <a:bodyPr wrap="none" rtlCol="0">
                <a:spAutoFit/>
              </a:bodyPr>
              <a:lstStyle/>
              <a:p>
                <a:r>
                  <a:rPr lang="pt-BR" b="1" dirty="0"/>
                  <a:t>Participação dos Transportadores no RNTRC</a:t>
                </a:r>
              </a:p>
            </p:txBody>
          </p:sp>
          <p:pic>
            <p:nvPicPr>
              <p:cNvPr id="15" name="Picture 14"/>
              <p:cNvPicPr>
                <a:picLocks noChangeAspect="1"/>
              </p:cNvPicPr>
              <p:nvPr/>
            </p:nvPicPr>
            <p:blipFill>
              <a:blip r:embed="rId5"/>
              <a:stretch>
                <a:fillRect/>
              </a:stretch>
            </p:blipFill>
            <p:spPr>
              <a:xfrm>
                <a:off x="483103" y="2997208"/>
                <a:ext cx="4919136" cy="1358900"/>
              </a:xfrm>
              <a:prstGeom prst="rect">
                <a:avLst/>
              </a:prstGeom>
            </p:spPr>
          </p:pic>
        </p:grpSp>
      </p:grpSp>
      <p:sp>
        <p:nvSpPr>
          <p:cNvPr id="16" name="Rectangle 15"/>
          <p:cNvSpPr/>
          <p:nvPr/>
        </p:nvSpPr>
        <p:spPr>
          <a:xfrm>
            <a:off x="92194" y="15707"/>
            <a:ext cx="8227965" cy="830997"/>
          </a:xfrm>
          <a:prstGeom prst="rect">
            <a:avLst/>
          </a:prstGeom>
        </p:spPr>
        <p:txBody>
          <a:bodyPr wrap="square">
            <a:spAutoFit/>
          </a:bodyPr>
          <a:lstStyle/>
          <a:p>
            <a:pPr algn="just"/>
            <a:r>
              <a:rPr lang="pt-BR" sz="2400" b="1" dirty="0">
                <a:solidFill>
                  <a:srgbClr val="000000"/>
                </a:solidFill>
                <a:latin typeface="Helvetica Neue"/>
                <a:cs typeface="Helvetica Neue"/>
              </a:rPr>
              <a:t>Registro nacional de transportadores rodoviários de cargas (RNTRC) </a:t>
            </a:r>
          </a:p>
        </p:txBody>
      </p:sp>
    </p:spTree>
    <p:extLst>
      <p:ext uri="{BB962C8B-B14F-4D97-AF65-F5344CB8AC3E}">
        <p14:creationId xmlns:p14="http://schemas.microsoft.com/office/powerpoint/2010/main" val="2409481696"/>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xmlns:p14="http://schemas.microsoft.com/office/powerpoint/2010/mai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2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Footer Placeholder 3"/>
          <p:cNvSpPr>
            <a:spLocks noGrp="1"/>
          </p:cNvSpPr>
          <p:nvPr>
            <p:ph type="ftr" sz="quarter" idx="4294967295"/>
          </p:nvPr>
        </p:nvSpPr>
        <p:spPr>
          <a:xfrm>
            <a:off x="0" y="6356350"/>
            <a:ext cx="4114800" cy="365125"/>
          </a:xfrm>
        </p:spPr>
        <p:txBody>
          <a:bodyPr/>
          <a:lstStyle/>
          <a:p>
            <a:r>
              <a:rPr lang="pt-BR"/>
              <a:t>Senac São Paulo</a:t>
            </a:r>
            <a:endParaRPr lang="en-US" b="1" dirty="0">
              <a:latin typeface="Helvetica Neue"/>
              <a:cs typeface="Helvetica Neue"/>
            </a:endParaRPr>
          </a:p>
        </p:txBody>
      </p:sp>
      <p:sp>
        <p:nvSpPr>
          <p:cNvPr id="5" name="CaixaDeTexto 1"/>
          <p:cNvSpPr txBox="1"/>
          <p:nvPr/>
        </p:nvSpPr>
        <p:spPr>
          <a:xfrm>
            <a:off x="202172" y="31762"/>
            <a:ext cx="11989827" cy="2554545"/>
          </a:xfrm>
          <a:prstGeom prst="rect">
            <a:avLst/>
          </a:prstGeom>
          <a:noFill/>
        </p:spPr>
        <p:txBody>
          <a:bodyPr wrap="square" rtlCol="0">
            <a:spAutoFit/>
          </a:bodyPr>
          <a:lstStyle/>
          <a:p>
            <a:r>
              <a:rPr lang="pt-BR" sz="2400" b="1" dirty="0">
                <a:solidFill>
                  <a:srgbClr val="000000"/>
                </a:solidFill>
                <a:latin typeface="Helvetica Neue"/>
                <a:cs typeface="Helvetica Neue"/>
              </a:rPr>
              <a:t>Documentos emitidos pelo transportador</a:t>
            </a:r>
          </a:p>
          <a:p>
            <a:pPr algn="just">
              <a:spcBef>
                <a:spcPts val="600"/>
              </a:spcBef>
            </a:pPr>
            <a:r>
              <a:rPr lang="pt-BR" dirty="0">
                <a:latin typeface="Helvetica Neue"/>
                <a:cs typeface="Helvetica Neue"/>
              </a:rPr>
              <a:t>Ao contratar uma empresa de transporte, o embarcador/remetente estará celebrando um </a:t>
            </a:r>
            <a:r>
              <a:rPr lang="pt-BR" b="1" dirty="0">
                <a:latin typeface="Helvetica Neue"/>
                <a:cs typeface="Helvetica Neue"/>
              </a:rPr>
              <a:t>contrato de transporte com o transportador; </a:t>
            </a:r>
            <a:r>
              <a:rPr lang="pt-BR" dirty="0">
                <a:latin typeface="Helvetica Neue"/>
                <a:cs typeface="Helvetica Neue"/>
              </a:rPr>
              <a:t>deste modo, para que o negócio seja formalizado, é necessário que se emita um documento com força probatória.</a:t>
            </a:r>
          </a:p>
          <a:p>
            <a:pPr algn="just">
              <a:spcBef>
                <a:spcPts val="600"/>
              </a:spcBef>
            </a:pPr>
            <a:r>
              <a:rPr lang="pt-BR" dirty="0">
                <a:latin typeface="Helvetica Neue"/>
                <a:cs typeface="Helvetica Neue"/>
              </a:rPr>
              <a:t>O </a:t>
            </a:r>
            <a:r>
              <a:rPr lang="pt-BR" b="1" dirty="0">
                <a:latin typeface="Helvetica Neue"/>
                <a:cs typeface="Helvetica Neue"/>
              </a:rPr>
              <a:t>conhecimento de transporte ou de embarque </a:t>
            </a:r>
            <a:r>
              <a:rPr lang="pt-BR" dirty="0">
                <a:latin typeface="Helvetica Neue"/>
                <a:cs typeface="Helvetica Neue"/>
              </a:rPr>
              <a:t>é o documento que formaliza o negócio e deve ser emitido pela transportadora. O conhecimento pode ser de âmbito nacional ou internacional. Ele contém as informações relativas às mercadorias transportadas, remetente, destinatário e valor do frete contratado e os seus termos.</a:t>
            </a:r>
            <a:r>
              <a:rPr lang="pt-BR" baseline="30000" dirty="0">
                <a:latin typeface="Helvetica Neue"/>
                <a:cs typeface="Helvetica Neue"/>
              </a:rPr>
              <a:t>1</a:t>
            </a:r>
            <a:endParaRPr lang="pt-BR" dirty="0">
              <a:latin typeface="Helvetica Neue"/>
              <a:cs typeface="Helvetica Neue"/>
            </a:endParaRPr>
          </a:p>
          <a:p>
            <a:pPr algn="just"/>
            <a:endParaRPr lang="pt-BR" dirty="0">
              <a:latin typeface="Times New Roman" pitchFamily="18" charset="0"/>
              <a:cs typeface="Times New Roman" pitchFamily="18" charset="0"/>
            </a:endParaRPr>
          </a:p>
        </p:txBody>
      </p:sp>
      <p:sp>
        <p:nvSpPr>
          <p:cNvPr id="2" name="TextBox 1"/>
          <p:cNvSpPr txBox="1"/>
          <p:nvPr/>
        </p:nvSpPr>
        <p:spPr>
          <a:xfrm>
            <a:off x="2038627" y="6018678"/>
            <a:ext cx="6217098" cy="461665"/>
          </a:xfrm>
          <a:prstGeom prst="rect">
            <a:avLst/>
          </a:prstGeom>
          <a:noFill/>
        </p:spPr>
        <p:txBody>
          <a:bodyPr wrap="square" rtlCol="0">
            <a:spAutoFit/>
          </a:bodyPr>
          <a:lstStyle/>
          <a:p>
            <a:pPr algn="just"/>
            <a:r>
              <a:rPr lang="pt-BR" sz="1200" baseline="30000" dirty="0"/>
              <a:t>1</a:t>
            </a:r>
            <a:r>
              <a:rPr lang="pt-BR" sz="1200" dirty="0"/>
              <a:t> Os termos dizem se referem aos </a:t>
            </a:r>
            <a:r>
              <a:rPr lang="pt-BR" sz="1200" b="1" dirty="0" err="1"/>
              <a:t>Incoterms</a:t>
            </a:r>
            <a:r>
              <a:rPr lang="pt-BR" sz="1200" b="1" dirty="0"/>
              <a:t>, </a:t>
            </a:r>
            <a:r>
              <a:rPr lang="pt-BR" sz="1200" dirty="0"/>
              <a:t>que estabelecem de forma clara as responsabilidades de cada parte sobre documentação, riscos/seguro e custos envolvidos.</a:t>
            </a:r>
          </a:p>
        </p:txBody>
      </p:sp>
      <p:sp>
        <p:nvSpPr>
          <p:cNvPr id="6" name="TextBox 5"/>
          <p:cNvSpPr txBox="1"/>
          <p:nvPr/>
        </p:nvSpPr>
        <p:spPr>
          <a:xfrm>
            <a:off x="202172" y="2563445"/>
            <a:ext cx="11989827" cy="2139047"/>
          </a:xfrm>
          <a:prstGeom prst="rect">
            <a:avLst/>
          </a:prstGeom>
          <a:noFill/>
        </p:spPr>
        <p:txBody>
          <a:bodyPr wrap="square" rtlCol="0">
            <a:spAutoFit/>
          </a:bodyPr>
          <a:lstStyle/>
          <a:p>
            <a:r>
              <a:rPr lang="pt-BR" dirty="0">
                <a:latin typeface="Helvetica Neue"/>
                <a:cs typeface="Helvetica Neue"/>
              </a:rPr>
              <a:t>O conhecimento de Transporte recebe </a:t>
            </a:r>
            <a:r>
              <a:rPr lang="pt-BR" u="sng" dirty="0">
                <a:latin typeface="Helvetica Neue"/>
                <a:cs typeface="Helvetica Neue"/>
              </a:rPr>
              <a:t>denominações específicas </a:t>
            </a:r>
            <a:r>
              <a:rPr lang="pt-BR" dirty="0">
                <a:latin typeface="Helvetica Neue"/>
                <a:cs typeface="Helvetica Neue"/>
              </a:rPr>
              <a:t>em </a:t>
            </a:r>
            <a:r>
              <a:rPr lang="pt-BR" u="sng" dirty="0">
                <a:latin typeface="Helvetica Neue"/>
                <a:cs typeface="Helvetica Neue"/>
              </a:rPr>
              <a:t>função do modal</a:t>
            </a:r>
            <a:r>
              <a:rPr lang="pt-BR" dirty="0">
                <a:latin typeface="Helvetica Neue"/>
                <a:cs typeface="Helvetica Neue"/>
              </a:rPr>
              <a:t>:</a:t>
            </a:r>
          </a:p>
          <a:p>
            <a:pPr marL="285750" indent="-285750">
              <a:spcBef>
                <a:spcPts val="600"/>
              </a:spcBef>
              <a:buFont typeface="Wingdings" charset="2"/>
              <a:buChar char="§"/>
            </a:pPr>
            <a:r>
              <a:rPr lang="pt-BR" dirty="0">
                <a:latin typeface="Helvetica Neue"/>
                <a:cs typeface="Helvetica Neue"/>
              </a:rPr>
              <a:t>Marítimo: Bill </a:t>
            </a:r>
            <a:r>
              <a:rPr lang="pt-BR" dirty="0" err="1">
                <a:latin typeface="Helvetica Neue"/>
                <a:cs typeface="Helvetica Neue"/>
              </a:rPr>
              <a:t>of</a:t>
            </a:r>
            <a:r>
              <a:rPr lang="pt-BR" dirty="0">
                <a:latin typeface="Helvetica Neue"/>
                <a:cs typeface="Helvetica Neue"/>
              </a:rPr>
              <a:t> </a:t>
            </a:r>
            <a:r>
              <a:rPr lang="pt-BR" dirty="0" err="1">
                <a:latin typeface="Helvetica Neue"/>
                <a:cs typeface="Helvetica Neue"/>
              </a:rPr>
              <a:t>landing</a:t>
            </a:r>
            <a:r>
              <a:rPr lang="pt-BR" dirty="0">
                <a:latin typeface="Helvetica Neue"/>
                <a:cs typeface="Helvetica Neue"/>
              </a:rPr>
              <a:t> (</a:t>
            </a:r>
            <a:r>
              <a:rPr lang="pt-BR" b="1" dirty="0">
                <a:latin typeface="Helvetica Neue"/>
                <a:cs typeface="Helvetica Neue"/>
              </a:rPr>
              <a:t>B/L</a:t>
            </a:r>
            <a:r>
              <a:rPr lang="pt-BR" dirty="0">
                <a:latin typeface="Helvetica Neue"/>
                <a:cs typeface="Helvetica Neue"/>
              </a:rPr>
              <a:t>)</a:t>
            </a:r>
          </a:p>
          <a:p>
            <a:pPr marL="285750" indent="-285750">
              <a:spcBef>
                <a:spcPts val="600"/>
              </a:spcBef>
              <a:buFont typeface="Wingdings" charset="2"/>
              <a:buChar char="§"/>
            </a:pPr>
            <a:r>
              <a:rPr lang="pt-BR" dirty="0">
                <a:latin typeface="Helvetica Neue"/>
                <a:cs typeface="Helvetica Neue"/>
              </a:rPr>
              <a:t>Aéreo: Air </a:t>
            </a:r>
            <a:r>
              <a:rPr lang="pt-BR" dirty="0" err="1">
                <a:latin typeface="Helvetica Neue"/>
                <a:cs typeface="Helvetica Neue"/>
              </a:rPr>
              <a:t>way</a:t>
            </a:r>
            <a:r>
              <a:rPr lang="pt-BR" dirty="0">
                <a:latin typeface="Helvetica Neue"/>
                <a:cs typeface="Helvetica Neue"/>
              </a:rPr>
              <a:t> </a:t>
            </a:r>
            <a:r>
              <a:rPr lang="pt-BR" dirty="0" err="1">
                <a:latin typeface="Helvetica Neue"/>
                <a:cs typeface="Helvetica Neue"/>
              </a:rPr>
              <a:t>bill</a:t>
            </a:r>
            <a:r>
              <a:rPr lang="pt-BR" dirty="0">
                <a:latin typeface="Helvetica Neue"/>
                <a:cs typeface="Helvetica Neue"/>
              </a:rPr>
              <a:t> (</a:t>
            </a:r>
            <a:r>
              <a:rPr lang="pt-BR" b="1" dirty="0">
                <a:latin typeface="Helvetica Neue"/>
                <a:cs typeface="Helvetica Neue"/>
              </a:rPr>
              <a:t>AWB</a:t>
            </a:r>
            <a:r>
              <a:rPr lang="pt-BR" dirty="0">
                <a:latin typeface="Helvetica Neue"/>
                <a:cs typeface="Helvetica Neue"/>
              </a:rPr>
              <a:t>)</a:t>
            </a:r>
          </a:p>
          <a:p>
            <a:pPr marL="285750" indent="-285750">
              <a:spcBef>
                <a:spcPts val="600"/>
              </a:spcBef>
              <a:buFont typeface="Wingdings" charset="2"/>
              <a:buChar char="§"/>
            </a:pPr>
            <a:r>
              <a:rPr lang="pt-BR" dirty="0">
                <a:latin typeface="Helvetica Neue"/>
                <a:cs typeface="Helvetica Neue"/>
              </a:rPr>
              <a:t>Rodoviário: Conhecimento de transporte rodoviário de carga (</a:t>
            </a:r>
            <a:r>
              <a:rPr lang="pt-BR" b="1" dirty="0">
                <a:latin typeface="Helvetica Neue"/>
                <a:cs typeface="Helvetica Neue"/>
              </a:rPr>
              <a:t>CTRC</a:t>
            </a:r>
            <a:r>
              <a:rPr lang="pt-BR" dirty="0">
                <a:latin typeface="Helvetica Neue"/>
                <a:cs typeface="Helvetica Neue"/>
              </a:rPr>
              <a:t>)</a:t>
            </a:r>
          </a:p>
          <a:p>
            <a:pPr marL="285750" indent="-285750">
              <a:spcBef>
                <a:spcPts val="600"/>
              </a:spcBef>
              <a:buFont typeface="Wingdings" charset="2"/>
              <a:buChar char="§"/>
            </a:pPr>
            <a:r>
              <a:rPr lang="pt-BR" dirty="0">
                <a:latin typeface="Helvetica Neue"/>
                <a:cs typeface="Helvetica Neue"/>
              </a:rPr>
              <a:t>Ferroviário: Conhecimento internacional ferroviário (</a:t>
            </a:r>
            <a:r>
              <a:rPr lang="pt-BR" b="1" dirty="0">
                <a:latin typeface="Helvetica Neue"/>
                <a:cs typeface="Helvetica Neue"/>
              </a:rPr>
              <a:t>TIF</a:t>
            </a:r>
            <a:r>
              <a:rPr lang="pt-BR" dirty="0">
                <a:latin typeface="Helvetica Neue"/>
                <a:cs typeface="Helvetica Neue"/>
              </a:rPr>
              <a:t>)</a:t>
            </a:r>
          </a:p>
          <a:p>
            <a:pPr marL="285750" indent="-285750">
              <a:spcBef>
                <a:spcPts val="600"/>
              </a:spcBef>
              <a:buFont typeface="Wingdings" charset="2"/>
              <a:buChar char="§"/>
            </a:pPr>
            <a:r>
              <a:rPr lang="pt-BR" dirty="0">
                <a:latin typeface="Helvetica Neue"/>
                <a:cs typeface="Helvetica Neue"/>
              </a:rPr>
              <a:t>Multimodal: Conhecimento de embarque multimodal</a:t>
            </a:r>
            <a:endParaRPr lang="pt-BR" dirty="0"/>
          </a:p>
        </p:txBody>
      </p:sp>
    </p:spTree>
    <p:extLst>
      <p:ext uri="{BB962C8B-B14F-4D97-AF65-F5344CB8AC3E}">
        <p14:creationId xmlns:p14="http://schemas.microsoft.com/office/powerpoint/2010/main" val="3687439314"/>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xmlns:p14="http://schemas.microsoft.com/office/powerpoint/2010/mai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down)">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down)">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wipe(down)">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wipe(down)">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wipe(down)">
                                      <p:cBhvr>
                                        <p:cTn id="27" dur="500"/>
                                        <p:tgtEl>
                                          <p:spTgt spid="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wipe(down)">
                                      <p:cBhvr>
                                        <p:cTn id="32" dur="5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 y="427038"/>
            <a:ext cx="9370423" cy="631825"/>
          </a:xfrm>
        </p:spPr>
        <p:txBody>
          <a:bodyPr>
            <a:noAutofit/>
          </a:bodyPr>
          <a:lstStyle/>
          <a:p>
            <a:r>
              <a:rPr lang="pt-BR" sz="3600" dirty="0">
                <a:solidFill>
                  <a:srgbClr val="000000"/>
                </a:solidFill>
              </a:rPr>
              <a:t>Documentação requerida no transporte de cargas</a:t>
            </a:r>
          </a:p>
        </p:txBody>
      </p:sp>
      <p:sp>
        <p:nvSpPr>
          <p:cNvPr id="3" name="TextBox 2"/>
          <p:cNvSpPr txBox="1"/>
          <p:nvPr/>
        </p:nvSpPr>
        <p:spPr>
          <a:xfrm>
            <a:off x="10886" y="1993461"/>
            <a:ext cx="12181114" cy="3400931"/>
          </a:xfrm>
          <a:prstGeom prst="rect">
            <a:avLst/>
          </a:prstGeom>
          <a:noFill/>
        </p:spPr>
        <p:txBody>
          <a:bodyPr wrap="square" rtlCol="0">
            <a:spAutoFit/>
          </a:bodyPr>
          <a:lstStyle/>
          <a:p>
            <a:endParaRPr lang="pt-BR" dirty="0">
              <a:latin typeface="Helvetica Neue"/>
              <a:cs typeface="Helvetica Neue"/>
            </a:endParaRPr>
          </a:p>
          <a:p>
            <a:pPr marL="285750" indent="-285750">
              <a:spcBef>
                <a:spcPts val="600"/>
              </a:spcBef>
              <a:buFont typeface="Wingdings" charset="2"/>
              <a:buChar char=""/>
            </a:pPr>
            <a:r>
              <a:rPr lang="pt-BR" b="1" dirty="0">
                <a:latin typeface="Helvetica Neue"/>
                <a:cs typeface="Helvetica Neue"/>
              </a:rPr>
              <a:t>Fatura comercial </a:t>
            </a:r>
            <a:r>
              <a:rPr lang="pt-BR" dirty="0">
                <a:latin typeface="Helvetica Neue"/>
                <a:cs typeface="Helvetica Neue"/>
              </a:rPr>
              <a:t>(nota fiscal, </a:t>
            </a:r>
            <a:r>
              <a:rPr lang="pt-BR" i="1" dirty="0" err="1">
                <a:latin typeface="Helvetica Neue"/>
                <a:cs typeface="Helvetica Neue"/>
              </a:rPr>
              <a:t>commercial</a:t>
            </a:r>
            <a:r>
              <a:rPr lang="pt-BR" i="1" dirty="0">
                <a:latin typeface="Helvetica Neue"/>
                <a:cs typeface="Helvetica Neue"/>
              </a:rPr>
              <a:t> </a:t>
            </a:r>
            <a:r>
              <a:rPr lang="pt-BR" i="1" dirty="0" err="1">
                <a:latin typeface="Helvetica Neue"/>
                <a:cs typeface="Helvetica Neue"/>
              </a:rPr>
              <a:t>invoice</a:t>
            </a:r>
            <a:r>
              <a:rPr lang="pt-BR" dirty="0">
                <a:latin typeface="Helvetica Neue"/>
                <a:cs typeface="Helvetica Neue"/>
              </a:rPr>
              <a:t>)</a:t>
            </a:r>
          </a:p>
          <a:p>
            <a:pPr marL="288000" algn="just">
              <a:spcBef>
                <a:spcPts val="600"/>
              </a:spcBef>
            </a:pPr>
            <a:r>
              <a:rPr lang="pt-BR" dirty="0">
                <a:latin typeface="Helvetica Neue"/>
                <a:cs typeface="Helvetica Neue"/>
              </a:rPr>
              <a:t>Documento que comprova a operação de compra e venda da mercadoria que será objeto do transporte.</a:t>
            </a:r>
          </a:p>
          <a:p>
            <a:pPr marL="285750" indent="-285750" algn="just">
              <a:spcBef>
                <a:spcPts val="600"/>
              </a:spcBef>
              <a:buFont typeface="Wingdings" charset="2"/>
              <a:buChar char=""/>
            </a:pPr>
            <a:r>
              <a:rPr lang="pt-BR" b="1" dirty="0">
                <a:latin typeface="Helvetica Neue"/>
                <a:cs typeface="Helvetica Neue"/>
              </a:rPr>
              <a:t>Conhecimento de embarque</a:t>
            </a:r>
            <a:r>
              <a:rPr lang="pt-BR" dirty="0">
                <a:latin typeface="Helvetica Neue"/>
                <a:cs typeface="Helvetica Neue"/>
              </a:rPr>
              <a:t>: documento referente à contratação do frete.</a:t>
            </a:r>
          </a:p>
          <a:p>
            <a:pPr marL="285750" indent="-285750" algn="just">
              <a:spcBef>
                <a:spcPts val="600"/>
              </a:spcBef>
              <a:buFont typeface="Wingdings" charset="2"/>
              <a:buChar char=""/>
            </a:pPr>
            <a:r>
              <a:rPr lang="pt-BR" b="1" i="1" dirty="0" err="1">
                <a:latin typeface="Helvetica Neue"/>
                <a:cs typeface="Helvetica Neue"/>
              </a:rPr>
              <a:t>Packing</a:t>
            </a:r>
            <a:r>
              <a:rPr lang="pt-BR" b="1" i="1" dirty="0">
                <a:latin typeface="Helvetica Neue"/>
                <a:cs typeface="Helvetica Neue"/>
              </a:rPr>
              <a:t> </a:t>
            </a:r>
            <a:r>
              <a:rPr lang="pt-BR" b="1" i="1" dirty="0" err="1">
                <a:latin typeface="Helvetica Neue"/>
                <a:cs typeface="Helvetica Neue"/>
              </a:rPr>
              <a:t>list</a:t>
            </a:r>
            <a:r>
              <a:rPr lang="pt-BR" b="1" i="1" dirty="0">
                <a:latin typeface="Helvetica Neue"/>
                <a:cs typeface="Helvetica Neue"/>
              </a:rPr>
              <a:t> </a:t>
            </a:r>
            <a:r>
              <a:rPr lang="pt-BR" dirty="0">
                <a:latin typeface="Helvetica Neue"/>
                <a:cs typeface="Helvetica Neue"/>
              </a:rPr>
              <a:t>(romaneio): documento em que consta a composição da carga, o que facilitando a conferência e a fiscalização.</a:t>
            </a:r>
          </a:p>
          <a:p>
            <a:pPr marL="285750" indent="-285750" algn="just">
              <a:spcBef>
                <a:spcPts val="600"/>
              </a:spcBef>
              <a:buFont typeface="Wingdings" charset="2"/>
              <a:buChar char=""/>
            </a:pPr>
            <a:r>
              <a:rPr lang="pt-BR" b="1" dirty="0">
                <a:latin typeface="Helvetica Neue"/>
                <a:cs typeface="Helvetica Neue"/>
              </a:rPr>
              <a:t>Certificados</a:t>
            </a:r>
            <a:r>
              <a:rPr lang="pt-BR" dirty="0">
                <a:latin typeface="Helvetica Neue"/>
                <a:cs typeface="Helvetica Neue"/>
              </a:rPr>
              <a:t>: podem ser requeridos quando houver necessidade de comprovar a origem, a situação sanitária, o desempenho mínimo, o atendimento de requisitos de segurança do produto ao mercado de destino, etc.</a:t>
            </a:r>
          </a:p>
          <a:p>
            <a:pPr marL="285750" indent="-285750" algn="just">
              <a:spcBef>
                <a:spcPts val="600"/>
              </a:spcBef>
              <a:buFont typeface="Wingdings" charset="2"/>
              <a:buChar char=""/>
            </a:pPr>
            <a:r>
              <a:rPr lang="pt-BR" b="1" dirty="0">
                <a:latin typeface="Helvetica Neue"/>
                <a:cs typeface="Helvetica Neue"/>
              </a:rPr>
              <a:t>Licenças e permissões para transporte</a:t>
            </a:r>
            <a:r>
              <a:rPr lang="pt-BR" dirty="0">
                <a:latin typeface="Helvetica Neue"/>
                <a:cs typeface="Helvetica Neue"/>
              </a:rPr>
              <a:t>: deve ser observado conforme legislação em vigor. </a:t>
            </a:r>
          </a:p>
          <a:p>
            <a:pPr marL="285750" indent="-285750" algn="just">
              <a:spcBef>
                <a:spcPts val="600"/>
              </a:spcBef>
              <a:buFont typeface="Wingdings" charset="2"/>
              <a:buChar char=""/>
            </a:pPr>
            <a:r>
              <a:rPr lang="pt-BR" b="1" dirty="0">
                <a:latin typeface="Helvetica Neue"/>
                <a:cs typeface="Helvetica Neue"/>
              </a:rPr>
              <a:t>Seguros</a:t>
            </a:r>
            <a:r>
              <a:rPr lang="pt-BR" dirty="0">
                <a:latin typeface="Helvetica Neue"/>
                <a:cs typeface="Helvetica Neue"/>
              </a:rPr>
              <a:t>: tipo de cobertura e responsabilidades envolvidas.</a:t>
            </a:r>
          </a:p>
        </p:txBody>
      </p:sp>
      <p:sp>
        <p:nvSpPr>
          <p:cNvPr id="7" name="Rectangle 6"/>
          <p:cNvSpPr/>
          <p:nvPr/>
        </p:nvSpPr>
        <p:spPr>
          <a:xfrm>
            <a:off x="-1" y="887084"/>
            <a:ext cx="6890730" cy="646331"/>
          </a:xfrm>
          <a:prstGeom prst="rect">
            <a:avLst/>
          </a:prstGeom>
        </p:spPr>
        <p:txBody>
          <a:bodyPr wrap="square">
            <a:spAutoFit/>
          </a:bodyPr>
          <a:lstStyle/>
          <a:p>
            <a:r>
              <a:rPr lang="pt-BR" dirty="0">
                <a:latin typeface="Helvetica Neue"/>
                <a:cs typeface="Helvetica Neue"/>
              </a:rPr>
              <a:t>Os </a:t>
            </a:r>
            <a:r>
              <a:rPr lang="pt-BR" b="1" dirty="0">
                <a:latin typeface="Helvetica Neue"/>
                <a:cs typeface="Helvetica Neue"/>
              </a:rPr>
              <a:t>principais documentos a serem obtidos </a:t>
            </a:r>
            <a:r>
              <a:rPr lang="pt-BR" dirty="0">
                <a:latin typeface="Helvetica Neue"/>
                <a:cs typeface="Helvetica Neue"/>
              </a:rPr>
              <a:t>para o transporte são:</a:t>
            </a:r>
          </a:p>
        </p:txBody>
      </p:sp>
      <p:pic>
        <p:nvPicPr>
          <p:cNvPr id="5" name="Picture 4" descr="ThinkstockPhotos-464560108 (1).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64349" y="887084"/>
            <a:ext cx="1486208" cy="1216833"/>
          </a:xfrm>
          <a:prstGeom prst="rect">
            <a:avLst/>
          </a:prstGeom>
        </p:spPr>
      </p:pic>
    </p:spTree>
    <p:extLst>
      <p:ext uri="{BB962C8B-B14F-4D97-AF65-F5344CB8AC3E}">
        <p14:creationId xmlns:p14="http://schemas.microsoft.com/office/powerpoint/2010/main" val="311173204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xmlns:p14="http://schemas.microsoft.com/office/powerpoint/2010/mai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down)">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wipe(down)">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wipe(down)">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wipe(down)">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wipe(down)">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wipe(down)">
                                      <p:cBhvr>
                                        <p:cTn id="3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Title 1"/>
          <p:cNvSpPr>
            <a:spLocks noGrp="1"/>
          </p:cNvSpPr>
          <p:nvPr>
            <p:ph type="title" idx="4294967295"/>
          </p:nvPr>
        </p:nvSpPr>
        <p:spPr>
          <a:xfrm>
            <a:off x="0" y="427038"/>
            <a:ext cx="8229600" cy="631825"/>
          </a:xfrm>
        </p:spPr>
        <p:txBody>
          <a:bodyPr>
            <a:noAutofit/>
          </a:bodyPr>
          <a:lstStyle/>
          <a:p>
            <a:r>
              <a:rPr lang="pt-BR" sz="2400" i="1" dirty="0" err="1">
                <a:solidFill>
                  <a:srgbClr val="000000"/>
                </a:solidFill>
              </a:rPr>
              <a:t>Packing</a:t>
            </a:r>
            <a:r>
              <a:rPr lang="pt-BR" sz="2400" i="1" dirty="0">
                <a:solidFill>
                  <a:srgbClr val="000000"/>
                </a:solidFill>
              </a:rPr>
              <a:t> </a:t>
            </a:r>
            <a:r>
              <a:rPr lang="pt-BR" sz="2400" i="1" dirty="0" err="1">
                <a:solidFill>
                  <a:srgbClr val="000000"/>
                </a:solidFill>
              </a:rPr>
              <a:t>list</a:t>
            </a:r>
            <a:r>
              <a:rPr lang="pt-BR" sz="2400" dirty="0">
                <a:solidFill>
                  <a:srgbClr val="000000"/>
                </a:solidFill>
              </a:rPr>
              <a:t> (internacional) ou romaneio (nacional)</a:t>
            </a:r>
          </a:p>
        </p:txBody>
      </p:sp>
      <p:sp>
        <p:nvSpPr>
          <p:cNvPr id="6" name="TextBox 5"/>
          <p:cNvSpPr txBox="1"/>
          <p:nvPr/>
        </p:nvSpPr>
        <p:spPr>
          <a:xfrm>
            <a:off x="378581" y="4851539"/>
            <a:ext cx="2921000" cy="646331"/>
          </a:xfrm>
          <a:prstGeom prst="rect">
            <a:avLst/>
          </a:prstGeom>
          <a:noFill/>
        </p:spPr>
        <p:txBody>
          <a:bodyPr wrap="square" rtlCol="0">
            <a:spAutoFit/>
          </a:bodyPr>
          <a:lstStyle/>
          <a:p>
            <a:pPr algn="ctr"/>
            <a:r>
              <a:rPr lang="pt-BR" b="1" dirty="0">
                <a:latin typeface="Helvetica Neue"/>
                <a:cs typeface="Helvetica Neue"/>
              </a:rPr>
              <a:t>Exemplo de um romaneio</a:t>
            </a:r>
          </a:p>
        </p:txBody>
      </p:sp>
      <p:pic>
        <p:nvPicPr>
          <p:cNvPr id="7" name="Picture 6"/>
          <p:cNvPicPr>
            <a:picLocks noChangeAspect="1"/>
          </p:cNvPicPr>
          <p:nvPr/>
        </p:nvPicPr>
        <p:blipFill>
          <a:blip r:embed="rId3"/>
          <a:stretch>
            <a:fillRect/>
          </a:stretch>
        </p:blipFill>
        <p:spPr>
          <a:xfrm>
            <a:off x="3557451" y="4390276"/>
            <a:ext cx="4876800" cy="1524000"/>
          </a:xfrm>
          <a:prstGeom prst="rect">
            <a:avLst/>
          </a:prstGeom>
        </p:spPr>
      </p:pic>
      <p:sp>
        <p:nvSpPr>
          <p:cNvPr id="8" name="Rectangle 7"/>
          <p:cNvSpPr/>
          <p:nvPr/>
        </p:nvSpPr>
        <p:spPr>
          <a:xfrm>
            <a:off x="105833" y="846691"/>
            <a:ext cx="12086167" cy="3123932"/>
          </a:xfrm>
          <a:prstGeom prst="rect">
            <a:avLst/>
          </a:prstGeom>
        </p:spPr>
        <p:txBody>
          <a:bodyPr wrap="square">
            <a:spAutoFit/>
          </a:bodyPr>
          <a:lstStyle/>
          <a:p>
            <a:pPr>
              <a:spcBef>
                <a:spcPts val="600"/>
              </a:spcBef>
            </a:pPr>
            <a:r>
              <a:rPr lang="pt-BR" dirty="0">
                <a:latin typeface="Helvetica Neue"/>
                <a:cs typeface="Helvetica Neue"/>
              </a:rPr>
              <a:t>A lista de embarque (</a:t>
            </a:r>
            <a:r>
              <a:rPr lang="pt-BR" i="1" dirty="0" err="1">
                <a:latin typeface="Helvetica Neue"/>
                <a:cs typeface="Helvetica Neue"/>
              </a:rPr>
              <a:t>packing</a:t>
            </a:r>
            <a:r>
              <a:rPr lang="pt-BR" i="1" dirty="0">
                <a:latin typeface="Helvetica Neue"/>
                <a:cs typeface="Helvetica Neue"/>
              </a:rPr>
              <a:t> </a:t>
            </a:r>
            <a:r>
              <a:rPr lang="pt-BR" i="1" dirty="0" err="1">
                <a:latin typeface="Helvetica Neue"/>
                <a:cs typeface="Helvetica Neue"/>
              </a:rPr>
              <a:t>list</a:t>
            </a:r>
            <a:r>
              <a:rPr lang="pt-BR" i="1" dirty="0">
                <a:latin typeface="Helvetica Neue"/>
                <a:cs typeface="Helvetica Neue"/>
              </a:rPr>
              <a:t> </a:t>
            </a:r>
            <a:r>
              <a:rPr lang="pt-BR" dirty="0">
                <a:latin typeface="Helvetica Neue"/>
                <a:cs typeface="Helvetica Neue"/>
              </a:rPr>
              <a:t>ou romaneio) deve conter :</a:t>
            </a:r>
          </a:p>
          <a:p>
            <a:pPr marL="285750" indent="-285750">
              <a:spcBef>
                <a:spcPts val="600"/>
              </a:spcBef>
              <a:buFont typeface="Arial"/>
              <a:buChar char="•"/>
            </a:pPr>
            <a:r>
              <a:rPr lang="pt-BR" dirty="0">
                <a:latin typeface="Helvetica Neue"/>
                <a:cs typeface="Helvetica Neue"/>
              </a:rPr>
              <a:t>quantidade de volumes;</a:t>
            </a:r>
          </a:p>
          <a:p>
            <a:pPr marL="285750" indent="-285750">
              <a:spcBef>
                <a:spcPts val="600"/>
              </a:spcBef>
              <a:buFont typeface="Arial"/>
              <a:buChar char="•"/>
            </a:pPr>
            <a:r>
              <a:rPr lang="pt-BR" dirty="0">
                <a:latin typeface="Helvetica Neue"/>
                <a:cs typeface="Helvetica Neue"/>
              </a:rPr>
              <a:t>tipo de volume (caixa de papelão de madeira ou de plástico, pallet, contêiner de metal, tambor, fardo, lata, etc.);</a:t>
            </a:r>
          </a:p>
          <a:p>
            <a:pPr marL="285750" indent="-285750">
              <a:spcBef>
                <a:spcPts val="600"/>
              </a:spcBef>
              <a:buFont typeface="Arial"/>
              <a:buChar char="•"/>
            </a:pPr>
            <a:r>
              <a:rPr lang="pt-BR" dirty="0">
                <a:latin typeface="Helvetica Neue"/>
                <a:cs typeface="Helvetica Neue"/>
              </a:rPr>
              <a:t>numeração ou marca dos volumes;</a:t>
            </a:r>
          </a:p>
          <a:p>
            <a:pPr marL="285750" indent="-285750">
              <a:spcBef>
                <a:spcPts val="600"/>
              </a:spcBef>
              <a:buFont typeface="Arial"/>
              <a:buChar char="•"/>
            </a:pPr>
            <a:r>
              <a:rPr lang="pt-BR" dirty="0">
                <a:latin typeface="Helvetica Neue"/>
                <a:cs typeface="Helvetica Neue"/>
              </a:rPr>
              <a:t>peso líquido e bruto de cada volume em quilos; </a:t>
            </a:r>
          </a:p>
          <a:p>
            <a:pPr marL="285750" indent="-285750">
              <a:spcBef>
                <a:spcPts val="600"/>
              </a:spcBef>
              <a:buFont typeface="Arial"/>
              <a:buChar char="•"/>
            </a:pPr>
            <a:r>
              <a:rPr lang="pt-BR" dirty="0">
                <a:latin typeface="Helvetica Neue"/>
                <a:cs typeface="Helvetica Neue"/>
              </a:rPr>
              <a:t>conteúdo de cada volume;</a:t>
            </a:r>
          </a:p>
          <a:p>
            <a:pPr marL="285750" indent="-285750">
              <a:spcBef>
                <a:spcPts val="600"/>
              </a:spcBef>
              <a:buFont typeface="Arial"/>
              <a:buChar char="•"/>
            </a:pPr>
            <a:r>
              <a:rPr lang="pt-BR" dirty="0">
                <a:latin typeface="Helvetica Neue"/>
                <a:cs typeface="Helvetica Neue"/>
              </a:rPr>
              <a:t>dimensões da cada volume;</a:t>
            </a:r>
          </a:p>
          <a:p>
            <a:pPr marL="285750" indent="-285750">
              <a:spcBef>
                <a:spcPts val="600"/>
              </a:spcBef>
              <a:buFont typeface="Arial"/>
              <a:buChar char="•"/>
            </a:pPr>
            <a:r>
              <a:rPr lang="pt-BR" dirty="0">
                <a:latin typeface="Helvetica Neue"/>
                <a:cs typeface="Helvetica Neue"/>
              </a:rPr>
              <a:t>em alguns casos, quando solicitado, alguma informação de números de série dos itens do lote pode ser adicionada.</a:t>
            </a:r>
          </a:p>
        </p:txBody>
      </p:sp>
    </p:spTree>
    <p:extLst>
      <p:ext uri="{BB962C8B-B14F-4D97-AF65-F5344CB8AC3E}">
        <p14:creationId xmlns:p14="http://schemas.microsoft.com/office/powerpoint/2010/main" val="3724179128"/>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Footer Placeholder 3"/>
          <p:cNvSpPr>
            <a:spLocks noGrp="1"/>
          </p:cNvSpPr>
          <p:nvPr>
            <p:ph type="ftr" sz="quarter" idx="4294967295"/>
          </p:nvPr>
        </p:nvSpPr>
        <p:spPr>
          <a:xfrm>
            <a:off x="0" y="6356350"/>
            <a:ext cx="4114800" cy="365125"/>
          </a:xfrm>
        </p:spPr>
        <p:txBody>
          <a:bodyPr/>
          <a:lstStyle/>
          <a:p>
            <a:r>
              <a:rPr lang="pt-BR"/>
              <a:t>Senac São Paulo</a:t>
            </a:r>
            <a:endParaRPr lang="en-US" b="1" dirty="0">
              <a:latin typeface="Helvetica Neue"/>
              <a:cs typeface="Helvetica Neue"/>
            </a:endParaRPr>
          </a:p>
        </p:txBody>
      </p:sp>
      <p:sp>
        <p:nvSpPr>
          <p:cNvPr id="5" name="TextBox 4"/>
          <p:cNvSpPr txBox="1"/>
          <p:nvPr/>
        </p:nvSpPr>
        <p:spPr>
          <a:xfrm>
            <a:off x="104379" y="296955"/>
            <a:ext cx="8020841" cy="461665"/>
          </a:xfrm>
          <a:prstGeom prst="rect">
            <a:avLst/>
          </a:prstGeom>
          <a:noFill/>
        </p:spPr>
        <p:txBody>
          <a:bodyPr wrap="none" rtlCol="0">
            <a:spAutoFit/>
          </a:bodyPr>
          <a:lstStyle/>
          <a:p>
            <a:r>
              <a:rPr lang="pt-BR" sz="2400" b="1" dirty="0">
                <a:solidFill>
                  <a:srgbClr val="000000"/>
                </a:solidFill>
                <a:latin typeface="Helvetica Neue"/>
                <a:cs typeface="Helvetica Neue"/>
              </a:rPr>
              <a:t>Outros documentos utilizados – transporte rodoviário</a:t>
            </a:r>
          </a:p>
        </p:txBody>
      </p:sp>
      <p:sp>
        <p:nvSpPr>
          <p:cNvPr id="6" name="TextBox 5"/>
          <p:cNvSpPr txBox="1"/>
          <p:nvPr/>
        </p:nvSpPr>
        <p:spPr>
          <a:xfrm>
            <a:off x="104379" y="782218"/>
            <a:ext cx="3492192" cy="400110"/>
          </a:xfrm>
          <a:prstGeom prst="rect">
            <a:avLst/>
          </a:prstGeom>
          <a:noFill/>
        </p:spPr>
        <p:txBody>
          <a:bodyPr wrap="none" rtlCol="0">
            <a:spAutoFit/>
          </a:bodyPr>
          <a:lstStyle/>
          <a:p>
            <a:r>
              <a:rPr lang="pt-BR" sz="2000" b="1" dirty="0">
                <a:latin typeface="Helvetica Neue"/>
                <a:cs typeface="Helvetica Neue"/>
              </a:rPr>
              <a:t>Ordem de coleta de cargas</a:t>
            </a:r>
          </a:p>
        </p:txBody>
      </p:sp>
      <p:sp>
        <p:nvSpPr>
          <p:cNvPr id="7" name="TextBox 6"/>
          <p:cNvSpPr txBox="1"/>
          <p:nvPr/>
        </p:nvSpPr>
        <p:spPr>
          <a:xfrm>
            <a:off x="135465" y="1294462"/>
            <a:ext cx="12056535" cy="1708160"/>
          </a:xfrm>
          <a:prstGeom prst="rect">
            <a:avLst/>
          </a:prstGeom>
          <a:noFill/>
        </p:spPr>
        <p:txBody>
          <a:bodyPr wrap="square" rtlCol="0">
            <a:spAutoFit/>
          </a:bodyPr>
          <a:lstStyle/>
          <a:p>
            <a:pPr algn="just">
              <a:spcBef>
                <a:spcPts val="600"/>
              </a:spcBef>
            </a:pPr>
            <a:r>
              <a:rPr lang="pt-BR" sz="2000" dirty="0">
                <a:latin typeface="Helvetica Neue"/>
                <a:cs typeface="Helvetica Neue"/>
              </a:rPr>
              <a:t>A ordem de coleta deverá ser emitida pelo transportador que executar o serviço de coleta de carga, a fim de acompanhar o transporte desde o endereço do remetente até o seu estabelecimento (terminal do transportador). Após recebida a carga, o transportador </a:t>
            </a:r>
            <a:r>
              <a:rPr lang="pt-BR" sz="2000" u="sng" dirty="0">
                <a:latin typeface="Helvetica Neue"/>
                <a:cs typeface="Helvetica Neue"/>
              </a:rPr>
              <a:t>emitirá o conhecimento de transporte desde o endereço do remetente até o local de destino</a:t>
            </a:r>
            <a:r>
              <a:rPr lang="pt-BR" sz="2000" dirty="0">
                <a:latin typeface="Helvetica Neue"/>
                <a:cs typeface="Helvetica Neue"/>
              </a:rPr>
              <a:t>.</a:t>
            </a:r>
          </a:p>
          <a:p>
            <a:pPr algn="just">
              <a:spcBef>
                <a:spcPts val="600"/>
              </a:spcBef>
            </a:pPr>
            <a:r>
              <a:rPr lang="pt-BR" sz="2000" u="sng" dirty="0">
                <a:latin typeface="Helvetica Neue"/>
                <a:cs typeface="Helvetica Neue"/>
              </a:rPr>
              <a:t>O número da ordem de coleta deverá ser indicado no conhecimento de transporte</a:t>
            </a:r>
            <a:r>
              <a:rPr lang="pt-BR" sz="2000" dirty="0">
                <a:latin typeface="Helvetica Neue"/>
                <a:cs typeface="Helvetica Neue"/>
              </a:rPr>
              <a:t> correspondente.</a:t>
            </a:r>
            <a:endParaRPr lang="pt-BR" sz="2000" dirty="0"/>
          </a:p>
        </p:txBody>
      </p:sp>
      <p:grpSp>
        <p:nvGrpSpPr>
          <p:cNvPr id="2" name="Group 1"/>
          <p:cNvGrpSpPr/>
          <p:nvPr/>
        </p:nvGrpSpPr>
        <p:grpSpPr>
          <a:xfrm>
            <a:off x="0" y="3244120"/>
            <a:ext cx="12163697" cy="2605125"/>
            <a:chOff x="-1524001" y="3244119"/>
            <a:chExt cx="12163697" cy="2605125"/>
          </a:xfrm>
        </p:grpSpPr>
        <p:sp>
          <p:nvSpPr>
            <p:cNvPr id="8" name="TextBox 7"/>
            <p:cNvSpPr txBox="1"/>
            <p:nvPr/>
          </p:nvSpPr>
          <p:spPr>
            <a:xfrm>
              <a:off x="-1419622" y="3244119"/>
              <a:ext cx="2537581" cy="400110"/>
            </a:xfrm>
            <a:prstGeom prst="rect">
              <a:avLst/>
            </a:prstGeom>
            <a:noFill/>
          </p:spPr>
          <p:txBody>
            <a:bodyPr wrap="none" rtlCol="0">
              <a:spAutoFit/>
            </a:bodyPr>
            <a:lstStyle/>
            <a:p>
              <a:r>
                <a:rPr lang="pt-BR" sz="2000" b="1" dirty="0">
                  <a:latin typeface="Helvetica Neue"/>
                  <a:cs typeface="Helvetica Neue"/>
                </a:rPr>
                <a:t>Manifesto de carga</a:t>
              </a:r>
            </a:p>
          </p:txBody>
        </p:sp>
        <p:sp>
          <p:nvSpPr>
            <p:cNvPr id="9" name="TextBox 8"/>
            <p:cNvSpPr txBox="1"/>
            <p:nvPr/>
          </p:nvSpPr>
          <p:spPr>
            <a:xfrm>
              <a:off x="-1524001" y="3756363"/>
              <a:ext cx="12163697" cy="2092881"/>
            </a:xfrm>
            <a:prstGeom prst="rect">
              <a:avLst/>
            </a:prstGeom>
            <a:noFill/>
          </p:spPr>
          <p:txBody>
            <a:bodyPr wrap="square" rtlCol="0">
              <a:spAutoFit/>
            </a:bodyPr>
            <a:lstStyle/>
            <a:p>
              <a:pPr algn="just">
                <a:spcBef>
                  <a:spcPts val="600"/>
                </a:spcBef>
              </a:pPr>
              <a:r>
                <a:rPr lang="pt-BR" sz="2000" dirty="0">
                  <a:latin typeface="Helvetica Neue"/>
                  <a:cs typeface="Helvetica Neue"/>
                </a:rPr>
                <a:t>Sumariza os conhecimentos de embarque que compõem a carga daquele veículo de transporte (carga fracionada).</a:t>
              </a:r>
            </a:p>
            <a:p>
              <a:pPr algn="just">
                <a:spcBef>
                  <a:spcPts val="600"/>
                </a:spcBef>
              </a:pPr>
              <a:r>
                <a:rPr lang="pt-BR" sz="2000" dirty="0">
                  <a:latin typeface="Helvetica Neue"/>
                  <a:cs typeface="Helvetica Neue"/>
                </a:rPr>
                <a:t>Entende-se por carga fracionada aquela que corresponda a mais de um conhecimento de transporte rodoviário de cargas.</a:t>
              </a:r>
            </a:p>
            <a:p>
              <a:pPr algn="just">
                <a:spcBef>
                  <a:spcPts val="600"/>
                </a:spcBef>
              </a:pPr>
              <a:r>
                <a:rPr lang="pt-BR" sz="2000" dirty="0">
                  <a:latin typeface="Helvetica Neue"/>
                  <a:cs typeface="Helvetica Neue"/>
                </a:rPr>
                <a:t>A transportadora poderá emitir antes do início da prestação do serviço, em relação a cada veículo, o manifesto de cargas, no caso de transporte de carga fracionada.</a:t>
              </a:r>
            </a:p>
          </p:txBody>
        </p:sp>
      </p:grpSp>
    </p:spTree>
    <p:extLst>
      <p:ext uri="{BB962C8B-B14F-4D97-AF65-F5344CB8AC3E}">
        <p14:creationId xmlns:p14="http://schemas.microsoft.com/office/powerpoint/2010/main" val="2491451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 name="TextBox 13"/>
          <p:cNvSpPr txBox="1"/>
          <p:nvPr/>
        </p:nvSpPr>
        <p:spPr>
          <a:xfrm>
            <a:off x="2013369" y="467268"/>
            <a:ext cx="7312979" cy="461665"/>
          </a:xfrm>
          <a:prstGeom prst="rect">
            <a:avLst/>
          </a:prstGeom>
          <a:noFill/>
        </p:spPr>
        <p:txBody>
          <a:bodyPr wrap="none" rtlCol="0">
            <a:spAutoFit/>
          </a:bodyPr>
          <a:lstStyle/>
          <a:p>
            <a:r>
              <a:rPr lang="pt-BR" sz="2400" b="1" dirty="0">
                <a:solidFill>
                  <a:srgbClr val="000000"/>
                </a:solidFill>
                <a:latin typeface="Helvetica Neue"/>
                <a:cs typeface="Helvetica Neue"/>
              </a:rPr>
              <a:t>Exemplo de um trâmite de documentos no TRC</a:t>
            </a:r>
            <a:r>
              <a:rPr lang="pt-BR" sz="2400" b="1" baseline="30000" dirty="0">
                <a:solidFill>
                  <a:srgbClr val="000000"/>
                </a:solidFill>
                <a:latin typeface="Helvetica Neue"/>
                <a:cs typeface="Helvetica Neue"/>
              </a:rPr>
              <a:t>1</a:t>
            </a:r>
          </a:p>
        </p:txBody>
      </p:sp>
      <p:pic>
        <p:nvPicPr>
          <p:cNvPr id="16" name="Picture 15" descr="ThinkstockPhotos-100042600 (1).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75608" y="1209609"/>
            <a:ext cx="1689099" cy="1689099"/>
          </a:xfrm>
          <a:prstGeom prst="rect">
            <a:avLst/>
          </a:prstGeom>
        </p:spPr>
      </p:pic>
      <p:pic>
        <p:nvPicPr>
          <p:cNvPr id="17" name="Picture 16" descr="ThinkstockPhotos-153883863 (2).jp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60920" y="1097378"/>
            <a:ext cx="1704731" cy="1070088"/>
          </a:xfrm>
          <a:prstGeom prst="rect">
            <a:avLst/>
          </a:prstGeom>
        </p:spPr>
      </p:pic>
      <p:pic>
        <p:nvPicPr>
          <p:cNvPr id="18" name="Picture 17" descr="ThinkstockPhotos-161657786 (1).jp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07579" y="4641385"/>
            <a:ext cx="1205706" cy="1099543"/>
          </a:xfrm>
          <a:prstGeom prst="rect">
            <a:avLst/>
          </a:prstGeom>
        </p:spPr>
      </p:pic>
      <p:sp>
        <p:nvSpPr>
          <p:cNvPr id="22" name="TextBox 21"/>
          <p:cNvSpPr txBox="1"/>
          <p:nvPr/>
        </p:nvSpPr>
        <p:spPr>
          <a:xfrm>
            <a:off x="2616209" y="5740927"/>
            <a:ext cx="999229" cy="369332"/>
          </a:xfrm>
          <a:prstGeom prst="rect">
            <a:avLst/>
          </a:prstGeom>
          <a:noFill/>
        </p:spPr>
        <p:txBody>
          <a:bodyPr wrap="none" rtlCol="0">
            <a:spAutoFit/>
          </a:bodyPr>
          <a:lstStyle/>
          <a:p>
            <a:r>
              <a:rPr lang="pt-BR" dirty="0"/>
              <a:t>Empresa</a:t>
            </a:r>
          </a:p>
        </p:txBody>
      </p:sp>
      <p:sp>
        <p:nvSpPr>
          <p:cNvPr id="23" name="Down Arrow 22"/>
          <p:cNvSpPr/>
          <p:nvPr/>
        </p:nvSpPr>
        <p:spPr>
          <a:xfrm>
            <a:off x="2944486" y="3228618"/>
            <a:ext cx="279400" cy="1199449"/>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24" name="Down Arrow 23"/>
          <p:cNvSpPr/>
          <p:nvPr/>
        </p:nvSpPr>
        <p:spPr>
          <a:xfrm rot="16200000">
            <a:off x="6231476" y="601132"/>
            <a:ext cx="279400" cy="2853268"/>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grpSp>
        <p:nvGrpSpPr>
          <p:cNvPr id="27" name="Group 26"/>
          <p:cNvGrpSpPr/>
          <p:nvPr/>
        </p:nvGrpSpPr>
        <p:grpSpPr>
          <a:xfrm>
            <a:off x="2898977" y="2255236"/>
            <a:ext cx="1207364" cy="919574"/>
            <a:chOff x="1324169" y="2444615"/>
            <a:chExt cx="1412236" cy="1124840"/>
          </a:xfrm>
        </p:grpSpPr>
        <p:pic>
          <p:nvPicPr>
            <p:cNvPr id="19" name="Picture 18" descr="ThinkstockPhotos-176984211 (1).jpg"/>
            <p:cNvPicPr>
              <a:picLocks noChangeAspect="1"/>
            </p:cNvPicPr>
            <p:nvPr/>
          </p:nvPicPr>
          <p:blipFill>
            <a:blip r:embed="rId6" cstate="print">
              <a:alphaModFix/>
              <a:extLst>
                <a:ext uri="{BEBA8EAE-BF5A-486C-A8C5-ECC9F3942E4B}">
                  <a14:imgProps xmlns:a14="http://schemas.microsoft.com/office/drawing/2010/main">
                    <a14:imgLayer r:embed="rId7">
                      <a14:imgEffect>
                        <a14:saturation sat="330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1324169" y="2500959"/>
              <a:ext cx="733394" cy="586081"/>
            </a:xfrm>
            <a:prstGeom prst="rect">
              <a:avLst/>
            </a:prstGeom>
          </p:spPr>
        </p:pic>
        <p:pic>
          <p:nvPicPr>
            <p:cNvPr id="25" name="Picture 24" descr="ThinkstockPhotos-176984211 (1).jpg"/>
            <p:cNvPicPr>
              <a:picLocks noChangeAspect="1"/>
            </p:cNvPicPr>
            <p:nvPr/>
          </p:nvPicPr>
          <p:blipFill>
            <a:blip r:embed="rId6" cstate="print">
              <a:alphaModFix/>
              <a:extLst>
                <a:ext uri="{BEBA8EAE-BF5A-486C-A8C5-ECC9F3942E4B}">
                  <a14:imgProps xmlns:a14="http://schemas.microsoft.com/office/drawing/2010/main">
                    <a14:imgLayer r:embed="rId7">
                      <a14:imgEffect>
                        <a14:saturation sat="330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1704210" y="2983374"/>
              <a:ext cx="733394" cy="586081"/>
            </a:xfrm>
            <a:prstGeom prst="rect">
              <a:avLst/>
            </a:prstGeom>
          </p:spPr>
        </p:pic>
        <p:pic>
          <p:nvPicPr>
            <p:cNvPr id="26" name="Picture 25" descr="ThinkstockPhotos-176984211 (1).jpg"/>
            <p:cNvPicPr>
              <a:picLocks noChangeAspect="1"/>
            </p:cNvPicPr>
            <p:nvPr/>
          </p:nvPicPr>
          <p:blipFill>
            <a:blip r:embed="rId6" cstate="print">
              <a:alphaModFix/>
              <a:extLst>
                <a:ext uri="{BEBA8EAE-BF5A-486C-A8C5-ECC9F3942E4B}">
                  <a14:imgProps xmlns:a14="http://schemas.microsoft.com/office/drawing/2010/main">
                    <a14:imgLayer r:embed="rId7">
                      <a14:imgEffect>
                        <a14:saturation sat="330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2003011" y="2444615"/>
              <a:ext cx="733394" cy="586081"/>
            </a:xfrm>
            <a:prstGeom prst="rect">
              <a:avLst/>
            </a:prstGeom>
          </p:spPr>
        </p:pic>
      </p:grpSp>
      <p:sp>
        <p:nvSpPr>
          <p:cNvPr id="28" name="Down Arrow 27"/>
          <p:cNvSpPr/>
          <p:nvPr/>
        </p:nvSpPr>
        <p:spPr>
          <a:xfrm flipV="1">
            <a:off x="3196514" y="3228616"/>
            <a:ext cx="279400" cy="1199451"/>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pic>
        <p:nvPicPr>
          <p:cNvPr id="29" name="Picture 28" descr="ThinkstockPhotos-176984211 (1).jpg"/>
          <p:cNvPicPr>
            <a:picLocks noChangeAspect="1"/>
          </p:cNvPicPr>
          <p:nvPr/>
        </p:nvPicPr>
        <p:blipFill>
          <a:blip r:embed="rId6" cstate="print">
            <a:alphaModFix/>
            <a:extLst>
              <a:ext uri="{BEBA8EAE-BF5A-486C-A8C5-ECC9F3942E4B}">
                <a14:imgProps xmlns:a14="http://schemas.microsoft.com/office/drawing/2010/main">
                  <a14:imgLayer r:embed="rId7">
                    <a14:imgEffect>
                      <a14:saturation sat="330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2302708" y="4428066"/>
            <a:ext cx="627001" cy="479130"/>
          </a:xfrm>
          <a:prstGeom prst="rect">
            <a:avLst/>
          </a:prstGeom>
        </p:spPr>
      </p:pic>
      <p:sp>
        <p:nvSpPr>
          <p:cNvPr id="30" name="TextBox 29"/>
          <p:cNvSpPr txBox="1"/>
          <p:nvPr/>
        </p:nvSpPr>
        <p:spPr>
          <a:xfrm>
            <a:off x="1998219" y="3471333"/>
            <a:ext cx="1049705" cy="646331"/>
          </a:xfrm>
          <a:prstGeom prst="rect">
            <a:avLst/>
          </a:prstGeom>
          <a:noFill/>
        </p:spPr>
        <p:txBody>
          <a:bodyPr wrap="square" rtlCol="0">
            <a:spAutoFit/>
          </a:bodyPr>
          <a:lstStyle/>
          <a:p>
            <a:pPr algn="ctr"/>
            <a:r>
              <a:rPr lang="pt-BR" dirty="0"/>
              <a:t>Ordem de coleta</a:t>
            </a:r>
          </a:p>
        </p:txBody>
      </p:sp>
      <p:sp>
        <p:nvSpPr>
          <p:cNvPr id="31" name="TextBox 30"/>
          <p:cNvSpPr txBox="1"/>
          <p:nvPr/>
        </p:nvSpPr>
        <p:spPr>
          <a:xfrm>
            <a:off x="4965211" y="1209609"/>
            <a:ext cx="2886945" cy="646331"/>
          </a:xfrm>
          <a:prstGeom prst="rect">
            <a:avLst/>
          </a:prstGeom>
          <a:noFill/>
        </p:spPr>
        <p:txBody>
          <a:bodyPr wrap="none" rtlCol="0">
            <a:spAutoFit/>
          </a:bodyPr>
          <a:lstStyle/>
          <a:p>
            <a:pPr algn="ctr"/>
            <a:r>
              <a:rPr lang="pt-BR" dirty="0"/>
              <a:t>Conhecimento de transporte</a:t>
            </a:r>
          </a:p>
          <a:p>
            <a:pPr algn="ctr"/>
            <a:r>
              <a:rPr lang="pt-BR" dirty="0"/>
              <a:t>(CT-e)</a:t>
            </a:r>
          </a:p>
        </p:txBody>
      </p:sp>
      <p:sp>
        <p:nvSpPr>
          <p:cNvPr id="32" name="Down Arrow 31"/>
          <p:cNvSpPr/>
          <p:nvPr/>
        </p:nvSpPr>
        <p:spPr>
          <a:xfrm rot="14105980">
            <a:off x="5881201" y="1515002"/>
            <a:ext cx="279400" cy="5075021"/>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33" name="TextBox 32"/>
          <p:cNvSpPr txBox="1"/>
          <p:nvPr/>
        </p:nvSpPr>
        <p:spPr>
          <a:xfrm>
            <a:off x="6654807" y="3928534"/>
            <a:ext cx="2360518" cy="646331"/>
          </a:xfrm>
          <a:prstGeom prst="rect">
            <a:avLst/>
          </a:prstGeom>
          <a:noFill/>
        </p:spPr>
        <p:txBody>
          <a:bodyPr wrap="none" rtlCol="0">
            <a:spAutoFit/>
          </a:bodyPr>
          <a:lstStyle/>
          <a:p>
            <a:r>
              <a:rPr lang="pt-BR" dirty="0"/>
              <a:t>Nota Fiscal (NF-e)</a:t>
            </a:r>
          </a:p>
          <a:p>
            <a:r>
              <a:rPr lang="pt-BR" dirty="0"/>
              <a:t>Romaneio (</a:t>
            </a:r>
            <a:r>
              <a:rPr lang="pt-BR" i="1" dirty="0" err="1"/>
              <a:t>Packing</a:t>
            </a:r>
            <a:r>
              <a:rPr lang="pt-BR" i="1" dirty="0"/>
              <a:t> </a:t>
            </a:r>
            <a:r>
              <a:rPr lang="pt-BR" i="1" dirty="0" err="1"/>
              <a:t>list</a:t>
            </a:r>
            <a:r>
              <a:rPr lang="pt-BR" dirty="0"/>
              <a:t>)</a:t>
            </a:r>
          </a:p>
        </p:txBody>
      </p:sp>
      <p:sp>
        <p:nvSpPr>
          <p:cNvPr id="34" name="TextBox 33"/>
          <p:cNvSpPr txBox="1"/>
          <p:nvPr/>
        </p:nvSpPr>
        <p:spPr>
          <a:xfrm>
            <a:off x="3713285" y="3598334"/>
            <a:ext cx="1957274" cy="646331"/>
          </a:xfrm>
          <a:prstGeom prst="rect">
            <a:avLst/>
          </a:prstGeom>
          <a:noFill/>
        </p:spPr>
        <p:txBody>
          <a:bodyPr wrap="none" rtlCol="0">
            <a:spAutoFit/>
          </a:bodyPr>
          <a:lstStyle/>
          <a:p>
            <a:r>
              <a:rPr lang="pt-BR" dirty="0"/>
              <a:t>Nota Fiscal (</a:t>
            </a:r>
            <a:r>
              <a:rPr lang="pt-BR" dirty="0" err="1"/>
              <a:t>Danfe</a:t>
            </a:r>
            <a:r>
              <a:rPr lang="pt-BR" dirty="0"/>
              <a:t>)</a:t>
            </a:r>
          </a:p>
          <a:p>
            <a:r>
              <a:rPr lang="pt-BR" dirty="0"/>
              <a:t>Romaneio</a:t>
            </a:r>
          </a:p>
        </p:txBody>
      </p:sp>
      <p:sp>
        <p:nvSpPr>
          <p:cNvPr id="3" name="TextBox 2"/>
          <p:cNvSpPr txBox="1"/>
          <p:nvPr/>
        </p:nvSpPr>
        <p:spPr>
          <a:xfrm>
            <a:off x="8965533" y="2872545"/>
            <a:ext cx="841997" cy="369332"/>
          </a:xfrm>
          <a:prstGeom prst="rect">
            <a:avLst/>
          </a:prstGeom>
          <a:noFill/>
        </p:spPr>
        <p:txBody>
          <a:bodyPr wrap="none" rtlCol="0">
            <a:spAutoFit/>
          </a:bodyPr>
          <a:lstStyle/>
          <a:p>
            <a:r>
              <a:rPr lang="pt-BR" dirty="0"/>
              <a:t>Cliente</a:t>
            </a:r>
          </a:p>
        </p:txBody>
      </p:sp>
      <p:sp>
        <p:nvSpPr>
          <p:cNvPr id="35" name="TextBox 34"/>
          <p:cNvSpPr txBox="1"/>
          <p:nvPr/>
        </p:nvSpPr>
        <p:spPr>
          <a:xfrm>
            <a:off x="4303514" y="2210043"/>
            <a:ext cx="1282056" cy="646331"/>
          </a:xfrm>
          <a:prstGeom prst="rect">
            <a:avLst/>
          </a:prstGeom>
          <a:noFill/>
        </p:spPr>
        <p:txBody>
          <a:bodyPr wrap="square" rtlCol="0">
            <a:spAutoFit/>
          </a:bodyPr>
          <a:lstStyle/>
          <a:p>
            <a:r>
              <a:rPr lang="pt-BR" dirty="0"/>
              <a:t>Manifesto de carga</a:t>
            </a:r>
          </a:p>
        </p:txBody>
      </p:sp>
      <p:sp>
        <p:nvSpPr>
          <p:cNvPr id="2" name="TextBox 1"/>
          <p:cNvSpPr txBox="1"/>
          <p:nvPr/>
        </p:nvSpPr>
        <p:spPr>
          <a:xfrm>
            <a:off x="2013369" y="6177995"/>
            <a:ext cx="2544671" cy="276999"/>
          </a:xfrm>
          <a:prstGeom prst="rect">
            <a:avLst/>
          </a:prstGeom>
          <a:noFill/>
        </p:spPr>
        <p:txBody>
          <a:bodyPr wrap="none" rtlCol="0">
            <a:spAutoFit/>
          </a:bodyPr>
          <a:lstStyle/>
          <a:p>
            <a:r>
              <a:rPr lang="pt-BR" sz="1200" baseline="30000" dirty="0"/>
              <a:t>1 </a:t>
            </a:r>
            <a:r>
              <a:rPr lang="pt-BR" sz="1200" dirty="0"/>
              <a:t>TRC: transporte rodoviário de cargas.</a:t>
            </a:r>
          </a:p>
        </p:txBody>
      </p:sp>
    </p:spTree>
    <p:extLst>
      <p:ext uri="{BB962C8B-B14F-4D97-AF65-F5344CB8AC3E}">
        <p14:creationId xmlns:p14="http://schemas.microsoft.com/office/powerpoint/2010/main" val="1873244531"/>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CaixaDeTexto 1"/>
          <p:cNvSpPr txBox="1"/>
          <p:nvPr/>
        </p:nvSpPr>
        <p:spPr>
          <a:xfrm>
            <a:off x="0" y="600891"/>
            <a:ext cx="12085621" cy="5016758"/>
          </a:xfrm>
          <a:prstGeom prst="rect">
            <a:avLst/>
          </a:prstGeom>
          <a:noFill/>
        </p:spPr>
        <p:txBody>
          <a:bodyPr wrap="square" rtlCol="0">
            <a:spAutoFit/>
          </a:bodyPr>
          <a:lstStyle/>
          <a:p>
            <a:pPr algn="just"/>
            <a:r>
              <a:rPr lang="pt-BR" sz="2000" b="1" dirty="0">
                <a:solidFill>
                  <a:srgbClr val="000000"/>
                </a:solidFill>
                <a:latin typeface="Helvetica Neue"/>
                <a:cs typeface="Helvetica Neue"/>
              </a:rPr>
              <a:t>Vale-pedágio obrigatório</a:t>
            </a:r>
          </a:p>
          <a:p>
            <a:pPr algn="just"/>
            <a:endParaRPr lang="pt-BR" sz="2000" b="1" dirty="0">
              <a:latin typeface="Helvetica Neue"/>
              <a:cs typeface="Helvetica Neue"/>
            </a:endParaRPr>
          </a:p>
          <a:p>
            <a:pPr algn="just"/>
            <a:r>
              <a:rPr lang="pt-BR" sz="2000" dirty="0">
                <a:latin typeface="Helvetica Neue"/>
                <a:cs typeface="Helvetica Neue"/>
              </a:rPr>
              <a:t>Instituído pela </a:t>
            </a:r>
            <a:r>
              <a:rPr lang="pt-BR" sz="2000" b="1" dirty="0">
                <a:latin typeface="Helvetica Neue"/>
                <a:cs typeface="Helvetica Neue"/>
              </a:rPr>
              <a:t>Lei nº 10.209</a:t>
            </a:r>
            <a:r>
              <a:rPr lang="pt-BR" sz="2000" dirty="0">
                <a:latin typeface="Helvetica Neue"/>
                <a:cs typeface="Helvetica Neue"/>
              </a:rPr>
              <a:t>, de 23 de março de 2001, o vale-pedágio obrigatório foi criado com o principal objetivo de atender a uma das principais reivindicações dos </a:t>
            </a:r>
            <a:r>
              <a:rPr lang="pt-BR" sz="2000" b="1" dirty="0">
                <a:latin typeface="Helvetica Neue"/>
                <a:cs typeface="Helvetica Neue"/>
              </a:rPr>
              <a:t>caminhoneiros autônomos</a:t>
            </a:r>
            <a:r>
              <a:rPr lang="pt-BR" sz="2000" dirty="0">
                <a:latin typeface="Helvetica Neue"/>
                <a:cs typeface="Helvetica Neue"/>
              </a:rPr>
              <a:t>: </a:t>
            </a:r>
            <a:r>
              <a:rPr lang="pt-BR" sz="2000" u="sng" dirty="0">
                <a:latin typeface="Helvetica Neue"/>
                <a:cs typeface="Helvetica Neue"/>
              </a:rPr>
              <a:t>a desoneração do transportador do pagamento do pedágio</a:t>
            </a:r>
            <a:r>
              <a:rPr lang="pt-BR" sz="2000" dirty="0">
                <a:latin typeface="Helvetica Neue"/>
                <a:cs typeface="Helvetica Neue"/>
              </a:rPr>
              <a:t>.</a:t>
            </a:r>
          </a:p>
          <a:p>
            <a:pPr algn="just"/>
            <a:endParaRPr lang="pt-BR" sz="2000" dirty="0">
              <a:latin typeface="Helvetica Neue"/>
              <a:cs typeface="Helvetica Neue"/>
            </a:endParaRPr>
          </a:p>
          <a:p>
            <a:pPr algn="just"/>
            <a:r>
              <a:rPr lang="pt-BR" sz="2000" dirty="0">
                <a:latin typeface="Helvetica Neue"/>
                <a:cs typeface="Helvetica Neue"/>
              </a:rPr>
              <a:t>Por este dispositivo legal, </a:t>
            </a:r>
            <a:r>
              <a:rPr lang="pt-BR" sz="2000" b="1" dirty="0">
                <a:latin typeface="Helvetica Neue"/>
                <a:cs typeface="Helvetica Neue"/>
              </a:rPr>
              <a:t>os embarcadores ou equiparados, passaram a ser responsáveis pelo pagamento antecipado do pedágio e fornecimento do respectivo comprovante ao transportador rodoviário</a:t>
            </a:r>
            <a:r>
              <a:rPr lang="pt-BR" sz="2000" dirty="0">
                <a:latin typeface="Helvetica Neue"/>
                <a:cs typeface="Helvetica Neue"/>
              </a:rPr>
              <a:t>.</a:t>
            </a:r>
          </a:p>
          <a:p>
            <a:pPr algn="just"/>
            <a:endParaRPr lang="pt-BR" sz="2000" dirty="0">
              <a:latin typeface="Helvetica Neue"/>
              <a:cs typeface="Helvetica Neue"/>
            </a:endParaRPr>
          </a:p>
          <a:p>
            <a:pPr algn="just"/>
            <a:r>
              <a:rPr lang="pt-BR" sz="2000" b="1" dirty="0">
                <a:latin typeface="Helvetica Neue"/>
                <a:cs typeface="Helvetica Neue"/>
              </a:rPr>
              <a:t>O valor do vale-pedágio obrigatório </a:t>
            </a:r>
            <a:r>
              <a:rPr lang="pt-BR" sz="2000" dirty="0">
                <a:latin typeface="Helvetica Neue"/>
                <a:cs typeface="Helvetica Neue"/>
              </a:rPr>
              <a:t>e os dados do modelo próprio, necessários à sua identificação, deverão ser destacados em campo específico no documento comprobatório de embarque.</a:t>
            </a:r>
          </a:p>
          <a:p>
            <a:pPr marL="285750" indent="-285750" algn="just">
              <a:buFontTx/>
              <a:buChar char="•"/>
            </a:pPr>
            <a:endParaRPr lang="pt-BR" sz="2000" dirty="0">
              <a:latin typeface="Helvetica Neue"/>
              <a:cs typeface="Helvetica Neue"/>
            </a:endParaRPr>
          </a:p>
          <a:p>
            <a:pPr algn="just"/>
            <a:r>
              <a:rPr lang="pt-BR" sz="2000" dirty="0">
                <a:latin typeface="Helvetica Neue"/>
                <a:cs typeface="Helvetica Neue"/>
              </a:rPr>
              <a:t>Com esta alteração da legislação, elimina-se a possibilidade de embutir o custo do pedágio no valor do frete contratado, prática que era utilizada com frequência, enquanto o pagamento do pedágio era feito em espécie, fazendo com que o seu custo recaísse diretamente sobre o transportador rodoviário de carga.</a:t>
            </a:r>
            <a:endParaRPr lang="pt-BR" sz="2000" dirty="0">
              <a:latin typeface="Times New Roman" pitchFamily="18" charset="0"/>
              <a:cs typeface="Times New Roman" pitchFamily="18" charset="0"/>
            </a:endParaRPr>
          </a:p>
        </p:txBody>
      </p:sp>
    </p:spTree>
    <p:extLst>
      <p:ext uri="{BB962C8B-B14F-4D97-AF65-F5344CB8AC3E}">
        <p14:creationId xmlns:p14="http://schemas.microsoft.com/office/powerpoint/2010/main" val="2837805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wipe(down)">
                                      <p:cBhvr>
                                        <p:cTn id="7" dur="500"/>
                                        <p:tgtEl>
                                          <p:spTgt spid="5">
                                            <p:txEl>
                                              <p:pRg st="2" end="2"/>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5">
                                            <p:txEl>
                                              <p:pRg st="4" end="4"/>
                                            </p:txEl>
                                          </p:spTgt>
                                        </p:tgtEl>
                                        <p:attrNameLst>
                                          <p:attrName>style.visibility</p:attrName>
                                        </p:attrNameLst>
                                      </p:cBhvr>
                                      <p:to>
                                        <p:strVal val="visible"/>
                                      </p:to>
                                    </p:set>
                                    <p:animEffect transition="in" filter="wipe(down)">
                                      <p:cBhvr>
                                        <p:cTn id="10" dur="500"/>
                                        <p:tgtEl>
                                          <p:spTgt spid="5">
                                            <p:txEl>
                                              <p:pRg st="4" end="4"/>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5">
                                            <p:txEl>
                                              <p:pRg st="6" end="6"/>
                                            </p:txEl>
                                          </p:spTgt>
                                        </p:tgtEl>
                                        <p:attrNameLst>
                                          <p:attrName>style.visibility</p:attrName>
                                        </p:attrNameLst>
                                      </p:cBhvr>
                                      <p:to>
                                        <p:strVal val="visible"/>
                                      </p:to>
                                    </p:set>
                                    <p:animEffect transition="in" filter="wipe(down)">
                                      <p:cBhvr>
                                        <p:cTn id="13" dur="500"/>
                                        <p:tgtEl>
                                          <p:spTgt spid="5">
                                            <p:txEl>
                                              <p:pRg st="6" end="6"/>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5">
                                            <p:txEl>
                                              <p:pRg st="8" end="8"/>
                                            </p:txEl>
                                          </p:spTgt>
                                        </p:tgtEl>
                                        <p:attrNameLst>
                                          <p:attrName>style.visibility</p:attrName>
                                        </p:attrNameLst>
                                      </p:cBhvr>
                                      <p:to>
                                        <p:strVal val="visible"/>
                                      </p:to>
                                    </p:set>
                                    <p:animEffect transition="in" filter="wipe(down)">
                                      <p:cBhvr>
                                        <p:cTn id="16" dur="500"/>
                                        <p:tgtEl>
                                          <p:spTgt spid="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441325"/>
            <a:ext cx="7854950" cy="571500"/>
          </a:xfrm>
        </p:spPr>
        <p:txBody>
          <a:bodyPr>
            <a:normAutofit/>
          </a:bodyPr>
          <a:lstStyle/>
          <a:p>
            <a:r>
              <a:rPr lang="pt-BR" sz="2800" dirty="0">
                <a:solidFill>
                  <a:srgbClr val="000000"/>
                </a:solidFill>
              </a:rPr>
              <a:t>Requerimentos do transporte de cargas perigosas</a:t>
            </a:r>
          </a:p>
        </p:txBody>
      </p:sp>
      <p:sp>
        <p:nvSpPr>
          <p:cNvPr id="3" name="TextBox 2"/>
          <p:cNvSpPr txBox="1"/>
          <p:nvPr/>
        </p:nvSpPr>
        <p:spPr>
          <a:xfrm>
            <a:off x="132434" y="905812"/>
            <a:ext cx="12059566" cy="1015663"/>
          </a:xfrm>
          <a:prstGeom prst="rect">
            <a:avLst/>
          </a:prstGeom>
          <a:noFill/>
        </p:spPr>
        <p:txBody>
          <a:bodyPr wrap="square" rtlCol="0">
            <a:spAutoFit/>
          </a:bodyPr>
          <a:lstStyle/>
          <a:p>
            <a:pPr algn="just"/>
            <a:r>
              <a:rPr lang="pt-BR" sz="2000" dirty="0">
                <a:latin typeface="Helvetica Neue"/>
                <a:cs typeface="Helvetica Neue"/>
              </a:rPr>
              <a:t>A movimentação de produtos perigosos (</a:t>
            </a:r>
            <a:r>
              <a:rPr lang="pt-BR" sz="2000" b="1" dirty="0">
                <a:latin typeface="Helvetica Neue"/>
                <a:cs typeface="Helvetica Neue"/>
              </a:rPr>
              <a:t>MOPP</a:t>
            </a:r>
            <a:r>
              <a:rPr lang="pt-BR" sz="2000" dirty="0">
                <a:latin typeface="Helvetica Neue"/>
                <a:cs typeface="Helvetica Neue"/>
              </a:rPr>
              <a:t>) requer uma identificação em relação à classe e ao nível de risco; o seu transporte requer equipamentos, documentações e sinalizações apropriadas, além de que o motorista deve estar habilitado no curso de MOPP.</a:t>
            </a:r>
          </a:p>
        </p:txBody>
      </p:sp>
      <p:sp>
        <p:nvSpPr>
          <p:cNvPr id="6" name="Rectangle 5"/>
          <p:cNvSpPr/>
          <p:nvPr/>
        </p:nvSpPr>
        <p:spPr>
          <a:xfrm>
            <a:off x="132434" y="1829142"/>
            <a:ext cx="12059566" cy="1631216"/>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algn="just"/>
            <a:r>
              <a:rPr lang="pt-BR" sz="2000" dirty="0">
                <a:latin typeface="Helvetica Neue"/>
                <a:cs typeface="Helvetica Neue"/>
              </a:rPr>
              <a:t>Os </a:t>
            </a:r>
            <a:r>
              <a:rPr lang="pt-BR" sz="2000" b="1" dirty="0">
                <a:latin typeface="Helvetica Neue"/>
                <a:cs typeface="Helvetica Neue"/>
              </a:rPr>
              <a:t>produtos perigosos são classificados em classes </a:t>
            </a:r>
            <a:r>
              <a:rPr lang="pt-BR" sz="2000" dirty="0">
                <a:latin typeface="Helvetica Neue"/>
                <a:cs typeface="Helvetica Neue"/>
              </a:rPr>
              <a:t>(classe 1 a classe 9): produtos químicos, explosivos, gases, líquidos inflamáveis, produtos corrosivos, radiativos, etc.</a:t>
            </a:r>
          </a:p>
          <a:p>
            <a:pPr algn="just"/>
            <a:r>
              <a:rPr lang="pt-BR" sz="2000" dirty="0">
                <a:latin typeface="Helvetica Neue"/>
                <a:cs typeface="Helvetica Neue"/>
              </a:rPr>
              <a:t>Com relação ao </a:t>
            </a:r>
            <a:r>
              <a:rPr lang="pt-BR" sz="2000" b="1" dirty="0">
                <a:latin typeface="Helvetica Neue"/>
                <a:cs typeface="Helvetica Neue"/>
              </a:rPr>
              <a:t>tipo de embalagem dos produtos </a:t>
            </a:r>
            <a:r>
              <a:rPr lang="pt-BR" sz="2000" dirty="0">
                <a:latin typeface="Helvetica Neue"/>
                <a:cs typeface="Helvetica Neue"/>
              </a:rPr>
              <a:t>das classes acima, temos os grupos I, II e III, respectivamente de alto e de baixo risco, que requerem cuidados com relação à temperatura máxima para evitar a sua combustão.</a:t>
            </a:r>
          </a:p>
        </p:txBody>
      </p:sp>
      <p:sp>
        <p:nvSpPr>
          <p:cNvPr id="7" name="TextBox 6"/>
          <p:cNvSpPr txBox="1"/>
          <p:nvPr/>
        </p:nvSpPr>
        <p:spPr>
          <a:xfrm>
            <a:off x="122350" y="3896644"/>
            <a:ext cx="10780781" cy="2416046"/>
          </a:xfrm>
          <a:prstGeom prst="rect">
            <a:avLst/>
          </a:prstGeom>
          <a:noFill/>
        </p:spPr>
        <p:txBody>
          <a:bodyPr wrap="square" rtlCol="0">
            <a:spAutoFit/>
          </a:bodyPr>
          <a:lstStyle/>
          <a:p>
            <a:pPr marL="285750" indent="-285750">
              <a:spcBef>
                <a:spcPts val="600"/>
              </a:spcBef>
              <a:buFont typeface="Arial"/>
              <a:buChar char="•"/>
            </a:pPr>
            <a:r>
              <a:rPr lang="pt-BR" dirty="0">
                <a:latin typeface="Helvetica Neue"/>
                <a:cs typeface="Helvetica Neue"/>
              </a:rPr>
              <a:t>Adequação do veículo e outros equipamentos de segurança (inclui EPI) à classe do produto transportado.</a:t>
            </a:r>
          </a:p>
          <a:p>
            <a:pPr marL="285750" indent="-285750">
              <a:spcBef>
                <a:spcPts val="600"/>
              </a:spcBef>
              <a:buFont typeface="Arial"/>
              <a:buChar char="•"/>
            </a:pPr>
            <a:r>
              <a:rPr lang="pt-BR" dirty="0">
                <a:latin typeface="Helvetica Neue"/>
                <a:cs typeface="Helvetica Neue"/>
              </a:rPr>
              <a:t>Sinalização do veículo e da carga (Resolução 420/04 ANTT e NBR7500)</a:t>
            </a:r>
          </a:p>
          <a:p>
            <a:pPr marL="742950" lvl="1" indent="-285750">
              <a:spcBef>
                <a:spcPts val="600"/>
              </a:spcBef>
              <a:buFont typeface="Arial"/>
              <a:buChar char="•"/>
            </a:pPr>
            <a:r>
              <a:rPr lang="pt-BR" dirty="0">
                <a:latin typeface="Helvetica Neue"/>
                <a:cs typeface="Helvetica Neue"/>
              </a:rPr>
              <a:t>Sinalização de transporte de produtos perigosos – </a:t>
            </a:r>
            <a:r>
              <a:rPr lang="pt-BR" b="1" dirty="0">
                <a:latin typeface="Helvetica Neue"/>
                <a:cs typeface="Helvetica Neue"/>
              </a:rPr>
              <a:t>painel de segurança</a:t>
            </a:r>
            <a:r>
              <a:rPr lang="pt-BR" dirty="0">
                <a:latin typeface="Helvetica Neue"/>
                <a:cs typeface="Helvetica Neue"/>
              </a:rPr>
              <a:t>. </a:t>
            </a:r>
          </a:p>
          <a:p>
            <a:pPr marL="742950" lvl="1" indent="-285750">
              <a:spcBef>
                <a:spcPts val="600"/>
              </a:spcBef>
              <a:buFont typeface="Arial"/>
              <a:buChar char="•"/>
            </a:pPr>
            <a:r>
              <a:rPr lang="pt-BR" b="1" dirty="0">
                <a:latin typeface="Helvetica Neue"/>
                <a:cs typeface="Helvetica Neue"/>
              </a:rPr>
              <a:t>Rótulo de risco </a:t>
            </a:r>
            <a:r>
              <a:rPr lang="pt-BR" dirty="0">
                <a:latin typeface="Helvetica Neue"/>
                <a:cs typeface="Helvetica Neue"/>
              </a:rPr>
              <a:t>(padronizado): classe de risco do produto transportado.</a:t>
            </a:r>
          </a:p>
          <a:p>
            <a:pPr marL="285750" indent="-285750">
              <a:spcBef>
                <a:spcPts val="600"/>
              </a:spcBef>
              <a:buFont typeface="Arial"/>
              <a:buChar char="•"/>
            </a:pPr>
            <a:r>
              <a:rPr lang="pt-BR" dirty="0">
                <a:latin typeface="Helvetica Neue"/>
                <a:cs typeface="Helvetica Neue"/>
              </a:rPr>
              <a:t>Documentação para o transporte de produtos perigosos.</a:t>
            </a:r>
          </a:p>
          <a:p>
            <a:pPr marL="285750" indent="-285750">
              <a:spcBef>
                <a:spcPts val="600"/>
              </a:spcBef>
              <a:buFont typeface="Arial"/>
              <a:buChar char="•"/>
            </a:pPr>
            <a:r>
              <a:rPr lang="pt-BR" dirty="0">
                <a:latin typeface="Helvetica Neue"/>
                <a:cs typeface="Helvetica Neue"/>
              </a:rPr>
              <a:t>Capacitação do motorista em MOPP (Resolução nº 168/04 – Contran).</a:t>
            </a:r>
          </a:p>
        </p:txBody>
      </p:sp>
      <p:sp>
        <p:nvSpPr>
          <p:cNvPr id="9" name="Rectangle 8"/>
          <p:cNvSpPr/>
          <p:nvPr/>
        </p:nvSpPr>
        <p:spPr>
          <a:xfrm>
            <a:off x="122350" y="3588158"/>
            <a:ext cx="7108245" cy="400110"/>
          </a:xfrm>
          <a:prstGeom prst="rect">
            <a:avLst/>
          </a:prstGeom>
        </p:spPr>
        <p:txBody>
          <a:bodyPr wrap="square">
            <a:spAutoFit/>
          </a:bodyPr>
          <a:lstStyle/>
          <a:p>
            <a:r>
              <a:rPr lang="pt-BR" sz="2000" b="1" dirty="0">
                <a:latin typeface="Helvetica Neue"/>
                <a:cs typeface="Helvetica Neue"/>
              </a:rPr>
              <a:t>Requerimentos da legislação</a:t>
            </a:r>
          </a:p>
        </p:txBody>
      </p:sp>
      <p:pic>
        <p:nvPicPr>
          <p:cNvPr id="11" name="Picture 10" descr="ThinkstockPhotos-118275548 (1).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73169" y="4507793"/>
            <a:ext cx="1017007" cy="1527898"/>
          </a:xfrm>
          <a:prstGeom prst="rect">
            <a:avLst/>
          </a:prstGeom>
        </p:spPr>
      </p:pic>
      <p:pic>
        <p:nvPicPr>
          <p:cNvPr id="12" name="Picture 11" descr="ThinkstockPhotos-170446161 (1).jp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32142" y="356952"/>
            <a:ext cx="470002" cy="420064"/>
          </a:xfrm>
          <a:prstGeom prst="rect">
            <a:avLst/>
          </a:prstGeom>
        </p:spPr>
      </p:pic>
      <p:sp>
        <p:nvSpPr>
          <p:cNvPr id="10" name="Action Button: Movie 9">
            <a:hlinkClick r:id="" action="ppaction://noaction" highlightClick="1"/>
          </p:cNvPr>
          <p:cNvSpPr/>
          <p:nvPr/>
        </p:nvSpPr>
        <p:spPr>
          <a:xfrm>
            <a:off x="11502144" y="3600361"/>
            <a:ext cx="488032" cy="420998"/>
          </a:xfrm>
          <a:prstGeom prst="actionButtonMovi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224432159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xmlns:p14="http://schemas.microsoft.com/office/powerpoint/2010/mai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down)">
                                      <p:cBhvr>
                                        <p:cTn id="12" dur="500"/>
                                        <p:tgtEl>
                                          <p:spTgt spid="9"/>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down)">
                                      <p:cBhvr>
                                        <p:cTn id="15" dur="500"/>
                                        <p:tgtEl>
                                          <p:spTgt spid="10"/>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down)">
                                      <p:cBhvr>
                                        <p:cTn id="18" dur="500"/>
                                        <p:tgtEl>
                                          <p:spTgt spid="7"/>
                                        </p:tgtEl>
                                      </p:cBhvr>
                                    </p:animEffect>
                                  </p:childTnLst>
                                </p:cTn>
                              </p:par>
                              <p:par>
                                <p:cTn id="19" presetID="22" presetClass="entr" presetSubtype="4"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ipe(down)">
                                      <p:cBhvr>
                                        <p:cTn id="2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p:bldP spid="10" grpId="0" animBg="1"/>
    </p:bldLst>
  </p:timing>
</p:sld>
</file>

<file path=ppt/slides/slide2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 name="Imagem 3" descr="imagesCA2P21F7.jpg"/>
          <p:cNvPicPr>
            <a:picLocks noChangeAspect="1"/>
          </p:cNvPicPr>
          <p:nvPr/>
        </p:nvPicPr>
        <p:blipFill>
          <a:blip r:embed="rId3" cstate="print"/>
          <a:stretch>
            <a:fillRect/>
          </a:stretch>
        </p:blipFill>
        <p:spPr>
          <a:xfrm>
            <a:off x="7740804" y="2058473"/>
            <a:ext cx="3824740" cy="1227845"/>
          </a:xfrm>
          <a:prstGeom prst="rect">
            <a:avLst/>
          </a:prstGeom>
        </p:spPr>
      </p:pic>
      <p:sp>
        <p:nvSpPr>
          <p:cNvPr id="5" name="CaixaDeTexto 1"/>
          <p:cNvSpPr txBox="1"/>
          <p:nvPr/>
        </p:nvSpPr>
        <p:spPr>
          <a:xfrm>
            <a:off x="245008" y="928843"/>
            <a:ext cx="11946992" cy="4693593"/>
          </a:xfrm>
          <a:prstGeom prst="rect">
            <a:avLst/>
          </a:prstGeom>
          <a:noFill/>
        </p:spPr>
        <p:txBody>
          <a:bodyPr wrap="square" rtlCol="0">
            <a:spAutoFit/>
          </a:bodyPr>
          <a:lstStyle/>
          <a:p>
            <a:pPr>
              <a:spcAft>
                <a:spcPts val="1200"/>
              </a:spcAft>
            </a:pPr>
            <a:r>
              <a:rPr lang="pt-BR" b="1" dirty="0">
                <a:latin typeface="Helvetica Neue"/>
                <a:cs typeface="Helvetica Neue"/>
              </a:rPr>
              <a:t>Documentação exigida para o transporte de produtos perigosos </a:t>
            </a:r>
          </a:p>
          <a:p>
            <a:pPr marL="342900" indent="-342900" algn="just">
              <a:spcBef>
                <a:spcPts val="600"/>
              </a:spcBef>
              <a:buFont typeface="+mj-lt"/>
              <a:buAutoNum type="arabicPeriod"/>
            </a:pPr>
            <a:r>
              <a:rPr lang="pt-BR" dirty="0">
                <a:latin typeface="Helvetica Neue"/>
                <a:cs typeface="Helvetica Neue"/>
              </a:rPr>
              <a:t>Documentos de transporte – nota fiscal, conhecimento de transporte e </a:t>
            </a:r>
            <a:r>
              <a:rPr lang="pt-BR" b="1" dirty="0">
                <a:latin typeface="Helvetica Neue"/>
                <a:cs typeface="Helvetica Neue"/>
              </a:rPr>
              <a:t>declaração de carga </a:t>
            </a:r>
            <a:r>
              <a:rPr lang="pt-BR" dirty="0">
                <a:latin typeface="Helvetica Neue"/>
                <a:cs typeface="Helvetica Neue"/>
              </a:rPr>
              <a:t>contendo:</a:t>
            </a:r>
          </a:p>
          <a:p>
            <a:pPr marL="800100" lvl="1" indent="-342900" algn="just">
              <a:spcBef>
                <a:spcPts val="600"/>
              </a:spcBef>
              <a:buFont typeface="Wingdings" charset="2"/>
              <a:buChar char="§"/>
            </a:pPr>
            <a:r>
              <a:rPr lang="pt-BR" dirty="0">
                <a:latin typeface="Helvetica Neue"/>
                <a:cs typeface="Helvetica Neue"/>
              </a:rPr>
              <a:t>Nome apropriado para embarque;</a:t>
            </a:r>
          </a:p>
          <a:p>
            <a:pPr marL="800100" lvl="1" indent="-342900" algn="just">
              <a:spcBef>
                <a:spcPts val="600"/>
              </a:spcBef>
              <a:buFont typeface="Wingdings" charset="2"/>
              <a:buChar char="§"/>
            </a:pPr>
            <a:r>
              <a:rPr lang="pt-BR" dirty="0">
                <a:latin typeface="Helvetica Neue"/>
                <a:cs typeface="Helvetica Neue"/>
              </a:rPr>
              <a:t>Classe ou subclasse do produto;</a:t>
            </a:r>
          </a:p>
          <a:p>
            <a:pPr marL="800100" lvl="1" indent="-342900" algn="just">
              <a:spcBef>
                <a:spcPts val="600"/>
              </a:spcBef>
              <a:buFont typeface="Wingdings" charset="2"/>
              <a:buChar char="§"/>
            </a:pPr>
            <a:r>
              <a:rPr lang="pt-BR" dirty="0">
                <a:latin typeface="Helvetica Neue"/>
                <a:cs typeface="Helvetica Neue"/>
              </a:rPr>
              <a:t>Número ONU;</a:t>
            </a:r>
            <a:r>
              <a:rPr lang="pt-BR" baseline="30000" dirty="0">
                <a:latin typeface="Helvetica Neue"/>
                <a:cs typeface="Helvetica Neue"/>
              </a:rPr>
              <a:t>1</a:t>
            </a:r>
            <a:endParaRPr lang="pt-BR" dirty="0">
              <a:latin typeface="Helvetica Neue"/>
              <a:cs typeface="Helvetica Neue"/>
            </a:endParaRPr>
          </a:p>
          <a:p>
            <a:pPr marL="800100" lvl="1" indent="-342900" algn="just">
              <a:spcBef>
                <a:spcPts val="600"/>
              </a:spcBef>
              <a:buFont typeface="Wingdings" charset="2"/>
              <a:buChar char="§"/>
            </a:pPr>
            <a:r>
              <a:rPr lang="pt-BR" dirty="0">
                <a:latin typeface="Helvetica Neue"/>
                <a:cs typeface="Helvetica Neue"/>
              </a:rPr>
              <a:t>Quantidade total por produto perigoso;</a:t>
            </a:r>
          </a:p>
          <a:p>
            <a:pPr marL="800100" lvl="1" indent="-342900" algn="just">
              <a:spcBef>
                <a:spcPts val="600"/>
              </a:spcBef>
              <a:buFont typeface="Wingdings" charset="2"/>
              <a:buChar char="§"/>
            </a:pPr>
            <a:r>
              <a:rPr lang="pt-BR" dirty="0">
                <a:latin typeface="Helvetica Neue"/>
                <a:cs typeface="Helvetica Neue"/>
              </a:rPr>
              <a:t>Declaração do expedidor.</a:t>
            </a:r>
          </a:p>
          <a:p>
            <a:pPr marL="342900" indent="-342900" algn="just">
              <a:spcBef>
                <a:spcPts val="600"/>
              </a:spcBef>
              <a:buFont typeface="+mj-lt"/>
              <a:buAutoNum type="arabicPeriod"/>
            </a:pPr>
            <a:r>
              <a:rPr lang="pt-BR" b="1" dirty="0">
                <a:latin typeface="Helvetica Neue"/>
                <a:cs typeface="Helvetica Neue"/>
              </a:rPr>
              <a:t>Certificado de capacitação </a:t>
            </a:r>
            <a:r>
              <a:rPr lang="pt-BR" dirty="0">
                <a:latin typeface="Helvetica Neue"/>
                <a:cs typeface="Helvetica Neue"/>
              </a:rPr>
              <a:t>(original) do veículo e dos equipamentos (transporte a granel).</a:t>
            </a:r>
          </a:p>
          <a:p>
            <a:pPr marL="342900" indent="-342900" algn="just">
              <a:spcBef>
                <a:spcPts val="600"/>
              </a:spcBef>
              <a:buFont typeface="+mj-lt"/>
              <a:buAutoNum type="arabicPeriod"/>
            </a:pPr>
            <a:r>
              <a:rPr lang="pt-BR" b="1" dirty="0">
                <a:latin typeface="Helvetica Neue"/>
                <a:cs typeface="Helvetica Neue"/>
              </a:rPr>
              <a:t>Documento</a:t>
            </a:r>
            <a:r>
              <a:rPr lang="pt-BR" dirty="0">
                <a:latin typeface="Helvetica Neue"/>
                <a:cs typeface="Helvetica Neue"/>
              </a:rPr>
              <a:t> comprobatório de </a:t>
            </a:r>
            <a:r>
              <a:rPr lang="pt-BR" b="1" dirty="0">
                <a:latin typeface="Helvetica Neue"/>
                <a:cs typeface="Helvetica Neue"/>
              </a:rPr>
              <a:t>qualificação do motorista</a:t>
            </a:r>
            <a:r>
              <a:rPr lang="pt-BR" dirty="0">
                <a:latin typeface="Helvetica Neue"/>
                <a:cs typeface="Helvetica Neue"/>
              </a:rPr>
              <a:t>, curso MOPP.</a:t>
            </a:r>
            <a:r>
              <a:rPr lang="pt-BR" baseline="30000" dirty="0">
                <a:latin typeface="Helvetica Neue"/>
                <a:cs typeface="Helvetica Neue"/>
              </a:rPr>
              <a:t>2</a:t>
            </a:r>
          </a:p>
          <a:p>
            <a:pPr marL="342900" indent="-342900" algn="just">
              <a:spcBef>
                <a:spcPts val="600"/>
              </a:spcBef>
              <a:buFont typeface="+mj-lt"/>
              <a:buAutoNum type="arabicPeriod"/>
            </a:pPr>
            <a:r>
              <a:rPr lang="pt-BR" b="1" dirty="0">
                <a:latin typeface="Helvetica Neue"/>
                <a:cs typeface="Helvetica Neue"/>
              </a:rPr>
              <a:t>Ficha</a:t>
            </a:r>
            <a:r>
              <a:rPr lang="pt-BR" dirty="0">
                <a:latin typeface="Helvetica Neue"/>
                <a:cs typeface="Helvetica Neue"/>
              </a:rPr>
              <a:t> e envelope de </a:t>
            </a:r>
            <a:r>
              <a:rPr lang="pt-BR" b="1" dirty="0">
                <a:latin typeface="Helvetica Neue"/>
                <a:cs typeface="Helvetica Neue"/>
              </a:rPr>
              <a:t>emergências</a:t>
            </a:r>
            <a:r>
              <a:rPr lang="pt-BR" dirty="0">
                <a:latin typeface="Helvetica Neue"/>
                <a:cs typeface="Helvetica Neue"/>
              </a:rPr>
              <a:t>.</a:t>
            </a:r>
          </a:p>
          <a:p>
            <a:pPr marL="342900" indent="-342900" algn="just">
              <a:spcBef>
                <a:spcPts val="600"/>
              </a:spcBef>
              <a:buFont typeface="+mj-lt"/>
              <a:buAutoNum type="arabicPeriod"/>
            </a:pPr>
            <a:r>
              <a:rPr lang="pt-BR" b="1" dirty="0">
                <a:latin typeface="Helvetica Neue"/>
                <a:cs typeface="Helvetica Neue"/>
              </a:rPr>
              <a:t>Cópia da licença ambiental </a:t>
            </a:r>
            <a:r>
              <a:rPr lang="pt-BR" dirty="0">
                <a:latin typeface="Helvetica Neue"/>
                <a:cs typeface="Helvetica Neue"/>
              </a:rPr>
              <a:t>(ver regulamentação estadual e Conama res. 237).</a:t>
            </a:r>
          </a:p>
          <a:p>
            <a:pPr marL="342900" indent="-342900" algn="just">
              <a:spcBef>
                <a:spcPts val="600"/>
              </a:spcBef>
              <a:buFont typeface="+mj-lt"/>
              <a:buAutoNum type="arabicPeriod"/>
            </a:pPr>
            <a:r>
              <a:rPr lang="pt-BR" dirty="0">
                <a:latin typeface="Helvetica Neue"/>
                <a:cs typeface="Helvetica Neue"/>
              </a:rPr>
              <a:t>No caso de </a:t>
            </a:r>
            <a:r>
              <a:rPr lang="pt-BR" b="1" dirty="0">
                <a:latin typeface="Helvetica Neue"/>
                <a:cs typeface="Helvetica Neue"/>
              </a:rPr>
              <a:t>produtos controlados</a:t>
            </a:r>
            <a:r>
              <a:rPr lang="pt-BR" dirty="0">
                <a:latin typeface="Helvetica Neue"/>
                <a:cs typeface="Helvetica Neue"/>
              </a:rPr>
              <a:t>, licença da Polícia Federal; para transporte de </a:t>
            </a:r>
            <a:r>
              <a:rPr lang="pt-BR" b="1" dirty="0">
                <a:latin typeface="Helvetica Neue"/>
                <a:cs typeface="Helvetica Neue"/>
              </a:rPr>
              <a:t>explosivos</a:t>
            </a:r>
            <a:r>
              <a:rPr lang="pt-BR" dirty="0">
                <a:latin typeface="Helvetica Neue"/>
                <a:cs typeface="Helvetica Neue"/>
              </a:rPr>
              <a:t>, certificado de registro do exército.</a:t>
            </a:r>
          </a:p>
        </p:txBody>
      </p:sp>
      <p:sp>
        <p:nvSpPr>
          <p:cNvPr id="6" name="Title 1"/>
          <p:cNvSpPr>
            <a:spLocks noGrp="1"/>
          </p:cNvSpPr>
          <p:nvPr>
            <p:ph type="title" idx="4294967295"/>
          </p:nvPr>
        </p:nvSpPr>
        <p:spPr>
          <a:xfrm>
            <a:off x="0" y="431800"/>
            <a:ext cx="8229600" cy="571500"/>
          </a:xfrm>
        </p:spPr>
        <p:txBody>
          <a:bodyPr>
            <a:normAutofit/>
          </a:bodyPr>
          <a:lstStyle/>
          <a:p>
            <a:r>
              <a:rPr lang="pt-BR" sz="2800" dirty="0">
                <a:solidFill>
                  <a:srgbClr val="000000"/>
                </a:solidFill>
              </a:rPr>
              <a:t>Requerimentos no transporte de cargas perigosas</a:t>
            </a:r>
          </a:p>
        </p:txBody>
      </p:sp>
      <p:pic>
        <p:nvPicPr>
          <p:cNvPr id="8" name="Picture 7" descr="ThinkstockPhotos-170446161 (1).jp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936348" y="448036"/>
            <a:ext cx="470002" cy="420064"/>
          </a:xfrm>
          <a:prstGeom prst="rect">
            <a:avLst/>
          </a:prstGeom>
        </p:spPr>
      </p:pic>
    </p:spTree>
    <p:extLst>
      <p:ext uri="{BB962C8B-B14F-4D97-AF65-F5344CB8AC3E}">
        <p14:creationId xmlns:p14="http://schemas.microsoft.com/office/powerpoint/2010/main" val="2609182911"/>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xmlns:p14="http://schemas.microsoft.com/office/powerpoint/2010/mai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down)">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down)">
                                      <p:cBhvr>
                                        <p:cTn id="12" dur="500"/>
                                        <p:tgtEl>
                                          <p:spTgt spid="5">
                                            <p:txEl>
                                              <p:pRg st="1" end="1"/>
                                            </p:txEl>
                                          </p:spTgt>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wipe(down)">
                                      <p:cBhvr>
                                        <p:cTn id="15" dur="500"/>
                                        <p:tgtEl>
                                          <p:spTgt spid="5">
                                            <p:txEl>
                                              <p:pRg st="2" end="2"/>
                                            </p:txEl>
                                          </p:spTgt>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animEffect transition="in" filter="wipe(down)">
                                      <p:cBhvr>
                                        <p:cTn id="18" dur="500"/>
                                        <p:tgtEl>
                                          <p:spTgt spid="5">
                                            <p:txEl>
                                              <p:pRg st="3" end="3"/>
                                            </p:txEl>
                                          </p:spTgt>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Effect transition="in" filter="wipe(down)">
                                      <p:cBhvr>
                                        <p:cTn id="21" dur="500"/>
                                        <p:tgtEl>
                                          <p:spTgt spid="5">
                                            <p:txEl>
                                              <p:pRg st="4" end="4"/>
                                            </p:txEl>
                                          </p:spTgt>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5">
                                            <p:txEl>
                                              <p:pRg st="5" end="5"/>
                                            </p:txEl>
                                          </p:spTgt>
                                        </p:tgtEl>
                                        <p:attrNameLst>
                                          <p:attrName>style.visibility</p:attrName>
                                        </p:attrNameLst>
                                      </p:cBhvr>
                                      <p:to>
                                        <p:strVal val="visible"/>
                                      </p:to>
                                    </p:set>
                                    <p:animEffect transition="in" filter="wipe(down)">
                                      <p:cBhvr>
                                        <p:cTn id="24" dur="500"/>
                                        <p:tgtEl>
                                          <p:spTgt spid="5">
                                            <p:txEl>
                                              <p:pRg st="5" end="5"/>
                                            </p:txEl>
                                          </p:spTgt>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animEffect transition="in" filter="wipe(down)">
                                      <p:cBhvr>
                                        <p:cTn id="27" dur="500"/>
                                        <p:tgtEl>
                                          <p:spTgt spid="5">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5">
                                            <p:txEl>
                                              <p:pRg st="7" end="7"/>
                                            </p:txEl>
                                          </p:spTgt>
                                        </p:tgtEl>
                                        <p:attrNameLst>
                                          <p:attrName>style.visibility</p:attrName>
                                        </p:attrNameLst>
                                      </p:cBhvr>
                                      <p:to>
                                        <p:strVal val="visible"/>
                                      </p:to>
                                    </p:set>
                                    <p:animEffect transition="in" filter="wipe(down)">
                                      <p:cBhvr>
                                        <p:cTn id="32" dur="500"/>
                                        <p:tgtEl>
                                          <p:spTgt spid="5">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5">
                                            <p:txEl>
                                              <p:pRg st="8" end="8"/>
                                            </p:txEl>
                                          </p:spTgt>
                                        </p:tgtEl>
                                        <p:attrNameLst>
                                          <p:attrName>style.visibility</p:attrName>
                                        </p:attrNameLst>
                                      </p:cBhvr>
                                      <p:to>
                                        <p:strVal val="visible"/>
                                      </p:to>
                                    </p:set>
                                    <p:animEffect transition="in" filter="wipe(down)">
                                      <p:cBhvr>
                                        <p:cTn id="37" dur="500"/>
                                        <p:tgtEl>
                                          <p:spTgt spid="5">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5">
                                            <p:txEl>
                                              <p:pRg st="9" end="9"/>
                                            </p:txEl>
                                          </p:spTgt>
                                        </p:tgtEl>
                                        <p:attrNameLst>
                                          <p:attrName>style.visibility</p:attrName>
                                        </p:attrNameLst>
                                      </p:cBhvr>
                                      <p:to>
                                        <p:strVal val="visible"/>
                                      </p:to>
                                    </p:set>
                                    <p:animEffect transition="in" filter="wipe(down)">
                                      <p:cBhvr>
                                        <p:cTn id="42" dur="500"/>
                                        <p:tgtEl>
                                          <p:spTgt spid="5">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5">
                                            <p:txEl>
                                              <p:pRg st="10" end="10"/>
                                            </p:txEl>
                                          </p:spTgt>
                                        </p:tgtEl>
                                        <p:attrNameLst>
                                          <p:attrName>style.visibility</p:attrName>
                                        </p:attrNameLst>
                                      </p:cBhvr>
                                      <p:to>
                                        <p:strVal val="visible"/>
                                      </p:to>
                                    </p:set>
                                    <p:animEffect transition="in" filter="wipe(down)">
                                      <p:cBhvr>
                                        <p:cTn id="47" dur="500"/>
                                        <p:tgtEl>
                                          <p:spTgt spid="5">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5">
                                            <p:txEl>
                                              <p:pRg st="11" end="11"/>
                                            </p:txEl>
                                          </p:spTgt>
                                        </p:tgtEl>
                                        <p:attrNameLst>
                                          <p:attrName>style.visibility</p:attrName>
                                        </p:attrNameLst>
                                      </p:cBhvr>
                                      <p:to>
                                        <p:strVal val="visible"/>
                                      </p:to>
                                    </p:set>
                                    <p:animEffect transition="in" filter="wipe(down)">
                                      <p:cBhvr>
                                        <p:cTn id="52" dur="500"/>
                                        <p:tgtEl>
                                          <p:spTgt spid="5">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Footer Placeholder 3"/>
          <p:cNvSpPr>
            <a:spLocks noGrp="1"/>
          </p:cNvSpPr>
          <p:nvPr>
            <p:ph type="ftr" sz="quarter" idx="4294967295"/>
          </p:nvPr>
        </p:nvSpPr>
        <p:spPr>
          <a:xfrm>
            <a:off x="0" y="6356350"/>
            <a:ext cx="4114800" cy="365125"/>
          </a:xfrm>
        </p:spPr>
        <p:txBody>
          <a:bodyPr/>
          <a:lstStyle/>
          <a:p>
            <a:r>
              <a:rPr lang="pt-BR" dirty="0"/>
              <a:t>Senac São Paulo</a:t>
            </a:r>
            <a:endParaRPr lang="en-US" b="1" dirty="0">
              <a:latin typeface="Helvetica Neue"/>
              <a:cs typeface="Helvetica Neue"/>
            </a:endParaRPr>
          </a:p>
        </p:txBody>
      </p:sp>
      <p:sp>
        <p:nvSpPr>
          <p:cNvPr id="5" name="CaixaDeTexto 1"/>
          <p:cNvSpPr txBox="1"/>
          <p:nvPr/>
        </p:nvSpPr>
        <p:spPr>
          <a:xfrm>
            <a:off x="310623" y="1402230"/>
            <a:ext cx="11881377" cy="4770537"/>
          </a:xfrm>
          <a:prstGeom prst="rect">
            <a:avLst/>
          </a:prstGeom>
          <a:noFill/>
        </p:spPr>
        <p:txBody>
          <a:bodyPr wrap="square" rtlCol="0">
            <a:spAutoFit/>
          </a:bodyPr>
          <a:lstStyle/>
          <a:p>
            <a:pPr marL="285750" indent="-285750">
              <a:buFont typeface="Wingdings" charset="2"/>
              <a:buChar char=""/>
            </a:pPr>
            <a:r>
              <a:rPr lang="pt-BR" sz="1600" b="1" dirty="0">
                <a:latin typeface="Helvetica Neue"/>
                <a:cs typeface="Helvetica Neue"/>
              </a:rPr>
              <a:t>NBR 7500 </a:t>
            </a:r>
            <a:r>
              <a:rPr lang="pt-BR" sz="1600" dirty="0">
                <a:latin typeface="Helvetica Neue"/>
                <a:cs typeface="Helvetica Neue"/>
              </a:rPr>
              <a:t>– Identificação para o transporte terrestre, manuseio, movimentação e armazenamento de produtos</a:t>
            </a:r>
          </a:p>
          <a:p>
            <a:pPr marL="285750" indent="-285750">
              <a:buFont typeface="Wingdings" charset="2"/>
              <a:buChar char=""/>
            </a:pPr>
            <a:endParaRPr lang="pt-BR" sz="1600" dirty="0">
              <a:latin typeface="Helvetica Neue"/>
              <a:cs typeface="Helvetica Neue"/>
            </a:endParaRPr>
          </a:p>
          <a:p>
            <a:pPr marL="285750" indent="-285750">
              <a:buFont typeface="Wingdings" charset="2"/>
              <a:buChar char=""/>
            </a:pPr>
            <a:r>
              <a:rPr lang="pt-BR" sz="1600" b="1" dirty="0">
                <a:latin typeface="Helvetica Neue"/>
                <a:cs typeface="Helvetica Neue"/>
              </a:rPr>
              <a:t>NBR 7501</a:t>
            </a:r>
            <a:r>
              <a:rPr lang="pt-BR" sz="1600" dirty="0">
                <a:latin typeface="Helvetica Neue"/>
                <a:cs typeface="Helvetica Neue"/>
              </a:rPr>
              <a:t> – Transporte terrestre de produtos perigosos – terminologia</a:t>
            </a:r>
          </a:p>
          <a:p>
            <a:pPr marL="285750" indent="-285750">
              <a:buFont typeface="Wingdings" charset="2"/>
              <a:buChar char=""/>
            </a:pPr>
            <a:endParaRPr lang="pt-BR" sz="1600" dirty="0">
              <a:latin typeface="Helvetica Neue"/>
              <a:cs typeface="Helvetica Neue"/>
            </a:endParaRPr>
          </a:p>
          <a:p>
            <a:pPr marL="285750" indent="-285750">
              <a:buFont typeface="Wingdings" charset="2"/>
              <a:buChar char=""/>
            </a:pPr>
            <a:r>
              <a:rPr lang="pt-BR" sz="1600" b="1" dirty="0">
                <a:latin typeface="Helvetica Neue"/>
                <a:cs typeface="Helvetica Neue"/>
              </a:rPr>
              <a:t>NBR 7503 </a:t>
            </a:r>
            <a:r>
              <a:rPr lang="pt-BR" sz="1600" dirty="0">
                <a:latin typeface="Helvetica Neue"/>
                <a:cs typeface="Helvetica Neue"/>
              </a:rPr>
              <a:t>– Fichas e envelopes de emergência</a:t>
            </a:r>
          </a:p>
          <a:p>
            <a:pPr marL="285750" indent="-285750">
              <a:buFont typeface="Wingdings" charset="2"/>
              <a:buChar char=""/>
            </a:pPr>
            <a:endParaRPr lang="pt-BR" sz="1600" dirty="0">
              <a:latin typeface="Helvetica Neue"/>
              <a:cs typeface="Helvetica Neue"/>
            </a:endParaRPr>
          </a:p>
          <a:p>
            <a:pPr marL="285750" indent="-285750">
              <a:buFont typeface="Wingdings" charset="2"/>
              <a:buChar char=""/>
            </a:pPr>
            <a:r>
              <a:rPr lang="pt-BR" sz="1600" b="1" dirty="0">
                <a:latin typeface="Helvetica Neue"/>
                <a:cs typeface="Helvetica Neue"/>
              </a:rPr>
              <a:t>NBR 9735 </a:t>
            </a:r>
            <a:r>
              <a:rPr lang="pt-BR" sz="1600" dirty="0">
                <a:latin typeface="Helvetica Neue"/>
                <a:cs typeface="Helvetica Neue"/>
              </a:rPr>
              <a:t>– Conjunto de equipamentos para emergência</a:t>
            </a:r>
          </a:p>
          <a:p>
            <a:pPr marL="285750" indent="-285750">
              <a:buFont typeface="Wingdings" charset="2"/>
              <a:buChar char=""/>
            </a:pPr>
            <a:endParaRPr lang="pt-BR" sz="1600" dirty="0">
              <a:latin typeface="Helvetica Neue"/>
              <a:cs typeface="Helvetica Neue"/>
            </a:endParaRPr>
          </a:p>
          <a:p>
            <a:pPr marL="285750" indent="-285750">
              <a:buFont typeface="Wingdings" charset="2"/>
              <a:buChar char=""/>
            </a:pPr>
            <a:r>
              <a:rPr lang="pt-BR" sz="1600" b="1" dirty="0">
                <a:latin typeface="Helvetica Neue"/>
                <a:cs typeface="Helvetica Neue"/>
              </a:rPr>
              <a:t>NBR 14619 </a:t>
            </a:r>
            <a:r>
              <a:rPr lang="pt-BR" sz="1600" dirty="0">
                <a:latin typeface="Helvetica Neue"/>
                <a:cs typeface="Helvetica Neue"/>
              </a:rPr>
              <a:t>– Incompatibilidade química</a:t>
            </a:r>
          </a:p>
          <a:p>
            <a:pPr marL="285750" indent="-285750">
              <a:buFont typeface="Wingdings" charset="2"/>
              <a:buChar char=""/>
            </a:pPr>
            <a:endParaRPr lang="pt-BR" sz="1600" dirty="0">
              <a:latin typeface="Helvetica Neue"/>
              <a:cs typeface="Helvetica Neue"/>
            </a:endParaRPr>
          </a:p>
          <a:p>
            <a:pPr marL="285750" indent="-285750">
              <a:buFont typeface="Wingdings" charset="2"/>
              <a:buChar char=""/>
            </a:pPr>
            <a:r>
              <a:rPr lang="pt-BR" sz="1600" b="1" dirty="0">
                <a:latin typeface="Helvetica Neue"/>
                <a:cs typeface="Helvetica Neue"/>
              </a:rPr>
              <a:t>NBR 12982 </a:t>
            </a:r>
            <a:r>
              <a:rPr lang="pt-BR" sz="1600" dirty="0">
                <a:latin typeface="Helvetica Neue"/>
                <a:cs typeface="Helvetica Neue"/>
              </a:rPr>
              <a:t>– Desvaporização de tanque (líquidos inflamáveis)</a:t>
            </a:r>
          </a:p>
          <a:p>
            <a:pPr marL="285750" indent="-285750">
              <a:buFont typeface="Wingdings" charset="2"/>
              <a:buChar char=""/>
            </a:pPr>
            <a:endParaRPr lang="pt-BR" sz="1600" dirty="0">
              <a:latin typeface="Helvetica Neue"/>
              <a:cs typeface="Helvetica Neue"/>
            </a:endParaRPr>
          </a:p>
          <a:p>
            <a:pPr marL="285750" indent="-285750">
              <a:buFont typeface="Wingdings" charset="2"/>
              <a:buChar char=""/>
            </a:pPr>
            <a:r>
              <a:rPr lang="pt-BR" sz="1600" b="1" dirty="0">
                <a:latin typeface="Helvetica Neue"/>
                <a:cs typeface="Helvetica Neue"/>
              </a:rPr>
              <a:t>NBR 15071 </a:t>
            </a:r>
            <a:r>
              <a:rPr lang="pt-BR" sz="1600" dirty="0">
                <a:latin typeface="Helvetica Neue"/>
                <a:cs typeface="Helvetica Neue"/>
              </a:rPr>
              <a:t>– Cones para sinalização viária</a:t>
            </a:r>
          </a:p>
          <a:p>
            <a:pPr marL="285750" indent="-285750">
              <a:buFont typeface="Wingdings" charset="2"/>
              <a:buChar char=""/>
            </a:pPr>
            <a:endParaRPr lang="pt-BR" sz="1600" dirty="0">
              <a:latin typeface="Helvetica Neue"/>
              <a:cs typeface="Helvetica Neue"/>
            </a:endParaRPr>
          </a:p>
          <a:p>
            <a:pPr marL="285750" indent="-285750">
              <a:buFont typeface="Wingdings" charset="2"/>
              <a:buChar char=""/>
            </a:pPr>
            <a:r>
              <a:rPr lang="pt-BR" sz="1600" b="1" dirty="0">
                <a:latin typeface="Helvetica Neue"/>
                <a:cs typeface="Helvetica Neue"/>
              </a:rPr>
              <a:t>NBR 14064 </a:t>
            </a:r>
            <a:r>
              <a:rPr lang="pt-BR" sz="1600" dirty="0">
                <a:latin typeface="Helvetica Neue"/>
                <a:cs typeface="Helvetica Neue"/>
              </a:rPr>
              <a:t>– Atendimento a emergências</a:t>
            </a:r>
          </a:p>
          <a:p>
            <a:pPr marL="285750" indent="-285750">
              <a:buFont typeface="Wingdings" charset="2"/>
              <a:buChar char=""/>
            </a:pPr>
            <a:endParaRPr lang="pt-BR" sz="1600" dirty="0">
              <a:latin typeface="Helvetica Neue"/>
              <a:cs typeface="Helvetica Neue"/>
            </a:endParaRPr>
          </a:p>
          <a:p>
            <a:pPr marL="285750" indent="-285750">
              <a:buFont typeface="Wingdings" charset="2"/>
              <a:buChar char=""/>
            </a:pPr>
            <a:r>
              <a:rPr lang="pt-BR" sz="1600" b="1" dirty="0">
                <a:latin typeface="Helvetica Neue"/>
                <a:cs typeface="Helvetica Neue"/>
              </a:rPr>
              <a:t>NBR 13221 </a:t>
            </a:r>
            <a:r>
              <a:rPr lang="pt-BR" sz="1600" dirty="0">
                <a:latin typeface="Helvetica Neue"/>
                <a:cs typeface="Helvetica Neue"/>
              </a:rPr>
              <a:t>– Transporte terrestre de resíduos</a:t>
            </a:r>
          </a:p>
          <a:p>
            <a:endParaRPr lang="pt-BR" sz="1600" dirty="0">
              <a:latin typeface="Helvetica Neue"/>
              <a:cs typeface="Helvetica Neue"/>
            </a:endParaRPr>
          </a:p>
          <a:p>
            <a:r>
              <a:rPr lang="pt-BR" sz="1600" dirty="0">
                <a:latin typeface="Helvetica Neue"/>
                <a:cs typeface="Helvetica Neue"/>
              </a:rPr>
              <a:t>Essas normas podem ser solicitadas através do site </a:t>
            </a:r>
            <a:r>
              <a:rPr lang="pt-BR" sz="1600" dirty="0">
                <a:latin typeface="Helvetica Neue"/>
                <a:cs typeface="Helvetica Neue"/>
                <a:hlinkClick r:id="rId3"/>
              </a:rPr>
              <a:t>www.abnt.org.br</a:t>
            </a:r>
            <a:r>
              <a:rPr lang="pt-BR" sz="1600" dirty="0">
                <a:latin typeface="Helvetica Neue"/>
                <a:cs typeface="Helvetica Neue"/>
              </a:rPr>
              <a:t>.   </a:t>
            </a:r>
          </a:p>
        </p:txBody>
      </p:sp>
      <p:sp>
        <p:nvSpPr>
          <p:cNvPr id="6" name="Rectangle 5"/>
          <p:cNvSpPr/>
          <p:nvPr/>
        </p:nvSpPr>
        <p:spPr>
          <a:xfrm>
            <a:off x="264903" y="168626"/>
            <a:ext cx="7359565" cy="646331"/>
          </a:xfrm>
          <a:prstGeom prst="rect">
            <a:avLst/>
          </a:prstGeom>
        </p:spPr>
        <p:txBody>
          <a:bodyPr wrap="square">
            <a:spAutoFit/>
          </a:bodyPr>
          <a:lstStyle/>
          <a:p>
            <a:r>
              <a:rPr lang="pt-BR" b="1" dirty="0">
                <a:latin typeface="Helvetica Neue"/>
                <a:cs typeface="Helvetica Neue"/>
              </a:rPr>
              <a:t>Normas da Associação Brasileiras de Normas Técnicas – ABNT aplicadas ao transporte de cargas perigosas</a:t>
            </a:r>
          </a:p>
        </p:txBody>
      </p:sp>
      <p:grpSp>
        <p:nvGrpSpPr>
          <p:cNvPr id="9" name="Group 8"/>
          <p:cNvGrpSpPr/>
          <p:nvPr/>
        </p:nvGrpSpPr>
        <p:grpSpPr>
          <a:xfrm>
            <a:off x="10715549" y="327143"/>
            <a:ext cx="1216493" cy="975627"/>
            <a:chOff x="7493976" y="445260"/>
            <a:chExt cx="1216493" cy="975627"/>
          </a:xfrm>
        </p:grpSpPr>
        <p:pic>
          <p:nvPicPr>
            <p:cNvPr id="8" name="Picture 7" descr="ThinkstockPhotos-475211555 (1).jp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493976" y="445260"/>
              <a:ext cx="1216493" cy="975627"/>
            </a:xfrm>
            <a:prstGeom prst="rect">
              <a:avLst/>
            </a:prstGeom>
          </p:spPr>
        </p:pic>
        <p:pic>
          <p:nvPicPr>
            <p:cNvPr id="7" name="Picture 6" descr="ThinkstockPhotos-170446161 (1).jpg"/>
            <p:cNvPicPr>
              <a:picLocks noChangeAspect="1"/>
            </p:cNvPicPr>
            <p:nvPr/>
          </p:nvPicPr>
          <p:blipFill>
            <a:blip r:embed="rId5" cstate="print">
              <a:duotone>
                <a:schemeClr val="accent6">
                  <a:shade val="45000"/>
                  <a:satMod val="135000"/>
                </a:schemeClr>
                <a:prstClr val="white"/>
              </a:duotone>
              <a:alphaModFix amt="46000"/>
              <a:extLst>
                <a:ext uri="{BEBA8EAE-BF5A-486C-A8C5-ECC9F3942E4B}">
                  <a14:imgProps xmlns:a14="http://schemas.microsoft.com/office/drawing/2010/main">
                    <a14:imgLayer r:embed="rId6">
                      <a14:imgEffect>
                        <a14:colorTemperature colorTemp="6391"/>
                      </a14:imgEffect>
                      <a14:imgEffect>
                        <a14:saturation sat="217000"/>
                      </a14:imgEffect>
                      <a14:imgEffect>
                        <a14:brightnessContrast bright="-11000" contrast="15000"/>
                      </a14:imgEffect>
                    </a14:imgLayer>
                  </a14:imgProps>
                </a:ext>
                <a:ext uri="{28A0092B-C50C-407E-A947-70E740481C1C}">
                  <a14:useLocalDpi xmlns:a14="http://schemas.microsoft.com/office/drawing/2010/main" val="0"/>
                </a:ext>
              </a:extLst>
            </a:blip>
            <a:stretch>
              <a:fillRect/>
            </a:stretch>
          </p:blipFill>
          <p:spPr>
            <a:xfrm>
              <a:off x="8121935" y="874015"/>
              <a:ext cx="252757" cy="217577"/>
            </a:xfrm>
            <a:prstGeom prst="rect">
              <a:avLst/>
            </a:prstGeom>
          </p:spPr>
        </p:pic>
      </p:grpSp>
    </p:spTree>
    <p:extLst>
      <p:ext uri="{BB962C8B-B14F-4D97-AF65-F5344CB8AC3E}">
        <p14:creationId xmlns:p14="http://schemas.microsoft.com/office/powerpoint/2010/main" val="1686838940"/>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508000"/>
            <a:ext cx="9588137" cy="796925"/>
          </a:xfrm>
        </p:spPr>
        <p:txBody>
          <a:bodyPr>
            <a:noAutofit/>
          </a:bodyPr>
          <a:lstStyle/>
          <a:p>
            <a:r>
              <a:rPr lang="pt-BR" sz="3200" b="1" dirty="0"/>
              <a:t>Exercício : regulamentação e documentação  do transporte de cargas</a:t>
            </a:r>
          </a:p>
        </p:txBody>
      </p:sp>
      <p:sp>
        <p:nvSpPr>
          <p:cNvPr id="4" name="Footer Placeholder 3"/>
          <p:cNvSpPr>
            <a:spLocks noGrp="1"/>
          </p:cNvSpPr>
          <p:nvPr>
            <p:ph type="ftr" sz="quarter" idx="4294967295"/>
          </p:nvPr>
        </p:nvSpPr>
        <p:spPr>
          <a:xfrm>
            <a:off x="0" y="6356350"/>
            <a:ext cx="4114800" cy="365125"/>
          </a:xfrm>
        </p:spPr>
        <p:txBody>
          <a:bodyPr/>
          <a:lstStyle/>
          <a:p>
            <a:r>
              <a:rPr lang="pt-BR"/>
              <a:t>Senac São Paulo</a:t>
            </a:r>
            <a:endParaRPr lang="en-US" b="1" dirty="0">
              <a:latin typeface="Helvetica Neue"/>
              <a:cs typeface="Helvetica Neue"/>
            </a:endParaRPr>
          </a:p>
        </p:txBody>
      </p:sp>
      <p:sp>
        <p:nvSpPr>
          <p:cNvPr id="6" name="TextBox 5"/>
          <p:cNvSpPr txBox="1"/>
          <p:nvPr/>
        </p:nvSpPr>
        <p:spPr>
          <a:xfrm>
            <a:off x="237066" y="2436542"/>
            <a:ext cx="11954934" cy="2031325"/>
          </a:xfrm>
          <a:prstGeom prst="rect">
            <a:avLst/>
          </a:prstGeom>
          <a:noFill/>
        </p:spPr>
        <p:txBody>
          <a:bodyPr wrap="square" rtlCol="0">
            <a:spAutoFit/>
          </a:bodyPr>
          <a:lstStyle/>
          <a:p>
            <a:pPr marL="342900" indent="-342900">
              <a:spcBef>
                <a:spcPts val="600"/>
              </a:spcBef>
              <a:spcAft>
                <a:spcPts val="600"/>
              </a:spcAft>
              <a:buFont typeface="Wingdings" charset="2"/>
              <a:buChar char="§"/>
            </a:pPr>
            <a:r>
              <a:rPr lang="pt-BR" sz="2400" dirty="0">
                <a:latin typeface="Helvetica Neue"/>
                <a:ea typeface="+mj-ea"/>
                <a:cs typeface="Helvetica Neue"/>
              </a:rPr>
              <a:t>Atividade em subgrupos.</a:t>
            </a:r>
          </a:p>
          <a:p>
            <a:pPr marL="342900" indent="-342900" algn="just">
              <a:spcBef>
                <a:spcPts val="600"/>
              </a:spcBef>
              <a:spcAft>
                <a:spcPts val="600"/>
              </a:spcAft>
              <a:buFont typeface="Wingdings" charset="2"/>
              <a:buChar char="§"/>
            </a:pPr>
            <a:r>
              <a:rPr lang="pt-BR" sz="2400" dirty="0">
                <a:latin typeface="Helvetica Neue"/>
                <a:ea typeface="+mj-ea"/>
                <a:cs typeface="Helvetica Neue"/>
              </a:rPr>
              <a:t>Jogo. </a:t>
            </a:r>
          </a:p>
          <a:p>
            <a:pPr marL="342900" indent="-342900" algn="just">
              <a:spcBef>
                <a:spcPts val="600"/>
              </a:spcBef>
              <a:spcAft>
                <a:spcPts val="600"/>
              </a:spcAft>
              <a:buFont typeface="Wingdings" charset="2"/>
              <a:buChar char="§"/>
            </a:pPr>
            <a:r>
              <a:rPr lang="pt-BR" sz="2400" dirty="0">
                <a:latin typeface="Helvetica Neue"/>
                <a:ea typeface="+mj-ea"/>
                <a:cs typeface="Helvetica Neue"/>
              </a:rPr>
              <a:t>Após a atividade será feita uma plenária para discutir os resultados.</a:t>
            </a:r>
          </a:p>
          <a:p>
            <a:pPr marL="342900" indent="-342900">
              <a:spcBef>
                <a:spcPts val="600"/>
              </a:spcBef>
              <a:spcAft>
                <a:spcPts val="600"/>
              </a:spcAft>
              <a:buFont typeface="Wingdings" charset="2"/>
              <a:buChar char="§"/>
            </a:pPr>
            <a:r>
              <a:rPr lang="pt-BR" sz="2400" dirty="0">
                <a:latin typeface="Helvetica Neue"/>
                <a:ea typeface="+mj-ea"/>
                <a:cs typeface="Helvetica Neue"/>
              </a:rPr>
              <a:t>Tempo estimado: 45 min.</a:t>
            </a:r>
          </a:p>
        </p:txBody>
      </p:sp>
      <p:pic>
        <p:nvPicPr>
          <p:cNvPr id="8" name="Picture 7" descr="ThinkstockPhotos-475383667 (1).jpg"/>
          <p:cNvPicPr>
            <a:picLocks noChangeAspect="1"/>
          </p:cNvPicPr>
          <p:nvPr/>
        </p:nvPicPr>
        <p:blipFill rotWithShape="1">
          <a:blip r:embed="rId3">
            <a:extLst>
              <a:ext uri="{BEBA8EAE-BF5A-486C-A8C5-ECC9F3942E4B}">
                <a14:imgProps xmlns:a14="http://schemas.microsoft.com/office/drawing/2010/main">
                  <a14:imgLayer r:embed="rId4">
                    <a14:imgEffect>
                      <a14:sharpenSoften amount="24000"/>
                    </a14:imgEffect>
                    <a14:imgEffect>
                      <a14:brightnessContrast bright="3000" contrast="1000"/>
                    </a14:imgEffect>
                  </a14:imgLayer>
                </a14:imgProps>
              </a:ext>
              <a:ext uri="{28A0092B-C50C-407E-A947-70E740481C1C}">
                <a14:useLocalDpi xmlns:a14="http://schemas.microsoft.com/office/drawing/2010/main" val="0"/>
              </a:ext>
            </a:extLst>
          </a:blip>
          <a:srcRect l="10540" r="6409"/>
          <a:stretch/>
        </p:blipFill>
        <p:spPr>
          <a:xfrm>
            <a:off x="9431384" y="168365"/>
            <a:ext cx="2458552" cy="1965234"/>
          </a:xfrm>
          <a:prstGeom prst="rect">
            <a:avLst/>
          </a:prstGeom>
        </p:spPr>
      </p:pic>
    </p:spTree>
    <p:extLst>
      <p:ext uri="{BB962C8B-B14F-4D97-AF65-F5344CB8AC3E}">
        <p14:creationId xmlns:p14="http://schemas.microsoft.com/office/powerpoint/2010/main" val="10780387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xmlns:p14="http://schemas.microsoft.com/office/powerpoint/2010/main">
        <p:cut/>
      </p:transition>
    </mc:Fallback>
  </mc:AlternateContent>
</p:sld>
</file>

<file path=ppt/slides/slide2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tângulo 1"/>
          <p:cNvSpPr/>
          <p:nvPr/>
        </p:nvSpPr>
        <p:spPr>
          <a:xfrm>
            <a:off x="180310" y="2714787"/>
            <a:ext cx="11744305" cy="1446550"/>
          </a:xfrm>
          <a:prstGeom prst="rect">
            <a:avLst/>
          </a:prstGeom>
          <a:noFill/>
        </p:spPr>
        <p:txBody>
          <a:bodyPr wrap="none" lIns="91440" tIns="45720" rIns="91440" bIns="45720">
            <a:spAutoFit/>
          </a:bodyPr>
          <a:lstStyle/>
          <a:p>
            <a:pPr algn="ctr"/>
            <a:r>
              <a:rPr lang="pt-BR" sz="88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Gerenciamento de riscos</a:t>
            </a:r>
          </a:p>
        </p:txBody>
      </p:sp>
    </p:spTree>
    <p:extLst>
      <p:ext uri="{BB962C8B-B14F-4D97-AF65-F5344CB8AC3E}">
        <p14:creationId xmlns:p14="http://schemas.microsoft.com/office/powerpoint/2010/main" val="1587182851"/>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tângulo 4"/>
          <p:cNvSpPr/>
          <p:nvPr/>
        </p:nvSpPr>
        <p:spPr>
          <a:xfrm>
            <a:off x="1524000" y="535431"/>
            <a:ext cx="9144000" cy="523220"/>
          </a:xfrm>
          <a:prstGeom prst="rect">
            <a:avLst/>
          </a:prstGeom>
        </p:spPr>
        <p:txBody>
          <a:bodyPr wrap="square">
            <a:spAutoFit/>
          </a:bodyPr>
          <a:lstStyle/>
          <a:p>
            <a:pPr algn="ctr"/>
            <a:r>
              <a:rPr lang="pt-BR" sz="2800" b="1" u="sng" dirty="0">
                <a:solidFill>
                  <a:srgbClr val="002060"/>
                </a:solidFill>
              </a:rPr>
              <a:t>O Que é Percepção de Risco?</a:t>
            </a:r>
          </a:p>
        </p:txBody>
      </p:sp>
      <p:sp>
        <p:nvSpPr>
          <p:cNvPr id="6" name="Retângulo 5"/>
          <p:cNvSpPr/>
          <p:nvPr/>
        </p:nvSpPr>
        <p:spPr>
          <a:xfrm>
            <a:off x="178387" y="988984"/>
            <a:ext cx="12013613" cy="3323987"/>
          </a:xfrm>
          <a:prstGeom prst="rect">
            <a:avLst/>
          </a:prstGeom>
        </p:spPr>
        <p:txBody>
          <a:bodyPr wrap="square">
            <a:spAutoFit/>
          </a:bodyPr>
          <a:lstStyle/>
          <a:p>
            <a:pPr algn="just">
              <a:lnSpc>
                <a:spcPct val="150000"/>
              </a:lnSpc>
            </a:pPr>
            <a:r>
              <a:rPr lang="pt-BR" sz="2800" dirty="0">
                <a:solidFill>
                  <a:srgbClr val="002060"/>
                </a:solidFill>
              </a:rPr>
              <a:t>	A percepção de risco deve ser trabalhada no ambiente de trabalho com o objetivo de evitar acidentes. A segurança no trabalho é algo essencial para o bom funcionamento de uma empresa. Diversos fatores podem gerar acidentes de trabalho, como instalações mal higienizadas, falta de equipamentos de proteção adequados, falta de conhecimento por parte do trabalhador, entre outros. </a:t>
            </a:r>
          </a:p>
        </p:txBody>
      </p:sp>
      <p:sp>
        <p:nvSpPr>
          <p:cNvPr id="7" name="CaixaDeTexto 6">
            <a:extLst>
              <a:ext uri="{FF2B5EF4-FFF2-40B4-BE49-F238E27FC236}">
                <a16:creationId xmlns:a16="http://schemas.microsoft.com/office/drawing/2014/main" id="{EE92C5CE-1689-4913-868B-83F4574D00DA}"/>
              </a:ext>
            </a:extLst>
          </p:cNvPr>
          <p:cNvSpPr txBox="1"/>
          <p:nvPr/>
        </p:nvSpPr>
        <p:spPr>
          <a:xfrm>
            <a:off x="1524001" y="15060"/>
            <a:ext cx="9143999" cy="369332"/>
          </a:xfrm>
          <a:prstGeom prst="rect">
            <a:avLst/>
          </a:prstGeom>
          <a:noFill/>
        </p:spPr>
        <p:txBody>
          <a:bodyPr wrap="square">
            <a:spAutoFit/>
          </a:bodyPr>
          <a:lstStyle/>
          <a:p>
            <a:pPr algn="r"/>
            <a:r>
              <a:rPr lang="pt-BR" b="1" u="sng" dirty="0">
                <a:solidFill>
                  <a:srgbClr val="002060"/>
                </a:solidFill>
              </a:rPr>
              <a:t>Percepção de Risco</a:t>
            </a:r>
            <a:endParaRPr lang="pt-BR" dirty="0"/>
          </a:p>
        </p:txBody>
      </p:sp>
    </p:spTree>
    <p:extLst>
      <p:ext uri="{BB962C8B-B14F-4D97-AF65-F5344CB8AC3E}">
        <p14:creationId xmlns:p14="http://schemas.microsoft.com/office/powerpoint/2010/main" val="958387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Retângulo 5"/>
          <p:cNvSpPr/>
          <p:nvPr/>
        </p:nvSpPr>
        <p:spPr>
          <a:xfrm>
            <a:off x="0" y="1073666"/>
            <a:ext cx="12192000" cy="4161460"/>
          </a:xfrm>
          <a:prstGeom prst="rect">
            <a:avLst/>
          </a:prstGeom>
        </p:spPr>
        <p:txBody>
          <a:bodyPr wrap="square">
            <a:spAutoFit/>
          </a:bodyPr>
          <a:lstStyle/>
          <a:p>
            <a:pPr algn="just">
              <a:lnSpc>
                <a:spcPct val="150000"/>
              </a:lnSpc>
            </a:pPr>
            <a:r>
              <a:rPr lang="pt-BR" sz="2800" dirty="0">
                <a:solidFill>
                  <a:srgbClr val="002060"/>
                </a:solidFill>
              </a:rPr>
              <a:t>	</a:t>
            </a:r>
            <a:r>
              <a:rPr lang="pt-BR" sz="3600" dirty="0">
                <a:solidFill>
                  <a:srgbClr val="002060"/>
                </a:solidFill>
              </a:rPr>
              <a:t> E a percepção destes riscos é algo fundamental para manter a segurança dos funcionários no local de trabalho. O treinamento dos funcionários é o que deve ser feito para que a percepção de riscos no ambiente possa acontecer de maneira natural.</a:t>
            </a:r>
          </a:p>
        </p:txBody>
      </p:sp>
      <p:sp>
        <p:nvSpPr>
          <p:cNvPr id="2" name="CaixaDeTexto 1">
            <a:extLst>
              <a:ext uri="{FF2B5EF4-FFF2-40B4-BE49-F238E27FC236}">
                <a16:creationId xmlns:a16="http://schemas.microsoft.com/office/drawing/2014/main" id="{9DEAC8FE-D84A-4EFD-81F9-7506DA81C91E}"/>
              </a:ext>
            </a:extLst>
          </p:cNvPr>
          <p:cNvSpPr txBox="1"/>
          <p:nvPr/>
        </p:nvSpPr>
        <p:spPr>
          <a:xfrm>
            <a:off x="1524001" y="15060"/>
            <a:ext cx="9143999" cy="369332"/>
          </a:xfrm>
          <a:prstGeom prst="rect">
            <a:avLst/>
          </a:prstGeom>
          <a:noFill/>
        </p:spPr>
        <p:txBody>
          <a:bodyPr wrap="square">
            <a:spAutoFit/>
          </a:bodyPr>
          <a:lstStyle/>
          <a:p>
            <a:pPr algn="r"/>
            <a:r>
              <a:rPr lang="pt-BR" b="1" u="sng" dirty="0">
                <a:solidFill>
                  <a:srgbClr val="002060"/>
                </a:solidFill>
              </a:rPr>
              <a:t>Percepção de Risco</a:t>
            </a:r>
            <a:endParaRPr lang="pt-BR" dirty="0"/>
          </a:p>
        </p:txBody>
      </p:sp>
    </p:spTree>
    <p:extLst>
      <p:ext uri="{BB962C8B-B14F-4D97-AF65-F5344CB8AC3E}">
        <p14:creationId xmlns:p14="http://schemas.microsoft.com/office/powerpoint/2010/main" val="1496572628"/>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9DEAC8FE-D84A-4EFD-81F9-7506DA81C91E}"/>
              </a:ext>
            </a:extLst>
          </p:cNvPr>
          <p:cNvSpPr txBox="1"/>
          <p:nvPr/>
        </p:nvSpPr>
        <p:spPr>
          <a:xfrm>
            <a:off x="1524001" y="15060"/>
            <a:ext cx="9143999" cy="369332"/>
          </a:xfrm>
          <a:prstGeom prst="rect">
            <a:avLst/>
          </a:prstGeom>
          <a:noFill/>
        </p:spPr>
        <p:txBody>
          <a:bodyPr wrap="square">
            <a:spAutoFit/>
          </a:bodyPr>
          <a:lstStyle/>
          <a:p>
            <a:pPr algn="r"/>
            <a:r>
              <a:rPr lang="pt-BR" b="1" u="sng" dirty="0">
                <a:solidFill>
                  <a:srgbClr val="002060"/>
                </a:solidFill>
              </a:rPr>
              <a:t>Percepção de Risco</a:t>
            </a:r>
            <a:endParaRPr lang="pt-BR" dirty="0"/>
          </a:p>
        </p:txBody>
      </p:sp>
      <p:grpSp>
        <p:nvGrpSpPr>
          <p:cNvPr id="3" name="Grupo 2"/>
          <p:cNvGrpSpPr/>
          <p:nvPr/>
        </p:nvGrpSpPr>
        <p:grpSpPr>
          <a:xfrm>
            <a:off x="1904998" y="1804891"/>
            <a:ext cx="8311528" cy="3872008"/>
            <a:chOff x="380998" y="1804891"/>
            <a:chExt cx="8311528" cy="3872008"/>
          </a:xfrm>
        </p:grpSpPr>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24949" t="6999" r="22899" b="14000"/>
            <a:stretch/>
          </p:blipFill>
          <p:spPr bwMode="auto">
            <a:xfrm>
              <a:off x="380998" y="1804892"/>
              <a:ext cx="4362451" cy="387200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1027" name="Picture 3"/>
            <p:cNvPicPr>
              <a:picLocks noChangeAspect="1" noChangeArrowheads="1"/>
            </p:cNvPicPr>
            <p:nvPr/>
          </p:nvPicPr>
          <p:blipFill rotWithShape="1">
            <a:blip r:embed="rId4">
              <a:extLst>
                <a:ext uri="{28A0092B-C50C-407E-A947-70E740481C1C}">
                  <a14:useLocalDpi xmlns:a14="http://schemas.microsoft.com/office/drawing/2010/main" val="0"/>
                </a:ext>
              </a:extLst>
            </a:blip>
            <a:srcRect l="30274" t="12666" r="29492" b="18001"/>
            <a:stretch/>
          </p:blipFill>
          <p:spPr bwMode="auto">
            <a:xfrm>
              <a:off x="4857750" y="1804891"/>
              <a:ext cx="3834776" cy="387200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grpSp>
      <p:sp>
        <p:nvSpPr>
          <p:cNvPr id="7" name="Retângulo 6">
            <a:hlinkClick r:id="rId5" action="ppaction://hlinkfile"/>
          </p:cNvPr>
          <p:cNvSpPr/>
          <p:nvPr/>
        </p:nvSpPr>
        <p:spPr>
          <a:xfrm>
            <a:off x="1524000" y="535431"/>
            <a:ext cx="9144000" cy="523220"/>
          </a:xfrm>
          <a:prstGeom prst="rect">
            <a:avLst/>
          </a:prstGeom>
        </p:spPr>
        <p:txBody>
          <a:bodyPr wrap="square">
            <a:spAutoFit/>
          </a:bodyPr>
          <a:lstStyle/>
          <a:p>
            <a:pPr algn="ctr"/>
            <a:r>
              <a:rPr lang="pt-BR" sz="2800" b="1" u="sng" dirty="0">
                <a:solidFill>
                  <a:srgbClr val="002060"/>
                </a:solidFill>
              </a:rPr>
              <a:t>Será que o Risco é Perceptível?</a:t>
            </a:r>
          </a:p>
        </p:txBody>
      </p:sp>
    </p:spTree>
    <p:extLst>
      <p:ext uri="{BB962C8B-B14F-4D97-AF65-F5344CB8AC3E}">
        <p14:creationId xmlns:p14="http://schemas.microsoft.com/office/powerpoint/2010/main" val="1539518162"/>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Retângulo 5"/>
          <p:cNvSpPr/>
          <p:nvPr/>
        </p:nvSpPr>
        <p:spPr>
          <a:xfrm>
            <a:off x="253713" y="1545499"/>
            <a:ext cx="11684574" cy="3970318"/>
          </a:xfrm>
          <a:prstGeom prst="rect">
            <a:avLst/>
          </a:prstGeom>
        </p:spPr>
        <p:txBody>
          <a:bodyPr wrap="square">
            <a:spAutoFit/>
          </a:bodyPr>
          <a:lstStyle/>
          <a:p>
            <a:pPr algn="just">
              <a:lnSpc>
                <a:spcPct val="150000"/>
              </a:lnSpc>
            </a:pPr>
            <a:r>
              <a:rPr lang="pt-BR" sz="2600" dirty="0">
                <a:solidFill>
                  <a:srgbClr val="002060"/>
                </a:solidFill>
              </a:rPr>
              <a:t>	 </a:t>
            </a:r>
            <a:r>
              <a:rPr lang="pt-BR" sz="2800" dirty="0">
                <a:solidFill>
                  <a:srgbClr val="002060"/>
                </a:solidFill>
              </a:rPr>
              <a:t>Através da educação para a segurança, a percepção de riscos é desenvolvida e aprimorada nos trabalhadores e gestores, ampliando a segurança de trabalho no local e melhorando o desempenho de toda a equipe. Ela atua na causa dos acontecimentos, ou seja, o porquê de um acidente acontecer. As consequências do ocorrido são retratadas pela percepção de riscos e a educação de segurança no trabalho.</a:t>
            </a:r>
            <a:endParaRPr lang="pt-BR" sz="2600" dirty="0">
              <a:solidFill>
                <a:srgbClr val="002060"/>
              </a:solidFill>
            </a:endParaRPr>
          </a:p>
        </p:txBody>
      </p:sp>
      <p:sp>
        <p:nvSpPr>
          <p:cNvPr id="2" name="CaixaDeTexto 1">
            <a:extLst>
              <a:ext uri="{FF2B5EF4-FFF2-40B4-BE49-F238E27FC236}">
                <a16:creationId xmlns:a16="http://schemas.microsoft.com/office/drawing/2014/main" id="{B6DBACAC-43D9-451C-ADD0-29CF979F8FCA}"/>
              </a:ext>
            </a:extLst>
          </p:cNvPr>
          <p:cNvSpPr txBox="1"/>
          <p:nvPr/>
        </p:nvSpPr>
        <p:spPr>
          <a:xfrm>
            <a:off x="1524001" y="15060"/>
            <a:ext cx="9143999" cy="369332"/>
          </a:xfrm>
          <a:prstGeom prst="rect">
            <a:avLst/>
          </a:prstGeom>
          <a:noFill/>
        </p:spPr>
        <p:txBody>
          <a:bodyPr wrap="square">
            <a:spAutoFit/>
          </a:bodyPr>
          <a:lstStyle/>
          <a:p>
            <a:pPr algn="r"/>
            <a:r>
              <a:rPr lang="pt-BR" b="1" u="sng" dirty="0">
                <a:solidFill>
                  <a:srgbClr val="002060"/>
                </a:solidFill>
              </a:rPr>
              <a:t>Percepção de Risco</a:t>
            </a:r>
            <a:endParaRPr lang="pt-BR" dirty="0"/>
          </a:p>
        </p:txBody>
      </p:sp>
    </p:spTree>
    <p:extLst>
      <p:ext uri="{BB962C8B-B14F-4D97-AF65-F5344CB8AC3E}">
        <p14:creationId xmlns:p14="http://schemas.microsoft.com/office/powerpoint/2010/main" val="277007418"/>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Retângulo 2"/>
          <p:cNvSpPr/>
          <p:nvPr/>
        </p:nvSpPr>
        <p:spPr>
          <a:xfrm>
            <a:off x="38885" y="2252487"/>
            <a:ext cx="12114230" cy="3323987"/>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algn="just">
              <a:lnSpc>
                <a:spcPct val="150000"/>
              </a:lnSpc>
            </a:pPr>
            <a:r>
              <a:rPr lang="pt-BR" sz="2800" b="1" dirty="0">
                <a:solidFill>
                  <a:srgbClr val="002060"/>
                </a:solidFill>
                <a:latin typeface="Arial" panose="020B0604020202020204" pitchFamily="34" charset="0"/>
                <a:cs typeface="Arial" panose="020B0604020202020204" pitchFamily="34" charset="0"/>
              </a:rPr>
              <a:t>	</a:t>
            </a:r>
          </a:p>
          <a:p>
            <a:pPr algn="just">
              <a:lnSpc>
                <a:spcPct val="150000"/>
              </a:lnSpc>
            </a:pPr>
            <a:r>
              <a:rPr lang="pt-BR" sz="2800" b="1" dirty="0">
                <a:solidFill>
                  <a:srgbClr val="002060"/>
                </a:solidFill>
                <a:latin typeface="Arial" panose="020B0604020202020204" pitchFamily="34" charset="0"/>
                <a:cs typeface="Arial" panose="020B0604020202020204" pitchFamily="34" charset="0"/>
              </a:rPr>
              <a:t>	A seguir, será apresentado uma teoria que identifica as causas de acidentes, simplesmente pelo fato de muitos gestores e trabalhadores não se preocuparem com o que é essencial...</a:t>
            </a:r>
          </a:p>
          <a:p>
            <a:pPr algn="just">
              <a:lnSpc>
                <a:spcPct val="150000"/>
              </a:lnSpc>
            </a:pPr>
            <a:endParaRPr lang="pt-BR" sz="2800" b="1" dirty="0">
              <a:solidFill>
                <a:srgbClr val="002060"/>
              </a:solidFill>
              <a:latin typeface="Arial" panose="020B0604020202020204" pitchFamily="34" charset="0"/>
              <a:cs typeface="Arial" panose="020B0604020202020204" pitchFamily="34" charset="0"/>
            </a:endParaRPr>
          </a:p>
        </p:txBody>
      </p:sp>
      <p:sp>
        <p:nvSpPr>
          <p:cNvPr id="2" name="CaixaDeTexto 1">
            <a:extLst>
              <a:ext uri="{FF2B5EF4-FFF2-40B4-BE49-F238E27FC236}">
                <a16:creationId xmlns:a16="http://schemas.microsoft.com/office/drawing/2014/main" id="{E9649631-09AB-4CE8-98DC-3275C970D1A0}"/>
              </a:ext>
            </a:extLst>
          </p:cNvPr>
          <p:cNvSpPr txBox="1"/>
          <p:nvPr/>
        </p:nvSpPr>
        <p:spPr>
          <a:xfrm>
            <a:off x="1524001" y="15060"/>
            <a:ext cx="9143999" cy="369332"/>
          </a:xfrm>
          <a:prstGeom prst="rect">
            <a:avLst/>
          </a:prstGeom>
          <a:noFill/>
        </p:spPr>
        <p:txBody>
          <a:bodyPr wrap="square">
            <a:spAutoFit/>
          </a:bodyPr>
          <a:lstStyle/>
          <a:p>
            <a:pPr algn="r"/>
            <a:r>
              <a:rPr lang="pt-BR" b="1" u="sng" dirty="0">
                <a:solidFill>
                  <a:srgbClr val="002060"/>
                </a:solidFill>
              </a:rPr>
              <a:t>Percepção de Risco</a:t>
            </a:r>
            <a:endParaRPr lang="pt-BR" dirty="0"/>
          </a:p>
        </p:txBody>
      </p:sp>
    </p:spTree>
    <p:extLst>
      <p:ext uri="{BB962C8B-B14F-4D97-AF65-F5344CB8AC3E}">
        <p14:creationId xmlns:p14="http://schemas.microsoft.com/office/powerpoint/2010/main" val="537048112"/>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Retângulo 2"/>
          <p:cNvSpPr/>
          <p:nvPr/>
        </p:nvSpPr>
        <p:spPr>
          <a:xfrm>
            <a:off x="143894" y="1311149"/>
            <a:ext cx="11904212" cy="3508653"/>
          </a:xfrm>
          <a:prstGeom prst="rect">
            <a:avLst/>
          </a:prstGeom>
        </p:spPr>
        <p:txBody>
          <a:bodyPr wrap="square">
            <a:spAutoFit/>
          </a:bodyPr>
          <a:lstStyle/>
          <a:p>
            <a:pPr algn="just">
              <a:lnSpc>
                <a:spcPct val="150000"/>
              </a:lnSpc>
            </a:pPr>
            <a:r>
              <a:rPr lang="pt-BR" sz="2800" b="1" dirty="0">
                <a:solidFill>
                  <a:srgbClr val="002060"/>
                </a:solidFill>
              </a:rPr>
              <a:t>Teoria do “Queijo Suíço”</a:t>
            </a:r>
          </a:p>
          <a:p>
            <a:pPr algn="just">
              <a:lnSpc>
                <a:spcPct val="150000"/>
              </a:lnSpc>
            </a:pPr>
            <a:endParaRPr lang="pt-BR" sz="800" dirty="0">
              <a:solidFill>
                <a:srgbClr val="002060"/>
              </a:solidFill>
            </a:endParaRPr>
          </a:p>
          <a:p>
            <a:pPr algn="just">
              <a:lnSpc>
                <a:spcPct val="150000"/>
              </a:lnSpc>
            </a:pPr>
            <a:r>
              <a:rPr lang="pt-BR" sz="2800" dirty="0">
                <a:solidFill>
                  <a:srgbClr val="002060"/>
                </a:solidFill>
              </a:rPr>
              <a:t>	James </a:t>
            </a:r>
            <a:r>
              <a:rPr lang="pt-BR" sz="2800" dirty="0" err="1">
                <a:solidFill>
                  <a:srgbClr val="002060"/>
                </a:solidFill>
              </a:rPr>
              <a:t>Reason</a:t>
            </a:r>
            <a:r>
              <a:rPr lang="pt-BR" sz="2800" dirty="0">
                <a:solidFill>
                  <a:srgbClr val="002060"/>
                </a:solidFill>
              </a:rPr>
              <a:t>, desenvolveu um modelo organizacional para explicar a causa dos acidentes em sistemas tecnológicos complexos. Os acidentes organizacionais não ocorrem devido a um único erro humano, mas sim pela interconexão de vários fatores que ocorrem a vários níveis da organização. </a:t>
            </a:r>
          </a:p>
        </p:txBody>
      </p:sp>
      <p:sp>
        <p:nvSpPr>
          <p:cNvPr id="2" name="CaixaDeTexto 1">
            <a:extLst>
              <a:ext uri="{FF2B5EF4-FFF2-40B4-BE49-F238E27FC236}">
                <a16:creationId xmlns:a16="http://schemas.microsoft.com/office/drawing/2014/main" id="{470868C1-3A29-4AAF-BE75-7CEE545BCD97}"/>
              </a:ext>
            </a:extLst>
          </p:cNvPr>
          <p:cNvSpPr txBox="1"/>
          <p:nvPr/>
        </p:nvSpPr>
        <p:spPr>
          <a:xfrm>
            <a:off x="1524001" y="15060"/>
            <a:ext cx="9143999" cy="369332"/>
          </a:xfrm>
          <a:prstGeom prst="rect">
            <a:avLst/>
          </a:prstGeom>
          <a:noFill/>
        </p:spPr>
        <p:txBody>
          <a:bodyPr wrap="square">
            <a:spAutoFit/>
          </a:bodyPr>
          <a:lstStyle/>
          <a:p>
            <a:pPr algn="r"/>
            <a:r>
              <a:rPr lang="pt-BR" b="1" u="sng" dirty="0">
                <a:solidFill>
                  <a:srgbClr val="002060"/>
                </a:solidFill>
              </a:rPr>
              <a:t>Percepção de Risco</a:t>
            </a:r>
            <a:endParaRPr lang="pt-BR" dirty="0"/>
          </a:p>
        </p:txBody>
      </p:sp>
    </p:spTree>
    <p:extLst>
      <p:ext uri="{BB962C8B-B14F-4D97-AF65-F5344CB8AC3E}">
        <p14:creationId xmlns:p14="http://schemas.microsoft.com/office/powerpoint/2010/main" val="161169394"/>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Retângulo 2"/>
          <p:cNvSpPr/>
          <p:nvPr/>
        </p:nvSpPr>
        <p:spPr>
          <a:xfrm>
            <a:off x="1949303" y="574868"/>
            <a:ext cx="8208335" cy="5262979"/>
          </a:xfrm>
          <a:prstGeom prst="rect">
            <a:avLst/>
          </a:prstGeom>
        </p:spPr>
        <p:txBody>
          <a:bodyPr wrap="square">
            <a:spAutoFit/>
          </a:bodyPr>
          <a:lstStyle/>
          <a:p>
            <a:pPr algn="just">
              <a:lnSpc>
                <a:spcPct val="150000"/>
              </a:lnSpc>
            </a:pPr>
            <a:r>
              <a:rPr lang="pt-BR" sz="2800" dirty="0">
                <a:solidFill>
                  <a:srgbClr val="002060"/>
                </a:solidFill>
              </a:rPr>
              <a:t>	Reason, enfatiza o conceito de segurança organizacional e de como as defesas (barreiras de proteção materiais, humanas e procedimentos) podem falhar. Nesta abordagem, a causa imediata ou próxima do acidente é a falha das pessoas que estão diretamente envolvidas na regulação do processo ou em interação com a tecnologia (Reason, 1990; Woods et tal, 1994). </a:t>
            </a:r>
          </a:p>
        </p:txBody>
      </p:sp>
      <p:sp>
        <p:nvSpPr>
          <p:cNvPr id="2" name="CaixaDeTexto 1">
            <a:extLst>
              <a:ext uri="{FF2B5EF4-FFF2-40B4-BE49-F238E27FC236}">
                <a16:creationId xmlns:a16="http://schemas.microsoft.com/office/drawing/2014/main" id="{C97DDBA9-F178-46AE-857E-3E09FF891287}"/>
              </a:ext>
            </a:extLst>
          </p:cNvPr>
          <p:cNvSpPr txBox="1"/>
          <p:nvPr/>
        </p:nvSpPr>
        <p:spPr>
          <a:xfrm>
            <a:off x="1524001" y="15060"/>
            <a:ext cx="9143999" cy="369332"/>
          </a:xfrm>
          <a:prstGeom prst="rect">
            <a:avLst/>
          </a:prstGeom>
          <a:noFill/>
        </p:spPr>
        <p:txBody>
          <a:bodyPr wrap="square">
            <a:spAutoFit/>
          </a:bodyPr>
          <a:lstStyle/>
          <a:p>
            <a:pPr algn="r"/>
            <a:r>
              <a:rPr lang="pt-BR" b="1" u="sng" dirty="0">
                <a:solidFill>
                  <a:srgbClr val="002060"/>
                </a:solidFill>
              </a:rPr>
              <a:t>Percepção de Risco</a:t>
            </a:r>
            <a:endParaRPr lang="pt-BR" dirty="0"/>
          </a:p>
        </p:txBody>
      </p:sp>
    </p:spTree>
    <p:extLst>
      <p:ext uri="{BB962C8B-B14F-4D97-AF65-F5344CB8AC3E}">
        <p14:creationId xmlns:p14="http://schemas.microsoft.com/office/powerpoint/2010/main" val="2984292076"/>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Retângulo 2"/>
          <p:cNvSpPr/>
          <p:nvPr/>
        </p:nvSpPr>
        <p:spPr>
          <a:xfrm>
            <a:off x="1885508" y="578220"/>
            <a:ext cx="8442251" cy="5078313"/>
          </a:xfrm>
          <a:prstGeom prst="rect">
            <a:avLst/>
          </a:prstGeom>
        </p:spPr>
        <p:txBody>
          <a:bodyPr wrap="square">
            <a:spAutoFit/>
          </a:bodyPr>
          <a:lstStyle/>
          <a:p>
            <a:pPr algn="just">
              <a:lnSpc>
                <a:spcPct val="150000"/>
              </a:lnSpc>
            </a:pPr>
            <a:r>
              <a:rPr lang="pt-BR" sz="2700" dirty="0">
                <a:solidFill>
                  <a:srgbClr val="002060"/>
                </a:solidFill>
              </a:rPr>
              <a:t>	Reason (1997) define os acidentes organizacionais como situações em que as condições latentes emergem de aspectos como as práticas dos gestores na decisão ou influências culturais, combinadas adversamente com eventos locais provocados (tais como clima, localização, etc.) e falhas ativas (erros e/ou violação de procedimentos) efetuadas por indivíduos ou equipas nos limites de uma organização para produzir um acidente.</a:t>
            </a:r>
          </a:p>
        </p:txBody>
      </p:sp>
      <p:sp>
        <p:nvSpPr>
          <p:cNvPr id="2" name="CaixaDeTexto 1">
            <a:extLst>
              <a:ext uri="{FF2B5EF4-FFF2-40B4-BE49-F238E27FC236}">
                <a16:creationId xmlns:a16="http://schemas.microsoft.com/office/drawing/2014/main" id="{095FC8DD-4D32-4933-AA9F-E433F44C3D6E}"/>
              </a:ext>
            </a:extLst>
          </p:cNvPr>
          <p:cNvSpPr txBox="1"/>
          <p:nvPr/>
        </p:nvSpPr>
        <p:spPr>
          <a:xfrm>
            <a:off x="1524001" y="15060"/>
            <a:ext cx="9143999" cy="369332"/>
          </a:xfrm>
          <a:prstGeom prst="rect">
            <a:avLst/>
          </a:prstGeom>
          <a:noFill/>
        </p:spPr>
        <p:txBody>
          <a:bodyPr wrap="square">
            <a:spAutoFit/>
          </a:bodyPr>
          <a:lstStyle/>
          <a:p>
            <a:pPr algn="r"/>
            <a:r>
              <a:rPr lang="pt-BR" b="1" u="sng" dirty="0">
                <a:solidFill>
                  <a:srgbClr val="002060"/>
                </a:solidFill>
              </a:rPr>
              <a:t>Percepção de Risco</a:t>
            </a:r>
            <a:endParaRPr lang="pt-BR" dirty="0"/>
          </a:p>
        </p:txBody>
      </p:sp>
    </p:spTree>
    <p:extLst>
      <p:ext uri="{BB962C8B-B14F-4D97-AF65-F5344CB8AC3E}">
        <p14:creationId xmlns:p14="http://schemas.microsoft.com/office/powerpoint/2010/main" val="2421104205"/>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Retângulo 2"/>
          <p:cNvSpPr/>
          <p:nvPr/>
        </p:nvSpPr>
        <p:spPr>
          <a:xfrm>
            <a:off x="73112" y="1628150"/>
            <a:ext cx="12031802" cy="2031325"/>
          </a:xfrm>
          <a:prstGeom prst="rect">
            <a:avLst/>
          </a:prstGeom>
        </p:spPr>
        <p:txBody>
          <a:bodyPr wrap="square">
            <a:spAutoFit/>
          </a:bodyPr>
          <a:lstStyle/>
          <a:p>
            <a:pPr algn="just">
              <a:lnSpc>
                <a:spcPct val="150000"/>
              </a:lnSpc>
            </a:pPr>
            <a:r>
              <a:rPr lang="pt-BR" sz="2800" dirty="0">
                <a:solidFill>
                  <a:srgbClr val="002060"/>
                </a:solidFill>
              </a:rPr>
              <a:t>	As defesas, barreiras e proteções ocupam uma posição estratégica no sistema abordado para o bom funcionamento da segurança em sistemas complexos. </a:t>
            </a:r>
          </a:p>
        </p:txBody>
      </p:sp>
      <p:sp>
        <p:nvSpPr>
          <p:cNvPr id="2" name="CaixaDeTexto 1">
            <a:extLst>
              <a:ext uri="{FF2B5EF4-FFF2-40B4-BE49-F238E27FC236}">
                <a16:creationId xmlns:a16="http://schemas.microsoft.com/office/drawing/2014/main" id="{2CA42A6F-E7A7-4B8A-A2D0-713AE3624EF1}"/>
              </a:ext>
            </a:extLst>
          </p:cNvPr>
          <p:cNvSpPr txBox="1"/>
          <p:nvPr/>
        </p:nvSpPr>
        <p:spPr>
          <a:xfrm>
            <a:off x="1524001" y="15060"/>
            <a:ext cx="9143999" cy="369332"/>
          </a:xfrm>
          <a:prstGeom prst="rect">
            <a:avLst/>
          </a:prstGeom>
          <a:noFill/>
        </p:spPr>
        <p:txBody>
          <a:bodyPr wrap="square">
            <a:spAutoFit/>
          </a:bodyPr>
          <a:lstStyle/>
          <a:p>
            <a:pPr algn="r"/>
            <a:r>
              <a:rPr lang="pt-BR" b="1" u="sng" dirty="0">
                <a:solidFill>
                  <a:srgbClr val="002060"/>
                </a:solidFill>
              </a:rPr>
              <a:t>Percepção de Risco</a:t>
            </a:r>
            <a:endParaRPr lang="pt-BR" dirty="0"/>
          </a:p>
        </p:txBody>
      </p:sp>
    </p:spTree>
    <p:extLst>
      <p:ext uri="{BB962C8B-B14F-4D97-AF65-F5344CB8AC3E}">
        <p14:creationId xmlns:p14="http://schemas.microsoft.com/office/powerpoint/2010/main" val="3923860036"/>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Retângulo 2"/>
          <p:cNvSpPr/>
          <p:nvPr/>
        </p:nvSpPr>
        <p:spPr>
          <a:xfrm>
            <a:off x="206373" y="1768031"/>
            <a:ext cx="11779254" cy="3970318"/>
          </a:xfrm>
          <a:prstGeom prst="rect">
            <a:avLst/>
          </a:prstGeom>
        </p:spPr>
        <p:txBody>
          <a:bodyPr wrap="square">
            <a:spAutoFit/>
          </a:bodyPr>
          <a:lstStyle/>
          <a:p>
            <a:pPr algn="just">
              <a:lnSpc>
                <a:spcPct val="150000"/>
              </a:lnSpc>
            </a:pPr>
            <a:r>
              <a:rPr lang="pt-BR" sz="2800" dirty="0">
                <a:solidFill>
                  <a:srgbClr val="002060"/>
                </a:solidFill>
              </a:rPr>
              <a:t>	Os sistemas com alta tecnologia têm muitos níveis de defesa: algumas são desenvolvidas pela engenharia (alarmes, barreiras físicas, dispositivos de desativação automática, etc.), outras têm repercussões nos humanos (cirurgiões, anestesistas, pilotos, operadores de salas de controlo, etc.) e comportamentos, e outras dependem de procedimentos e ferramentas administrativas. </a:t>
            </a:r>
          </a:p>
        </p:txBody>
      </p:sp>
      <p:sp>
        <p:nvSpPr>
          <p:cNvPr id="2" name="CaixaDeTexto 1">
            <a:extLst>
              <a:ext uri="{FF2B5EF4-FFF2-40B4-BE49-F238E27FC236}">
                <a16:creationId xmlns:a16="http://schemas.microsoft.com/office/drawing/2014/main" id="{2CA42A6F-E7A7-4B8A-A2D0-713AE3624EF1}"/>
              </a:ext>
            </a:extLst>
          </p:cNvPr>
          <p:cNvSpPr txBox="1"/>
          <p:nvPr/>
        </p:nvSpPr>
        <p:spPr>
          <a:xfrm>
            <a:off x="1524001" y="15060"/>
            <a:ext cx="9143999" cy="369332"/>
          </a:xfrm>
          <a:prstGeom prst="rect">
            <a:avLst/>
          </a:prstGeom>
          <a:noFill/>
        </p:spPr>
        <p:txBody>
          <a:bodyPr wrap="square">
            <a:spAutoFit/>
          </a:bodyPr>
          <a:lstStyle/>
          <a:p>
            <a:pPr algn="r"/>
            <a:r>
              <a:rPr lang="pt-BR" b="1" u="sng" dirty="0">
                <a:solidFill>
                  <a:srgbClr val="002060"/>
                </a:solidFill>
              </a:rPr>
              <a:t>Percepção de Risco</a:t>
            </a:r>
            <a:endParaRPr lang="pt-BR" dirty="0"/>
          </a:p>
        </p:txBody>
      </p:sp>
    </p:spTree>
    <p:extLst>
      <p:ext uri="{BB962C8B-B14F-4D97-AF65-F5344CB8AC3E}">
        <p14:creationId xmlns:p14="http://schemas.microsoft.com/office/powerpoint/2010/main" val="3587494259"/>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Retângulo 2"/>
          <p:cNvSpPr/>
          <p:nvPr/>
        </p:nvSpPr>
        <p:spPr>
          <a:xfrm>
            <a:off x="105921" y="1511953"/>
            <a:ext cx="11746445" cy="3690241"/>
          </a:xfrm>
          <a:prstGeom prst="rect">
            <a:avLst/>
          </a:prstGeom>
        </p:spPr>
        <p:txBody>
          <a:bodyPr wrap="square">
            <a:spAutoFit/>
          </a:bodyPr>
          <a:lstStyle/>
          <a:p>
            <a:pPr algn="just">
              <a:lnSpc>
                <a:spcPct val="150000"/>
              </a:lnSpc>
            </a:pPr>
            <a:r>
              <a:rPr lang="pt-BR" sz="2800" dirty="0">
                <a:solidFill>
                  <a:srgbClr val="002060"/>
                </a:solidFill>
              </a:rPr>
              <a:t>	</a:t>
            </a:r>
            <a:r>
              <a:rPr lang="pt-BR" sz="4000" dirty="0">
                <a:solidFill>
                  <a:srgbClr val="002060"/>
                </a:solidFill>
              </a:rPr>
              <a:t>As dinâmicas da(s) causa(s) do(s) acidente(s) são representadas no modelo de defesas do “Queijo Suíço”, que demonstra o emergir de um acidente através dos “buracos” nas barreiras e proteções (Figura 1).</a:t>
            </a:r>
          </a:p>
        </p:txBody>
      </p:sp>
      <p:sp>
        <p:nvSpPr>
          <p:cNvPr id="2" name="CaixaDeTexto 1">
            <a:extLst>
              <a:ext uri="{FF2B5EF4-FFF2-40B4-BE49-F238E27FC236}">
                <a16:creationId xmlns:a16="http://schemas.microsoft.com/office/drawing/2014/main" id="{BD26DBF7-F214-4FBB-9C67-C966ACC20B19}"/>
              </a:ext>
            </a:extLst>
          </p:cNvPr>
          <p:cNvSpPr txBox="1"/>
          <p:nvPr/>
        </p:nvSpPr>
        <p:spPr>
          <a:xfrm>
            <a:off x="1524001" y="15060"/>
            <a:ext cx="9143999" cy="369332"/>
          </a:xfrm>
          <a:prstGeom prst="rect">
            <a:avLst/>
          </a:prstGeom>
          <a:noFill/>
        </p:spPr>
        <p:txBody>
          <a:bodyPr wrap="square">
            <a:spAutoFit/>
          </a:bodyPr>
          <a:lstStyle/>
          <a:p>
            <a:pPr algn="r"/>
            <a:r>
              <a:rPr lang="pt-BR" b="1" u="sng" dirty="0">
                <a:solidFill>
                  <a:srgbClr val="002060"/>
                </a:solidFill>
              </a:rPr>
              <a:t>Percepção de Risco</a:t>
            </a:r>
            <a:endParaRPr lang="pt-BR" dirty="0"/>
          </a:p>
        </p:txBody>
      </p:sp>
    </p:spTree>
    <p:extLst>
      <p:ext uri="{BB962C8B-B14F-4D97-AF65-F5344CB8AC3E}">
        <p14:creationId xmlns:p14="http://schemas.microsoft.com/office/powerpoint/2010/main" val="3141129358"/>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83" descr="C:\Users\Marcos\Downloads\WhatsApp Image 2019-10-31 at 17.02.29.jpe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00"/>
            <a:ext cx="12192000" cy="6331132"/>
          </a:xfrm>
          <a:prstGeom prst="rect">
            <a:avLst/>
          </a:prstGeom>
          <a:noFill/>
          <a:extLst>
            <a:ext uri="{909E8E84-426E-40DD-AFC4-6F175D3DCCD1}">
              <a14:hiddenFill xmlns:a14="http://schemas.microsoft.com/office/drawing/2010/main">
                <a:solidFill>
                  <a:srgbClr val="FFFFFF"/>
                </a:solidFill>
              </a14:hiddenFill>
            </a:ext>
          </a:extLst>
        </p:spPr>
      </p:pic>
      <p:sp>
        <p:nvSpPr>
          <p:cNvPr id="5" name="Retângulo 4">
            <a:extLst>
              <a:ext uri="{FF2B5EF4-FFF2-40B4-BE49-F238E27FC236}">
                <a16:creationId xmlns:a16="http://schemas.microsoft.com/office/drawing/2014/main" id="{DDF2517E-6A1E-46FA-B487-4E08D16431FB}"/>
              </a:ext>
            </a:extLst>
          </p:cNvPr>
          <p:cNvSpPr/>
          <p:nvPr/>
        </p:nvSpPr>
        <p:spPr>
          <a:xfrm>
            <a:off x="6624322" y="6096922"/>
            <a:ext cx="3491228" cy="76107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Retângulo 5">
            <a:extLst>
              <a:ext uri="{FF2B5EF4-FFF2-40B4-BE49-F238E27FC236}">
                <a16:creationId xmlns:a16="http://schemas.microsoft.com/office/drawing/2014/main" id="{CA435202-AE18-4B3A-9DE8-C9E40A5A54F6}"/>
              </a:ext>
            </a:extLst>
          </p:cNvPr>
          <p:cNvSpPr/>
          <p:nvPr/>
        </p:nvSpPr>
        <p:spPr>
          <a:xfrm>
            <a:off x="9544051" y="3545605"/>
            <a:ext cx="1123949" cy="76107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Retângulo 6">
            <a:extLst>
              <a:ext uri="{FF2B5EF4-FFF2-40B4-BE49-F238E27FC236}">
                <a16:creationId xmlns:a16="http://schemas.microsoft.com/office/drawing/2014/main" id="{BE8AF191-9488-4C99-825F-1B655BF502AB}"/>
              </a:ext>
            </a:extLst>
          </p:cNvPr>
          <p:cNvSpPr/>
          <p:nvPr/>
        </p:nvSpPr>
        <p:spPr>
          <a:xfrm>
            <a:off x="1672088" y="3165066"/>
            <a:ext cx="2518912" cy="76107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Retângulo 7">
            <a:extLst>
              <a:ext uri="{FF2B5EF4-FFF2-40B4-BE49-F238E27FC236}">
                <a16:creationId xmlns:a16="http://schemas.microsoft.com/office/drawing/2014/main" id="{981429F7-156A-4189-B891-0356B395A6F0}"/>
              </a:ext>
            </a:extLst>
          </p:cNvPr>
          <p:cNvSpPr/>
          <p:nvPr/>
        </p:nvSpPr>
        <p:spPr>
          <a:xfrm>
            <a:off x="1524000" y="5716382"/>
            <a:ext cx="1407544" cy="76107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834631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7"/>
                                        </p:tgtEl>
                                      </p:cBhvr>
                                    </p:animEffect>
                                    <p:set>
                                      <p:cBhvr>
                                        <p:cTn id="17" dur="1" fill="hold">
                                          <p:stCondLst>
                                            <p:cond delay="499"/>
                                          </p:stCondLst>
                                        </p:cTn>
                                        <p:tgtEl>
                                          <p:spTgt spid="7"/>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grpId="0" nodeType="clickEffect">
                                  <p:stCondLst>
                                    <p:cond delay="0"/>
                                  </p:stCondLst>
                                  <p:childTnLst>
                                    <p:animEffect transition="out" filter="wipe(down)">
                                      <p:cBhvr>
                                        <p:cTn id="21" dur="500"/>
                                        <p:tgtEl>
                                          <p:spTgt spid="8"/>
                                        </p:tgtEl>
                                      </p:cBhvr>
                                    </p:animEffect>
                                    <p:set>
                                      <p:cBhvr>
                                        <p:cTn id="22"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2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Retângulo 2"/>
          <p:cNvSpPr/>
          <p:nvPr/>
        </p:nvSpPr>
        <p:spPr>
          <a:xfrm>
            <a:off x="80626" y="1385878"/>
            <a:ext cx="12111374" cy="4293483"/>
          </a:xfrm>
          <a:prstGeom prst="rect">
            <a:avLst/>
          </a:prstGeom>
        </p:spPr>
        <p:txBody>
          <a:bodyPr wrap="square">
            <a:spAutoFit/>
          </a:bodyPr>
          <a:lstStyle/>
          <a:p>
            <a:pPr algn="just">
              <a:lnSpc>
                <a:spcPct val="150000"/>
              </a:lnSpc>
            </a:pPr>
            <a:r>
              <a:rPr lang="pt-BR" sz="2600" dirty="0">
                <a:solidFill>
                  <a:srgbClr val="002060"/>
                </a:solidFill>
              </a:rPr>
              <a:t>	Os “buracos” nas defesas surgem por duas razões: falhas ativas e condições latentes. Quase todos os eventos adversos envolvem a combinação destes dois tipos de fatores. </a:t>
            </a:r>
          </a:p>
          <a:p>
            <a:pPr algn="just">
              <a:lnSpc>
                <a:spcPct val="150000"/>
              </a:lnSpc>
            </a:pPr>
            <a:r>
              <a:rPr lang="pt-BR" sz="2600" dirty="0">
                <a:solidFill>
                  <a:srgbClr val="002060"/>
                </a:solidFill>
              </a:rPr>
              <a:t>	As falhas ativas são os atos inseguros cometidos pelas pessoas que se encontram em contato direto com o sistema e referem-se a descuidos, esquecimentos, erros, deslizamentos e violação de procedimentos. As falhas ativas têm um impacto curto e direto na integridade das defesas.</a:t>
            </a:r>
          </a:p>
        </p:txBody>
      </p:sp>
      <p:sp>
        <p:nvSpPr>
          <p:cNvPr id="2" name="CaixaDeTexto 1">
            <a:extLst>
              <a:ext uri="{FF2B5EF4-FFF2-40B4-BE49-F238E27FC236}">
                <a16:creationId xmlns:a16="http://schemas.microsoft.com/office/drawing/2014/main" id="{4145BAD4-F85E-426F-A34A-4277C6D71436}"/>
              </a:ext>
            </a:extLst>
          </p:cNvPr>
          <p:cNvSpPr txBox="1"/>
          <p:nvPr/>
        </p:nvSpPr>
        <p:spPr>
          <a:xfrm>
            <a:off x="1524001" y="15060"/>
            <a:ext cx="9143999" cy="369332"/>
          </a:xfrm>
          <a:prstGeom prst="rect">
            <a:avLst/>
          </a:prstGeom>
          <a:noFill/>
        </p:spPr>
        <p:txBody>
          <a:bodyPr wrap="square">
            <a:spAutoFit/>
          </a:bodyPr>
          <a:lstStyle/>
          <a:p>
            <a:pPr algn="r"/>
            <a:r>
              <a:rPr lang="pt-BR" b="1" u="sng" dirty="0">
                <a:solidFill>
                  <a:srgbClr val="002060"/>
                </a:solidFill>
              </a:rPr>
              <a:t>Percepção de Risco</a:t>
            </a:r>
            <a:endParaRPr lang="pt-BR" dirty="0"/>
          </a:p>
        </p:txBody>
      </p:sp>
    </p:spTree>
    <p:extLst>
      <p:ext uri="{BB962C8B-B14F-4D97-AF65-F5344CB8AC3E}">
        <p14:creationId xmlns:p14="http://schemas.microsoft.com/office/powerpoint/2010/main" val="3925548425"/>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Retângulo 2"/>
          <p:cNvSpPr/>
          <p:nvPr/>
        </p:nvSpPr>
        <p:spPr>
          <a:xfrm>
            <a:off x="85871" y="1934518"/>
            <a:ext cx="12020258" cy="3970318"/>
          </a:xfrm>
          <a:prstGeom prst="rect">
            <a:avLst/>
          </a:prstGeom>
        </p:spPr>
        <p:txBody>
          <a:bodyPr wrap="square">
            <a:spAutoFit/>
          </a:bodyPr>
          <a:lstStyle/>
          <a:p>
            <a:pPr algn="just">
              <a:lnSpc>
                <a:spcPct val="150000"/>
              </a:lnSpc>
            </a:pPr>
            <a:r>
              <a:rPr lang="pt-BR" sz="2800" dirty="0">
                <a:solidFill>
                  <a:srgbClr val="002060"/>
                </a:solidFill>
              </a:rPr>
              <a:t>	Segundo Reason (1997), as condições latentes são os inevitáveis “resident pathogens” no sistema. Estes são provocados pelas decisões dos responsáveis pelos projetos construtores, produtores de procedimentos e gestores de topo. Estas decisões podem ser confusas, e é imperioso que não o sejam. 	Todas as decisões estratégicas têm o potencial  de introduzirem elementos “patogénicos” no sistema. </a:t>
            </a:r>
          </a:p>
        </p:txBody>
      </p:sp>
      <p:sp>
        <p:nvSpPr>
          <p:cNvPr id="2" name="CaixaDeTexto 1">
            <a:extLst>
              <a:ext uri="{FF2B5EF4-FFF2-40B4-BE49-F238E27FC236}">
                <a16:creationId xmlns:a16="http://schemas.microsoft.com/office/drawing/2014/main" id="{5B0CF6E5-2FEB-4E29-8ADA-8C8BCC7E9701}"/>
              </a:ext>
            </a:extLst>
          </p:cNvPr>
          <p:cNvSpPr txBox="1"/>
          <p:nvPr/>
        </p:nvSpPr>
        <p:spPr>
          <a:xfrm>
            <a:off x="1524001" y="15060"/>
            <a:ext cx="9143999" cy="369332"/>
          </a:xfrm>
          <a:prstGeom prst="rect">
            <a:avLst/>
          </a:prstGeom>
          <a:noFill/>
        </p:spPr>
        <p:txBody>
          <a:bodyPr wrap="square">
            <a:spAutoFit/>
          </a:bodyPr>
          <a:lstStyle/>
          <a:p>
            <a:pPr algn="r"/>
            <a:r>
              <a:rPr lang="pt-BR" b="1" u="sng" dirty="0">
                <a:solidFill>
                  <a:srgbClr val="002060"/>
                </a:solidFill>
              </a:rPr>
              <a:t>Percepção de Risco</a:t>
            </a:r>
            <a:endParaRPr lang="pt-BR" dirty="0"/>
          </a:p>
        </p:txBody>
      </p:sp>
    </p:spTree>
    <p:extLst>
      <p:ext uri="{BB962C8B-B14F-4D97-AF65-F5344CB8AC3E}">
        <p14:creationId xmlns:p14="http://schemas.microsoft.com/office/powerpoint/2010/main" val="3711709126"/>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Retângulo 2"/>
          <p:cNvSpPr/>
          <p:nvPr/>
        </p:nvSpPr>
        <p:spPr>
          <a:xfrm>
            <a:off x="229867" y="582768"/>
            <a:ext cx="11857630" cy="3693319"/>
          </a:xfrm>
          <a:prstGeom prst="rect">
            <a:avLst/>
          </a:prstGeom>
        </p:spPr>
        <p:txBody>
          <a:bodyPr wrap="square">
            <a:spAutoFit/>
          </a:bodyPr>
          <a:lstStyle/>
          <a:p>
            <a:pPr algn="just">
              <a:lnSpc>
                <a:spcPct val="150000"/>
              </a:lnSpc>
            </a:pPr>
            <a:r>
              <a:rPr lang="pt-BR" sz="2600" dirty="0">
                <a:solidFill>
                  <a:srgbClr val="002060"/>
                </a:solidFill>
              </a:rPr>
              <a:t>	As condições latentes têm dois tipos de efeitos adversos: podem traduzir-se em condições que provocam o erro no local de trabalho (por exemplo: pressões de tempo, falta de pessoal, equipamento inadequado, cansaço e inexperiência); ou podem provocar “buracos” por muito tempo ou fraquezas nas defesas (alarmes e indicadores ineficientes, procedimentos disfuncionais, deficiências a nível da concepção e construção, etc.). </a:t>
            </a:r>
          </a:p>
        </p:txBody>
      </p:sp>
      <p:sp>
        <p:nvSpPr>
          <p:cNvPr id="2" name="CaixaDeTexto 1">
            <a:extLst>
              <a:ext uri="{FF2B5EF4-FFF2-40B4-BE49-F238E27FC236}">
                <a16:creationId xmlns:a16="http://schemas.microsoft.com/office/drawing/2014/main" id="{45CCA316-4B18-4E9D-B24B-15D7EBC51F7E}"/>
              </a:ext>
            </a:extLst>
          </p:cNvPr>
          <p:cNvSpPr txBox="1"/>
          <p:nvPr/>
        </p:nvSpPr>
        <p:spPr>
          <a:xfrm>
            <a:off x="1524001" y="15060"/>
            <a:ext cx="9143999" cy="369332"/>
          </a:xfrm>
          <a:prstGeom prst="rect">
            <a:avLst/>
          </a:prstGeom>
          <a:noFill/>
        </p:spPr>
        <p:txBody>
          <a:bodyPr wrap="square">
            <a:spAutoFit/>
          </a:bodyPr>
          <a:lstStyle/>
          <a:p>
            <a:pPr algn="r"/>
            <a:r>
              <a:rPr lang="pt-BR" b="1" u="sng" dirty="0">
                <a:solidFill>
                  <a:srgbClr val="002060"/>
                </a:solidFill>
              </a:rPr>
              <a:t>Percepção de Risco</a:t>
            </a:r>
            <a:endParaRPr lang="pt-BR" dirty="0"/>
          </a:p>
        </p:txBody>
      </p:sp>
    </p:spTree>
    <p:extLst>
      <p:ext uri="{BB962C8B-B14F-4D97-AF65-F5344CB8AC3E}">
        <p14:creationId xmlns:p14="http://schemas.microsoft.com/office/powerpoint/2010/main" val="661283524"/>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Retângulo 2"/>
          <p:cNvSpPr/>
          <p:nvPr/>
        </p:nvSpPr>
        <p:spPr>
          <a:xfrm>
            <a:off x="277257" y="464110"/>
            <a:ext cx="11914743" cy="3693319"/>
          </a:xfrm>
          <a:prstGeom prst="rect">
            <a:avLst/>
          </a:prstGeom>
        </p:spPr>
        <p:txBody>
          <a:bodyPr wrap="square">
            <a:spAutoFit/>
          </a:bodyPr>
          <a:lstStyle/>
          <a:p>
            <a:pPr algn="just">
              <a:lnSpc>
                <a:spcPct val="150000"/>
              </a:lnSpc>
            </a:pPr>
            <a:r>
              <a:rPr lang="pt-BR" sz="2600" dirty="0">
                <a:solidFill>
                  <a:srgbClr val="002060"/>
                </a:solidFill>
              </a:rPr>
              <a:t>	As condições latentes, como o termo sugere, podem permanecer “adormecidas” no sistema por muitos anos antes de se combinarem com as falhas ativas e dispositivos locais e espoletarem uma oportunidade de acidente. Ao contrário das falhas ativas, em que a investigação é difícil e “dura”, as condições latentes podem ser identificadas e remediadas antes que um evento adverso ocorra. A compreensão deste fator origina uma gestão de risco mais </a:t>
            </a:r>
            <a:r>
              <a:rPr lang="pt-BR" sz="2600" dirty="0" err="1">
                <a:solidFill>
                  <a:srgbClr val="002060"/>
                </a:solidFill>
              </a:rPr>
              <a:t>pró-ativa</a:t>
            </a:r>
            <a:r>
              <a:rPr lang="pt-BR" sz="2600" dirty="0">
                <a:solidFill>
                  <a:srgbClr val="002060"/>
                </a:solidFill>
              </a:rPr>
              <a:t>.</a:t>
            </a:r>
          </a:p>
        </p:txBody>
      </p:sp>
      <p:sp>
        <p:nvSpPr>
          <p:cNvPr id="2" name="CaixaDeTexto 1">
            <a:extLst>
              <a:ext uri="{FF2B5EF4-FFF2-40B4-BE49-F238E27FC236}">
                <a16:creationId xmlns:a16="http://schemas.microsoft.com/office/drawing/2014/main" id="{8EAFC3BC-4F5A-4FCF-B3A2-57FBDD970FFA}"/>
              </a:ext>
            </a:extLst>
          </p:cNvPr>
          <p:cNvSpPr txBox="1"/>
          <p:nvPr/>
        </p:nvSpPr>
        <p:spPr>
          <a:xfrm>
            <a:off x="1524001" y="15060"/>
            <a:ext cx="9143999" cy="369332"/>
          </a:xfrm>
          <a:prstGeom prst="rect">
            <a:avLst/>
          </a:prstGeom>
          <a:noFill/>
        </p:spPr>
        <p:txBody>
          <a:bodyPr wrap="square">
            <a:spAutoFit/>
          </a:bodyPr>
          <a:lstStyle/>
          <a:p>
            <a:pPr algn="r"/>
            <a:r>
              <a:rPr lang="pt-BR" b="1" u="sng" dirty="0">
                <a:solidFill>
                  <a:srgbClr val="002060"/>
                </a:solidFill>
              </a:rPr>
              <a:t>Percepção de Risco</a:t>
            </a:r>
            <a:endParaRPr lang="pt-BR" dirty="0"/>
          </a:p>
        </p:txBody>
      </p:sp>
    </p:spTree>
    <p:extLst>
      <p:ext uri="{BB962C8B-B14F-4D97-AF65-F5344CB8AC3E}">
        <p14:creationId xmlns:p14="http://schemas.microsoft.com/office/powerpoint/2010/main" val="1378668236"/>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3485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99939435"/>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082" name="Retângulo 4"/>
          <p:cNvSpPr>
            <a:spLocks noChangeArrowheads="1"/>
          </p:cNvSpPr>
          <p:nvPr/>
        </p:nvSpPr>
        <p:spPr bwMode="auto">
          <a:xfrm>
            <a:off x="1560513" y="-28575"/>
            <a:ext cx="914400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ＭＳ Ｐゴシック" panose="020B0600070205080204" pitchFamily="34" charset="-128"/>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ＭＳ Ｐゴシック" panose="020B0600070205080204" pitchFamily="34" charset="-128"/>
              </a:defRPr>
            </a:lvl9pPr>
          </a:lstStyle>
          <a:p>
            <a:pPr algn="r" fontAlgn="base">
              <a:lnSpc>
                <a:spcPct val="150000"/>
              </a:lnSpc>
              <a:spcBef>
                <a:spcPct val="0"/>
              </a:spcBef>
              <a:spcAft>
                <a:spcPct val="0"/>
              </a:spcAft>
              <a:buNone/>
              <a:defRPr/>
            </a:pPr>
            <a:r>
              <a:rPr lang="pt-BR" altLang="pt-BR" sz="2000" b="1" i="1">
                <a:solidFill>
                  <a:srgbClr val="002060"/>
                </a:solidFill>
                <a:latin typeface="Arial" panose="020B0604020202020204" pitchFamily="34" charset="0"/>
                <a:cs typeface="Arial" panose="020B0604020202020204" pitchFamily="34" charset="0"/>
              </a:rPr>
              <a:t>Direção Defensiva para Veículos de Grande Porte </a:t>
            </a:r>
          </a:p>
        </p:txBody>
      </p:sp>
      <p:sp>
        <p:nvSpPr>
          <p:cNvPr id="14" name="CaixaDeTexto 4"/>
          <p:cNvSpPr txBox="1">
            <a:spLocks noChangeArrowheads="1"/>
          </p:cNvSpPr>
          <p:nvPr/>
        </p:nvSpPr>
        <p:spPr bwMode="auto">
          <a:xfrm>
            <a:off x="65313" y="5279320"/>
            <a:ext cx="12061371" cy="923925"/>
          </a:xfrm>
          <a:prstGeom prst="rect">
            <a:avLst/>
          </a:prstGeom>
          <a:noFill/>
          <a:ln w="63500" cap="flat" cmpd="thickThin" algn="ctr">
            <a:solidFill>
              <a:sysClr val="window" lastClr="FFFFFF"/>
            </a:solidFill>
            <a:prstDash val="solid"/>
            <a:headEnd/>
            <a:tailEnd/>
          </a:ln>
          <a:effectLst>
            <a:outerShdw blurRad="50800" dist="38100" dir="5400000" rotWithShape="0">
              <a:srgbClr val="000000">
                <a:alpha val="35000"/>
              </a:srgbClr>
            </a:outerShdw>
          </a:effectLst>
        </p:spPr>
        <p:txBody>
          <a:bodyPr wrap="square">
            <a:spAutoFit/>
          </a:bodyPr>
          <a:lstStyle/>
          <a:p>
            <a:pPr algn="ctr">
              <a:defRPr/>
            </a:pPr>
            <a:r>
              <a:rPr lang="pt-BR" b="1" kern="0" dirty="0">
                <a:solidFill>
                  <a:prstClr val="black"/>
                </a:solidFill>
                <a:latin typeface="Lucida Sans Unicode"/>
                <a:cs typeface="Arial" panose="020B0604020202020204" pitchFamily="34" charset="0"/>
              </a:rPr>
              <a:t>1000: </a:t>
            </a:r>
            <a:r>
              <a:rPr lang="pt-BR" b="1" u="sng" kern="0" dirty="0">
                <a:solidFill>
                  <a:prstClr val="black"/>
                </a:solidFill>
                <a:latin typeface="Lucida Sans Unicode"/>
                <a:cs typeface="Arial" panose="020B0604020202020204" pitchFamily="34" charset="0"/>
              </a:rPr>
              <a:t>CONDIÇÕES LATENTES</a:t>
            </a:r>
          </a:p>
          <a:p>
            <a:pPr algn="ctr">
              <a:defRPr/>
            </a:pPr>
            <a:r>
              <a:rPr lang="pt-BR" b="1" kern="0" dirty="0">
                <a:solidFill>
                  <a:prstClr val="black"/>
                </a:solidFill>
                <a:latin typeface="Lucida Sans Unicode"/>
                <a:cs typeface="Arial" panose="020B0604020202020204" pitchFamily="34" charset="0"/>
              </a:rPr>
              <a:t>Decisões tomadas sem pensar, Desconhecimento da Lei, </a:t>
            </a:r>
          </a:p>
          <a:p>
            <a:pPr algn="ctr">
              <a:defRPr/>
            </a:pPr>
            <a:r>
              <a:rPr lang="pt-BR" b="1" kern="0" dirty="0">
                <a:solidFill>
                  <a:prstClr val="black"/>
                </a:solidFill>
                <a:latin typeface="Lucida Sans Unicode"/>
                <a:cs typeface="Arial" panose="020B0604020202020204" pitchFamily="34" charset="0"/>
              </a:rPr>
              <a:t>Falta de Manutenção, Falta de treinamentos...</a:t>
            </a:r>
          </a:p>
        </p:txBody>
      </p:sp>
      <p:sp>
        <p:nvSpPr>
          <p:cNvPr id="15" name="CaixaDeTexto 5"/>
          <p:cNvSpPr txBox="1">
            <a:spLocks noChangeArrowheads="1"/>
          </p:cNvSpPr>
          <p:nvPr/>
        </p:nvSpPr>
        <p:spPr bwMode="auto">
          <a:xfrm>
            <a:off x="2351088" y="4909433"/>
            <a:ext cx="78787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400"/>
              </a:spcBef>
              <a:buClr>
                <a:schemeClr val="accent1"/>
              </a:buClr>
              <a:buSzPct val="68000"/>
              <a:buFont typeface="Wingdings 3" pitchFamily="18" charset="2"/>
              <a:buChar char=""/>
              <a:defRPr sz="2700">
                <a:solidFill>
                  <a:schemeClr val="tx1"/>
                </a:solidFill>
                <a:latin typeface="Lucida Sans Unicode" pitchFamily="34" charset="0"/>
              </a:defRPr>
            </a:lvl1pPr>
            <a:lvl2pPr marL="742950" indent="-285750" eaLnBrk="0" hangingPunct="0">
              <a:spcBef>
                <a:spcPts val="325"/>
              </a:spcBef>
              <a:buClr>
                <a:schemeClr val="accent1"/>
              </a:buClr>
              <a:buFont typeface="Verdana" pitchFamily="34" charset="0"/>
              <a:buChar char="◦"/>
              <a:defRPr sz="2300">
                <a:solidFill>
                  <a:schemeClr val="tx1"/>
                </a:solidFill>
                <a:latin typeface="Lucida Sans Unicode" pitchFamily="34"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Lucida Sans Unicode" pitchFamily="34" charset="0"/>
              </a:defRPr>
            </a:lvl3pPr>
            <a:lvl4pPr marL="1600200" indent="-228600" eaLnBrk="0" hangingPunct="0">
              <a:spcBef>
                <a:spcPts val="350"/>
              </a:spcBef>
              <a:buClr>
                <a:schemeClr val="accent2"/>
              </a:buClr>
              <a:buFont typeface="Wingdings 2" pitchFamily="18" charset="2"/>
              <a:buChar char=""/>
              <a:defRPr sz="1900">
                <a:solidFill>
                  <a:schemeClr val="tx1"/>
                </a:solidFill>
                <a:latin typeface="Lucida Sans Unicode" pitchFamily="34" charset="0"/>
              </a:defRPr>
            </a:lvl4pPr>
            <a:lvl5pPr marL="2057400" indent="-228600" eaLnBrk="0" hangingPunct="0">
              <a:spcBef>
                <a:spcPts val="350"/>
              </a:spcBef>
              <a:buClr>
                <a:schemeClr val="accent2"/>
              </a:buClr>
              <a:buFont typeface="Wingdings 2" pitchFamily="18" charset="2"/>
              <a:buChar char=""/>
              <a:defRPr>
                <a:solidFill>
                  <a:schemeClr val="tx1"/>
                </a:solidFill>
                <a:latin typeface="Lucida Sans Unicode" pitchFamily="34" charset="0"/>
              </a:defRPr>
            </a:lvl5pPr>
            <a:lvl6pPr marL="25146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6pPr>
            <a:lvl7pPr marL="29718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7pPr>
            <a:lvl8pPr marL="34290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8pPr>
            <a:lvl9pPr marL="38862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9pPr>
          </a:lstStyle>
          <a:p>
            <a:pPr eaLnBrk="1" fontAlgn="base" hangingPunct="1">
              <a:spcBef>
                <a:spcPct val="0"/>
              </a:spcBef>
              <a:spcAft>
                <a:spcPct val="0"/>
              </a:spcAft>
              <a:buClrTx/>
              <a:buSzTx/>
              <a:buNone/>
              <a:defRPr/>
            </a:pPr>
            <a:r>
              <a:rPr lang="pt-BR" altLang="pt-BR" sz="1800" dirty="0">
                <a:solidFill>
                  <a:srgbClr val="C00000"/>
                </a:solidFill>
                <a:effectLst>
                  <a:outerShdw blurRad="38100" dist="38100" dir="2700000" algn="tl">
                    <a:srgbClr val="000000">
                      <a:alpha val="43137"/>
                    </a:srgbClr>
                  </a:outerShdw>
                </a:effectLst>
                <a:latin typeface="Arial" charset="0"/>
                <a:cs typeface="Arial" charset="0"/>
              </a:rPr>
              <a:t>----------------------------------------------------------------------------------------------------</a:t>
            </a:r>
          </a:p>
        </p:txBody>
      </p:sp>
      <p:sp>
        <p:nvSpPr>
          <p:cNvPr id="46086" name="CaixaDeTexto 6"/>
          <p:cNvSpPr txBox="1">
            <a:spLocks noChangeArrowheads="1"/>
          </p:cNvSpPr>
          <p:nvPr/>
        </p:nvSpPr>
        <p:spPr bwMode="auto">
          <a:xfrm>
            <a:off x="1577974" y="3366640"/>
            <a:ext cx="90360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ＭＳ Ｐゴシック" panose="020B0600070205080204" pitchFamily="34" charset="-128"/>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ＭＳ Ｐゴシック" panose="020B0600070205080204" pitchFamily="34" charset="-128"/>
              </a:defRPr>
            </a:lvl9pPr>
          </a:lstStyle>
          <a:p>
            <a:pPr fontAlgn="base">
              <a:lnSpc>
                <a:spcPct val="100000"/>
              </a:lnSpc>
              <a:spcBef>
                <a:spcPct val="0"/>
              </a:spcBef>
              <a:spcAft>
                <a:spcPct val="0"/>
              </a:spcAft>
              <a:buNone/>
              <a:defRPr/>
            </a:pPr>
            <a:r>
              <a:rPr lang="pt-BR" altLang="pt-BR" sz="1800" dirty="0">
                <a:solidFill>
                  <a:srgbClr val="C00000"/>
                </a:solidFill>
                <a:latin typeface="Arial" panose="020B0604020202020204" pitchFamily="34" charset="0"/>
                <a:cs typeface="Arial" panose="020B0604020202020204" pitchFamily="34" charset="0"/>
              </a:rPr>
              <a:t>-------------------------------------------------------------------------------------------------------------------</a:t>
            </a:r>
          </a:p>
        </p:txBody>
      </p:sp>
      <p:sp>
        <p:nvSpPr>
          <p:cNvPr id="18" name="CaixaDeTexto 7"/>
          <p:cNvSpPr txBox="1">
            <a:spLocks noChangeArrowheads="1"/>
          </p:cNvSpPr>
          <p:nvPr/>
        </p:nvSpPr>
        <p:spPr bwMode="auto">
          <a:xfrm>
            <a:off x="65314" y="3728947"/>
            <a:ext cx="12061371" cy="1200329"/>
          </a:xfrm>
          <a:prstGeom prst="rect">
            <a:avLst/>
          </a:prstGeom>
          <a:noFill/>
          <a:ln w="63500" cap="flat" cmpd="thickThin" algn="ctr">
            <a:solidFill>
              <a:sysClr val="window" lastClr="FFFFFF"/>
            </a:solidFill>
            <a:prstDash val="solid"/>
            <a:headEnd/>
            <a:tailEnd/>
          </a:ln>
          <a:effectLst>
            <a:outerShdw blurRad="50800" dist="38100" dir="5400000" rotWithShape="0">
              <a:srgbClr val="000000">
                <a:alpha val="35000"/>
              </a:srgbClr>
            </a:outerShdw>
          </a:effectLst>
        </p:spPr>
        <p:txBody>
          <a:bodyPr wrap="square">
            <a:spAutoFit/>
          </a:bodyPr>
          <a:lstStyle/>
          <a:p>
            <a:pPr algn="ctr">
              <a:defRPr/>
            </a:pPr>
            <a:r>
              <a:rPr lang="pt-BR" b="1" kern="0" dirty="0">
                <a:solidFill>
                  <a:prstClr val="black"/>
                </a:solidFill>
                <a:latin typeface="Lucida Sans Unicode"/>
                <a:cs typeface="Arial" panose="020B0604020202020204" pitchFamily="34" charset="0"/>
              </a:rPr>
              <a:t>320: </a:t>
            </a:r>
            <a:r>
              <a:rPr lang="pt-BR" b="1" u="sng" kern="0" dirty="0">
                <a:solidFill>
                  <a:prstClr val="black"/>
                </a:solidFill>
                <a:latin typeface="Lucida Sans Unicode"/>
                <a:cs typeface="Arial" panose="020B0604020202020204" pitchFamily="34" charset="0"/>
              </a:rPr>
              <a:t>SITUAÇÕES DE RISCO</a:t>
            </a:r>
          </a:p>
          <a:p>
            <a:pPr algn="ctr">
              <a:defRPr/>
            </a:pPr>
            <a:r>
              <a:rPr lang="pt-BR" b="1" kern="0" dirty="0">
                <a:solidFill>
                  <a:prstClr val="black"/>
                </a:solidFill>
                <a:latin typeface="Lucida Sans Unicode"/>
                <a:cs typeface="Arial" panose="020B0604020202020204" pitchFamily="34" charset="0"/>
              </a:rPr>
              <a:t>Opera sem cinto de segurança, não faz o isolamento da área de forma adequada, fala ao celular, opera com problemas de saúde, move-se com excesso de velocidade e não respeita a instabilidade do terreno, </a:t>
            </a:r>
          </a:p>
          <a:p>
            <a:pPr algn="ctr">
              <a:defRPr/>
            </a:pPr>
            <a:r>
              <a:rPr lang="pt-BR" b="1" kern="0" dirty="0">
                <a:solidFill>
                  <a:prstClr val="black"/>
                </a:solidFill>
                <a:latin typeface="Lucida Sans Unicode"/>
                <a:cs typeface="Arial" panose="020B0604020202020204" pitchFamily="34" charset="0"/>
              </a:rPr>
              <a:t>não observa as intempéries no local da operação...</a:t>
            </a:r>
          </a:p>
        </p:txBody>
      </p:sp>
      <p:sp>
        <p:nvSpPr>
          <p:cNvPr id="19" name="CaixaDeTexto 8"/>
          <p:cNvSpPr txBox="1">
            <a:spLocks noChangeArrowheads="1"/>
          </p:cNvSpPr>
          <p:nvPr/>
        </p:nvSpPr>
        <p:spPr bwMode="auto">
          <a:xfrm>
            <a:off x="65314" y="2207943"/>
            <a:ext cx="12126686" cy="1200329"/>
          </a:xfrm>
          <a:prstGeom prst="rect">
            <a:avLst/>
          </a:prstGeom>
          <a:noFill/>
          <a:ln w="63500" cap="flat" cmpd="thickThin" algn="ctr">
            <a:solidFill>
              <a:sysClr val="window" lastClr="FFFFFF"/>
            </a:solidFill>
            <a:prstDash val="solid"/>
            <a:headEnd/>
            <a:tailEnd/>
          </a:ln>
          <a:effectLst>
            <a:outerShdw blurRad="50800" dist="38100" dir="5400000" rotWithShape="0">
              <a:srgbClr val="000000">
                <a:alpha val="35000"/>
              </a:srgbClr>
            </a:outerShdw>
          </a:effectLst>
        </p:spPr>
        <p:txBody>
          <a:bodyPr wrap="square">
            <a:spAutoFit/>
          </a:bodyPr>
          <a:lstStyle/>
          <a:p>
            <a:pPr algn="ctr">
              <a:defRPr/>
            </a:pPr>
            <a:r>
              <a:rPr lang="pt-BR" b="1" kern="0" dirty="0">
                <a:solidFill>
                  <a:prstClr val="black"/>
                </a:solidFill>
                <a:latin typeface="Lucida Sans Unicode"/>
                <a:cs typeface="Arial" panose="020B0604020202020204" pitchFamily="34" charset="0"/>
              </a:rPr>
              <a:t>29: </a:t>
            </a:r>
            <a:r>
              <a:rPr lang="pt-BR" b="1" u="sng" kern="0" dirty="0">
                <a:solidFill>
                  <a:prstClr val="black"/>
                </a:solidFill>
                <a:latin typeface="Lucida Sans Unicode"/>
                <a:cs typeface="Arial" panose="020B0604020202020204" pitchFamily="34" charset="0"/>
              </a:rPr>
              <a:t>INCIDENTES</a:t>
            </a:r>
          </a:p>
          <a:p>
            <a:pPr algn="ctr">
              <a:defRPr/>
            </a:pPr>
            <a:r>
              <a:rPr lang="pt-BR" b="1" kern="0" dirty="0">
                <a:solidFill>
                  <a:prstClr val="black"/>
                </a:solidFill>
                <a:latin typeface="Lucida Sans Unicode"/>
                <a:cs typeface="Arial" panose="020B0604020202020204" pitchFamily="34" charset="0"/>
              </a:rPr>
              <a:t>O operador ao se locomover dentro da empresa, para efetuar determinado trabalho na estrutura metálica do telhado, não atentou para uma falha no terreno e devido a velocidade acabou sendo arremessado para fora da gaiola vindo a ficar pendurado pelo cinto...</a:t>
            </a:r>
          </a:p>
        </p:txBody>
      </p:sp>
      <p:sp>
        <p:nvSpPr>
          <p:cNvPr id="20" name="CaixaDeTexto 9"/>
          <p:cNvSpPr txBox="1">
            <a:spLocks noChangeArrowheads="1"/>
          </p:cNvSpPr>
          <p:nvPr/>
        </p:nvSpPr>
        <p:spPr bwMode="auto">
          <a:xfrm>
            <a:off x="65314" y="619125"/>
            <a:ext cx="12061371" cy="1200329"/>
          </a:xfrm>
          <a:prstGeom prst="rect">
            <a:avLst/>
          </a:prstGeom>
          <a:noFill/>
          <a:ln w="63500" cap="flat" cmpd="thickThin" algn="ctr">
            <a:solidFill>
              <a:sysClr val="window" lastClr="FFFFFF"/>
            </a:solidFill>
            <a:prstDash val="solid"/>
            <a:headEnd/>
            <a:tailEnd/>
          </a:ln>
          <a:effectLst>
            <a:outerShdw blurRad="50800" dist="38100" dir="5400000" rotWithShape="0">
              <a:srgbClr val="000000">
                <a:alpha val="35000"/>
              </a:srgbClr>
            </a:outerShdw>
          </a:effectLst>
        </p:spPr>
        <p:txBody>
          <a:bodyPr wrap="square">
            <a:spAutoFit/>
          </a:bodyPr>
          <a:lstStyle/>
          <a:p>
            <a:pPr algn="ctr">
              <a:defRPr/>
            </a:pPr>
            <a:r>
              <a:rPr lang="pt-BR" b="1" kern="0" dirty="0">
                <a:solidFill>
                  <a:prstClr val="black"/>
                </a:solidFill>
                <a:latin typeface="Lucida Sans Unicode"/>
                <a:cs typeface="Arial" panose="020B0604020202020204" pitchFamily="34" charset="0"/>
              </a:rPr>
              <a:t>01: </a:t>
            </a:r>
            <a:r>
              <a:rPr lang="pt-BR" b="1" u="sng" kern="0" dirty="0">
                <a:solidFill>
                  <a:prstClr val="black"/>
                </a:solidFill>
                <a:latin typeface="Lucida Sans Unicode"/>
                <a:cs typeface="Arial" panose="020B0604020202020204" pitchFamily="34" charset="0"/>
              </a:rPr>
              <a:t>ACIDENTE</a:t>
            </a:r>
          </a:p>
          <a:p>
            <a:pPr algn="ctr">
              <a:defRPr/>
            </a:pPr>
            <a:r>
              <a:rPr lang="pt-BR" b="1" kern="0" dirty="0">
                <a:solidFill>
                  <a:prstClr val="black"/>
                </a:solidFill>
                <a:latin typeface="Lucida Sans Unicode"/>
                <a:cs typeface="Arial" panose="020B0604020202020204" pitchFamily="34" charset="0"/>
              </a:rPr>
              <a:t>O operador, no exercício de nova atividade para instalação de fixadores nas telhas que por conta de ventania ficaram soltas, não percebeu que estava muito próximo a rede elétrica e por conta dessa proximidade acabou sendo eletrocutado no ato da atividade. </a:t>
            </a:r>
          </a:p>
        </p:txBody>
      </p:sp>
      <p:sp>
        <p:nvSpPr>
          <p:cNvPr id="46090" name="CaixaDeTexto 10"/>
          <p:cNvSpPr txBox="1">
            <a:spLocks noChangeArrowheads="1"/>
          </p:cNvSpPr>
          <p:nvPr/>
        </p:nvSpPr>
        <p:spPr bwMode="auto">
          <a:xfrm>
            <a:off x="2351088" y="1819454"/>
            <a:ext cx="787908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ＭＳ Ｐゴシック" panose="020B0600070205080204" pitchFamily="34" charset="-128"/>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ＭＳ Ｐゴシック" panose="020B0600070205080204" pitchFamily="34" charset="-128"/>
              </a:defRPr>
            </a:lvl9pPr>
          </a:lstStyle>
          <a:p>
            <a:pPr fontAlgn="base">
              <a:lnSpc>
                <a:spcPct val="100000"/>
              </a:lnSpc>
              <a:spcBef>
                <a:spcPct val="0"/>
              </a:spcBef>
              <a:spcAft>
                <a:spcPct val="0"/>
              </a:spcAft>
              <a:buNone/>
              <a:defRPr/>
            </a:pPr>
            <a:r>
              <a:rPr lang="pt-BR" altLang="pt-BR" sz="1800" dirty="0">
                <a:solidFill>
                  <a:srgbClr val="C00000"/>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6650384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1" presetClass="entr" presetSubtype="0" fill="hold" grpId="0" nodeType="clickEffect">
                                  <p:stCondLst>
                                    <p:cond delay="0"/>
                                  </p:stCondLst>
                                  <p:iterate type="lt">
                                    <p:tmPct val="10000"/>
                                  </p:iterate>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4"/>
                                        </p:tgtEl>
                                        <p:attrNameLst>
                                          <p:attrName>ppt_y</p:attrName>
                                        </p:attrNameLst>
                                      </p:cBhvr>
                                      <p:tavLst>
                                        <p:tav tm="0">
                                          <p:val>
                                            <p:strVal val="#ppt_y"/>
                                          </p:val>
                                        </p:tav>
                                        <p:tav tm="100000">
                                          <p:val>
                                            <p:strVal val="#ppt_y"/>
                                          </p:val>
                                        </p:tav>
                                      </p:tavLst>
                                    </p:anim>
                                    <p:anim calcmode="lin" valueType="num">
                                      <p:cBhvr>
                                        <p:cTn id="9" dur="500" fill="hold"/>
                                        <p:tgtEl>
                                          <p:spTgt spid="14"/>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4"/>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4"/>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41" presetClass="entr" presetSubtype="0" fill="hold" grpId="0" nodeType="clickEffect">
                                  <p:stCondLst>
                                    <p:cond delay="0"/>
                                  </p:stCondLst>
                                  <p:iterate type="lt">
                                    <p:tmPct val="10000"/>
                                  </p:iterate>
                                  <p:childTnLst>
                                    <p:set>
                                      <p:cBhvr>
                                        <p:cTn id="15" dur="1" fill="hold">
                                          <p:stCondLst>
                                            <p:cond delay="0"/>
                                          </p:stCondLst>
                                        </p:cTn>
                                        <p:tgtEl>
                                          <p:spTgt spid="18"/>
                                        </p:tgtEl>
                                        <p:attrNameLst>
                                          <p:attrName>style.visibility</p:attrName>
                                        </p:attrNameLst>
                                      </p:cBhvr>
                                      <p:to>
                                        <p:strVal val="visible"/>
                                      </p:to>
                                    </p:set>
                                    <p:anim calcmode="lin" valueType="num">
                                      <p:cBhvr>
                                        <p:cTn id="16" dur="500" fill="hold"/>
                                        <p:tgtEl>
                                          <p:spTgt spid="18"/>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18"/>
                                        </p:tgtEl>
                                        <p:attrNameLst>
                                          <p:attrName>ppt_y</p:attrName>
                                        </p:attrNameLst>
                                      </p:cBhvr>
                                      <p:tavLst>
                                        <p:tav tm="0">
                                          <p:val>
                                            <p:strVal val="#ppt_y"/>
                                          </p:val>
                                        </p:tav>
                                        <p:tav tm="100000">
                                          <p:val>
                                            <p:strVal val="#ppt_y"/>
                                          </p:val>
                                        </p:tav>
                                      </p:tavLst>
                                    </p:anim>
                                    <p:anim calcmode="lin" valueType="num">
                                      <p:cBhvr>
                                        <p:cTn id="18" dur="500" fill="hold"/>
                                        <p:tgtEl>
                                          <p:spTgt spid="18"/>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18"/>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18"/>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41" presetClass="entr" presetSubtype="0" fill="hold" grpId="0" nodeType="clickEffect">
                                  <p:stCondLst>
                                    <p:cond delay="0"/>
                                  </p:stCondLst>
                                  <p:iterate type="lt">
                                    <p:tmPct val="10000"/>
                                  </p:iterate>
                                  <p:childTnLst>
                                    <p:set>
                                      <p:cBhvr>
                                        <p:cTn id="24" dur="1" fill="hold">
                                          <p:stCondLst>
                                            <p:cond delay="0"/>
                                          </p:stCondLst>
                                        </p:cTn>
                                        <p:tgtEl>
                                          <p:spTgt spid="19"/>
                                        </p:tgtEl>
                                        <p:attrNameLst>
                                          <p:attrName>style.visibility</p:attrName>
                                        </p:attrNameLst>
                                      </p:cBhvr>
                                      <p:to>
                                        <p:strVal val="visible"/>
                                      </p:to>
                                    </p:set>
                                    <p:anim calcmode="lin" valueType="num">
                                      <p:cBhvr>
                                        <p:cTn id="25"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26" dur="500" fill="hold"/>
                                        <p:tgtEl>
                                          <p:spTgt spid="19"/>
                                        </p:tgtEl>
                                        <p:attrNameLst>
                                          <p:attrName>ppt_y</p:attrName>
                                        </p:attrNameLst>
                                      </p:cBhvr>
                                      <p:tavLst>
                                        <p:tav tm="0">
                                          <p:val>
                                            <p:strVal val="#ppt_y"/>
                                          </p:val>
                                        </p:tav>
                                        <p:tav tm="100000">
                                          <p:val>
                                            <p:strVal val="#ppt_y"/>
                                          </p:val>
                                        </p:tav>
                                      </p:tavLst>
                                    </p:anim>
                                    <p:anim calcmode="lin" valueType="num">
                                      <p:cBhvr>
                                        <p:cTn id="27"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28"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29" dur="500" tmFilter="0,0; .5, 1; 1, 1"/>
                                        <p:tgtEl>
                                          <p:spTgt spid="19"/>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41" presetClass="entr" presetSubtype="0" fill="hold" grpId="0" nodeType="clickEffect">
                                  <p:stCondLst>
                                    <p:cond delay="0"/>
                                  </p:stCondLst>
                                  <p:iterate type="lt">
                                    <p:tmPct val="10000"/>
                                  </p:iterate>
                                  <p:childTnLst>
                                    <p:set>
                                      <p:cBhvr>
                                        <p:cTn id="33" dur="1" fill="hold">
                                          <p:stCondLst>
                                            <p:cond delay="0"/>
                                          </p:stCondLst>
                                        </p:cTn>
                                        <p:tgtEl>
                                          <p:spTgt spid="20"/>
                                        </p:tgtEl>
                                        <p:attrNameLst>
                                          <p:attrName>style.visibility</p:attrName>
                                        </p:attrNameLst>
                                      </p:cBhvr>
                                      <p:to>
                                        <p:strVal val="visible"/>
                                      </p:to>
                                    </p:set>
                                    <p:anim calcmode="lin" valueType="num">
                                      <p:cBhvr>
                                        <p:cTn id="34" dur="500" fill="hold"/>
                                        <p:tgtEl>
                                          <p:spTgt spid="20"/>
                                        </p:tgtEl>
                                        <p:attrNameLst>
                                          <p:attrName>ppt_x</p:attrName>
                                        </p:attrNameLst>
                                      </p:cBhvr>
                                      <p:tavLst>
                                        <p:tav tm="0">
                                          <p:val>
                                            <p:strVal val="#ppt_x"/>
                                          </p:val>
                                        </p:tav>
                                        <p:tav tm="50000">
                                          <p:val>
                                            <p:strVal val="#ppt_x+.1"/>
                                          </p:val>
                                        </p:tav>
                                        <p:tav tm="100000">
                                          <p:val>
                                            <p:strVal val="#ppt_x"/>
                                          </p:val>
                                        </p:tav>
                                      </p:tavLst>
                                    </p:anim>
                                    <p:anim calcmode="lin" valueType="num">
                                      <p:cBhvr>
                                        <p:cTn id="35" dur="500" fill="hold"/>
                                        <p:tgtEl>
                                          <p:spTgt spid="20"/>
                                        </p:tgtEl>
                                        <p:attrNameLst>
                                          <p:attrName>ppt_y</p:attrName>
                                        </p:attrNameLst>
                                      </p:cBhvr>
                                      <p:tavLst>
                                        <p:tav tm="0">
                                          <p:val>
                                            <p:strVal val="#ppt_y"/>
                                          </p:val>
                                        </p:tav>
                                        <p:tav tm="100000">
                                          <p:val>
                                            <p:strVal val="#ppt_y"/>
                                          </p:val>
                                        </p:tav>
                                      </p:tavLst>
                                    </p:anim>
                                    <p:anim calcmode="lin" valueType="num">
                                      <p:cBhvr>
                                        <p:cTn id="36" dur="500" fill="hold"/>
                                        <p:tgtEl>
                                          <p:spTgt spid="20"/>
                                        </p:tgtEl>
                                        <p:attrNameLst>
                                          <p:attrName>ppt_h</p:attrName>
                                        </p:attrNameLst>
                                      </p:cBhvr>
                                      <p:tavLst>
                                        <p:tav tm="0">
                                          <p:val>
                                            <p:strVal val="#ppt_h/10"/>
                                          </p:val>
                                        </p:tav>
                                        <p:tav tm="50000">
                                          <p:val>
                                            <p:strVal val="#ppt_h+.01"/>
                                          </p:val>
                                        </p:tav>
                                        <p:tav tm="100000">
                                          <p:val>
                                            <p:strVal val="#ppt_h"/>
                                          </p:val>
                                        </p:tav>
                                      </p:tavLst>
                                    </p:anim>
                                    <p:anim calcmode="lin" valueType="num">
                                      <p:cBhvr>
                                        <p:cTn id="37" dur="500" fill="hold"/>
                                        <p:tgtEl>
                                          <p:spTgt spid="20"/>
                                        </p:tgtEl>
                                        <p:attrNameLst>
                                          <p:attrName>ppt_w</p:attrName>
                                        </p:attrNameLst>
                                      </p:cBhvr>
                                      <p:tavLst>
                                        <p:tav tm="0">
                                          <p:val>
                                            <p:strVal val="#ppt_w/10"/>
                                          </p:val>
                                        </p:tav>
                                        <p:tav tm="50000">
                                          <p:val>
                                            <p:strVal val="#ppt_w+.01"/>
                                          </p:val>
                                        </p:tav>
                                        <p:tav tm="100000">
                                          <p:val>
                                            <p:strVal val="#ppt_w"/>
                                          </p:val>
                                        </p:tav>
                                      </p:tavLst>
                                    </p:anim>
                                    <p:animEffect transition="in" filter="fade">
                                      <p:cBhvr>
                                        <p:cTn id="38" dur="500" tmFilter="0,0; .5, 1; 1, 1"/>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8" grpId="0" animBg="1"/>
      <p:bldP spid="19" grpId="0" animBg="1"/>
      <p:bldP spid="20" grpId="0" animBg="1"/>
    </p:bldLst>
  </p:timing>
</p:sld>
</file>

<file path=ppt/slides/slide2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Espaço Reservado para Conteúdo 6"/>
          <p:cNvSpPr>
            <a:spLocks noGrp="1"/>
          </p:cNvSpPr>
          <p:nvPr>
            <p:ph idx="4294967295"/>
          </p:nvPr>
        </p:nvSpPr>
        <p:spPr>
          <a:xfrm>
            <a:off x="0" y="1744663"/>
            <a:ext cx="11982994" cy="2403475"/>
          </a:xfrm>
        </p:spPr>
        <p:txBody>
          <a:bodyPr>
            <a:normAutofit fontScale="55000" lnSpcReduction="20000"/>
          </a:bodyPr>
          <a:lstStyle/>
          <a:p>
            <a:pPr marL="0" indent="0">
              <a:lnSpc>
                <a:spcPct val="150000"/>
              </a:lnSpc>
              <a:spcAft>
                <a:spcPts val="1000"/>
              </a:spcAft>
              <a:buNone/>
            </a:pPr>
            <a:r>
              <a:rPr lang="pt-BR" dirty="0">
                <a:solidFill>
                  <a:srgbClr val="002060"/>
                </a:solidFill>
                <a:latin typeface="Arial" panose="020B0604020202020204" pitchFamily="34" charset="0"/>
                <a:ea typeface="Calibri" pitchFamily="34" charset="0"/>
                <a:cs typeface="Arial" panose="020B0604020202020204" pitchFamily="34" charset="0"/>
              </a:rPr>
              <a:t>	</a:t>
            </a:r>
            <a:r>
              <a:rPr lang="pt-BR" sz="5100" dirty="0">
                <a:solidFill>
                  <a:srgbClr val="003770"/>
                </a:solidFill>
                <a:latin typeface="Arial" pitchFamily="34" charset="0"/>
                <a:ea typeface="ＭＳ Ｐゴシック" panose="020B0600070205080204" pitchFamily="34" charset="-128"/>
                <a:cs typeface="Arial" pitchFamily="34" charset="0"/>
              </a:rPr>
              <a:t>Na próxima imagem, será apresentada algumas situações de risco em que todos os funcionários não conseguem perceber os vários, possíveis acidentes, porém como já caiu na rotina, vira paisagem.</a:t>
            </a:r>
          </a:p>
        </p:txBody>
      </p:sp>
      <p:sp>
        <p:nvSpPr>
          <p:cNvPr id="7" name="Espaço Reservado para Conteúdo 6"/>
          <p:cNvSpPr txBox="1">
            <a:spLocks/>
          </p:cNvSpPr>
          <p:nvPr/>
        </p:nvSpPr>
        <p:spPr bwMode="auto">
          <a:xfrm>
            <a:off x="252549" y="482705"/>
            <a:ext cx="9144000" cy="920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ＭＳ Ｐゴシック" charset="0"/>
                <a:cs typeface="ＭＳ Ｐゴシック" charset="0"/>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ＭＳ Ｐゴシック" charset="0"/>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ＭＳ Ｐゴシック" charset="0"/>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ＭＳ Ｐゴシック" charset="0"/>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ＭＳ Ｐゴシック"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spcAft>
                <a:spcPts val="1000"/>
              </a:spcAft>
              <a:buNone/>
            </a:pPr>
            <a:r>
              <a:rPr lang="pt-BR" b="1" u="sng" dirty="0">
                <a:solidFill>
                  <a:srgbClr val="002060"/>
                </a:solidFill>
                <a:latin typeface="Arial" panose="020B0604020202020204" pitchFamily="34" charset="0"/>
                <a:ea typeface="ＭＳ Ｐゴシック" panose="020B0600070205080204" pitchFamily="34" charset="-128"/>
                <a:cs typeface="Arial" panose="020B0604020202020204" pitchFamily="34" charset="0"/>
              </a:rPr>
              <a:t>Por que não identificamos mais os Riscos? </a:t>
            </a:r>
            <a:endParaRPr lang="pt-BR" b="1" u="sng" dirty="0">
              <a:solidFill>
                <a:srgbClr val="003770"/>
              </a:solidFill>
              <a:latin typeface="Arial" pitchFamily="34" charset="0"/>
              <a:ea typeface="ＭＳ Ｐゴシック" panose="020B0600070205080204" pitchFamily="34" charset="-128"/>
              <a:cs typeface="Arial" pitchFamily="34" charset="0"/>
            </a:endParaRPr>
          </a:p>
        </p:txBody>
      </p:sp>
      <p:sp>
        <p:nvSpPr>
          <p:cNvPr id="2" name="CaixaDeTexto 1">
            <a:extLst>
              <a:ext uri="{FF2B5EF4-FFF2-40B4-BE49-F238E27FC236}">
                <a16:creationId xmlns:a16="http://schemas.microsoft.com/office/drawing/2014/main" id="{D884537E-46E9-433B-95FD-68FD57DC9252}"/>
              </a:ext>
            </a:extLst>
          </p:cNvPr>
          <p:cNvSpPr txBox="1"/>
          <p:nvPr/>
        </p:nvSpPr>
        <p:spPr>
          <a:xfrm>
            <a:off x="1524001" y="15060"/>
            <a:ext cx="9143999" cy="369332"/>
          </a:xfrm>
          <a:prstGeom prst="rect">
            <a:avLst/>
          </a:prstGeom>
          <a:noFill/>
        </p:spPr>
        <p:txBody>
          <a:bodyPr wrap="square">
            <a:spAutoFit/>
          </a:bodyPr>
          <a:lstStyle/>
          <a:p>
            <a:pPr algn="r"/>
            <a:r>
              <a:rPr lang="pt-BR" b="1" u="sng" dirty="0">
                <a:solidFill>
                  <a:srgbClr val="002060"/>
                </a:solidFill>
              </a:rPr>
              <a:t>Percepção de Risco</a:t>
            </a:r>
            <a:endParaRPr lang="pt-BR" dirty="0"/>
          </a:p>
        </p:txBody>
      </p:sp>
    </p:spTree>
    <p:extLst>
      <p:ext uri="{BB962C8B-B14F-4D97-AF65-F5344CB8AC3E}">
        <p14:creationId xmlns:p14="http://schemas.microsoft.com/office/powerpoint/2010/main" val="3843325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8" presetClass="entr" presetSubtype="0" accel="50000" fill="hold" grpId="0" nodeType="clickEffect">
                                  <p:stCondLst>
                                    <p:cond delay="0"/>
                                  </p:stCondLst>
                                  <p:iterate type="lt">
                                    <p:tmPct val="49927"/>
                                  </p:iterate>
                                  <p:childTnLst>
                                    <p:set>
                                      <p:cBhvr>
                                        <p:cTn id="6" dur="1" fill="hold">
                                          <p:stCondLst>
                                            <p:cond delay="0"/>
                                          </p:stCondLst>
                                        </p:cTn>
                                        <p:tgtEl>
                                          <p:spTgt spid="6">
                                            <p:txEl>
                                              <p:pRg st="0" end="0"/>
                                            </p:txEl>
                                          </p:spTgt>
                                        </p:tgtEl>
                                        <p:attrNameLst>
                                          <p:attrName>style.visibility</p:attrName>
                                        </p:attrNameLst>
                                      </p:cBhvr>
                                      <p:to>
                                        <p:strVal val="visible"/>
                                      </p:to>
                                    </p:set>
                                    <p:set>
                                      <p:cBhvr>
                                        <p:cTn id="7" dur="114" fill="hold">
                                          <p:stCondLst>
                                            <p:cond delay="0"/>
                                          </p:stCondLst>
                                        </p:cTn>
                                        <p:tgtEl>
                                          <p:spTgt spid="6">
                                            <p:txEl>
                                              <p:pRg st="0" end="0"/>
                                            </p:txEl>
                                          </p:spTgt>
                                        </p:tgtEl>
                                        <p:attrNameLst>
                                          <p:attrName>style.rotation</p:attrName>
                                        </p:attrNameLst>
                                      </p:cBhvr>
                                      <p:to>
                                        <p:strVal val="-45.0"/>
                                      </p:to>
                                    </p:set>
                                    <p:anim calcmode="lin" valueType="num">
                                      <p:cBhvr>
                                        <p:cTn id="8" dur="114" fill="hold">
                                          <p:stCondLst>
                                            <p:cond delay="114"/>
                                          </p:stCondLst>
                                        </p:cTn>
                                        <p:tgtEl>
                                          <p:spTgt spid="6">
                                            <p:txEl>
                                              <p:pRg st="0" end="0"/>
                                            </p:txEl>
                                          </p:spTgt>
                                        </p:tgtEl>
                                        <p:attrNameLst>
                                          <p:attrName>style.rotation</p:attrName>
                                        </p:attrNameLst>
                                      </p:cBhvr>
                                      <p:tavLst>
                                        <p:tav tm="0">
                                          <p:val>
                                            <p:fltVal val="-45"/>
                                          </p:val>
                                        </p:tav>
                                        <p:tav tm="69900">
                                          <p:val>
                                            <p:fltVal val="45"/>
                                          </p:val>
                                        </p:tav>
                                        <p:tav tm="100000">
                                          <p:val>
                                            <p:fltVal val="0"/>
                                          </p:val>
                                        </p:tav>
                                      </p:tavLst>
                                    </p:anim>
                                    <p:anim calcmode="lin" valueType="num">
                                      <p:cBhvr>
                                        <p:cTn id="9" dur="114" fill="hold">
                                          <p:stCondLst>
                                            <p:cond delay="0"/>
                                          </p:stCondLst>
                                        </p:cTn>
                                        <p:tgtEl>
                                          <p:spTgt spid="6">
                                            <p:txEl>
                                              <p:pRg st="0" end="0"/>
                                            </p:txEl>
                                          </p:spTgt>
                                        </p:tgtEl>
                                        <p:attrNameLst>
                                          <p:attrName>ppt_y</p:attrName>
                                        </p:attrNameLst>
                                      </p:cBhvr>
                                      <p:tavLst>
                                        <p:tav tm="0">
                                          <p:val>
                                            <p:strVal val="#ppt_y-1"/>
                                          </p:val>
                                        </p:tav>
                                        <p:tav tm="100000">
                                          <p:val>
                                            <p:strVal val="#ppt_y-(0.354*#ppt_w-0.172*#ppt_h)"/>
                                          </p:val>
                                        </p:tav>
                                      </p:tavLst>
                                    </p:anim>
                                    <p:anim calcmode="lin" valueType="num">
                                      <p:cBhvr>
                                        <p:cTn id="10" dur="2" decel="50000" autoRev="1" fill="hold">
                                          <p:stCondLst>
                                            <p:cond delay="114"/>
                                          </p:stCondLst>
                                        </p:cTn>
                                        <p:tgtEl>
                                          <p:spTgt spid="6">
                                            <p:txEl>
                                              <p:pRg st="0" end="0"/>
                                            </p:txEl>
                                          </p:spTgt>
                                        </p:tgtEl>
                                        <p:attrNameLst>
                                          <p:attrName>ppt_y</p:attrName>
                                        </p:attrNameLst>
                                      </p:cBhvr>
                                      <p:tavLst>
                                        <p:tav tm="0">
                                          <p:val>
                                            <p:strVal val="#ppt_y-(0.354*#ppt_w-0.172*#ppt_h)"/>
                                          </p:val>
                                        </p:tav>
                                        <p:tav tm="100000">
                                          <p:val>
                                            <p:strVal val="#ppt_y-(0.354*#ppt_w-0.172*#ppt_h)-#ppt_h/2"/>
                                          </p:val>
                                        </p:tav>
                                      </p:tavLst>
                                    </p:anim>
                                    <p:anim calcmode="lin" valueType="num">
                                      <p:cBhvr>
                                        <p:cTn id="11" dur="1" fill="hold">
                                          <p:stCondLst>
                                            <p:cond delay="249"/>
                                          </p:stCondLst>
                                        </p:cTn>
                                        <p:tgtEl>
                                          <p:spTgt spid="6">
                                            <p:txEl>
                                              <p:pRg st="0" end="0"/>
                                            </p:txEl>
                                          </p:spTgt>
                                        </p:tgtEl>
                                        <p:attrNameLst>
                                          <p:attrName>ppt_y</p:attrName>
                                        </p:attrNameLst>
                                      </p:cBhvr>
                                      <p:tavLst>
                                        <p:tav tm="0">
                                          <p:val>
                                            <p:strVal val="#ppt_y-(0.354*#ppt_w-0.172*#ppt_h)"/>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AutoShape 2" descr="Resultado de imagem para acrofobia"/>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defRPr/>
            </a:pPr>
            <a:endParaRPr lang="pt-BR">
              <a:solidFill>
                <a:prstClr val="black"/>
              </a:solidFill>
            </a:endParaRPr>
          </a:p>
        </p:txBody>
      </p:sp>
      <p:pic>
        <p:nvPicPr>
          <p:cNvPr id="3074" name="Picture 2" descr="Resultado de imagem para percepção de riscos ambientai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21265"/>
            <a:ext cx="12261668" cy="6387232"/>
          </a:xfrm>
          <a:prstGeom prst="rect">
            <a:avLst/>
          </a:prstGeom>
          <a:noFill/>
          <a:extLst>
            <a:ext uri="{909E8E84-426E-40DD-AFC4-6F175D3DCCD1}">
              <a14:hiddenFill xmlns:a14="http://schemas.microsoft.com/office/drawing/2010/main">
                <a:solidFill>
                  <a:srgbClr val="FFFFFF"/>
                </a:solidFill>
              </a14:hiddenFill>
            </a:ext>
          </a:extLst>
        </p:spPr>
      </p:pic>
      <p:sp>
        <p:nvSpPr>
          <p:cNvPr id="3" name="Seta para baixo 2"/>
          <p:cNvSpPr/>
          <p:nvPr/>
        </p:nvSpPr>
        <p:spPr>
          <a:xfrm rot="19955692">
            <a:off x="2001513" y="2410618"/>
            <a:ext cx="438150" cy="695618"/>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Seta para baixo 2"/>
          <p:cNvSpPr/>
          <p:nvPr/>
        </p:nvSpPr>
        <p:spPr>
          <a:xfrm rot="19955692">
            <a:off x="873288" y="3707524"/>
            <a:ext cx="438150" cy="695618"/>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Seta para baixo 2"/>
          <p:cNvSpPr/>
          <p:nvPr/>
        </p:nvSpPr>
        <p:spPr>
          <a:xfrm rot="19955692">
            <a:off x="5172626" y="2820231"/>
            <a:ext cx="438150" cy="695618"/>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Seta para baixo 2"/>
          <p:cNvSpPr/>
          <p:nvPr/>
        </p:nvSpPr>
        <p:spPr>
          <a:xfrm rot="19955692">
            <a:off x="9576670" y="3523423"/>
            <a:ext cx="438150" cy="695618"/>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Seta para baixo 2"/>
          <p:cNvSpPr/>
          <p:nvPr/>
        </p:nvSpPr>
        <p:spPr>
          <a:xfrm rot="19955692">
            <a:off x="7325915" y="3065867"/>
            <a:ext cx="438150" cy="695618"/>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Seta para baixo 2"/>
          <p:cNvSpPr/>
          <p:nvPr/>
        </p:nvSpPr>
        <p:spPr>
          <a:xfrm rot="19955692">
            <a:off x="3033617" y="4828806"/>
            <a:ext cx="438150" cy="695618"/>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Seta para baixo 2"/>
          <p:cNvSpPr/>
          <p:nvPr/>
        </p:nvSpPr>
        <p:spPr>
          <a:xfrm rot="19955692">
            <a:off x="4645629" y="1402434"/>
            <a:ext cx="438150" cy="695618"/>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Seta para baixo 2"/>
          <p:cNvSpPr/>
          <p:nvPr/>
        </p:nvSpPr>
        <p:spPr>
          <a:xfrm rot="19955692">
            <a:off x="4645627" y="40537"/>
            <a:ext cx="438150" cy="695618"/>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Seta para baixo 2"/>
          <p:cNvSpPr/>
          <p:nvPr/>
        </p:nvSpPr>
        <p:spPr>
          <a:xfrm rot="19955692">
            <a:off x="6896458" y="-82660"/>
            <a:ext cx="438150" cy="695618"/>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Seta para baixo 2"/>
          <p:cNvSpPr/>
          <p:nvPr/>
        </p:nvSpPr>
        <p:spPr>
          <a:xfrm rot="19955692">
            <a:off x="10913286" y="4074547"/>
            <a:ext cx="438150" cy="695618"/>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Seta para baixo 2"/>
          <p:cNvSpPr/>
          <p:nvPr/>
        </p:nvSpPr>
        <p:spPr>
          <a:xfrm rot="3949369">
            <a:off x="9253725" y="2606180"/>
            <a:ext cx="438150" cy="695618"/>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Seta para baixo 2"/>
          <p:cNvSpPr/>
          <p:nvPr/>
        </p:nvSpPr>
        <p:spPr>
          <a:xfrm rot="19955692">
            <a:off x="3713642" y="2246643"/>
            <a:ext cx="438150" cy="695618"/>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6" name="Seta para baixo 2"/>
          <p:cNvSpPr/>
          <p:nvPr/>
        </p:nvSpPr>
        <p:spPr>
          <a:xfrm rot="19955692">
            <a:off x="5000205" y="3915103"/>
            <a:ext cx="438150" cy="695618"/>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3666211511"/>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Espaço Reservado para Conteúdo 6"/>
          <p:cNvSpPr txBox="1">
            <a:spLocks/>
          </p:cNvSpPr>
          <p:nvPr/>
        </p:nvSpPr>
        <p:spPr bwMode="auto">
          <a:xfrm>
            <a:off x="2048590" y="477507"/>
            <a:ext cx="7938927"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Calibri" pitchFamily="34" charset="0"/>
                <a:ea typeface="MS PGothic" pitchFamily="34" charset="-128"/>
              </a:defRPr>
            </a:lvl1pPr>
            <a:lvl2pPr>
              <a:defRPr sz="2400">
                <a:solidFill>
                  <a:schemeClr val="tx1"/>
                </a:solidFill>
                <a:latin typeface="Calibri" pitchFamily="34" charset="0"/>
                <a:ea typeface="MS PGothic" pitchFamily="34" charset="-128"/>
              </a:defRPr>
            </a:lvl2pPr>
            <a:lvl3pPr>
              <a:defRPr sz="2000">
                <a:solidFill>
                  <a:schemeClr val="tx1"/>
                </a:solidFill>
                <a:latin typeface="Calibri" pitchFamily="34" charset="0"/>
                <a:ea typeface="MS PGothic" pitchFamily="34" charset="-128"/>
              </a:defRPr>
            </a:lvl3pPr>
            <a:lvl4pPr>
              <a:defRPr sz="2000">
                <a:solidFill>
                  <a:schemeClr val="tx1"/>
                </a:solidFill>
                <a:latin typeface="Calibri" pitchFamily="34" charset="0"/>
                <a:ea typeface="MS PGothic" pitchFamily="34" charset="-128"/>
              </a:defRPr>
            </a:lvl4pPr>
            <a:lvl5pPr>
              <a:defRPr sz="2000">
                <a:solidFill>
                  <a:schemeClr val="tx1"/>
                </a:solidFill>
                <a:latin typeface="Calibri" pitchFamily="34" charset="0"/>
                <a:ea typeface="MS PGothic" pitchFamily="34" charset="-128"/>
              </a:defRPr>
            </a:lvl5pPr>
            <a:lvl6pPr eaLnBrk="0" fontAlgn="base" hangingPunct="0">
              <a:spcAft>
                <a:spcPct val="0"/>
              </a:spcAft>
              <a:buFont typeface="Arial" charset="0"/>
              <a:defRPr sz="2000">
                <a:solidFill>
                  <a:schemeClr val="tx1"/>
                </a:solidFill>
                <a:latin typeface="Calibri" pitchFamily="34" charset="0"/>
                <a:ea typeface="MS PGothic" pitchFamily="34" charset="-128"/>
              </a:defRPr>
            </a:lvl6pPr>
            <a:lvl7pPr eaLnBrk="0" fontAlgn="base" hangingPunct="0">
              <a:spcAft>
                <a:spcPct val="0"/>
              </a:spcAft>
              <a:buFont typeface="Arial" charset="0"/>
              <a:defRPr sz="2000">
                <a:solidFill>
                  <a:schemeClr val="tx1"/>
                </a:solidFill>
                <a:latin typeface="Calibri" pitchFamily="34" charset="0"/>
                <a:ea typeface="MS PGothic" pitchFamily="34" charset="-128"/>
              </a:defRPr>
            </a:lvl7pPr>
            <a:lvl8pPr eaLnBrk="0" fontAlgn="base" hangingPunct="0">
              <a:spcAft>
                <a:spcPct val="0"/>
              </a:spcAft>
              <a:buFont typeface="Arial" charset="0"/>
              <a:defRPr sz="2000">
                <a:solidFill>
                  <a:schemeClr val="tx1"/>
                </a:solidFill>
                <a:latin typeface="Calibri" pitchFamily="34" charset="0"/>
                <a:ea typeface="MS PGothic" pitchFamily="34" charset="-128"/>
              </a:defRPr>
            </a:lvl8pPr>
            <a:lvl9pPr eaLnBrk="0" fontAlgn="base" hangingPunct="0">
              <a:spcAft>
                <a:spcPct val="0"/>
              </a:spcAft>
              <a:buFont typeface="Arial" charset="0"/>
              <a:defRPr sz="2000">
                <a:solidFill>
                  <a:schemeClr val="tx1"/>
                </a:solidFill>
                <a:latin typeface="Calibri" pitchFamily="34" charset="0"/>
                <a:ea typeface="MS PGothic" pitchFamily="34" charset="-128"/>
              </a:defRPr>
            </a:lvl9pPr>
          </a:lstStyle>
          <a:p>
            <a:pPr algn="just">
              <a:lnSpc>
                <a:spcPct val="115000"/>
              </a:lnSpc>
              <a:spcBef>
                <a:spcPts val="1000"/>
              </a:spcBef>
              <a:spcAft>
                <a:spcPts val="1000"/>
              </a:spcAft>
            </a:pPr>
            <a:r>
              <a:rPr lang="pt-BR" b="1" dirty="0">
                <a:solidFill>
                  <a:srgbClr val="003770"/>
                </a:solidFill>
                <a:latin typeface="Arial" panose="020B0604020202020204" pitchFamily="34" charset="0"/>
                <a:ea typeface="ＭＳ Ｐゴシック" panose="020B0600070205080204" pitchFamily="34" charset="-128"/>
                <a:cs typeface="Arial" pitchFamily="34" charset="0"/>
              </a:rPr>
              <a:t>O que vocês perceberam de irregularidades?</a:t>
            </a:r>
            <a:endParaRPr lang="pt-BR" dirty="0">
              <a:solidFill>
                <a:srgbClr val="00377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5" name="Espaço Reservado para Conteúdo 6"/>
          <p:cNvSpPr>
            <a:spLocks noGrp="1"/>
          </p:cNvSpPr>
          <p:nvPr>
            <p:ph idx="4294967295"/>
          </p:nvPr>
        </p:nvSpPr>
        <p:spPr>
          <a:xfrm>
            <a:off x="0" y="1230313"/>
            <a:ext cx="12192000" cy="2403475"/>
          </a:xfrm>
        </p:spPr>
        <p:txBody>
          <a:bodyPr>
            <a:normAutofit fontScale="25000" lnSpcReduction="20000"/>
          </a:bodyPr>
          <a:lstStyle/>
          <a:p>
            <a:pPr algn="just">
              <a:lnSpc>
                <a:spcPct val="100000"/>
              </a:lnSpc>
              <a:spcAft>
                <a:spcPts val="1000"/>
              </a:spcAft>
              <a:buFont typeface="Wingdings" panose="05000000000000000000" pitchFamily="2" charset="2"/>
              <a:buChar char="ü"/>
            </a:pPr>
            <a:r>
              <a:rPr lang="pt-BR" sz="9600" dirty="0">
                <a:solidFill>
                  <a:srgbClr val="002060"/>
                </a:solidFill>
                <a:latin typeface="Arial" panose="020B0604020202020204" pitchFamily="34" charset="0"/>
                <a:ea typeface="ＭＳ Ｐゴシック" panose="020B0600070205080204" pitchFamily="34" charset="-128"/>
                <a:cs typeface="Arial" panose="020B0604020202020204" pitchFamily="34" charset="0"/>
              </a:rPr>
              <a:t>O </a:t>
            </a:r>
            <a:r>
              <a:rPr lang="pt-BR" sz="9600" dirty="0">
                <a:solidFill>
                  <a:srgbClr val="003770"/>
                </a:solidFill>
                <a:latin typeface="Arial" pitchFamily="34" charset="0"/>
                <a:ea typeface="ＭＳ Ｐゴシック" panose="020B0600070205080204" pitchFamily="34" charset="-128"/>
                <a:cs typeface="Arial" pitchFamily="34" charset="0"/>
              </a:rPr>
              <a:t>operador de empilhadeira sem visão;</a:t>
            </a:r>
          </a:p>
          <a:p>
            <a:pPr algn="just">
              <a:lnSpc>
                <a:spcPct val="100000"/>
              </a:lnSpc>
              <a:spcAft>
                <a:spcPts val="1000"/>
              </a:spcAft>
              <a:buFont typeface="Wingdings" panose="05000000000000000000" pitchFamily="2" charset="2"/>
              <a:buChar char="ü"/>
            </a:pPr>
            <a:r>
              <a:rPr lang="pt-BR" sz="9600" dirty="0">
                <a:solidFill>
                  <a:srgbClr val="003770"/>
                </a:solidFill>
                <a:latin typeface="Arial" pitchFamily="34" charset="0"/>
                <a:ea typeface="ＭＳ Ｐゴシック" panose="020B0600070205080204" pitchFamily="34" charset="-128"/>
                <a:cs typeface="Arial" pitchFamily="34" charset="0"/>
              </a:rPr>
              <a:t>Peças espalhadas pelo ambiente de trabalho;</a:t>
            </a:r>
          </a:p>
          <a:p>
            <a:pPr algn="just">
              <a:lnSpc>
                <a:spcPct val="100000"/>
              </a:lnSpc>
              <a:spcAft>
                <a:spcPts val="1000"/>
              </a:spcAft>
              <a:buFont typeface="Wingdings" panose="05000000000000000000" pitchFamily="2" charset="2"/>
              <a:buChar char="ü"/>
            </a:pPr>
            <a:r>
              <a:rPr lang="pt-BR" sz="9600" dirty="0">
                <a:solidFill>
                  <a:srgbClr val="003770"/>
                </a:solidFill>
                <a:latin typeface="Arial" pitchFamily="34" charset="0"/>
                <a:ea typeface="ＭＳ Ｐゴシック" panose="020B0600070205080204" pitchFamily="34" charset="-128"/>
                <a:cs typeface="Arial" pitchFamily="34" charset="0"/>
              </a:rPr>
              <a:t>Tomadas conectadas com fios desencapadas;</a:t>
            </a:r>
          </a:p>
          <a:p>
            <a:pPr algn="just">
              <a:lnSpc>
                <a:spcPct val="100000"/>
              </a:lnSpc>
              <a:spcAft>
                <a:spcPts val="1000"/>
              </a:spcAft>
              <a:buFont typeface="Wingdings" panose="05000000000000000000" pitchFamily="2" charset="2"/>
              <a:buChar char="ü"/>
            </a:pPr>
            <a:r>
              <a:rPr lang="pt-BR" sz="9600" dirty="0">
                <a:solidFill>
                  <a:srgbClr val="003770"/>
                </a:solidFill>
                <a:latin typeface="Arial" pitchFamily="34" charset="0"/>
                <a:ea typeface="ＭＳ Ｐゴシック" panose="020B0600070205080204" pitchFamily="34" charset="-128"/>
                <a:cs typeface="Arial" pitchFamily="34" charset="0"/>
              </a:rPr>
              <a:t>Falta do uso de EPI’s;</a:t>
            </a:r>
          </a:p>
          <a:p>
            <a:pPr algn="just">
              <a:lnSpc>
                <a:spcPct val="100000"/>
              </a:lnSpc>
              <a:spcAft>
                <a:spcPts val="1000"/>
              </a:spcAft>
              <a:buFont typeface="Wingdings" panose="05000000000000000000" pitchFamily="2" charset="2"/>
              <a:buChar char="ü"/>
            </a:pPr>
            <a:r>
              <a:rPr lang="pt-BR" sz="9600" dirty="0">
                <a:solidFill>
                  <a:srgbClr val="003770"/>
                </a:solidFill>
                <a:latin typeface="Arial" pitchFamily="34" charset="0"/>
                <a:ea typeface="ＭＳ Ｐゴシック" panose="020B0600070205080204" pitchFamily="34" charset="-128"/>
                <a:cs typeface="Arial" pitchFamily="34" charset="0"/>
              </a:rPr>
              <a:t> Lixo exposto no ambiente de trabalho sem proteção;</a:t>
            </a:r>
          </a:p>
          <a:p>
            <a:pPr algn="just">
              <a:lnSpc>
                <a:spcPct val="100000"/>
              </a:lnSpc>
              <a:spcAft>
                <a:spcPts val="1000"/>
              </a:spcAft>
              <a:buFont typeface="Wingdings" panose="05000000000000000000" pitchFamily="2" charset="2"/>
              <a:buChar char="ü"/>
            </a:pPr>
            <a:r>
              <a:rPr lang="pt-BR" sz="9600" dirty="0">
                <a:solidFill>
                  <a:srgbClr val="003770"/>
                </a:solidFill>
                <a:latin typeface="Arial" pitchFamily="34" charset="0"/>
                <a:ea typeface="ＭＳ Ｐゴシック" panose="020B0600070205080204" pitchFamily="34" charset="-128"/>
                <a:cs typeface="Arial" pitchFamily="34" charset="0"/>
              </a:rPr>
              <a:t> Galões, aparentemente em estoque no ambiente;</a:t>
            </a:r>
          </a:p>
          <a:p>
            <a:pPr algn="just">
              <a:lnSpc>
                <a:spcPct val="100000"/>
              </a:lnSpc>
              <a:spcAft>
                <a:spcPts val="1000"/>
              </a:spcAft>
              <a:buFont typeface="Wingdings" panose="05000000000000000000" pitchFamily="2" charset="2"/>
              <a:buChar char="ü"/>
            </a:pPr>
            <a:r>
              <a:rPr lang="pt-BR" sz="9600" dirty="0">
                <a:solidFill>
                  <a:srgbClr val="003770"/>
                </a:solidFill>
                <a:latin typeface="Arial" pitchFamily="34" charset="0"/>
                <a:ea typeface="ＭＳ Ｐゴシック" panose="020B0600070205080204" pitchFamily="34" charset="-128"/>
                <a:cs typeface="Arial" pitchFamily="34" charset="0"/>
              </a:rPr>
              <a:t> Ferramentas espalhadas pelo chão;</a:t>
            </a:r>
          </a:p>
          <a:p>
            <a:pPr algn="just">
              <a:lnSpc>
                <a:spcPct val="100000"/>
              </a:lnSpc>
              <a:spcAft>
                <a:spcPts val="1000"/>
              </a:spcAft>
              <a:buFont typeface="Wingdings" panose="05000000000000000000" pitchFamily="2" charset="2"/>
              <a:buChar char="ü"/>
            </a:pPr>
            <a:r>
              <a:rPr lang="pt-BR" sz="9600" dirty="0">
                <a:solidFill>
                  <a:srgbClr val="003770"/>
                </a:solidFill>
                <a:latin typeface="Arial" pitchFamily="34" charset="0"/>
                <a:ea typeface="ＭＳ Ｐゴシック" panose="020B0600070205080204" pitchFamily="34" charset="-128"/>
                <a:cs typeface="Arial" pitchFamily="34" charset="0"/>
              </a:rPr>
              <a:t>Máquinas rotativas sem a proteção adequada, etc.</a:t>
            </a:r>
          </a:p>
          <a:p>
            <a:pPr marL="0" indent="0" algn="just">
              <a:lnSpc>
                <a:spcPct val="100000"/>
              </a:lnSpc>
              <a:spcAft>
                <a:spcPts val="1000"/>
              </a:spcAft>
              <a:buNone/>
            </a:pPr>
            <a:endParaRPr lang="pt-BR" sz="2600" dirty="0">
              <a:solidFill>
                <a:srgbClr val="003770"/>
              </a:solidFill>
              <a:latin typeface="Arial" pitchFamily="34" charset="0"/>
              <a:ea typeface="ＭＳ Ｐゴシック" panose="020B0600070205080204" pitchFamily="34" charset="-128"/>
              <a:cs typeface="Arial" pitchFamily="34" charset="0"/>
            </a:endParaRPr>
          </a:p>
          <a:p>
            <a:pPr marL="0" indent="0" algn="just">
              <a:lnSpc>
                <a:spcPct val="100000"/>
              </a:lnSpc>
              <a:spcAft>
                <a:spcPts val="1000"/>
              </a:spcAft>
              <a:buNone/>
            </a:pPr>
            <a:endParaRPr lang="pt-BR" sz="2600" dirty="0">
              <a:solidFill>
                <a:srgbClr val="003770"/>
              </a:solidFill>
              <a:latin typeface="Arial" pitchFamily="34" charset="0"/>
              <a:ea typeface="ＭＳ Ｐゴシック" panose="020B0600070205080204" pitchFamily="34" charset="-128"/>
              <a:cs typeface="Arial" pitchFamily="34" charset="0"/>
            </a:endParaRPr>
          </a:p>
          <a:p>
            <a:pPr marL="0" indent="0" algn="just">
              <a:lnSpc>
                <a:spcPct val="100000"/>
              </a:lnSpc>
              <a:spcAft>
                <a:spcPts val="1000"/>
              </a:spcAft>
              <a:buNone/>
            </a:pPr>
            <a:endParaRPr lang="pt-BR" sz="2600" dirty="0">
              <a:solidFill>
                <a:srgbClr val="003770"/>
              </a:solidFill>
              <a:latin typeface="Arial" pitchFamily="34" charset="0"/>
              <a:ea typeface="ＭＳ Ｐゴシック" panose="020B0600070205080204" pitchFamily="34" charset="-128"/>
              <a:cs typeface="Arial" pitchFamily="34" charset="0"/>
            </a:endParaRPr>
          </a:p>
          <a:p>
            <a:pPr marL="0" indent="0" algn="just">
              <a:lnSpc>
                <a:spcPct val="100000"/>
              </a:lnSpc>
              <a:spcAft>
                <a:spcPts val="1000"/>
              </a:spcAft>
              <a:buNone/>
            </a:pPr>
            <a:endParaRPr lang="pt-BR" sz="2600" dirty="0">
              <a:solidFill>
                <a:srgbClr val="003770"/>
              </a:solidFill>
              <a:latin typeface="Arial" pitchFamily="34" charset="0"/>
              <a:ea typeface="ＭＳ Ｐゴシック" panose="020B0600070205080204" pitchFamily="34" charset="-128"/>
              <a:cs typeface="Arial" pitchFamily="34" charset="0"/>
            </a:endParaRPr>
          </a:p>
          <a:p>
            <a:pPr marL="0" indent="0" algn="just">
              <a:lnSpc>
                <a:spcPct val="100000"/>
              </a:lnSpc>
              <a:spcAft>
                <a:spcPts val="1000"/>
              </a:spcAft>
              <a:buNone/>
            </a:pPr>
            <a:endParaRPr lang="pt-BR" sz="2600" dirty="0">
              <a:solidFill>
                <a:srgbClr val="003770"/>
              </a:solidFill>
              <a:latin typeface="Arial" pitchFamily="34" charset="0"/>
              <a:ea typeface="ＭＳ Ｐゴシック" panose="020B0600070205080204" pitchFamily="34" charset="-128"/>
              <a:cs typeface="Arial" pitchFamily="34" charset="0"/>
            </a:endParaRPr>
          </a:p>
        </p:txBody>
      </p:sp>
      <p:sp>
        <p:nvSpPr>
          <p:cNvPr id="2" name="CaixaDeTexto 1">
            <a:extLst>
              <a:ext uri="{FF2B5EF4-FFF2-40B4-BE49-F238E27FC236}">
                <a16:creationId xmlns:a16="http://schemas.microsoft.com/office/drawing/2014/main" id="{29D58432-FEF4-4F2A-BAA7-68CF5DF7365B}"/>
              </a:ext>
            </a:extLst>
          </p:cNvPr>
          <p:cNvSpPr txBox="1"/>
          <p:nvPr/>
        </p:nvSpPr>
        <p:spPr>
          <a:xfrm>
            <a:off x="1524001" y="15060"/>
            <a:ext cx="9143999" cy="369332"/>
          </a:xfrm>
          <a:prstGeom prst="rect">
            <a:avLst/>
          </a:prstGeom>
          <a:noFill/>
        </p:spPr>
        <p:txBody>
          <a:bodyPr wrap="square">
            <a:spAutoFit/>
          </a:bodyPr>
          <a:lstStyle/>
          <a:p>
            <a:pPr algn="r"/>
            <a:r>
              <a:rPr lang="pt-BR" b="1" u="sng" dirty="0">
                <a:solidFill>
                  <a:srgbClr val="002060"/>
                </a:solidFill>
              </a:rPr>
              <a:t>Percepção de Risco</a:t>
            </a:r>
            <a:endParaRPr lang="pt-BR" dirty="0"/>
          </a:p>
        </p:txBody>
      </p:sp>
    </p:spTree>
    <p:extLst>
      <p:ext uri="{BB962C8B-B14F-4D97-AF65-F5344CB8AC3E}">
        <p14:creationId xmlns:p14="http://schemas.microsoft.com/office/powerpoint/2010/main" val="2362969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 calcmode="lin" valueType="num">
                                      <p:cBhvr additive="base">
                                        <p:cTn id="37" dur="500" fill="hold"/>
                                        <p:tgtEl>
                                          <p:spTgt spid="5">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5">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5">
                                            <p:txEl>
                                              <p:pRg st="6" end="6"/>
                                            </p:txEl>
                                          </p:spTgt>
                                        </p:tgtEl>
                                        <p:attrNameLst>
                                          <p:attrName>style.visibility</p:attrName>
                                        </p:attrNameLst>
                                      </p:cBhvr>
                                      <p:to>
                                        <p:strVal val="visible"/>
                                      </p:to>
                                    </p:set>
                                    <p:anim calcmode="lin" valueType="num">
                                      <p:cBhvr additive="base">
                                        <p:cTn id="43" dur="500" fill="hold"/>
                                        <p:tgtEl>
                                          <p:spTgt spid="5">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5">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nodeType="clickEffect">
                                  <p:stCondLst>
                                    <p:cond delay="0"/>
                                  </p:stCondLst>
                                  <p:childTnLst>
                                    <p:set>
                                      <p:cBhvr>
                                        <p:cTn id="48" dur="1" fill="hold">
                                          <p:stCondLst>
                                            <p:cond delay="0"/>
                                          </p:stCondLst>
                                        </p:cTn>
                                        <p:tgtEl>
                                          <p:spTgt spid="5">
                                            <p:txEl>
                                              <p:pRg st="7" end="7"/>
                                            </p:txEl>
                                          </p:spTgt>
                                        </p:tgtEl>
                                        <p:attrNameLst>
                                          <p:attrName>style.visibility</p:attrName>
                                        </p:attrNameLst>
                                      </p:cBhvr>
                                      <p:to>
                                        <p:strVal val="visible"/>
                                      </p:to>
                                    </p:set>
                                    <p:anim calcmode="lin" valueType="num">
                                      <p:cBhvr additive="base">
                                        <p:cTn id="49" dur="500" fill="hold"/>
                                        <p:tgtEl>
                                          <p:spTgt spid="5">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5">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Espaço Reservado para Conteúdo 6"/>
          <p:cNvSpPr txBox="1">
            <a:spLocks/>
          </p:cNvSpPr>
          <p:nvPr/>
        </p:nvSpPr>
        <p:spPr bwMode="auto">
          <a:xfrm>
            <a:off x="1524001" y="195727"/>
            <a:ext cx="91440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Calibri" pitchFamily="34" charset="0"/>
                <a:ea typeface="MS PGothic" pitchFamily="34" charset="-128"/>
              </a:defRPr>
            </a:lvl1pPr>
            <a:lvl2pPr>
              <a:defRPr sz="2400">
                <a:solidFill>
                  <a:schemeClr val="tx1"/>
                </a:solidFill>
                <a:latin typeface="Calibri" pitchFamily="34" charset="0"/>
                <a:ea typeface="MS PGothic" pitchFamily="34" charset="-128"/>
              </a:defRPr>
            </a:lvl2pPr>
            <a:lvl3pPr>
              <a:defRPr sz="2000">
                <a:solidFill>
                  <a:schemeClr val="tx1"/>
                </a:solidFill>
                <a:latin typeface="Calibri" pitchFamily="34" charset="0"/>
                <a:ea typeface="MS PGothic" pitchFamily="34" charset="-128"/>
              </a:defRPr>
            </a:lvl3pPr>
            <a:lvl4pPr>
              <a:defRPr sz="2000">
                <a:solidFill>
                  <a:schemeClr val="tx1"/>
                </a:solidFill>
                <a:latin typeface="Calibri" pitchFamily="34" charset="0"/>
                <a:ea typeface="MS PGothic" pitchFamily="34" charset="-128"/>
              </a:defRPr>
            </a:lvl4pPr>
            <a:lvl5pPr>
              <a:defRPr sz="2000">
                <a:solidFill>
                  <a:schemeClr val="tx1"/>
                </a:solidFill>
                <a:latin typeface="Calibri" pitchFamily="34" charset="0"/>
                <a:ea typeface="MS PGothic" pitchFamily="34" charset="-128"/>
              </a:defRPr>
            </a:lvl5pPr>
            <a:lvl6pPr eaLnBrk="0" fontAlgn="base" hangingPunct="0">
              <a:spcAft>
                <a:spcPct val="0"/>
              </a:spcAft>
              <a:buFont typeface="Arial" charset="0"/>
              <a:defRPr sz="2000">
                <a:solidFill>
                  <a:schemeClr val="tx1"/>
                </a:solidFill>
                <a:latin typeface="Calibri" pitchFamily="34" charset="0"/>
                <a:ea typeface="MS PGothic" pitchFamily="34" charset="-128"/>
              </a:defRPr>
            </a:lvl6pPr>
            <a:lvl7pPr eaLnBrk="0" fontAlgn="base" hangingPunct="0">
              <a:spcAft>
                <a:spcPct val="0"/>
              </a:spcAft>
              <a:buFont typeface="Arial" charset="0"/>
              <a:defRPr sz="2000">
                <a:solidFill>
                  <a:schemeClr val="tx1"/>
                </a:solidFill>
                <a:latin typeface="Calibri" pitchFamily="34" charset="0"/>
                <a:ea typeface="MS PGothic" pitchFamily="34" charset="-128"/>
              </a:defRPr>
            </a:lvl7pPr>
            <a:lvl8pPr eaLnBrk="0" fontAlgn="base" hangingPunct="0">
              <a:spcAft>
                <a:spcPct val="0"/>
              </a:spcAft>
              <a:buFont typeface="Arial" charset="0"/>
              <a:defRPr sz="2000">
                <a:solidFill>
                  <a:schemeClr val="tx1"/>
                </a:solidFill>
                <a:latin typeface="Calibri" pitchFamily="34" charset="0"/>
                <a:ea typeface="MS PGothic" pitchFamily="34" charset="-128"/>
              </a:defRPr>
            </a:lvl8pPr>
            <a:lvl9pPr eaLnBrk="0" fontAlgn="base" hangingPunct="0">
              <a:spcAft>
                <a:spcPct val="0"/>
              </a:spcAft>
              <a:buFont typeface="Arial" charset="0"/>
              <a:defRPr sz="2000">
                <a:solidFill>
                  <a:schemeClr val="tx1"/>
                </a:solidFill>
                <a:latin typeface="Calibri" pitchFamily="34" charset="0"/>
                <a:ea typeface="MS PGothic" pitchFamily="34" charset="-128"/>
              </a:defRPr>
            </a:lvl9pPr>
          </a:lstStyle>
          <a:p>
            <a:pPr algn="ctr">
              <a:lnSpc>
                <a:spcPct val="115000"/>
              </a:lnSpc>
              <a:spcBef>
                <a:spcPts val="1000"/>
              </a:spcBef>
              <a:spcAft>
                <a:spcPts val="1000"/>
              </a:spcAft>
            </a:pPr>
            <a:r>
              <a:rPr lang="pt-BR" b="1" dirty="0">
                <a:solidFill>
                  <a:srgbClr val="003770"/>
                </a:solidFill>
                <a:latin typeface="Arial" panose="020B0604020202020204" pitchFamily="34" charset="0"/>
                <a:ea typeface="ＭＳ Ｐゴシック" panose="020B0600070205080204" pitchFamily="34" charset="-128"/>
                <a:cs typeface="Arial" pitchFamily="34" charset="0"/>
              </a:rPr>
              <a:t>Até os mais experientes podem ser traídos pela rotina e se envolverem em acidentes...</a:t>
            </a:r>
            <a:endParaRPr lang="pt-BR" dirty="0">
              <a:solidFill>
                <a:srgbClr val="003770"/>
              </a:solidFill>
              <a:latin typeface="Arial" panose="020B0604020202020204" pitchFamily="34" charset="0"/>
              <a:ea typeface="ＭＳ Ｐゴシック" panose="020B0600070205080204" pitchFamily="34" charset="-128"/>
              <a:cs typeface="Arial" panose="020B0604020202020204" pitchFamily="34" charset="0"/>
            </a:endParaRPr>
          </a:p>
        </p:txBody>
      </p:sp>
      <p:pic>
        <p:nvPicPr>
          <p:cNvPr id="1108" name="Picture 8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728" y="1581323"/>
            <a:ext cx="11840391" cy="458434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58015017"/>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0835" name="Título 3"/>
          <p:cNvSpPr>
            <a:spLocks noGrp="1"/>
          </p:cNvSpPr>
          <p:nvPr>
            <p:ph type="title" idx="4294967295"/>
          </p:nvPr>
        </p:nvSpPr>
        <p:spPr>
          <a:xfrm>
            <a:off x="780551" y="593272"/>
            <a:ext cx="9164637" cy="620713"/>
          </a:xfrm>
        </p:spPr>
        <p:txBody>
          <a:bodyPr>
            <a:normAutofit fontScale="90000"/>
          </a:bodyPr>
          <a:lstStyle/>
          <a:p>
            <a:pPr algn="ctr"/>
            <a:r>
              <a:rPr lang="pt-BR" altLang="pt-BR" sz="2800" b="1" u="sng" dirty="0">
                <a:solidFill>
                  <a:srgbClr val="002060"/>
                </a:solidFill>
                <a:latin typeface="Arial" charset="0"/>
                <a:ea typeface="ＭＳ Ｐゴシック" pitchFamily="34" charset="-128"/>
                <a:cs typeface="Arial" charset="0"/>
              </a:rPr>
              <a:t>Você saberia dizer quais são </a:t>
            </a:r>
            <a:br>
              <a:rPr lang="pt-BR" altLang="pt-BR" sz="2800" b="1" u="sng" dirty="0">
                <a:solidFill>
                  <a:srgbClr val="002060"/>
                </a:solidFill>
                <a:latin typeface="Arial" charset="0"/>
                <a:ea typeface="ＭＳ Ｐゴシック" pitchFamily="34" charset="-128"/>
                <a:cs typeface="Arial" charset="0"/>
              </a:rPr>
            </a:br>
            <a:r>
              <a:rPr lang="pt-BR" altLang="pt-BR" sz="2800" b="1" u="sng" dirty="0">
                <a:solidFill>
                  <a:srgbClr val="002060"/>
                </a:solidFill>
                <a:latin typeface="Arial" charset="0"/>
                <a:ea typeface="ＭＳ Ｐゴシック" pitchFamily="34" charset="-128"/>
                <a:cs typeface="Arial" charset="0"/>
              </a:rPr>
              <a:t>os fatores geradores de acidentes?</a:t>
            </a:r>
          </a:p>
        </p:txBody>
      </p:sp>
      <p:sp>
        <p:nvSpPr>
          <p:cNvPr id="13" name="Espaço Reservado para Conteúdo 5"/>
          <p:cNvSpPr>
            <a:spLocks noGrp="1"/>
          </p:cNvSpPr>
          <p:nvPr>
            <p:ph idx="4294967295"/>
          </p:nvPr>
        </p:nvSpPr>
        <p:spPr>
          <a:xfrm>
            <a:off x="198166" y="1777048"/>
            <a:ext cx="11863205" cy="1857375"/>
          </a:xfrm>
        </p:spPr>
        <p:txBody>
          <a:bodyPr>
            <a:normAutofit fontScale="77500" lnSpcReduction="20000"/>
          </a:bodyPr>
          <a:lstStyle/>
          <a:p>
            <a:pPr algn="just">
              <a:lnSpc>
                <a:spcPct val="150000"/>
              </a:lnSpc>
              <a:spcBef>
                <a:spcPct val="0"/>
              </a:spcBef>
              <a:buFont typeface="Wingdings" panose="05000000000000000000" pitchFamily="2" charset="2"/>
              <a:buChar char="ü"/>
              <a:defRPr/>
            </a:pPr>
            <a:r>
              <a:rPr lang="pt-BR" b="1" dirty="0">
                <a:solidFill>
                  <a:srgbClr val="002060"/>
                </a:solidFill>
                <a:latin typeface="Arial" panose="020B0604020202020204" pitchFamily="34" charset="0"/>
                <a:ea typeface="ＭＳ Ｐゴシック" panose="020B0600070205080204" pitchFamily="34" charset="-128"/>
                <a:cs typeface="Arial" panose="020B0604020202020204" pitchFamily="34" charset="0"/>
              </a:rPr>
              <a:t> </a:t>
            </a:r>
            <a:r>
              <a:rPr lang="pt-BR" b="1" u="sng" dirty="0">
                <a:solidFill>
                  <a:srgbClr val="002060"/>
                </a:solidFill>
                <a:latin typeface="Arial" panose="020B0604020202020204" pitchFamily="34" charset="0"/>
                <a:ea typeface="ＭＳ Ｐゴシック" panose="020B0600070205080204" pitchFamily="34" charset="-128"/>
                <a:cs typeface="Arial" panose="020B0604020202020204" pitchFamily="34" charset="0"/>
              </a:rPr>
              <a:t>Negligência</a:t>
            </a:r>
            <a:r>
              <a:rPr lang="pt-BR" b="1" dirty="0">
                <a:solidFill>
                  <a:srgbClr val="002060"/>
                </a:solidFill>
                <a:latin typeface="Arial" panose="020B0604020202020204" pitchFamily="34" charset="0"/>
                <a:ea typeface="ＭＳ Ｐゴシック" panose="020B0600070205080204" pitchFamily="34" charset="-128"/>
                <a:cs typeface="Arial" panose="020B0604020202020204" pitchFamily="34" charset="0"/>
              </a:rPr>
              <a:t>: Quando</a:t>
            </a:r>
            <a:r>
              <a:rPr lang="pt-BR" b="1" dirty="0">
                <a:solidFill>
                  <a:srgbClr val="002060"/>
                </a:solidFill>
                <a:latin typeface="Arial" panose="020B0604020202020204" pitchFamily="34" charset="0"/>
                <a:cs typeface="Arial" panose="020B0604020202020204" pitchFamily="34" charset="0"/>
              </a:rPr>
              <a:t> alguém deixa de fazer o que era o correto. Age com descuido, indiferença ou desatenção, não tomando as devidas precauções. </a:t>
            </a:r>
            <a:r>
              <a:rPr lang="pt-BR" b="1" dirty="0" err="1">
                <a:solidFill>
                  <a:srgbClr val="FF0000"/>
                </a:solidFill>
                <a:latin typeface="Arial" panose="020B0604020202020204" pitchFamily="34" charset="0"/>
                <a:cs typeface="Arial" panose="020B0604020202020204" pitchFamily="34" charset="0"/>
              </a:rPr>
              <a:t>Ex</a:t>
            </a:r>
            <a:r>
              <a:rPr lang="pt-BR" b="1" dirty="0">
                <a:solidFill>
                  <a:srgbClr val="FF0000"/>
                </a:solidFill>
                <a:latin typeface="Arial" panose="020B0604020202020204" pitchFamily="34" charset="0"/>
                <a:cs typeface="Arial" panose="020B0604020202020204" pitchFamily="34" charset="0"/>
              </a:rPr>
              <a:t>: O colaborador sabe que tem que usar o talabarte, e não usa, ficando desprotegido em caso de queda.</a:t>
            </a:r>
            <a:endParaRPr lang="pt-BR" b="1" dirty="0">
              <a:solidFill>
                <a:srgbClr val="FF0000"/>
              </a:solidFill>
              <a:latin typeface="Arial" panose="020B0604020202020204" pitchFamily="34" charset="0"/>
              <a:ea typeface="ＭＳ Ｐゴシック" panose="020B0600070205080204" pitchFamily="34" charset="-128"/>
              <a:cs typeface="Arial" panose="020B0604020202020204" pitchFamily="34" charset="0"/>
            </a:endParaRPr>
          </a:p>
          <a:p>
            <a:pPr algn="just">
              <a:lnSpc>
                <a:spcPct val="150000"/>
              </a:lnSpc>
              <a:spcBef>
                <a:spcPct val="0"/>
              </a:spcBef>
              <a:buFont typeface="Wingdings" panose="05000000000000000000" pitchFamily="2" charset="2"/>
              <a:buChar char="ü"/>
              <a:defRPr/>
            </a:pPr>
            <a:endParaRPr lang="pt-BR" b="1" dirty="0">
              <a:solidFill>
                <a:srgbClr val="00206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2" name="CaixaDeTexto 1">
            <a:extLst>
              <a:ext uri="{FF2B5EF4-FFF2-40B4-BE49-F238E27FC236}">
                <a16:creationId xmlns:a16="http://schemas.microsoft.com/office/drawing/2014/main" id="{2231B49A-4E16-46E8-8916-8B04CECA8093}"/>
              </a:ext>
            </a:extLst>
          </p:cNvPr>
          <p:cNvSpPr txBox="1"/>
          <p:nvPr/>
        </p:nvSpPr>
        <p:spPr>
          <a:xfrm>
            <a:off x="1524001" y="15060"/>
            <a:ext cx="9143999" cy="369332"/>
          </a:xfrm>
          <a:prstGeom prst="rect">
            <a:avLst/>
          </a:prstGeom>
          <a:noFill/>
        </p:spPr>
        <p:txBody>
          <a:bodyPr wrap="square">
            <a:spAutoFit/>
          </a:bodyPr>
          <a:lstStyle/>
          <a:p>
            <a:pPr algn="r"/>
            <a:r>
              <a:rPr lang="pt-BR" b="1" u="sng" dirty="0">
                <a:solidFill>
                  <a:srgbClr val="002060"/>
                </a:solidFill>
              </a:rPr>
              <a:t>Percepção de Risco</a:t>
            </a:r>
            <a:endParaRPr lang="pt-BR" dirty="0"/>
          </a:p>
        </p:txBody>
      </p:sp>
    </p:spTree>
    <p:extLst>
      <p:ext uri="{BB962C8B-B14F-4D97-AF65-F5344CB8AC3E}">
        <p14:creationId xmlns:p14="http://schemas.microsoft.com/office/powerpoint/2010/main" val="27958275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randombar(horizontal)">
                                      <p:cBhvr>
                                        <p:cTn id="7" dur="500"/>
                                        <p:tgtEl>
                                          <p:spTgt spid="1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2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Espaço Reservado para Conteúdo 5"/>
          <p:cNvSpPr>
            <a:spLocks noGrp="1"/>
          </p:cNvSpPr>
          <p:nvPr>
            <p:ph idx="4294967295"/>
          </p:nvPr>
        </p:nvSpPr>
        <p:spPr>
          <a:xfrm>
            <a:off x="113211" y="887639"/>
            <a:ext cx="11767231" cy="1857375"/>
          </a:xfrm>
        </p:spPr>
        <p:txBody>
          <a:bodyPr>
            <a:normAutofit fontScale="77500" lnSpcReduction="20000"/>
          </a:bodyPr>
          <a:lstStyle/>
          <a:p>
            <a:pPr algn="just">
              <a:lnSpc>
                <a:spcPct val="150000"/>
              </a:lnSpc>
              <a:spcBef>
                <a:spcPct val="0"/>
              </a:spcBef>
              <a:buFont typeface="Wingdings" panose="05000000000000000000" pitchFamily="2" charset="2"/>
              <a:buChar char="ü"/>
              <a:defRPr/>
            </a:pPr>
            <a:r>
              <a:rPr lang="pt-BR" b="1" dirty="0">
                <a:solidFill>
                  <a:srgbClr val="002060"/>
                </a:solidFill>
                <a:latin typeface="Arial" panose="020B0604020202020204" pitchFamily="34" charset="0"/>
                <a:ea typeface="ＭＳ Ｐゴシック" panose="020B0600070205080204" pitchFamily="34" charset="-128"/>
                <a:cs typeface="Arial" panose="020B0604020202020204" pitchFamily="34" charset="0"/>
              </a:rPr>
              <a:t> </a:t>
            </a:r>
            <a:r>
              <a:rPr lang="pt-BR" b="1" u="sng" dirty="0">
                <a:solidFill>
                  <a:srgbClr val="002060"/>
                </a:solidFill>
                <a:latin typeface="Arial" panose="020B0604020202020204" pitchFamily="34" charset="0"/>
                <a:ea typeface="ＭＳ Ｐゴシック" panose="020B0600070205080204" pitchFamily="34" charset="-128"/>
                <a:cs typeface="Arial" panose="020B0604020202020204" pitchFamily="34" charset="0"/>
              </a:rPr>
              <a:t>Imprudência</a:t>
            </a:r>
            <a:r>
              <a:rPr lang="pt-BR" b="1" dirty="0">
                <a:solidFill>
                  <a:srgbClr val="002060"/>
                </a:solidFill>
                <a:latin typeface="Arial" panose="020B0604020202020204" pitchFamily="34" charset="0"/>
                <a:ea typeface="ＭＳ Ｐゴシック" panose="020B0600070205080204" pitchFamily="34" charset="-128"/>
                <a:cs typeface="Arial" panose="020B0604020202020204" pitchFamily="34" charset="0"/>
              </a:rPr>
              <a:t>: </a:t>
            </a:r>
            <a:r>
              <a:rPr lang="pt-BR" b="1" dirty="0">
                <a:solidFill>
                  <a:srgbClr val="002060"/>
                </a:solidFill>
                <a:latin typeface="Arial" panose="020B0604020202020204" pitchFamily="34" charset="0"/>
                <a:cs typeface="Arial" panose="020B0604020202020204" pitchFamily="34" charset="0"/>
              </a:rPr>
              <a:t>A imprudência, é uma ação precipitada e sem cautela, ela age, mas toma uma atitude contrária ao esperado.</a:t>
            </a:r>
          </a:p>
          <a:p>
            <a:pPr marL="0" indent="0" algn="just">
              <a:lnSpc>
                <a:spcPct val="150000"/>
              </a:lnSpc>
              <a:spcBef>
                <a:spcPct val="0"/>
              </a:spcBef>
              <a:buNone/>
              <a:defRPr/>
            </a:pPr>
            <a:r>
              <a:rPr lang="pt-BR" b="1" dirty="0" err="1">
                <a:solidFill>
                  <a:srgbClr val="FF0000"/>
                </a:solidFill>
                <a:latin typeface="Arial" panose="020B0604020202020204" pitchFamily="34" charset="0"/>
                <a:cs typeface="Arial" panose="020B0604020202020204" pitchFamily="34" charset="0"/>
              </a:rPr>
              <a:t>Ex</a:t>
            </a:r>
            <a:r>
              <a:rPr lang="pt-BR" b="1" dirty="0">
                <a:solidFill>
                  <a:srgbClr val="FF0000"/>
                </a:solidFill>
                <a:latin typeface="Arial" panose="020B0604020202020204" pitchFamily="34" charset="0"/>
                <a:cs typeface="Arial" panose="020B0604020202020204" pitchFamily="34" charset="0"/>
              </a:rPr>
              <a:t>: O colaborador sabe que tem que usar o talabarte, usa, porém sem conectar de forma correta, ficando desprotegido em caso de quedas.</a:t>
            </a:r>
          </a:p>
        </p:txBody>
      </p:sp>
      <p:sp>
        <p:nvSpPr>
          <p:cNvPr id="2" name="CaixaDeTexto 1">
            <a:extLst>
              <a:ext uri="{FF2B5EF4-FFF2-40B4-BE49-F238E27FC236}">
                <a16:creationId xmlns:a16="http://schemas.microsoft.com/office/drawing/2014/main" id="{0D63231F-3FE9-47D6-B839-2D4596DFA6FD}"/>
              </a:ext>
            </a:extLst>
          </p:cNvPr>
          <p:cNvSpPr txBox="1"/>
          <p:nvPr/>
        </p:nvSpPr>
        <p:spPr>
          <a:xfrm>
            <a:off x="1524001" y="15060"/>
            <a:ext cx="9143999" cy="369332"/>
          </a:xfrm>
          <a:prstGeom prst="rect">
            <a:avLst/>
          </a:prstGeom>
          <a:noFill/>
        </p:spPr>
        <p:txBody>
          <a:bodyPr wrap="square">
            <a:spAutoFit/>
          </a:bodyPr>
          <a:lstStyle/>
          <a:p>
            <a:pPr algn="r"/>
            <a:r>
              <a:rPr lang="pt-BR" b="1" u="sng" dirty="0">
                <a:solidFill>
                  <a:srgbClr val="002060"/>
                </a:solidFill>
              </a:rPr>
              <a:t>Percepção de Risco</a:t>
            </a:r>
            <a:endParaRPr lang="pt-BR" dirty="0"/>
          </a:p>
        </p:txBody>
      </p:sp>
    </p:spTree>
    <p:extLst>
      <p:ext uri="{BB962C8B-B14F-4D97-AF65-F5344CB8AC3E}">
        <p14:creationId xmlns:p14="http://schemas.microsoft.com/office/powerpoint/2010/main" val="12866151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randombar(horizontal)">
                                      <p:cBhvr>
                                        <p:cTn id="7" dur="500"/>
                                        <p:tgtEl>
                                          <p:spTgt spid="6">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randombar(horizontal)">
                                      <p:cBhvr>
                                        <p:cTn id="10" dur="5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Retângulo 2"/>
          <p:cNvSpPr/>
          <p:nvPr/>
        </p:nvSpPr>
        <p:spPr>
          <a:xfrm>
            <a:off x="81098" y="1080518"/>
            <a:ext cx="12023815" cy="2031325"/>
          </a:xfrm>
          <a:prstGeom prst="rect">
            <a:avLst/>
          </a:prstGeom>
        </p:spPr>
        <p:txBody>
          <a:bodyPr wrap="square">
            <a:spAutoFit/>
          </a:bodyPr>
          <a:lstStyle/>
          <a:p>
            <a:pPr marL="457200" indent="-457200" algn="just">
              <a:lnSpc>
                <a:spcPct val="150000"/>
              </a:lnSpc>
              <a:buFont typeface="Wingdings" panose="05000000000000000000" pitchFamily="2" charset="2"/>
              <a:buChar char="ü"/>
              <a:defRPr/>
            </a:pPr>
            <a:r>
              <a:rPr lang="pt-BR" sz="2800" b="1" u="sng" dirty="0">
                <a:solidFill>
                  <a:srgbClr val="002060"/>
                </a:solidFill>
                <a:cs typeface="Arial" panose="020B0604020202020204" pitchFamily="34" charset="0"/>
              </a:rPr>
              <a:t>Imperícia</a:t>
            </a:r>
            <a:r>
              <a:rPr lang="pt-BR" sz="2800" b="1" dirty="0">
                <a:solidFill>
                  <a:srgbClr val="002060"/>
                </a:solidFill>
                <a:cs typeface="Arial" panose="020B0604020202020204" pitchFamily="34" charset="0"/>
              </a:rPr>
              <a:t>: falta de habilidade ou experiência necessária para a realização de certas atividades, como por exemplo: </a:t>
            </a:r>
            <a:r>
              <a:rPr lang="pt-BR" sz="2800" b="1" dirty="0">
                <a:solidFill>
                  <a:srgbClr val="FF0000"/>
                </a:solidFill>
                <a:cs typeface="Arial" panose="020B0604020202020204" pitchFamily="34" charset="0"/>
              </a:rPr>
              <a:t>Exercer atividade em altura sem ser habilitado.</a:t>
            </a:r>
          </a:p>
        </p:txBody>
      </p:sp>
      <p:sp>
        <p:nvSpPr>
          <p:cNvPr id="2" name="CaixaDeTexto 1">
            <a:extLst>
              <a:ext uri="{FF2B5EF4-FFF2-40B4-BE49-F238E27FC236}">
                <a16:creationId xmlns:a16="http://schemas.microsoft.com/office/drawing/2014/main" id="{13839D15-1912-4D3E-A178-37A927ECDF3F}"/>
              </a:ext>
            </a:extLst>
          </p:cNvPr>
          <p:cNvSpPr txBox="1"/>
          <p:nvPr/>
        </p:nvSpPr>
        <p:spPr>
          <a:xfrm>
            <a:off x="1524001" y="15060"/>
            <a:ext cx="9143999" cy="369332"/>
          </a:xfrm>
          <a:prstGeom prst="rect">
            <a:avLst/>
          </a:prstGeom>
          <a:noFill/>
        </p:spPr>
        <p:txBody>
          <a:bodyPr wrap="square">
            <a:spAutoFit/>
          </a:bodyPr>
          <a:lstStyle/>
          <a:p>
            <a:pPr algn="r"/>
            <a:r>
              <a:rPr lang="pt-BR" b="1" u="sng" dirty="0">
                <a:solidFill>
                  <a:srgbClr val="002060"/>
                </a:solidFill>
              </a:rPr>
              <a:t>Percepção de Risco</a:t>
            </a:r>
            <a:endParaRPr lang="pt-BR" dirty="0"/>
          </a:p>
        </p:txBody>
      </p:sp>
    </p:spTree>
    <p:extLst>
      <p:ext uri="{BB962C8B-B14F-4D97-AF65-F5344CB8AC3E}">
        <p14:creationId xmlns:p14="http://schemas.microsoft.com/office/powerpoint/2010/main" val="1902511885"/>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tângulo 1"/>
          <p:cNvSpPr/>
          <p:nvPr/>
        </p:nvSpPr>
        <p:spPr>
          <a:xfrm>
            <a:off x="222980" y="613038"/>
            <a:ext cx="11733889" cy="3354765"/>
          </a:xfrm>
          <a:prstGeom prst="rect">
            <a:avLst/>
          </a:prstGeom>
        </p:spPr>
        <p:txBody>
          <a:bodyPr wrap="square">
            <a:spAutoFit/>
          </a:bodyPr>
          <a:lstStyle/>
          <a:p>
            <a:pPr algn="ctr"/>
            <a:r>
              <a:rPr lang="pt-BR" sz="2600" b="1" dirty="0">
                <a:solidFill>
                  <a:srgbClr val="002060"/>
                </a:solidFill>
              </a:rPr>
              <a:t>COMO TRABALHAR A PERCEPÇÃO DE RISCO?</a:t>
            </a:r>
          </a:p>
          <a:p>
            <a:endParaRPr lang="pt-BR" dirty="0">
              <a:solidFill>
                <a:srgbClr val="002060"/>
              </a:solidFill>
            </a:endParaRPr>
          </a:p>
          <a:p>
            <a:pPr algn="just">
              <a:lnSpc>
                <a:spcPct val="150000"/>
              </a:lnSpc>
            </a:pPr>
            <a:r>
              <a:rPr lang="pt-BR" sz="2800" dirty="0">
                <a:solidFill>
                  <a:srgbClr val="002060"/>
                </a:solidFill>
              </a:rPr>
              <a:t>	Para que a percepção de risco possa ser consolidada no pensamento dos funcionários, deve-se, primeiramente, analisar e conhecer todas as ameaças que o ambiente de trabalho pode oferecer. Tomar atitudes de risco e suas consequências devem ser tópicos de estudo para a segurança trabalhista. </a:t>
            </a:r>
            <a:endParaRPr lang="pt-BR" dirty="0">
              <a:solidFill>
                <a:srgbClr val="002060"/>
              </a:solidFill>
            </a:endParaRPr>
          </a:p>
        </p:txBody>
      </p:sp>
      <p:sp>
        <p:nvSpPr>
          <p:cNvPr id="4" name="CaixaDeTexto 3">
            <a:extLst>
              <a:ext uri="{FF2B5EF4-FFF2-40B4-BE49-F238E27FC236}">
                <a16:creationId xmlns:a16="http://schemas.microsoft.com/office/drawing/2014/main" id="{6D732696-E54A-417A-A6BF-ED0B3574DC03}"/>
              </a:ext>
            </a:extLst>
          </p:cNvPr>
          <p:cNvSpPr txBox="1"/>
          <p:nvPr/>
        </p:nvSpPr>
        <p:spPr>
          <a:xfrm>
            <a:off x="1524001" y="15060"/>
            <a:ext cx="9143999" cy="369332"/>
          </a:xfrm>
          <a:prstGeom prst="rect">
            <a:avLst/>
          </a:prstGeom>
          <a:noFill/>
        </p:spPr>
        <p:txBody>
          <a:bodyPr wrap="square">
            <a:spAutoFit/>
          </a:bodyPr>
          <a:lstStyle/>
          <a:p>
            <a:pPr algn="r"/>
            <a:r>
              <a:rPr lang="pt-BR" b="1" u="sng" dirty="0">
                <a:solidFill>
                  <a:srgbClr val="002060"/>
                </a:solidFill>
              </a:rPr>
              <a:t>Percepção de Risco</a:t>
            </a:r>
            <a:endParaRPr lang="pt-BR" dirty="0"/>
          </a:p>
        </p:txBody>
      </p:sp>
    </p:spTree>
    <p:extLst>
      <p:ext uri="{BB962C8B-B14F-4D97-AF65-F5344CB8AC3E}">
        <p14:creationId xmlns:p14="http://schemas.microsoft.com/office/powerpoint/2010/main" val="1557359304"/>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tângulo 1"/>
          <p:cNvSpPr/>
          <p:nvPr/>
        </p:nvSpPr>
        <p:spPr>
          <a:xfrm>
            <a:off x="104503" y="2030313"/>
            <a:ext cx="11982994" cy="3323987"/>
          </a:xfrm>
          <a:prstGeom prst="rect">
            <a:avLst/>
          </a:prstGeom>
        </p:spPr>
        <p:txBody>
          <a:bodyPr wrap="square">
            <a:spAutoFit/>
          </a:bodyPr>
          <a:lstStyle/>
          <a:p>
            <a:pPr algn="just">
              <a:lnSpc>
                <a:spcPct val="150000"/>
              </a:lnSpc>
            </a:pPr>
            <a:r>
              <a:rPr lang="pt-BR" sz="2800" dirty="0">
                <a:solidFill>
                  <a:srgbClr val="002060"/>
                </a:solidFill>
              </a:rPr>
              <a:t>	A importância das consequências destas ações de risco deve ter um peso maior do que realizar a atitude em si, equilibrando a consciência e a segurança em momentos onde uma decisão de risco deveria ser tomada. Isso serve para que o estado de atenção seja ampliado e controlado pelo empregado. Ele garante a principal maneira de evitar situações de risco para a segurança. </a:t>
            </a:r>
            <a:endParaRPr lang="pt-BR" dirty="0">
              <a:solidFill>
                <a:srgbClr val="002060"/>
              </a:solidFill>
            </a:endParaRPr>
          </a:p>
        </p:txBody>
      </p:sp>
      <p:sp>
        <p:nvSpPr>
          <p:cNvPr id="4" name="CaixaDeTexto 3">
            <a:extLst>
              <a:ext uri="{FF2B5EF4-FFF2-40B4-BE49-F238E27FC236}">
                <a16:creationId xmlns:a16="http://schemas.microsoft.com/office/drawing/2014/main" id="{E937183F-9457-4058-BF07-14815DA57AE4}"/>
              </a:ext>
            </a:extLst>
          </p:cNvPr>
          <p:cNvSpPr txBox="1"/>
          <p:nvPr/>
        </p:nvSpPr>
        <p:spPr>
          <a:xfrm>
            <a:off x="1524001" y="15060"/>
            <a:ext cx="9143999" cy="369332"/>
          </a:xfrm>
          <a:prstGeom prst="rect">
            <a:avLst/>
          </a:prstGeom>
          <a:noFill/>
        </p:spPr>
        <p:txBody>
          <a:bodyPr wrap="square">
            <a:spAutoFit/>
          </a:bodyPr>
          <a:lstStyle/>
          <a:p>
            <a:pPr algn="r"/>
            <a:r>
              <a:rPr lang="pt-BR" b="1" u="sng" dirty="0">
                <a:solidFill>
                  <a:srgbClr val="002060"/>
                </a:solidFill>
              </a:rPr>
              <a:t>Percepção de Risco</a:t>
            </a:r>
            <a:endParaRPr lang="pt-BR" dirty="0"/>
          </a:p>
        </p:txBody>
      </p:sp>
    </p:spTree>
    <p:extLst>
      <p:ext uri="{BB962C8B-B14F-4D97-AF65-F5344CB8AC3E}">
        <p14:creationId xmlns:p14="http://schemas.microsoft.com/office/powerpoint/2010/main" val="1422455104"/>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tângulo 1"/>
          <p:cNvSpPr/>
          <p:nvPr/>
        </p:nvSpPr>
        <p:spPr>
          <a:xfrm>
            <a:off x="206575" y="1459649"/>
            <a:ext cx="11889631" cy="2677656"/>
          </a:xfrm>
          <a:prstGeom prst="rect">
            <a:avLst/>
          </a:prstGeom>
        </p:spPr>
        <p:txBody>
          <a:bodyPr wrap="square">
            <a:spAutoFit/>
          </a:bodyPr>
          <a:lstStyle/>
          <a:p>
            <a:pPr algn="just">
              <a:lnSpc>
                <a:spcPct val="150000"/>
              </a:lnSpc>
            </a:pPr>
            <a:r>
              <a:rPr lang="pt-BR" sz="2800" dirty="0">
                <a:solidFill>
                  <a:srgbClr val="002060"/>
                </a:solidFill>
              </a:rPr>
              <a:t>	Se o psicológico do empregado estiver abalado por qualquer motivo, provavelmente o seu estado de atenção será drasticamente reduzido. Para evitar isso, é necessário que os gestores proporcionem recursos e estratégias para melhorar este ponto do trabalhador.</a:t>
            </a:r>
            <a:endParaRPr lang="pt-BR" dirty="0">
              <a:solidFill>
                <a:srgbClr val="002060"/>
              </a:solidFill>
            </a:endParaRPr>
          </a:p>
        </p:txBody>
      </p:sp>
      <p:sp>
        <p:nvSpPr>
          <p:cNvPr id="4" name="CaixaDeTexto 3">
            <a:extLst>
              <a:ext uri="{FF2B5EF4-FFF2-40B4-BE49-F238E27FC236}">
                <a16:creationId xmlns:a16="http://schemas.microsoft.com/office/drawing/2014/main" id="{12D179F1-A635-456F-8EC3-EC487954ADCE}"/>
              </a:ext>
            </a:extLst>
          </p:cNvPr>
          <p:cNvSpPr txBox="1"/>
          <p:nvPr/>
        </p:nvSpPr>
        <p:spPr>
          <a:xfrm>
            <a:off x="1524001" y="15060"/>
            <a:ext cx="9143999" cy="369332"/>
          </a:xfrm>
          <a:prstGeom prst="rect">
            <a:avLst/>
          </a:prstGeom>
          <a:noFill/>
        </p:spPr>
        <p:txBody>
          <a:bodyPr wrap="square">
            <a:spAutoFit/>
          </a:bodyPr>
          <a:lstStyle/>
          <a:p>
            <a:pPr algn="r"/>
            <a:r>
              <a:rPr lang="pt-BR" b="1" u="sng" dirty="0">
                <a:solidFill>
                  <a:srgbClr val="002060"/>
                </a:solidFill>
              </a:rPr>
              <a:t>Percepção de Risco</a:t>
            </a:r>
            <a:endParaRPr lang="pt-BR" dirty="0"/>
          </a:p>
        </p:txBody>
      </p:sp>
    </p:spTree>
    <p:extLst>
      <p:ext uri="{BB962C8B-B14F-4D97-AF65-F5344CB8AC3E}">
        <p14:creationId xmlns:p14="http://schemas.microsoft.com/office/powerpoint/2010/main" val="2441428469"/>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tângulo 1"/>
          <p:cNvSpPr/>
          <p:nvPr/>
        </p:nvSpPr>
        <p:spPr>
          <a:xfrm>
            <a:off x="290521" y="1081330"/>
            <a:ext cx="11610958" cy="3924151"/>
          </a:xfrm>
          <a:prstGeom prst="rect">
            <a:avLst/>
          </a:prstGeom>
        </p:spPr>
        <p:txBody>
          <a:bodyPr wrap="square">
            <a:spAutoFit/>
          </a:bodyPr>
          <a:lstStyle/>
          <a:p>
            <a:pPr>
              <a:lnSpc>
                <a:spcPct val="150000"/>
              </a:lnSpc>
            </a:pPr>
            <a:r>
              <a:rPr lang="pt-BR" sz="2600" b="1" dirty="0">
                <a:solidFill>
                  <a:srgbClr val="002060"/>
                </a:solidFill>
              </a:rPr>
              <a:t>FATORES DE RISCO</a:t>
            </a:r>
          </a:p>
          <a:p>
            <a:pPr>
              <a:lnSpc>
                <a:spcPct val="150000"/>
              </a:lnSpc>
            </a:pPr>
            <a:r>
              <a:rPr lang="pt-BR" sz="1000" b="1" dirty="0">
                <a:solidFill>
                  <a:srgbClr val="002060"/>
                </a:solidFill>
              </a:rPr>
              <a:t> </a:t>
            </a:r>
          </a:p>
          <a:p>
            <a:pPr algn="just">
              <a:lnSpc>
                <a:spcPct val="150000"/>
              </a:lnSpc>
            </a:pPr>
            <a:r>
              <a:rPr lang="pt-BR" sz="2600" dirty="0">
                <a:solidFill>
                  <a:srgbClr val="002060"/>
                </a:solidFill>
              </a:rPr>
              <a:t>	Os fatores que podem piorar o estado de atenção do trabalhador e, por consequência, diminuir a segurança no local de trabalho são: a desatenção, descumprimento de um procedimento de segurança ou importante para o processo, falta de cuidado, soluções práticas e inseguras para eventuais problemas e principalmente a retirada de equipamentos de proteção em locais proibidos.</a:t>
            </a:r>
          </a:p>
        </p:txBody>
      </p:sp>
      <p:sp>
        <p:nvSpPr>
          <p:cNvPr id="4" name="CaixaDeTexto 3">
            <a:extLst>
              <a:ext uri="{FF2B5EF4-FFF2-40B4-BE49-F238E27FC236}">
                <a16:creationId xmlns:a16="http://schemas.microsoft.com/office/drawing/2014/main" id="{347F0CA3-6C69-4F63-8FFB-EC0F86D2705A}"/>
              </a:ext>
            </a:extLst>
          </p:cNvPr>
          <p:cNvSpPr txBox="1"/>
          <p:nvPr/>
        </p:nvSpPr>
        <p:spPr>
          <a:xfrm>
            <a:off x="1524001" y="15060"/>
            <a:ext cx="9143999" cy="369332"/>
          </a:xfrm>
          <a:prstGeom prst="rect">
            <a:avLst/>
          </a:prstGeom>
          <a:noFill/>
        </p:spPr>
        <p:txBody>
          <a:bodyPr wrap="square">
            <a:spAutoFit/>
          </a:bodyPr>
          <a:lstStyle/>
          <a:p>
            <a:pPr algn="r"/>
            <a:r>
              <a:rPr lang="pt-BR" b="1" u="sng" dirty="0">
                <a:solidFill>
                  <a:srgbClr val="002060"/>
                </a:solidFill>
              </a:rPr>
              <a:t>Percepção de Risco</a:t>
            </a:r>
            <a:endParaRPr lang="pt-BR" dirty="0"/>
          </a:p>
        </p:txBody>
      </p:sp>
    </p:spTree>
    <p:extLst>
      <p:ext uri="{BB962C8B-B14F-4D97-AF65-F5344CB8AC3E}">
        <p14:creationId xmlns:p14="http://schemas.microsoft.com/office/powerpoint/2010/main" val="3040476310"/>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tângulo 1"/>
          <p:cNvSpPr/>
          <p:nvPr/>
        </p:nvSpPr>
        <p:spPr>
          <a:xfrm>
            <a:off x="290331" y="1112683"/>
            <a:ext cx="11614286" cy="3554819"/>
          </a:xfrm>
          <a:prstGeom prst="rect">
            <a:avLst/>
          </a:prstGeom>
        </p:spPr>
        <p:txBody>
          <a:bodyPr wrap="square">
            <a:spAutoFit/>
          </a:bodyPr>
          <a:lstStyle/>
          <a:p>
            <a:pPr algn="just">
              <a:lnSpc>
                <a:spcPct val="150000"/>
              </a:lnSpc>
            </a:pPr>
            <a:r>
              <a:rPr lang="pt-BR" sz="2500" dirty="0">
                <a:solidFill>
                  <a:srgbClr val="002060"/>
                </a:solidFill>
              </a:rPr>
              <a:t>	Estes fatores podem ser evitados com educação de segurança trabalhista. Ensinar um funcionário que a sua luva de segurança ao manipular materiais nocivos pode assegurar que ele tenha outras chances de andar de mãos dadas com seus filhos ao passear no parque, por exemplo, garante com que o valor de segurança oferecido pelos equipamentos de segurança seja maior do que o conforto momentâneo ao retirar a luva ou qualquer outro item de segurança ao realizar tarefas inseguras. </a:t>
            </a:r>
          </a:p>
        </p:txBody>
      </p:sp>
      <p:sp>
        <p:nvSpPr>
          <p:cNvPr id="4" name="CaixaDeTexto 3">
            <a:extLst>
              <a:ext uri="{FF2B5EF4-FFF2-40B4-BE49-F238E27FC236}">
                <a16:creationId xmlns:a16="http://schemas.microsoft.com/office/drawing/2014/main" id="{8C4570F4-C899-4D78-8D07-CAF6FC54A579}"/>
              </a:ext>
            </a:extLst>
          </p:cNvPr>
          <p:cNvSpPr txBox="1"/>
          <p:nvPr/>
        </p:nvSpPr>
        <p:spPr>
          <a:xfrm>
            <a:off x="1524001" y="15060"/>
            <a:ext cx="9143999" cy="369332"/>
          </a:xfrm>
          <a:prstGeom prst="rect">
            <a:avLst/>
          </a:prstGeom>
          <a:noFill/>
        </p:spPr>
        <p:txBody>
          <a:bodyPr wrap="square">
            <a:spAutoFit/>
          </a:bodyPr>
          <a:lstStyle/>
          <a:p>
            <a:pPr algn="r"/>
            <a:r>
              <a:rPr lang="pt-BR" b="1" u="sng" dirty="0">
                <a:solidFill>
                  <a:srgbClr val="002060"/>
                </a:solidFill>
              </a:rPr>
              <a:t>Percepção de Risco</a:t>
            </a:r>
            <a:endParaRPr lang="pt-BR" dirty="0"/>
          </a:p>
        </p:txBody>
      </p:sp>
    </p:spTree>
    <p:extLst>
      <p:ext uri="{BB962C8B-B14F-4D97-AF65-F5344CB8AC3E}">
        <p14:creationId xmlns:p14="http://schemas.microsoft.com/office/powerpoint/2010/main" val="415894949"/>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tângulo 1"/>
          <p:cNvSpPr/>
          <p:nvPr/>
        </p:nvSpPr>
        <p:spPr>
          <a:xfrm>
            <a:off x="3434584" y="648554"/>
            <a:ext cx="5328592" cy="523220"/>
          </a:xfrm>
          <a:prstGeom prst="rect">
            <a:avLst/>
          </a:prstGeom>
        </p:spPr>
        <p:txBody>
          <a:bodyPr wrap="square">
            <a:spAutoFit/>
          </a:bodyPr>
          <a:lstStyle/>
          <a:p>
            <a:pPr algn="ctr">
              <a:defRPr/>
            </a:pPr>
            <a:r>
              <a:rPr lang="pt-BR" sz="2800" b="1" u="sng" dirty="0">
                <a:solidFill>
                  <a:srgbClr val="002060"/>
                </a:solidFill>
                <a:latin typeface="Arial" panose="020B0604020202020204" pitchFamily="34" charset="0"/>
                <a:ea typeface="Calibri" panose="020F0502020204030204" pitchFamily="34" charset="0"/>
                <a:cs typeface="Arial" panose="020B0604020202020204" pitchFamily="34" charset="0"/>
              </a:rPr>
              <a:t>COMPONENTES DO RISCO</a:t>
            </a:r>
            <a:endParaRPr lang="pt-BR" sz="2800" u="sng" dirty="0">
              <a:solidFill>
                <a:prstClr val="black"/>
              </a:solidFill>
              <a:latin typeface="Calibri"/>
            </a:endParaRPr>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1544" y="1484784"/>
            <a:ext cx="8214672" cy="338437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CaixaDeTexto 2">
            <a:extLst>
              <a:ext uri="{FF2B5EF4-FFF2-40B4-BE49-F238E27FC236}">
                <a16:creationId xmlns:a16="http://schemas.microsoft.com/office/drawing/2014/main" id="{8459E4C7-FF23-4058-85FB-EAE6DE8DE517}"/>
              </a:ext>
            </a:extLst>
          </p:cNvPr>
          <p:cNvSpPr txBox="1"/>
          <p:nvPr/>
        </p:nvSpPr>
        <p:spPr>
          <a:xfrm>
            <a:off x="1524001" y="15060"/>
            <a:ext cx="9143999" cy="369332"/>
          </a:xfrm>
          <a:prstGeom prst="rect">
            <a:avLst/>
          </a:prstGeom>
          <a:noFill/>
        </p:spPr>
        <p:txBody>
          <a:bodyPr wrap="square">
            <a:spAutoFit/>
          </a:bodyPr>
          <a:lstStyle/>
          <a:p>
            <a:pPr algn="r"/>
            <a:r>
              <a:rPr lang="pt-BR" b="1" u="sng" dirty="0">
                <a:solidFill>
                  <a:srgbClr val="002060"/>
                </a:solidFill>
              </a:rPr>
              <a:t>Percepção de Risco</a:t>
            </a:r>
            <a:endParaRPr lang="pt-BR" dirty="0"/>
          </a:p>
        </p:txBody>
      </p:sp>
    </p:spTree>
    <p:extLst>
      <p:ext uri="{BB962C8B-B14F-4D97-AF65-F5344CB8AC3E}">
        <p14:creationId xmlns:p14="http://schemas.microsoft.com/office/powerpoint/2010/main" val="1109545600"/>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tângulo 1"/>
          <p:cNvSpPr/>
          <p:nvPr/>
        </p:nvSpPr>
        <p:spPr>
          <a:xfrm>
            <a:off x="3462390" y="648554"/>
            <a:ext cx="5328592" cy="523220"/>
          </a:xfrm>
          <a:prstGeom prst="rect">
            <a:avLst/>
          </a:prstGeom>
        </p:spPr>
        <p:txBody>
          <a:bodyPr wrap="square">
            <a:spAutoFit/>
          </a:bodyPr>
          <a:lstStyle/>
          <a:p>
            <a:pPr algn="ctr">
              <a:defRPr/>
            </a:pPr>
            <a:r>
              <a:rPr lang="pt-BR" sz="2800" b="1" u="sng" dirty="0">
                <a:solidFill>
                  <a:srgbClr val="002060"/>
                </a:solidFill>
                <a:latin typeface="Arial" panose="020B0604020202020204" pitchFamily="34" charset="0"/>
                <a:ea typeface="Calibri" panose="020F0502020204030204" pitchFamily="34" charset="0"/>
                <a:cs typeface="Arial" panose="020B0604020202020204" pitchFamily="34" charset="0"/>
              </a:rPr>
              <a:t>COMPONENTES DO RISCO</a:t>
            </a:r>
            <a:endParaRPr lang="pt-BR" sz="2800" u="sng" dirty="0">
              <a:solidFill>
                <a:prstClr val="black"/>
              </a:solidFill>
              <a:latin typeface="Calibri"/>
            </a:endParaRPr>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4758" y="1628800"/>
            <a:ext cx="8303856" cy="331236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CaixaDeTexto 2">
            <a:extLst>
              <a:ext uri="{FF2B5EF4-FFF2-40B4-BE49-F238E27FC236}">
                <a16:creationId xmlns:a16="http://schemas.microsoft.com/office/drawing/2014/main" id="{6EAD7464-32A0-40B5-A8ED-2E11FC71DF4F}"/>
              </a:ext>
            </a:extLst>
          </p:cNvPr>
          <p:cNvSpPr txBox="1"/>
          <p:nvPr/>
        </p:nvSpPr>
        <p:spPr>
          <a:xfrm>
            <a:off x="1524001" y="15060"/>
            <a:ext cx="9143999" cy="369332"/>
          </a:xfrm>
          <a:prstGeom prst="rect">
            <a:avLst/>
          </a:prstGeom>
          <a:noFill/>
        </p:spPr>
        <p:txBody>
          <a:bodyPr wrap="square">
            <a:spAutoFit/>
          </a:bodyPr>
          <a:lstStyle/>
          <a:p>
            <a:pPr algn="r"/>
            <a:r>
              <a:rPr lang="pt-BR" b="1" u="sng" dirty="0">
                <a:solidFill>
                  <a:srgbClr val="002060"/>
                </a:solidFill>
              </a:rPr>
              <a:t>Percepção de Risco</a:t>
            </a:r>
            <a:endParaRPr lang="pt-BR" dirty="0"/>
          </a:p>
        </p:txBody>
      </p:sp>
    </p:spTree>
    <p:extLst>
      <p:ext uri="{BB962C8B-B14F-4D97-AF65-F5344CB8AC3E}">
        <p14:creationId xmlns:p14="http://schemas.microsoft.com/office/powerpoint/2010/main" val="2630508072"/>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tângulo 1"/>
          <p:cNvSpPr/>
          <p:nvPr/>
        </p:nvSpPr>
        <p:spPr>
          <a:xfrm>
            <a:off x="3434584" y="125334"/>
            <a:ext cx="5328592" cy="523220"/>
          </a:xfrm>
          <a:prstGeom prst="rect">
            <a:avLst/>
          </a:prstGeom>
        </p:spPr>
        <p:txBody>
          <a:bodyPr wrap="square">
            <a:spAutoFit/>
          </a:bodyPr>
          <a:lstStyle/>
          <a:p>
            <a:pPr algn="ctr">
              <a:defRPr/>
            </a:pPr>
            <a:r>
              <a:rPr lang="pt-BR" sz="2800" b="1" u="sng" dirty="0">
                <a:solidFill>
                  <a:srgbClr val="002060"/>
                </a:solidFill>
                <a:latin typeface="Arial" panose="020B0604020202020204" pitchFamily="34" charset="0"/>
                <a:ea typeface="Calibri" panose="020F0502020204030204" pitchFamily="34" charset="0"/>
                <a:cs typeface="Arial" panose="020B0604020202020204" pitchFamily="34" charset="0"/>
              </a:rPr>
              <a:t>COMPONENTES DO RISCO</a:t>
            </a:r>
            <a:endParaRPr lang="pt-BR" sz="2800" u="sng" dirty="0">
              <a:solidFill>
                <a:prstClr val="black"/>
              </a:solidFill>
              <a:latin typeface="Calibri"/>
            </a:endParaRPr>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6816" y="1268760"/>
            <a:ext cx="7933688" cy="407044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36230969"/>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tângulo 1"/>
          <p:cNvSpPr/>
          <p:nvPr/>
        </p:nvSpPr>
        <p:spPr>
          <a:xfrm>
            <a:off x="3434584" y="648554"/>
            <a:ext cx="5328592" cy="523220"/>
          </a:xfrm>
          <a:prstGeom prst="rect">
            <a:avLst/>
          </a:prstGeom>
        </p:spPr>
        <p:txBody>
          <a:bodyPr wrap="square">
            <a:spAutoFit/>
          </a:bodyPr>
          <a:lstStyle/>
          <a:p>
            <a:pPr algn="ctr">
              <a:defRPr/>
            </a:pPr>
            <a:r>
              <a:rPr lang="pt-BR" sz="2800" b="1" u="sng" dirty="0">
                <a:solidFill>
                  <a:srgbClr val="002060"/>
                </a:solidFill>
                <a:latin typeface="Arial" panose="020B0604020202020204" pitchFamily="34" charset="0"/>
                <a:ea typeface="Calibri" panose="020F0502020204030204" pitchFamily="34" charset="0"/>
                <a:cs typeface="Arial" panose="020B0604020202020204" pitchFamily="34" charset="0"/>
              </a:rPr>
              <a:t>COMPONENTES DO RISCO</a:t>
            </a:r>
            <a:endParaRPr lang="pt-BR" sz="2800" u="sng" dirty="0">
              <a:solidFill>
                <a:prstClr val="black"/>
              </a:solidFill>
              <a:latin typeface="Calibri"/>
            </a:endParaRPr>
          </a:p>
        </p:txBody>
      </p:sp>
      <p:pic>
        <p:nvPicPr>
          <p:cNvPr id="122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9555" y="1234828"/>
            <a:ext cx="7992888" cy="474191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CaixaDeTexto 2">
            <a:extLst>
              <a:ext uri="{FF2B5EF4-FFF2-40B4-BE49-F238E27FC236}">
                <a16:creationId xmlns:a16="http://schemas.microsoft.com/office/drawing/2014/main" id="{8EDEBB18-6D37-4DD4-867D-9E187E7DA185}"/>
              </a:ext>
            </a:extLst>
          </p:cNvPr>
          <p:cNvSpPr txBox="1"/>
          <p:nvPr/>
        </p:nvSpPr>
        <p:spPr>
          <a:xfrm>
            <a:off x="1524001" y="15060"/>
            <a:ext cx="9143999" cy="369332"/>
          </a:xfrm>
          <a:prstGeom prst="rect">
            <a:avLst/>
          </a:prstGeom>
          <a:noFill/>
        </p:spPr>
        <p:txBody>
          <a:bodyPr wrap="square">
            <a:spAutoFit/>
          </a:bodyPr>
          <a:lstStyle/>
          <a:p>
            <a:pPr algn="r"/>
            <a:r>
              <a:rPr lang="pt-BR" b="1" u="sng" dirty="0">
                <a:solidFill>
                  <a:srgbClr val="002060"/>
                </a:solidFill>
              </a:rPr>
              <a:t>Percepção de Risco</a:t>
            </a:r>
            <a:endParaRPr lang="pt-BR" dirty="0"/>
          </a:p>
        </p:txBody>
      </p:sp>
    </p:spTree>
    <p:extLst>
      <p:ext uri="{BB962C8B-B14F-4D97-AF65-F5344CB8AC3E}">
        <p14:creationId xmlns:p14="http://schemas.microsoft.com/office/powerpoint/2010/main" val="4008964548"/>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tângulo 1"/>
          <p:cNvSpPr/>
          <p:nvPr/>
        </p:nvSpPr>
        <p:spPr>
          <a:xfrm>
            <a:off x="215282" y="1521594"/>
            <a:ext cx="11863507" cy="3330464"/>
          </a:xfrm>
          <a:prstGeom prst="rect">
            <a:avLst/>
          </a:prstGeom>
        </p:spPr>
        <p:txBody>
          <a:bodyPr wrap="square">
            <a:spAutoFit/>
          </a:bodyPr>
          <a:lstStyle/>
          <a:p>
            <a:pPr algn="just">
              <a:lnSpc>
                <a:spcPct val="150000"/>
              </a:lnSpc>
            </a:pPr>
            <a:r>
              <a:rPr lang="pt-BR" sz="2800" dirty="0">
                <a:solidFill>
                  <a:srgbClr val="002060"/>
                </a:solidFill>
              </a:rPr>
              <a:t>	</a:t>
            </a:r>
            <a:r>
              <a:rPr lang="pt-BR" sz="3600" dirty="0">
                <a:solidFill>
                  <a:srgbClr val="002060"/>
                </a:solidFill>
              </a:rPr>
              <a:t>A obrigação de educar os funcionários para este tipo de situação é da empresa, e o líder é fundamental para que estes valores sejam assimilados. Ele deve ser o exemplo para seus funcionários, sempre respeitando as normas de proteção.</a:t>
            </a:r>
          </a:p>
        </p:txBody>
      </p:sp>
      <p:sp>
        <p:nvSpPr>
          <p:cNvPr id="4" name="CaixaDeTexto 3">
            <a:extLst>
              <a:ext uri="{FF2B5EF4-FFF2-40B4-BE49-F238E27FC236}">
                <a16:creationId xmlns:a16="http://schemas.microsoft.com/office/drawing/2014/main" id="{EEA0682B-C684-490C-B0C1-BC5B19044015}"/>
              </a:ext>
            </a:extLst>
          </p:cNvPr>
          <p:cNvSpPr txBox="1"/>
          <p:nvPr/>
        </p:nvSpPr>
        <p:spPr>
          <a:xfrm>
            <a:off x="1524001" y="15060"/>
            <a:ext cx="9143999" cy="369332"/>
          </a:xfrm>
          <a:prstGeom prst="rect">
            <a:avLst/>
          </a:prstGeom>
          <a:noFill/>
        </p:spPr>
        <p:txBody>
          <a:bodyPr wrap="square">
            <a:spAutoFit/>
          </a:bodyPr>
          <a:lstStyle/>
          <a:p>
            <a:pPr algn="r"/>
            <a:r>
              <a:rPr lang="pt-BR" b="1" u="sng" dirty="0">
                <a:solidFill>
                  <a:srgbClr val="002060"/>
                </a:solidFill>
              </a:rPr>
              <a:t>Percepção de Risco</a:t>
            </a:r>
            <a:endParaRPr lang="pt-BR" dirty="0"/>
          </a:p>
        </p:txBody>
      </p:sp>
    </p:spTree>
    <p:extLst>
      <p:ext uri="{BB962C8B-B14F-4D97-AF65-F5344CB8AC3E}">
        <p14:creationId xmlns:p14="http://schemas.microsoft.com/office/powerpoint/2010/main" val="1831252695"/>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tângulo 1"/>
          <p:cNvSpPr/>
          <p:nvPr/>
        </p:nvSpPr>
        <p:spPr>
          <a:xfrm>
            <a:off x="454260" y="1036331"/>
            <a:ext cx="11615820" cy="3970318"/>
          </a:xfrm>
          <a:prstGeom prst="rect">
            <a:avLst/>
          </a:prstGeom>
        </p:spPr>
        <p:txBody>
          <a:bodyPr wrap="square">
            <a:spAutoFit/>
          </a:bodyPr>
          <a:lstStyle/>
          <a:p>
            <a:pPr algn="just">
              <a:lnSpc>
                <a:spcPct val="150000"/>
              </a:lnSpc>
            </a:pPr>
            <a:r>
              <a:rPr lang="pt-BR" sz="2800" dirty="0">
                <a:solidFill>
                  <a:srgbClr val="002060"/>
                </a:solidFill>
              </a:rPr>
              <a:t>	A autoconfiança é um fator importante para os empregados, pois garante com que façam o trabalho seguros de si mesmo, mas também pode ser a causa de acidentes, pois pessoas muito seguras de si tendem a realizar tarefas com menos proteção, já que aparentemente são tão experientes que não precisam dos equipamentos. É dever do líder e da empresa mudar este pensamento.</a:t>
            </a:r>
            <a:endParaRPr lang="pt-BR" sz="2600" dirty="0">
              <a:solidFill>
                <a:srgbClr val="002060"/>
              </a:solidFill>
            </a:endParaRPr>
          </a:p>
        </p:txBody>
      </p:sp>
      <p:sp>
        <p:nvSpPr>
          <p:cNvPr id="4" name="CaixaDeTexto 3">
            <a:extLst>
              <a:ext uri="{FF2B5EF4-FFF2-40B4-BE49-F238E27FC236}">
                <a16:creationId xmlns:a16="http://schemas.microsoft.com/office/drawing/2014/main" id="{B78CB5B1-00AA-432B-B459-06305F3E1812}"/>
              </a:ext>
            </a:extLst>
          </p:cNvPr>
          <p:cNvSpPr txBox="1"/>
          <p:nvPr/>
        </p:nvSpPr>
        <p:spPr>
          <a:xfrm>
            <a:off x="1524001" y="15060"/>
            <a:ext cx="9143999" cy="369332"/>
          </a:xfrm>
          <a:prstGeom prst="rect">
            <a:avLst/>
          </a:prstGeom>
          <a:noFill/>
        </p:spPr>
        <p:txBody>
          <a:bodyPr wrap="square">
            <a:spAutoFit/>
          </a:bodyPr>
          <a:lstStyle/>
          <a:p>
            <a:pPr algn="r"/>
            <a:r>
              <a:rPr lang="pt-BR" b="1" u="sng" dirty="0">
                <a:solidFill>
                  <a:srgbClr val="002060"/>
                </a:solidFill>
              </a:rPr>
              <a:t>Percepção de Risco</a:t>
            </a:r>
            <a:endParaRPr lang="pt-BR" dirty="0"/>
          </a:p>
        </p:txBody>
      </p:sp>
    </p:spTree>
    <p:extLst>
      <p:ext uri="{BB962C8B-B14F-4D97-AF65-F5344CB8AC3E}">
        <p14:creationId xmlns:p14="http://schemas.microsoft.com/office/powerpoint/2010/main" val="1361154603"/>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Retângulo 2"/>
          <p:cNvSpPr/>
          <p:nvPr/>
        </p:nvSpPr>
        <p:spPr>
          <a:xfrm>
            <a:off x="358267" y="1494479"/>
            <a:ext cx="11729230" cy="2585323"/>
          </a:xfrm>
          <a:prstGeom prst="rect">
            <a:avLst/>
          </a:prstGeom>
        </p:spPr>
        <p:txBody>
          <a:bodyPr wrap="square">
            <a:spAutoFit/>
          </a:bodyPr>
          <a:lstStyle/>
          <a:p>
            <a:pPr algn="just">
              <a:lnSpc>
                <a:spcPct val="150000"/>
              </a:lnSpc>
            </a:pPr>
            <a:r>
              <a:rPr lang="pt-BR" sz="3600" dirty="0">
                <a:solidFill>
                  <a:srgbClr val="002060"/>
                </a:solidFill>
              </a:rPr>
              <a:t>	“Sem a Educação das Sensibilidades, todas as habilidades são tolas e sem sentido”</a:t>
            </a:r>
          </a:p>
          <a:p>
            <a:pPr algn="r">
              <a:lnSpc>
                <a:spcPct val="150000"/>
              </a:lnSpc>
            </a:pPr>
            <a:r>
              <a:rPr lang="pt-BR" sz="3600" dirty="0">
                <a:solidFill>
                  <a:srgbClr val="002060"/>
                </a:solidFill>
              </a:rPr>
              <a:t>				</a:t>
            </a:r>
            <a:r>
              <a:rPr lang="pt-BR" sz="3200" dirty="0">
                <a:solidFill>
                  <a:srgbClr val="002060"/>
                </a:solidFill>
              </a:rPr>
              <a:t>(Rubens Alves)</a:t>
            </a:r>
          </a:p>
        </p:txBody>
      </p:sp>
      <p:sp>
        <p:nvSpPr>
          <p:cNvPr id="2" name="CaixaDeTexto 1">
            <a:extLst>
              <a:ext uri="{FF2B5EF4-FFF2-40B4-BE49-F238E27FC236}">
                <a16:creationId xmlns:a16="http://schemas.microsoft.com/office/drawing/2014/main" id="{C82CFD75-913D-4EA9-AC88-AB8C811B269D}"/>
              </a:ext>
            </a:extLst>
          </p:cNvPr>
          <p:cNvSpPr txBox="1"/>
          <p:nvPr/>
        </p:nvSpPr>
        <p:spPr>
          <a:xfrm>
            <a:off x="1524001" y="15060"/>
            <a:ext cx="9143999" cy="369332"/>
          </a:xfrm>
          <a:prstGeom prst="rect">
            <a:avLst/>
          </a:prstGeom>
          <a:noFill/>
        </p:spPr>
        <p:txBody>
          <a:bodyPr wrap="square">
            <a:spAutoFit/>
          </a:bodyPr>
          <a:lstStyle/>
          <a:p>
            <a:pPr algn="r"/>
            <a:r>
              <a:rPr lang="pt-BR" b="1" u="sng" dirty="0">
                <a:solidFill>
                  <a:srgbClr val="002060"/>
                </a:solidFill>
              </a:rPr>
              <a:t>Percepção de Risco</a:t>
            </a:r>
            <a:endParaRPr lang="pt-BR" dirty="0"/>
          </a:p>
        </p:txBody>
      </p:sp>
    </p:spTree>
    <p:extLst>
      <p:ext uri="{BB962C8B-B14F-4D97-AF65-F5344CB8AC3E}">
        <p14:creationId xmlns:p14="http://schemas.microsoft.com/office/powerpoint/2010/main" val="2153264322"/>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9" name="Imagem 8">
            <a:extLst>
              <a:ext uri="{FF2B5EF4-FFF2-40B4-BE49-F238E27FC236}">
                <a16:creationId xmlns:a16="http://schemas.microsoft.com/office/drawing/2014/main" id="{B4BA4626-85A6-B476-98D5-65DBB69EEF72}"/>
              </a:ext>
            </a:extLst>
          </p:cNvPr>
          <p:cNvPicPr>
            <a:picLocks noChangeAspect="1"/>
          </p:cNvPicPr>
          <p:nvPr/>
        </p:nvPicPr>
        <p:blipFill>
          <a:blip r:embed="rId2"/>
          <a:srcRect/>
          <a:stretch/>
        </p:blipFill>
        <p:spPr>
          <a:xfrm>
            <a:off x="10068967" y="627099"/>
            <a:ext cx="1444004" cy="199302"/>
          </a:xfrm>
          <a:prstGeom prst="rect">
            <a:avLst/>
          </a:prstGeom>
        </p:spPr>
      </p:pic>
      <p:sp>
        <p:nvSpPr>
          <p:cNvPr id="10" name="Forma Livre: Forma 9">
            <a:extLst>
              <a:ext uri="{FF2B5EF4-FFF2-40B4-BE49-F238E27FC236}">
                <a16:creationId xmlns:a16="http://schemas.microsoft.com/office/drawing/2014/main" id="{90F8EC2E-ED11-0283-78C1-2584A20C9204}"/>
              </a:ext>
            </a:extLst>
          </p:cNvPr>
          <p:cNvSpPr/>
          <p:nvPr/>
        </p:nvSpPr>
        <p:spPr>
          <a:xfrm rot="10800000">
            <a:off x="8920093" y="2449432"/>
            <a:ext cx="1982712" cy="3944707"/>
          </a:xfrm>
          <a:custGeom>
            <a:avLst/>
            <a:gdLst>
              <a:gd name="connsiteX0" fmla="*/ 2413554 w 2422000"/>
              <a:gd name="connsiteY0" fmla="*/ 0 h 4827108"/>
              <a:gd name="connsiteX1" fmla="*/ 2422000 w 2422000"/>
              <a:gd name="connsiteY1" fmla="*/ 427 h 4827108"/>
              <a:gd name="connsiteX2" fmla="*/ 2422000 w 2422000"/>
              <a:gd name="connsiteY2" fmla="*/ 4826682 h 4827108"/>
              <a:gd name="connsiteX3" fmla="*/ 2413554 w 2422000"/>
              <a:gd name="connsiteY3" fmla="*/ 4827108 h 4827108"/>
              <a:gd name="connsiteX4" fmla="*/ 0 w 2422000"/>
              <a:gd name="connsiteY4" fmla="*/ 2413554 h 4827108"/>
              <a:gd name="connsiteX5" fmla="*/ 2413554 w 2422000"/>
              <a:gd name="connsiteY5" fmla="*/ 0 h 4827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22000" h="4827108">
                <a:moveTo>
                  <a:pt x="2413554" y="0"/>
                </a:moveTo>
                <a:lnTo>
                  <a:pt x="2422000" y="427"/>
                </a:lnTo>
                <a:lnTo>
                  <a:pt x="2422000" y="4826682"/>
                </a:lnTo>
                <a:lnTo>
                  <a:pt x="2413554" y="4827108"/>
                </a:lnTo>
                <a:cubicBezTo>
                  <a:pt x="1080585" y="4827108"/>
                  <a:pt x="0" y="3746523"/>
                  <a:pt x="0" y="2413554"/>
                </a:cubicBezTo>
                <a:cubicBezTo>
                  <a:pt x="0" y="1080585"/>
                  <a:pt x="1080585" y="0"/>
                  <a:pt x="2413554" y="0"/>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pt-BR" dirty="0"/>
          </a:p>
        </p:txBody>
      </p:sp>
      <p:sp>
        <p:nvSpPr>
          <p:cNvPr id="2" name="Retângulo 1">
            <a:extLst>
              <a:ext uri="{FF2B5EF4-FFF2-40B4-BE49-F238E27FC236}">
                <a16:creationId xmlns:a16="http://schemas.microsoft.com/office/drawing/2014/main" id="{505A35F7-8314-51E1-9FC0-931D6F1AB256}"/>
              </a:ext>
            </a:extLst>
          </p:cNvPr>
          <p:cNvSpPr/>
          <p:nvPr/>
        </p:nvSpPr>
        <p:spPr>
          <a:xfrm flipH="1">
            <a:off x="-6" y="6376143"/>
            <a:ext cx="12191999" cy="481857"/>
          </a:xfrm>
          <a:prstGeom prst="rect">
            <a:avLst/>
          </a:prstGeom>
          <a:solidFill>
            <a:srgbClr val="EAF6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3" name="Imagem 2" descr="Uma imagem contendo relógio, placar&#10;&#10;Descrição gerada automaticamente">
            <a:extLst>
              <a:ext uri="{FF2B5EF4-FFF2-40B4-BE49-F238E27FC236}">
                <a16:creationId xmlns:a16="http://schemas.microsoft.com/office/drawing/2014/main" id="{53242536-3E70-5D11-7958-F532E5FE4B14}"/>
              </a:ext>
            </a:extLst>
          </p:cNvPr>
          <p:cNvPicPr>
            <a:picLocks noChangeAspect="1"/>
          </p:cNvPicPr>
          <p:nvPr/>
        </p:nvPicPr>
        <p:blipFill>
          <a:blip r:embed="rId3"/>
          <a:stretch>
            <a:fillRect/>
          </a:stretch>
        </p:blipFill>
        <p:spPr>
          <a:xfrm>
            <a:off x="763332" y="6523788"/>
            <a:ext cx="1104206" cy="152403"/>
          </a:xfrm>
          <a:prstGeom prst="rect">
            <a:avLst/>
          </a:prstGeom>
        </p:spPr>
      </p:pic>
      <p:pic>
        <p:nvPicPr>
          <p:cNvPr id="4" name="Imagem 3" descr="Placa azul com letras brancas em fundo preto&#10;&#10;Descrição gerada automaticamente">
            <a:extLst>
              <a:ext uri="{FF2B5EF4-FFF2-40B4-BE49-F238E27FC236}">
                <a16:creationId xmlns:a16="http://schemas.microsoft.com/office/drawing/2014/main" id="{B1159248-5094-D663-62D2-418EE388D8AB}"/>
              </a:ext>
            </a:extLst>
          </p:cNvPr>
          <p:cNvPicPr>
            <a:picLocks noChangeAspect="1"/>
          </p:cNvPicPr>
          <p:nvPr/>
        </p:nvPicPr>
        <p:blipFill>
          <a:blip r:embed="rId4"/>
          <a:stretch>
            <a:fillRect/>
          </a:stretch>
        </p:blipFill>
        <p:spPr>
          <a:xfrm>
            <a:off x="2043336" y="6523788"/>
            <a:ext cx="1104206" cy="177133"/>
          </a:xfrm>
          <a:prstGeom prst="rect">
            <a:avLst/>
          </a:prstGeom>
        </p:spPr>
      </p:pic>
      <p:sp>
        <p:nvSpPr>
          <p:cNvPr id="5" name="Pizza 12">
            <a:extLst>
              <a:ext uri="{FF2B5EF4-FFF2-40B4-BE49-F238E27FC236}">
                <a16:creationId xmlns:a16="http://schemas.microsoft.com/office/drawing/2014/main" id="{407435A7-4149-341C-DE12-6F9882896613}"/>
              </a:ext>
            </a:extLst>
          </p:cNvPr>
          <p:cNvSpPr/>
          <p:nvPr/>
        </p:nvSpPr>
        <p:spPr>
          <a:xfrm>
            <a:off x="197429" y="6422023"/>
            <a:ext cx="368468" cy="368468"/>
          </a:xfrm>
          <a:prstGeom prst="pie">
            <a:avLst>
              <a:gd name="adj1" fmla="val 16200192"/>
              <a:gd name="adj2" fmla="val 5399799"/>
            </a:avLst>
          </a:prstGeom>
          <a:solidFill>
            <a:srgbClr val="5FE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pt-BR" dirty="0">
              <a:solidFill>
                <a:schemeClr val="tx1"/>
              </a:solidFill>
            </a:endParaRPr>
          </a:p>
        </p:txBody>
      </p:sp>
      <p:sp>
        <p:nvSpPr>
          <p:cNvPr id="6" name="Pizza 13">
            <a:extLst>
              <a:ext uri="{FF2B5EF4-FFF2-40B4-BE49-F238E27FC236}">
                <a16:creationId xmlns:a16="http://schemas.microsoft.com/office/drawing/2014/main" id="{33F29A53-96E8-33B5-46B5-847776814608}"/>
              </a:ext>
            </a:extLst>
          </p:cNvPr>
          <p:cNvSpPr/>
          <p:nvPr/>
        </p:nvSpPr>
        <p:spPr>
          <a:xfrm>
            <a:off x="197429" y="6244462"/>
            <a:ext cx="368468" cy="368468"/>
          </a:xfrm>
          <a:prstGeom prst="pie">
            <a:avLst>
              <a:gd name="adj1" fmla="val 5395924"/>
              <a:gd name="adj2" fmla="val 16202197"/>
            </a:avLst>
          </a:prstGeom>
          <a:solidFill>
            <a:srgbClr val="00307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pt-BR" dirty="0">
              <a:solidFill>
                <a:schemeClr val="tx1"/>
              </a:solidFill>
            </a:endParaRPr>
          </a:p>
        </p:txBody>
      </p:sp>
    </p:spTree>
    <p:extLst>
      <p:ext uri="{BB962C8B-B14F-4D97-AF65-F5344CB8AC3E}">
        <p14:creationId xmlns:p14="http://schemas.microsoft.com/office/powerpoint/2010/main" val="4282714091"/>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Retângulo 2"/>
          <p:cNvSpPr/>
          <p:nvPr/>
        </p:nvSpPr>
        <p:spPr>
          <a:xfrm>
            <a:off x="932155" y="3091623"/>
            <a:ext cx="5859261" cy="1569660"/>
          </a:xfrm>
          <a:prstGeom prst="rect">
            <a:avLst/>
          </a:prstGeom>
          <a:noFill/>
        </p:spPr>
        <p:txBody>
          <a:bodyPr wrap="square" lIns="91440" tIns="45720" rIns="91440" bIns="45720">
            <a:spAutoFit/>
          </a:bodyPr>
          <a:lstStyle/>
          <a:p>
            <a:pPr algn="ctr"/>
            <a:r>
              <a:rPr lang="pt-BR" sz="96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FIM</a:t>
            </a:r>
            <a:endParaRPr lang="pt-BR" sz="96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Tree>
    <p:extLst>
      <p:ext uri="{BB962C8B-B14F-4D97-AF65-F5344CB8AC3E}">
        <p14:creationId xmlns:p14="http://schemas.microsoft.com/office/powerpoint/2010/main" val="723181174"/>
      </p:ext>
    </p:extLst>
  </p:cSld>
  <p:clrMapOvr>
    <a:masterClrMapping/>
  </p:clrMapOvr>
</p:sld>
</file>

<file path=ppt/theme/theme1.xml><?xml version="1.0" encoding="utf-8"?>
<a:theme xmlns:a="http://schemas.openxmlformats.org/drawingml/2006/main" name="Tema do Office">
  <a:themeElements>
    <a:clrScheme name="Azul">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CD3868A768BBC14EBAC7D03D0260A218" ma:contentTypeVersion="16" ma:contentTypeDescription="Crie um novo documento." ma:contentTypeScope="" ma:versionID="163d054e873d1833e7a477861c2e931c">
  <xsd:schema xmlns:xsd="http://www.w3.org/2001/XMLSchema" xmlns:xs="http://www.w3.org/2001/XMLSchema" xmlns:p="http://schemas.microsoft.com/office/2006/metadata/properties" xmlns:ns2="1320d8c0-aa00-45e8-b1e2-6c53a7edd4fe" xmlns:ns3="3879a883-5f62-4762-adb0-91976e226712" targetNamespace="http://schemas.microsoft.com/office/2006/metadata/properties" ma:root="true" ma:fieldsID="1857529a7a08f8bc13c2c2e8a2a53e59" ns2:_="" ns3:_="">
    <xsd:import namespace="1320d8c0-aa00-45e8-b1e2-6c53a7edd4fe"/>
    <xsd:import namespace="3879a883-5f62-4762-adb0-91976e226712"/>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lcf76f155ced4ddcb4097134ff3c332f" minOccurs="0"/>
                <xsd:element ref="ns3:TaxCatchAll" minOccurs="0"/>
                <xsd:element ref="ns2:MediaServiceGenerationTime" minOccurs="0"/>
                <xsd:element ref="ns2:MediaServiceEventHashCode" minOccurs="0"/>
                <xsd:element ref="ns2:MediaServiceLocation" minOccurs="0"/>
                <xsd:element ref="ns2:MediaServiceOCR" minOccurs="0"/>
                <xsd:element ref="ns3:SharedWithUsers" minOccurs="0"/>
                <xsd:element ref="ns3:SharedWithDetail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320d8c0-aa00-45e8-b1e2-6c53a7edd4f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3" nillable="true" ma:taxonomy="true" ma:internalName="lcf76f155ced4ddcb4097134ff3c332f" ma:taxonomyFieldName="MediaServiceImageTags" ma:displayName="Marcações de imagem" ma:readOnly="false" ma:fieldId="{5cf76f15-5ced-4ddc-b409-7134ff3c332f}" ma:taxonomyMulti="true" ma:sspId="a1f86888-6c40-4c78-a99b-3380cfdf08f2"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dexed="true" ma:internalName="MediaServiceLocatio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879a883-5f62-4762-adb0-91976e226712"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a37d5a37-cb9b-4041-9295-ab1cbbaa127b}" ma:internalName="TaxCatchAll" ma:showField="CatchAllData" ma:web="3879a883-5f62-4762-adb0-91976e226712">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Compartilhado com"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Detalhes de Compartilhado Com"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3879a883-5f62-4762-adb0-91976e226712" xsi:nil="true"/>
    <lcf76f155ced4ddcb4097134ff3c332f xmlns="1320d8c0-aa00-45e8-b1e2-6c53a7edd4fe">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BE54BEB0-FA73-4D11-8F55-FDD7BA7C965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320d8c0-aa00-45e8-b1e2-6c53a7edd4fe"/>
    <ds:schemaRef ds:uri="3879a883-5f62-4762-adb0-91976e22671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053BD53-5B80-4560-BC2B-A9B628DCF73B}">
  <ds:schemaRefs>
    <ds:schemaRef ds:uri="http://schemas.microsoft.com/sharepoint/v3/contenttype/forms"/>
  </ds:schemaRefs>
</ds:datastoreItem>
</file>

<file path=customXml/itemProps3.xml><?xml version="1.0" encoding="utf-8"?>
<ds:datastoreItem xmlns:ds="http://schemas.openxmlformats.org/officeDocument/2006/customXml" ds:itemID="{601BCE58-2987-40CE-941A-934D049D6FEC}">
  <ds:schemaRefs>
    <ds:schemaRef ds:uri="http://purl.org/dc/dcmitype/"/>
    <ds:schemaRef ds:uri="http://schemas.microsoft.com/office/2006/documentManagement/types"/>
    <ds:schemaRef ds:uri="http://www.w3.org/XML/1998/namespace"/>
    <ds:schemaRef ds:uri="http://purl.org/dc/terms/"/>
    <ds:schemaRef ds:uri="http://purl.org/dc/elements/1.1/"/>
    <ds:schemaRef ds:uri="http://schemas.openxmlformats.org/package/2006/metadata/core-properties"/>
    <ds:schemaRef ds:uri="http://schemas.microsoft.com/office/infopath/2007/PartnerControls"/>
    <ds:schemaRef ds:uri="3879a883-5f62-4762-adb0-91976e226712"/>
    <ds:schemaRef ds:uri="1320d8c0-aa00-45e8-b1e2-6c53a7edd4fe"/>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otalTime>19572</TotalTime>
  <Words>18770</Words>
  <Application>Microsoft Office PowerPoint</Application>
  <PresentationFormat>Widescreen</PresentationFormat>
  <Paragraphs>2100</Paragraphs>
  <Slides>264</Slides>
  <Notes>94</Notes>
  <HiddenSlides>0</HiddenSlides>
  <MMClips>0</MMClips>
  <ScaleCrop>false</ScaleCrop>
  <HeadingPairs>
    <vt:vector size="8" baseType="variant">
      <vt:variant>
        <vt:lpstr>Fontes usadas</vt:lpstr>
      </vt:variant>
      <vt:variant>
        <vt:i4>19</vt:i4>
      </vt:variant>
      <vt:variant>
        <vt:lpstr>Tema</vt:lpstr>
      </vt:variant>
      <vt:variant>
        <vt:i4>1</vt:i4>
      </vt:variant>
      <vt:variant>
        <vt:lpstr>Servidores OLE inseridos</vt:lpstr>
      </vt:variant>
      <vt:variant>
        <vt:i4>2</vt:i4>
      </vt:variant>
      <vt:variant>
        <vt:lpstr>Títulos de slides</vt:lpstr>
      </vt:variant>
      <vt:variant>
        <vt:i4>264</vt:i4>
      </vt:variant>
    </vt:vector>
  </HeadingPairs>
  <TitlesOfParts>
    <vt:vector size="286" baseType="lpstr">
      <vt:lpstr>Times New Roman</vt:lpstr>
      <vt:lpstr>Helvetica Neue</vt:lpstr>
      <vt:lpstr>Verdana</vt:lpstr>
      <vt:lpstr>Trebuchet MS</vt:lpstr>
      <vt:lpstr>Wingdings</vt:lpstr>
      <vt:lpstr>Helvetica</vt:lpstr>
      <vt:lpstr>Calibri</vt:lpstr>
      <vt:lpstr>Helvetica Neue Light</vt:lpstr>
      <vt:lpstr>Calibri Light</vt:lpstr>
      <vt:lpstr>arial</vt:lpstr>
      <vt:lpstr>Roboto</vt:lpstr>
      <vt:lpstr>Roboto Black</vt:lpstr>
      <vt:lpstr>Lucida Sans Unicode</vt:lpstr>
      <vt:lpstr>arial</vt:lpstr>
      <vt:lpstr>Arial Black</vt:lpstr>
      <vt:lpstr>Courier New</vt:lpstr>
      <vt:lpstr>Monotype Corsiva</vt:lpstr>
      <vt:lpstr>MS PGothic</vt:lpstr>
      <vt:lpstr>Tahoma</vt:lpstr>
      <vt:lpstr>Tema do Office</vt:lpstr>
      <vt:lpstr>Microsoft PowerPoint 97-2003 Slide</vt:lpstr>
      <vt:lpstr>Slide</vt:lpstr>
      <vt:lpstr>Apresentação do PowerPoint</vt:lpstr>
      <vt:lpstr>Áreas da logística e seus salários</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No passado....</vt:lpstr>
      <vt:lpstr>Hoje....</vt:lpstr>
      <vt:lpstr>Apresentação do PowerPoint</vt:lpstr>
      <vt:lpstr>Apresentação do PowerPoint</vt:lpstr>
      <vt:lpstr>Apresentação do PowerPoint</vt:lpstr>
      <vt:lpstr>Apresentação do PowerPoint</vt:lpstr>
      <vt:lpstr>Apresentação do PowerPoint</vt:lpstr>
      <vt:lpstr>Apresentação do PowerPoint</vt:lpstr>
      <vt:lpstr>ATIVIDADES PRIMÁRIAS</vt:lpstr>
      <vt:lpstr>ATIVIDADES PRIMÁRIAS</vt:lpstr>
      <vt:lpstr>Apresentação do PowerPoint</vt:lpstr>
      <vt:lpstr>ATIVIDADES PRIMÁRIAS</vt:lpstr>
      <vt:lpstr>ATIVIDADES DE APOIO</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GESTÃO DA CADEIA DE SUPRIMENTOS</vt:lpstr>
      <vt:lpstr>GESTÃO DA CADEIA DE SUPRIMENTOS</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O que o mercado de trabalho exige do profissional?</vt:lpstr>
      <vt:lpstr>SP SUPER PROFISSIONAL</vt:lpstr>
      <vt:lpstr>Pedra que não rola cria limo...</vt:lpstr>
      <vt:lpstr>Continuação...</vt:lpstr>
      <vt:lpstr>Parte final...</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Peter F. Drucker (1903)</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              Quais as motivações para a internacionalização das organizações?</vt:lpstr>
      <vt:lpstr>Negócios internacionais, por quê?</vt:lpstr>
      <vt:lpstr>Negócios internacionais, por quê?</vt:lpstr>
      <vt:lpstr>Apresentação do PowerPoint</vt:lpstr>
      <vt:lpstr>Apresentação do PowerPoint</vt:lpstr>
      <vt:lpstr>Apresentação do PowerPoint</vt:lpstr>
      <vt:lpstr>Apresentação do PowerPoint</vt:lpstr>
      <vt:lpstr>Apresentação do PowerPoint</vt:lpstr>
      <vt:lpstr>Mundo Global, sem fronteiras.</vt:lpstr>
      <vt:lpstr>O que é exportação?</vt:lpstr>
      <vt:lpstr>Apresentação do PowerPoint</vt:lpstr>
      <vt:lpstr>Por que devemos exportar?</vt:lpstr>
      <vt:lpstr>         Para qual (is) país (es) devemos exportar? E por quê?</vt:lpstr>
      <vt:lpstr>Por que devemos importar?</vt:lpstr>
      <vt:lpstr>Por que devemos importar?</vt:lpstr>
      <vt:lpstr>O que é balança comercial? </vt:lpstr>
      <vt:lpstr>O que é corrente de comércio? </vt:lpstr>
      <vt:lpstr>Referências bibliográficas. </vt:lpstr>
      <vt:lpstr>Apresentação do PowerPoint</vt:lpstr>
      <vt:lpstr>Apresentação do PowerPoint</vt:lpstr>
      <vt:lpstr>Apresentação do PowerPoint</vt:lpstr>
      <vt:lpstr>TRANSPORTE DE CARGAS</vt:lpstr>
      <vt:lpstr>TRANSPORTE DE CARGAS</vt:lpstr>
      <vt:lpstr>TRANSPORTE DE CARGAS - CLASSIFICAÇÃO</vt:lpstr>
      <vt:lpstr>MODAIS DE TRANSPORTE</vt:lpstr>
      <vt:lpstr>MODAL RODOVIÁRIO</vt:lpstr>
      <vt:lpstr>MODAL RODOVIÁRIO</vt:lpstr>
      <vt:lpstr>MODAL RODOVIÁRIO</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MODAIS DE TRANSPORTE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CONCEITOS, INDICADORES DE DESEMPENHO, SELEÇÃO DE OPERADORES</vt:lpstr>
      <vt:lpstr>ATORES ENVOLVIDOS NO TRANSPORTE</vt:lpstr>
      <vt:lpstr>Apresentação do PowerPoint</vt:lpstr>
      <vt:lpstr>Apresentação do PowerPoint</vt:lpstr>
      <vt:lpstr>Apresentação do PowerPoint</vt:lpstr>
      <vt:lpstr>Apresentação do PowerPoint</vt:lpstr>
      <vt:lpstr>Apresentação do PowerPoint</vt:lpstr>
      <vt:lpstr>Apresentação do PowerPoint</vt:lpstr>
      <vt:lpstr>   </vt:lpstr>
      <vt:lpstr>   </vt:lpstr>
      <vt:lpstr>   </vt:lpstr>
      <vt:lpstr>   </vt:lpstr>
      <vt:lpstr>   </vt:lpstr>
      <vt:lpstr>   </vt:lpstr>
      <vt:lpstr>   </vt:lpstr>
      <vt:lpstr>   </vt:lpstr>
      <vt:lpstr>   </vt:lpstr>
      <vt:lpstr>  </vt:lpstr>
      <vt:lpstr>   </vt:lpstr>
      <vt:lpstr>  </vt:lpstr>
      <vt:lpstr>   </vt:lpstr>
      <vt:lpstr>  </vt:lpstr>
      <vt:lpstr>   </vt:lpstr>
      <vt:lpstr>Apresentação do PowerPoint</vt:lpstr>
      <vt:lpstr>Apresentação do PowerPoint</vt:lpstr>
      <vt:lpstr>Estrutura e regulamentações do transporte de cargas</vt:lpstr>
      <vt:lpstr>Órgãos reguladores do transporte no Brasil</vt:lpstr>
      <vt:lpstr>Legislações</vt:lpstr>
      <vt:lpstr>Apresentação do PowerPoint</vt:lpstr>
      <vt:lpstr>Apresentação do PowerPoint</vt:lpstr>
      <vt:lpstr>Documentação requerida no transporte de cargas</vt:lpstr>
      <vt:lpstr>Packing list (internacional) ou romaneio (nacional)</vt:lpstr>
      <vt:lpstr>Apresentação do PowerPoint</vt:lpstr>
      <vt:lpstr>Apresentação do PowerPoint</vt:lpstr>
      <vt:lpstr>Apresentação do PowerPoint</vt:lpstr>
      <vt:lpstr>Requerimentos do transporte de cargas perigosas</vt:lpstr>
      <vt:lpstr>Requerimentos no transporte de cargas perigosas</vt:lpstr>
      <vt:lpstr>Apresentação do PowerPoint</vt:lpstr>
      <vt:lpstr>Exercício : regulamentação e documentação  do transporte de cargas</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Você saberia dizer quais são  os fatores geradores de acidentes?</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HP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Israel Antonio Manoel Pereira</dc:creator>
  <cp:lastModifiedBy>Professor</cp:lastModifiedBy>
  <cp:revision>313</cp:revision>
  <cp:lastPrinted>2023-11-08T20:11:37Z</cp:lastPrinted>
  <dcterms:created xsi:type="dcterms:W3CDTF">2023-01-17T18:29:15Z</dcterms:created>
  <dcterms:modified xsi:type="dcterms:W3CDTF">2026-02-24T12:56:41Z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6b184f7-bef8-46d5-afaa-2928da75c0b3_Enabled">
    <vt:lpwstr>true</vt:lpwstr>
  </property>
  <property fmtid="{D5CDD505-2E9C-101B-9397-08002B2CF9AE}" pid="3" name="MSIP_Label_c6b184f7-bef8-46d5-afaa-2928da75c0b3_SetDate">
    <vt:lpwstr>2024-09-17T20:50:02Z</vt:lpwstr>
  </property>
  <property fmtid="{D5CDD505-2E9C-101B-9397-08002B2CF9AE}" pid="4" name="MSIP_Label_c6b184f7-bef8-46d5-afaa-2928da75c0b3_Method">
    <vt:lpwstr>Privileged</vt:lpwstr>
  </property>
  <property fmtid="{D5CDD505-2E9C-101B-9397-08002B2CF9AE}" pid="5" name="MSIP_Label_c6b184f7-bef8-46d5-afaa-2928da75c0b3_Name">
    <vt:lpwstr>Este documento foi classificado como informação EXTERNA.</vt:lpwstr>
  </property>
  <property fmtid="{D5CDD505-2E9C-101B-9397-08002B2CF9AE}" pid="6" name="MSIP_Label_c6b184f7-bef8-46d5-afaa-2928da75c0b3_SiteId">
    <vt:lpwstr>8609bc5b-7aca-4204-b4b0-ce9cf9002e53</vt:lpwstr>
  </property>
  <property fmtid="{D5CDD505-2E9C-101B-9397-08002B2CF9AE}" pid="7" name="MSIP_Label_c6b184f7-bef8-46d5-afaa-2928da75c0b3_ActionId">
    <vt:lpwstr>82959056-f6ef-48a9-b64d-b5b123c1edf7</vt:lpwstr>
  </property>
  <property fmtid="{D5CDD505-2E9C-101B-9397-08002B2CF9AE}" pid="8" name="MSIP_Label_c6b184f7-bef8-46d5-afaa-2928da75c0b3_ContentBits">
    <vt:lpwstr>2</vt:lpwstr>
  </property>
  <property fmtid="{D5CDD505-2E9C-101B-9397-08002B2CF9AE}" pid="9" name="ClassificationContentMarkingFooterLocations">
    <vt:lpwstr>Tema do Office:8\Tema do Office:8</vt:lpwstr>
  </property>
  <property fmtid="{D5CDD505-2E9C-101B-9397-08002B2CF9AE}" pid="10" name="ClassificationContentMarkingFooterText">
    <vt:lpwstr>Este documento foi classificado como informação externa e pode ser compartilhado com pessoas externas à Organização a quem foi destinado. </vt:lpwstr>
  </property>
  <property fmtid="{D5CDD505-2E9C-101B-9397-08002B2CF9AE}" pid="11" name="ContentTypeId">
    <vt:lpwstr>0x010100CD3868A768BBC14EBAC7D03D0260A218</vt:lpwstr>
  </property>
  <property fmtid="{D5CDD505-2E9C-101B-9397-08002B2CF9AE}" pid="12" name="MediaServiceImageTags">
    <vt:lpwstr/>
  </property>
</Properties>
</file>