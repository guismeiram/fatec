
<file path=[Content_Types].xml><?xml version="1.0" encoding="utf-8"?>
<Types xmlns="http://schemas.openxmlformats.org/package/2006/content-types">
  <Default Extension="emf" ContentType="image/x-emf"/>
  <Default Extension="fntdata" ContentType="application/x-fontdata"/>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66"/>
  </p:notesMasterIdLst>
  <p:handoutMasterIdLst>
    <p:handoutMasterId r:id="rId67"/>
  </p:handoutMasterIdLst>
  <p:sldIdLst>
    <p:sldId id="256" r:id="rId5"/>
    <p:sldId id="345" r:id="rId6"/>
    <p:sldId id="346" r:id="rId7"/>
    <p:sldId id="347" r:id="rId8"/>
    <p:sldId id="348" r:id="rId9"/>
    <p:sldId id="349" r:id="rId10"/>
    <p:sldId id="350" r:id="rId11"/>
    <p:sldId id="351" r:id="rId12"/>
    <p:sldId id="352" r:id="rId13"/>
    <p:sldId id="353" r:id="rId14"/>
    <p:sldId id="354" r:id="rId15"/>
    <p:sldId id="355" r:id="rId16"/>
    <p:sldId id="356" r:id="rId17"/>
    <p:sldId id="357" r:id="rId18"/>
    <p:sldId id="310" r:id="rId19"/>
    <p:sldId id="358" r:id="rId20"/>
    <p:sldId id="359" r:id="rId21"/>
    <p:sldId id="360" r:id="rId22"/>
    <p:sldId id="361" r:id="rId23"/>
    <p:sldId id="362" r:id="rId24"/>
    <p:sldId id="363" r:id="rId25"/>
    <p:sldId id="364" r:id="rId26"/>
    <p:sldId id="365" r:id="rId27"/>
    <p:sldId id="366" r:id="rId28"/>
    <p:sldId id="367" r:id="rId29"/>
    <p:sldId id="368" r:id="rId30"/>
    <p:sldId id="369" r:id="rId31"/>
    <p:sldId id="370" r:id="rId32"/>
    <p:sldId id="371" r:id="rId33"/>
    <p:sldId id="372" r:id="rId34"/>
    <p:sldId id="373" r:id="rId35"/>
    <p:sldId id="374" r:id="rId36"/>
    <p:sldId id="375" r:id="rId37"/>
    <p:sldId id="376" r:id="rId38"/>
    <p:sldId id="377" r:id="rId39"/>
    <p:sldId id="378" r:id="rId40"/>
    <p:sldId id="379" r:id="rId41"/>
    <p:sldId id="380" r:id="rId42"/>
    <p:sldId id="381" r:id="rId43"/>
    <p:sldId id="382" r:id="rId44"/>
    <p:sldId id="383" r:id="rId45"/>
    <p:sldId id="384" r:id="rId46"/>
    <p:sldId id="385" r:id="rId47"/>
    <p:sldId id="386" r:id="rId48"/>
    <p:sldId id="387" r:id="rId49"/>
    <p:sldId id="388" r:id="rId50"/>
    <p:sldId id="389" r:id="rId51"/>
    <p:sldId id="390" r:id="rId52"/>
    <p:sldId id="391" r:id="rId53"/>
    <p:sldId id="392" r:id="rId54"/>
    <p:sldId id="393" r:id="rId55"/>
    <p:sldId id="394" r:id="rId56"/>
    <p:sldId id="395" r:id="rId57"/>
    <p:sldId id="396" r:id="rId58"/>
    <p:sldId id="397" r:id="rId59"/>
    <p:sldId id="398" r:id="rId60"/>
    <p:sldId id="399" r:id="rId61"/>
    <p:sldId id="400" r:id="rId62"/>
    <p:sldId id="401" r:id="rId63"/>
    <p:sldId id="402" r:id="rId64"/>
    <p:sldId id="403" r:id="rId65"/>
  </p:sldIdLst>
  <p:sldSz cx="12192000" cy="6858000"/>
  <p:notesSz cx="6808788" cy="9940925"/>
  <p:embeddedFontLst>
    <p:embeddedFont>
      <p:font typeface="Lucida Sans Unicode" panose="020B0602030504020204" pitchFamily="34" charset="0"/>
      <p:regular r:id="rId68"/>
    </p:embeddedFont>
    <p:embeddedFont>
      <p:font typeface="Roboto" panose="02000000000000000000" pitchFamily="2" charset="0"/>
      <p:regular r:id="rId69"/>
      <p:bold r:id="rId70"/>
      <p:italic r:id="rId71"/>
      <p:boldItalic r:id="rId72"/>
    </p:embeddedFont>
    <p:embeddedFont>
      <p:font typeface="Roboto Black" panose="02000000000000000000" pitchFamily="2" charset="0"/>
      <p:bold r:id="rId73"/>
      <p:italic r:id="rId74"/>
      <p:boldItalic r:id="rId75"/>
    </p:embeddedFont>
  </p:embeddedFont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1462"/>
    <a:srgbClr val="5FE1FF"/>
    <a:srgbClr val="FF9851"/>
    <a:srgbClr val="94E269"/>
    <a:srgbClr val="00B6ED"/>
    <a:srgbClr val="FF9900"/>
    <a:srgbClr val="000000"/>
    <a:srgbClr val="04305C"/>
    <a:srgbClr val="023770"/>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B8C8F5-679F-13D3-139D-CE8638204391}" v="4" dt="2026-01-20T19:07:54.5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42" autoAdjust="0"/>
    <p:restoredTop sz="96190" autoAdjust="0"/>
  </p:normalViewPr>
  <p:slideViewPr>
    <p:cSldViewPr snapToGrid="0">
      <p:cViewPr varScale="1">
        <p:scale>
          <a:sx n="95" d="100"/>
          <a:sy n="95" d="100"/>
        </p:scale>
        <p:origin x="66" y="546"/>
      </p:cViewPr>
      <p:guideLst/>
    </p:cSldViewPr>
  </p:slideViewPr>
  <p:notesTextViewPr>
    <p:cViewPr>
      <p:scale>
        <a:sx n="3" d="2"/>
        <a:sy n="3" d="2"/>
      </p:scale>
      <p:origin x="0" y="0"/>
    </p:cViewPr>
  </p:notesTextViewPr>
  <p:notesViewPr>
    <p:cSldViewPr snapToGrid="0">
      <p:cViewPr varScale="1">
        <p:scale>
          <a:sx n="129" d="100"/>
          <a:sy n="129" d="100"/>
        </p:scale>
        <p:origin x="7096" y="22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font" Target="fonts/font1.fntdata"/><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74" Type="http://schemas.openxmlformats.org/officeDocument/2006/relationships/font" Target="fonts/font7.fntdata"/><Relationship Id="rId79"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font" Target="fonts/font2.fntdata"/><Relationship Id="rId77"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5.fntdata"/><Relationship Id="rId80"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font" Target="fonts/font3.fntdata"/><Relationship Id="rId75"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font" Target="fonts/font6.fntdata"/><Relationship Id="rId78"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font" Target="fonts/font4.fntdata"/><Relationship Id="rId2" Type="http://schemas.openxmlformats.org/officeDocument/2006/relationships/customXml" Target="../customXml/item2.xml"/><Relationship Id="rId29"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2950475" cy="498773"/>
          </a:xfrm>
          <a:prstGeom prst="rect">
            <a:avLst/>
          </a:prstGeom>
        </p:spPr>
        <p:txBody>
          <a:bodyPr vert="horz" lIns="91431" tIns="45715" rIns="91431" bIns="45715" rtlCol="0"/>
          <a:lstStyle>
            <a:lvl1pPr algn="l">
              <a:defRPr sz="1200"/>
            </a:lvl1pPr>
          </a:lstStyle>
          <a:p>
            <a:endParaRPr lang="pt-BR"/>
          </a:p>
        </p:txBody>
      </p:sp>
      <p:sp>
        <p:nvSpPr>
          <p:cNvPr id="3" name="Espaço Reservado para Data 2"/>
          <p:cNvSpPr>
            <a:spLocks noGrp="1"/>
          </p:cNvSpPr>
          <p:nvPr>
            <p:ph type="dt" sz="quarter" idx="1"/>
          </p:nvPr>
        </p:nvSpPr>
        <p:spPr>
          <a:xfrm>
            <a:off x="3856737" y="1"/>
            <a:ext cx="2950475" cy="498773"/>
          </a:xfrm>
          <a:prstGeom prst="rect">
            <a:avLst/>
          </a:prstGeom>
        </p:spPr>
        <p:txBody>
          <a:bodyPr vert="horz" lIns="91431" tIns="45715" rIns="91431" bIns="45715" rtlCol="0"/>
          <a:lstStyle>
            <a:lvl1pPr algn="r">
              <a:defRPr sz="1200"/>
            </a:lvl1pPr>
          </a:lstStyle>
          <a:p>
            <a:fld id="{EF7156ED-2444-4741-A201-5CE3D089F06E}" type="datetimeFigureOut">
              <a:rPr lang="pt-BR" smtClean="0"/>
              <a:t>17/03/2026</a:t>
            </a:fld>
            <a:endParaRPr lang="pt-BR"/>
          </a:p>
        </p:txBody>
      </p:sp>
      <p:sp>
        <p:nvSpPr>
          <p:cNvPr id="4" name="Espaço Reservado para Rodapé 3"/>
          <p:cNvSpPr>
            <a:spLocks noGrp="1"/>
          </p:cNvSpPr>
          <p:nvPr>
            <p:ph type="ftr" sz="quarter" idx="2"/>
          </p:nvPr>
        </p:nvSpPr>
        <p:spPr>
          <a:xfrm>
            <a:off x="0" y="9442154"/>
            <a:ext cx="2950475" cy="498772"/>
          </a:xfrm>
          <a:prstGeom prst="rect">
            <a:avLst/>
          </a:prstGeom>
        </p:spPr>
        <p:txBody>
          <a:bodyPr vert="horz" lIns="91431" tIns="45715" rIns="91431" bIns="45715" rtlCol="0" anchor="b"/>
          <a:lstStyle>
            <a:lvl1pPr algn="l">
              <a:defRPr sz="1200"/>
            </a:lvl1pPr>
          </a:lstStyle>
          <a:p>
            <a:endParaRPr lang="pt-BR"/>
          </a:p>
        </p:txBody>
      </p:sp>
      <p:sp>
        <p:nvSpPr>
          <p:cNvPr id="5" name="Espaço Reservado para Número de Slide 4"/>
          <p:cNvSpPr>
            <a:spLocks noGrp="1"/>
          </p:cNvSpPr>
          <p:nvPr>
            <p:ph type="sldNum" sz="quarter" idx="3"/>
          </p:nvPr>
        </p:nvSpPr>
        <p:spPr>
          <a:xfrm>
            <a:off x="3856737" y="9442154"/>
            <a:ext cx="2950475" cy="498772"/>
          </a:xfrm>
          <a:prstGeom prst="rect">
            <a:avLst/>
          </a:prstGeom>
        </p:spPr>
        <p:txBody>
          <a:bodyPr vert="horz" lIns="91431" tIns="45715" rIns="91431" bIns="45715" rtlCol="0" anchor="b"/>
          <a:lstStyle>
            <a:lvl1pPr algn="r">
              <a:defRPr sz="1200"/>
            </a:lvl1pPr>
          </a:lstStyle>
          <a:p>
            <a:fld id="{E51ED613-061D-48CC-8D0E-929FE2D75A04}" type="slidenum">
              <a:rPr lang="pt-BR" smtClean="0"/>
              <a:t>‹nº›</a:t>
            </a:fld>
            <a:endParaRPr lang="pt-BR"/>
          </a:p>
        </p:txBody>
      </p:sp>
    </p:spTree>
    <p:extLst>
      <p:ext uri="{BB962C8B-B14F-4D97-AF65-F5344CB8AC3E}">
        <p14:creationId xmlns:p14="http://schemas.microsoft.com/office/powerpoint/2010/main" val="16042895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2950475" cy="498773"/>
          </a:xfrm>
          <a:prstGeom prst="rect">
            <a:avLst/>
          </a:prstGeom>
        </p:spPr>
        <p:txBody>
          <a:bodyPr vert="horz" lIns="91431" tIns="45715" rIns="91431" bIns="45715" rtlCol="0"/>
          <a:lstStyle>
            <a:lvl1pPr algn="l">
              <a:defRPr sz="1200"/>
            </a:lvl1pPr>
          </a:lstStyle>
          <a:p>
            <a:endParaRPr lang="pt-BR"/>
          </a:p>
        </p:txBody>
      </p:sp>
      <p:sp>
        <p:nvSpPr>
          <p:cNvPr id="3" name="Espaço Reservado para Data 2"/>
          <p:cNvSpPr>
            <a:spLocks noGrp="1"/>
          </p:cNvSpPr>
          <p:nvPr>
            <p:ph type="dt" idx="1"/>
          </p:nvPr>
        </p:nvSpPr>
        <p:spPr>
          <a:xfrm>
            <a:off x="3856737" y="1"/>
            <a:ext cx="2950475" cy="498773"/>
          </a:xfrm>
          <a:prstGeom prst="rect">
            <a:avLst/>
          </a:prstGeom>
        </p:spPr>
        <p:txBody>
          <a:bodyPr vert="horz" lIns="91431" tIns="45715" rIns="91431" bIns="45715" rtlCol="0"/>
          <a:lstStyle>
            <a:lvl1pPr algn="r">
              <a:defRPr sz="1200"/>
            </a:lvl1pPr>
          </a:lstStyle>
          <a:p>
            <a:fld id="{C63A4E09-FB63-49F4-9096-EEFAF3384558}" type="datetimeFigureOut">
              <a:rPr lang="pt-BR" smtClean="0"/>
              <a:t>17/03/2026</a:t>
            </a:fld>
            <a:endParaRPr lang="pt-BR"/>
          </a:p>
        </p:txBody>
      </p:sp>
      <p:sp>
        <p:nvSpPr>
          <p:cNvPr id="4" name="Espaço Reservado para Imagem de Slide 3"/>
          <p:cNvSpPr>
            <a:spLocks noGrp="1" noRot="1" noChangeAspect="1"/>
          </p:cNvSpPr>
          <p:nvPr>
            <p:ph type="sldImg" idx="2"/>
          </p:nvPr>
        </p:nvSpPr>
        <p:spPr>
          <a:xfrm>
            <a:off x="422275" y="1243013"/>
            <a:ext cx="5964238" cy="3354387"/>
          </a:xfrm>
          <a:prstGeom prst="rect">
            <a:avLst/>
          </a:prstGeom>
          <a:noFill/>
          <a:ln w="12700">
            <a:solidFill>
              <a:prstClr val="black"/>
            </a:solidFill>
          </a:ln>
        </p:spPr>
        <p:txBody>
          <a:bodyPr vert="horz" lIns="91431" tIns="45715" rIns="91431" bIns="45715" rtlCol="0" anchor="ctr"/>
          <a:lstStyle/>
          <a:p>
            <a:endParaRPr lang="pt-BR"/>
          </a:p>
        </p:txBody>
      </p:sp>
      <p:sp>
        <p:nvSpPr>
          <p:cNvPr id="5" name="Espaço Reservado para Anotações 4"/>
          <p:cNvSpPr>
            <a:spLocks noGrp="1"/>
          </p:cNvSpPr>
          <p:nvPr>
            <p:ph type="body" sz="quarter" idx="3"/>
          </p:nvPr>
        </p:nvSpPr>
        <p:spPr>
          <a:xfrm>
            <a:off x="680879" y="4784071"/>
            <a:ext cx="5447030" cy="3914239"/>
          </a:xfrm>
          <a:prstGeom prst="rect">
            <a:avLst/>
          </a:prstGeom>
        </p:spPr>
        <p:txBody>
          <a:bodyPr vert="horz" lIns="91431" tIns="45715" rIns="91431" bIns="45715"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9442154"/>
            <a:ext cx="2950475" cy="498772"/>
          </a:xfrm>
          <a:prstGeom prst="rect">
            <a:avLst/>
          </a:prstGeom>
        </p:spPr>
        <p:txBody>
          <a:bodyPr vert="horz" lIns="91431" tIns="45715" rIns="91431" bIns="45715"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56737" y="9442154"/>
            <a:ext cx="2950475" cy="498772"/>
          </a:xfrm>
          <a:prstGeom prst="rect">
            <a:avLst/>
          </a:prstGeom>
        </p:spPr>
        <p:txBody>
          <a:bodyPr vert="horz" lIns="91431" tIns="45715" rIns="91431" bIns="45715" rtlCol="0" anchor="b"/>
          <a:lstStyle>
            <a:lvl1pPr algn="r">
              <a:defRPr sz="1200"/>
            </a:lvl1pPr>
          </a:lstStyle>
          <a:p>
            <a:fld id="{A9FA2E6A-C8CD-442F-B03A-FDB73B6A9D75}" type="slidenum">
              <a:rPr lang="pt-BR" smtClean="0"/>
              <a:t>‹nº›</a:t>
            </a:fld>
            <a:endParaRPr lang="pt-BR"/>
          </a:p>
        </p:txBody>
      </p:sp>
    </p:spTree>
    <p:extLst>
      <p:ext uri="{BB962C8B-B14F-4D97-AF65-F5344CB8AC3E}">
        <p14:creationId xmlns:p14="http://schemas.microsoft.com/office/powerpoint/2010/main" val="3869015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1"/>
          <p:cNvSpPr txBox="1">
            <a:spLocks noGrp="1" noRot="1" noChangeAspect="1" noChangeArrowheads="1" noTextEdit="1"/>
          </p:cNvSpPr>
          <p:nvPr>
            <p:ph type="sldImg"/>
          </p:nvPr>
        </p:nvSpPr>
        <p:spPr>
          <a:xfrm>
            <a:off x="-1882775" y="1039813"/>
            <a:ext cx="9091613" cy="5114925"/>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7" name="Text Box 2"/>
          <p:cNvSpPr txBox="1">
            <a:spLocks noChangeArrowheads="1"/>
          </p:cNvSpPr>
          <p:nvPr/>
        </p:nvSpPr>
        <p:spPr bwMode="auto">
          <a:xfrm>
            <a:off x="532448" y="6481922"/>
            <a:ext cx="4259580" cy="61407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22472512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1"/>
          <p:cNvSpPr txBox="1">
            <a:spLocks noGrp="1" noRot="1" noChangeAspect="1" noChangeArrowheads="1" noTextEdit="1"/>
          </p:cNvSpPr>
          <p:nvPr>
            <p:ph type="sldImg"/>
          </p:nvPr>
        </p:nvSpPr>
        <p:spPr>
          <a:xfrm>
            <a:off x="-1882775" y="1039813"/>
            <a:ext cx="9091613" cy="5114925"/>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1" name="Text Box 2"/>
          <p:cNvSpPr txBox="1">
            <a:spLocks noChangeArrowheads="1"/>
          </p:cNvSpPr>
          <p:nvPr/>
        </p:nvSpPr>
        <p:spPr bwMode="auto">
          <a:xfrm>
            <a:off x="532448" y="6481922"/>
            <a:ext cx="4259580" cy="61407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2532478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1"/>
          <p:cNvSpPr txBox="1">
            <a:spLocks noGrp="1" noRot="1" noChangeAspect="1" noChangeArrowheads="1" noTextEdit="1"/>
          </p:cNvSpPr>
          <p:nvPr>
            <p:ph type="sldImg"/>
          </p:nvPr>
        </p:nvSpPr>
        <p:spPr>
          <a:xfrm>
            <a:off x="-1882775" y="1039813"/>
            <a:ext cx="9091613" cy="5114925"/>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3315" name="Text Box 2"/>
          <p:cNvSpPr txBox="1">
            <a:spLocks noChangeArrowheads="1"/>
          </p:cNvSpPr>
          <p:nvPr/>
        </p:nvSpPr>
        <p:spPr bwMode="auto">
          <a:xfrm>
            <a:off x="532448" y="6481922"/>
            <a:ext cx="4259580" cy="61407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1162050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1"/>
          <p:cNvSpPr txBox="1">
            <a:spLocks noGrp="1" noRot="1" noChangeAspect="1" noChangeArrowheads="1" noTextEdit="1"/>
          </p:cNvSpPr>
          <p:nvPr>
            <p:ph type="sldImg"/>
          </p:nvPr>
        </p:nvSpPr>
        <p:spPr>
          <a:xfrm>
            <a:off x="-1882775" y="1039813"/>
            <a:ext cx="9091613" cy="5114925"/>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5363" name="Text Box 2"/>
          <p:cNvSpPr txBox="1">
            <a:spLocks noChangeArrowheads="1"/>
          </p:cNvSpPr>
          <p:nvPr/>
        </p:nvSpPr>
        <p:spPr bwMode="auto">
          <a:xfrm>
            <a:off x="532448" y="6481922"/>
            <a:ext cx="4259580" cy="61407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2199955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1"/>
          <p:cNvSpPr txBox="1">
            <a:spLocks noGrp="1" noRot="1" noChangeAspect="1" noChangeArrowheads="1" noTextEdit="1"/>
          </p:cNvSpPr>
          <p:nvPr>
            <p:ph type="sldImg"/>
          </p:nvPr>
        </p:nvSpPr>
        <p:spPr>
          <a:xfrm>
            <a:off x="-1882775" y="1039813"/>
            <a:ext cx="9091613" cy="5114925"/>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7411" name="Text Box 2"/>
          <p:cNvSpPr txBox="1">
            <a:spLocks noChangeArrowheads="1"/>
          </p:cNvSpPr>
          <p:nvPr/>
        </p:nvSpPr>
        <p:spPr bwMode="auto">
          <a:xfrm>
            <a:off x="532448" y="6481922"/>
            <a:ext cx="4259580" cy="61407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1917438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1"/>
          <p:cNvSpPr txBox="1">
            <a:spLocks noGrp="1" noRot="1" noChangeAspect="1" noChangeArrowheads="1" noTextEdit="1"/>
          </p:cNvSpPr>
          <p:nvPr>
            <p:ph type="sldImg"/>
          </p:nvPr>
        </p:nvSpPr>
        <p:spPr>
          <a:xfrm>
            <a:off x="-21153438" y="-17606963"/>
            <a:ext cx="33148588" cy="186467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9459" name="Text Box 2"/>
          <p:cNvSpPr txBox="1">
            <a:spLocks noChangeArrowheads="1"/>
          </p:cNvSpPr>
          <p:nvPr/>
        </p:nvSpPr>
        <p:spPr bwMode="auto">
          <a:xfrm>
            <a:off x="532448" y="6481926"/>
            <a:ext cx="4258348" cy="6138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2296993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1"/>
          <p:cNvSpPr txBox="1">
            <a:spLocks noGrp="1" noRot="1" noChangeAspect="1" noChangeArrowheads="1" noTextEdit="1"/>
          </p:cNvSpPr>
          <p:nvPr>
            <p:ph type="sldImg"/>
          </p:nvPr>
        </p:nvSpPr>
        <p:spPr>
          <a:xfrm>
            <a:off x="-21153438" y="-17606963"/>
            <a:ext cx="33148588" cy="186467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7" name="Text Box 2"/>
          <p:cNvSpPr txBox="1">
            <a:spLocks noChangeArrowheads="1"/>
          </p:cNvSpPr>
          <p:nvPr/>
        </p:nvSpPr>
        <p:spPr bwMode="auto">
          <a:xfrm>
            <a:off x="532448" y="6481926"/>
            <a:ext cx="4258348" cy="6138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1762762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1"/>
          <p:cNvSpPr txBox="1">
            <a:spLocks noGrp="1" noRot="1" noChangeAspect="1" noChangeArrowheads="1" noTextEdit="1"/>
          </p:cNvSpPr>
          <p:nvPr>
            <p:ph type="sldImg"/>
          </p:nvPr>
        </p:nvSpPr>
        <p:spPr>
          <a:xfrm>
            <a:off x="-21153438" y="-17606963"/>
            <a:ext cx="33148588" cy="186467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5" name="Text Box 2"/>
          <p:cNvSpPr txBox="1">
            <a:spLocks noChangeArrowheads="1"/>
          </p:cNvSpPr>
          <p:nvPr/>
        </p:nvSpPr>
        <p:spPr bwMode="auto">
          <a:xfrm>
            <a:off x="532448" y="6481926"/>
            <a:ext cx="4258348" cy="6138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13841335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
          <p:cNvSpPr txBox="1">
            <a:spLocks noGrp="1" noRot="1" noChangeAspect="1" noChangeArrowheads="1" noTextEdit="1"/>
          </p:cNvSpPr>
          <p:nvPr>
            <p:ph type="sldImg"/>
          </p:nvPr>
        </p:nvSpPr>
        <p:spPr>
          <a:xfrm>
            <a:off x="-21153438" y="-17606963"/>
            <a:ext cx="33148588" cy="186467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5603" name="Text Box 2"/>
          <p:cNvSpPr txBox="1">
            <a:spLocks noChangeArrowheads="1"/>
          </p:cNvSpPr>
          <p:nvPr/>
        </p:nvSpPr>
        <p:spPr bwMode="auto">
          <a:xfrm>
            <a:off x="532448" y="6481926"/>
            <a:ext cx="4258348" cy="6138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934628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1"/>
          <p:cNvSpPr txBox="1">
            <a:spLocks noGrp="1" noRot="1" noChangeAspect="1" noChangeArrowheads="1" noTextEdit="1"/>
          </p:cNvSpPr>
          <p:nvPr>
            <p:ph type="sldImg"/>
          </p:nvPr>
        </p:nvSpPr>
        <p:spPr>
          <a:xfrm>
            <a:off x="-21153438" y="-17606963"/>
            <a:ext cx="33148588" cy="186467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1" name="Text Box 2"/>
          <p:cNvSpPr txBox="1">
            <a:spLocks noChangeArrowheads="1"/>
          </p:cNvSpPr>
          <p:nvPr/>
        </p:nvSpPr>
        <p:spPr bwMode="auto">
          <a:xfrm>
            <a:off x="532448" y="6481926"/>
            <a:ext cx="4258348" cy="6138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2157388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
          <p:cNvSpPr txBox="1">
            <a:spLocks noGrp="1" noRot="1" noChangeAspect="1" noChangeArrowheads="1" noTextEdit="1"/>
          </p:cNvSpPr>
          <p:nvPr>
            <p:ph type="sldImg"/>
          </p:nvPr>
        </p:nvSpPr>
        <p:spPr>
          <a:xfrm>
            <a:off x="-21153438" y="-17606963"/>
            <a:ext cx="33148588" cy="186467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5603" name="Text Box 2"/>
          <p:cNvSpPr txBox="1">
            <a:spLocks noChangeArrowheads="1"/>
          </p:cNvSpPr>
          <p:nvPr/>
        </p:nvSpPr>
        <p:spPr bwMode="auto">
          <a:xfrm>
            <a:off x="532448" y="6481926"/>
            <a:ext cx="4258348" cy="6138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2762046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1"/>
          <p:cNvSpPr txBox="1">
            <a:spLocks noGrp="1" noRot="1" noChangeAspect="1" noChangeArrowheads="1" noTextEdit="1"/>
          </p:cNvSpPr>
          <p:nvPr>
            <p:ph type="sldImg"/>
          </p:nvPr>
        </p:nvSpPr>
        <p:spPr>
          <a:xfrm>
            <a:off x="-21153438" y="-17606963"/>
            <a:ext cx="33148588" cy="186467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1" name="Text Box 2"/>
          <p:cNvSpPr txBox="1">
            <a:spLocks noChangeArrowheads="1"/>
          </p:cNvSpPr>
          <p:nvPr/>
        </p:nvSpPr>
        <p:spPr bwMode="auto">
          <a:xfrm>
            <a:off x="532448" y="6481926"/>
            <a:ext cx="4258348" cy="6138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1371661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1"/>
          <p:cNvSpPr txBox="1">
            <a:spLocks noGrp="1" noRot="1" noChangeAspect="1" noChangeArrowheads="1" noTextEdit="1"/>
          </p:cNvSpPr>
          <p:nvPr>
            <p:ph type="sldImg"/>
          </p:nvPr>
        </p:nvSpPr>
        <p:spPr>
          <a:xfrm>
            <a:off x="-21153438" y="-17606963"/>
            <a:ext cx="33148588" cy="186467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5603" name="Text Box 2"/>
          <p:cNvSpPr txBox="1">
            <a:spLocks noChangeArrowheads="1"/>
          </p:cNvSpPr>
          <p:nvPr/>
        </p:nvSpPr>
        <p:spPr bwMode="auto">
          <a:xfrm>
            <a:off x="532448" y="6481926"/>
            <a:ext cx="4258348" cy="61383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572497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Rectangle 1"/>
          <p:cNvSpPr txBox="1">
            <a:spLocks noGrp="1" noRot="1" noChangeAspect="1" noChangeArrowheads="1" noTextEdit="1"/>
          </p:cNvSpPr>
          <p:nvPr>
            <p:ph type="sldImg"/>
          </p:nvPr>
        </p:nvSpPr>
        <p:spPr>
          <a:xfrm>
            <a:off x="-21143913" y="-17606963"/>
            <a:ext cx="33124776" cy="186340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4339" name="Rectangle 2"/>
          <p:cNvSpPr txBox="1">
            <a:spLocks noGrp="1" noChangeArrowheads="1"/>
          </p:cNvSpPr>
          <p:nvPr>
            <p:ph type="body" idx="1"/>
          </p:nvPr>
        </p:nvSpPr>
        <p:spPr>
          <a:xfrm>
            <a:off x="532449" y="6481924"/>
            <a:ext cx="4253418" cy="6128923"/>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pt-BR" altLang="pt-BR" dirty="0"/>
          </a:p>
        </p:txBody>
      </p:sp>
    </p:spTree>
    <p:extLst>
      <p:ext uri="{BB962C8B-B14F-4D97-AF65-F5344CB8AC3E}">
        <p14:creationId xmlns:p14="http://schemas.microsoft.com/office/powerpoint/2010/main" val="37498616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1"/>
          <p:cNvSpPr txBox="1">
            <a:spLocks noGrp="1" noRot="1" noChangeAspect="1" noChangeArrowheads="1" noTextEdit="1"/>
          </p:cNvSpPr>
          <p:nvPr>
            <p:ph type="sldImg"/>
          </p:nvPr>
        </p:nvSpPr>
        <p:spPr>
          <a:xfrm>
            <a:off x="-21147088" y="-17606963"/>
            <a:ext cx="33131126" cy="18637251"/>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6387" name="Text Box 2"/>
          <p:cNvSpPr txBox="1">
            <a:spLocks noChangeArrowheads="1"/>
          </p:cNvSpPr>
          <p:nvPr/>
        </p:nvSpPr>
        <p:spPr bwMode="auto">
          <a:xfrm>
            <a:off x="532447" y="6481923"/>
            <a:ext cx="4254650" cy="6131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35295591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242C3D73-F85E-48CC-ADF0-85F45D730EFD}" type="slidenum">
              <a:rPr lang="pt-BR" smtClean="0"/>
              <a:t>51</a:t>
            </a:fld>
            <a:endParaRPr lang="pt-BR" dirty="0"/>
          </a:p>
        </p:txBody>
      </p:sp>
    </p:spTree>
    <p:extLst>
      <p:ext uri="{BB962C8B-B14F-4D97-AF65-F5344CB8AC3E}">
        <p14:creationId xmlns:p14="http://schemas.microsoft.com/office/powerpoint/2010/main" val="1722887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34" name="Rectangle 1"/>
          <p:cNvSpPr txBox="1">
            <a:spLocks noGrp="1" noRot="1" noChangeAspect="1" noChangeArrowheads="1" noTextEdit="1"/>
          </p:cNvSpPr>
          <p:nvPr>
            <p:ph type="sldImg"/>
          </p:nvPr>
        </p:nvSpPr>
        <p:spPr>
          <a:xfrm>
            <a:off x="-21143913" y="-17606963"/>
            <a:ext cx="33124776" cy="186340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8435" name="Rectangle 2"/>
          <p:cNvSpPr txBox="1">
            <a:spLocks noGrp="1" noChangeArrowheads="1"/>
          </p:cNvSpPr>
          <p:nvPr>
            <p:ph type="body" idx="1"/>
          </p:nvPr>
        </p:nvSpPr>
        <p:spPr>
          <a:xfrm>
            <a:off x="532449" y="6481924"/>
            <a:ext cx="4253418" cy="6128923"/>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pt-BR" altLang="pt-BR" dirty="0"/>
          </a:p>
        </p:txBody>
      </p:sp>
    </p:spTree>
    <p:extLst>
      <p:ext uri="{BB962C8B-B14F-4D97-AF65-F5344CB8AC3E}">
        <p14:creationId xmlns:p14="http://schemas.microsoft.com/office/powerpoint/2010/main" val="34030182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482" name="Rectangle 1"/>
          <p:cNvSpPr txBox="1">
            <a:spLocks noGrp="1" noRot="1" noChangeAspect="1" noChangeArrowheads="1" noTextEdit="1"/>
          </p:cNvSpPr>
          <p:nvPr>
            <p:ph type="sldImg"/>
          </p:nvPr>
        </p:nvSpPr>
        <p:spPr>
          <a:xfrm>
            <a:off x="-21147088" y="-17606963"/>
            <a:ext cx="33131126" cy="18637251"/>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3" name="Text Box 2"/>
          <p:cNvSpPr txBox="1">
            <a:spLocks noChangeArrowheads="1"/>
          </p:cNvSpPr>
          <p:nvPr/>
        </p:nvSpPr>
        <p:spPr bwMode="auto">
          <a:xfrm>
            <a:off x="532447" y="6481923"/>
            <a:ext cx="4254650" cy="6131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4787" tIns="47393" rIns="94787" bIns="47393" anchor="ctr"/>
          <a:lstStyle/>
          <a:p>
            <a:pPr>
              <a:buClr>
                <a:srgbClr val="000000"/>
              </a:buClr>
              <a:buSzPct val="100000"/>
              <a:buFont typeface="Times New Roman" panose="02020603050405020304" pitchFamily="18" charset="0"/>
              <a:buNone/>
            </a:pPr>
            <a:endParaRPr lang="pt-BR" altLang="pt-BR" dirty="0"/>
          </a:p>
        </p:txBody>
      </p:sp>
    </p:spTree>
    <p:extLst>
      <p:ext uri="{BB962C8B-B14F-4D97-AF65-F5344CB8AC3E}">
        <p14:creationId xmlns:p14="http://schemas.microsoft.com/office/powerpoint/2010/main" val="1954704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1"/>
          <p:cNvSpPr txBox="1">
            <a:spLocks noGrp="1" noRot="1" noChangeAspect="1" noChangeArrowheads="1" noTextEdit="1"/>
          </p:cNvSpPr>
          <p:nvPr>
            <p:ph type="sldImg"/>
          </p:nvPr>
        </p:nvSpPr>
        <p:spPr>
          <a:xfrm>
            <a:off x="-21143913" y="-17606963"/>
            <a:ext cx="33124776" cy="186340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79" name="Rectangle 2"/>
          <p:cNvSpPr txBox="1">
            <a:spLocks noGrp="1" noChangeArrowheads="1"/>
          </p:cNvSpPr>
          <p:nvPr>
            <p:ph type="body" idx="1"/>
          </p:nvPr>
        </p:nvSpPr>
        <p:spPr>
          <a:xfrm>
            <a:off x="532449" y="6481924"/>
            <a:ext cx="4253418" cy="6128923"/>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pt-BR" altLang="pt-BR" dirty="0"/>
          </a:p>
        </p:txBody>
      </p:sp>
    </p:spTree>
    <p:extLst>
      <p:ext uri="{BB962C8B-B14F-4D97-AF65-F5344CB8AC3E}">
        <p14:creationId xmlns:p14="http://schemas.microsoft.com/office/powerpoint/2010/main" val="15185608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1"/>
          <p:cNvSpPr txBox="1">
            <a:spLocks noGrp="1" noRot="1" noChangeAspect="1" noChangeArrowheads="1" noTextEdit="1"/>
          </p:cNvSpPr>
          <p:nvPr>
            <p:ph type="sldImg"/>
          </p:nvPr>
        </p:nvSpPr>
        <p:spPr>
          <a:xfrm>
            <a:off x="-21143913" y="-17606963"/>
            <a:ext cx="33124776" cy="186340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79" name="Rectangle 2"/>
          <p:cNvSpPr txBox="1">
            <a:spLocks noGrp="1" noChangeArrowheads="1"/>
          </p:cNvSpPr>
          <p:nvPr>
            <p:ph type="body" idx="1"/>
          </p:nvPr>
        </p:nvSpPr>
        <p:spPr>
          <a:xfrm>
            <a:off x="532449" y="6481924"/>
            <a:ext cx="4253418" cy="6128923"/>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pt-BR" altLang="pt-BR" dirty="0"/>
          </a:p>
        </p:txBody>
      </p:sp>
    </p:spTree>
    <p:extLst>
      <p:ext uri="{BB962C8B-B14F-4D97-AF65-F5344CB8AC3E}">
        <p14:creationId xmlns:p14="http://schemas.microsoft.com/office/powerpoint/2010/main" val="10486817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78" name="Rectangle 1"/>
          <p:cNvSpPr txBox="1">
            <a:spLocks noGrp="1" noRot="1" noChangeAspect="1" noChangeArrowheads="1" noTextEdit="1"/>
          </p:cNvSpPr>
          <p:nvPr>
            <p:ph type="sldImg"/>
          </p:nvPr>
        </p:nvSpPr>
        <p:spPr>
          <a:xfrm>
            <a:off x="-21143913" y="-17606963"/>
            <a:ext cx="33124776" cy="186340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79" name="Rectangle 2"/>
          <p:cNvSpPr txBox="1">
            <a:spLocks noGrp="1" noChangeArrowheads="1"/>
          </p:cNvSpPr>
          <p:nvPr>
            <p:ph type="body" idx="1"/>
          </p:nvPr>
        </p:nvSpPr>
        <p:spPr>
          <a:xfrm>
            <a:off x="532449" y="6481924"/>
            <a:ext cx="4253418" cy="6128923"/>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pt-BR" altLang="pt-BR" dirty="0"/>
          </a:p>
        </p:txBody>
      </p:sp>
    </p:spTree>
    <p:extLst>
      <p:ext uri="{BB962C8B-B14F-4D97-AF65-F5344CB8AC3E}">
        <p14:creationId xmlns:p14="http://schemas.microsoft.com/office/powerpoint/2010/main" val="3999570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1"/>
          <p:cNvSpPr txBox="1">
            <a:spLocks noGrp="1" noRot="1" noChangeAspect="1" noChangeArrowheads="1" noTextEdit="1"/>
          </p:cNvSpPr>
          <p:nvPr>
            <p:ph type="sldImg"/>
          </p:nvPr>
        </p:nvSpPr>
        <p:spPr>
          <a:xfrm>
            <a:off x="-21143913" y="-17606963"/>
            <a:ext cx="33124776" cy="18634076"/>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7" name="Rectangle 2"/>
          <p:cNvSpPr txBox="1">
            <a:spLocks noGrp="1" noChangeArrowheads="1"/>
          </p:cNvSpPr>
          <p:nvPr>
            <p:ph type="body" idx="1"/>
          </p:nvPr>
        </p:nvSpPr>
        <p:spPr>
          <a:xfrm>
            <a:off x="532449" y="6481924"/>
            <a:ext cx="4253418" cy="6128923"/>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pt-BR" altLang="pt-BR" dirty="0"/>
          </a:p>
        </p:txBody>
      </p:sp>
    </p:spTree>
    <p:extLst>
      <p:ext uri="{BB962C8B-B14F-4D97-AF65-F5344CB8AC3E}">
        <p14:creationId xmlns:p14="http://schemas.microsoft.com/office/powerpoint/2010/main" val="611276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2564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lide de Título">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3EC2E83D-067F-4F64-E4A4-B4C23CAA451B}"/>
              </a:ext>
            </a:extLst>
          </p:cNvPr>
          <p:cNvSpPr/>
          <p:nvPr userDrawn="1"/>
        </p:nvSpPr>
        <p:spPr>
          <a:xfrm>
            <a:off x="-1" y="0"/>
            <a:ext cx="12222636" cy="6858000"/>
          </a:xfrm>
          <a:prstGeom prst="rect">
            <a:avLst/>
          </a:prstGeom>
          <a:solidFill>
            <a:srgbClr val="0430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22" name="Forma Livre: Forma 21">
            <a:extLst>
              <a:ext uri="{FF2B5EF4-FFF2-40B4-BE49-F238E27FC236}">
                <a16:creationId xmlns:a16="http://schemas.microsoft.com/office/drawing/2014/main" id="{2A281E5C-F26D-590A-2A3E-B616E1B872F3}"/>
              </a:ext>
            </a:extLst>
          </p:cNvPr>
          <p:cNvSpPr/>
          <p:nvPr userDrawn="1"/>
        </p:nvSpPr>
        <p:spPr>
          <a:xfrm>
            <a:off x="6956142" y="477079"/>
            <a:ext cx="1982712" cy="3944707"/>
          </a:xfrm>
          <a:custGeom>
            <a:avLst/>
            <a:gdLst>
              <a:gd name="connsiteX0" fmla="*/ 2413554 w 2422000"/>
              <a:gd name="connsiteY0" fmla="*/ 0 h 4827108"/>
              <a:gd name="connsiteX1" fmla="*/ 2422000 w 2422000"/>
              <a:gd name="connsiteY1" fmla="*/ 427 h 4827108"/>
              <a:gd name="connsiteX2" fmla="*/ 2422000 w 2422000"/>
              <a:gd name="connsiteY2" fmla="*/ 4826682 h 4827108"/>
              <a:gd name="connsiteX3" fmla="*/ 2413554 w 2422000"/>
              <a:gd name="connsiteY3" fmla="*/ 4827108 h 4827108"/>
              <a:gd name="connsiteX4" fmla="*/ 0 w 2422000"/>
              <a:gd name="connsiteY4" fmla="*/ 2413554 h 4827108"/>
              <a:gd name="connsiteX5" fmla="*/ 2413554 w 2422000"/>
              <a:gd name="connsiteY5" fmla="*/ 0 h 4827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2000" h="4827108">
                <a:moveTo>
                  <a:pt x="2413554" y="0"/>
                </a:moveTo>
                <a:lnTo>
                  <a:pt x="2422000" y="427"/>
                </a:lnTo>
                <a:lnTo>
                  <a:pt x="2422000" y="4826682"/>
                </a:lnTo>
                <a:lnTo>
                  <a:pt x="2413554" y="4827108"/>
                </a:lnTo>
                <a:cubicBezTo>
                  <a:pt x="1080585" y="4827108"/>
                  <a:pt x="0" y="3746523"/>
                  <a:pt x="0" y="2413554"/>
                </a:cubicBezTo>
                <a:cubicBezTo>
                  <a:pt x="0" y="1080585"/>
                  <a:pt x="1080585" y="0"/>
                  <a:pt x="2413554" y="0"/>
                </a:cubicBezTo>
                <a:close/>
              </a:path>
            </a:pathLst>
          </a:cu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pic>
        <p:nvPicPr>
          <p:cNvPr id="30" name="Imagem 29" descr="Pessoas andando na areia&#10;&#10;Descrição gerada automaticamente com confiança baixa">
            <a:extLst>
              <a:ext uri="{FF2B5EF4-FFF2-40B4-BE49-F238E27FC236}">
                <a16:creationId xmlns:a16="http://schemas.microsoft.com/office/drawing/2014/main" id="{9D02CA43-BCC5-928C-7333-AABAD2FA5C7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l="34497"/>
          <a:stretch/>
        </p:blipFill>
        <p:spPr>
          <a:xfrm>
            <a:off x="8924339" y="-1"/>
            <a:ext cx="7643929" cy="7779657"/>
          </a:xfrm>
          <a:prstGeom prst="rect">
            <a:avLst/>
          </a:prstGeom>
        </p:spPr>
      </p:pic>
      <p:pic>
        <p:nvPicPr>
          <p:cNvPr id="13" name="Imagem 12">
            <a:extLst>
              <a:ext uri="{FF2B5EF4-FFF2-40B4-BE49-F238E27FC236}">
                <a16:creationId xmlns:a16="http://schemas.microsoft.com/office/drawing/2014/main" id="{6A3807BC-3EBD-BC0B-C2CB-A02DEBE933C9}"/>
              </a:ext>
            </a:extLst>
          </p:cNvPr>
          <p:cNvPicPr>
            <a:picLocks noChangeAspect="1"/>
          </p:cNvPicPr>
          <p:nvPr userDrawn="1"/>
        </p:nvPicPr>
        <p:blipFill>
          <a:blip r:embed="rId3"/>
          <a:srcRect/>
          <a:stretch/>
        </p:blipFill>
        <p:spPr>
          <a:xfrm>
            <a:off x="10068967" y="627099"/>
            <a:ext cx="1444004" cy="199302"/>
          </a:xfrm>
          <a:prstGeom prst="rect">
            <a:avLst/>
          </a:prstGeom>
        </p:spPr>
      </p:pic>
      <p:pic>
        <p:nvPicPr>
          <p:cNvPr id="14" name="Imagem 13">
            <a:extLst>
              <a:ext uri="{FF2B5EF4-FFF2-40B4-BE49-F238E27FC236}">
                <a16:creationId xmlns:a16="http://schemas.microsoft.com/office/drawing/2014/main" id="{BF4B348E-B4BC-0A57-6083-143D57FBFD08}"/>
              </a:ext>
            </a:extLst>
          </p:cNvPr>
          <p:cNvPicPr>
            <a:picLocks noChangeAspect="1"/>
          </p:cNvPicPr>
          <p:nvPr userDrawn="1"/>
        </p:nvPicPr>
        <p:blipFill>
          <a:blip r:embed="rId4"/>
          <a:srcRect/>
          <a:stretch/>
        </p:blipFill>
        <p:spPr>
          <a:xfrm>
            <a:off x="10068967" y="952894"/>
            <a:ext cx="1444005" cy="231643"/>
          </a:xfrm>
          <a:prstGeom prst="rect">
            <a:avLst/>
          </a:prstGeom>
        </p:spPr>
      </p:pic>
      <p:sp>
        <p:nvSpPr>
          <p:cNvPr id="23" name="Forma Livre: Forma 22">
            <a:extLst>
              <a:ext uri="{FF2B5EF4-FFF2-40B4-BE49-F238E27FC236}">
                <a16:creationId xmlns:a16="http://schemas.microsoft.com/office/drawing/2014/main" id="{7A40359D-232F-A17D-2DC0-5F8B8DD26D77}"/>
              </a:ext>
            </a:extLst>
          </p:cNvPr>
          <p:cNvSpPr/>
          <p:nvPr userDrawn="1"/>
        </p:nvSpPr>
        <p:spPr>
          <a:xfrm rot="10800000">
            <a:off x="8929329" y="2449432"/>
            <a:ext cx="1982712" cy="3944707"/>
          </a:xfrm>
          <a:custGeom>
            <a:avLst/>
            <a:gdLst>
              <a:gd name="connsiteX0" fmla="*/ 2413554 w 2422000"/>
              <a:gd name="connsiteY0" fmla="*/ 0 h 4827108"/>
              <a:gd name="connsiteX1" fmla="*/ 2422000 w 2422000"/>
              <a:gd name="connsiteY1" fmla="*/ 427 h 4827108"/>
              <a:gd name="connsiteX2" fmla="*/ 2422000 w 2422000"/>
              <a:gd name="connsiteY2" fmla="*/ 4826682 h 4827108"/>
              <a:gd name="connsiteX3" fmla="*/ 2413554 w 2422000"/>
              <a:gd name="connsiteY3" fmla="*/ 4827108 h 4827108"/>
              <a:gd name="connsiteX4" fmla="*/ 0 w 2422000"/>
              <a:gd name="connsiteY4" fmla="*/ 2413554 h 4827108"/>
              <a:gd name="connsiteX5" fmla="*/ 2413554 w 2422000"/>
              <a:gd name="connsiteY5" fmla="*/ 0 h 4827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2000" h="4827108">
                <a:moveTo>
                  <a:pt x="2413554" y="0"/>
                </a:moveTo>
                <a:lnTo>
                  <a:pt x="2422000" y="427"/>
                </a:lnTo>
                <a:lnTo>
                  <a:pt x="2422000" y="4826682"/>
                </a:lnTo>
                <a:lnTo>
                  <a:pt x="2413554" y="4827108"/>
                </a:lnTo>
                <a:cubicBezTo>
                  <a:pt x="1080585" y="4827108"/>
                  <a:pt x="0" y="3746523"/>
                  <a:pt x="0" y="2413554"/>
                </a:cubicBezTo>
                <a:cubicBezTo>
                  <a:pt x="0" y="1080585"/>
                  <a:pt x="1080585" y="0"/>
                  <a:pt x="2413554" y="0"/>
                </a:cubicBez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dirty="0"/>
          </a:p>
        </p:txBody>
      </p:sp>
      <p:sp>
        <p:nvSpPr>
          <p:cNvPr id="31" name="Forma Livre: Forma 30">
            <a:extLst>
              <a:ext uri="{FF2B5EF4-FFF2-40B4-BE49-F238E27FC236}">
                <a16:creationId xmlns:a16="http://schemas.microsoft.com/office/drawing/2014/main" id="{F472099F-206B-3092-1CA9-94C5E43A3242}"/>
              </a:ext>
            </a:extLst>
          </p:cNvPr>
          <p:cNvSpPr/>
          <p:nvPr userDrawn="1"/>
        </p:nvSpPr>
        <p:spPr>
          <a:xfrm>
            <a:off x="15392136" y="292058"/>
            <a:ext cx="3147747" cy="6262603"/>
          </a:xfrm>
          <a:custGeom>
            <a:avLst/>
            <a:gdLst>
              <a:gd name="connsiteX0" fmla="*/ 2413554 w 2422000"/>
              <a:gd name="connsiteY0" fmla="*/ 0 h 4827108"/>
              <a:gd name="connsiteX1" fmla="*/ 2422000 w 2422000"/>
              <a:gd name="connsiteY1" fmla="*/ 427 h 4827108"/>
              <a:gd name="connsiteX2" fmla="*/ 2422000 w 2422000"/>
              <a:gd name="connsiteY2" fmla="*/ 4826682 h 4827108"/>
              <a:gd name="connsiteX3" fmla="*/ 2413554 w 2422000"/>
              <a:gd name="connsiteY3" fmla="*/ 4827108 h 4827108"/>
              <a:gd name="connsiteX4" fmla="*/ 0 w 2422000"/>
              <a:gd name="connsiteY4" fmla="*/ 2413554 h 4827108"/>
              <a:gd name="connsiteX5" fmla="*/ 2413554 w 2422000"/>
              <a:gd name="connsiteY5" fmla="*/ 0 h 48271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22000" h="4827108">
                <a:moveTo>
                  <a:pt x="2413554" y="0"/>
                </a:moveTo>
                <a:lnTo>
                  <a:pt x="2422000" y="427"/>
                </a:lnTo>
                <a:lnTo>
                  <a:pt x="2422000" y="4826682"/>
                </a:lnTo>
                <a:lnTo>
                  <a:pt x="2413554" y="4827108"/>
                </a:lnTo>
                <a:cubicBezTo>
                  <a:pt x="1080585" y="4827108"/>
                  <a:pt x="0" y="3746523"/>
                  <a:pt x="0" y="2413554"/>
                </a:cubicBezTo>
                <a:cubicBezTo>
                  <a:pt x="0" y="1080585"/>
                  <a:pt x="1080585" y="0"/>
                  <a:pt x="2413554" y="0"/>
                </a:cubicBezTo>
                <a:close/>
              </a:path>
            </a:pathLst>
          </a:cu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Tree>
    <p:extLst>
      <p:ext uri="{BB962C8B-B14F-4D97-AF65-F5344CB8AC3E}">
        <p14:creationId xmlns:p14="http://schemas.microsoft.com/office/powerpoint/2010/main" val="2947401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ítulo 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2564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abeçalho da Seção">
    <p:spTree>
      <p:nvGrpSpPr>
        <p:cNvPr id="1" name=""/>
        <p:cNvGrpSpPr/>
        <p:nvPr/>
      </p:nvGrpSpPr>
      <p:grpSpPr>
        <a:xfrm>
          <a:off x="0" y="0"/>
          <a:ext cx="0" cy="0"/>
          <a:chOff x="0" y="0"/>
          <a:chExt cx="0" cy="0"/>
        </a:xfrm>
      </p:grpSpPr>
      <p:sp>
        <p:nvSpPr>
          <p:cNvPr id="9" name="Retângulo 8">
            <a:extLst>
              <a:ext uri="{FF2B5EF4-FFF2-40B4-BE49-F238E27FC236}">
                <a16:creationId xmlns:a16="http://schemas.microsoft.com/office/drawing/2014/main" id="{B6CD4DFE-1132-2977-1F2E-0AB1C451235C}"/>
              </a:ext>
            </a:extLst>
          </p:cNvPr>
          <p:cNvSpPr/>
          <p:nvPr userDrawn="1"/>
        </p:nvSpPr>
        <p:spPr>
          <a:xfrm flipH="1">
            <a:off x="-6" y="6376143"/>
            <a:ext cx="12191999" cy="48185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 name="Imagem 9" descr="Uma imagem contendo relógio, placar&#10;&#10;Descrição gerada automaticamente">
            <a:extLst>
              <a:ext uri="{FF2B5EF4-FFF2-40B4-BE49-F238E27FC236}">
                <a16:creationId xmlns:a16="http://schemas.microsoft.com/office/drawing/2014/main" id="{70FA2B7C-A357-6C51-8A76-8E59C1918018}"/>
              </a:ext>
            </a:extLst>
          </p:cNvPr>
          <p:cNvPicPr>
            <a:picLocks noChangeAspect="1"/>
          </p:cNvPicPr>
          <p:nvPr userDrawn="1"/>
        </p:nvPicPr>
        <p:blipFill>
          <a:blip r:embed="rId2"/>
          <a:stretch>
            <a:fillRect/>
          </a:stretch>
        </p:blipFill>
        <p:spPr>
          <a:xfrm>
            <a:off x="443380" y="6523788"/>
            <a:ext cx="1104206" cy="152403"/>
          </a:xfrm>
          <a:prstGeom prst="rect">
            <a:avLst/>
          </a:prstGeom>
        </p:spPr>
      </p:pic>
      <p:pic>
        <p:nvPicPr>
          <p:cNvPr id="13" name="Imagem 12" descr="Placa azul com letras brancas em fundo preto&#10;&#10;Descrição gerada automaticamente">
            <a:extLst>
              <a:ext uri="{FF2B5EF4-FFF2-40B4-BE49-F238E27FC236}">
                <a16:creationId xmlns:a16="http://schemas.microsoft.com/office/drawing/2014/main" id="{A7684E8A-4E90-2F03-D2FF-F3D23355E388}"/>
              </a:ext>
            </a:extLst>
          </p:cNvPr>
          <p:cNvPicPr>
            <a:picLocks noChangeAspect="1"/>
          </p:cNvPicPr>
          <p:nvPr userDrawn="1"/>
        </p:nvPicPr>
        <p:blipFill>
          <a:blip r:embed="rId3"/>
          <a:stretch>
            <a:fillRect/>
          </a:stretch>
        </p:blipFill>
        <p:spPr>
          <a:xfrm>
            <a:off x="1723384" y="6523788"/>
            <a:ext cx="1104206" cy="177133"/>
          </a:xfrm>
          <a:prstGeom prst="rect">
            <a:avLst/>
          </a:prstGeom>
        </p:spPr>
      </p:pic>
      <p:sp>
        <p:nvSpPr>
          <p:cNvPr id="14" name="Pizza 13">
            <a:extLst>
              <a:ext uri="{FF2B5EF4-FFF2-40B4-BE49-F238E27FC236}">
                <a16:creationId xmlns:a16="http://schemas.microsoft.com/office/drawing/2014/main" id="{D5B5F3D2-551B-5C40-4431-BB1D12032329}"/>
              </a:ext>
            </a:extLst>
          </p:cNvPr>
          <p:cNvSpPr/>
          <p:nvPr userDrawn="1"/>
        </p:nvSpPr>
        <p:spPr>
          <a:xfrm>
            <a:off x="11536347" y="6307723"/>
            <a:ext cx="368468" cy="368468"/>
          </a:xfrm>
          <a:prstGeom prst="pie">
            <a:avLst>
              <a:gd name="adj1" fmla="val 16200192"/>
              <a:gd name="adj2" fmla="val 5399799"/>
            </a:avLst>
          </a:prstGeom>
          <a:solidFill>
            <a:srgbClr val="5FE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15" name="Pizza 14">
            <a:extLst>
              <a:ext uri="{FF2B5EF4-FFF2-40B4-BE49-F238E27FC236}">
                <a16:creationId xmlns:a16="http://schemas.microsoft.com/office/drawing/2014/main" id="{01965CA8-5F00-52BD-4FD0-958F8199AC56}"/>
              </a:ext>
            </a:extLst>
          </p:cNvPr>
          <p:cNvSpPr/>
          <p:nvPr userDrawn="1"/>
        </p:nvSpPr>
        <p:spPr>
          <a:xfrm>
            <a:off x="11536347" y="6130162"/>
            <a:ext cx="368468" cy="368468"/>
          </a:xfrm>
          <a:prstGeom prst="pie">
            <a:avLst>
              <a:gd name="adj1" fmla="val 5395924"/>
              <a:gd name="adj2" fmla="val 16202197"/>
            </a:avLst>
          </a:prstGeom>
          <a:solidFill>
            <a:srgbClr val="00307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Tree>
    <p:extLst>
      <p:ext uri="{BB962C8B-B14F-4D97-AF65-F5344CB8AC3E}">
        <p14:creationId xmlns:p14="http://schemas.microsoft.com/office/powerpoint/2010/main" val="650532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uas Partes de Conteúdo">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1482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mparação">
    <p:spTree>
      <p:nvGrpSpPr>
        <p:cNvPr id="1" name=""/>
        <p:cNvGrpSpPr/>
        <p:nvPr/>
      </p:nvGrpSpPr>
      <p:grpSpPr>
        <a:xfrm>
          <a:off x="0" y="0"/>
          <a:ext cx="0" cy="0"/>
          <a:chOff x="0" y="0"/>
          <a:chExt cx="0" cy="0"/>
        </a:xfrm>
      </p:grpSpPr>
    </p:spTree>
    <p:extLst>
      <p:ext uri="{BB962C8B-B14F-4D97-AF65-F5344CB8AC3E}">
        <p14:creationId xmlns:p14="http://schemas.microsoft.com/office/powerpoint/2010/main" val="605569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oment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755117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Em br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0055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b="1" spc="0" baseline="0">
                <a:solidFill>
                  <a:srgbClr val="023770"/>
                </a:solidFill>
                <a:latin typeface="+mn-lt"/>
              </a:defRPr>
            </a:lvl1pPr>
          </a:lstStyle>
          <a:p>
            <a:r>
              <a:rPr lang="pt-BR"/>
              <a:t>Clique para editar o título mestre</a:t>
            </a:r>
          </a:p>
        </p:txBody>
      </p:sp>
      <p:sp>
        <p:nvSpPr>
          <p:cNvPr id="3" name="Espaço Reservado para Conteúdo 2"/>
          <p:cNvSpPr>
            <a:spLocks noGrp="1"/>
          </p:cNvSpPr>
          <p:nvPr>
            <p:ph idx="1"/>
          </p:nvPr>
        </p:nvSpPr>
        <p:spPr>
          <a:xfrm>
            <a:off x="5183188" y="987425"/>
            <a:ext cx="6172200" cy="4873625"/>
          </a:xfrm>
        </p:spPr>
        <p:txBody>
          <a:bodyPr/>
          <a:lstStyle>
            <a:lvl1pPr>
              <a:defRPr sz="3200" spc="0" baseline="0">
                <a:solidFill>
                  <a:schemeClr val="tx1">
                    <a:lumMod val="65000"/>
                    <a:lumOff val="35000"/>
                  </a:schemeClr>
                </a:solidFill>
                <a:latin typeface="+mn-lt"/>
              </a:defRPr>
            </a:lvl1pPr>
            <a:lvl2pPr>
              <a:defRPr sz="2800" spc="0" baseline="0">
                <a:solidFill>
                  <a:schemeClr val="tx1">
                    <a:lumMod val="65000"/>
                    <a:lumOff val="35000"/>
                  </a:schemeClr>
                </a:solidFill>
                <a:latin typeface="+mn-lt"/>
              </a:defRPr>
            </a:lvl2pPr>
            <a:lvl3pPr>
              <a:defRPr sz="2400" spc="0" baseline="0">
                <a:solidFill>
                  <a:schemeClr val="tx1">
                    <a:lumMod val="65000"/>
                    <a:lumOff val="35000"/>
                  </a:schemeClr>
                </a:solidFill>
                <a:latin typeface="+mn-lt"/>
              </a:defRPr>
            </a:lvl3pPr>
            <a:lvl4pPr>
              <a:defRPr sz="2000" spc="0" baseline="0">
                <a:solidFill>
                  <a:schemeClr val="tx1">
                    <a:lumMod val="65000"/>
                    <a:lumOff val="35000"/>
                  </a:schemeClr>
                </a:solidFill>
                <a:latin typeface="+mn-lt"/>
              </a:defRPr>
            </a:lvl4pPr>
            <a:lvl5pPr>
              <a:defRPr sz="2000" spc="0" baseline="0">
                <a:solidFill>
                  <a:schemeClr val="tx1">
                    <a:lumMod val="65000"/>
                    <a:lumOff val="35000"/>
                  </a:schemeClr>
                </a:solidFill>
                <a:latin typeface="+mn-lt"/>
              </a:defRPr>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spc="0" baseline="0">
                <a:solidFill>
                  <a:srgbClr val="00B6ED"/>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p:cNvSpPr>
            <a:spLocks noGrp="1"/>
          </p:cNvSpPr>
          <p:nvPr>
            <p:ph type="dt" sz="half" idx="10"/>
          </p:nvPr>
        </p:nvSpPr>
        <p:spPr/>
        <p:txBody>
          <a:bodyPr/>
          <a:lstStyle/>
          <a:p>
            <a:fld id="{6E8A2C6E-6984-46CD-88F4-677310F4BD70}" type="datetimeFigureOut">
              <a:rPr lang="pt-BR" smtClean="0"/>
              <a:t>17/03/2026</a:t>
            </a:fld>
            <a:endParaRPr lang="pt-BR"/>
          </a:p>
        </p:txBody>
      </p:sp>
      <p:sp>
        <p:nvSpPr>
          <p:cNvPr id="6" name="Espaço Reservado para Rodapé 5"/>
          <p:cNvSpPr>
            <a:spLocks noGrp="1"/>
          </p:cNvSpPr>
          <p:nvPr>
            <p:ph type="ftr" sz="quarter" idx="11"/>
          </p:nvPr>
        </p:nvSpPr>
        <p:spPr/>
        <p:txBody>
          <a:bodyPr/>
          <a:lstStyle/>
          <a:p>
            <a:endParaRPr lang="pt-BR"/>
          </a:p>
        </p:txBody>
      </p:sp>
      <p:sp>
        <p:nvSpPr>
          <p:cNvPr id="7" name="Espaço Reservado para Número de Slide 6"/>
          <p:cNvSpPr>
            <a:spLocks noGrp="1"/>
          </p:cNvSpPr>
          <p:nvPr>
            <p:ph type="sldNum" sz="quarter" idx="12"/>
          </p:nvPr>
        </p:nvSpPr>
        <p:spPr/>
        <p:txBody>
          <a:bodyPr/>
          <a:lstStyle/>
          <a:p>
            <a:fld id="{F7B1E4F4-5424-4C94-93CD-C808B591274D}" type="slidenum">
              <a:rPr lang="pt-BR" smtClean="0"/>
              <a:t>‹nº›</a:t>
            </a:fld>
            <a:endParaRPr lang="pt-BR"/>
          </a:p>
        </p:txBody>
      </p:sp>
      <p:pic>
        <p:nvPicPr>
          <p:cNvPr id="9" name="Imagem 8"/>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144" y="6368114"/>
            <a:ext cx="12199144" cy="487769"/>
          </a:xfrm>
          <a:prstGeom prst="rect">
            <a:avLst/>
          </a:prstGeom>
        </p:spPr>
      </p:pic>
      <p:sp>
        <p:nvSpPr>
          <p:cNvPr id="8" name="Retângulo 7">
            <a:extLst>
              <a:ext uri="{FF2B5EF4-FFF2-40B4-BE49-F238E27FC236}">
                <a16:creationId xmlns:a16="http://schemas.microsoft.com/office/drawing/2014/main" id="{3855D2C5-CA9F-D83A-3614-04AF9E660251}"/>
              </a:ext>
            </a:extLst>
          </p:cNvPr>
          <p:cNvSpPr/>
          <p:nvPr userDrawn="1"/>
        </p:nvSpPr>
        <p:spPr>
          <a:xfrm>
            <a:off x="8857672" y="6311900"/>
            <a:ext cx="3334327" cy="5550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descr="Texto&#10;&#10;Descrição gerada automaticamente">
            <a:extLst>
              <a:ext uri="{FF2B5EF4-FFF2-40B4-BE49-F238E27FC236}">
                <a16:creationId xmlns:a16="http://schemas.microsoft.com/office/drawing/2014/main" id="{88AA1E9B-1642-C261-50D3-7676F1BF616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9227880" y="637144"/>
            <a:ext cx="2743200" cy="781523"/>
          </a:xfrm>
          <a:prstGeom prst="rect">
            <a:avLst/>
          </a:prstGeom>
        </p:spPr>
      </p:pic>
      <p:pic>
        <p:nvPicPr>
          <p:cNvPr id="13" name="Imagem 12" descr="Interface gráfica do usuário&#10;&#10;Descrição gerada automaticamente">
            <a:extLst>
              <a:ext uri="{FF2B5EF4-FFF2-40B4-BE49-F238E27FC236}">
                <a16:creationId xmlns:a16="http://schemas.microsoft.com/office/drawing/2014/main" id="{CC53B2CC-D9AE-EF9E-184E-0D0435F2FE4F}"/>
              </a:ext>
            </a:extLst>
          </p:cNvPr>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9307920" y="6148150"/>
            <a:ext cx="2583120" cy="781523"/>
          </a:xfrm>
          <a:prstGeom prst="rect">
            <a:avLst/>
          </a:prstGeom>
        </p:spPr>
      </p:pic>
    </p:spTree>
    <p:extLst>
      <p:ext uri="{BB962C8B-B14F-4D97-AF65-F5344CB8AC3E}">
        <p14:creationId xmlns:p14="http://schemas.microsoft.com/office/powerpoint/2010/main" val="68694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Imagem com Legenda">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3F62B261-32BA-0EEC-99AD-D08FC42A3402}"/>
              </a:ext>
            </a:extLst>
          </p:cNvPr>
          <p:cNvSpPr txBox="1"/>
          <p:nvPr userDrawn="1"/>
        </p:nvSpPr>
        <p:spPr>
          <a:xfrm>
            <a:off x="1273826" y="1056972"/>
            <a:ext cx="6357093" cy="3201197"/>
          </a:xfrm>
          <a:prstGeom prst="rect">
            <a:avLst/>
          </a:prstGeom>
          <a:noFill/>
        </p:spPr>
        <p:txBody>
          <a:bodyPr wrap="square" rtlCol="0">
            <a:spAutoFit/>
          </a:bodyPr>
          <a:lstStyle/>
          <a:p>
            <a:pPr>
              <a:lnSpc>
                <a:spcPts val="6000"/>
              </a:lnSpc>
            </a:pPr>
            <a:r>
              <a:rPr lang="pt-BR" sz="6600" b="1" i="1" dirty="0">
                <a:solidFill>
                  <a:srgbClr val="023770"/>
                </a:solidFill>
                <a:ea typeface="Roboto Black" panose="02000000000000000000" pitchFamily="2" charset="0"/>
              </a:rPr>
              <a:t>Sugestões </a:t>
            </a:r>
          </a:p>
          <a:p>
            <a:pPr>
              <a:lnSpc>
                <a:spcPts val="6000"/>
              </a:lnSpc>
            </a:pPr>
            <a:r>
              <a:rPr lang="pt-BR" sz="6600" b="1" i="1" dirty="0">
                <a:solidFill>
                  <a:srgbClr val="023770"/>
                </a:solidFill>
                <a:ea typeface="Roboto Black" panose="02000000000000000000" pitchFamily="2" charset="0"/>
              </a:rPr>
              <a:t>de projetos e ações para o SEST SENAT? </a:t>
            </a:r>
            <a:endParaRPr lang="pt-BR" sz="6600" i="1" dirty="0">
              <a:solidFill>
                <a:srgbClr val="00B6ED"/>
              </a:solidFill>
              <a:ea typeface="Roboto" panose="02000000000000000000" pitchFamily="2" charset="0"/>
            </a:endParaRPr>
          </a:p>
        </p:txBody>
      </p:sp>
      <p:sp>
        <p:nvSpPr>
          <p:cNvPr id="5" name="Pizza 4">
            <a:extLst>
              <a:ext uri="{FF2B5EF4-FFF2-40B4-BE49-F238E27FC236}">
                <a16:creationId xmlns:a16="http://schemas.microsoft.com/office/drawing/2014/main" id="{6712E14F-FB89-15F5-FDD1-17E1808B07D8}"/>
              </a:ext>
            </a:extLst>
          </p:cNvPr>
          <p:cNvSpPr/>
          <p:nvPr userDrawn="1"/>
        </p:nvSpPr>
        <p:spPr>
          <a:xfrm>
            <a:off x="6629244" y="2968931"/>
            <a:ext cx="4831160" cy="4717573"/>
          </a:xfrm>
          <a:prstGeom prst="pie">
            <a:avLst>
              <a:gd name="adj1" fmla="val 16200192"/>
              <a:gd name="adj2" fmla="val 5399799"/>
            </a:avLst>
          </a:prstGeom>
          <a:solidFill>
            <a:srgbClr val="5FE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sp>
        <p:nvSpPr>
          <p:cNvPr id="39" name="Pizza 38">
            <a:extLst>
              <a:ext uri="{FF2B5EF4-FFF2-40B4-BE49-F238E27FC236}">
                <a16:creationId xmlns:a16="http://schemas.microsoft.com/office/drawing/2014/main" id="{6A91F2D6-31FE-76F1-DB76-9AD4F922F1D9}"/>
              </a:ext>
            </a:extLst>
          </p:cNvPr>
          <p:cNvSpPr/>
          <p:nvPr userDrawn="1"/>
        </p:nvSpPr>
        <p:spPr>
          <a:xfrm>
            <a:off x="197429" y="312569"/>
            <a:ext cx="368468" cy="368468"/>
          </a:xfrm>
          <a:prstGeom prst="pie">
            <a:avLst>
              <a:gd name="adj1" fmla="val 16200192"/>
              <a:gd name="adj2" fmla="val 5399799"/>
            </a:avLst>
          </a:prstGeom>
          <a:solidFill>
            <a:srgbClr val="5FE1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pt-BR" dirty="0">
              <a:solidFill>
                <a:schemeClr val="tx1"/>
              </a:solidFill>
            </a:endParaRPr>
          </a:p>
        </p:txBody>
      </p:sp>
      <p:pic>
        <p:nvPicPr>
          <p:cNvPr id="7" name="Imagem 6" descr="Estação de ônibus&#10;&#10;Descrição gerada automaticamente com confiança média">
            <a:extLst>
              <a:ext uri="{FF2B5EF4-FFF2-40B4-BE49-F238E27FC236}">
                <a16:creationId xmlns:a16="http://schemas.microsoft.com/office/drawing/2014/main" id="{F2982504-A165-9536-DBE8-EB67E3B83B7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14" t="10220" r="34814" b="2761"/>
          <a:stretch/>
        </p:blipFill>
        <p:spPr>
          <a:xfrm>
            <a:off x="6629243" y="727750"/>
            <a:ext cx="4831161" cy="4812019"/>
          </a:xfrm>
          <a:prstGeom prst="pie">
            <a:avLst>
              <a:gd name="adj1" fmla="val 5394905"/>
              <a:gd name="adj2" fmla="val 16200000"/>
            </a:avLst>
          </a:prstGeom>
        </p:spPr>
      </p:pic>
      <p:sp>
        <p:nvSpPr>
          <p:cNvPr id="9" name="CaixaDeTexto 8">
            <a:extLst>
              <a:ext uri="{FF2B5EF4-FFF2-40B4-BE49-F238E27FC236}">
                <a16:creationId xmlns:a16="http://schemas.microsoft.com/office/drawing/2014/main" id="{8A8994B9-1203-F245-CC3B-C9F7CD6AB452}"/>
              </a:ext>
            </a:extLst>
          </p:cNvPr>
          <p:cNvSpPr txBox="1"/>
          <p:nvPr userDrawn="1"/>
        </p:nvSpPr>
        <p:spPr>
          <a:xfrm>
            <a:off x="1273826" y="4815440"/>
            <a:ext cx="2786332" cy="1285737"/>
          </a:xfrm>
          <a:prstGeom prst="rect">
            <a:avLst/>
          </a:prstGeom>
          <a:noFill/>
        </p:spPr>
        <p:txBody>
          <a:bodyPr wrap="square" rtlCol="0">
            <a:spAutoFit/>
          </a:bodyPr>
          <a:lstStyle/>
          <a:p>
            <a:pPr>
              <a:lnSpc>
                <a:spcPts val="3000"/>
              </a:lnSpc>
            </a:pPr>
            <a:r>
              <a:rPr lang="pt-BR" sz="3200" b="1" dirty="0">
                <a:solidFill>
                  <a:srgbClr val="00B0F0"/>
                </a:solidFill>
                <a:ea typeface="Roboto Black" panose="02000000000000000000" pitchFamily="2" charset="0"/>
              </a:rPr>
              <a:t>Entre em contato conosco </a:t>
            </a:r>
          </a:p>
        </p:txBody>
      </p:sp>
      <p:pic>
        <p:nvPicPr>
          <p:cNvPr id="11" name="Imagem 10">
            <a:extLst>
              <a:ext uri="{FF2B5EF4-FFF2-40B4-BE49-F238E27FC236}">
                <a16:creationId xmlns:a16="http://schemas.microsoft.com/office/drawing/2014/main" id="{D9D0EEE2-45B5-F760-6EEE-C76FC4C5ACA2}"/>
              </a:ext>
            </a:extLst>
          </p:cNvPr>
          <p:cNvPicPr>
            <a:picLocks noChangeAspect="1"/>
          </p:cNvPicPr>
          <p:nvPr userDrawn="1"/>
        </p:nvPicPr>
        <p:blipFill>
          <a:blip r:embed="rId3"/>
          <a:stretch>
            <a:fillRect/>
          </a:stretch>
        </p:blipFill>
        <p:spPr>
          <a:xfrm>
            <a:off x="3147426" y="4884136"/>
            <a:ext cx="1088200" cy="1088200"/>
          </a:xfrm>
          <a:prstGeom prst="rect">
            <a:avLst/>
          </a:prstGeom>
        </p:spPr>
      </p:pic>
    </p:spTree>
    <p:extLst>
      <p:ext uri="{BB962C8B-B14F-4D97-AF65-F5344CB8AC3E}">
        <p14:creationId xmlns:p14="http://schemas.microsoft.com/office/powerpoint/2010/main" val="3771923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Imagem com Legenda">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F81DD556-A75A-512C-C6B4-837BA5E89923}"/>
              </a:ext>
            </a:extLst>
          </p:cNvPr>
          <p:cNvSpPr txBox="1"/>
          <p:nvPr userDrawn="1"/>
        </p:nvSpPr>
        <p:spPr>
          <a:xfrm>
            <a:off x="1273826" y="1056972"/>
            <a:ext cx="6357093" cy="3201197"/>
          </a:xfrm>
          <a:prstGeom prst="rect">
            <a:avLst/>
          </a:prstGeom>
          <a:noFill/>
        </p:spPr>
        <p:txBody>
          <a:bodyPr wrap="square" rtlCol="0">
            <a:spAutoFit/>
          </a:bodyPr>
          <a:lstStyle/>
          <a:p>
            <a:pPr>
              <a:lnSpc>
                <a:spcPts val="6000"/>
              </a:lnSpc>
            </a:pPr>
            <a:r>
              <a:rPr lang="pt-BR" sz="6600" b="1" i="1" dirty="0">
                <a:solidFill>
                  <a:srgbClr val="023770"/>
                </a:solidFill>
                <a:ea typeface="Roboto Black" panose="02000000000000000000" pitchFamily="2" charset="0"/>
              </a:rPr>
              <a:t>Sugestões </a:t>
            </a:r>
          </a:p>
          <a:p>
            <a:pPr>
              <a:lnSpc>
                <a:spcPts val="6000"/>
              </a:lnSpc>
            </a:pPr>
            <a:r>
              <a:rPr lang="pt-BR" sz="6600" b="1" i="1" dirty="0">
                <a:solidFill>
                  <a:srgbClr val="023770"/>
                </a:solidFill>
                <a:ea typeface="Roboto Black" panose="02000000000000000000" pitchFamily="2" charset="0"/>
              </a:rPr>
              <a:t>de projetos e ações para o SEST SENAT? </a:t>
            </a:r>
            <a:endParaRPr lang="pt-BR" sz="6600" i="1" dirty="0">
              <a:solidFill>
                <a:srgbClr val="00B6ED"/>
              </a:solidFill>
              <a:ea typeface="Roboto" panose="02000000000000000000" pitchFamily="2" charset="0"/>
            </a:endParaRPr>
          </a:p>
        </p:txBody>
      </p:sp>
      <p:sp>
        <p:nvSpPr>
          <p:cNvPr id="5" name="CaixaDeTexto 4">
            <a:extLst>
              <a:ext uri="{FF2B5EF4-FFF2-40B4-BE49-F238E27FC236}">
                <a16:creationId xmlns:a16="http://schemas.microsoft.com/office/drawing/2014/main" id="{E58C630C-6AE8-BC24-F670-D8856E5EE2F5}"/>
              </a:ext>
            </a:extLst>
          </p:cNvPr>
          <p:cNvSpPr txBox="1"/>
          <p:nvPr userDrawn="1"/>
        </p:nvSpPr>
        <p:spPr>
          <a:xfrm>
            <a:off x="1273826" y="4815440"/>
            <a:ext cx="2786332" cy="1285737"/>
          </a:xfrm>
          <a:prstGeom prst="rect">
            <a:avLst/>
          </a:prstGeom>
          <a:noFill/>
        </p:spPr>
        <p:txBody>
          <a:bodyPr wrap="square" rtlCol="0">
            <a:spAutoFit/>
          </a:bodyPr>
          <a:lstStyle/>
          <a:p>
            <a:pPr>
              <a:lnSpc>
                <a:spcPts val="3000"/>
              </a:lnSpc>
            </a:pPr>
            <a:r>
              <a:rPr lang="pt-BR" sz="3200" b="1" dirty="0">
                <a:solidFill>
                  <a:srgbClr val="00B0F0"/>
                </a:solidFill>
                <a:ea typeface="Roboto Black" panose="02000000000000000000" pitchFamily="2" charset="0"/>
              </a:rPr>
              <a:t>Entre em contato conosco </a:t>
            </a:r>
          </a:p>
        </p:txBody>
      </p:sp>
      <p:pic>
        <p:nvPicPr>
          <p:cNvPr id="2" name="Imagem 1">
            <a:extLst>
              <a:ext uri="{FF2B5EF4-FFF2-40B4-BE49-F238E27FC236}">
                <a16:creationId xmlns:a16="http://schemas.microsoft.com/office/drawing/2014/main" id="{A9680BFA-9321-524F-A0B8-2520C2E66C4D}"/>
              </a:ext>
            </a:extLst>
          </p:cNvPr>
          <p:cNvPicPr>
            <a:picLocks noChangeAspect="1"/>
          </p:cNvPicPr>
          <p:nvPr userDrawn="1"/>
        </p:nvPicPr>
        <p:blipFill>
          <a:blip r:embed="rId2"/>
          <a:stretch>
            <a:fillRect/>
          </a:stretch>
        </p:blipFill>
        <p:spPr>
          <a:xfrm>
            <a:off x="3147426" y="4884136"/>
            <a:ext cx="1088200" cy="1088200"/>
          </a:xfrm>
          <a:prstGeom prst="rect">
            <a:avLst/>
          </a:prstGeom>
        </p:spPr>
      </p:pic>
    </p:spTree>
    <p:extLst>
      <p:ext uri="{BB962C8B-B14F-4D97-AF65-F5344CB8AC3E}">
        <p14:creationId xmlns:p14="http://schemas.microsoft.com/office/powerpoint/2010/main" val="13950279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ítulo e conteúdo">
    <p:spTree>
      <p:nvGrpSpPr>
        <p:cNvPr id="1" name=""/>
        <p:cNvGrpSpPr/>
        <p:nvPr/>
      </p:nvGrpSpPr>
      <p:grpSpPr>
        <a:xfrm>
          <a:off x="0" y="0"/>
          <a:ext cx="0" cy="0"/>
          <a:chOff x="0" y="0"/>
          <a:chExt cx="0" cy="0"/>
        </a:xfrm>
      </p:grpSpPr>
      <p:pic>
        <p:nvPicPr>
          <p:cNvPr id="4" name="Imagem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896601" y="6215063"/>
            <a:ext cx="1200151"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ítulo 1"/>
          <p:cNvSpPr>
            <a:spLocks noGrp="1"/>
          </p:cNvSpPr>
          <p:nvPr>
            <p:ph type="title"/>
          </p:nvPr>
        </p:nvSpPr>
        <p:spPr/>
        <p:txBody>
          <a:bodyPr/>
          <a:lstStyle/>
          <a:p>
            <a:r>
              <a:rPr lang="pt-BR"/>
              <a:t>Clique para editar o título mestre</a:t>
            </a:r>
          </a:p>
        </p:txBody>
      </p:sp>
      <p:sp>
        <p:nvSpPr>
          <p:cNvPr id="3" name="Espaço Reservado para Conteúdo 2"/>
          <p:cNvSpPr>
            <a:spLocks noGrp="1"/>
          </p:cNvSpPr>
          <p:nvPr>
            <p:ph idx="1"/>
          </p:nvPr>
        </p:nvSpPr>
        <p:spPr/>
        <p:txBody>
          <a:bodyPr/>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7"/>
          <p:cNvSpPr>
            <a:spLocks noGrp="1" noChangeArrowheads="1"/>
          </p:cNvSpPr>
          <p:nvPr>
            <p:ph type="dt" sz="half" idx="10"/>
          </p:nvPr>
        </p:nvSpPr>
        <p:spPr/>
        <p:txBody>
          <a:bodyPr/>
          <a:lstStyle>
            <a:lvl1pPr>
              <a:defRPr/>
            </a:lvl1pPr>
          </a:lstStyle>
          <a:p>
            <a:pPr>
              <a:defRPr/>
            </a:pPr>
            <a:endParaRPr lang="pt-BR">
              <a:solidFill>
                <a:srgbClr val="000000"/>
              </a:solidFill>
            </a:endParaRPr>
          </a:p>
        </p:txBody>
      </p:sp>
      <p:sp>
        <p:nvSpPr>
          <p:cNvPr id="6" name="Rectangle 8"/>
          <p:cNvSpPr>
            <a:spLocks noGrp="1" noChangeArrowheads="1"/>
          </p:cNvSpPr>
          <p:nvPr>
            <p:ph type="ftr" sz="quarter" idx="11"/>
          </p:nvPr>
        </p:nvSpPr>
        <p:spPr/>
        <p:txBody>
          <a:bodyPr/>
          <a:lstStyle>
            <a:lvl1pPr>
              <a:defRPr/>
            </a:lvl1pPr>
          </a:lstStyle>
          <a:p>
            <a:pPr>
              <a:defRPr/>
            </a:pPr>
            <a:endParaRPr lang="pt-BR">
              <a:solidFill>
                <a:srgbClr val="000000"/>
              </a:solidFill>
            </a:endParaRPr>
          </a:p>
        </p:txBody>
      </p:sp>
      <p:sp>
        <p:nvSpPr>
          <p:cNvPr id="7" name="Rectangle 9"/>
          <p:cNvSpPr>
            <a:spLocks noGrp="1" noChangeArrowheads="1"/>
          </p:cNvSpPr>
          <p:nvPr>
            <p:ph type="sldNum" sz="quarter" idx="12"/>
          </p:nvPr>
        </p:nvSpPr>
        <p:spPr/>
        <p:txBody>
          <a:bodyPr/>
          <a:lstStyle>
            <a:lvl1pPr>
              <a:defRPr/>
            </a:lvl1pPr>
          </a:lstStyle>
          <a:p>
            <a:pPr>
              <a:defRPr/>
            </a:pPr>
            <a:fld id="{4404EAC8-AECD-4B4B-A2F1-B334BDFC3C1A}" type="slidenum">
              <a:rPr lang="pt-BR" altLang="pt-BR">
                <a:solidFill>
                  <a:srgbClr val="000000"/>
                </a:solidFill>
              </a:rPr>
              <a:pPr>
                <a:defRPr/>
              </a:pPr>
              <a:t>‹nº›</a:t>
            </a:fld>
            <a:endParaRPr lang="pt-BR" altLang="pt-BR">
              <a:solidFill>
                <a:srgbClr val="000000"/>
              </a:solidFill>
            </a:endParaRPr>
          </a:p>
        </p:txBody>
      </p:sp>
    </p:spTree>
    <p:extLst>
      <p:ext uri="{BB962C8B-B14F-4D97-AF65-F5344CB8AC3E}">
        <p14:creationId xmlns:p14="http://schemas.microsoft.com/office/powerpoint/2010/main" val="1353541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8A2C6E-6984-46CD-88F4-677310F4BD70}" type="datetimeFigureOut">
              <a:rPr lang="pt-BR" smtClean="0"/>
              <a:t>17/03/2026</a:t>
            </a:fld>
            <a:endParaRPr lang="pt-BR"/>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B1E4F4-5424-4C94-93CD-C808B591274D}" type="slidenum">
              <a:rPr lang="pt-BR" smtClean="0"/>
              <a:t>‹nº›</a:t>
            </a:fld>
            <a:endParaRPr lang="pt-BR"/>
          </a:p>
        </p:txBody>
      </p:sp>
      <p:sp>
        <p:nvSpPr>
          <p:cNvPr id="8" name="CaixaDeTexto 7">
            <a:extLst>
              <a:ext uri="{FF2B5EF4-FFF2-40B4-BE49-F238E27FC236}">
                <a16:creationId xmlns:a16="http://schemas.microsoft.com/office/drawing/2014/main" id="{968A6900-F983-C2B8-1D50-83413FBB2FEF}"/>
              </a:ext>
            </a:extLst>
          </p:cNvPr>
          <p:cNvSpPr txBox="1"/>
          <p:nvPr userDrawn="1">
            <p:extLst>
              <p:ext uri="{1162E1C5-73C7-4A58-AE30-91384D911F3F}">
                <p184:classification xmlns:p184="http://schemas.microsoft.com/office/powerpoint/2018/4/main" val="ftr"/>
              </p:ext>
            </p:extLst>
          </p:nvPr>
        </p:nvSpPr>
        <p:spPr>
          <a:xfrm>
            <a:off x="63500" y="6672580"/>
            <a:ext cx="5981700" cy="121920"/>
          </a:xfrm>
          <a:prstGeom prst="rect">
            <a:avLst/>
          </a:prstGeom>
        </p:spPr>
        <p:txBody>
          <a:bodyPr horzOverflow="overflow" lIns="0" tIns="0" rIns="0" bIns="0">
            <a:spAutoFit/>
          </a:bodyPr>
          <a:lstStyle/>
          <a:p>
            <a:pPr algn="l"/>
            <a:r>
              <a:rPr lang="pt-BR" sz="800">
                <a:solidFill>
                  <a:srgbClr val="000000"/>
                </a:solidFill>
                <a:latin typeface="Calibri" panose="020F0502020204030204" pitchFamily="34" charset="0"/>
                <a:cs typeface="Calibri" panose="020F0502020204030204" pitchFamily="34" charset="0"/>
              </a:rPr>
              <a:t>Este documento foi classificado como informação externa e pode ser compartilhado com pessoas externas à Organização a quem foi destinado. </a:t>
            </a:r>
          </a:p>
        </p:txBody>
      </p:sp>
    </p:spTree>
    <p:extLst>
      <p:ext uri="{BB962C8B-B14F-4D97-AF65-F5344CB8AC3E}">
        <p14:creationId xmlns:p14="http://schemas.microsoft.com/office/powerpoint/2010/main" val="2089946510"/>
      </p:ext>
    </p:extLst>
  </p:cSld>
  <p:clrMap bg1="lt1" tx1="dk1" bg2="lt2" tx2="dk2" accent1="accent1" accent2="accent2" accent3="accent3" accent4="accent4" accent5="accent5" accent6="accent6" hlink="hlink" folHlink="folHlink"/>
  <p:sldLayoutIdLst>
    <p:sldLayoutId id="2147483661"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18.jfif"/><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19.jfif"/></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p:cNvSpPr>
            <a:spLocks noGrp="1"/>
          </p:cNvSpPr>
          <p:nvPr>
            <p:ph type="ctrTitle" idx="4294967295"/>
          </p:nvPr>
        </p:nvSpPr>
        <p:spPr>
          <a:xfrm>
            <a:off x="1117599" y="2636020"/>
            <a:ext cx="7358385" cy="1528809"/>
          </a:xfrm>
        </p:spPr>
        <p:txBody>
          <a:bodyPr anchor="t">
            <a:normAutofit/>
          </a:bodyPr>
          <a:lstStyle/>
          <a:p>
            <a:pPr algn="l">
              <a:lnSpc>
                <a:spcPct val="100000"/>
              </a:lnSpc>
            </a:pPr>
            <a:r>
              <a:rPr lang="pt-BR" sz="6000" b="1" i="1" dirty="0">
                <a:solidFill>
                  <a:schemeClr val="bg1"/>
                </a:solidFill>
                <a:latin typeface="Calibri" panose="020F0502020204030204" pitchFamily="34" charset="0"/>
                <a:ea typeface="Calibri" panose="020F0502020204030204" pitchFamily="34" charset="0"/>
                <a:cs typeface="Calibri" panose="020F0502020204030204" pitchFamily="34" charset="0"/>
              </a:rPr>
              <a:t>SEST SENAT</a:t>
            </a:r>
            <a:endParaRPr lang="pt-BR" sz="5400" b="1" i="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
        <p:nvSpPr>
          <p:cNvPr id="5" name="Título 1">
            <a:extLst>
              <a:ext uri="{FF2B5EF4-FFF2-40B4-BE49-F238E27FC236}">
                <a16:creationId xmlns:a16="http://schemas.microsoft.com/office/drawing/2014/main" id="{EAD0FF94-628D-B654-DC0E-56F2A6A79275}"/>
              </a:ext>
            </a:extLst>
          </p:cNvPr>
          <p:cNvSpPr txBox="1">
            <a:spLocks/>
          </p:cNvSpPr>
          <p:nvPr/>
        </p:nvSpPr>
        <p:spPr>
          <a:xfrm>
            <a:off x="1117600" y="3524251"/>
            <a:ext cx="7358385" cy="857250"/>
          </a:xfrm>
          <a:prstGeom prst="rect">
            <a:avLst/>
          </a:prstGeom>
        </p:spPr>
        <p:txBody>
          <a:bodyPr vert="horz" lIns="91440" tIns="45720" rIns="91440" bIns="45720" rtlCol="0" anchor="t">
            <a:normAutofit fontScale="97500"/>
          </a:bodyPr>
          <a:lstStyle>
            <a:lvl1pPr algn="ctr" defTabSz="914400" rtl="0" eaLnBrk="1" latinLnBrk="0" hangingPunct="1">
              <a:lnSpc>
                <a:spcPts val="4200"/>
              </a:lnSpc>
              <a:spcBef>
                <a:spcPct val="0"/>
              </a:spcBef>
              <a:buNone/>
              <a:defRPr sz="4800" b="1" kern="1200" spc="-100" baseline="0">
                <a:solidFill>
                  <a:srgbClr val="023770"/>
                </a:solidFill>
                <a:latin typeface="+mn-lt"/>
                <a:ea typeface="+mj-ea"/>
                <a:cs typeface="+mj-cs"/>
              </a:defRPr>
            </a:lvl1pPr>
          </a:lstStyle>
          <a:p>
            <a:pPr algn="l">
              <a:lnSpc>
                <a:spcPct val="80000"/>
              </a:lnSpc>
            </a:pPr>
            <a:r>
              <a:rPr lang="pt-BR" sz="2800" spc="0" dirty="0">
                <a:solidFill>
                  <a:srgbClr val="5FE1FF"/>
                </a:solidFill>
                <a:latin typeface="+mj-lt"/>
                <a:ea typeface="Roboto" panose="02000000000000000000" pitchFamily="2" charset="0"/>
                <a:cs typeface="Roboto" panose="02000000000000000000" pitchFamily="2" charset="0"/>
              </a:rPr>
              <a:t>A serviço do transporte </a:t>
            </a:r>
            <a:br>
              <a:rPr lang="pt-BR" sz="2800" spc="0" dirty="0">
                <a:solidFill>
                  <a:srgbClr val="5FE1FF"/>
                </a:solidFill>
                <a:latin typeface="+mj-lt"/>
                <a:ea typeface="Roboto" panose="02000000000000000000" pitchFamily="2" charset="0"/>
                <a:cs typeface="Roboto" panose="02000000000000000000" pitchFamily="2" charset="0"/>
              </a:rPr>
            </a:br>
            <a:r>
              <a:rPr lang="pt-BR" sz="2800" spc="0" dirty="0">
                <a:solidFill>
                  <a:srgbClr val="5FE1FF"/>
                </a:solidFill>
                <a:latin typeface="+mj-lt"/>
                <a:ea typeface="Roboto" panose="02000000000000000000" pitchFamily="2" charset="0"/>
                <a:cs typeface="Roboto" panose="02000000000000000000" pitchFamily="2" charset="0"/>
              </a:rPr>
              <a:t>e de todos os brasileiros</a:t>
            </a:r>
          </a:p>
        </p:txBody>
      </p:sp>
    </p:spTree>
    <p:extLst>
      <p:ext uri="{BB962C8B-B14F-4D97-AF65-F5344CB8AC3E}">
        <p14:creationId xmlns:p14="http://schemas.microsoft.com/office/powerpoint/2010/main" val="2493299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0" y="92075"/>
            <a:ext cx="10515600" cy="1325563"/>
          </a:xfrm>
        </p:spPr>
        <p:txBody>
          <a:bodyPr>
            <a:normAutofit/>
          </a:bodyPr>
          <a:lstStyle/>
          <a:p>
            <a:r>
              <a:rPr lang="pt-BR" sz="4800" b="1" dirty="0"/>
              <a:t>O que é LEC?</a:t>
            </a:r>
          </a:p>
        </p:txBody>
      </p:sp>
      <p:sp>
        <p:nvSpPr>
          <p:cNvPr id="3" name="Espaço Reservado para Conteúdo 2"/>
          <p:cNvSpPr>
            <a:spLocks noGrp="1"/>
          </p:cNvSpPr>
          <p:nvPr>
            <p:ph idx="4294967295"/>
          </p:nvPr>
        </p:nvSpPr>
        <p:spPr>
          <a:xfrm>
            <a:off x="344488" y="1533525"/>
            <a:ext cx="11847512" cy="4351338"/>
          </a:xfrm>
        </p:spPr>
        <p:txBody>
          <a:bodyPr>
            <a:noAutofit/>
          </a:bodyPr>
          <a:lstStyle/>
          <a:p>
            <a:pPr marL="0" indent="0">
              <a:buNone/>
            </a:pPr>
            <a:r>
              <a:rPr lang="pt-BR" sz="4400" dirty="0"/>
              <a:t>O lote econômico de compras (LEC), é um  modelo matemático que busca determinar a quantidade ideal de compras para minimizar os custos totais da operação.</a:t>
            </a:r>
          </a:p>
          <a:p>
            <a:pPr marL="0" indent="0">
              <a:buNone/>
            </a:pPr>
            <a:r>
              <a:rPr lang="pt-BR" sz="4400" dirty="0"/>
              <a:t>Comprar grandes quantidades pode parecer vantajoso por reduzir a quantidade de pedidos; além disso; há a possibilidade de descontos por quantidades.</a:t>
            </a:r>
          </a:p>
        </p:txBody>
      </p:sp>
    </p:spTree>
    <p:extLst>
      <p:ext uri="{BB962C8B-B14F-4D97-AF65-F5344CB8AC3E}">
        <p14:creationId xmlns:p14="http://schemas.microsoft.com/office/powerpoint/2010/main" val="3516235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ço Reservado para Conteúdo 2"/>
          <p:cNvSpPr>
            <a:spLocks noGrp="1"/>
          </p:cNvSpPr>
          <p:nvPr>
            <p:ph idx="4294967295"/>
          </p:nvPr>
        </p:nvSpPr>
        <p:spPr>
          <a:xfrm>
            <a:off x="0" y="1825625"/>
            <a:ext cx="10515600" cy="4351338"/>
          </a:xfrm>
        </p:spPr>
        <p:txBody>
          <a:bodyPr>
            <a:normAutofit/>
          </a:bodyPr>
          <a:lstStyle/>
          <a:p>
            <a:pPr marL="0" indent="0">
              <a:buNone/>
            </a:pPr>
            <a:r>
              <a:rPr lang="pt-BR" sz="4000" dirty="0"/>
              <a:t>No modelo do LEC, o custo total é obtido da seguinte maneira:</a:t>
            </a:r>
          </a:p>
          <a:p>
            <a:pPr marL="0" indent="0">
              <a:buNone/>
            </a:pPr>
            <a:endParaRPr lang="pt-BR" sz="4000" dirty="0"/>
          </a:p>
          <a:p>
            <a:pPr marL="0" indent="0" algn="ctr">
              <a:buNone/>
            </a:pPr>
            <a:r>
              <a:rPr lang="pt-BR" sz="4000" dirty="0">
                <a:solidFill>
                  <a:srgbClr val="FF0000"/>
                </a:solidFill>
              </a:rPr>
              <a:t>C Total = C materiais + C Pedidos + C estoques</a:t>
            </a:r>
          </a:p>
        </p:txBody>
      </p:sp>
    </p:spTree>
    <p:extLst>
      <p:ext uri="{BB962C8B-B14F-4D97-AF65-F5344CB8AC3E}">
        <p14:creationId xmlns:p14="http://schemas.microsoft.com/office/powerpoint/2010/main" val="3397467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0" y="274638"/>
            <a:ext cx="8229600" cy="357187"/>
          </a:xfrm>
        </p:spPr>
        <p:txBody>
          <a:bodyPr>
            <a:normAutofit fontScale="90000"/>
          </a:bodyPr>
          <a:lstStyle/>
          <a:p>
            <a:pPr algn="l"/>
            <a:r>
              <a:rPr lang="pt-BR" sz="3200" dirty="0"/>
              <a:t>Exemplo:</a:t>
            </a:r>
          </a:p>
        </p:txBody>
      </p:sp>
      <p:sp>
        <p:nvSpPr>
          <p:cNvPr id="3" name="Espaço Reservado para Conteúdo 2"/>
          <p:cNvSpPr>
            <a:spLocks noGrp="1"/>
          </p:cNvSpPr>
          <p:nvPr>
            <p:ph idx="4294967295"/>
          </p:nvPr>
        </p:nvSpPr>
        <p:spPr>
          <a:xfrm>
            <a:off x="6350" y="742950"/>
            <a:ext cx="12185650" cy="5237163"/>
          </a:xfrm>
        </p:spPr>
        <p:txBody>
          <a:bodyPr>
            <a:noAutofit/>
          </a:bodyPr>
          <a:lstStyle/>
          <a:p>
            <a:pPr marL="0" indent="0">
              <a:buNone/>
            </a:pPr>
            <a:r>
              <a:rPr lang="pt-BR" sz="4000" dirty="0"/>
              <a:t>Em uma fábrica de eletrodomésticos, certo componente tem a demanda anual de 20.000 unidades. O custo unitário de compra desse item é de R$ 10,00 e o custo de manutenção de estoque é de 30% ao ano. O custo estimado para realizar um pedido é de R$ 70,00 reais. O fornecedor oferece duas opções de tamanho de lote de compra: 1000 Unidades e 2000 unidades. Qual delas é mais vantajosa?</a:t>
            </a:r>
          </a:p>
          <a:p>
            <a:pPr marL="0" indent="0">
              <a:buNone/>
            </a:pPr>
            <a:r>
              <a:rPr lang="pt-BR" sz="4800" dirty="0"/>
              <a:t> </a:t>
            </a:r>
          </a:p>
        </p:txBody>
      </p:sp>
    </p:spTree>
    <p:extLst>
      <p:ext uri="{BB962C8B-B14F-4D97-AF65-F5344CB8AC3E}">
        <p14:creationId xmlns:p14="http://schemas.microsoft.com/office/powerpoint/2010/main" val="2414335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0" y="109538"/>
            <a:ext cx="8229600" cy="600075"/>
          </a:xfrm>
        </p:spPr>
        <p:txBody>
          <a:bodyPr>
            <a:noAutofit/>
          </a:bodyPr>
          <a:lstStyle/>
          <a:p>
            <a:r>
              <a:rPr lang="pt-BR" sz="5400" dirty="0"/>
              <a:t>Analise do custo de pedidos</a:t>
            </a:r>
          </a:p>
        </p:txBody>
      </p:sp>
      <p:sp>
        <p:nvSpPr>
          <p:cNvPr id="3" name="Espaço Reservado para Conteúdo 2"/>
          <p:cNvSpPr>
            <a:spLocks noGrp="1"/>
          </p:cNvSpPr>
          <p:nvPr>
            <p:ph idx="4294967295"/>
          </p:nvPr>
        </p:nvSpPr>
        <p:spPr>
          <a:xfrm>
            <a:off x="0" y="978678"/>
            <a:ext cx="11711967" cy="5030787"/>
          </a:xfrm>
        </p:spPr>
        <p:txBody>
          <a:bodyPr>
            <a:noAutofit/>
          </a:bodyPr>
          <a:lstStyle/>
          <a:p>
            <a:pPr marL="0" indent="0">
              <a:buNone/>
            </a:pPr>
            <a:r>
              <a:rPr lang="pt-BR" sz="3200" dirty="0"/>
              <a:t>Se comprarmos em lotes de Q= 1000 unidades, faremos 20 pedidos ao ano. Como cada pedido tem o custo de R$ 70,00, o custo de pedido será de R$ 1.400,00 ao ano.</a:t>
            </a:r>
          </a:p>
          <a:p>
            <a:pPr marL="0" indent="0">
              <a:buNone/>
            </a:pPr>
            <a:endParaRPr lang="pt-BR" sz="3200" dirty="0"/>
          </a:p>
          <a:p>
            <a:pPr marL="0" indent="0">
              <a:buNone/>
            </a:pPr>
            <a:r>
              <a:rPr lang="pt-BR" sz="3200" dirty="0"/>
              <a:t>Se comprarmos em lotes de Q= 2000 unidades, faremos 10 pedidos ao ano. Como cada pedido tem o custo de R$  70,00, o custo do pedido será de R$ 700,00 ao ano.</a:t>
            </a:r>
          </a:p>
          <a:p>
            <a:pPr marL="0" indent="0">
              <a:buNone/>
            </a:pPr>
            <a:endParaRPr lang="pt-BR" sz="3200" dirty="0"/>
          </a:p>
          <a:p>
            <a:pPr marL="0" indent="0">
              <a:buNone/>
            </a:pPr>
            <a:endParaRPr lang="pt-BR" sz="3200" dirty="0"/>
          </a:p>
          <a:p>
            <a:pPr marL="0" indent="0">
              <a:buNone/>
            </a:pPr>
            <a:r>
              <a:rPr lang="pt-BR" sz="3200" dirty="0"/>
              <a:t>( Nesse caso parece ser mais vantajoso se comprar os componentes em maior quantidade). </a:t>
            </a:r>
          </a:p>
        </p:txBody>
      </p:sp>
    </p:spTree>
    <p:extLst>
      <p:ext uri="{BB962C8B-B14F-4D97-AF65-F5344CB8AC3E}">
        <p14:creationId xmlns:p14="http://schemas.microsoft.com/office/powerpoint/2010/main" val="2565798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0" y="265113"/>
            <a:ext cx="8229600" cy="446087"/>
          </a:xfrm>
        </p:spPr>
        <p:txBody>
          <a:bodyPr>
            <a:noAutofit/>
          </a:bodyPr>
          <a:lstStyle/>
          <a:p>
            <a:r>
              <a:rPr lang="pt-BR" sz="4800" dirty="0"/>
              <a:t>Analise dos custos com estoque</a:t>
            </a:r>
          </a:p>
        </p:txBody>
      </p:sp>
      <p:pic>
        <p:nvPicPr>
          <p:cNvPr id="6" name="Espaço Reservado para Conteúdo 5"/>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320675" y="1244600"/>
            <a:ext cx="11871325" cy="478631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87318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0" y="274638"/>
            <a:ext cx="8229600" cy="511175"/>
          </a:xfrm>
        </p:spPr>
        <p:txBody>
          <a:bodyPr>
            <a:normAutofit fontScale="90000"/>
          </a:bodyPr>
          <a:lstStyle/>
          <a:p>
            <a:r>
              <a:rPr lang="pt-BR" sz="3600" dirty="0"/>
              <a:t>Continuando... </a:t>
            </a:r>
            <a:r>
              <a:rPr lang="pt-BR" sz="2000" dirty="0"/>
              <a:t>Exemplo de análise de custos em estoque</a:t>
            </a:r>
          </a:p>
        </p:txBody>
      </p:sp>
      <p:sp>
        <p:nvSpPr>
          <p:cNvPr id="3" name="Espaço Reservado para Conteúdo 2"/>
          <p:cNvSpPr>
            <a:spLocks noGrp="1"/>
          </p:cNvSpPr>
          <p:nvPr>
            <p:ph idx="4294967295"/>
          </p:nvPr>
        </p:nvSpPr>
        <p:spPr>
          <a:xfrm>
            <a:off x="-1" y="1312863"/>
            <a:ext cx="11984477" cy="5018087"/>
          </a:xfrm>
        </p:spPr>
        <p:txBody>
          <a:bodyPr/>
          <a:lstStyle/>
          <a:p>
            <a:pPr marL="0" indent="0">
              <a:buNone/>
            </a:pPr>
            <a:r>
              <a:rPr lang="pt-BR" dirty="0"/>
              <a:t>O custo unitário de peça é </a:t>
            </a:r>
            <a:r>
              <a:rPr lang="pt-BR" dirty="0">
                <a:solidFill>
                  <a:srgbClr val="FF0000"/>
                </a:solidFill>
              </a:rPr>
              <a:t>C = 10,00</a:t>
            </a:r>
            <a:r>
              <a:rPr lang="pt-BR" dirty="0"/>
              <a:t>, e o custo de manutenção de estoques é </a:t>
            </a:r>
            <a:r>
              <a:rPr lang="pt-BR" dirty="0">
                <a:solidFill>
                  <a:srgbClr val="FF0000"/>
                </a:solidFill>
              </a:rPr>
              <a:t>M = 0,3 </a:t>
            </a:r>
            <a:r>
              <a:rPr lang="pt-BR" sz="1800" dirty="0"/>
              <a:t>(30% ao ano).</a:t>
            </a:r>
          </a:p>
          <a:p>
            <a:pPr marL="0" indent="0">
              <a:buNone/>
            </a:pPr>
            <a:endParaRPr lang="pt-BR" sz="1800" dirty="0"/>
          </a:p>
          <a:p>
            <a:pPr marL="0" indent="0">
              <a:buNone/>
            </a:pPr>
            <a:r>
              <a:rPr lang="pt-BR" sz="2000" dirty="0"/>
              <a:t>O custo para manter </a:t>
            </a:r>
            <a:r>
              <a:rPr lang="pt-BR" sz="2000" dirty="0">
                <a:solidFill>
                  <a:srgbClr val="00B050"/>
                </a:solidFill>
              </a:rPr>
              <a:t>uma peça </a:t>
            </a:r>
            <a:r>
              <a:rPr lang="pt-BR" sz="2000" dirty="0"/>
              <a:t>em estoque por </a:t>
            </a:r>
            <a:r>
              <a:rPr lang="pt-BR" sz="2000" dirty="0">
                <a:solidFill>
                  <a:srgbClr val="00B050"/>
                </a:solidFill>
              </a:rPr>
              <a:t>um ano </a:t>
            </a:r>
            <a:r>
              <a:rPr lang="pt-BR" sz="2000" dirty="0"/>
              <a:t>é M x C = 3,00 por peça.</a:t>
            </a:r>
          </a:p>
          <a:p>
            <a:pPr marL="0" indent="0">
              <a:buNone/>
            </a:pPr>
            <a:endParaRPr lang="pt-BR" sz="2000" dirty="0"/>
          </a:p>
          <a:p>
            <a:pPr marL="0" indent="0">
              <a:buNone/>
            </a:pPr>
            <a:endParaRPr lang="pt-BR" sz="2000" dirty="0"/>
          </a:p>
        </p:txBody>
      </p:sp>
      <p:pic>
        <p:nvPicPr>
          <p:cNvPr id="1028" name="Picture 4" descr="Resultado de imagem para custo total = custo de materiais + custos de pedid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1726" y="3233021"/>
            <a:ext cx="8363800" cy="2990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8481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0" y="-63500"/>
            <a:ext cx="10515600" cy="1325563"/>
          </a:xfrm>
        </p:spPr>
        <p:txBody>
          <a:bodyPr/>
          <a:lstStyle/>
          <a:p>
            <a:pPr algn="l"/>
            <a:r>
              <a:rPr lang="pt-BR" sz="3600" dirty="0"/>
              <a:t>Análise de custos com materiais</a:t>
            </a:r>
          </a:p>
        </p:txBody>
      </p:sp>
      <p:sp>
        <p:nvSpPr>
          <p:cNvPr id="3" name="Espaço Reservado para Conteúdo 2"/>
          <p:cNvSpPr>
            <a:spLocks noGrp="1"/>
          </p:cNvSpPr>
          <p:nvPr>
            <p:ph idx="4294967295"/>
          </p:nvPr>
        </p:nvSpPr>
        <p:spPr>
          <a:xfrm>
            <a:off x="419100" y="979488"/>
            <a:ext cx="11772900" cy="4864100"/>
          </a:xfrm>
        </p:spPr>
        <p:txBody>
          <a:bodyPr/>
          <a:lstStyle/>
          <a:p>
            <a:pPr marL="0" indent="0">
              <a:buNone/>
            </a:pPr>
            <a:r>
              <a:rPr lang="pt-BR" dirty="0"/>
              <a:t>Nesse exemplo não há descontos por quantidades, portanto o custo com materiais permanece o mesmo independente do lote de compras a ser escolhido.</a:t>
            </a:r>
          </a:p>
          <a:p>
            <a:pPr marL="0" indent="0">
              <a:buNone/>
            </a:pPr>
            <a:endParaRPr lang="pt-BR" dirty="0"/>
          </a:p>
          <a:p>
            <a:pPr marL="0" indent="0">
              <a:buNone/>
            </a:pPr>
            <a:r>
              <a:rPr lang="pt-BR" dirty="0"/>
              <a:t>C materiais = D x C = 20.000 x 10 = 200.000</a:t>
            </a:r>
          </a:p>
          <a:p>
            <a:pPr marL="0" indent="0">
              <a:buNone/>
            </a:pPr>
            <a:r>
              <a:rPr lang="pt-BR" dirty="0"/>
              <a:t>Síntese dos Resultados:</a:t>
            </a:r>
          </a:p>
          <a:p>
            <a:pPr marL="0" indent="0">
              <a:buNone/>
            </a:pPr>
            <a:endParaRPr lang="pt-BR" sz="2000" dirty="0"/>
          </a:p>
          <a:p>
            <a:pPr marL="0" indent="0">
              <a:buNone/>
            </a:pPr>
            <a:endParaRPr lang="pt-BR" sz="2000" dirty="0"/>
          </a:p>
        </p:txBody>
      </p:sp>
      <p:pic>
        <p:nvPicPr>
          <p:cNvPr id="4" name="Imagem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2576" y="3654654"/>
            <a:ext cx="7804597" cy="2189407"/>
          </a:xfrm>
          <a:prstGeom prst="rect">
            <a:avLst/>
          </a:prstGeom>
        </p:spPr>
      </p:pic>
    </p:spTree>
    <p:extLst>
      <p:ext uri="{BB962C8B-B14F-4D97-AF65-F5344CB8AC3E}">
        <p14:creationId xmlns:p14="http://schemas.microsoft.com/office/powerpoint/2010/main" val="2362766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ítulo 1"/>
          <p:cNvSpPr>
            <a:spLocks noGrp="1"/>
          </p:cNvSpPr>
          <p:nvPr>
            <p:ph type="title" idx="4294967295"/>
          </p:nvPr>
        </p:nvSpPr>
        <p:spPr>
          <a:xfrm>
            <a:off x="0" y="177800"/>
            <a:ext cx="8229600" cy="544513"/>
          </a:xfrm>
        </p:spPr>
        <p:txBody>
          <a:bodyPr>
            <a:normAutofit fontScale="90000"/>
          </a:bodyPr>
          <a:lstStyle/>
          <a:p>
            <a:r>
              <a:rPr lang="pt-BR" dirty="0"/>
              <a:t>Exercícios</a:t>
            </a:r>
          </a:p>
        </p:txBody>
      </p:sp>
      <p:sp>
        <p:nvSpPr>
          <p:cNvPr id="3" name="Espaço Reservado para Conteúdo 2"/>
          <p:cNvSpPr>
            <a:spLocks noGrp="1"/>
          </p:cNvSpPr>
          <p:nvPr>
            <p:ph idx="4294967295"/>
          </p:nvPr>
        </p:nvSpPr>
        <p:spPr>
          <a:xfrm>
            <a:off x="204788" y="882650"/>
            <a:ext cx="11987212" cy="5116513"/>
          </a:xfrm>
        </p:spPr>
        <p:txBody>
          <a:bodyPr>
            <a:noAutofit/>
          </a:bodyPr>
          <a:lstStyle/>
          <a:p>
            <a:pPr marL="0" indent="0">
              <a:buNone/>
            </a:pPr>
            <a:r>
              <a:rPr lang="pt-BR" sz="4400" dirty="0"/>
              <a:t>Em uma fábrica de parafusos, certo modelo de parafuso tem a demanda anual de 30.000 unidades. O custo unitário de compra desse item é de R$ 12,00 e o custo de manutenção de estoque é de 20% ao ano. O custo estimado para realizar um pedido é de R$ 50,00 reais. O fornecedor oferece duas opções de tamanho de lote de compra: 2000 Unidades e 3000 unidades. Qual delas é mais vantajosa?</a:t>
            </a:r>
          </a:p>
        </p:txBody>
      </p:sp>
    </p:spTree>
    <p:extLst>
      <p:ext uri="{BB962C8B-B14F-4D97-AF65-F5344CB8AC3E}">
        <p14:creationId xmlns:p14="http://schemas.microsoft.com/office/powerpoint/2010/main" val="3026493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ço Reservado para Conteúdo 2"/>
          <p:cNvSpPr>
            <a:spLocks noGrp="1"/>
          </p:cNvSpPr>
          <p:nvPr>
            <p:ph idx="4294967295"/>
          </p:nvPr>
        </p:nvSpPr>
        <p:spPr>
          <a:xfrm>
            <a:off x="341313" y="766763"/>
            <a:ext cx="11850687" cy="5103812"/>
          </a:xfrm>
        </p:spPr>
        <p:txBody>
          <a:bodyPr/>
          <a:lstStyle/>
          <a:p>
            <a:pPr marL="0" indent="0">
              <a:buNone/>
            </a:pPr>
            <a:r>
              <a:rPr lang="pt-BR" sz="4000" dirty="0"/>
              <a:t>Em uma fábrica de controles de televisores, certo modelo de controle tem a demanda anual de 60.000 unidades. O custo unitário de compra desse item é de R$ 22,00 e o custo de manutenção de estoque é de 30% ao ano. O custo estimado para realizar um pedido é de R$ 80,00 reais. O fornecedor oferece duas opções de tamanho de lote de compra: 4000 Unidades e 6000 unidades. Qual delas é mais vantajosa?</a:t>
            </a:r>
          </a:p>
          <a:p>
            <a:pPr marL="0" indent="0">
              <a:buNone/>
            </a:pPr>
            <a:endParaRPr lang="pt-BR" dirty="0"/>
          </a:p>
        </p:txBody>
      </p:sp>
    </p:spTree>
    <p:extLst>
      <p:ext uri="{BB962C8B-B14F-4D97-AF65-F5344CB8AC3E}">
        <p14:creationId xmlns:p14="http://schemas.microsoft.com/office/powerpoint/2010/main" val="3887936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ço Reservado para Conteúdo 2"/>
          <p:cNvSpPr>
            <a:spLocks noGrp="1"/>
          </p:cNvSpPr>
          <p:nvPr>
            <p:ph idx="4294967295"/>
          </p:nvPr>
        </p:nvSpPr>
        <p:spPr>
          <a:xfrm>
            <a:off x="419100" y="1001713"/>
            <a:ext cx="11772900" cy="5143500"/>
          </a:xfrm>
        </p:spPr>
        <p:txBody>
          <a:bodyPr/>
          <a:lstStyle/>
          <a:p>
            <a:pPr marL="0" indent="0">
              <a:buNone/>
            </a:pPr>
            <a:r>
              <a:rPr lang="pt-BR" sz="4000" dirty="0"/>
              <a:t>Em uma fábrica de pivôs de direção, certo modelo de pivô tem a demanda anual de 40.000 unidades. O custo unitário de compra desse item é de R$ 33,00 e o custo de manutenção de estoque é de 25% ao ano. O custo estimado para realizar um pedido é de R$ 70,00 reais. O fornecedor oferece duas opções de tamanho de lote de compra: 1000 Unidades e 2000 unidades. Qual delas é mais vantajosa?</a:t>
            </a:r>
          </a:p>
          <a:p>
            <a:pPr marL="0" indent="0">
              <a:buNone/>
            </a:pPr>
            <a:endParaRPr lang="pt-BR" dirty="0"/>
          </a:p>
        </p:txBody>
      </p:sp>
    </p:spTree>
    <p:extLst>
      <p:ext uri="{BB962C8B-B14F-4D97-AF65-F5344CB8AC3E}">
        <p14:creationId xmlns:p14="http://schemas.microsoft.com/office/powerpoint/2010/main" val="1601924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ço Reservado para Conteúdo 2"/>
          <p:cNvSpPr>
            <a:spLocks noGrp="1"/>
          </p:cNvSpPr>
          <p:nvPr>
            <p:ph idx="4294967295"/>
          </p:nvPr>
        </p:nvSpPr>
        <p:spPr>
          <a:xfrm>
            <a:off x="277813" y="1806575"/>
            <a:ext cx="11914187" cy="4351338"/>
          </a:xfrm>
        </p:spPr>
        <p:txBody>
          <a:bodyPr>
            <a:normAutofit lnSpcReduction="10000"/>
          </a:bodyPr>
          <a:lstStyle/>
          <a:p>
            <a:pPr marL="0" indent="0">
              <a:buNone/>
            </a:pPr>
            <a:r>
              <a:rPr lang="pt-BR" sz="4000" dirty="0"/>
              <a:t>Em uma fábrica de componentes para </a:t>
            </a:r>
            <a:r>
              <a:rPr lang="pt-BR" sz="4000" dirty="0" err="1"/>
              <a:t>Tv</a:t>
            </a:r>
            <a:r>
              <a:rPr lang="pt-BR" sz="4000" dirty="0"/>
              <a:t>, certo componente tem a demanda anual de 55.000 unidades. O custo unitário de compra desse item é de R$ 15,00 e o custo de manutenção de estoque é de 35% ao ano. O custo estimado para realizar um pedido é de R$ 40,00 reais. O fornecedor oferece duas opções de tamanho de lote de compra: 5000 Unidades e 6000 unidades. Qual delas é mais vantajosa?</a:t>
            </a:r>
          </a:p>
          <a:p>
            <a:pPr marL="0" indent="0">
              <a:buNone/>
            </a:pPr>
            <a:endParaRPr lang="pt-BR" dirty="0"/>
          </a:p>
        </p:txBody>
      </p:sp>
    </p:spTree>
    <p:extLst>
      <p:ext uri="{BB962C8B-B14F-4D97-AF65-F5344CB8AC3E}">
        <p14:creationId xmlns:p14="http://schemas.microsoft.com/office/powerpoint/2010/main" val="19779851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ço Reservado para Conteúdo 2"/>
          <p:cNvSpPr>
            <a:spLocks noGrp="1"/>
          </p:cNvSpPr>
          <p:nvPr>
            <p:ph idx="4294967295"/>
          </p:nvPr>
        </p:nvSpPr>
        <p:spPr>
          <a:xfrm>
            <a:off x="84138" y="1490663"/>
            <a:ext cx="12107862" cy="5132387"/>
          </a:xfrm>
        </p:spPr>
        <p:txBody>
          <a:bodyPr/>
          <a:lstStyle/>
          <a:p>
            <a:pPr marL="0" indent="0">
              <a:buNone/>
            </a:pPr>
            <a:r>
              <a:rPr lang="pt-BR" sz="4000" dirty="0"/>
              <a:t>Em uma fábrica de componentes para computador, certo componente tem a demanda anual de 28.000 unidades. O custo unitário de compra desse item é de R$ 60,00 e o custo de manutenção de estoque é de 25% ao ano. O custo estimado para realizar um pedido é de R$ 20,00 reais. O fornecedor oferece duas opções de tamanho de lote de compra: 4350 Unidades e 6300 unidades. Qual delas é mais vantajosa?</a:t>
            </a:r>
          </a:p>
          <a:p>
            <a:pPr marL="0" indent="0">
              <a:buNone/>
            </a:pPr>
            <a:endParaRPr lang="pt-BR" dirty="0"/>
          </a:p>
        </p:txBody>
      </p:sp>
    </p:spTree>
    <p:extLst>
      <p:ext uri="{BB962C8B-B14F-4D97-AF65-F5344CB8AC3E}">
        <p14:creationId xmlns:p14="http://schemas.microsoft.com/office/powerpoint/2010/main" val="3027288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ço Reservado para Conteúdo 2"/>
          <p:cNvSpPr>
            <a:spLocks noGrp="1"/>
          </p:cNvSpPr>
          <p:nvPr>
            <p:ph idx="4294967295"/>
          </p:nvPr>
        </p:nvSpPr>
        <p:spPr>
          <a:xfrm>
            <a:off x="292100" y="1163638"/>
            <a:ext cx="11899900" cy="5118100"/>
          </a:xfrm>
        </p:spPr>
        <p:txBody>
          <a:bodyPr/>
          <a:lstStyle/>
          <a:p>
            <a:pPr marL="0" indent="0">
              <a:buNone/>
            </a:pPr>
            <a:r>
              <a:rPr lang="pt-BR" sz="4000" dirty="0"/>
              <a:t>Em uma fábrica de pinos de freio, certo modelo de pino de freio tem a demanda anual de 40.000 unidades. O custo unitário de compra desse item é de R$ 13,00 e o custo de manutenção de estoque é de 20% ao ano. O custo estimado para realizar um pedido é de R$ 40,00 reais. O fornecedor oferece duas opções de tamanho de lote de compra: 2000 Unidades e 3000 unidades. Qual delas é mais vantajosa?</a:t>
            </a:r>
          </a:p>
          <a:p>
            <a:pPr marL="0" indent="0">
              <a:buNone/>
            </a:pPr>
            <a:endParaRPr lang="pt-BR" dirty="0"/>
          </a:p>
        </p:txBody>
      </p:sp>
    </p:spTree>
    <p:extLst>
      <p:ext uri="{BB962C8B-B14F-4D97-AF65-F5344CB8AC3E}">
        <p14:creationId xmlns:p14="http://schemas.microsoft.com/office/powerpoint/2010/main" val="30052237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1514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aixaDeTexto 1"/>
          <p:cNvSpPr txBox="1"/>
          <p:nvPr/>
        </p:nvSpPr>
        <p:spPr>
          <a:xfrm>
            <a:off x="2020213" y="3446118"/>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3" name="CaixaDeTexto 2"/>
          <p:cNvSpPr txBox="1"/>
          <p:nvPr/>
        </p:nvSpPr>
        <p:spPr>
          <a:xfrm>
            <a:off x="2020213" y="2562198"/>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ATIVIDADES DE COMPRAS</a:t>
            </a:r>
          </a:p>
        </p:txBody>
      </p:sp>
    </p:spTree>
    <p:extLst>
      <p:ext uri="{BB962C8B-B14F-4D97-AF65-F5344CB8AC3E}">
        <p14:creationId xmlns:p14="http://schemas.microsoft.com/office/powerpoint/2010/main" val="351886272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1015284" y="1962815"/>
            <a:ext cx="10161431" cy="4247317"/>
          </a:xfrm>
          <a:prstGeom prst="rect">
            <a:avLst/>
          </a:prstGeom>
          <a:noFill/>
        </p:spPr>
        <p:txBody>
          <a:bodyPr wrap="square" rtlCol="0">
            <a:spAutoFit/>
          </a:bodyPr>
          <a:lstStyle/>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O QUE É ESTOQUE</a:t>
            </a:r>
            <a:r>
              <a:rPr lang="pt-BR" sz="2000" dirty="0">
                <a:solidFill>
                  <a:schemeClr val="accent6"/>
                </a:solidFill>
                <a:latin typeface="Lucida Sans Unicode" panose="020B0602030504020204" pitchFamily="34" charset="0"/>
                <a:cs typeface="Lucida Sans Unicode" panose="020B0602030504020204" pitchFamily="34" charset="0"/>
              </a:rPr>
              <a:t>? </a:t>
            </a:r>
          </a:p>
          <a:p>
            <a:pPr algn="just">
              <a:lnSpc>
                <a:spcPct val="150000"/>
              </a:lnSpc>
            </a:pPr>
            <a:r>
              <a:rPr lang="pt-BR" sz="2000" dirty="0">
                <a:solidFill>
                  <a:schemeClr val="accent6"/>
                </a:solidFill>
                <a:latin typeface="Lucida Sans Unicode" panose="020B0602030504020204" pitchFamily="34" charset="0"/>
                <a:cs typeface="Lucida Sans Unicode" panose="020B0602030504020204" pitchFamily="34" charset="0"/>
              </a:rPr>
              <a:t>Acumulação armazenada de recursos materiais em uma empresa,  ou seja, é qualquer recurso que pertence a uma organização, que por algum motivo, está armazenado. </a:t>
            </a:r>
          </a:p>
          <a:p>
            <a:pPr algn="just">
              <a:lnSpc>
                <a:spcPct val="150000"/>
              </a:lnSpc>
            </a:pPr>
            <a:endParaRPr lang="pt-BR" sz="2000" dirty="0">
              <a:solidFill>
                <a:schemeClr val="accent6"/>
              </a:solidFill>
              <a:latin typeface="Lucida Sans Unicode" panose="020B0602030504020204" pitchFamily="34" charset="0"/>
              <a:cs typeface="Lucida Sans Unicode" panose="020B0602030504020204" pitchFamily="34" charset="0"/>
            </a:endParaRPr>
          </a:p>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O QUE É ARMAZENAGEM</a:t>
            </a:r>
            <a:r>
              <a:rPr lang="pt-BR" sz="2000" dirty="0">
                <a:solidFill>
                  <a:schemeClr val="accent6"/>
                </a:solidFill>
                <a:latin typeface="Lucida Sans Unicode" panose="020B0602030504020204" pitchFamily="34" charset="0"/>
                <a:cs typeface="Lucida Sans Unicode" panose="020B0602030504020204" pitchFamily="34" charset="0"/>
              </a:rPr>
              <a:t>?</a:t>
            </a:r>
          </a:p>
          <a:p>
            <a:pPr algn="just">
              <a:lnSpc>
                <a:spcPct val="150000"/>
              </a:lnSpc>
            </a:pPr>
            <a:r>
              <a:rPr lang="pt-BR" sz="2000" dirty="0">
                <a:solidFill>
                  <a:schemeClr val="accent6"/>
                </a:solidFill>
                <a:latin typeface="Lucida Sans Unicode" panose="020B0602030504020204" pitchFamily="34" charset="0"/>
                <a:cs typeface="Lucida Sans Unicode" panose="020B0602030504020204" pitchFamily="34" charset="0"/>
              </a:rPr>
              <a:t>Refere-se ao espaço físico, às condições de temperatura, ventilação, iluminação em que o estoque se localiza. </a:t>
            </a:r>
          </a:p>
          <a:p>
            <a:pPr algn="just">
              <a:lnSpc>
                <a:spcPct val="150000"/>
              </a:lnSpc>
            </a:pPr>
            <a:endParaRPr lang="pt-BR" sz="2000" dirty="0">
              <a:solidFill>
                <a:schemeClr val="accent6"/>
              </a:solidFill>
              <a:latin typeface="Lucida Sans Unicode" panose="020B0602030504020204" pitchFamily="34" charset="0"/>
              <a:cs typeface="Lucida Sans Unicode" panose="020B0602030504020204" pitchFamily="34" charset="0"/>
            </a:endParaRPr>
          </a:p>
        </p:txBody>
      </p:sp>
      <p:sp>
        <p:nvSpPr>
          <p:cNvPr id="4" name="Título 1"/>
          <p:cNvSpPr txBox="1">
            <a:spLocks/>
          </p:cNvSpPr>
          <p:nvPr/>
        </p:nvSpPr>
        <p:spPr>
          <a:xfrm>
            <a:off x="3296071" y="1179571"/>
            <a:ext cx="5599859" cy="40356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Helvetica" panose="020B0604020202020204" pitchFamily="34" charset="0"/>
                <a:ea typeface="+mj-ea"/>
                <a:cs typeface="Helvetica" panose="020B0604020202020204" pitchFamily="34" charset="0"/>
              </a:defRPr>
            </a:lvl1p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CaixaDeTexto 4"/>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ATIVIDADES DE COMPRAS</a:t>
            </a:r>
          </a:p>
        </p:txBody>
      </p:sp>
    </p:spTree>
    <p:extLst>
      <p:ext uri="{BB962C8B-B14F-4D97-AF65-F5344CB8AC3E}">
        <p14:creationId xmlns:p14="http://schemas.microsoft.com/office/powerpoint/2010/main" val="4091801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669704" y="2416798"/>
            <a:ext cx="4893970" cy="3831818"/>
          </a:xfrm>
          <a:prstGeom prst="rect">
            <a:avLst/>
          </a:prstGeom>
          <a:noFill/>
        </p:spPr>
        <p:txBody>
          <a:bodyPr wrap="square" rtlCol="0">
            <a:spAutoFit/>
          </a:bodyPr>
          <a:lstStyle/>
          <a:p>
            <a:pPr algn="just">
              <a:lnSpc>
                <a:spcPct val="150000"/>
              </a:lnSpc>
            </a:pPr>
            <a:r>
              <a:rPr lang="pt-BR" b="1" dirty="0">
                <a:solidFill>
                  <a:schemeClr val="accent6"/>
                </a:solidFill>
                <a:latin typeface="Lucida Sans Unicode" panose="020B0602030504020204" pitchFamily="34" charset="0"/>
                <a:cs typeface="Lucida Sans Unicode" panose="020B0602030504020204" pitchFamily="34" charset="0"/>
              </a:rPr>
              <a:t>VANTAGENS</a:t>
            </a:r>
          </a:p>
          <a:p>
            <a:pPr marL="342900" indent="-342900" algn="just">
              <a:lnSpc>
                <a:spcPct val="150000"/>
              </a:lnSpc>
              <a:buFont typeface="Wingdings" panose="05000000000000000000" pitchFamily="2" charset="2"/>
              <a:buChar char="q"/>
            </a:pPr>
            <a:r>
              <a:rPr lang="pt-BR" dirty="0">
                <a:solidFill>
                  <a:schemeClr val="accent6"/>
                </a:solidFill>
                <a:latin typeface="Lucida Sans Unicode" panose="020B0602030504020204" pitchFamily="34" charset="0"/>
                <a:cs typeface="Lucida Sans Unicode" panose="020B0602030504020204" pitchFamily="34" charset="0"/>
              </a:rPr>
              <a:t>Economia de custos de transporte;</a:t>
            </a:r>
          </a:p>
          <a:p>
            <a:pPr marL="342900" indent="-342900" algn="just">
              <a:lnSpc>
                <a:spcPct val="150000"/>
              </a:lnSpc>
              <a:buFont typeface="Wingdings" panose="05000000000000000000" pitchFamily="2" charset="2"/>
              <a:buChar char="q"/>
            </a:pPr>
            <a:r>
              <a:rPr lang="pt-BR" dirty="0">
                <a:solidFill>
                  <a:schemeClr val="accent6"/>
                </a:solidFill>
                <a:latin typeface="Lucida Sans Unicode" panose="020B0602030504020204" pitchFamily="34" charset="0"/>
                <a:cs typeface="Lucida Sans Unicode" panose="020B0602030504020204" pitchFamily="34" charset="0"/>
              </a:rPr>
              <a:t>Disponibilidade de produtos;</a:t>
            </a:r>
          </a:p>
          <a:p>
            <a:pPr marL="342900" indent="-342900" algn="just">
              <a:lnSpc>
                <a:spcPct val="150000"/>
              </a:lnSpc>
              <a:buFont typeface="Wingdings" panose="05000000000000000000" pitchFamily="2" charset="2"/>
              <a:buChar char="q"/>
            </a:pPr>
            <a:r>
              <a:rPr lang="pt-BR" dirty="0">
                <a:solidFill>
                  <a:schemeClr val="accent6"/>
                </a:solidFill>
                <a:latin typeface="Lucida Sans Unicode" panose="020B0602030504020204" pitchFamily="34" charset="0"/>
                <a:cs typeface="Lucida Sans Unicode" panose="020B0602030504020204" pitchFamily="34" charset="0"/>
              </a:rPr>
              <a:t>Descontos em lotes de compra;</a:t>
            </a:r>
          </a:p>
          <a:p>
            <a:pPr marL="342900" indent="-342900" algn="just">
              <a:lnSpc>
                <a:spcPct val="150000"/>
              </a:lnSpc>
              <a:buFont typeface="Wingdings" panose="05000000000000000000" pitchFamily="2" charset="2"/>
              <a:buChar char="q"/>
            </a:pPr>
            <a:r>
              <a:rPr lang="pt-BR" dirty="0">
                <a:solidFill>
                  <a:schemeClr val="accent6"/>
                </a:solidFill>
                <a:latin typeface="Lucida Sans Unicode" panose="020B0602030504020204" pitchFamily="34" charset="0"/>
                <a:cs typeface="Lucida Sans Unicode" panose="020B0602030504020204" pitchFamily="34" charset="0"/>
              </a:rPr>
              <a:t>Redução de incertezas quanto ao prazo de entrega;</a:t>
            </a:r>
          </a:p>
          <a:p>
            <a:pPr marL="342900" indent="-342900" algn="just">
              <a:lnSpc>
                <a:spcPct val="150000"/>
              </a:lnSpc>
              <a:buFont typeface="Wingdings" panose="05000000000000000000" pitchFamily="2" charset="2"/>
              <a:buChar char="q"/>
            </a:pPr>
            <a:r>
              <a:rPr lang="pt-BR" dirty="0">
                <a:solidFill>
                  <a:schemeClr val="accent6"/>
                </a:solidFill>
                <a:latin typeface="Lucida Sans Unicode" panose="020B0602030504020204" pitchFamily="34" charset="0"/>
                <a:cs typeface="Lucida Sans Unicode" panose="020B0602030504020204" pitchFamily="34" charset="0"/>
              </a:rPr>
              <a:t>Prevenção de riscos (catástrofes naturais, greves, aumento imprevisto na demanda).</a:t>
            </a:r>
          </a:p>
        </p:txBody>
      </p:sp>
      <p:sp>
        <p:nvSpPr>
          <p:cNvPr id="2" name="Retângulo 1"/>
          <p:cNvSpPr/>
          <p:nvPr/>
        </p:nvSpPr>
        <p:spPr>
          <a:xfrm>
            <a:off x="6452315" y="2412364"/>
            <a:ext cx="5190187" cy="3797193"/>
          </a:xfrm>
          <a:prstGeom prst="rect">
            <a:avLst/>
          </a:prstGeom>
          <a:noFill/>
        </p:spPr>
        <p:txBody>
          <a:bodyPr wrap="square" rtlCol="0">
            <a:spAutoFit/>
          </a:bodyPr>
          <a:lstStyle/>
          <a:p>
            <a:pPr algn="just">
              <a:lnSpc>
                <a:spcPct val="150000"/>
              </a:lnSpc>
            </a:pPr>
            <a:r>
              <a:rPr lang="pt-BR" b="1" dirty="0">
                <a:solidFill>
                  <a:schemeClr val="accent6"/>
                </a:solidFill>
                <a:latin typeface="Lucida Sans Unicode" panose="020B0602030504020204" pitchFamily="34" charset="0"/>
                <a:cs typeface="Lucida Sans Unicode" panose="020B0602030504020204" pitchFamily="34" charset="0"/>
              </a:rPr>
              <a:t>DESVANTAGENS</a:t>
            </a:r>
          </a:p>
          <a:p>
            <a:pPr marL="342900" indent="-342900" algn="just">
              <a:lnSpc>
                <a:spcPct val="150000"/>
              </a:lnSpc>
              <a:buFont typeface="Wingdings" panose="05000000000000000000" pitchFamily="2" charset="2"/>
              <a:buChar char="q"/>
            </a:pPr>
            <a:r>
              <a:rPr lang="pt-BR" dirty="0">
                <a:solidFill>
                  <a:schemeClr val="accent6"/>
                </a:solidFill>
                <a:latin typeface="Lucida Sans Unicode" panose="020B0602030504020204" pitchFamily="34" charset="0"/>
                <a:cs typeface="Lucida Sans Unicode" panose="020B0602030504020204" pitchFamily="34" charset="0"/>
              </a:rPr>
              <a:t>Aumento de custos de manutenção de estoque (luz, aluguel, ventilação, avarias);</a:t>
            </a:r>
          </a:p>
          <a:p>
            <a:pPr marL="342900" indent="-342900" algn="just">
              <a:lnSpc>
                <a:spcPct val="150000"/>
              </a:lnSpc>
              <a:buFont typeface="Wingdings" panose="05000000000000000000" pitchFamily="2" charset="2"/>
              <a:buChar char="q"/>
            </a:pPr>
            <a:r>
              <a:rPr lang="pt-BR" dirty="0">
                <a:solidFill>
                  <a:schemeClr val="accent6"/>
                </a:solidFill>
                <a:latin typeface="Lucida Sans Unicode" panose="020B0602030504020204" pitchFamily="34" charset="0"/>
                <a:cs typeface="Lucida Sans Unicode" panose="020B0602030504020204" pitchFamily="34" charset="0"/>
              </a:rPr>
              <a:t>Absorção de capitais que poderiam ser investidos em outras áreas;</a:t>
            </a:r>
          </a:p>
          <a:p>
            <a:pPr marL="342900" indent="-342900" algn="just">
              <a:lnSpc>
                <a:spcPct val="150000"/>
              </a:lnSpc>
              <a:buFont typeface="Wingdings" panose="05000000000000000000" pitchFamily="2" charset="2"/>
              <a:buChar char="q"/>
            </a:pPr>
            <a:r>
              <a:rPr lang="pt-BR" dirty="0">
                <a:solidFill>
                  <a:schemeClr val="accent6"/>
                </a:solidFill>
                <a:latin typeface="Lucida Sans Unicode" panose="020B0602030504020204" pitchFamily="34" charset="0"/>
                <a:cs typeface="Lucida Sans Unicode" panose="020B0602030504020204" pitchFamily="34" charset="0"/>
              </a:rPr>
              <a:t>A manutenção de estoques visa quantidade e não qualidade;</a:t>
            </a:r>
          </a:p>
          <a:p>
            <a:pPr marL="342900" indent="-342900" algn="just">
              <a:lnSpc>
                <a:spcPct val="150000"/>
              </a:lnSpc>
              <a:buFont typeface="Wingdings" panose="05000000000000000000" pitchFamily="2" charset="2"/>
              <a:buChar char="q"/>
            </a:pPr>
            <a:r>
              <a:rPr lang="pt-BR" dirty="0">
                <a:solidFill>
                  <a:schemeClr val="accent6"/>
                </a:solidFill>
                <a:latin typeface="Lucida Sans Unicode" panose="020B0602030504020204" pitchFamily="34" charset="0"/>
                <a:cs typeface="Lucida Sans Unicode" panose="020B0602030504020204" pitchFamily="34" charset="0"/>
              </a:rPr>
              <a:t>Redução da integração e estreitamento das relações com o fornecedor. </a:t>
            </a:r>
          </a:p>
        </p:txBody>
      </p:sp>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Título 1"/>
          <p:cNvSpPr txBox="1">
            <a:spLocks/>
          </p:cNvSpPr>
          <p:nvPr/>
        </p:nvSpPr>
        <p:spPr>
          <a:xfrm>
            <a:off x="3296068" y="1834746"/>
            <a:ext cx="5599859" cy="403569"/>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Helvetica" panose="020B0604020202020204" pitchFamily="34" charset="0"/>
                <a:ea typeface="+mj-ea"/>
                <a:cs typeface="Helvetica" panose="020B0604020202020204" pitchFamily="34" charset="0"/>
              </a:defRPr>
            </a:lvl1p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POR QUE MANTER ESTOQUES ?</a:t>
            </a:r>
          </a:p>
        </p:txBody>
      </p:sp>
      <p:sp>
        <p:nvSpPr>
          <p:cNvPr id="6" name="Retângulo 5"/>
          <p:cNvSpPr/>
          <p:nvPr/>
        </p:nvSpPr>
        <p:spPr>
          <a:xfrm>
            <a:off x="5154875" y="1203465"/>
            <a:ext cx="1882247" cy="461665"/>
          </a:xfrm>
          <a:prstGeom prst="rect">
            <a:avLst/>
          </a:prstGeom>
        </p:spPr>
        <p:txBody>
          <a:bodyPr wrap="none">
            <a:spAutoFit/>
          </a:bodyPr>
          <a:lstStyle/>
          <a:p>
            <a:pPr algn="ctr"/>
            <a:r>
              <a:rPr lang="pt-BR" sz="2400" b="1" dirty="0">
                <a:solidFill>
                  <a:srgbClr val="FF0000"/>
                </a:solidFill>
                <a:latin typeface="Lucida Sans Unicode" panose="020B0602030504020204" pitchFamily="34" charset="0"/>
                <a:cs typeface="Lucida Sans Unicode" panose="020B0602030504020204" pitchFamily="34" charset="0"/>
              </a:rPr>
              <a:t>DISCUSSÃO</a:t>
            </a:r>
            <a:endParaRPr lang="pt-BR" sz="2400" dirty="0">
              <a:solidFill>
                <a:srgbClr val="FF0000"/>
              </a:solidFill>
            </a:endParaRPr>
          </a:p>
        </p:txBody>
      </p:sp>
    </p:spTree>
    <p:extLst>
      <p:ext uri="{BB962C8B-B14F-4D97-AF65-F5344CB8AC3E}">
        <p14:creationId xmlns:p14="http://schemas.microsoft.com/office/powerpoint/2010/main" val="2083621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1000"/>
                                        <p:tgtEl>
                                          <p:spTgt spid="2"/>
                                        </p:tgtEl>
                                      </p:cBhvr>
                                    </p:animEffect>
                                    <p:anim calcmode="lin" valueType="num">
                                      <p:cBhvr>
                                        <p:cTn id="27" dur="1000" fill="hold"/>
                                        <p:tgtEl>
                                          <p:spTgt spid="2"/>
                                        </p:tgtEl>
                                        <p:attrNameLst>
                                          <p:attrName>ppt_x</p:attrName>
                                        </p:attrNameLst>
                                      </p:cBhvr>
                                      <p:tavLst>
                                        <p:tav tm="0">
                                          <p:val>
                                            <p:strVal val="#ppt_x"/>
                                          </p:val>
                                        </p:tav>
                                        <p:tav tm="100000">
                                          <p:val>
                                            <p:strVal val="#ppt_x"/>
                                          </p:val>
                                        </p:tav>
                                      </p:tavLst>
                                    </p:anim>
                                    <p:anim calcmode="lin" valueType="num">
                                      <p:cBhvr>
                                        <p:cTn id="2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5"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1055999" y="2099257"/>
            <a:ext cx="10080000" cy="3785652"/>
          </a:xfrm>
          <a:prstGeom prst="rect">
            <a:avLst/>
          </a:prstGeom>
          <a:noFill/>
        </p:spPr>
        <p:txBody>
          <a:bodyPr wrap="square" rtlCol="0">
            <a:spAutoFit/>
          </a:bodyPr>
          <a:lstStyle/>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Estoques de matérias-primas e componentes comprados</a:t>
            </a:r>
            <a:r>
              <a:rPr lang="pt-BR" sz="2000" dirty="0">
                <a:solidFill>
                  <a:schemeClr val="accent6"/>
                </a:solidFill>
                <a:latin typeface="Lucida Sans Unicode" panose="020B0602030504020204" pitchFamily="34" charset="0"/>
                <a:cs typeface="Lucida Sans Unicode" panose="020B0602030504020204" pitchFamily="34" charset="0"/>
              </a:rPr>
              <a:t>: quantidades de itens adquiridos pela organização na expectativa de transformá-los, porém ainda não o fez. Ou seja, são insumos que serão trabalhados dentro de uma cadeia de operações para a fabricação de um produto final do processo.</a:t>
            </a:r>
          </a:p>
          <a:p>
            <a:pPr algn="just">
              <a:lnSpc>
                <a:spcPct val="150000"/>
              </a:lnSpc>
            </a:pPr>
            <a:endParaRPr lang="pt-BR" sz="2000" dirty="0">
              <a:solidFill>
                <a:schemeClr val="accent6"/>
              </a:solidFill>
              <a:latin typeface="Lucida Sans Unicode" panose="020B0602030504020204" pitchFamily="34" charset="0"/>
              <a:cs typeface="Lucida Sans Unicode" panose="020B0602030504020204" pitchFamily="34" charset="0"/>
            </a:endParaRPr>
          </a:p>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Estoques de material em processo</a:t>
            </a:r>
            <a:r>
              <a:rPr lang="pt-BR" sz="2000" dirty="0">
                <a:solidFill>
                  <a:schemeClr val="accent6"/>
                </a:solidFill>
                <a:latin typeface="Lucida Sans Unicode" panose="020B0602030504020204" pitchFamily="34" charset="0"/>
                <a:cs typeface="Lucida Sans Unicode" panose="020B0602030504020204" pitchFamily="34" charset="0"/>
              </a:rPr>
              <a:t>: quantidade de itens adquiridos que já sofreram algum tipo de transformação, porém não se encontram prontos para a venda, mas no estágio de semiacabado.</a:t>
            </a:r>
          </a:p>
        </p:txBody>
      </p:sp>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Retângulo 4"/>
          <p:cNvSpPr/>
          <p:nvPr/>
        </p:nvSpPr>
        <p:spPr>
          <a:xfrm>
            <a:off x="4822253" y="947114"/>
            <a:ext cx="2547493" cy="515526"/>
          </a:xfrm>
          <a:prstGeom prst="rect">
            <a:avLst/>
          </a:prstGeom>
        </p:spPr>
        <p:txBody>
          <a:bodyPr wrap="none">
            <a:spAutoFit/>
          </a:bodyPr>
          <a:lstStyle/>
          <a:p>
            <a:pPr algn="ctr">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TIPOS DE ESTOQUE</a:t>
            </a:r>
          </a:p>
        </p:txBody>
      </p:sp>
    </p:spTree>
    <p:extLst>
      <p:ext uri="{BB962C8B-B14F-4D97-AF65-F5344CB8AC3E}">
        <p14:creationId xmlns:p14="http://schemas.microsoft.com/office/powerpoint/2010/main" val="40123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1055999" y="1790164"/>
            <a:ext cx="10080000" cy="4247317"/>
          </a:xfrm>
          <a:prstGeom prst="rect">
            <a:avLst/>
          </a:prstGeom>
          <a:noFill/>
        </p:spPr>
        <p:txBody>
          <a:bodyPr wrap="square" rtlCol="0">
            <a:spAutoFit/>
          </a:bodyPr>
          <a:lstStyle/>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Estoques de produtos acabados</a:t>
            </a:r>
            <a:r>
              <a:rPr lang="pt-BR" sz="2000" dirty="0">
                <a:solidFill>
                  <a:schemeClr val="accent6"/>
                </a:solidFill>
                <a:latin typeface="Lucida Sans Unicode" panose="020B0602030504020204" pitchFamily="34" charset="0"/>
                <a:cs typeface="Lucida Sans Unicode" panose="020B0602030504020204" pitchFamily="34" charset="0"/>
              </a:rPr>
              <a:t>: é o estoque do resultado final da produção, representado pela quantidade de itens de produto acabado prontos para comercialização.</a:t>
            </a:r>
          </a:p>
          <a:p>
            <a:pPr algn="just">
              <a:lnSpc>
                <a:spcPct val="150000"/>
              </a:lnSpc>
            </a:pPr>
            <a:endParaRPr lang="pt-BR" sz="2000" dirty="0">
              <a:solidFill>
                <a:schemeClr val="accent6"/>
              </a:solidFill>
              <a:latin typeface="Lucida Sans Unicode" panose="020B0602030504020204" pitchFamily="34" charset="0"/>
              <a:cs typeface="Lucida Sans Unicode" panose="020B0602030504020204" pitchFamily="34" charset="0"/>
            </a:endParaRPr>
          </a:p>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Estoques de materiais para MRO </a:t>
            </a:r>
            <a:r>
              <a:rPr lang="pt-BR" sz="2000" dirty="0">
                <a:solidFill>
                  <a:schemeClr val="accent6"/>
                </a:solidFill>
                <a:latin typeface="Lucida Sans Unicode" panose="020B0602030504020204" pitchFamily="34" charset="0"/>
                <a:cs typeface="Lucida Sans Unicode" panose="020B0602030504020204" pitchFamily="34" charset="0"/>
              </a:rPr>
              <a:t>(</a:t>
            </a:r>
            <a:r>
              <a:rPr lang="pt-BR" sz="2000" b="1" dirty="0">
                <a:solidFill>
                  <a:schemeClr val="accent6"/>
                </a:solidFill>
                <a:latin typeface="Lucida Sans Unicode" panose="020B0602030504020204" pitchFamily="34" charset="0"/>
                <a:cs typeface="Lucida Sans Unicode" panose="020B0602030504020204" pitchFamily="34" charset="0"/>
              </a:rPr>
              <a:t>manutenção, reparo e operação</a:t>
            </a:r>
            <a:r>
              <a:rPr lang="pt-BR" sz="2000" dirty="0">
                <a:solidFill>
                  <a:schemeClr val="accent6"/>
                </a:solidFill>
                <a:latin typeface="Lucida Sans Unicode" panose="020B0602030504020204" pitchFamily="34" charset="0"/>
                <a:cs typeface="Lucida Sans Unicode" panose="020B0602030504020204" pitchFamily="34" charset="0"/>
              </a:rPr>
              <a:t>): são quantidades de itens adquiridos pela operação, com intuito de apoiar a atividade de produção. Ou seja, são aqueles materiais que não são destinados à produção diretamente, embora alguns possam ser imprescindíveis ao processo de fabricação.</a:t>
            </a:r>
          </a:p>
        </p:txBody>
      </p:sp>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2" name="Retângulo 1"/>
          <p:cNvSpPr/>
          <p:nvPr/>
        </p:nvSpPr>
        <p:spPr>
          <a:xfrm>
            <a:off x="4822253" y="947114"/>
            <a:ext cx="2547493" cy="515526"/>
          </a:xfrm>
          <a:prstGeom prst="rect">
            <a:avLst/>
          </a:prstGeom>
        </p:spPr>
        <p:txBody>
          <a:bodyPr wrap="none">
            <a:spAutoFit/>
          </a:bodyPr>
          <a:lstStyle/>
          <a:p>
            <a:pPr algn="ctr">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TIPOS DE ESTOQUE</a:t>
            </a:r>
          </a:p>
        </p:txBody>
      </p:sp>
    </p:spTree>
    <p:extLst>
      <p:ext uri="{BB962C8B-B14F-4D97-AF65-F5344CB8AC3E}">
        <p14:creationId xmlns:p14="http://schemas.microsoft.com/office/powerpoint/2010/main" val="1942613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pic>
        <p:nvPicPr>
          <p:cNvPr id="6" name="Imagem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296" y="993060"/>
            <a:ext cx="10747408" cy="4891324"/>
          </a:xfrm>
          <a:prstGeom prst="rect">
            <a:avLst/>
          </a:prstGeom>
        </p:spPr>
      </p:pic>
    </p:spTree>
    <p:extLst>
      <p:ext uri="{BB962C8B-B14F-4D97-AF65-F5344CB8AC3E}">
        <p14:creationId xmlns:p14="http://schemas.microsoft.com/office/powerpoint/2010/main" val="938321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876000" y="1983347"/>
            <a:ext cx="10440000" cy="2400657"/>
          </a:xfrm>
          <a:prstGeom prst="rect">
            <a:avLst/>
          </a:prstGeom>
          <a:noFill/>
        </p:spPr>
        <p:txBody>
          <a:bodyPr wrap="square" rtlCol="0">
            <a:spAutoFit/>
          </a:bodyPr>
          <a:lstStyle/>
          <a:p>
            <a:pPr algn="just">
              <a:lnSpc>
                <a:spcPct val="150000"/>
              </a:lnSpc>
            </a:pPr>
            <a:r>
              <a:rPr lang="pt-BR" sz="2000" dirty="0">
                <a:solidFill>
                  <a:schemeClr val="accent6"/>
                </a:solidFill>
                <a:latin typeface="Lucida Sans Unicode" panose="020B0602030504020204" pitchFamily="34" charset="0"/>
                <a:cs typeface="Lucida Sans Unicode" panose="020B0602030504020204" pitchFamily="34" charset="0"/>
              </a:rPr>
              <a:t>É a quantidade de peças em estoque que garante que o processo produtivo não sofra problemas de continuidade enquanto aguarda-se a chegada do lote de compra, durante o tempo de reposição. O que quer dizer que quando um determinado item de estoque atinge seu ponto de pedido deve-se fazer o ressuprimento de seu estoque, colocando-se um pedido de compra.</a:t>
            </a:r>
          </a:p>
        </p:txBody>
      </p:sp>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Retângulo 4"/>
          <p:cNvSpPr/>
          <p:nvPr/>
        </p:nvSpPr>
        <p:spPr>
          <a:xfrm>
            <a:off x="4288458" y="947114"/>
            <a:ext cx="3615092" cy="553998"/>
          </a:xfrm>
          <a:prstGeom prst="rect">
            <a:avLst/>
          </a:prstGeom>
        </p:spPr>
        <p:txBody>
          <a:bodyPr wrap="none">
            <a:spAutoFit/>
          </a:bodyPr>
          <a:lstStyle/>
          <a:p>
            <a:pPr algn="ctr">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PONTO DE RESSUPRIMENTO</a:t>
            </a:r>
          </a:p>
        </p:txBody>
      </p:sp>
      <p:sp>
        <p:nvSpPr>
          <p:cNvPr id="6" name="CaixaDeTexto 5"/>
          <p:cNvSpPr txBox="1"/>
          <p:nvPr/>
        </p:nvSpPr>
        <p:spPr>
          <a:xfrm>
            <a:off x="1674254" y="5329041"/>
            <a:ext cx="3412902" cy="461665"/>
          </a:xfrm>
          <a:prstGeom prst="rect">
            <a:avLst/>
          </a:prstGeom>
          <a:noFill/>
        </p:spPr>
        <p:txBody>
          <a:bodyPr wrap="square" rtlCol="0">
            <a:spAutoFit/>
          </a:bodyPr>
          <a:lstStyle/>
          <a:p>
            <a:r>
              <a:rPr lang="pt-BR" sz="2400" b="1" dirty="0">
                <a:solidFill>
                  <a:schemeClr val="accent6"/>
                </a:solidFill>
                <a:latin typeface="Lucida Sans Unicode" panose="020B0602030504020204" pitchFamily="34" charset="0"/>
                <a:cs typeface="Lucida Sans Unicode" panose="020B0602030504020204" pitchFamily="34" charset="0"/>
              </a:rPr>
              <a:t>PR = (C x T</a:t>
            </a:r>
            <a:r>
              <a:rPr lang="pt-BR" sz="2400" b="1" baseline="-25000" dirty="0">
                <a:solidFill>
                  <a:schemeClr val="accent6"/>
                </a:solidFill>
                <a:latin typeface="Lucida Sans Unicode" panose="020B0602030504020204" pitchFamily="34" charset="0"/>
                <a:cs typeface="Lucida Sans Unicode" panose="020B0602030504020204" pitchFamily="34" charset="0"/>
              </a:rPr>
              <a:t>R</a:t>
            </a:r>
            <a:r>
              <a:rPr lang="pt-BR" sz="2400" b="1" dirty="0">
                <a:solidFill>
                  <a:schemeClr val="accent6"/>
                </a:solidFill>
                <a:latin typeface="Lucida Sans Unicode" panose="020B0602030504020204" pitchFamily="34" charset="0"/>
                <a:cs typeface="Lucida Sans Unicode" panose="020B0602030504020204" pitchFamily="34" charset="0"/>
              </a:rPr>
              <a:t>) + E</a:t>
            </a:r>
            <a:r>
              <a:rPr lang="pt-BR" sz="2400" b="1" baseline="-25000" dirty="0">
                <a:solidFill>
                  <a:schemeClr val="accent6"/>
                </a:solidFill>
                <a:latin typeface="Lucida Sans Unicode" panose="020B0602030504020204" pitchFamily="34" charset="0"/>
                <a:cs typeface="Lucida Sans Unicode" panose="020B0602030504020204" pitchFamily="34" charset="0"/>
              </a:rPr>
              <a:t>S</a:t>
            </a:r>
            <a:endParaRPr lang="pt-BR" sz="2400" b="1" dirty="0">
              <a:solidFill>
                <a:schemeClr val="accent6"/>
              </a:solidFill>
              <a:latin typeface="Lucida Sans Unicode" panose="020B0602030504020204" pitchFamily="34" charset="0"/>
              <a:cs typeface="Lucida Sans Unicode" panose="020B0602030504020204" pitchFamily="34" charset="0"/>
            </a:endParaRPr>
          </a:p>
        </p:txBody>
      </p:sp>
      <p:sp>
        <p:nvSpPr>
          <p:cNvPr id="7" name="CaixaDeTexto 6"/>
          <p:cNvSpPr txBox="1"/>
          <p:nvPr/>
        </p:nvSpPr>
        <p:spPr>
          <a:xfrm>
            <a:off x="5847008" y="4695590"/>
            <a:ext cx="4675031" cy="1754326"/>
          </a:xfrm>
          <a:prstGeom prst="rect">
            <a:avLst/>
          </a:prstGeom>
          <a:noFill/>
        </p:spPr>
        <p:txBody>
          <a:bodyPr wrap="square" rtlCol="0">
            <a:spAutoFit/>
          </a:bodyPr>
          <a:lstStyle/>
          <a:p>
            <a:pPr>
              <a:lnSpc>
                <a:spcPct val="150000"/>
              </a:lnSpc>
            </a:pPr>
            <a:r>
              <a:rPr lang="pt-BR" b="1" i="1" dirty="0">
                <a:solidFill>
                  <a:schemeClr val="accent6"/>
                </a:solidFill>
                <a:latin typeface="Lucida Sans Unicode" panose="020B0602030504020204" pitchFamily="34" charset="0"/>
                <a:cs typeface="Lucida Sans Unicode" panose="020B0602030504020204" pitchFamily="34" charset="0"/>
              </a:rPr>
              <a:t>PR</a:t>
            </a:r>
            <a:r>
              <a:rPr lang="pt-BR" dirty="0">
                <a:solidFill>
                  <a:schemeClr val="accent6"/>
                </a:solidFill>
                <a:latin typeface="Lucida Sans Unicode" panose="020B0602030504020204" pitchFamily="34" charset="0"/>
                <a:cs typeface="Lucida Sans Unicode" panose="020B0602030504020204" pitchFamily="34" charset="0"/>
              </a:rPr>
              <a:t> = Ponto de ressuprimento</a:t>
            </a:r>
          </a:p>
          <a:p>
            <a:pPr>
              <a:lnSpc>
                <a:spcPct val="150000"/>
              </a:lnSpc>
            </a:pPr>
            <a:r>
              <a:rPr lang="pt-BR" dirty="0">
                <a:solidFill>
                  <a:schemeClr val="accent6"/>
                </a:solidFill>
                <a:latin typeface="Lucida Sans Unicode" panose="020B0602030504020204" pitchFamily="34" charset="0"/>
                <a:cs typeface="Lucida Sans Unicode" panose="020B0602030504020204" pitchFamily="34" charset="0"/>
              </a:rPr>
              <a:t>  </a:t>
            </a:r>
            <a:r>
              <a:rPr lang="pt-BR" b="1" i="1" dirty="0">
                <a:solidFill>
                  <a:schemeClr val="accent6"/>
                </a:solidFill>
                <a:latin typeface="Lucida Sans Unicode" panose="020B0602030504020204" pitchFamily="34" charset="0"/>
                <a:cs typeface="Lucida Sans Unicode" panose="020B0602030504020204" pitchFamily="34" charset="0"/>
              </a:rPr>
              <a:t>C</a:t>
            </a:r>
            <a:r>
              <a:rPr lang="pt-BR" dirty="0">
                <a:solidFill>
                  <a:schemeClr val="accent6"/>
                </a:solidFill>
                <a:latin typeface="Lucida Sans Unicode" panose="020B0602030504020204" pitchFamily="34" charset="0"/>
                <a:cs typeface="Lucida Sans Unicode" panose="020B0602030504020204" pitchFamily="34" charset="0"/>
              </a:rPr>
              <a:t> = Consumo normal da peça</a:t>
            </a:r>
          </a:p>
          <a:p>
            <a:pPr>
              <a:lnSpc>
                <a:spcPct val="150000"/>
              </a:lnSpc>
            </a:pPr>
            <a:r>
              <a:rPr lang="pt-BR" b="1" dirty="0">
                <a:solidFill>
                  <a:schemeClr val="accent6"/>
                </a:solidFill>
                <a:latin typeface="Lucida Sans Unicode" panose="020B0602030504020204" pitchFamily="34" charset="0"/>
                <a:cs typeface="Lucida Sans Unicode" panose="020B0602030504020204" pitchFamily="34" charset="0"/>
              </a:rPr>
              <a:t> </a:t>
            </a:r>
            <a:r>
              <a:rPr lang="pt-BR" b="1" i="1" dirty="0">
                <a:solidFill>
                  <a:schemeClr val="accent6"/>
                </a:solidFill>
                <a:latin typeface="Lucida Sans Unicode" panose="020B0602030504020204" pitchFamily="34" charset="0"/>
                <a:cs typeface="Lucida Sans Unicode" panose="020B0602030504020204" pitchFamily="34" charset="0"/>
              </a:rPr>
              <a:t>T</a:t>
            </a:r>
            <a:r>
              <a:rPr lang="pt-BR" b="1" i="1" baseline="-25000" dirty="0">
                <a:solidFill>
                  <a:schemeClr val="accent6"/>
                </a:solidFill>
                <a:latin typeface="Lucida Sans Unicode" panose="020B0602030504020204" pitchFamily="34" charset="0"/>
                <a:cs typeface="Lucida Sans Unicode" panose="020B0602030504020204" pitchFamily="34" charset="0"/>
              </a:rPr>
              <a:t>R</a:t>
            </a:r>
            <a:r>
              <a:rPr lang="pt-BR" baseline="-25000" dirty="0">
                <a:solidFill>
                  <a:schemeClr val="accent6"/>
                </a:solidFill>
                <a:latin typeface="Lucida Sans Unicode" panose="020B0602030504020204" pitchFamily="34" charset="0"/>
                <a:cs typeface="Lucida Sans Unicode" panose="020B0602030504020204" pitchFamily="34" charset="0"/>
              </a:rPr>
              <a:t> </a:t>
            </a:r>
            <a:r>
              <a:rPr lang="pt-BR" dirty="0">
                <a:solidFill>
                  <a:schemeClr val="accent6"/>
                </a:solidFill>
                <a:latin typeface="Lucida Sans Unicode" panose="020B0602030504020204" pitchFamily="34" charset="0"/>
                <a:cs typeface="Lucida Sans Unicode" panose="020B0602030504020204" pitchFamily="34" charset="0"/>
              </a:rPr>
              <a:t>= Tempo de reposição</a:t>
            </a:r>
          </a:p>
          <a:p>
            <a:pPr>
              <a:lnSpc>
                <a:spcPct val="150000"/>
              </a:lnSpc>
            </a:pPr>
            <a:r>
              <a:rPr lang="pt-BR" b="1" dirty="0">
                <a:solidFill>
                  <a:schemeClr val="accent6"/>
                </a:solidFill>
                <a:latin typeface="Lucida Sans Unicode" panose="020B0602030504020204" pitchFamily="34" charset="0"/>
                <a:cs typeface="Lucida Sans Unicode" panose="020B0602030504020204" pitchFamily="34" charset="0"/>
              </a:rPr>
              <a:t> </a:t>
            </a:r>
            <a:r>
              <a:rPr lang="pt-BR" b="1" i="1" dirty="0">
                <a:solidFill>
                  <a:schemeClr val="accent6"/>
                </a:solidFill>
                <a:latin typeface="Lucida Sans Unicode" panose="020B0602030504020204" pitchFamily="34" charset="0"/>
                <a:cs typeface="Lucida Sans Unicode" panose="020B0602030504020204" pitchFamily="34" charset="0"/>
              </a:rPr>
              <a:t>E</a:t>
            </a:r>
            <a:r>
              <a:rPr lang="pt-BR" b="1" i="1" baseline="-25000" dirty="0">
                <a:solidFill>
                  <a:schemeClr val="accent6"/>
                </a:solidFill>
                <a:latin typeface="Lucida Sans Unicode" panose="020B0602030504020204" pitchFamily="34" charset="0"/>
                <a:cs typeface="Lucida Sans Unicode" panose="020B0602030504020204" pitchFamily="34" charset="0"/>
              </a:rPr>
              <a:t>S</a:t>
            </a:r>
            <a:r>
              <a:rPr lang="pt-BR" dirty="0">
                <a:solidFill>
                  <a:schemeClr val="accent6"/>
                </a:solidFill>
                <a:latin typeface="Lucida Sans Unicode" panose="020B0602030504020204" pitchFamily="34" charset="0"/>
                <a:cs typeface="Lucida Sans Unicode" panose="020B0602030504020204" pitchFamily="34" charset="0"/>
              </a:rPr>
              <a:t> = Estoque de segurança</a:t>
            </a:r>
            <a:endParaRPr lang="pt-BR" b="1" dirty="0">
              <a:solidFill>
                <a:schemeClr val="accent6"/>
              </a:solidFill>
              <a:latin typeface="Lucida Sans Unicode" panose="020B0602030504020204" pitchFamily="34" charset="0"/>
              <a:cs typeface="Lucida Sans Unicode" panose="020B0602030504020204" pitchFamily="34" charset="0"/>
            </a:endParaRPr>
          </a:p>
        </p:txBody>
      </p:sp>
    </p:spTree>
    <p:extLst>
      <p:ext uri="{BB962C8B-B14F-4D97-AF65-F5344CB8AC3E}">
        <p14:creationId xmlns:p14="http://schemas.microsoft.com/office/powerpoint/2010/main" val="312433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876000" y="2743199"/>
            <a:ext cx="10440000" cy="1477328"/>
          </a:xfrm>
          <a:prstGeom prst="rect">
            <a:avLst/>
          </a:prstGeom>
          <a:noFill/>
        </p:spPr>
        <p:txBody>
          <a:bodyPr wrap="square" rtlCol="0">
            <a:spAutoFit/>
          </a:bodyPr>
          <a:lstStyle/>
          <a:p>
            <a:pPr algn="just">
              <a:lnSpc>
                <a:spcPct val="150000"/>
              </a:lnSpc>
            </a:pPr>
            <a:r>
              <a:rPr lang="pt-BR" sz="2000" dirty="0">
                <a:solidFill>
                  <a:schemeClr val="accent6"/>
                </a:solidFill>
                <a:latin typeface="Lucida Sans Unicode" panose="020B0602030504020204" pitchFamily="34" charset="0"/>
                <a:cs typeface="Lucida Sans Unicode" panose="020B0602030504020204" pitchFamily="34" charset="0"/>
              </a:rPr>
              <a:t>É a quantidade máxima permitida em estoque. Teoricamente, toda quantidade de ressuprimento somada ao estoque existente, deve atingir o estoque máximo previsto para aquele item.</a:t>
            </a:r>
          </a:p>
        </p:txBody>
      </p:sp>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Retângulo 4"/>
          <p:cNvSpPr/>
          <p:nvPr/>
        </p:nvSpPr>
        <p:spPr>
          <a:xfrm>
            <a:off x="4859931" y="947114"/>
            <a:ext cx="2472152" cy="515526"/>
          </a:xfrm>
          <a:prstGeom prst="rect">
            <a:avLst/>
          </a:prstGeom>
        </p:spPr>
        <p:txBody>
          <a:bodyPr wrap="none">
            <a:spAutoFit/>
          </a:bodyPr>
          <a:lstStyle/>
          <a:p>
            <a:pPr algn="ctr">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ESTOQUE MÁXIMO</a:t>
            </a:r>
          </a:p>
        </p:txBody>
      </p:sp>
      <p:sp>
        <p:nvSpPr>
          <p:cNvPr id="2" name="Retângulo 1"/>
          <p:cNvSpPr/>
          <p:nvPr/>
        </p:nvSpPr>
        <p:spPr>
          <a:xfrm>
            <a:off x="5817562" y="4540395"/>
            <a:ext cx="4743113" cy="1338828"/>
          </a:xfrm>
          <a:prstGeom prst="rect">
            <a:avLst/>
          </a:prstGeom>
          <a:noFill/>
        </p:spPr>
        <p:txBody>
          <a:bodyPr wrap="square" rtlCol="0">
            <a:spAutoFit/>
          </a:bodyPr>
          <a:lstStyle/>
          <a:p>
            <a:pPr>
              <a:lnSpc>
                <a:spcPct val="150000"/>
              </a:lnSpc>
            </a:pPr>
            <a:r>
              <a:rPr lang="pt-BR" b="1" i="1" dirty="0">
                <a:solidFill>
                  <a:schemeClr val="accent6"/>
                </a:solidFill>
                <a:latin typeface="Lucida Sans Unicode" panose="020B0602030504020204" pitchFamily="34" charset="0"/>
                <a:cs typeface="Lucida Sans Unicode" panose="020B0602030504020204" pitchFamily="34" charset="0"/>
              </a:rPr>
              <a:t>EM </a:t>
            </a:r>
            <a:r>
              <a:rPr lang="pt-BR" dirty="0">
                <a:solidFill>
                  <a:schemeClr val="accent6"/>
                </a:solidFill>
                <a:latin typeface="Lucida Sans Unicode" panose="020B0602030504020204" pitchFamily="34" charset="0"/>
                <a:cs typeface="Lucida Sans Unicode" panose="020B0602030504020204" pitchFamily="34" charset="0"/>
              </a:rPr>
              <a:t>= Estoque máximo</a:t>
            </a:r>
          </a:p>
          <a:p>
            <a:pPr>
              <a:lnSpc>
                <a:spcPct val="150000"/>
              </a:lnSpc>
            </a:pPr>
            <a:r>
              <a:rPr lang="pt-BR" b="1" i="1" dirty="0">
                <a:solidFill>
                  <a:schemeClr val="accent6"/>
                </a:solidFill>
                <a:latin typeface="Lucida Sans Unicode" panose="020B0602030504020204" pitchFamily="34" charset="0"/>
                <a:cs typeface="Lucida Sans Unicode" panose="020B0602030504020204" pitchFamily="34" charset="0"/>
              </a:rPr>
              <a:t>E</a:t>
            </a:r>
            <a:r>
              <a:rPr lang="pt-BR" b="1" i="1" baseline="-25000" dirty="0">
                <a:solidFill>
                  <a:schemeClr val="accent6"/>
                </a:solidFill>
                <a:latin typeface="Lucida Sans Unicode" panose="020B0602030504020204" pitchFamily="34" charset="0"/>
                <a:cs typeface="Lucida Sans Unicode" panose="020B0602030504020204" pitchFamily="34" charset="0"/>
              </a:rPr>
              <a:t>S</a:t>
            </a:r>
            <a:r>
              <a:rPr lang="pt-BR" b="1" i="1" dirty="0">
                <a:solidFill>
                  <a:schemeClr val="accent6"/>
                </a:solidFill>
                <a:latin typeface="Lucida Sans Unicode" panose="020B0602030504020204" pitchFamily="34" charset="0"/>
                <a:cs typeface="Lucida Sans Unicode" panose="020B0602030504020204" pitchFamily="34" charset="0"/>
              </a:rPr>
              <a:t> </a:t>
            </a:r>
            <a:r>
              <a:rPr lang="pt-BR" dirty="0">
                <a:solidFill>
                  <a:schemeClr val="accent6"/>
                </a:solidFill>
                <a:latin typeface="Lucida Sans Unicode" panose="020B0602030504020204" pitchFamily="34" charset="0"/>
                <a:cs typeface="Lucida Sans Unicode" panose="020B0602030504020204" pitchFamily="34" charset="0"/>
              </a:rPr>
              <a:t>= Estoque de segurança (ou mínimo)</a:t>
            </a:r>
          </a:p>
          <a:p>
            <a:pPr>
              <a:lnSpc>
                <a:spcPct val="150000"/>
              </a:lnSpc>
            </a:pPr>
            <a:r>
              <a:rPr lang="pt-BR" b="1" i="1" dirty="0">
                <a:solidFill>
                  <a:schemeClr val="accent6"/>
                </a:solidFill>
                <a:latin typeface="Lucida Sans Unicode" panose="020B0602030504020204" pitchFamily="34" charset="0"/>
                <a:cs typeface="Lucida Sans Unicode" panose="020B0602030504020204" pitchFamily="34" charset="0"/>
              </a:rPr>
              <a:t>Q </a:t>
            </a:r>
            <a:r>
              <a:rPr lang="pt-BR" dirty="0">
                <a:solidFill>
                  <a:schemeClr val="accent6"/>
                </a:solidFill>
                <a:latin typeface="Lucida Sans Unicode" panose="020B0602030504020204" pitchFamily="34" charset="0"/>
                <a:cs typeface="Lucida Sans Unicode" panose="020B0602030504020204" pitchFamily="34" charset="0"/>
              </a:rPr>
              <a:t>= Lote econômico</a:t>
            </a:r>
          </a:p>
        </p:txBody>
      </p:sp>
      <p:sp>
        <p:nvSpPr>
          <p:cNvPr id="6" name="Retângulo 5"/>
          <p:cNvSpPr/>
          <p:nvPr/>
        </p:nvSpPr>
        <p:spPr>
          <a:xfrm>
            <a:off x="2704863" y="4953220"/>
            <a:ext cx="2101857" cy="461665"/>
          </a:xfrm>
          <a:prstGeom prst="rect">
            <a:avLst/>
          </a:prstGeom>
          <a:noFill/>
        </p:spPr>
        <p:txBody>
          <a:bodyPr wrap="square" rtlCol="0">
            <a:spAutoFit/>
          </a:bodyPr>
          <a:lstStyle/>
          <a:p>
            <a:r>
              <a:rPr lang="pt-BR" sz="2400" b="1" dirty="0">
                <a:solidFill>
                  <a:schemeClr val="accent6"/>
                </a:solidFill>
                <a:latin typeface="Lucida Sans Unicode" panose="020B0602030504020204" pitchFamily="34" charset="0"/>
                <a:cs typeface="Lucida Sans Unicode" panose="020B0602030504020204" pitchFamily="34" charset="0"/>
              </a:rPr>
              <a:t>EM = E</a:t>
            </a:r>
            <a:r>
              <a:rPr lang="pt-BR" sz="2400" b="1" baseline="-25000" dirty="0">
                <a:solidFill>
                  <a:schemeClr val="accent6"/>
                </a:solidFill>
                <a:latin typeface="Lucida Sans Unicode" panose="020B0602030504020204" pitchFamily="34" charset="0"/>
                <a:cs typeface="Lucida Sans Unicode" panose="020B0602030504020204" pitchFamily="34" charset="0"/>
              </a:rPr>
              <a:t>S</a:t>
            </a:r>
            <a:r>
              <a:rPr lang="pt-BR" sz="2400" b="1" dirty="0">
                <a:solidFill>
                  <a:schemeClr val="accent6"/>
                </a:solidFill>
                <a:latin typeface="Lucida Sans Unicode" panose="020B0602030504020204" pitchFamily="34" charset="0"/>
                <a:cs typeface="Lucida Sans Unicode" panose="020B0602030504020204" pitchFamily="34" charset="0"/>
              </a:rPr>
              <a:t> + Q</a:t>
            </a:r>
          </a:p>
        </p:txBody>
      </p:sp>
    </p:spTree>
    <p:extLst>
      <p:ext uri="{BB962C8B-B14F-4D97-AF65-F5344CB8AC3E}">
        <p14:creationId xmlns:p14="http://schemas.microsoft.com/office/powerpoint/2010/main" val="3043564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ppt_x"/>
                                          </p:val>
                                        </p:tav>
                                        <p:tav tm="100000">
                                          <p:val>
                                            <p:strVal val="#ppt_x"/>
                                          </p:val>
                                        </p:tav>
                                      </p:tavLst>
                                    </p:anim>
                                    <p:anim calcmode="lin" valueType="num">
                                      <p:cBhvr additive="base">
                                        <p:cTn id="15"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2" name="Picture 4" descr="Curva dente de serra com estoque mínim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462" y="1169300"/>
            <a:ext cx="11089075" cy="4652097"/>
          </a:xfrm>
          <a:prstGeom prst="rect">
            <a:avLst/>
          </a:prstGeom>
          <a:noFill/>
          <a:extLst>
            <a:ext uri="{909E8E84-426E-40DD-AFC4-6F175D3DCCD1}">
              <a14:hiddenFill xmlns:a14="http://schemas.microsoft.com/office/drawing/2010/main">
                <a:solidFill>
                  <a:srgbClr val="FFFFFF"/>
                </a:solidFill>
              </a14:hiddenFill>
            </a:ext>
          </a:extLst>
        </p:spPr>
      </p:pic>
      <p:sp>
        <p:nvSpPr>
          <p:cNvPr id="11" name="CaixaDeTexto 10"/>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Tree>
    <p:extLst>
      <p:ext uri="{BB962C8B-B14F-4D97-AF65-F5344CB8AC3E}">
        <p14:creationId xmlns:p14="http://schemas.microsoft.com/office/powerpoint/2010/main" val="104473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barn(outHorizontal)">
                                      <p:cBhvr>
                                        <p:cTn id="7"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927279" y="1815920"/>
            <a:ext cx="10440000" cy="4247317"/>
          </a:xfrm>
          <a:prstGeom prst="rect">
            <a:avLst/>
          </a:prstGeom>
          <a:noFill/>
        </p:spPr>
        <p:txBody>
          <a:bodyPr wrap="square" rtlCol="0">
            <a:spAutoFit/>
          </a:bodyPr>
          <a:lstStyle/>
          <a:p>
            <a:pPr marL="514350" indent="-514350" algn="just">
              <a:lnSpc>
                <a:spcPct val="150000"/>
              </a:lnSpc>
              <a:buAutoNum type="arabicPeriod"/>
            </a:pPr>
            <a:r>
              <a:rPr lang="pt-BR" sz="2000" dirty="0">
                <a:solidFill>
                  <a:schemeClr val="accent6"/>
                </a:solidFill>
                <a:latin typeface="Lucida Sans Unicode" panose="020B0602030504020204" pitchFamily="34" charset="0"/>
                <a:cs typeface="Lucida Sans Unicode" panose="020B0602030504020204" pitchFamily="34" charset="0"/>
              </a:rPr>
              <a:t>O que é estoque? Quais as vantagens e desvantagens da manutenção de estoques?</a:t>
            </a:r>
          </a:p>
          <a:p>
            <a:pPr marL="514350" indent="-514350" algn="just">
              <a:lnSpc>
                <a:spcPct val="150000"/>
              </a:lnSpc>
              <a:buAutoNum type="arabicPeriod"/>
            </a:pPr>
            <a:r>
              <a:rPr lang="pt-BR" sz="2000" dirty="0">
                <a:solidFill>
                  <a:schemeClr val="accent6"/>
                </a:solidFill>
                <a:latin typeface="Lucida Sans Unicode" panose="020B0602030504020204" pitchFamily="34" charset="0"/>
                <a:cs typeface="Lucida Sans Unicode" panose="020B0602030504020204" pitchFamily="34" charset="0"/>
              </a:rPr>
              <a:t>Diferencie estoque de armazenagem.</a:t>
            </a:r>
          </a:p>
          <a:p>
            <a:pPr marL="514350" indent="-514350" algn="just">
              <a:lnSpc>
                <a:spcPct val="150000"/>
              </a:lnSpc>
              <a:buAutoNum type="arabicPeriod"/>
            </a:pPr>
            <a:r>
              <a:rPr lang="pt-BR" sz="2000" dirty="0">
                <a:solidFill>
                  <a:schemeClr val="accent6"/>
                </a:solidFill>
                <a:latin typeface="Lucida Sans Unicode" panose="020B0602030504020204" pitchFamily="34" charset="0"/>
                <a:cs typeface="Lucida Sans Unicode" panose="020B0602030504020204" pitchFamily="34" charset="0"/>
              </a:rPr>
              <a:t>Uma empresa varejista possui um item de estoque para o qual a demanda está estabilizada, variando em torno de 10 unidades por dia. O fornecedor deste item o vende em lotes de 400 unidades e demora 4 dias, após o recebimento do pedido, para entregá-lo. O varejista pode enviar pedidos de compra a qualquer momento e deseja manter um estoque de segurança de 20 unidades. Calcule o Ponto de Ressuprimento e o Estoque Máximo.</a:t>
            </a:r>
          </a:p>
        </p:txBody>
      </p:sp>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Título 1"/>
          <p:cNvSpPr txBox="1">
            <a:spLocks/>
          </p:cNvSpPr>
          <p:nvPr/>
        </p:nvSpPr>
        <p:spPr>
          <a:xfrm>
            <a:off x="889479" y="1084771"/>
            <a:ext cx="10515600" cy="44627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Helvetica" panose="020B0604020202020204" pitchFamily="34" charset="0"/>
                <a:ea typeface="+mj-ea"/>
                <a:cs typeface="Helvetica" panose="020B0604020202020204" pitchFamily="34" charset="0"/>
              </a:defRPr>
            </a:lvl1pPr>
          </a:lstStyle>
          <a:p>
            <a:pPr algn="ctr"/>
            <a:r>
              <a:rPr lang="pt-BR" sz="2400" b="1" dirty="0">
                <a:solidFill>
                  <a:srgbClr val="FF0000"/>
                </a:solidFill>
                <a:latin typeface="Lucida Sans Unicode" panose="020B0602030504020204" pitchFamily="34" charset="0"/>
                <a:cs typeface="Lucida Sans Unicode" panose="020B0602030504020204" pitchFamily="34" charset="0"/>
              </a:rPr>
              <a:t>ATIVIDADE (INDIVIDUAL)</a:t>
            </a:r>
          </a:p>
        </p:txBody>
      </p:sp>
    </p:spTree>
    <p:extLst>
      <p:ext uri="{BB962C8B-B14F-4D97-AF65-F5344CB8AC3E}">
        <p14:creationId xmlns:p14="http://schemas.microsoft.com/office/powerpoint/2010/main" val="763560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1050495" y="2087273"/>
            <a:ext cx="9703364" cy="1477328"/>
          </a:xfrm>
          <a:prstGeom prst="rect">
            <a:avLst/>
          </a:prstGeom>
          <a:noFill/>
        </p:spPr>
        <p:txBody>
          <a:bodyPr wrap="square" rtlCol="0">
            <a:spAutoFit/>
          </a:bodyPr>
          <a:lstStyle/>
          <a:p>
            <a:pPr algn="just">
              <a:lnSpc>
                <a:spcPct val="150000"/>
              </a:lnSpc>
            </a:pPr>
            <a:r>
              <a:rPr lang="pt-BR" sz="2000" dirty="0">
                <a:solidFill>
                  <a:schemeClr val="accent6"/>
                </a:solidFill>
                <a:latin typeface="Lucida Sans Unicode" panose="020B0602030504020204" pitchFamily="34" charset="0"/>
                <a:cs typeface="Lucida Sans Unicode" panose="020B0602030504020204" pitchFamily="34" charset="0"/>
              </a:rPr>
              <a:t>Consumo = </a:t>
            </a:r>
          </a:p>
          <a:p>
            <a:pPr algn="just">
              <a:lnSpc>
                <a:spcPct val="150000"/>
              </a:lnSpc>
            </a:pPr>
            <a:r>
              <a:rPr lang="pt-BR" sz="2000" dirty="0">
                <a:solidFill>
                  <a:schemeClr val="accent6"/>
                </a:solidFill>
                <a:latin typeface="Lucida Sans Unicode" panose="020B0602030504020204" pitchFamily="34" charset="0"/>
                <a:cs typeface="Lucida Sans Unicode" panose="020B0602030504020204" pitchFamily="34" charset="0"/>
              </a:rPr>
              <a:t>Tempo de reposição =</a:t>
            </a:r>
          </a:p>
          <a:p>
            <a:pPr algn="just">
              <a:lnSpc>
                <a:spcPct val="150000"/>
              </a:lnSpc>
            </a:pPr>
            <a:r>
              <a:rPr lang="pt-BR" sz="2000" dirty="0">
                <a:solidFill>
                  <a:schemeClr val="accent6"/>
                </a:solidFill>
                <a:latin typeface="Lucida Sans Unicode" panose="020B0602030504020204" pitchFamily="34" charset="0"/>
                <a:cs typeface="Lucida Sans Unicode" panose="020B0602030504020204" pitchFamily="34" charset="0"/>
              </a:rPr>
              <a:t>Estoque de segurança =</a:t>
            </a:r>
          </a:p>
        </p:txBody>
      </p:sp>
      <p:sp>
        <p:nvSpPr>
          <p:cNvPr id="2" name="Retângulo 1"/>
          <p:cNvSpPr/>
          <p:nvPr/>
        </p:nvSpPr>
        <p:spPr>
          <a:xfrm>
            <a:off x="1050495" y="3614286"/>
            <a:ext cx="2411762" cy="553998"/>
          </a:xfrm>
          <a:prstGeom prst="rect">
            <a:avLst/>
          </a:prstGeom>
        </p:spPr>
        <p:txBody>
          <a:bodyPr wrap="square">
            <a:spAutoFit/>
          </a:bodyPr>
          <a:lstStyle/>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PR</a:t>
            </a:r>
            <a:r>
              <a:rPr lang="pt-BR" sz="2000" dirty="0">
                <a:solidFill>
                  <a:schemeClr val="accent6"/>
                </a:solidFill>
                <a:latin typeface="Lucida Sans Unicode" panose="020B0602030504020204" pitchFamily="34" charset="0"/>
                <a:cs typeface="Lucida Sans Unicode" panose="020B0602030504020204" pitchFamily="34" charset="0"/>
              </a:rPr>
              <a:t> = 10 x 4 + 20</a:t>
            </a:r>
          </a:p>
        </p:txBody>
      </p:sp>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Título 1"/>
          <p:cNvSpPr txBox="1">
            <a:spLocks/>
          </p:cNvSpPr>
          <p:nvPr/>
        </p:nvSpPr>
        <p:spPr>
          <a:xfrm>
            <a:off x="889479" y="1084771"/>
            <a:ext cx="10515600" cy="44627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Helvetica" panose="020B0604020202020204" pitchFamily="34" charset="0"/>
                <a:ea typeface="+mj-ea"/>
                <a:cs typeface="Helvetica" panose="020B0604020202020204" pitchFamily="34" charset="0"/>
              </a:defRPr>
            </a:lvl1pPr>
          </a:lstStyle>
          <a:p>
            <a:pPr algn="ctr"/>
            <a:r>
              <a:rPr lang="pt-BR" sz="2400" b="1" dirty="0">
                <a:solidFill>
                  <a:srgbClr val="FF0000"/>
                </a:solidFill>
                <a:latin typeface="Lucida Sans Unicode" panose="020B0602030504020204" pitchFamily="34" charset="0"/>
                <a:cs typeface="Lucida Sans Unicode" panose="020B0602030504020204" pitchFamily="34" charset="0"/>
              </a:rPr>
              <a:t>ATIVIDADE (INDIVIDUAL)</a:t>
            </a:r>
          </a:p>
        </p:txBody>
      </p:sp>
      <p:sp>
        <p:nvSpPr>
          <p:cNvPr id="6" name="Retângulo 5"/>
          <p:cNvSpPr/>
          <p:nvPr/>
        </p:nvSpPr>
        <p:spPr>
          <a:xfrm>
            <a:off x="1081754" y="4595293"/>
            <a:ext cx="1560042" cy="473206"/>
          </a:xfrm>
          <a:prstGeom prst="rect">
            <a:avLst/>
          </a:prstGeom>
        </p:spPr>
        <p:txBody>
          <a:bodyPr wrap="none">
            <a:spAutoFit/>
          </a:bodyPr>
          <a:lstStyle/>
          <a:p>
            <a:pPr algn="just">
              <a:lnSpc>
                <a:spcPct val="150000"/>
              </a:lnSpc>
            </a:pPr>
            <a:r>
              <a:rPr lang="pt-BR" b="1" dirty="0">
                <a:solidFill>
                  <a:schemeClr val="accent6"/>
                </a:solidFill>
                <a:latin typeface="Lucida Sans Unicode" panose="020B0602030504020204" pitchFamily="34" charset="0"/>
                <a:cs typeface="Lucida Sans Unicode" panose="020B0602030504020204" pitchFamily="34" charset="0"/>
              </a:rPr>
              <a:t>EM = E</a:t>
            </a:r>
            <a:r>
              <a:rPr lang="pt-BR" b="1" baseline="-25000" dirty="0">
                <a:solidFill>
                  <a:schemeClr val="accent6"/>
                </a:solidFill>
                <a:latin typeface="Lucida Sans Unicode" panose="020B0602030504020204" pitchFamily="34" charset="0"/>
                <a:cs typeface="Lucida Sans Unicode" panose="020B0602030504020204" pitchFamily="34" charset="0"/>
              </a:rPr>
              <a:t>S</a:t>
            </a:r>
            <a:r>
              <a:rPr lang="pt-BR" b="1" dirty="0">
                <a:solidFill>
                  <a:schemeClr val="accent6"/>
                </a:solidFill>
                <a:latin typeface="Lucida Sans Unicode" panose="020B0602030504020204" pitchFamily="34" charset="0"/>
                <a:cs typeface="Lucida Sans Unicode" panose="020B0602030504020204" pitchFamily="34" charset="0"/>
              </a:rPr>
              <a:t> + Q</a:t>
            </a:r>
          </a:p>
        </p:txBody>
      </p:sp>
      <p:sp>
        <p:nvSpPr>
          <p:cNvPr id="7" name="Retângulo 6"/>
          <p:cNvSpPr/>
          <p:nvPr/>
        </p:nvSpPr>
        <p:spPr>
          <a:xfrm>
            <a:off x="2654309" y="2214494"/>
            <a:ext cx="4666662" cy="400110"/>
          </a:xfrm>
          <a:prstGeom prst="rect">
            <a:avLst/>
          </a:prstGeom>
        </p:spPr>
        <p:txBody>
          <a:bodyPr wrap="none">
            <a:spAutoFit/>
          </a:bodyPr>
          <a:lstStyle/>
          <a:p>
            <a:r>
              <a:rPr lang="pt-BR" sz="2000" dirty="0">
                <a:solidFill>
                  <a:schemeClr val="accent6"/>
                </a:solidFill>
                <a:latin typeface="Lucida Sans Unicode" panose="020B0602030504020204" pitchFamily="34" charset="0"/>
                <a:cs typeface="Lucida Sans Unicode" panose="020B0602030504020204" pitchFamily="34" charset="0"/>
              </a:rPr>
              <a:t>demanda média = 10 unidades/ dia</a:t>
            </a:r>
            <a:endParaRPr lang="pt-BR" sz="2000" dirty="0"/>
          </a:p>
        </p:txBody>
      </p:sp>
      <p:sp>
        <p:nvSpPr>
          <p:cNvPr id="8" name="Retângulo 7"/>
          <p:cNvSpPr/>
          <p:nvPr/>
        </p:nvSpPr>
        <p:spPr>
          <a:xfrm>
            <a:off x="5119993" y="2553118"/>
            <a:ext cx="936475" cy="553998"/>
          </a:xfrm>
          <a:prstGeom prst="rect">
            <a:avLst/>
          </a:prstGeom>
        </p:spPr>
        <p:txBody>
          <a:bodyPr wrap="none">
            <a:spAutoFit/>
          </a:bodyPr>
          <a:lstStyle/>
          <a:p>
            <a:pPr algn="just">
              <a:lnSpc>
                <a:spcPct val="150000"/>
              </a:lnSpc>
            </a:pPr>
            <a:r>
              <a:rPr lang="pt-BR" sz="2000" dirty="0">
                <a:solidFill>
                  <a:schemeClr val="accent6"/>
                </a:solidFill>
                <a:latin typeface="Lucida Sans Unicode" panose="020B0602030504020204" pitchFamily="34" charset="0"/>
                <a:cs typeface="Lucida Sans Unicode" panose="020B0602030504020204" pitchFamily="34" charset="0"/>
              </a:rPr>
              <a:t>4 dias</a:t>
            </a:r>
          </a:p>
        </p:txBody>
      </p:sp>
      <p:sp>
        <p:nvSpPr>
          <p:cNvPr id="9" name="Retângulo 8"/>
          <p:cNvSpPr/>
          <p:nvPr/>
        </p:nvSpPr>
        <p:spPr>
          <a:xfrm>
            <a:off x="4988515" y="3121864"/>
            <a:ext cx="1720343" cy="400110"/>
          </a:xfrm>
          <a:prstGeom prst="rect">
            <a:avLst/>
          </a:prstGeom>
        </p:spPr>
        <p:txBody>
          <a:bodyPr wrap="none">
            <a:spAutoFit/>
          </a:bodyPr>
          <a:lstStyle/>
          <a:p>
            <a:r>
              <a:rPr lang="pt-BR" sz="2000" dirty="0">
                <a:solidFill>
                  <a:schemeClr val="accent6"/>
                </a:solidFill>
                <a:latin typeface="Lucida Sans Unicode" panose="020B0602030504020204" pitchFamily="34" charset="0"/>
                <a:cs typeface="Lucida Sans Unicode" panose="020B0602030504020204" pitchFamily="34" charset="0"/>
              </a:rPr>
              <a:t>20 unidades</a:t>
            </a:r>
            <a:endParaRPr lang="pt-BR" sz="2000" dirty="0"/>
          </a:p>
        </p:txBody>
      </p:sp>
      <p:sp>
        <p:nvSpPr>
          <p:cNvPr id="10" name="Retângulo 9"/>
          <p:cNvSpPr/>
          <p:nvPr/>
        </p:nvSpPr>
        <p:spPr>
          <a:xfrm>
            <a:off x="4357681" y="3614285"/>
            <a:ext cx="2473754" cy="553998"/>
          </a:xfrm>
          <a:prstGeom prst="rect">
            <a:avLst/>
          </a:prstGeom>
          <a:ln>
            <a:solidFill>
              <a:srgbClr val="FF0000"/>
            </a:solidFill>
          </a:ln>
        </p:spPr>
        <p:txBody>
          <a:bodyPr wrap="none">
            <a:spAutoFit/>
          </a:bodyPr>
          <a:lstStyle/>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PR</a:t>
            </a:r>
            <a:r>
              <a:rPr lang="pt-BR" sz="2000" dirty="0">
                <a:solidFill>
                  <a:schemeClr val="accent6"/>
                </a:solidFill>
                <a:latin typeface="Lucida Sans Unicode" panose="020B0602030504020204" pitchFamily="34" charset="0"/>
                <a:cs typeface="Lucida Sans Unicode" panose="020B0602030504020204" pitchFamily="34" charset="0"/>
              </a:rPr>
              <a:t> = 60 unidades </a:t>
            </a:r>
          </a:p>
        </p:txBody>
      </p:sp>
      <p:sp>
        <p:nvSpPr>
          <p:cNvPr id="11" name="Seta para a direita 10"/>
          <p:cNvSpPr/>
          <p:nvPr/>
        </p:nvSpPr>
        <p:spPr>
          <a:xfrm>
            <a:off x="3545195" y="3637648"/>
            <a:ext cx="667265" cy="461104"/>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Retângulo 11"/>
          <p:cNvSpPr/>
          <p:nvPr/>
        </p:nvSpPr>
        <p:spPr>
          <a:xfrm>
            <a:off x="1057709" y="5068439"/>
            <a:ext cx="700833" cy="553998"/>
          </a:xfrm>
          <a:prstGeom prst="rect">
            <a:avLst/>
          </a:prstGeom>
        </p:spPr>
        <p:txBody>
          <a:bodyPr wrap="none">
            <a:spAutoFit/>
          </a:bodyPr>
          <a:lstStyle/>
          <a:p>
            <a:pPr algn="just">
              <a:lnSpc>
                <a:spcPct val="150000"/>
              </a:lnSpc>
            </a:pPr>
            <a:r>
              <a:rPr lang="pt-BR" sz="2000" dirty="0">
                <a:solidFill>
                  <a:schemeClr val="accent6"/>
                </a:solidFill>
                <a:latin typeface="Lucida Sans Unicode" panose="020B0602030504020204" pitchFamily="34" charset="0"/>
                <a:cs typeface="Lucida Sans Unicode" panose="020B0602030504020204" pitchFamily="34" charset="0"/>
              </a:rPr>
              <a:t>E</a:t>
            </a:r>
            <a:r>
              <a:rPr lang="pt-BR" sz="2000" baseline="-25000" dirty="0">
                <a:solidFill>
                  <a:schemeClr val="accent6"/>
                </a:solidFill>
                <a:latin typeface="Lucida Sans Unicode" panose="020B0602030504020204" pitchFamily="34" charset="0"/>
                <a:cs typeface="Lucida Sans Unicode" panose="020B0602030504020204" pitchFamily="34" charset="0"/>
              </a:rPr>
              <a:t>S</a:t>
            </a:r>
            <a:r>
              <a:rPr lang="pt-BR" sz="2000" dirty="0">
                <a:solidFill>
                  <a:schemeClr val="accent6"/>
                </a:solidFill>
                <a:latin typeface="Lucida Sans Unicode" panose="020B0602030504020204" pitchFamily="34" charset="0"/>
                <a:cs typeface="Lucida Sans Unicode" panose="020B0602030504020204" pitchFamily="34" charset="0"/>
              </a:rPr>
              <a:t> =</a:t>
            </a:r>
          </a:p>
        </p:txBody>
      </p:sp>
      <p:sp>
        <p:nvSpPr>
          <p:cNvPr id="13" name="Retângulo 12"/>
          <p:cNvSpPr/>
          <p:nvPr/>
        </p:nvSpPr>
        <p:spPr>
          <a:xfrm>
            <a:off x="1026450" y="5541585"/>
            <a:ext cx="668773" cy="553998"/>
          </a:xfrm>
          <a:prstGeom prst="rect">
            <a:avLst/>
          </a:prstGeom>
        </p:spPr>
        <p:txBody>
          <a:bodyPr wrap="none">
            <a:spAutoFit/>
          </a:bodyPr>
          <a:lstStyle/>
          <a:p>
            <a:pPr algn="just">
              <a:lnSpc>
                <a:spcPct val="150000"/>
              </a:lnSpc>
            </a:pPr>
            <a:r>
              <a:rPr lang="pt-BR" sz="2000" dirty="0">
                <a:solidFill>
                  <a:schemeClr val="accent6"/>
                </a:solidFill>
                <a:latin typeface="Lucida Sans Unicode" panose="020B0602030504020204" pitchFamily="34" charset="0"/>
                <a:cs typeface="Lucida Sans Unicode" panose="020B0602030504020204" pitchFamily="34" charset="0"/>
              </a:rPr>
              <a:t>Q =</a:t>
            </a:r>
          </a:p>
        </p:txBody>
      </p:sp>
      <p:sp>
        <p:nvSpPr>
          <p:cNvPr id="14" name="Retângulo 13"/>
          <p:cNvSpPr/>
          <p:nvPr/>
        </p:nvSpPr>
        <p:spPr>
          <a:xfrm>
            <a:off x="1050495" y="1810568"/>
            <a:ext cx="2198038" cy="400110"/>
          </a:xfrm>
          <a:prstGeom prst="rect">
            <a:avLst/>
          </a:prstGeom>
        </p:spPr>
        <p:txBody>
          <a:bodyPr wrap="none">
            <a:spAutoFit/>
          </a:bodyPr>
          <a:lstStyle/>
          <a:p>
            <a:r>
              <a:rPr lang="pt-BR" sz="2000" b="1" dirty="0">
                <a:solidFill>
                  <a:schemeClr val="accent6"/>
                </a:solidFill>
                <a:latin typeface="Lucida Sans Unicode" panose="020B0602030504020204" pitchFamily="34" charset="0"/>
                <a:cs typeface="Lucida Sans Unicode" panose="020B0602030504020204" pitchFamily="34" charset="0"/>
              </a:rPr>
              <a:t>PR = C x T</a:t>
            </a:r>
            <a:r>
              <a:rPr lang="pt-BR" sz="2000" b="1" baseline="-25000" dirty="0">
                <a:solidFill>
                  <a:schemeClr val="accent6"/>
                </a:solidFill>
                <a:latin typeface="Lucida Sans Unicode" panose="020B0602030504020204" pitchFamily="34" charset="0"/>
                <a:cs typeface="Lucida Sans Unicode" panose="020B0602030504020204" pitchFamily="34" charset="0"/>
              </a:rPr>
              <a:t>R </a:t>
            </a:r>
            <a:r>
              <a:rPr lang="pt-BR" sz="2000" b="1" dirty="0">
                <a:solidFill>
                  <a:schemeClr val="accent6"/>
                </a:solidFill>
                <a:latin typeface="Lucida Sans Unicode" panose="020B0602030504020204" pitchFamily="34" charset="0"/>
                <a:cs typeface="Lucida Sans Unicode" panose="020B0602030504020204" pitchFamily="34" charset="0"/>
              </a:rPr>
              <a:t>+ E</a:t>
            </a:r>
            <a:r>
              <a:rPr lang="pt-BR" sz="2000" b="1" baseline="-25000" dirty="0">
                <a:solidFill>
                  <a:schemeClr val="accent6"/>
                </a:solidFill>
                <a:latin typeface="Lucida Sans Unicode" panose="020B0602030504020204" pitchFamily="34" charset="0"/>
                <a:cs typeface="Lucida Sans Unicode" panose="020B0602030504020204" pitchFamily="34" charset="0"/>
              </a:rPr>
              <a:t>S</a:t>
            </a:r>
            <a:endParaRPr lang="pt-BR" sz="2000" b="1" dirty="0">
              <a:solidFill>
                <a:schemeClr val="accent6"/>
              </a:solidFill>
              <a:latin typeface="Lucida Sans Unicode" panose="020B0602030504020204" pitchFamily="34" charset="0"/>
              <a:cs typeface="Lucida Sans Unicode" panose="020B0602030504020204" pitchFamily="34" charset="0"/>
            </a:endParaRPr>
          </a:p>
        </p:txBody>
      </p:sp>
      <p:sp>
        <p:nvSpPr>
          <p:cNvPr id="15" name="Retângulo 14"/>
          <p:cNvSpPr/>
          <p:nvPr/>
        </p:nvSpPr>
        <p:spPr>
          <a:xfrm>
            <a:off x="1740311" y="5051126"/>
            <a:ext cx="1802096" cy="553998"/>
          </a:xfrm>
          <a:prstGeom prst="rect">
            <a:avLst/>
          </a:prstGeom>
        </p:spPr>
        <p:txBody>
          <a:bodyPr wrap="none">
            <a:spAutoFit/>
          </a:bodyPr>
          <a:lstStyle/>
          <a:p>
            <a:pPr algn="just">
              <a:lnSpc>
                <a:spcPct val="150000"/>
              </a:lnSpc>
            </a:pPr>
            <a:r>
              <a:rPr lang="pt-BR" sz="2000" dirty="0">
                <a:solidFill>
                  <a:schemeClr val="accent6"/>
                </a:solidFill>
                <a:latin typeface="Lucida Sans Unicode" panose="020B0602030504020204" pitchFamily="34" charset="0"/>
                <a:cs typeface="Lucida Sans Unicode" panose="020B0602030504020204" pitchFamily="34" charset="0"/>
              </a:rPr>
              <a:t>20 unidades </a:t>
            </a:r>
          </a:p>
        </p:txBody>
      </p:sp>
      <p:sp>
        <p:nvSpPr>
          <p:cNvPr id="16" name="Retângulo 15"/>
          <p:cNvSpPr/>
          <p:nvPr/>
        </p:nvSpPr>
        <p:spPr>
          <a:xfrm>
            <a:off x="1586100" y="5646388"/>
            <a:ext cx="1963999" cy="400110"/>
          </a:xfrm>
          <a:prstGeom prst="rect">
            <a:avLst/>
          </a:prstGeom>
        </p:spPr>
        <p:txBody>
          <a:bodyPr wrap="none">
            <a:spAutoFit/>
          </a:bodyPr>
          <a:lstStyle/>
          <a:p>
            <a:r>
              <a:rPr lang="pt-BR" sz="2000" dirty="0">
                <a:solidFill>
                  <a:schemeClr val="accent6"/>
                </a:solidFill>
                <a:latin typeface="Lucida Sans Unicode" panose="020B0602030504020204" pitchFamily="34" charset="0"/>
                <a:cs typeface="Lucida Sans Unicode" panose="020B0602030504020204" pitchFamily="34" charset="0"/>
              </a:rPr>
              <a:t>400 unidades </a:t>
            </a:r>
            <a:endParaRPr lang="pt-BR" sz="2000" dirty="0"/>
          </a:p>
        </p:txBody>
      </p:sp>
      <p:sp>
        <p:nvSpPr>
          <p:cNvPr id="17" name="Retângulo 16"/>
          <p:cNvSpPr/>
          <p:nvPr/>
        </p:nvSpPr>
        <p:spPr>
          <a:xfrm>
            <a:off x="4121871" y="5033754"/>
            <a:ext cx="2089033" cy="553998"/>
          </a:xfrm>
          <a:prstGeom prst="rect">
            <a:avLst/>
          </a:prstGeom>
        </p:spPr>
        <p:txBody>
          <a:bodyPr wrap="none">
            <a:spAutoFit/>
          </a:bodyPr>
          <a:lstStyle/>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EM = </a:t>
            </a:r>
            <a:r>
              <a:rPr lang="pt-BR" sz="2000" dirty="0">
                <a:solidFill>
                  <a:schemeClr val="accent6"/>
                </a:solidFill>
                <a:latin typeface="Lucida Sans Unicode" panose="020B0602030504020204" pitchFamily="34" charset="0"/>
                <a:cs typeface="Lucida Sans Unicode" panose="020B0602030504020204" pitchFamily="34" charset="0"/>
              </a:rPr>
              <a:t>20 + 400</a:t>
            </a:r>
          </a:p>
        </p:txBody>
      </p:sp>
      <p:sp>
        <p:nvSpPr>
          <p:cNvPr id="18" name="Seta para a direita 17"/>
          <p:cNvSpPr/>
          <p:nvPr/>
        </p:nvSpPr>
        <p:spPr>
          <a:xfrm>
            <a:off x="6265999" y="5074489"/>
            <a:ext cx="667265" cy="461104"/>
          </a:xfrm>
          <a:prstGeom prst="rightArrow">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9" name="Retângulo 18"/>
          <p:cNvSpPr/>
          <p:nvPr/>
        </p:nvSpPr>
        <p:spPr>
          <a:xfrm>
            <a:off x="7083893" y="5033753"/>
            <a:ext cx="2610010" cy="553998"/>
          </a:xfrm>
          <a:prstGeom prst="rect">
            <a:avLst/>
          </a:prstGeom>
          <a:ln>
            <a:solidFill>
              <a:srgbClr val="FF0000"/>
            </a:solidFill>
          </a:ln>
        </p:spPr>
        <p:txBody>
          <a:bodyPr wrap="none">
            <a:spAutoFit/>
          </a:bodyPr>
          <a:lstStyle/>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EM = </a:t>
            </a:r>
            <a:r>
              <a:rPr lang="pt-BR" sz="2000" dirty="0">
                <a:solidFill>
                  <a:schemeClr val="accent6"/>
                </a:solidFill>
                <a:latin typeface="Lucida Sans Unicode" panose="020B0602030504020204" pitchFamily="34" charset="0"/>
                <a:cs typeface="Lucida Sans Unicode" panose="020B0602030504020204" pitchFamily="34" charset="0"/>
              </a:rPr>
              <a:t>420 unidades</a:t>
            </a:r>
          </a:p>
        </p:txBody>
      </p:sp>
    </p:spTree>
    <p:extLst>
      <p:ext uri="{BB962C8B-B14F-4D97-AF65-F5344CB8AC3E}">
        <p14:creationId xmlns:p14="http://schemas.microsoft.com/office/powerpoint/2010/main" val="2705525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left)">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wipe(left)">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wipe(left)">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down)">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2"/>
                                        </p:tgtEl>
                                        <p:attrNameLst>
                                          <p:attrName>style.visibility</p:attrName>
                                        </p:attrNameLst>
                                      </p:cBhvr>
                                      <p:to>
                                        <p:strVal val="visible"/>
                                      </p:to>
                                    </p:set>
                                    <p:anim calcmode="lin" valueType="num">
                                      <p:cBhvr additive="base">
                                        <p:cTn id="52" dur="500" fill="hold"/>
                                        <p:tgtEl>
                                          <p:spTgt spid="12"/>
                                        </p:tgtEl>
                                        <p:attrNameLst>
                                          <p:attrName>ppt_x</p:attrName>
                                        </p:attrNameLst>
                                      </p:cBhvr>
                                      <p:tavLst>
                                        <p:tav tm="0">
                                          <p:val>
                                            <p:strVal val="#ppt_x"/>
                                          </p:val>
                                        </p:tav>
                                        <p:tav tm="100000">
                                          <p:val>
                                            <p:strVal val="#ppt_x"/>
                                          </p:val>
                                        </p:tav>
                                      </p:tavLst>
                                    </p:anim>
                                    <p:anim calcmode="lin" valueType="num">
                                      <p:cBhvr additive="base">
                                        <p:cTn id="53" dur="500" fill="hold"/>
                                        <p:tgtEl>
                                          <p:spTgt spid="12"/>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ppt_x</p:attrName>
                                        </p:attrNameLst>
                                      </p:cBhvr>
                                      <p:tavLst>
                                        <p:tav tm="0">
                                          <p:val>
                                            <p:strVal val="#ppt_x"/>
                                          </p:val>
                                        </p:tav>
                                        <p:tav tm="100000">
                                          <p:val>
                                            <p:strVal val="#ppt_x"/>
                                          </p:val>
                                        </p:tav>
                                      </p:tavLst>
                                    </p:anim>
                                    <p:anim calcmode="lin" valueType="num">
                                      <p:cBhvr additive="base">
                                        <p:cTn id="5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left)">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8"/>
                                        </p:tgtEl>
                                        <p:attrNameLst>
                                          <p:attrName>style.visibility</p:attrName>
                                        </p:attrNameLst>
                                      </p:cBhvr>
                                      <p:to>
                                        <p:strVal val="visible"/>
                                      </p:to>
                                    </p:set>
                                    <p:animEffect transition="in" filter="wipe(left)">
                                      <p:cBhvr>
                                        <p:cTn id="77" dur="500"/>
                                        <p:tgtEl>
                                          <p:spTgt spid="1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6" grpId="0"/>
      <p:bldP spid="7" grpId="0"/>
      <p:bldP spid="8" grpId="0"/>
      <p:bldP spid="9" grpId="0"/>
      <p:bldP spid="10" grpId="0" animBg="1"/>
      <p:bldP spid="11" grpId="0" animBg="1"/>
      <p:bldP spid="12" grpId="0"/>
      <p:bldP spid="13" grpId="0"/>
      <p:bldP spid="14" grpId="0"/>
      <p:bldP spid="15" grpId="0"/>
      <p:bldP spid="16" grpId="0"/>
      <p:bldP spid="17" grpId="0"/>
      <p:bldP spid="18" grpId="0" animBg="1"/>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Retângulo 4"/>
          <p:cNvSpPr/>
          <p:nvPr/>
        </p:nvSpPr>
        <p:spPr>
          <a:xfrm>
            <a:off x="4108931" y="947114"/>
            <a:ext cx="3974165" cy="553998"/>
          </a:xfrm>
          <a:prstGeom prst="rect">
            <a:avLst/>
          </a:prstGeom>
        </p:spPr>
        <p:txBody>
          <a:bodyPr wrap="none">
            <a:spAutoFit/>
          </a:bodyPr>
          <a:lstStyle/>
          <a:p>
            <a:pPr algn="ctr">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MÉTODOS DE RESSUPRIMENTO</a:t>
            </a:r>
          </a:p>
        </p:txBody>
      </p:sp>
      <p:sp>
        <p:nvSpPr>
          <p:cNvPr id="2" name="CaixaDeTexto 1"/>
          <p:cNvSpPr txBox="1"/>
          <p:nvPr/>
        </p:nvSpPr>
        <p:spPr>
          <a:xfrm>
            <a:off x="910782" y="2536946"/>
            <a:ext cx="10440000" cy="707886"/>
          </a:xfrm>
          <a:prstGeom prst="rect">
            <a:avLst/>
          </a:prstGeom>
          <a:noFill/>
        </p:spPr>
        <p:txBody>
          <a:bodyPr wrap="square" rtlCol="0">
            <a:spAutoFit/>
          </a:bodyPr>
          <a:lstStyle/>
          <a:p>
            <a:r>
              <a:rPr lang="pt-BR" sz="2000" dirty="0">
                <a:solidFill>
                  <a:schemeClr val="accent6"/>
                </a:solidFill>
                <a:latin typeface="Lucida Sans Unicode" panose="020B0602030504020204" pitchFamily="34" charset="0"/>
                <a:cs typeface="Lucida Sans Unicode" panose="020B0602030504020204" pitchFamily="34" charset="0"/>
              </a:rPr>
              <a:t>Pedidos são colocados em intervalos regulares de tempo, porém as quantidades pedidas são variáveis. </a:t>
            </a:r>
          </a:p>
        </p:txBody>
      </p:sp>
      <p:sp>
        <p:nvSpPr>
          <p:cNvPr id="6" name="CaixaDeTexto 5"/>
          <p:cNvSpPr txBox="1"/>
          <p:nvPr/>
        </p:nvSpPr>
        <p:spPr>
          <a:xfrm>
            <a:off x="910782" y="2061330"/>
            <a:ext cx="2717321" cy="400110"/>
          </a:xfrm>
          <a:prstGeom prst="rect">
            <a:avLst/>
          </a:prstGeom>
          <a:noFill/>
        </p:spPr>
        <p:txBody>
          <a:bodyPr wrap="square" rtlCol="0">
            <a:spAutoFit/>
          </a:bodyPr>
          <a:lstStyle/>
          <a:p>
            <a:r>
              <a:rPr lang="pt-BR" sz="2000" b="1" dirty="0">
                <a:solidFill>
                  <a:schemeClr val="accent6"/>
                </a:solidFill>
                <a:latin typeface="Lucida Sans Unicode" panose="020B0602030504020204" pitchFamily="34" charset="0"/>
                <a:cs typeface="Lucida Sans Unicode" panose="020B0602030504020204" pitchFamily="34" charset="0"/>
              </a:rPr>
              <a:t>REVISÃO PERIÓDICA</a:t>
            </a:r>
          </a:p>
        </p:txBody>
      </p:sp>
      <p:sp>
        <p:nvSpPr>
          <p:cNvPr id="9" name="CaixaDeTexto 8"/>
          <p:cNvSpPr txBox="1"/>
          <p:nvPr/>
        </p:nvSpPr>
        <p:spPr>
          <a:xfrm>
            <a:off x="876000" y="4870094"/>
            <a:ext cx="10440000" cy="707886"/>
          </a:xfrm>
          <a:prstGeom prst="rect">
            <a:avLst/>
          </a:prstGeom>
          <a:noFill/>
        </p:spPr>
        <p:txBody>
          <a:bodyPr wrap="square" rtlCol="0">
            <a:spAutoFit/>
          </a:bodyPr>
          <a:lstStyle/>
          <a:p>
            <a:r>
              <a:rPr lang="pt-BR" sz="2000" dirty="0">
                <a:solidFill>
                  <a:schemeClr val="accent6"/>
                </a:solidFill>
                <a:latin typeface="Lucida Sans Unicode" panose="020B0602030504020204" pitchFamily="34" charset="0"/>
                <a:cs typeface="Lucida Sans Unicode" panose="020B0602030504020204" pitchFamily="34" charset="0"/>
              </a:rPr>
              <a:t>Pedidos são colocados para quantidades fixas, porém a frequência dos pedidos é irregular. </a:t>
            </a:r>
          </a:p>
        </p:txBody>
      </p:sp>
      <p:sp>
        <p:nvSpPr>
          <p:cNvPr id="10" name="CaixaDeTexto 9"/>
          <p:cNvSpPr txBox="1"/>
          <p:nvPr/>
        </p:nvSpPr>
        <p:spPr>
          <a:xfrm>
            <a:off x="910782" y="3192673"/>
            <a:ext cx="10440000" cy="707886"/>
          </a:xfrm>
          <a:prstGeom prst="rect">
            <a:avLst/>
          </a:prstGeom>
          <a:noFill/>
        </p:spPr>
        <p:txBody>
          <a:bodyPr wrap="square" rtlCol="0">
            <a:spAutoFit/>
          </a:bodyPr>
          <a:lstStyle/>
          <a:p>
            <a:r>
              <a:rPr lang="pt-BR" sz="2000" b="1" dirty="0">
                <a:solidFill>
                  <a:schemeClr val="accent6"/>
                </a:solidFill>
                <a:latin typeface="Lucida Sans Unicode" panose="020B0602030504020204" pitchFamily="34" charset="0"/>
                <a:cs typeface="Lucida Sans Unicode" panose="020B0602030504020204" pitchFamily="34" charset="0"/>
              </a:rPr>
              <a:t>Problema</a:t>
            </a:r>
            <a:r>
              <a:rPr lang="pt-BR" sz="2000" dirty="0">
                <a:solidFill>
                  <a:schemeClr val="accent6"/>
                </a:solidFill>
                <a:latin typeface="Lucida Sans Unicode" panose="020B0602030504020204" pitchFamily="34" charset="0"/>
                <a:cs typeface="Lucida Sans Unicode" panose="020B0602030504020204" pitchFamily="34" charset="0"/>
              </a:rPr>
              <a:t>: na eventualidade de um pico de demanda (variação brusca na taxa de demanda), pode ocorrer falta do item.</a:t>
            </a:r>
          </a:p>
        </p:txBody>
      </p:sp>
      <p:sp>
        <p:nvSpPr>
          <p:cNvPr id="12" name="CaixaDeTexto 11"/>
          <p:cNvSpPr txBox="1"/>
          <p:nvPr/>
        </p:nvSpPr>
        <p:spPr>
          <a:xfrm>
            <a:off x="876000" y="4374184"/>
            <a:ext cx="2717321" cy="400110"/>
          </a:xfrm>
          <a:prstGeom prst="rect">
            <a:avLst/>
          </a:prstGeom>
          <a:noFill/>
        </p:spPr>
        <p:txBody>
          <a:bodyPr wrap="square" rtlCol="0">
            <a:spAutoFit/>
          </a:bodyPr>
          <a:lstStyle/>
          <a:p>
            <a:r>
              <a:rPr lang="pt-BR" sz="2000" b="1" dirty="0">
                <a:solidFill>
                  <a:schemeClr val="accent6"/>
                </a:solidFill>
                <a:latin typeface="Lucida Sans Unicode" panose="020B0602030504020204" pitchFamily="34" charset="0"/>
                <a:cs typeface="Lucida Sans Unicode" panose="020B0602030504020204" pitchFamily="34" charset="0"/>
              </a:rPr>
              <a:t>REVISÃO CONTÍNUA</a:t>
            </a:r>
          </a:p>
        </p:txBody>
      </p:sp>
      <p:sp>
        <p:nvSpPr>
          <p:cNvPr id="13" name="CaixaDeTexto 12"/>
          <p:cNvSpPr txBox="1"/>
          <p:nvPr/>
        </p:nvSpPr>
        <p:spPr>
          <a:xfrm>
            <a:off x="910782" y="5551573"/>
            <a:ext cx="10440000" cy="400110"/>
          </a:xfrm>
          <a:prstGeom prst="rect">
            <a:avLst/>
          </a:prstGeom>
          <a:noFill/>
        </p:spPr>
        <p:txBody>
          <a:bodyPr wrap="square" rtlCol="0">
            <a:spAutoFit/>
          </a:bodyPr>
          <a:lstStyle/>
          <a:p>
            <a:r>
              <a:rPr lang="pt-BR" sz="2000" b="1" dirty="0">
                <a:solidFill>
                  <a:schemeClr val="accent6"/>
                </a:solidFill>
                <a:latin typeface="Lucida Sans Unicode" panose="020B0602030504020204" pitchFamily="34" charset="0"/>
                <a:cs typeface="Lucida Sans Unicode" panose="020B0602030504020204" pitchFamily="34" charset="0"/>
              </a:rPr>
              <a:t>Problema</a:t>
            </a:r>
            <a:r>
              <a:rPr lang="pt-BR" sz="2000" dirty="0">
                <a:solidFill>
                  <a:schemeClr val="accent6"/>
                </a:solidFill>
                <a:latin typeface="Lucida Sans Unicode" panose="020B0602030504020204" pitchFamily="34" charset="0"/>
                <a:cs typeface="Lucida Sans Unicode" panose="020B0602030504020204" pitchFamily="34" charset="0"/>
              </a:rPr>
              <a:t>: necessidade de checagem constante dos estoques, o que gera custos.</a:t>
            </a:r>
          </a:p>
        </p:txBody>
      </p:sp>
    </p:spTree>
    <p:extLst>
      <p:ext uri="{BB962C8B-B14F-4D97-AF65-F5344CB8AC3E}">
        <p14:creationId xmlns:p14="http://schemas.microsoft.com/office/powerpoint/2010/main" val="2547344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barn(inVertical)">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barn(inVertical)">
                                      <p:cBhvr>
                                        <p:cTn id="33" dur="500"/>
                                        <p:tgtEl>
                                          <p:spTgt spid="12"/>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anim calcmode="lin" valueType="num">
                                      <p:cBhvr>
                                        <p:cTn id="39" dur="1000" fill="hold"/>
                                        <p:tgtEl>
                                          <p:spTgt spid="9"/>
                                        </p:tgtEl>
                                        <p:attrNameLst>
                                          <p:attrName>ppt_x</p:attrName>
                                        </p:attrNameLst>
                                      </p:cBhvr>
                                      <p:tavLst>
                                        <p:tav tm="0">
                                          <p:val>
                                            <p:strVal val="#ppt_x"/>
                                          </p:val>
                                        </p:tav>
                                        <p:tav tm="100000">
                                          <p:val>
                                            <p:strVal val="#ppt_x"/>
                                          </p:val>
                                        </p:tav>
                                      </p:tavLst>
                                    </p:anim>
                                    <p:anim calcmode="lin" valueType="num">
                                      <p:cBhvr>
                                        <p:cTn id="4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000"/>
                                        <p:tgtEl>
                                          <p:spTgt spid="13"/>
                                        </p:tgtEl>
                                      </p:cBhvr>
                                    </p:animEffect>
                                    <p:anim calcmode="lin" valueType="num">
                                      <p:cBhvr>
                                        <p:cTn id="46" dur="1000" fill="hold"/>
                                        <p:tgtEl>
                                          <p:spTgt spid="13"/>
                                        </p:tgtEl>
                                        <p:attrNameLst>
                                          <p:attrName>ppt_x</p:attrName>
                                        </p:attrNameLst>
                                      </p:cBhvr>
                                      <p:tavLst>
                                        <p:tav tm="0">
                                          <p:val>
                                            <p:strVal val="#ppt_x"/>
                                          </p:val>
                                        </p:tav>
                                        <p:tav tm="100000">
                                          <p:val>
                                            <p:strVal val="#ppt_x"/>
                                          </p:val>
                                        </p:tav>
                                      </p:tavLst>
                                    </p:anim>
                                    <p:anim calcmode="lin" valueType="num">
                                      <p:cBhvr>
                                        <p:cTn id="4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6" grpId="0"/>
      <p:bldP spid="9" grpId="0"/>
      <p:bldP spid="10" grpId="0"/>
      <p:bldP spid="12"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descr="http://images.slideplayer.com.br/9/2571961/slides/slide_62.jpg"/>
          <p:cNvPicPr>
            <a:picLocks noChangeAspect="1" noChangeArrowheads="1"/>
          </p:cNvPicPr>
          <p:nvPr/>
        </p:nvPicPr>
        <p:blipFill rotWithShape="1">
          <a:blip r:embed="rId2">
            <a:extLst>
              <a:ext uri="{28A0092B-C50C-407E-A947-70E740481C1C}">
                <a14:useLocalDpi xmlns:a14="http://schemas.microsoft.com/office/drawing/2010/main" val="0"/>
              </a:ext>
            </a:extLst>
          </a:blip>
          <a:srcRect l="6556" t="22685" r="14308" b="11449"/>
          <a:stretch/>
        </p:blipFill>
        <p:spPr bwMode="auto">
          <a:xfrm>
            <a:off x="2555960" y="1837501"/>
            <a:ext cx="7080081" cy="4419600"/>
          </a:xfrm>
          <a:prstGeom prst="rect">
            <a:avLst/>
          </a:prstGeom>
          <a:noFill/>
          <a:extLst>
            <a:ext uri="{909E8E84-426E-40DD-AFC4-6F175D3DCCD1}">
              <a14:hiddenFill xmlns:a14="http://schemas.microsoft.com/office/drawing/2010/main">
                <a:solidFill>
                  <a:srgbClr val="FFFFFF"/>
                </a:solidFill>
              </a14:hiddenFill>
            </a:ext>
          </a:extLst>
        </p:spPr>
      </p:pic>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Retângulo 4"/>
          <p:cNvSpPr/>
          <p:nvPr/>
        </p:nvSpPr>
        <p:spPr>
          <a:xfrm>
            <a:off x="4108931" y="947114"/>
            <a:ext cx="3974165" cy="553998"/>
          </a:xfrm>
          <a:prstGeom prst="rect">
            <a:avLst/>
          </a:prstGeom>
        </p:spPr>
        <p:txBody>
          <a:bodyPr wrap="none">
            <a:spAutoFit/>
          </a:bodyPr>
          <a:lstStyle/>
          <a:p>
            <a:pPr algn="ctr">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MÉTODOS DE RESSUPRIMENTO</a:t>
            </a:r>
          </a:p>
        </p:txBody>
      </p:sp>
    </p:spTree>
    <p:extLst>
      <p:ext uri="{BB962C8B-B14F-4D97-AF65-F5344CB8AC3E}">
        <p14:creationId xmlns:p14="http://schemas.microsoft.com/office/powerpoint/2010/main" val="1668027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ox(in)">
                                      <p:cBhvr>
                                        <p:cTn id="7"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Retângulo 4"/>
          <p:cNvSpPr/>
          <p:nvPr/>
        </p:nvSpPr>
        <p:spPr>
          <a:xfrm>
            <a:off x="4108931" y="947114"/>
            <a:ext cx="3974165" cy="553998"/>
          </a:xfrm>
          <a:prstGeom prst="rect">
            <a:avLst/>
          </a:prstGeom>
        </p:spPr>
        <p:txBody>
          <a:bodyPr wrap="none">
            <a:spAutoFit/>
          </a:bodyPr>
          <a:lstStyle/>
          <a:p>
            <a:pPr algn="ctr">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MÉTODOS DE RESSUPRIMENTO</a:t>
            </a:r>
          </a:p>
        </p:txBody>
      </p:sp>
      <p:sp>
        <p:nvSpPr>
          <p:cNvPr id="6" name="CaixaDeTexto 5"/>
          <p:cNvSpPr txBox="1"/>
          <p:nvPr/>
        </p:nvSpPr>
        <p:spPr>
          <a:xfrm>
            <a:off x="604684" y="2400497"/>
            <a:ext cx="10440000"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v"/>
            </a:pPr>
            <a:r>
              <a:rPr lang="pt-BR" sz="2000" dirty="0">
                <a:solidFill>
                  <a:schemeClr val="accent6"/>
                </a:solidFill>
                <a:latin typeface="Lucida Sans Unicode" panose="020B0602030504020204" pitchFamily="34" charset="0"/>
                <a:cs typeface="Lucida Sans Unicode" panose="020B0602030504020204" pitchFamily="34" charset="0"/>
              </a:rPr>
              <a:t>Período entre revisões é definido em função de necessidades específicas de cada empresa;</a:t>
            </a:r>
          </a:p>
          <a:p>
            <a:pPr marL="342900" indent="-342900" algn="just">
              <a:lnSpc>
                <a:spcPct val="150000"/>
              </a:lnSpc>
              <a:buFont typeface="Wingdings" panose="05000000000000000000" pitchFamily="2" charset="2"/>
              <a:buChar char="v"/>
            </a:pPr>
            <a:r>
              <a:rPr lang="pt-BR" sz="2000" dirty="0">
                <a:solidFill>
                  <a:schemeClr val="accent6"/>
                </a:solidFill>
                <a:latin typeface="Lucida Sans Unicode" panose="020B0602030504020204" pitchFamily="34" charset="0"/>
                <a:cs typeface="Lucida Sans Unicode" panose="020B0602030504020204" pitchFamily="34" charset="0"/>
              </a:rPr>
              <a:t>Pode-se agrupar análises de itens de um mesmo fornecedor em uma mesma data;</a:t>
            </a:r>
          </a:p>
          <a:p>
            <a:pPr marL="342900" indent="-342900" algn="just">
              <a:lnSpc>
                <a:spcPct val="150000"/>
              </a:lnSpc>
              <a:buFont typeface="Wingdings" panose="05000000000000000000" pitchFamily="2" charset="2"/>
              <a:buChar char="v"/>
            </a:pPr>
            <a:r>
              <a:rPr lang="pt-BR" sz="2000" dirty="0">
                <a:solidFill>
                  <a:schemeClr val="accent6"/>
                </a:solidFill>
                <a:latin typeface="Lucida Sans Unicode" panose="020B0602030504020204" pitchFamily="34" charset="0"/>
                <a:cs typeface="Lucida Sans Unicode" panose="020B0602030504020204" pitchFamily="34" charset="0"/>
              </a:rPr>
              <a:t>Maior risco de falta de material, se a demanda for maior que a prevista (maior estoque de segurança);</a:t>
            </a:r>
          </a:p>
          <a:p>
            <a:pPr marL="342900" indent="-342900" algn="just">
              <a:lnSpc>
                <a:spcPct val="150000"/>
              </a:lnSpc>
              <a:buFont typeface="Wingdings" panose="05000000000000000000" pitchFamily="2" charset="2"/>
              <a:buChar char="v"/>
            </a:pPr>
            <a:r>
              <a:rPr lang="pt-BR" sz="2000" dirty="0">
                <a:solidFill>
                  <a:schemeClr val="accent6"/>
                </a:solidFill>
                <a:latin typeface="Lucida Sans Unicode" panose="020B0602030504020204" pitchFamily="34" charset="0"/>
                <a:cs typeface="Lucida Sans Unicode" panose="020B0602030504020204" pitchFamily="34" charset="0"/>
              </a:rPr>
              <a:t> Mais indicado para itens das classes “B” e “C”;</a:t>
            </a:r>
          </a:p>
          <a:p>
            <a:pPr marL="342900" indent="-342900" algn="just">
              <a:lnSpc>
                <a:spcPct val="150000"/>
              </a:lnSpc>
              <a:buFont typeface="Wingdings" panose="05000000000000000000" pitchFamily="2" charset="2"/>
              <a:buChar char="v"/>
            </a:pPr>
            <a:r>
              <a:rPr lang="pt-BR" sz="2000" dirty="0">
                <a:solidFill>
                  <a:schemeClr val="accent6"/>
                </a:solidFill>
                <a:latin typeface="Lucida Sans Unicode" panose="020B0602030504020204" pitchFamily="34" charset="0"/>
                <a:cs typeface="Lucida Sans Unicode" panose="020B0602030504020204" pitchFamily="34" charset="0"/>
              </a:rPr>
              <a:t>Itens mais baratos podem sofrer revisão em períodos mais longos.</a:t>
            </a:r>
          </a:p>
        </p:txBody>
      </p:sp>
      <p:sp>
        <p:nvSpPr>
          <p:cNvPr id="7" name="CaixaDeTexto 6"/>
          <p:cNvSpPr txBox="1"/>
          <p:nvPr/>
        </p:nvSpPr>
        <p:spPr>
          <a:xfrm>
            <a:off x="604684" y="2082458"/>
            <a:ext cx="5888225" cy="400110"/>
          </a:xfrm>
          <a:prstGeom prst="rect">
            <a:avLst/>
          </a:prstGeom>
          <a:noFill/>
        </p:spPr>
        <p:txBody>
          <a:bodyPr wrap="square" rtlCol="0">
            <a:spAutoFit/>
          </a:bodyPr>
          <a:lstStyle/>
          <a:p>
            <a:r>
              <a:rPr lang="pt-BR" sz="2000" b="1" dirty="0">
                <a:solidFill>
                  <a:schemeClr val="accent6"/>
                </a:solidFill>
                <a:latin typeface="Lucida Sans Unicode" panose="020B0602030504020204" pitchFamily="34" charset="0"/>
                <a:cs typeface="Lucida Sans Unicode" panose="020B0602030504020204" pitchFamily="34" charset="0"/>
              </a:rPr>
              <a:t>PARTICULARIDADES DA REVISÃO PERIÓDICA</a:t>
            </a:r>
          </a:p>
        </p:txBody>
      </p:sp>
    </p:spTree>
    <p:extLst>
      <p:ext uri="{BB962C8B-B14F-4D97-AF65-F5344CB8AC3E}">
        <p14:creationId xmlns:p14="http://schemas.microsoft.com/office/powerpoint/2010/main" val="1008333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1000"/>
                                        <p:tgtEl>
                                          <p:spTgt spid="6">
                                            <p:txEl>
                                              <p:pRg st="0" end="0"/>
                                            </p:txEl>
                                          </p:spTgt>
                                        </p:tgtEl>
                                      </p:cBhvr>
                                    </p:animEffect>
                                    <p:anim calcmode="lin" valueType="num">
                                      <p:cBhvr>
                                        <p:cTn id="13"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xEl>
                                              <p:pRg st="2" end="2"/>
                                            </p:txEl>
                                          </p:spTgt>
                                        </p:tgtEl>
                                        <p:attrNameLst>
                                          <p:attrName>style.visibility</p:attrName>
                                        </p:attrNameLst>
                                      </p:cBhvr>
                                      <p:to>
                                        <p:strVal val="visible"/>
                                      </p:to>
                                    </p:set>
                                    <p:animEffect transition="in" filter="fade">
                                      <p:cBhvr>
                                        <p:cTn id="26" dur="1000"/>
                                        <p:tgtEl>
                                          <p:spTgt spid="6">
                                            <p:txEl>
                                              <p:pRg st="2" end="2"/>
                                            </p:txEl>
                                          </p:spTgt>
                                        </p:tgtEl>
                                      </p:cBhvr>
                                    </p:animEffect>
                                    <p:anim calcmode="lin" valueType="num">
                                      <p:cBhvr>
                                        <p:cTn id="27"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xEl>
                                              <p:pRg st="3" end="3"/>
                                            </p:txEl>
                                          </p:spTgt>
                                        </p:tgtEl>
                                        <p:attrNameLst>
                                          <p:attrName>style.visibility</p:attrName>
                                        </p:attrNameLst>
                                      </p:cBhvr>
                                      <p:to>
                                        <p:strVal val="visible"/>
                                      </p:to>
                                    </p:set>
                                    <p:animEffect transition="in" filter="fade">
                                      <p:cBhvr>
                                        <p:cTn id="33" dur="1000"/>
                                        <p:tgtEl>
                                          <p:spTgt spid="6">
                                            <p:txEl>
                                              <p:pRg st="3" end="3"/>
                                            </p:txEl>
                                          </p:spTgt>
                                        </p:tgtEl>
                                      </p:cBhvr>
                                    </p:animEffect>
                                    <p:anim calcmode="lin" valueType="num">
                                      <p:cBhvr>
                                        <p:cTn id="34"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xEl>
                                              <p:pRg st="4" end="4"/>
                                            </p:txEl>
                                          </p:spTgt>
                                        </p:tgtEl>
                                        <p:attrNameLst>
                                          <p:attrName>style.visibility</p:attrName>
                                        </p:attrNameLst>
                                      </p:cBhvr>
                                      <p:to>
                                        <p:strVal val="visible"/>
                                      </p:to>
                                    </p:set>
                                    <p:animEffect transition="in" filter="fade">
                                      <p:cBhvr>
                                        <p:cTn id="40" dur="1000"/>
                                        <p:tgtEl>
                                          <p:spTgt spid="6">
                                            <p:txEl>
                                              <p:pRg st="4" end="4"/>
                                            </p:txEl>
                                          </p:spTgt>
                                        </p:tgtEl>
                                      </p:cBhvr>
                                    </p:animEffect>
                                    <p:anim calcmode="lin" valueType="num">
                                      <p:cBhvr>
                                        <p:cTn id="41"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811368" y="2163650"/>
            <a:ext cx="10440000" cy="3323987"/>
          </a:xfrm>
          <a:prstGeom prst="rect">
            <a:avLst/>
          </a:prstGeom>
          <a:noFill/>
        </p:spPr>
        <p:txBody>
          <a:bodyPr wrap="square" rtlCol="0">
            <a:spAutoFit/>
          </a:bodyPr>
          <a:lstStyle/>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Custo de colocação de pedido</a:t>
            </a:r>
            <a:r>
              <a:rPr lang="pt-BR" sz="2000" dirty="0">
                <a:solidFill>
                  <a:schemeClr val="accent6"/>
                </a:solidFill>
                <a:latin typeface="Lucida Sans Unicode" panose="020B0602030504020204" pitchFamily="34" charset="0"/>
                <a:cs typeface="Lucida Sans Unicode" panose="020B0602030504020204" pitchFamily="34" charset="0"/>
              </a:rPr>
              <a:t>: toda vez que um pedido é colocado para reabastecer o estoque, são necessárias operações/transações que representam custos para a empresa.</a:t>
            </a:r>
          </a:p>
          <a:p>
            <a:pPr algn="just">
              <a:lnSpc>
                <a:spcPct val="150000"/>
              </a:lnSpc>
            </a:pPr>
            <a:endParaRPr lang="pt-BR" sz="2000" dirty="0">
              <a:solidFill>
                <a:schemeClr val="accent6"/>
              </a:solidFill>
              <a:latin typeface="Lucida Sans Unicode" panose="020B0602030504020204" pitchFamily="34" charset="0"/>
              <a:cs typeface="Lucida Sans Unicode" panose="020B0602030504020204" pitchFamily="34" charset="0"/>
            </a:endParaRPr>
          </a:p>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Custos de desconto de preços</a:t>
            </a:r>
            <a:r>
              <a:rPr lang="pt-BR" sz="2000" dirty="0">
                <a:solidFill>
                  <a:schemeClr val="accent6"/>
                </a:solidFill>
                <a:latin typeface="Lucida Sans Unicode" panose="020B0602030504020204" pitchFamily="34" charset="0"/>
                <a:cs typeface="Lucida Sans Unicode" panose="020B0602030504020204" pitchFamily="34" charset="0"/>
              </a:rPr>
              <a:t>: Muitos fornecedores oferecem descontos sobre o preço normal de compra para grandes quantidades. Também podem impor custos extras para pequenos pedidos.</a:t>
            </a:r>
          </a:p>
        </p:txBody>
      </p:sp>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Retângulo 4"/>
          <p:cNvSpPr/>
          <p:nvPr/>
        </p:nvSpPr>
        <p:spPr>
          <a:xfrm>
            <a:off x="4682792" y="947114"/>
            <a:ext cx="2826415" cy="553998"/>
          </a:xfrm>
          <a:prstGeom prst="rect">
            <a:avLst/>
          </a:prstGeom>
        </p:spPr>
        <p:txBody>
          <a:bodyPr wrap="none">
            <a:spAutoFit/>
          </a:bodyPr>
          <a:lstStyle/>
          <a:p>
            <a:pPr algn="ctr">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CUSTOS DE ESTOQUE</a:t>
            </a:r>
          </a:p>
        </p:txBody>
      </p:sp>
    </p:spTree>
    <p:extLst>
      <p:ext uri="{BB962C8B-B14F-4D97-AF65-F5344CB8AC3E}">
        <p14:creationId xmlns:p14="http://schemas.microsoft.com/office/powerpoint/2010/main" val="2410504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927516" y="1609859"/>
            <a:ext cx="10440000" cy="4247317"/>
          </a:xfrm>
          <a:prstGeom prst="rect">
            <a:avLst/>
          </a:prstGeom>
          <a:noFill/>
        </p:spPr>
        <p:txBody>
          <a:bodyPr wrap="square" rtlCol="0">
            <a:spAutoFit/>
          </a:bodyPr>
          <a:lstStyle/>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Custo de falta de estoque</a:t>
            </a:r>
            <a:r>
              <a:rPr lang="pt-BR" sz="2000" dirty="0">
                <a:solidFill>
                  <a:schemeClr val="accent6"/>
                </a:solidFill>
                <a:latin typeface="Lucida Sans Unicode" panose="020B0602030504020204" pitchFamily="34" charset="0"/>
                <a:cs typeface="Lucida Sans Unicode" panose="020B0602030504020204" pitchFamily="34" charset="0"/>
              </a:rPr>
              <a:t>: Se houver erro nas quantidades de pedido e gerando a falta de estoque, haverá custos incorridos pela empresa, na realização de um novo pedido e principalmente pela falha no fornecimento aos consumidores. Se os consumidores forem externos, poderão trocar de fornecedor; se internos, a falta de estoque pode levar a tempo ocioso no processo seguinte, ineficiências e, eventualmente, outra vez consumidores externos insatisfeitos.</a:t>
            </a:r>
          </a:p>
          <a:p>
            <a:pPr algn="just">
              <a:lnSpc>
                <a:spcPct val="150000"/>
              </a:lnSpc>
            </a:pPr>
            <a:endParaRPr lang="pt-BR" sz="2000" dirty="0">
              <a:solidFill>
                <a:schemeClr val="accent6"/>
              </a:solidFill>
              <a:latin typeface="Lucida Sans Unicode" panose="020B0602030504020204" pitchFamily="34" charset="0"/>
              <a:cs typeface="Lucida Sans Unicode" panose="020B0602030504020204" pitchFamily="34" charset="0"/>
            </a:endParaRPr>
          </a:p>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Custo de armazenagem</a:t>
            </a:r>
            <a:r>
              <a:rPr lang="pt-BR" sz="2000" dirty="0">
                <a:solidFill>
                  <a:schemeClr val="accent6"/>
                </a:solidFill>
                <a:latin typeface="Lucida Sans Unicode" panose="020B0602030504020204" pitchFamily="34" charset="0"/>
                <a:cs typeface="Lucida Sans Unicode" panose="020B0602030504020204" pitchFamily="34" charset="0"/>
              </a:rPr>
              <a:t>: São os custos associados à armazenagem física dos bens, locação, iluminação e climatização do armazém, seguro.</a:t>
            </a:r>
          </a:p>
        </p:txBody>
      </p:sp>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Retângulo 4"/>
          <p:cNvSpPr/>
          <p:nvPr/>
        </p:nvSpPr>
        <p:spPr>
          <a:xfrm>
            <a:off x="4682792" y="947114"/>
            <a:ext cx="2826415" cy="553998"/>
          </a:xfrm>
          <a:prstGeom prst="rect">
            <a:avLst/>
          </a:prstGeom>
        </p:spPr>
        <p:txBody>
          <a:bodyPr wrap="none">
            <a:spAutoFit/>
          </a:bodyPr>
          <a:lstStyle/>
          <a:p>
            <a:pPr algn="ctr">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CUSTOS DE ESTOQUE</a:t>
            </a:r>
          </a:p>
        </p:txBody>
      </p:sp>
    </p:spTree>
    <p:extLst>
      <p:ext uri="{BB962C8B-B14F-4D97-AF65-F5344CB8AC3E}">
        <p14:creationId xmlns:p14="http://schemas.microsoft.com/office/powerpoint/2010/main" val="3207093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927279" y="2034861"/>
            <a:ext cx="10440000" cy="3785652"/>
          </a:xfrm>
          <a:prstGeom prst="rect">
            <a:avLst/>
          </a:prstGeom>
          <a:noFill/>
        </p:spPr>
        <p:txBody>
          <a:bodyPr wrap="square" rtlCol="0">
            <a:spAutoFit/>
          </a:bodyPr>
          <a:lstStyle/>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Custo de capital de giro</a:t>
            </a:r>
            <a:r>
              <a:rPr lang="pt-BR" sz="2000" dirty="0">
                <a:solidFill>
                  <a:schemeClr val="accent6"/>
                </a:solidFill>
                <a:latin typeface="Lucida Sans Unicode" panose="020B0602030504020204" pitchFamily="34" charset="0"/>
                <a:cs typeface="Lucida Sans Unicode" panose="020B0602030504020204" pitchFamily="34" charset="0"/>
              </a:rPr>
              <a:t>: quando se coloca um pedido de reabastecimento para os fornecedores, estes vão demandar pagamento de seus produtos. Da mesma forma, quando se fornece para os próprios clientes, vai-se demandar recebimentos. No entanto, provavelmente haverá um intervalo de tempo entre pagar os fornecedores e receber dos clientes. Durante esse tempo, a empresa tem que ter fundos para manter os estoques. Os custos associados são os juros que são pagos ao banco por empréstimos, ou custos de oportunidade de não investir em outras operações.</a:t>
            </a:r>
          </a:p>
        </p:txBody>
      </p:sp>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Retângulo 4"/>
          <p:cNvSpPr/>
          <p:nvPr/>
        </p:nvSpPr>
        <p:spPr>
          <a:xfrm>
            <a:off x="4682792" y="947114"/>
            <a:ext cx="2826415" cy="553998"/>
          </a:xfrm>
          <a:prstGeom prst="rect">
            <a:avLst/>
          </a:prstGeom>
        </p:spPr>
        <p:txBody>
          <a:bodyPr wrap="none">
            <a:spAutoFit/>
          </a:bodyPr>
          <a:lstStyle/>
          <a:p>
            <a:pPr algn="ctr">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CUSTOS DE ESTOQUE</a:t>
            </a:r>
          </a:p>
        </p:txBody>
      </p:sp>
    </p:spTree>
    <p:extLst>
      <p:ext uri="{BB962C8B-B14F-4D97-AF65-F5344CB8AC3E}">
        <p14:creationId xmlns:p14="http://schemas.microsoft.com/office/powerpoint/2010/main" val="3637790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aixaDeTexto 2"/>
          <p:cNvSpPr txBox="1"/>
          <p:nvPr/>
        </p:nvSpPr>
        <p:spPr>
          <a:xfrm>
            <a:off x="875764" y="2537139"/>
            <a:ext cx="10440000" cy="2400657"/>
          </a:xfrm>
          <a:prstGeom prst="rect">
            <a:avLst/>
          </a:prstGeom>
          <a:noFill/>
        </p:spPr>
        <p:txBody>
          <a:bodyPr wrap="square" rtlCol="0">
            <a:spAutoFit/>
          </a:bodyPr>
          <a:lstStyle/>
          <a:p>
            <a:pPr algn="just">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Custo de obsolescência</a:t>
            </a:r>
            <a:r>
              <a:rPr lang="pt-BR" sz="2000" dirty="0">
                <a:solidFill>
                  <a:schemeClr val="accent6"/>
                </a:solidFill>
                <a:latin typeface="Lucida Sans Unicode" panose="020B0602030504020204" pitchFamily="34" charset="0"/>
                <a:cs typeface="Lucida Sans Unicode" panose="020B0602030504020204" pitchFamily="34" charset="0"/>
              </a:rPr>
              <a:t>: Quando se opta por uma política de pedidos que envolve a solicitação de quantidades muito grandes, isso que significa que os itens estocados permanecerão longos tempos armazenados. Nesse caso,  incorre-se no risco de que esses itens possam se tornar obsoletos, ou deteriorarem-se, além de perdas por danificação.</a:t>
            </a:r>
          </a:p>
        </p:txBody>
      </p:sp>
      <p:sp>
        <p:nvSpPr>
          <p:cNvPr id="4" name="CaixaDeTexto 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5" name="Retângulo 4"/>
          <p:cNvSpPr/>
          <p:nvPr/>
        </p:nvSpPr>
        <p:spPr>
          <a:xfrm>
            <a:off x="4682792" y="947114"/>
            <a:ext cx="2826415" cy="553998"/>
          </a:xfrm>
          <a:prstGeom prst="rect">
            <a:avLst/>
          </a:prstGeom>
        </p:spPr>
        <p:txBody>
          <a:bodyPr wrap="none">
            <a:spAutoFit/>
          </a:bodyPr>
          <a:lstStyle/>
          <a:p>
            <a:pPr algn="ctr">
              <a:lnSpc>
                <a:spcPct val="150000"/>
              </a:lnSpc>
            </a:pPr>
            <a:r>
              <a:rPr lang="pt-BR" sz="2000" b="1" dirty="0">
                <a:solidFill>
                  <a:schemeClr val="accent6"/>
                </a:solidFill>
                <a:latin typeface="Lucida Sans Unicode" panose="020B0602030504020204" pitchFamily="34" charset="0"/>
                <a:cs typeface="Lucida Sans Unicode" panose="020B0602030504020204" pitchFamily="34" charset="0"/>
              </a:rPr>
              <a:t>CUSTOS DE ESTOQUE</a:t>
            </a:r>
          </a:p>
        </p:txBody>
      </p:sp>
    </p:spTree>
    <p:extLst>
      <p:ext uri="{BB962C8B-B14F-4D97-AF65-F5344CB8AC3E}">
        <p14:creationId xmlns:p14="http://schemas.microsoft.com/office/powerpoint/2010/main" val="3651484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5" name="Text Box 4"/>
          <p:cNvSpPr txBox="1">
            <a:spLocks noChangeArrowheads="1"/>
          </p:cNvSpPr>
          <p:nvPr/>
        </p:nvSpPr>
        <p:spPr bwMode="auto">
          <a:xfrm>
            <a:off x="1619548" y="2032518"/>
            <a:ext cx="9281676" cy="3900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b="1" dirty="0">
                <a:solidFill>
                  <a:schemeClr val="accent6"/>
                </a:solidFill>
                <a:latin typeface="Lucida Sans Unicode" panose="020B0602030504020204" pitchFamily="34" charset="0"/>
              </a:rPr>
              <a:t>CUSTOS ENVOLVIDOS COM ESTOQUES</a:t>
            </a:r>
          </a:p>
          <a:p>
            <a:pPr>
              <a:spcBef>
                <a:spcPts val="400"/>
              </a:spcBef>
              <a:buClrTx/>
            </a:pPr>
            <a:endParaRPr lang="pt-BR" altLang="pt-BR" dirty="0">
              <a:solidFill>
                <a:schemeClr val="accent6"/>
              </a:solidFill>
              <a:latin typeface="Lucida Sans Unicode" panose="020B0602030504020204" pitchFamily="34" charset="0"/>
            </a:endParaRPr>
          </a:p>
          <a:p>
            <a:pPr>
              <a:spcBef>
                <a:spcPts val="400"/>
              </a:spcBef>
              <a:buClrTx/>
            </a:pPr>
            <a:r>
              <a:rPr lang="pt-BR" altLang="pt-BR" dirty="0">
                <a:solidFill>
                  <a:schemeClr val="accent6"/>
                </a:solidFill>
                <a:latin typeface="Lucida Sans Unicode" panose="020B0602030504020204" pitchFamily="34" charset="0"/>
              </a:rPr>
              <a:t>1. Custos de armazenar</a:t>
            </a:r>
          </a:p>
          <a:p>
            <a:pPr>
              <a:spcBef>
                <a:spcPts val="400"/>
              </a:spcBef>
              <a:buClrTx/>
            </a:pPr>
            <a:r>
              <a:rPr lang="pt-BR" altLang="pt-BR" dirty="0">
                <a:solidFill>
                  <a:schemeClr val="accent6"/>
                </a:solidFill>
                <a:latin typeface="Lucida Sans Unicode" panose="020B0602030504020204" pitchFamily="34" charset="0"/>
              </a:rPr>
              <a:t> - Custos de capital (juros, depreciação)</a:t>
            </a:r>
          </a:p>
          <a:p>
            <a:pPr>
              <a:spcBef>
                <a:spcPts val="400"/>
              </a:spcBef>
              <a:buClrTx/>
            </a:pPr>
            <a:r>
              <a:rPr lang="pt-BR" altLang="pt-BR" dirty="0">
                <a:solidFill>
                  <a:schemeClr val="accent6"/>
                </a:solidFill>
                <a:latin typeface="Lucida Sans Unicode" panose="020B0602030504020204" pitchFamily="34" charset="0"/>
              </a:rPr>
              <a:t> - Custos com pessoal (salários, encargos, benefícios)</a:t>
            </a:r>
          </a:p>
          <a:p>
            <a:pPr>
              <a:spcBef>
                <a:spcPts val="400"/>
              </a:spcBef>
              <a:buClrTx/>
            </a:pPr>
            <a:r>
              <a:rPr lang="pt-BR" altLang="pt-BR" dirty="0">
                <a:solidFill>
                  <a:schemeClr val="accent6"/>
                </a:solidFill>
                <a:latin typeface="Lucida Sans Unicode" panose="020B0602030504020204" pitchFamily="34" charset="0"/>
              </a:rPr>
              <a:t> - Custos com edificação (aluguel, conservação, serv. públicos)</a:t>
            </a:r>
          </a:p>
          <a:p>
            <a:pPr>
              <a:spcBef>
                <a:spcPts val="400"/>
              </a:spcBef>
              <a:buClrTx/>
            </a:pPr>
            <a:r>
              <a:rPr lang="pt-BR" altLang="pt-BR" dirty="0">
                <a:solidFill>
                  <a:schemeClr val="accent6"/>
                </a:solidFill>
                <a:latin typeface="Lucida Sans Unicode" panose="020B0602030504020204" pitchFamily="34" charset="0"/>
              </a:rPr>
              <a:t> - Custos de manutenção (deterioração, equipamentos)</a:t>
            </a:r>
          </a:p>
          <a:p>
            <a:pPr>
              <a:spcBef>
                <a:spcPts val="400"/>
              </a:spcBef>
              <a:buClrTx/>
            </a:pPr>
            <a:endParaRPr lang="pt-BR" altLang="pt-BR" dirty="0">
              <a:solidFill>
                <a:schemeClr val="accent6"/>
              </a:solidFill>
              <a:latin typeface="Lucida Sans Unicode" panose="020B0602030504020204" pitchFamily="34" charset="0"/>
            </a:endParaRPr>
          </a:p>
          <a:p>
            <a:pPr>
              <a:spcBef>
                <a:spcPts val="400"/>
              </a:spcBef>
              <a:buClrTx/>
            </a:pPr>
            <a:r>
              <a:rPr lang="pt-BR" altLang="pt-BR" dirty="0">
                <a:solidFill>
                  <a:schemeClr val="accent6"/>
                </a:solidFill>
                <a:latin typeface="Lucida Sans Unicode" panose="020B0602030504020204" pitchFamily="34" charset="0"/>
              </a:rPr>
              <a:t>2. Custos de comprar</a:t>
            </a:r>
          </a:p>
          <a:p>
            <a:pPr>
              <a:spcBef>
                <a:spcPts val="400"/>
              </a:spcBef>
              <a:buClrTx/>
            </a:pPr>
            <a:r>
              <a:rPr lang="pt-BR" altLang="pt-BR" dirty="0">
                <a:solidFill>
                  <a:schemeClr val="accent6"/>
                </a:solidFill>
                <a:latin typeface="Lucida Sans Unicode" panose="020B0602030504020204" pitchFamily="34" charset="0"/>
              </a:rPr>
              <a:t> - Custos com pessoal (compras)</a:t>
            </a:r>
          </a:p>
          <a:p>
            <a:pPr>
              <a:spcBef>
                <a:spcPts val="400"/>
              </a:spcBef>
              <a:buClrTx/>
            </a:pPr>
            <a:r>
              <a:rPr lang="pt-BR" altLang="pt-BR" dirty="0">
                <a:solidFill>
                  <a:schemeClr val="accent6"/>
                </a:solidFill>
                <a:latin typeface="Lucida Sans Unicode" panose="020B0602030504020204" pitchFamily="34" charset="0"/>
              </a:rPr>
              <a:t> - Custos com materiais</a:t>
            </a:r>
          </a:p>
          <a:p>
            <a:pPr>
              <a:spcBef>
                <a:spcPts val="400"/>
              </a:spcBef>
              <a:buClrTx/>
            </a:pPr>
            <a:r>
              <a:rPr lang="pt-BR" altLang="pt-BR" dirty="0">
                <a:solidFill>
                  <a:schemeClr val="accent6"/>
                </a:solidFill>
                <a:latin typeface="Lucida Sans Unicode" panose="020B0602030504020204" pitchFamily="34" charset="0"/>
              </a:rPr>
              <a:t> - Despesas diversas</a:t>
            </a:r>
          </a:p>
        </p:txBody>
      </p:sp>
      <p:sp>
        <p:nvSpPr>
          <p:cNvPr id="9" name="CaixaDeTexto 8"/>
          <p:cNvSpPr txBox="1"/>
          <p:nvPr/>
        </p:nvSpPr>
        <p:spPr>
          <a:xfrm>
            <a:off x="1164404" y="1292800"/>
            <a:ext cx="9863191" cy="400110"/>
          </a:xfrm>
          <a:prstGeom prst="rect">
            <a:avLst/>
          </a:prstGeom>
          <a:noFill/>
        </p:spPr>
        <p:txBody>
          <a:bodyPr wrap="square" rtlCol="0">
            <a:spAutoFit/>
          </a:bodyPr>
          <a:lstStyle/>
          <a:p>
            <a:pPr algn="ctr">
              <a:buClrTx/>
              <a:buFontTx/>
              <a:buNone/>
            </a:pPr>
            <a:r>
              <a:rPr lang="pt-BR" altLang="pt-BR" sz="2000" b="1" dirty="0">
                <a:solidFill>
                  <a:schemeClr val="accent6"/>
                </a:solidFill>
                <a:latin typeface="Lucida Sans Unicode" panose="020B0602030504020204" pitchFamily="34" charset="0"/>
                <a:cs typeface="Lucida Sans Unicode" panose="020B0602030504020204" pitchFamily="34" charset="0"/>
              </a:rPr>
              <a:t>LOTE ECONÔMICO DE COMPRA (LEC) ou  </a:t>
            </a:r>
            <a:r>
              <a:rPr lang="pt-BR" sz="2000" b="1" i="1" dirty="0">
                <a:solidFill>
                  <a:schemeClr val="accent6"/>
                </a:solidFill>
                <a:latin typeface="Lucida Sans Unicode" panose="020B0602030504020204" pitchFamily="34" charset="0"/>
                <a:cs typeface="Lucida Sans Unicode" panose="020B0602030504020204" pitchFamily="34" charset="0"/>
              </a:rPr>
              <a:t>ECONOMIC ORDER QUANTITY</a:t>
            </a:r>
            <a:r>
              <a:rPr lang="pt-BR" sz="2000" b="1" dirty="0">
                <a:solidFill>
                  <a:schemeClr val="accent6"/>
                </a:solidFill>
                <a:latin typeface="Lucida Sans Unicode" panose="020B0602030504020204" pitchFamily="34" charset="0"/>
                <a:cs typeface="Lucida Sans Unicode" panose="020B0602030504020204" pitchFamily="34" charset="0"/>
              </a:rPr>
              <a:t> (EOC)</a:t>
            </a:r>
            <a:endParaRPr lang="pt-BR" altLang="pt-BR" sz="2000" b="1" dirty="0">
              <a:solidFill>
                <a:schemeClr val="accent6"/>
              </a:solidFill>
              <a:latin typeface="Lucida Sans Unicode" panose="020B0602030504020204" pitchFamily="34" charset="0"/>
              <a:cs typeface="Lucida Sans Unicode" panose="020B0602030504020204" pitchFamily="34" charset="0"/>
            </a:endParaRPr>
          </a:p>
        </p:txBody>
      </p:sp>
      <p:sp>
        <p:nvSpPr>
          <p:cNvPr id="5" name="CaixaDeTexto 4"/>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Tree>
    <p:extLst>
      <p:ext uri="{BB962C8B-B14F-4D97-AF65-F5344CB8AC3E}">
        <p14:creationId xmlns:p14="http://schemas.microsoft.com/office/powerpoint/2010/main" val="232294102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 name="CaixaDeTexto 23"/>
          <p:cNvSpPr txBox="1"/>
          <p:nvPr/>
        </p:nvSpPr>
        <p:spPr>
          <a:xfrm>
            <a:off x="2099556" y="953193"/>
            <a:ext cx="7992888" cy="400110"/>
          </a:xfrm>
          <a:prstGeom prst="rect">
            <a:avLst/>
          </a:prstGeom>
          <a:noFill/>
        </p:spPr>
        <p:txBody>
          <a:bodyPr wrap="square" rtlCol="0">
            <a:spAutoFit/>
          </a:bodyPr>
          <a:lstStyle/>
          <a:p>
            <a:pPr algn="ctr">
              <a:buClrTx/>
              <a:buFontTx/>
              <a:buNone/>
            </a:pPr>
            <a:r>
              <a:rPr lang="pt-BR" altLang="pt-BR" sz="2000" b="1" dirty="0">
                <a:solidFill>
                  <a:schemeClr val="accent6"/>
                </a:solidFill>
                <a:latin typeface="Lucida Sans Unicode" panose="020B0602030504020204" pitchFamily="34" charset="0"/>
              </a:rPr>
              <a:t>LOTE ECONÔMICO DE COMPRA</a:t>
            </a:r>
          </a:p>
        </p:txBody>
      </p:sp>
      <p:sp>
        <p:nvSpPr>
          <p:cNvPr id="2" name="Retângulo 1"/>
          <p:cNvSpPr/>
          <p:nvPr/>
        </p:nvSpPr>
        <p:spPr>
          <a:xfrm>
            <a:off x="1543653" y="2623719"/>
            <a:ext cx="9281676" cy="3416320"/>
          </a:xfrm>
          <a:prstGeom prst="rect">
            <a:avLst/>
          </a:prstGeom>
        </p:spPr>
        <p:txBody>
          <a:bodyPr wrap="square">
            <a:spAutoFit/>
          </a:bodyPr>
          <a:lstStyle/>
          <a:p>
            <a:pPr marL="342900" indent="-342900" fontAlgn="base">
              <a:buAutoNum type="arabicPeriod"/>
            </a:pPr>
            <a:r>
              <a:rPr lang="pt-BR" dirty="0">
                <a:solidFill>
                  <a:schemeClr val="accent6"/>
                </a:solidFill>
                <a:latin typeface="Lucida Sans Unicode" panose="020B0602030504020204" pitchFamily="34" charset="0"/>
                <a:cs typeface="Lucida Sans Unicode" panose="020B0602030504020204" pitchFamily="34" charset="0"/>
              </a:rPr>
              <a:t>Um único produto solicitado por fornecedor;</a:t>
            </a:r>
          </a:p>
          <a:p>
            <a:pPr marL="342900" indent="-342900" fontAlgn="base">
              <a:buAutoNum type="arabicPeriod"/>
            </a:pPr>
            <a:endParaRPr lang="pt-BR" dirty="0">
              <a:solidFill>
                <a:schemeClr val="accent6"/>
              </a:solidFill>
              <a:latin typeface="Lucida Sans Unicode" panose="020B0602030504020204" pitchFamily="34" charset="0"/>
              <a:cs typeface="Lucida Sans Unicode" panose="020B0602030504020204" pitchFamily="34" charset="0"/>
            </a:endParaRPr>
          </a:p>
          <a:p>
            <a:pPr fontAlgn="base"/>
            <a:r>
              <a:rPr lang="pt-BR" dirty="0">
                <a:solidFill>
                  <a:schemeClr val="accent6"/>
                </a:solidFill>
                <a:latin typeface="Lucida Sans Unicode" panose="020B0602030504020204" pitchFamily="34" charset="0"/>
                <a:cs typeface="Lucida Sans Unicode" panose="020B0602030504020204" pitchFamily="34" charset="0"/>
              </a:rPr>
              <a:t>2. </a:t>
            </a:r>
            <a:r>
              <a:rPr lang="pt-BR" i="1" dirty="0">
                <a:solidFill>
                  <a:schemeClr val="accent6"/>
                </a:solidFill>
                <a:latin typeface="Lucida Sans Unicode" panose="020B0602030504020204" pitchFamily="34" charset="0"/>
                <a:cs typeface="Lucida Sans Unicode" panose="020B0602030504020204" pitchFamily="34" charset="0"/>
              </a:rPr>
              <a:t>Lead time </a:t>
            </a:r>
            <a:r>
              <a:rPr lang="pt-BR" dirty="0">
                <a:solidFill>
                  <a:schemeClr val="accent6"/>
                </a:solidFill>
                <a:latin typeface="Lucida Sans Unicode" panose="020B0602030504020204" pitchFamily="34" charset="0"/>
                <a:cs typeface="Lucida Sans Unicode" panose="020B0602030504020204" pitchFamily="34" charset="0"/>
              </a:rPr>
              <a:t>do processo de compra não pode ser maior que o intervalo entre compras dos lotes;</a:t>
            </a:r>
          </a:p>
          <a:p>
            <a:pPr fontAlgn="base"/>
            <a:endParaRPr lang="pt-BR" dirty="0">
              <a:solidFill>
                <a:schemeClr val="accent6"/>
              </a:solidFill>
              <a:latin typeface="Lucida Sans Unicode" panose="020B0602030504020204" pitchFamily="34" charset="0"/>
              <a:cs typeface="Lucida Sans Unicode" panose="020B0602030504020204" pitchFamily="34" charset="0"/>
            </a:endParaRPr>
          </a:p>
          <a:p>
            <a:pPr fontAlgn="base"/>
            <a:r>
              <a:rPr lang="pt-BR" dirty="0">
                <a:solidFill>
                  <a:schemeClr val="accent6"/>
                </a:solidFill>
                <a:latin typeface="Lucida Sans Unicode" panose="020B0602030504020204" pitchFamily="34" charset="0"/>
                <a:cs typeface="Lucida Sans Unicode" panose="020B0602030504020204" pitchFamily="34" charset="0"/>
              </a:rPr>
              <a:t>3. Dados confiáveis acerca dos custos de estocagem e de pedido;</a:t>
            </a:r>
          </a:p>
          <a:p>
            <a:pPr fontAlgn="base"/>
            <a:endParaRPr lang="pt-BR" dirty="0">
              <a:solidFill>
                <a:schemeClr val="accent6"/>
              </a:solidFill>
              <a:latin typeface="Lucida Sans Unicode" panose="020B0602030504020204" pitchFamily="34" charset="0"/>
              <a:cs typeface="Lucida Sans Unicode" panose="020B0602030504020204" pitchFamily="34" charset="0"/>
            </a:endParaRPr>
          </a:p>
          <a:p>
            <a:pPr fontAlgn="base"/>
            <a:r>
              <a:rPr lang="pt-BR" dirty="0">
                <a:solidFill>
                  <a:schemeClr val="accent6"/>
                </a:solidFill>
                <a:latin typeface="Lucida Sans Unicode" panose="020B0602030504020204" pitchFamily="34" charset="0"/>
                <a:cs typeface="Lucida Sans Unicode" panose="020B0602030504020204" pitchFamily="34" charset="0"/>
              </a:rPr>
              <a:t>4. Demanda esperada que não se altere em percentual maior que 10%;</a:t>
            </a:r>
          </a:p>
          <a:p>
            <a:pPr fontAlgn="base"/>
            <a:endParaRPr lang="pt-BR" dirty="0">
              <a:solidFill>
                <a:schemeClr val="accent6"/>
              </a:solidFill>
              <a:latin typeface="Lucida Sans Unicode" panose="020B0602030504020204" pitchFamily="34" charset="0"/>
              <a:cs typeface="Lucida Sans Unicode" panose="020B0602030504020204" pitchFamily="34" charset="0"/>
            </a:endParaRPr>
          </a:p>
          <a:p>
            <a:pPr fontAlgn="base"/>
            <a:r>
              <a:rPr lang="pt-BR" dirty="0">
                <a:solidFill>
                  <a:schemeClr val="accent6"/>
                </a:solidFill>
                <a:latin typeface="Lucida Sans Unicode" panose="020B0602030504020204" pitchFamily="34" charset="0"/>
                <a:cs typeface="Lucida Sans Unicode" panose="020B0602030504020204" pitchFamily="34" charset="0"/>
              </a:rPr>
              <a:t>5. Não haja restrições de tamanho de pedido;</a:t>
            </a:r>
          </a:p>
          <a:p>
            <a:pPr fontAlgn="base"/>
            <a:endParaRPr lang="pt-BR" b="0" i="0" dirty="0">
              <a:solidFill>
                <a:schemeClr val="accent6"/>
              </a:solidFill>
              <a:effectLst/>
              <a:latin typeface="Lucida Sans Unicode" panose="020B0602030504020204" pitchFamily="34" charset="0"/>
              <a:cs typeface="Lucida Sans Unicode" panose="020B0602030504020204" pitchFamily="34" charset="0"/>
            </a:endParaRPr>
          </a:p>
          <a:p>
            <a:pPr fontAlgn="base"/>
            <a:r>
              <a:rPr lang="pt-BR" dirty="0">
                <a:solidFill>
                  <a:schemeClr val="accent6"/>
                </a:solidFill>
                <a:latin typeface="Lucida Sans Unicode" panose="020B0602030504020204" pitchFamily="34" charset="0"/>
                <a:cs typeface="Lucida Sans Unicode" panose="020B0602030504020204" pitchFamily="34" charset="0"/>
              </a:rPr>
              <a:t>6. Não haja desconto por quantidade comprada.</a:t>
            </a:r>
            <a:endParaRPr lang="pt-BR" b="0" i="0" dirty="0">
              <a:solidFill>
                <a:schemeClr val="accent6"/>
              </a:solidFill>
              <a:effectLst/>
              <a:latin typeface="Lucida Sans Unicode" panose="020B0602030504020204" pitchFamily="34" charset="0"/>
              <a:cs typeface="Lucida Sans Unicode" panose="020B0602030504020204" pitchFamily="34" charset="0"/>
            </a:endParaRPr>
          </a:p>
        </p:txBody>
      </p:sp>
      <p:sp>
        <p:nvSpPr>
          <p:cNvPr id="4" name="Retângulo 3"/>
          <p:cNvSpPr/>
          <p:nvPr/>
        </p:nvSpPr>
        <p:spPr>
          <a:xfrm>
            <a:off x="4925172" y="1699894"/>
            <a:ext cx="2518638" cy="369332"/>
          </a:xfrm>
          <a:prstGeom prst="rect">
            <a:avLst/>
          </a:prstGeom>
        </p:spPr>
        <p:txBody>
          <a:bodyPr wrap="none">
            <a:spAutoFit/>
          </a:bodyPr>
          <a:lstStyle/>
          <a:p>
            <a:pPr algn="ctr" fontAlgn="base"/>
            <a:r>
              <a:rPr lang="pt-BR" b="1" dirty="0">
                <a:solidFill>
                  <a:schemeClr val="accent6"/>
                </a:solidFill>
                <a:latin typeface="Lucida Sans Unicode" panose="020B0602030504020204" pitchFamily="34" charset="0"/>
                <a:cs typeface="Lucida Sans Unicode" panose="020B0602030504020204" pitchFamily="34" charset="0"/>
              </a:rPr>
              <a:t>LIMITAÇÕES DO LEC</a:t>
            </a:r>
          </a:p>
        </p:txBody>
      </p:sp>
      <p:sp>
        <p:nvSpPr>
          <p:cNvPr id="6" name="CaixaDeTexto 5"/>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Tree>
    <p:extLst>
      <p:ext uri="{BB962C8B-B14F-4D97-AF65-F5344CB8AC3E}">
        <p14:creationId xmlns:p14="http://schemas.microsoft.com/office/powerpoint/2010/main" val="2648098375"/>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2" name="Rectangle 3"/>
          <p:cNvSpPr>
            <a:spLocks noChangeArrowheads="1"/>
          </p:cNvSpPr>
          <p:nvPr/>
        </p:nvSpPr>
        <p:spPr bwMode="auto">
          <a:xfrm>
            <a:off x="1881188" y="6488114"/>
            <a:ext cx="184150" cy="307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a:buClr>
                <a:srgbClr val="000000"/>
              </a:buClr>
              <a:buSzPct val="100000"/>
              <a:buFont typeface="Times New Roman" panose="02020603050405020304" pitchFamily="18" charset="0"/>
              <a:buNone/>
            </a:pPr>
            <a:endParaRPr lang="pt-BR" altLang="pt-BR" dirty="0"/>
          </a:p>
        </p:txBody>
      </p:sp>
      <p:sp>
        <p:nvSpPr>
          <p:cNvPr id="12294" name="Line 5"/>
          <p:cNvSpPr>
            <a:spLocks noChangeShapeType="1"/>
          </p:cNvSpPr>
          <p:nvPr/>
        </p:nvSpPr>
        <p:spPr bwMode="auto">
          <a:xfrm>
            <a:off x="1132562" y="6043302"/>
            <a:ext cx="7272337" cy="1588"/>
          </a:xfrm>
          <a:prstGeom prst="line">
            <a:avLst/>
          </a:prstGeom>
          <a:noFill/>
          <a:ln w="1260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2295" name="Line 6"/>
          <p:cNvSpPr>
            <a:spLocks noChangeShapeType="1"/>
          </p:cNvSpPr>
          <p:nvPr/>
        </p:nvSpPr>
        <p:spPr bwMode="auto">
          <a:xfrm flipV="1">
            <a:off x="1277023" y="2222191"/>
            <a:ext cx="1588" cy="3971925"/>
          </a:xfrm>
          <a:prstGeom prst="line">
            <a:avLst/>
          </a:prstGeom>
          <a:noFill/>
          <a:ln w="1260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2296" name="Text Box 7"/>
          <p:cNvSpPr txBox="1">
            <a:spLocks noChangeArrowheads="1"/>
          </p:cNvSpPr>
          <p:nvPr/>
        </p:nvSpPr>
        <p:spPr bwMode="auto">
          <a:xfrm>
            <a:off x="8009611" y="5970279"/>
            <a:ext cx="503238" cy="661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700" b="1" dirty="0">
                <a:solidFill>
                  <a:schemeClr val="accent6"/>
                </a:solidFill>
                <a:latin typeface="Lucida Sans Unicode" panose="020B0602030504020204" pitchFamily="34" charset="0"/>
              </a:rPr>
              <a:t>Q</a:t>
            </a:r>
          </a:p>
        </p:txBody>
      </p:sp>
      <p:sp>
        <p:nvSpPr>
          <p:cNvPr id="12297" name="Text Box 8"/>
          <p:cNvSpPr txBox="1">
            <a:spLocks noChangeArrowheads="1"/>
          </p:cNvSpPr>
          <p:nvPr/>
        </p:nvSpPr>
        <p:spPr bwMode="auto">
          <a:xfrm>
            <a:off x="857923" y="2228541"/>
            <a:ext cx="503238" cy="661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700" b="1" dirty="0">
                <a:solidFill>
                  <a:schemeClr val="accent6"/>
                </a:solidFill>
                <a:latin typeface="Lucida Sans Unicode" panose="020B0602030504020204" pitchFamily="34" charset="0"/>
              </a:rPr>
              <a:t>$</a:t>
            </a:r>
          </a:p>
        </p:txBody>
      </p:sp>
      <p:sp>
        <p:nvSpPr>
          <p:cNvPr id="12298" name="Line 9"/>
          <p:cNvSpPr>
            <a:spLocks noChangeShapeType="1"/>
          </p:cNvSpPr>
          <p:nvPr/>
        </p:nvSpPr>
        <p:spPr bwMode="auto">
          <a:xfrm>
            <a:off x="1277023" y="5405434"/>
            <a:ext cx="647700" cy="1588"/>
          </a:xfrm>
          <a:prstGeom prst="line">
            <a:avLst/>
          </a:prstGeom>
          <a:noFill/>
          <a:ln w="9360" cap="sq">
            <a:solidFill>
              <a:srgbClr val="0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2299" name="Line 10"/>
          <p:cNvSpPr>
            <a:spLocks noChangeShapeType="1"/>
          </p:cNvSpPr>
          <p:nvPr/>
        </p:nvSpPr>
        <p:spPr bwMode="auto">
          <a:xfrm>
            <a:off x="1277023" y="2803216"/>
            <a:ext cx="6408738" cy="1587"/>
          </a:xfrm>
          <a:prstGeom prst="line">
            <a:avLst/>
          </a:prstGeom>
          <a:noFill/>
          <a:ln w="9360" cap="sq">
            <a:solidFill>
              <a:srgbClr val="0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2300" name="Line 11"/>
          <p:cNvSpPr>
            <a:spLocks noChangeShapeType="1"/>
          </p:cNvSpPr>
          <p:nvPr/>
        </p:nvSpPr>
        <p:spPr bwMode="auto">
          <a:xfrm>
            <a:off x="1924723" y="5405434"/>
            <a:ext cx="1588" cy="647700"/>
          </a:xfrm>
          <a:prstGeom prst="line">
            <a:avLst/>
          </a:prstGeom>
          <a:noFill/>
          <a:ln w="9360" cap="sq">
            <a:solidFill>
              <a:srgbClr val="0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2301" name="Line 12"/>
          <p:cNvSpPr>
            <a:spLocks noChangeShapeType="1"/>
          </p:cNvSpPr>
          <p:nvPr/>
        </p:nvSpPr>
        <p:spPr bwMode="auto">
          <a:xfrm>
            <a:off x="7684173" y="2803216"/>
            <a:ext cx="1588" cy="3240087"/>
          </a:xfrm>
          <a:prstGeom prst="line">
            <a:avLst/>
          </a:prstGeom>
          <a:noFill/>
          <a:ln w="9360" cap="sq">
            <a:solidFill>
              <a:srgbClr val="0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2302" name="Line 13"/>
          <p:cNvSpPr>
            <a:spLocks noChangeShapeType="1"/>
          </p:cNvSpPr>
          <p:nvPr/>
        </p:nvSpPr>
        <p:spPr bwMode="auto">
          <a:xfrm flipV="1">
            <a:off x="1672311" y="2711140"/>
            <a:ext cx="6229350" cy="2819400"/>
          </a:xfrm>
          <a:prstGeom prst="line">
            <a:avLst/>
          </a:prstGeom>
          <a:noFill/>
          <a:ln w="36000" cap="sq">
            <a:solidFill>
              <a:srgbClr val="FF3333"/>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2303" name="Text Box 14"/>
          <p:cNvSpPr txBox="1">
            <a:spLocks noChangeArrowheads="1"/>
          </p:cNvSpPr>
          <p:nvPr/>
        </p:nvSpPr>
        <p:spPr bwMode="auto">
          <a:xfrm>
            <a:off x="8433905" y="3992253"/>
            <a:ext cx="301256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b="1" dirty="0">
                <a:solidFill>
                  <a:schemeClr val="accent6"/>
                </a:solidFill>
                <a:latin typeface="Lucida Sans Unicode" panose="020B0602030504020204" pitchFamily="34" charset="0"/>
              </a:rPr>
              <a:t>CA = Q/2 x CPA x PU</a:t>
            </a:r>
          </a:p>
        </p:txBody>
      </p:sp>
      <p:sp>
        <p:nvSpPr>
          <p:cNvPr id="12304" name="Text Box 15"/>
          <p:cNvSpPr txBox="1">
            <a:spLocks noChangeArrowheads="1"/>
          </p:cNvSpPr>
          <p:nvPr/>
        </p:nvSpPr>
        <p:spPr bwMode="auto">
          <a:xfrm>
            <a:off x="8433905" y="3079177"/>
            <a:ext cx="365805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b="1" dirty="0">
                <a:solidFill>
                  <a:schemeClr val="accent6"/>
                </a:solidFill>
                <a:latin typeface="Lucida Sans Unicode" panose="020B0602030504020204" pitchFamily="34" charset="0"/>
              </a:rPr>
              <a:t>1. CUSTO DE ARMAZENAR</a:t>
            </a:r>
          </a:p>
        </p:txBody>
      </p:sp>
      <p:sp>
        <p:nvSpPr>
          <p:cNvPr id="12305" name="Text Box 16"/>
          <p:cNvSpPr txBox="1">
            <a:spLocks noChangeArrowheads="1"/>
          </p:cNvSpPr>
          <p:nvPr/>
        </p:nvSpPr>
        <p:spPr bwMode="auto">
          <a:xfrm>
            <a:off x="3298577" y="5043484"/>
            <a:ext cx="4281488" cy="1009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b="1" dirty="0">
                <a:solidFill>
                  <a:schemeClr val="accent6"/>
                </a:solidFill>
                <a:latin typeface="Lucida Sans Unicode" panose="020B0602030504020204" pitchFamily="34" charset="0"/>
              </a:rPr>
              <a:t>Q/2 = Estoque médio</a:t>
            </a:r>
          </a:p>
          <a:p>
            <a:pPr>
              <a:spcBef>
                <a:spcPts val="400"/>
              </a:spcBef>
              <a:buClrTx/>
            </a:pPr>
            <a:r>
              <a:rPr lang="pt-BR" altLang="pt-BR" b="1" dirty="0">
                <a:solidFill>
                  <a:schemeClr val="accent6"/>
                </a:solidFill>
                <a:latin typeface="Lucida Sans Unicode" panose="020B0602030504020204" pitchFamily="34" charset="0"/>
              </a:rPr>
              <a:t>CPA = Custo Produto Armazenado (%)</a:t>
            </a:r>
          </a:p>
          <a:p>
            <a:pPr>
              <a:spcBef>
                <a:spcPts val="400"/>
              </a:spcBef>
              <a:buClrTx/>
            </a:pPr>
            <a:r>
              <a:rPr lang="pt-BR" altLang="pt-BR" b="1" dirty="0">
                <a:solidFill>
                  <a:schemeClr val="accent6"/>
                </a:solidFill>
                <a:latin typeface="Lucida Sans Unicode" panose="020B0602030504020204" pitchFamily="34" charset="0"/>
              </a:rPr>
              <a:t>PU = Preço Unitário</a:t>
            </a:r>
          </a:p>
        </p:txBody>
      </p:sp>
      <p:sp>
        <p:nvSpPr>
          <p:cNvPr id="21" name="CaixaDeTexto 20"/>
          <p:cNvSpPr txBox="1"/>
          <p:nvPr/>
        </p:nvSpPr>
        <p:spPr>
          <a:xfrm>
            <a:off x="2099556" y="953193"/>
            <a:ext cx="7992888" cy="400110"/>
          </a:xfrm>
          <a:prstGeom prst="rect">
            <a:avLst/>
          </a:prstGeom>
          <a:noFill/>
        </p:spPr>
        <p:txBody>
          <a:bodyPr wrap="square" rtlCol="0">
            <a:spAutoFit/>
          </a:bodyPr>
          <a:lstStyle/>
          <a:p>
            <a:pPr algn="ctr">
              <a:buClrTx/>
              <a:buFontTx/>
              <a:buNone/>
            </a:pPr>
            <a:r>
              <a:rPr lang="pt-BR" altLang="pt-BR" sz="2000" b="1" dirty="0">
                <a:solidFill>
                  <a:schemeClr val="accent6"/>
                </a:solidFill>
                <a:latin typeface="Lucida Sans Unicode" panose="020B0602030504020204" pitchFamily="34" charset="0"/>
              </a:rPr>
              <a:t>LOTE ECONÔMICO DE COMPRA</a:t>
            </a:r>
          </a:p>
        </p:txBody>
      </p:sp>
      <p:sp>
        <p:nvSpPr>
          <p:cNvPr id="25" name="CaixaDeTexto 24"/>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Tree>
    <p:extLst>
      <p:ext uri="{BB962C8B-B14F-4D97-AF65-F5344CB8AC3E}">
        <p14:creationId xmlns:p14="http://schemas.microsoft.com/office/powerpoint/2010/main" val="354793466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41" name="Line 4"/>
          <p:cNvSpPr>
            <a:spLocks noChangeShapeType="1"/>
          </p:cNvSpPr>
          <p:nvPr/>
        </p:nvSpPr>
        <p:spPr bwMode="auto">
          <a:xfrm flipV="1">
            <a:off x="1277034" y="2220708"/>
            <a:ext cx="1588" cy="3971925"/>
          </a:xfrm>
          <a:prstGeom prst="line">
            <a:avLst/>
          </a:prstGeom>
          <a:noFill/>
          <a:ln w="1260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4342" name="Line 5"/>
          <p:cNvSpPr>
            <a:spLocks noChangeShapeType="1"/>
          </p:cNvSpPr>
          <p:nvPr/>
        </p:nvSpPr>
        <p:spPr bwMode="auto">
          <a:xfrm>
            <a:off x="1132573" y="6041819"/>
            <a:ext cx="7272337" cy="1588"/>
          </a:xfrm>
          <a:prstGeom prst="line">
            <a:avLst/>
          </a:prstGeom>
          <a:noFill/>
          <a:ln w="1260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4344" name="Text Box 7"/>
          <p:cNvSpPr txBox="1">
            <a:spLocks noChangeArrowheads="1"/>
          </p:cNvSpPr>
          <p:nvPr/>
        </p:nvSpPr>
        <p:spPr bwMode="auto">
          <a:xfrm>
            <a:off x="857934" y="2227058"/>
            <a:ext cx="503238" cy="661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700" b="1" dirty="0">
                <a:solidFill>
                  <a:schemeClr val="accent6"/>
                </a:solidFill>
                <a:latin typeface="Lucida Sans Unicode" panose="020B0602030504020204" pitchFamily="34" charset="0"/>
              </a:rPr>
              <a:t>$</a:t>
            </a:r>
          </a:p>
        </p:txBody>
      </p:sp>
      <p:sp>
        <p:nvSpPr>
          <p:cNvPr id="14346" name="Freeform 9"/>
          <p:cNvSpPr>
            <a:spLocks noChangeArrowheads="1"/>
          </p:cNvSpPr>
          <p:nvPr/>
        </p:nvSpPr>
        <p:spPr bwMode="auto">
          <a:xfrm>
            <a:off x="1708835" y="2442957"/>
            <a:ext cx="6264275" cy="3313112"/>
          </a:xfrm>
          <a:custGeom>
            <a:avLst/>
            <a:gdLst>
              <a:gd name="T0" fmla="*/ 0 w 17401"/>
              <a:gd name="T1" fmla="*/ 0 h 9201"/>
              <a:gd name="T2" fmla="*/ 2147483646 w 17401"/>
              <a:gd name="T3" fmla="*/ 2147483646 h 9201"/>
              <a:gd name="T4" fmla="*/ 0 60000 65536"/>
              <a:gd name="T5" fmla="*/ 0 60000 65536"/>
            </a:gdLst>
            <a:ahLst/>
            <a:cxnLst>
              <a:cxn ang="T4">
                <a:pos x="T0" y="T1"/>
              </a:cxn>
              <a:cxn ang="T5">
                <a:pos x="T2" y="T3"/>
              </a:cxn>
            </a:cxnLst>
            <a:rect l="0" t="0" r="r" b="b"/>
            <a:pathLst>
              <a:path w="17401" h="9201">
                <a:moveTo>
                  <a:pt x="0" y="0"/>
                </a:moveTo>
                <a:cubicBezTo>
                  <a:pt x="600" y="8200"/>
                  <a:pt x="17400" y="9200"/>
                  <a:pt x="17400" y="9200"/>
                </a:cubicBezTo>
              </a:path>
            </a:pathLst>
          </a:custGeom>
          <a:noFill/>
          <a:ln w="36000" cap="flat">
            <a:solidFill>
              <a:srgbClr val="00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pt-BR" dirty="0"/>
          </a:p>
        </p:txBody>
      </p:sp>
      <p:sp>
        <p:nvSpPr>
          <p:cNvPr id="14347" name="Line 10"/>
          <p:cNvSpPr>
            <a:spLocks noChangeShapeType="1"/>
          </p:cNvSpPr>
          <p:nvPr/>
        </p:nvSpPr>
        <p:spPr bwMode="auto">
          <a:xfrm>
            <a:off x="1816784" y="3017633"/>
            <a:ext cx="1588" cy="3024187"/>
          </a:xfrm>
          <a:prstGeom prst="line">
            <a:avLst/>
          </a:prstGeom>
          <a:noFill/>
          <a:ln w="9360" cap="sq">
            <a:solidFill>
              <a:srgbClr val="0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4348" name="Line 11"/>
          <p:cNvSpPr>
            <a:spLocks noChangeShapeType="1"/>
          </p:cNvSpPr>
          <p:nvPr/>
        </p:nvSpPr>
        <p:spPr bwMode="auto">
          <a:xfrm>
            <a:off x="7757209" y="5754483"/>
            <a:ext cx="1588" cy="287337"/>
          </a:xfrm>
          <a:prstGeom prst="line">
            <a:avLst/>
          </a:prstGeom>
          <a:noFill/>
          <a:ln w="9360" cap="sq">
            <a:solidFill>
              <a:srgbClr val="0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4349" name="Text Box 12"/>
          <p:cNvSpPr txBox="1">
            <a:spLocks noChangeArrowheads="1"/>
          </p:cNvSpPr>
          <p:nvPr/>
        </p:nvSpPr>
        <p:spPr bwMode="auto">
          <a:xfrm>
            <a:off x="4071036" y="3575726"/>
            <a:ext cx="2966628"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b="1" dirty="0">
                <a:solidFill>
                  <a:schemeClr val="accent6"/>
                </a:solidFill>
                <a:latin typeface="Lucida Sans Unicode" panose="020B0602030504020204" pitchFamily="34" charset="0"/>
              </a:rPr>
              <a:t>CC = CA/Q x Cc </a:t>
            </a:r>
          </a:p>
        </p:txBody>
      </p:sp>
      <p:sp>
        <p:nvSpPr>
          <p:cNvPr id="14350" name="Text Box 13"/>
          <p:cNvSpPr txBox="1">
            <a:spLocks noChangeArrowheads="1"/>
          </p:cNvSpPr>
          <p:nvPr/>
        </p:nvSpPr>
        <p:spPr bwMode="auto">
          <a:xfrm>
            <a:off x="8081059" y="4206670"/>
            <a:ext cx="3887788"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b="1" dirty="0">
                <a:solidFill>
                  <a:schemeClr val="accent6"/>
                </a:solidFill>
                <a:latin typeface="Lucida Sans Unicode" panose="020B0602030504020204" pitchFamily="34" charset="0"/>
              </a:rPr>
              <a:t>D = Demanda (ou Consumo)</a:t>
            </a:r>
          </a:p>
          <a:p>
            <a:pPr>
              <a:spcBef>
                <a:spcPts val="400"/>
              </a:spcBef>
              <a:buClrTx/>
            </a:pPr>
            <a:r>
              <a:rPr lang="pt-BR" altLang="pt-BR" b="1" dirty="0">
                <a:solidFill>
                  <a:schemeClr val="accent6"/>
                </a:solidFill>
                <a:latin typeface="Lucida Sans Unicode" panose="020B0602030504020204" pitchFamily="34" charset="0"/>
              </a:rPr>
              <a:t>Q = Lote de compra</a:t>
            </a:r>
          </a:p>
          <a:p>
            <a:pPr>
              <a:spcBef>
                <a:spcPts val="400"/>
              </a:spcBef>
              <a:buClrTx/>
            </a:pPr>
            <a:r>
              <a:rPr lang="pt-BR" altLang="pt-BR" b="1" dirty="0">
                <a:solidFill>
                  <a:schemeClr val="accent6"/>
                </a:solidFill>
                <a:latin typeface="Lucida Sans Unicode" panose="020B0602030504020204" pitchFamily="34" charset="0"/>
              </a:rPr>
              <a:t>Cc = Custo de comprar um lote</a:t>
            </a:r>
          </a:p>
        </p:txBody>
      </p:sp>
      <p:sp>
        <p:nvSpPr>
          <p:cNvPr id="14351" name="Line 14"/>
          <p:cNvSpPr>
            <a:spLocks noChangeShapeType="1"/>
          </p:cNvSpPr>
          <p:nvPr/>
        </p:nvSpPr>
        <p:spPr bwMode="auto">
          <a:xfrm flipH="1">
            <a:off x="1272273" y="3017633"/>
            <a:ext cx="547687" cy="1587"/>
          </a:xfrm>
          <a:prstGeom prst="line">
            <a:avLst/>
          </a:prstGeom>
          <a:noFill/>
          <a:ln w="9360" cap="sq">
            <a:solidFill>
              <a:srgbClr val="0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4352" name="Line 15"/>
          <p:cNvSpPr>
            <a:spLocks noChangeShapeType="1"/>
          </p:cNvSpPr>
          <p:nvPr/>
        </p:nvSpPr>
        <p:spPr bwMode="auto">
          <a:xfrm flipH="1" flipV="1">
            <a:off x="1269097" y="5725167"/>
            <a:ext cx="6488112" cy="19050"/>
          </a:xfrm>
          <a:prstGeom prst="line">
            <a:avLst/>
          </a:prstGeom>
          <a:noFill/>
          <a:ln w="9360" cap="sq">
            <a:solidFill>
              <a:srgbClr val="0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7" name="Text Box 15"/>
          <p:cNvSpPr txBox="1">
            <a:spLocks noChangeArrowheads="1"/>
          </p:cNvSpPr>
          <p:nvPr/>
        </p:nvSpPr>
        <p:spPr bwMode="auto">
          <a:xfrm>
            <a:off x="4071036" y="3048231"/>
            <a:ext cx="4249737"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b="1" dirty="0">
                <a:solidFill>
                  <a:schemeClr val="accent6"/>
                </a:solidFill>
                <a:latin typeface="Lucida Sans Unicode" panose="020B0602030504020204" pitchFamily="34" charset="0"/>
              </a:rPr>
              <a:t>2. CUSTO DE COMPRAR</a:t>
            </a:r>
          </a:p>
        </p:txBody>
      </p:sp>
      <p:sp>
        <p:nvSpPr>
          <p:cNvPr id="16" name="Line 5"/>
          <p:cNvSpPr>
            <a:spLocks noChangeShapeType="1"/>
          </p:cNvSpPr>
          <p:nvPr/>
        </p:nvSpPr>
        <p:spPr bwMode="auto">
          <a:xfrm>
            <a:off x="1132562" y="6043302"/>
            <a:ext cx="7272337" cy="1588"/>
          </a:xfrm>
          <a:prstGeom prst="line">
            <a:avLst/>
          </a:prstGeom>
          <a:noFill/>
          <a:ln w="1260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20" name="Line 6"/>
          <p:cNvSpPr>
            <a:spLocks noChangeShapeType="1"/>
          </p:cNvSpPr>
          <p:nvPr/>
        </p:nvSpPr>
        <p:spPr bwMode="auto">
          <a:xfrm flipV="1">
            <a:off x="1277023" y="2222191"/>
            <a:ext cx="1588" cy="3971925"/>
          </a:xfrm>
          <a:prstGeom prst="line">
            <a:avLst/>
          </a:prstGeom>
          <a:noFill/>
          <a:ln w="1260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21" name="Text Box 7"/>
          <p:cNvSpPr txBox="1">
            <a:spLocks noChangeArrowheads="1"/>
          </p:cNvSpPr>
          <p:nvPr/>
        </p:nvSpPr>
        <p:spPr bwMode="auto">
          <a:xfrm>
            <a:off x="8009611" y="5970279"/>
            <a:ext cx="503238" cy="661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700" b="1" dirty="0">
                <a:solidFill>
                  <a:schemeClr val="accent6"/>
                </a:solidFill>
                <a:latin typeface="Lucida Sans Unicode" panose="020B0602030504020204" pitchFamily="34" charset="0"/>
              </a:rPr>
              <a:t>Q</a:t>
            </a:r>
          </a:p>
        </p:txBody>
      </p:sp>
      <p:sp>
        <p:nvSpPr>
          <p:cNvPr id="24" name="CaixaDeTexto 23"/>
          <p:cNvSpPr txBox="1"/>
          <p:nvPr/>
        </p:nvSpPr>
        <p:spPr>
          <a:xfrm>
            <a:off x="2099556" y="953193"/>
            <a:ext cx="7992888" cy="400110"/>
          </a:xfrm>
          <a:prstGeom prst="rect">
            <a:avLst/>
          </a:prstGeom>
          <a:noFill/>
        </p:spPr>
        <p:txBody>
          <a:bodyPr wrap="square" rtlCol="0">
            <a:spAutoFit/>
          </a:bodyPr>
          <a:lstStyle/>
          <a:p>
            <a:pPr algn="ctr">
              <a:buClrTx/>
              <a:buFontTx/>
              <a:buNone/>
            </a:pPr>
            <a:r>
              <a:rPr lang="pt-BR" altLang="pt-BR" sz="2000" b="1" dirty="0">
                <a:solidFill>
                  <a:schemeClr val="accent6"/>
                </a:solidFill>
                <a:latin typeface="Lucida Sans Unicode" panose="020B0602030504020204" pitchFamily="34" charset="0"/>
              </a:rPr>
              <a:t>LOTE ECONÔMICO DE COMPRA</a:t>
            </a:r>
          </a:p>
        </p:txBody>
      </p:sp>
      <p:sp>
        <p:nvSpPr>
          <p:cNvPr id="25" name="CaixaDeTexto 24"/>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Tree>
    <p:extLst>
      <p:ext uri="{BB962C8B-B14F-4D97-AF65-F5344CB8AC3E}">
        <p14:creationId xmlns:p14="http://schemas.microsoft.com/office/powerpoint/2010/main" val="222766680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9" name="Freeform 7"/>
          <p:cNvSpPr>
            <a:spLocks noChangeArrowheads="1"/>
          </p:cNvSpPr>
          <p:nvPr/>
        </p:nvSpPr>
        <p:spPr bwMode="auto">
          <a:xfrm>
            <a:off x="1751886" y="2769315"/>
            <a:ext cx="5942012" cy="3078162"/>
          </a:xfrm>
          <a:custGeom>
            <a:avLst/>
            <a:gdLst>
              <a:gd name="T0" fmla="*/ 0 w 17401"/>
              <a:gd name="T1" fmla="*/ 0 h 9201"/>
              <a:gd name="T2" fmla="*/ 2147483646 w 17401"/>
              <a:gd name="T3" fmla="*/ 2147483646 h 9201"/>
              <a:gd name="T4" fmla="*/ 0 60000 65536"/>
              <a:gd name="T5" fmla="*/ 0 60000 65536"/>
            </a:gdLst>
            <a:ahLst/>
            <a:cxnLst>
              <a:cxn ang="T4">
                <a:pos x="T0" y="T1"/>
              </a:cxn>
              <a:cxn ang="T5">
                <a:pos x="T2" y="T3"/>
              </a:cxn>
            </a:cxnLst>
            <a:rect l="0" t="0" r="r" b="b"/>
            <a:pathLst>
              <a:path w="17401" h="9201">
                <a:moveTo>
                  <a:pt x="0" y="0"/>
                </a:moveTo>
                <a:cubicBezTo>
                  <a:pt x="600" y="8200"/>
                  <a:pt x="17400" y="9200"/>
                  <a:pt x="17400" y="9200"/>
                </a:cubicBezTo>
              </a:path>
            </a:pathLst>
          </a:custGeom>
          <a:noFill/>
          <a:ln w="36000" cap="flat">
            <a:solidFill>
              <a:srgbClr val="00CC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pt-BR" dirty="0"/>
          </a:p>
        </p:txBody>
      </p:sp>
      <p:sp>
        <p:nvSpPr>
          <p:cNvPr id="13320" name="Line 8"/>
          <p:cNvSpPr>
            <a:spLocks noChangeShapeType="1"/>
          </p:cNvSpPr>
          <p:nvPr/>
        </p:nvSpPr>
        <p:spPr bwMode="auto">
          <a:xfrm flipV="1">
            <a:off x="1805859" y="3043953"/>
            <a:ext cx="5859464" cy="2730500"/>
          </a:xfrm>
          <a:prstGeom prst="line">
            <a:avLst/>
          </a:prstGeom>
          <a:noFill/>
          <a:ln w="36000" cap="sq">
            <a:solidFill>
              <a:srgbClr val="FF3333"/>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3322" name="Freeform 10"/>
          <p:cNvSpPr>
            <a:spLocks noChangeArrowheads="1"/>
          </p:cNvSpPr>
          <p:nvPr/>
        </p:nvSpPr>
        <p:spPr bwMode="auto">
          <a:xfrm>
            <a:off x="1847596" y="2309558"/>
            <a:ext cx="5832476" cy="3186113"/>
          </a:xfrm>
          <a:custGeom>
            <a:avLst/>
            <a:gdLst>
              <a:gd name="T0" fmla="*/ 0 w 15801"/>
              <a:gd name="T1" fmla="*/ 0 h 9001"/>
              <a:gd name="T2" fmla="*/ 2147483646 w 15801"/>
              <a:gd name="T3" fmla="*/ 2147483646 h 9001"/>
              <a:gd name="T4" fmla="*/ 0 60000 65536"/>
              <a:gd name="T5" fmla="*/ 0 60000 65536"/>
            </a:gdLst>
            <a:ahLst/>
            <a:cxnLst>
              <a:cxn ang="T4">
                <a:pos x="T0" y="T1"/>
              </a:cxn>
              <a:cxn ang="T5">
                <a:pos x="T2" y="T3"/>
              </a:cxn>
            </a:cxnLst>
            <a:rect l="0" t="0" r="r" b="b"/>
            <a:pathLst>
              <a:path w="15801" h="9001">
                <a:moveTo>
                  <a:pt x="0" y="0"/>
                </a:moveTo>
                <a:cubicBezTo>
                  <a:pt x="1400" y="9000"/>
                  <a:pt x="15800" y="600"/>
                  <a:pt x="15800" y="600"/>
                </a:cubicBezTo>
              </a:path>
            </a:pathLst>
          </a:custGeom>
          <a:noFill/>
          <a:ln w="36000" cap="flat">
            <a:solidFill>
              <a:srgbClr val="00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pt-BR" dirty="0"/>
          </a:p>
        </p:txBody>
      </p:sp>
      <p:sp>
        <p:nvSpPr>
          <p:cNvPr id="13323" name="Line 11"/>
          <p:cNvSpPr>
            <a:spLocks noChangeShapeType="1"/>
          </p:cNvSpPr>
          <p:nvPr/>
        </p:nvSpPr>
        <p:spPr bwMode="auto">
          <a:xfrm>
            <a:off x="3647345" y="4931491"/>
            <a:ext cx="3" cy="1188000"/>
          </a:xfrm>
          <a:prstGeom prst="line">
            <a:avLst/>
          </a:prstGeom>
          <a:noFill/>
          <a:ln w="9360" cap="sq">
            <a:solidFill>
              <a:srgbClr val="0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3324" name="Line 12"/>
          <p:cNvSpPr>
            <a:spLocks noChangeShapeType="1"/>
          </p:cNvSpPr>
          <p:nvPr/>
        </p:nvSpPr>
        <p:spPr bwMode="auto">
          <a:xfrm>
            <a:off x="1194662" y="3774820"/>
            <a:ext cx="2417763" cy="20638"/>
          </a:xfrm>
          <a:prstGeom prst="line">
            <a:avLst/>
          </a:prstGeom>
          <a:noFill/>
          <a:ln w="9360" cap="sq">
            <a:solidFill>
              <a:srgbClr val="0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3325" name="Text Box 13"/>
          <p:cNvSpPr txBox="1">
            <a:spLocks noChangeArrowheads="1"/>
          </p:cNvSpPr>
          <p:nvPr/>
        </p:nvSpPr>
        <p:spPr bwMode="auto">
          <a:xfrm>
            <a:off x="8925167" y="4278900"/>
            <a:ext cx="230505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b="1" dirty="0">
                <a:solidFill>
                  <a:schemeClr val="accent6"/>
                </a:solidFill>
                <a:latin typeface="Lucida Sans Unicode" panose="020B0602030504020204" pitchFamily="34" charset="0"/>
              </a:rPr>
              <a:t>+ D/Q x Cc</a:t>
            </a:r>
          </a:p>
        </p:txBody>
      </p:sp>
      <p:sp>
        <p:nvSpPr>
          <p:cNvPr id="13326" name="Text Box 14"/>
          <p:cNvSpPr txBox="1">
            <a:spLocks noChangeArrowheads="1"/>
          </p:cNvSpPr>
          <p:nvPr/>
        </p:nvSpPr>
        <p:spPr bwMode="auto">
          <a:xfrm>
            <a:off x="7315200" y="4276260"/>
            <a:ext cx="213420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b="1" dirty="0">
                <a:solidFill>
                  <a:schemeClr val="accent6"/>
                </a:solidFill>
                <a:latin typeface="Lucida Sans Unicode" panose="020B0602030504020204" pitchFamily="34" charset="0"/>
              </a:rPr>
              <a:t>Q/2 x CPA x PU</a:t>
            </a:r>
          </a:p>
        </p:txBody>
      </p:sp>
      <p:sp>
        <p:nvSpPr>
          <p:cNvPr id="13327" name="Line 15"/>
          <p:cNvSpPr>
            <a:spLocks noChangeShapeType="1"/>
          </p:cNvSpPr>
          <p:nvPr/>
        </p:nvSpPr>
        <p:spPr bwMode="auto">
          <a:xfrm>
            <a:off x="3647345" y="3784345"/>
            <a:ext cx="3" cy="1116000"/>
          </a:xfrm>
          <a:prstGeom prst="line">
            <a:avLst/>
          </a:prstGeom>
          <a:noFill/>
          <a:ln w="9360" cap="sq">
            <a:solidFill>
              <a:srgbClr val="000000"/>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3328" name="Text Box 16"/>
          <p:cNvSpPr txBox="1">
            <a:spLocks noChangeArrowheads="1"/>
          </p:cNvSpPr>
          <p:nvPr/>
        </p:nvSpPr>
        <p:spPr bwMode="auto">
          <a:xfrm>
            <a:off x="3242753" y="6103478"/>
            <a:ext cx="86360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400" b="1" dirty="0">
                <a:solidFill>
                  <a:schemeClr val="accent6"/>
                </a:solidFill>
                <a:latin typeface="Lucida Sans Unicode" panose="020B0602030504020204" pitchFamily="34" charset="0"/>
              </a:rPr>
              <a:t>LEC</a:t>
            </a:r>
          </a:p>
        </p:txBody>
      </p:sp>
      <p:sp>
        <p:nvSpPr>
          <p:cNvPr id="16402" name="Text Box 17"/>
          <p:cNvSpPr txBox="1">
            <a:spLocks noChangeArrowheads="1"/>
          </p:cNvSpPr>
          <p:nvPr/>
        </p:nvSpPr>
        <p:spPr bwMode="auto">
          <a:xfrm>
            <a:off x="2135981" y="1803633"/>
            <a:ext cx="7920038"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b="1" dirty="0">
                <a:solidFill>
                  <a:schemeClr val="accent6"/>
                </a:solidFill>
                <a:latin typeface="Lucida Sans Unicode" panose="020B0602030504020204" pitchFamily="34" charset="0"/>
              </a:rPr>
              <a:t>CUSTO TOTAL = CUSTO DE ARMAZENAR + CUSTO DE COMPRAR</a:t>
            </a:r>
          </a:p>
        </p:txBody>
      </p:sp>
      <p:sp>
        <p:nvSpPr>
          <p:cNvPr id="13330" name="Text Box 18"/>
          <p:cNvSpPr txBox="1">
            <a:spLocks noChangeArrowheads="1"/>
          </p:cNvSpPr>
          <p:nvPr/>
        </p:nvSpPr>
        <p:spPr bwMode="auto">
          <a:xfrm>
            <a:off x="491076" y="3574693"/>
            <a:ext cx="877888" cy="500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175">
              <a:buClr>
                <a:srgbClr val="000000"/>
              </a:buClr>
              <a:buSzPct val="100000"/>
              <a:buFont typeface="Times New Roman" panose="02020603050405020304" pitchFamily="18" charset="0"/>
              <a:tabLst>
                <a:tab pos="3175" algn="l"/>
                <a:tab pos="450850" algn="l"/>
                <a:tab pos="900113" algn="l"/>
                <a:tab pos="1349375" algn="l"/>
                <a:tab pos="1798638" algn="l"/>
                <a:tab pos="2247900" algn="l"/>
                <a:tab pos="2697163" algn="l"/>
                <a:tab pos="3146425" algn="l"/>
                <a:tab pos="3595688" algn="l"/>
                <a:tab pos="4044950" algn="l"/>
                <a:tab pos="4494213" algn="l"/>
                <a:tab pos="4943475" algn="l"/>
                <a:tab pos="5392738" algn="l"/>
                <a:tab pos="5842000" algn="l"/>
                <a:tab pos="6291263" algn="l"/>
                <a:tab pos="6740525" algn="l"/>
                <a:tab pos="7189788" algn="l"/>
                <a:tab pos="7639050" algn="l"/>
                <a:tab pos="8088313" algn="l"/>
                <a:tab pos="8537575" algn="l"/>
                <a:tab pos="8986838"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175" algn="l"/>
                <a:tab pos="450850" algn="l"/>
                <a:tab pos="900113" algn="l"/>
                <a:tab pos="1349375" algn="l"/>
                <a:tab pos="1798638" algn="l"/>
                <a:tab pos="2247900" algn="l"/>
                <a:tab pos="2697163" algn="l"/>
                <a:tab pos="3146425" algn="l"/>
                <a:tab pos="3595688" algn="l"/>
                <a:tab pos="4044950" algn="l"/>
                <a:tab pos="4494213" algn="l"/>
                <a:tab pos="4943475" algn="l"/>
                <a:tab pos="5392738" algn="l"/>
                <a:tab pos="5842000" algn="l"/>
                <a:tab pos="6291263" algn="l"/>
                <a:tab pos="6740525" algn="l"/>
                <a:tab pos="7189788" algn="l"/>
                <a:tab pos="7639050" algn="l"/>
                <a:tab pos="8088313" algn="l"/>
                <a:tab pos="8537575" algn="l"/>
                <a:tab pos="8986838"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175" algn="l"/>
                <a:tab pos="450850" algn="l"/>
                <a:tab pos="900113" algn="l"/>
                <a:tab pos="1349375" algn="l"/>
                <a:tab pos="1798638" algn="l"/>
                <a:tab pos="2247900" algn="l"/>
                <a:tab pos="2697163" algn="l"/>
                <a:tab pos="3146425" algn="l"/>
                <a:tab pos="3595688" algn="l"/>
                <a:tab pos="4044950" algn="l"/>
                <a:tab pos="4494213" algn="l"/>
                <a:tab pos="4943475" algn="l"/>
                <a:tab pos="5392738" algn="l"/>
                <a:tab pos="5842000" algn="l"/>
                <a:tab pos="6291263" algn="l"/>
                <a:tab pos="6740525" algn="l"/>
                <a:tab pos="7189788" algn="l"/>
                <a:tab pos="7639050" algn="l"/>
                <a:tab pos="8088313" algn="l"/>
                <a:tab pos="8537575" algn="l"/>
                <a:tab pos="8986838"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175" algn="l"/>
                <a:tab pos="450850" algn="l"/>
                <a:tab pos="900113" algn="l"/>
                <a:tab pos="1349375" algn="l"/>
                <a:tab pos="1798638" algn="l"/>
                <a:tab pos="2247900" algn="l"/>
                <a:tab pos="2697163" algn="l"/>
                <a:tab pos="3146425" algn="l"/>
                <a:tab pos="3595688" algn="l"/>
                <a:tab pos="4044950" algn="l"/>
                <a:tab pos="4494213" algn="l"/>
                <a:tab pos="4943475" algn="l"/>
                <a:tab pos="5392738" algn="l"/>
                <a:tab pos="5842000" algn="l"/>
                <a:tab pos="6291263" algn="l"/>
                <a:tab pos="6740525" algn="l"/>
                <a:tab pos="7189788" algn="l"/>
                <a:tab pos="7639050" algn="l"/>
                <a:tab pos="8088313" algn="l"/>
                <a:tab pos="8537575" algn="l"/>
                <a:tab pos="8986838"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175" algn="l"/>
                <a:tab pos="450850" algn="l"/>
                <a:tab pos="900113" algn="l"/>
                <a:tab pos="1349375" algn="l"/>
                <a:tab pos="1798638" algn="l"/>
                <a:tab pos="2247900" algn="l"/>
                <a:tab pos="2697163" algn="l"/>
                <a:tab pos="3146425" algn="l"/>
                <a:tab pos="3595688" algn="l"/>
                <a:tab pos="4044950" algn="l"/>
                <a:tab pos="4494213" algn="l"/>
                <a:tab pos="4943475" algn="l"/>
                <a:tab pos="5392738" algn="l"/>
                <a:tab pos="5842000" algn="l"/>
                <a:tab pos="6291263" algn="l"/>
                <a:tab pos="6740525" algn="l"/>
                <a:tab pos="7189788" algn="l"/>
                <a:tab pos="7639050" algn="l"/>
                <a:tab pos="8088313" algn="l"/>
                <a:tab pos="8537575" algn="l"/>
                <a:tab pos="8986838"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175" algn="l"/>
                <a:tab pos="450850" algn="l"/>
                <a:tab pos="900113" algn="l"/>
                <a:tab pos="1349375" algn="l"/>
                <a:tab pos="1798638" algn="l"/>
                <a:tab pos="2247900" algn="l"/>
                <a:tab pos="2697163" algn="l"/>
                <a:tab pos="3146425" algn="l"/>
                <a:tab pos="3595688" algn="l"/>
                <a:tab pos="4044950" algn="l"/>
                <a:tab pos="4494213" algn="l"/>
                <a:tab pos="4943475" algn="l"/>
                <a:tab pos="5392738" algn="l"/>
                <a:tab pos="5842000" algn="l"/>
                <a:tab pos="6291263" algn="l"/>
                <a:tab pos="6740525" algn="l"/>
                <a:tab pos="7189788" algn="l"/>
                <a:tab pos="7639050" algn="l"/>
                <a:tab pos="8088313" algn="l"/>
                <a:tab pos="8537575" algn="l"/>
                <a:tab pos="8986838"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175" algn="l"/>
                <a:tab pos="450850" algn="l"/>
                <a:tab pos="900113" algn="l"/>
                <a:tab pos="1349375" algn="l"/>
                <a:tab pos="1798638" algn="l"/>
                <a:tab pos="2247900" algn="l"/>
                <a:tab pos="2697163" algn="l"/>
                <a:tab pos="3146425" algn="l"/>
                <a:tab pos="3595688" algn="l"/>
                <a:tab pos="4044950" algn="l"/>
                <a:tab pos="4494213" algn="l"/>
                <a:tab pos="4943475" algn="l"/>
                <a:tab pos="5392738" algn="l"/>
                <a:tab pos="5842000" algn="l"/>
                <a:tab pos="6291263" algn="l"/>
                <a:tab pos="6740525" algn="l"/>
                <a:tab pos="7189788" algn="l"/>
                <a:tab pos="7639050" algn="l"/>
                <a:tab pos="8088313" algn="l"/>
                <a:tab pos="8537575" algn="l"/>
                <a:tab pos="8986838"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175" algn="l"/>
                <a:tab pos="450850" algn="l"/>
                <a:tab pos="900113" algn="l"/>
                <a:tab pos="1349375" algn="l"/>
                <a:tab pos="1798638" algn="l"/>
                <a:tab pos="2247900" algn="l"/>
                <a:tab pos="2697163" algn="l"/>
                <a:tab pos="3146425" algn="l"/>
                <a:tab pos="3595688" algn="l"/>
                <a:tab pos="4044950" algn="l"/>
                <a:tab pos="4494213" algn="l"/>
                <a:tab pos="4943475" algn="l"/>
                <a:tab pos="5392738" algn="l"/>
                <a:tab pos="5842000" algn="l"/>
                <a:tab pos="6291263" algn="l"/>
                <a:tab pos="6740525" algn="l"/>
                <a:tab pos="7189788" algn="l"/>
                <a:tab pos="7639050" algn="l"/>
                <a:tab pos="8088313" algn="l"/>
                <a:tab pos="8537575" algn="l"/>
                <a:tab pos="8986838"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175" algn="l"/>
                <a:tab pos="450850" algn="l"/>
                <a:tab pos="900113" algn="l"/>
                <a:tab pos="1349375" algn="l"/>
                <a:tab pos="1798638" algn="l"/>
                <a:tab pos="2247900" algn="l"/>
                <a:tab pos="2697163" algn="l"/>
                <a:tab pos="3146425" algn="l"/>
                <a:tab pos="3595688" algn="l"/>
                <a:tab pos="4044950" algn="l"/>
                <a:tab pos="4494213" algn="l"/>
                <a:tab pos="4943475" algn="l"/>
                <a:tab pos="5392738" algn="l"/>
                <a:tab pos="5842000" algn="l"/>
                <a:tab pos="6291263" algn="l"/>
                <a:tab pos="6740525" algn="l"/>
                <a:tab pos="7189788" algn="l"/>
                <a:tab pos="7639050" algn="l"/>
                <a:tab pos="8088313" algn="l"/>
                <a:tab pos="8537575" algn="l"/>
                <a:tab pos="8986838"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400" b="1" dirty="0">
                <a:solidFill>
                  <a:schemeClr val="accent6"/>
                </a:solidFill>
                <a:latin typeface="Lucida Sans Unicode" panose="020B0602030504020204" pitchFamily="34" charset="0"/>
              </a:rPr>
              <a:t>CT</a:t>
            </a:r>
            <a:r>
              <a:rPr lang="pt-BR" altLang="pt-BR" sz="1200" b="1" dirty="0">
                <a:solidFill>
                  <a:schemeClr val="accent6"/>
                </a:solidFill>
                <a:latin typeface="Lucida Sans Unicode" panose="020B0602030504020204" pitchFamily="34" charset="0"/>
              </a:rPr>
              <a:t>min.</a:t>
            </a:r>
          </a:p>
        </p:txBody>
      </p:sp>
      <p:sp>
        <p:nvSpPr>
          <p:cNvPr id="21" name="CaixaDeTexto 20"/>
          <p:cNvSpPr txBox="1"/>
          <p:nvPr/>
        </p:nvSpPr>
        <p:spPr>
          <a:xfrm>
            <a:off x="2099556" y="953193"/>
            <a:ext cx="7992888" cy="400110"/>
          </a:xfrm>
          <a:prstGeom prst="rect">
            <a:avLst/>
          </a:prstGeom>
          <a:noFill/>
        </p:spPr>
        <p:txBody>
          <a:bodyPr wrap="square" rtlCol="0">
            <a:spAutoFit/>
          </a:bodyPr>
          <a:lstStyle/>
          <a:p>
            <a:pPr algn="ctr">
              <a:buClrTx/>
              <a:buFontTx/>
              <a:buNone/>
            </a:pPr>
            <a:r>
              <a:rPr lang="pt-BR" altLang="pt-BR" sz="2000" b="1" dirty="0">
                <a:solidFill>
                  <a:schemeClr val="accent6"/>
                </a:solidFill>
                <a:latin typeface="Lucida Sans Unicode" panose="020B0602030504020204" pitchFamily="34" charset="0"/>
              </a:rPr>
              <a:t>LOTE ECONÔMICO DE COMPRA</a:t>
            </a:r>
          </a:p>
        </p:txBody>
      </p:sp>
      <p:sp>
        <p:nvSpPr>
          <p:cNvPr id="22" name="CaixaDeTexto 21"/>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
        <p:nvSpPr>
          <p:cNvPr id="25" name="Text Box 7"/>
          <p:cNvSpPr txBox="1">
            <a:spLocks noChangeArrowheads="1"/>
          </p:cNvSpPr>
          <p:nvPr/>
        </p:nvSpPr>
        <p:spPr bwMode="auto">
          <a:xfrm>
            <a:off x="8009611" y="5970279"/>
            <a:ext cx="503238" cy="661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700" b="1" dirty="0">
                <a:solidFill>
                  <a:schemeClr val="accent6"/>
                </a:solidFill>
                <a:latin typeface="Lucida Sans Unicode" panose="020B0602030504020204" pitchFamily="34" charset="0"/>
              </a:rPr>
              <a:t>Q</a:t>
            </a:r>
          </a:p>
        </p:txBody>
      </p:sp>
      <p:sp>
        <p:nvSpPr>
          <p:cNvPr id="26" name="Text Box 7"/>
          <p:cNvSpPr txBox="1">
            <a:spLocks noChangeArrowheads="1"/>
          </p:cNvSpPr>
          <p:nvPr/>
        </p:nvSpPr>
        <p:spPr bwMode="auto">
          <a:xfrm>
            <a:off x="857934" y="2227058"/>
            <a:ext cx="503238" cy="661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700" b="1" dirty="0">
                <a:solidFill>
                  <a:schemeClr val="accent6"/>
                </a:solidFill>
                <a:latin typeface="Lucida Sans Unicode" panose="020B0602030504020204" pitchFamily="34" charset="0"/>
              </a:rPr>
              <a:t>$</a:t>
            </a:r>
          </a:p>
        </p:txBody>
      </p:sp>
      <p:sp>
        <p:nvSpPr>
          <p:cNvPr id="27" name="Line 5"/>
          <p:cNvSpPr>
            <a:spLocks noChangeShapeType="1"/>
          </p:cNvSpPr>
          <p:nvPr/>
        </p:nvSpPr>
        <p:spPr bwMode="auto">
          <a:xfrm>
            <a:off x="1132562" y="6043302"/>
            <a:ext cx="7272337" cy="1588"/>
          </a:xfrm>
          <a:prstGeom prst="line">
            <a:avLst/>
          </a:prstGeom>
          <a:noFill/>
          <a:ln w="1260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28" name="Line 6"/>
          <p:cNvSpPr>
            <a:spLocks noChangeShapeType="1"/>
          </p:cNvSpPr>
          <p:nvPr/>
        </p:nvSpPr>
        <p:spPr bwMode="auto">
          <a:xfrm flipV="1">
            <a:off x="1277023" y="2222191"/>
            <a:ext cx="1588" cy="3971925"/>
          </a:xfrm>
          <a:prstGeom prst="line">
            <a:avLst/>
          </a:prstGeom>
          <a:noFill/>
          <a:ln w="12600" cap="sq">
            <a:solidFill>
              <a:srgbClr val="000000"/>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2" name="Retângulo 1"/>
          <p:cNvSpPr/>
          <p:nvPr/>
        </p:nvSpPr>
        <p:spPr>
          <a:xfrm>
            <a:off x="6733022" y="4307494"/>
            <a:ext cx="822661" cy="369332"/>
          </a:xfrm>
          <a:prstGeom prst="rect">
            <a:avLst/>
          </a:prstGeom>
        </p:spPr>
        <p:txBody>
          <a:bodyPr wrap="none">
            <a:spAutoFit/>
          </a:bodyPr>
          <a:lstStyle/>
          <a:p>
            <a:r>
              <a:rPr lang="pt-BR" altLang="pt-BR" b="1" dirty="0">
                <a:solidFill>
                  <a:schemeClr val="accent6"/>
                </a:solidFill>
                <a:latin typeface="Lucida Sans Unicode" panose="020B0602030504020204" pitchFamily="34" charset="0"/>
              </a:rPr>
              <a:t>CT = </a:t>
            </a:r>
            <a:endParaRPr lang="pt-BR" dirty="0"/>
          </a:p>
        </p:txBody>
      </p:sp>
    </p:spTree>
    <p:extLst>
      <p:ext uri="{BB962C8B-B14F-4D97-AF65-F5344CB8AC3E}">
        <p14:creationId xmlns:p14="http://schemas.microsoft.com/office/powerpoint/2010/main" val="915499965"/>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additive="repl">
                                        <p:cTn id="11" dur="1" fill="hold">
                                          <p:stCondLst>
                                            <p:cond delay="0"/>
                                          </p:stCondLst>
                                        </p:cTn>
                                        <p:tgtEl>
                                          <p:spTgt spid="13326">
                                            <p:txEl>
                                              <p:pRg st="0" end="0"/>
                                            </p:txEl>
                                          </p:spTgt>
                                        </p:tgtEl>
                                        <p:attrNameLst>
                                          <p:attrName>style.visibility</p:attrName>
                                        </p:attrNameLst>
                                      </p:cBhvr>
                                      <p:to>
                                        <p:strVal val="visible"/>
                                      </p:to>
                                    </p:set>
                                    <p:animEffect transition="in" filter="randombar(horizontal)">
                                      <p:cBhvr additive="repl">
                                        <p:cTn id="12" dur="500"/>
                                        <p:tgtEl>
                                          <p:spTgt spid="13326">
                                            <p:txEl>
                                              <p:pRg st="0" end="0"/>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13320"/>
                                        </p:tgtEl>
                                        <p:attrNameLst>
                                          <p:attrName>style.visibility</p:attrName>
                                        </p:attrNameLst>
                                      </p:cBhvr>
                                      <p:to>
                                        <p:strVal val="visible"/>
                                      </p:to>
                                    </p:set>
                                    <p:animEffect transition="in" filter="wipe(left)">
                                      <p:cBhvr>
                                        <p:cTn id="15" dur="500"/>
                                        <p:tgtEl>
                                          <p:spTgt spid="13320"/>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additive="repl">
                                        <p:cTn id="19" dur="1" fill="hold">
                                          <p:stCondLst>
                                            <p:cond delay="0"/>
                                          </p:stCondLst>
                                        </p:cTn>
                                        <p:tgtEl>
                                          <p:spTgt spid="13325">
                                            <p:txEl>
                                              <p:pRg st="0" end="0"/>
                                            </p:txEl>
                                          </p:spTgt>
                                        </p:tgtEl>
                                        <p:attrNameLst>
                                          <p:attrName>style.visibility</p:attrName>
                                        </p:attrNameLst>
                                      </p:cBhvr>
                                      <p:to>
                                        <p:strVal val="visible"/>
                                      </p:to>
                                    </p:set>
                                    <p:animEffect transition="in" filter="randombar(horizontal)">
                                      <p:cBhvr additive="repl">
                                        <p:cTn id="20" dur="500"/>
                                        <p:tgtEl>
                                          <p:spTgt spid="13325">
                                            <p:txEl>
                                              <p:pRg st="0" end="0"/>
                                            </p:txEl>
                                          </p:spTgt>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13319"/>
                                        </p:tgtEl>
                                        <p:attrNameLst>
                                          <p:attrName>style.visibility</p:attrName>
                                        </p:attrNameLst>
                                      </p:cBhvr>
                                      <p:to>
                                        <p:strVal val="visible"/>
                                      </p:to>
                                    </p:set>
                                    <p:animEffect transition="in" filter="wipe(left)">
                                      <p:cBhvr>
                                        <p:cTn id="23" dur="500"/>
                                        <p:tgtEl>
                                          <p:spTgt spid="13319"/>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322"/>
                                        </p:tgtEl>
                                        <p:attrNameLst>
                                          <p:attrName>style.visibility</p:attrName>
                                        </p:attrNameLst>
                                      </p:cBhvr>
                                      <p:to>
                                        <p:strVal val="visible"/>
                                      </p:to>
                                    </p:set>
                                    <p:animEffect transition="in" filter="wipe(left)">
                                      <p:cBhvr>
                                        <p:cTn id="28" dur="500"/>
                                        <p:tgtEl>
                                          <p:spTgt spid="1332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fill="hold" grpId="0" nodeType="clickEffect">
                                  <p:stCondLst>
                                    <p:cond delay="0"/>
                                  </p:stCondLst>
                                  <p:childTnLst>
                                    <p:set>
                                      <p:cBhvr additive="repl">
                                        <p:cTn id="32" dur="1" fill="hold">
                                          <p:stCondLst>
                                            <p:cond delay="0"/>
                                          </p:stCondLst>
                                        </p:cTn>
                                        <p:tgtEl>
                                          <p:spTgt spid="1332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fill="hold" nodeType="clickEffect">
                                  <p:stCondLst>
                                    <p:cond delay="0"/>
                                  </p:stCondLst>
                                  <p:childTnLst>
                                    <p:set>
                                      <p:cBhvr additive="repl">
                                        <p:cTn id="36" dur="1" fill="hold">
                                          <p:stCondLst>
                                            <p:cond delay="0"/>
                                          </p:stCondLst>
                                        </p:cTn>
                                        <p:tgtEl>
                                          <p:spTgt spid="13330"/>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fill="hold" grpId="0" nodeType="clickEffect">
                                  <p:stCondLst>
                                    <p:cond delay="0"/>
                                  </p:stCondLst>
                                  <p:childTnLst>
                                    <p:set>
                                      <p:cBhvr additive="repl">
                                        <p:cTn id="40" dur="1" fill="hold">
                                          <p:stCondLst>
                                            <p:cond delay="0"/>
                                          </p:stCondLst>
                                        </p:cTn>
                                        <p:tgtEl>
                                          <p:spTgt spid="13327"/>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fill="hold" grpId="0" nodeType="clickEffect">
                                  <p:stCondLst>
                                    <p:cond delay="0"/>
                                  </p:stCondLst>
                                  <p:childTnLst>
                                    <p:set>
                                      <p:cBhvr additive="repl">
                                        <p:cTn id="44" dur="1" fill="hold">
                                          <p:stCondLst>
                                            <p:cond delay="0"/>
                                          </p:stCondLst>
                                        </p:cTn>
                                        <p:tgtEl>
                                          <p:spTgt spid="1332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4" presetClass="entr" presetSubtype="10" fill="hold" nodeType="clickEffect">
                                  <p:stCondLst>
                                    <p:cond delay="0"/>
                                  </p:stCondLst>
                                  <p:childTnLst>
                                    <p:set>
                                      <p:cBhvr additive="repl">
                                        <p:cTn id="48" dur="1" fill="hold">
                                          <p:stCondLst>
                                            <p:cond delay="0"/>
                                          </p:stCondLst>
                                        </p:cTn>
                                        <p:tgtEl>
                                          <p:spTgt spid="13328">
                                            <p:txEl>
                                              <p:pRg st="0" end="0"/>
                                            </p:txEl>
                                          </p:spTgt>
                                        </p:tgtEl>
                                        <p:attrNameLst>
                                          <p:attrName>style.visibility</p:attrName>
                                        </p:attrNameLst>
                                      </p:cBhvr>
                                      <p:to>
                                        <p:strVal val="visible"/>
                                      </p:to>
                                    </p:set>
                                    <p:animEffect transition="in" filter="randombar(horizontal)">
                                      <p:cBhvr additive="repl">
                                        <p:cTn id="49" dur="500"/>
                                        <p:tgtEl>
                                          <p:spTgt spid="1332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animBg="1"/>
      <p:bldP spid="13320" grpId="0" animBg="1"/>
      <p:bldP spid="13322" grpId="0" animBg="1"/>
      <p:bldP spid="13323" grpId="0" animBg="1"/>
      <p:bldP spid="13324" grpId="0" animBg="1"/>
      <p:bldP spid="13327" grpId="0" animBg="1"/>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7" name="Text Box 1"/>
          <p:cNvSpPr txBox="1">
            <a:spLocks noChangeArrowheads="1"/>
          </p:cNvSpPr>
          <p:nvPr/>
        </p:nvSpPr>
        <p:spPr bwMode="auto">
          <a:xfrm>
            <a:off x="3397250" y="2593534"/>
            <a:ext cx="5041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Q/2 x CPA x PU = D/Q x Cc</a:t>
            </a:r>
          </a:p>
        </p:txBody>
      </p:sp>
      <p:sp>
        <p:nvSpPr>
          <p:cNvPr id="18437" name="Text Box 4"/>
          <p:cNvSpPr txBox="1">
            <a:spLocks noChangeArrowheads="1"/>
          </p:cNvSpPr>
          <p:nvPr/>
        </p:nvSpPr>
        <p:spPr bwMode="auto">
          <a:xfrm>
            <a:off x="1301750" y="1690687"/>
            <a:ext cx="4249738"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000" b="1" dirty="0">
                <a:solidFill>
                  <a:schemeClr val="accent6"/>
                </a:solidFill>
                <a:latin typeface="Lucida Sans Unicode" panose="020B0602030504020204" pitchFamily="34" charset="0"/>
              </a:rPr>
              <a:t>Custo Total Mínimo:</a:t>
            </a:r>
          </a:p>
        </p:txBody>
      </p:sp>
      <p:sp>
        <p:nvSpPr>
          <p:cNvPr id="14341" name="Text Box 5"/>
          <p:cNvSpPr txBox="1">
            <a:spLocks noChangeArrowheads="1"/>
          </p:cNvSpPr>
          <p:nvPr/>
        </p:nvSpPr>
        <p:spPr bwMode="auto">
          <a:xfrm>
            <a:off x="3397250" y="3220639"/>
            <a:ext cx="5256213"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Q x CPA x PU = 2 x D/Q x Cc</a:t>
            </a:r>
          </a:p>
        </p:txBody>
      </p:sp>
      <p:sp>
        <p:nvSpPr>
          <p:cNvPr id="14342" name="Text Box 6"/>
          <p:cNvSpPr txBox="1">
            <a:spLocks noChangeArrowheads="1"/>
          </p:cNvSpPr>
          <p:nvPr/>
        </p:nvSpPr>
        <p:spPr bwMode="auto">
          <a:xfrm>
            <a:off x="3179763" y="3860007"/>
            <a:ext cx="5400675"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Q² x CPA x PU = 2 x D x Cc</a:t>
            </a:r>
          </a:p>
        </p:txBody>
      </p:sp>
      <p:sp>
        <p:nvSpPr>
          <p:cNvPr id="14343" name="Text Box 7"/>
          <p:cNvSpPr txBox="1">
            <a:spLocks noChangeArrowheads="1"/>
          </p:cNvSpPr>
          <p:nvPr/>
        </p:nvSpPr>
        <p:spPr bwMode="auto">
          <a:xfrm>
            <a:off x="2244726" y="5334794"/>
            <a:ext cx="936625"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Q² = </a:t>
            </a:r>
          </a:p>
        </p:txBody>
      </p:sp>
      <p:sp>
        <p:nvSpPr>
          <p:cNvPr id="14344" name="Text Box 8"/>
          <p:cNvSpPr txBox="1">
            <a:spLocks noChangeArrowheads="1"/>
          </p:cNvSpPr>
          <p:nvPr/>
        </p:nvSpPr>
        <p:spPr bwMode="auto">
          <a:xfrm>
            <a:off x="3086100" y="4902994"/>
            <a:ext cx="2465388" cy="1439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2 x D x Cc</a:t>
            </a:r>
          </a:p>
          <a:p>
            <a:pPr algn="ctr">
              <a:spcBef>
                <a:spcPts val="400"/>
              </a:spcBef>
              <a:buClrTx/>
            </a:pPr>
            <a:endParaRPr lang="pt-BR" altLang="pt-BR" sz="600" b="1" dirty="0">
              <a:solidFill>
                <a:schemeClr val="accent6"/>
              </a:solidFill>
              <a:latin typeface="Lucida Sans Unicode" panose="020B0602030504020204" pitchFamily="34" charset="0"/>
            </a:endParaRPr>
          </a:p>
          <a:p>
            <a:pPr algn="ctr">
              <a:spcBef>
                <a:spcPts val="400"/>
              </a:spcBef>
              <a:buClrTx/>
            </a:pPr>
            <a:r>
              <a:rPr lang="pt-BR" altLang="pt-BR" sz="2700" b="1" dirty="0">
                <a:solidFill>
                  <a:schemeClr val="accent6"/>
                </a:solidFill>
                <a:latin typeface="Lucida Sans Unicode" panose="020B0602030504020204" pitchFamily="34" charset="0"/>
              </a:rPr>
              <a:t>CPA x PU </a:t>
            </a:r>
          </a:p>
        </p:txBody>
      </p:sp>
      <p:sp>
        <p:nvSpPr>
          <p:cNvPr id="14345" name="Line 9"/>
          <p:cNvSpPr>
            <a:spLocks noChangeShapeType="1"/>
          </p:cNvSpPr>
          <p:nvPr/>
        </p:nvSpPr>
        <p:spPr bwMode="auto">
          <a:xfrm>
            <a:off x="3179763" y="5622131"/>
            <a:ext cx="2303462"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4346" name="AutoShape 10"/>
          <p:cNvSpPr>
            <a:spLocks noChangeArrowheads="1"/>
          </p:cNvSpPr>
          <p:nvPr/>
        </p:nvSpPr>
        <p:spPr bwMode="auto">
          <a:xfrm>
            <a:off x="5661819" y="5430837"/>
            <a:ext cx="647700" cy="386556"/>
          </a:xfrm>
          <a:prstGeom prst="rightArrow">
            <a:avLst>
              <a:gd name="adj1" fmla="val 50000"/>
              <a:gd name="adj2" fmla="val 89503"/>
            </a:avLst>
          </a:prstGeom>
          <a:solidFill>
            <a:srgbClr val="FF0000"/>
          </a:solidFill>
          <a:ln w="9360" cap="sq">
            <a:solidFill>
              <a:srgbClr val="3465A4"/>
            </a:solidFill>
            <a:round/>
            <a:headEnd/>
            <a:tailEnd/>
          </a:ln>
          <a:effectLst/>
        </p:spPr>
        <p:txBody>
          <a:bodyPr wrap="none" anchor="ctr"/>
          <a:lstStyle/>
          <a:p>
            <a:pPr>
              <a:buClr>
                <a:srgbClr val="000000"/>
              </a:buClr>
              <a:buSzPct val="100000"/>
              <a:buFont typeface="Times New Roman" panose="02020603050405020304" pitchFamily="18" charset="0"/>
              <a:buNone/>
            </a:pPr>
            <a:endParaRPr lang="pt-BR" altLang="pt-BR" dirty="0"/>
          </a:p>
        </p:txBody>
      </p:sp>
      <p:grpSp>
        <p:nvGrpSpPr>
          <p:cNvPr id="10" name="Grupo 9"/>
          <p:cNvGrpSpPr/>
          <p:nvPr/>
        </p:nvGrpSpPr>
        <p:grpSpPr>
          <a:xfrm>
            <a:off x="6421438" y="4944268"/>
            <a:ext cx="3600449" cy="1439862"/>
            <a:chOff x="6421438" y="4944268"/>
            <a:chExt cx="3600449" cy="1439862"/>
          </a:xfrm>
        </p:grpSpPr>
        <p:sp>
          <p:nvSpPr>
            <p:cNvPr id="14352" name="Text Box 16"/>
            <p:cNvSpPr txBox="1">
              <a:spLocks noChangeArrowheads="1"/>
            </p:cNvSpPr>
            <p:nvPr/>
          </p:nvSpPr>
          <p:spPr bwMode="auto">
            <a:xfrm>
              <a:off x="7718424" y="4944268"/>
              <a:ext cx="2303463" cy="1439862"/>
            </a:xfrm>
            <a:prstGeom prst="rect">
              <a:avLst/>
            </a:prstGeom>
            <a:noFill/>
            <a:ln w="9525">
              <a:no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2 x D x Cc</a:t>
              </a:r>
            </a:p>
            <a:p>
              <a:pPr algn="ctr">
                <a:spcBef>
                  <a:spcPts val="400"/>
                </a:spcBef>
                <a:buClrTx/>
              </a:pPr>
              <a:endParaRPr lang="pt-BR" altLang="pt-BR" sz="600" b="1" dirty="0">
                <a:solidFill>
                  <a:schemeClr val="accent6"/>
                </a:solidFill>
                <a:latin typeface="Lucida Sans Unicode" panose="020B0602030504020204" pitchFamily="34" charset="0"/>
              </a:endParaRPr>
            </a:p>
            <a:p>
              <a:pPr algn="ctr">
                <a:spcBef>
                  <a:spcPts val="400"/>
                </a:spcBef>
                <a:buClrTx/>
              </a:pPr>
              <a:r>
                <a:rPr lang="pt-BR" altLang="pt-BR" sz="2700" b="1" dirty="0">
                  <a:solidFill>
                    <a:schemeClr val="accent6"/>
                  </a:solidFill>
                  <a:latin typeface="Lucida Sans Unicode" panose="020B0602030504020204" pitchFamily="34" charset="0"/>
                </a:rPr>
                <a:t>CPA x PU </a:t>
              </a:r>
            </a:p>
          </p:txBody>
        </p:sp>
        <p:grpSp>
          <p:nvGrpSpPr>
            <p:cNvPr id="9" name="Grupo 8"/>
            <p:cNvGrpSpPr/>
            <p:nvPr/>
          </p:nvGrpSpPr>
          <p:grpSpPr>
            <a:xfrm>
              <a:off x="6421438" y="4997449"/>
              <a:ext cx="3529012" cy="1042987"/>
              <a:chOff x="6421438" y="4997449"/>
              <a:chExt cx="3529012" cy="1042987"/>
            </a:xfrm>
          </p:grpSpPr>
          <p:sp>
            <p:nvSpPr>
              <p:cNvPr id="14347" name="Text Box 11"/>
              <p:cNvSpPr txBox="1">
                <a:spLocks noChangeArrowheads="1"/>
              </p:cNvSpPr>
              <p:nvPr/>
            </p:nvSpPr>
            <p:spPr bwMode="auto">
              <a:xfrm>
                <a:off x="6421438" y="5357812"/>
                <a:ext cx="1008063"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LEC = </a:t>
                </a:r>
              </a:p>
            </p:txBody>
          </p:sp>
          <p:grpSp>
            <p:nvGrpSpPr>
              <p:cNvPr id="3" name="Grupo 2"/>
              <p:cNvGrpSpPr/>
              <p:nvPr/>
            </p:nvGrpSpPr>
            <p:grpSpPr>
              <a:xfrm>
                <a:off x="7213600" y="4997449"/>
                <a:ext cx="2736850" cy="1042987"/>
                <a:chOff x="7212013" y="4248150"/>
                <a:chExt cx="2736850" cy="1042987"/>
              </a:xfrm>
            </p:grpSpPr>
            <p:grpSp>
              <p:nvGrpSpPr>
                <p:cNvPr id="2" name="Grupo 1"/>
                <p:cNvGrpSpPr/>
                <p:nvPr/>
              </p:nvGrpSpPr>
              <p:grpSpPr>
                <a:xfrm>
                  <a:off x="7212013" y="4248150"/>
                  <a:ext cx="2735263" cy="1042987"/>
                  <a:chOff x="7212013" y="4248150"/>
                  <a:chExt cx="2735263" cy="1042987"/>
                </a:xfrm>
              </p:grpSpPr>
              <p:sp>
                <p:nvSpPr>
                  <p:cNvPr id="14348" name="Line 12"/>
                  <p:cNvSpPr>
                    <a:spLocks noChangeShapeType="1"/>
                  </p:cNvSpPr>
                  <p:nvPr/>
                </p:nvSpPr>
                <p:spPr bwMode="auto">
                  <a:xfrm>
                    <a:off x="7212013" y="4608514"/>
                    <a:ext cx="360362" cy="1587"/>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solidFill>
                        <a:schemeClr val="accent6"/>
                      </a:solidFill>
                    </a:endParaRPr>
                  </a:p>
                </p:txBody>
              </p:sp>
              <p:sp>
                <p:nvSpPr>
                  <p:cNvPr id="14349" name="Line 13"/>
                  <p:cNvSpPr>
                    <a:spLocks noChangeShapeType="1"/>
                  </p:cNvSpPr>
                  <p:nvPr/>
                </p:nvSpPr>
                <p:spPr bwMode="auto">
                  <a:xfrm>
                    <a:off x="7572375" y="4633912"/>
                    <a:ext cx="71438" cy="647700"/>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4350" name="Line 14"/>
                  <p:cNvSpPr>
                    <a:spLocks noChangeShapeType="1"/>
                  </p:cNvSpPr>
                  <p:nvPr/>
                </p:nvSpPr>
                <p:spPr bwMode="auto">
                  <a:xfrm flipV="1">
                    <a:off x="7643814" y="4270374"/>
                    <a:ext cx="71437" cy="1020763"/>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solidFill>
                        <a:schemeClr val="accent6"/>
                      </a:solidFill>
                    </a:endParaRPr>
                  </a:p>
                </p:txBody>
              </p:sp>
              <p:sp>
                <p:nvSpPr>
                  <p:cNvPr id="14351" name="Line 15"/>
                  <p:cNvSpPr>
                    <a:spLocks noChangeShapeType="1"/>
                  </p:cNvSpPr>
                  <p:nvPr/>
                </p:nvSpPr>
                <p:spPr bwMode="auto">
                  <a:xfrm>
                    <a:off x="7715251" y="4248150"/>
                    <a:ext cx="2232025"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grpSp>
            <p:sp>
              <p:nvSpPr>
                <p:cNvPr id="14353" name="Line 17"/>
                <p:cNvSpPr>
                  <a:spLocks noChangeShapeType="1"/>
                </p:cNvSpPr>
                <p:nvPr/>
              </p:nvSpPr>
              <p:spPr bwMode="auto">
                <a:xfrm>
                  <a:off x="7788275" y="4895850"/>
                  <a:ext cx="2160588"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grpSp>
        </p:grpSp>
      </p:grpSp>
      <p:sp>
        <p:nvSpPr>
          <p:cNvPr id="14354" name="Text Box 18"/>
          <p:cNvSpPr txBox="1">
            <a:spLocks noChangeArrowheads="1"/>
          </p:cNvSpPr>
          <p:nvPr/>
        </p:nvSpPr>
        <p:spPr bwMode="auto">
          <a:xfrm>
            <a:off x="3685381" y="1689059"/>
            <a:ext cx="7416800" cy="412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000" b="1" dirty="0">
                <a:solidFill>
                  <a:schemeClr val="accent6"/>
                </a:solidFill>
                <a:latin typeface="Lucida Sans Unicode" panose="020B0602030504020204" pitchFamily="34" charset="0"/>
              </a:rPr>
              <a:t>Custo de Armazenar = Custo de Comprar</a:t>
            </a:r>
          </a:p>
        </p:txBody>
      </p:sp>
      <p:grpSp>
        <p:nvGrpSpPr>
          <p:cNvPr id="8" name="Grupo 7"/>
          <p:cNvGrpSpPr/>
          <p:nvPr/>
        </p:nvGrpSpPr>
        <p:grpSpPr>
          <a:xfrm>
            <a:off x="8745474" y="2662093"/>
            <a:ext cx="466713" cy="315514"/>
            <a:chOff x="8839199" y="2809432"/>
            <a:chExt cx="571484" cy="411205"/>
          </a:xfrm>
          <a:solidFill>
            <a:srgbClr val="89FA7A"/>
          </a:solidFill>
        </p:grpSpPr>
        <p:sp>
          <p:nvSpPr>
            <p:cNvPr id="6" name="Igual 5"/>
            <p:cNvSpPr/>
            <p:nvPr/>
          </p:nvSpPr>
          <p:spPr bwMode="auto">
            <a:xfrm>
              <a:off x="8839199" y="2809432"/>
              <a:ext cx="390525" cy="411205"/>
            </a:xfrm>
            <a:prstGeom prst="mathEqual">
              <a:avLst>
                <a:gd name="adj1" fmla="val 11938"/>
                <a:gd name="adj2" fmla="val 11760"/>
              </a:avLst>
            </a:prstGeom>
            <a:grpFill/>
            <a:ln w="9525"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pPr>
              <a:endParaRPr kumimoji="0" lang="pt-BR" sz="1800"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p:txBody>
        </p:sp>
        <p:sp>
          <p:nvSpPr>
            <p:cNvPr id="7" name="Divisa 6"/>
            <p:cNvSpPr/>
            <p:nvPr/>
          </p:nvSpPr>
          <p:spPr bwMode="auto">
            <a:xfrm>
              <a:off x="9077309" y="2857500"/>
              <a:ext cx="333374" cy="323850"/>
            </a:xfrm>
            <a:prstGeom prst="chevron">
              <a:avLst>
                <a:gd name="adj" fmla="val 73529"/>
              </a:avLst>
            </a:prstGeom>
            <a:grpFill/>
            <a:ln w="9525"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pPr>
              <a:endParaRPr kumimoji="0" lang="pt-BR" sz="1800"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p:txBody>
        </p:sp>
      </p:grpSp>
      <p:grpSp>
        <p:nvGrpSpPr>
          <p:cNvPr id="33" name="Grupo 32"/>
          <p:cNvGrpSpPr/>
          <p:nvPr/>
        </p:nvGrpSpPr>
        <p:grpSpPr>
          <a:xfrm>
            <a:off x="8750697" y="3278782"/>
            <a:ext cx="466725" cy="315514"/>
            <a:chOff x="8839200" y="2809434"/>
            <a:chExt cx="571500" cy="411205"/>
          </a:xfrm>
          <a:solidFill>
            <a:srgbClr val="89FA7A"/>
          </a:solidFill>
        </p:grpSpPr>
        <p:sp>
          <p:nvSpPr>
            <p:cNvPr id="34" name="Igual 33"/>
            <p:cNvSpPr/>
            <p:nvPr/>
          </p:nvSpPr>
          <p:spPr bwMode="auto">
            <a:xfrm>
              <a:off x="8839200" y="2809434"/>
              <a:ext cx="390525" cy="411205"/>
            </a:xfrm>
            <a:prstGeom prst="mathEqual">
              <a:avLst>
                <a:gd name="adj1" fmla="val 11938"/>
                <a:gd name="adj2" fmla="val 11760"/>
              </a:avLst>
            </a:prstGeom>
            <a:grpFill/>
            <a:ln w="9525"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49263" eaLnBrk="0" fontAlgn="base" hangingPunct="0">
                <a:spcBef>
                  <a:spcPct val="0"/>
                </a:spcBef>
                <a:spcAft>
                  <a:spcPct val="0"/>
                </a:spcAft>
                <a:buClr>
                  <a:srgbClr val="000000"/>
                </a:buClr>
                <a:buSzPct val="100000"/>
                <a:buFont typeface="Times New Roman" panose="02020603050405020304" pitchFamily="18" charset="0"/>
                <a:buNone/>
              </a:pPr>
              <a:endParaRPr lang="pt-BR" dirty="0">
                <a:solidFill>
                  <a:schemeClr val="bg1"/>
                </a:solidFill>
                <a:latin typeface="Arial" panose="020B0604020202020204" pitchFamily="34" charset="0"/>
                <a:cs typeface="Arial" panose="020B0604020202020204" pitchFamily="34" charset="0"/>
              </a:endParaRPr>
            </a:p>
          </p:txBody>
        </p:sp>
        <p:sp>
          <p:nvSpPr>
            <p:cNvPr id="35" name="Divisa 34"/>
            <p:cNvSpPr/>
            <p:nvPr/>
          </p:nvSpPr>
          <p:spPr bwMode="auto">
            <a:xfrm>
              <a:off x="9077325" y="2857500"/>
              <a:ext cx="333375" cy="323850"/>
            </a:xfrm>
            <a:prstGeom prst="chevron">
              <a:avLst>
                <a:gd name="adj" fmla="val 73529"/>
              </a:avLst>
            </a:prstGeom>
            <a:grpFill/>
            <a:ln w="9525"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449263" eaLnBrk="0" fontAlgn="base" hangingPunct="0">
                <a:spcBef>
                  <a:spcPct val="0"/>
                </a:spcBef>
                <a:spcAft>
                  <a:spcPct val="0"/>
                </a:spcAft>
                <a:buClr>
                  <a:srgbClr val="000000"/>
                </a:buClr>
                <a:buSzPct val="100000"/>
                <a:buFont typeface="Times New Roman" panose="02020603050405020304" pitchFamily="18" charset="0"/>
                <a:buNone/>
              </a:pPr>
              <a:endParaRPr lang="pt-BR" dirty="0">
                <a:solidFill>
                  <a:schemeClr val="bg1"/>
                </a:solidFill>
                <a:latin typeface="Arial" panose="020B0604020202020204" pitchFamily="34" charset="0"/>
                <a:cs typeface="Arial" panose="020B0604020202020204" pitchFamily="34" charset="0"/>
              </a:endParaRPr>
            </a:p>
          </p:txBody>
        </p:sp>
      </p:grpSp>
      <p:grpSp>
        <p:nvGrpSpPr>
          <p:cNvPr id="36" name="Grupo 35"/>
          <p:cNvGrpSpPr/>
          <p:nvPr/>
        </p:nvGrpSpPr>
        <p:grpSpPr>
          <a:xfrm>
            <a:off x="8745458" y="3867125"/>
            <a:ext cx="466725" cy="315514"/>
            <a:chOff x="8839200" y="2809434"/>
            <a:chExt cx="571500" cy="411205"/>
          </a:xfrm>
          <a:solidFill>
            <a:srgbClr val="89FA7A"/>
          </a:solidFill>
        </p:grpSpPr>
        <p:sp>
          <p:nvSpPr>
            <p:cNvPr id="37" name="Igual 36"/>
            <p:cNvSpPr/>
            <p:nvPr/>
          </p:nvSpPr>
          <p:spPr bwMode="auto">
            <a:xfrm>
              <a:off x="8839200" y="2809434"/>
              <a:ext cx="390525" cy="411205"/>
            </a:xfrm>
            <a:prstGeom prst="mathEqual">
              <a:avLst>
                <a:gd name="adj1" fmla="val 11938"/>
                <a:gd name="adj2" fmla="val 11760"/>
              </a:avLst>
            </a:prstGeom>
            <a:grpFill/>
            <a:ln w="9525"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pPr>
              <a:endParaRPr kumimoji="0" lang="pt-BR" sz="1800"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p:txBody>
        </p:sp>
        <p:sp>
          <p:nvSpPr>
            <p:cNvPr id="38" name="Divisa 37"/>
            <p:cNvSpPr/>
            <p:nvPr/>
          </p:nvSpPr>
          <p:spPr bwMode="auto">
            <a:xfrm>
              <a:off x="9077325" y="2857500"/>
              <a:ext cx="333375" cy="323850"/>
            </a:xfrm>
            <a:prstGeom prst="chevron">
              <a:avLst>
                <a:gd name="adj" fmla="val 73529"/>
              </a:avLst>
            </a:prstGeom>
            <a:grpFill/>
            <a:ln w="9525" cap="flat" cmpd="sng" algn="ctr">
              <a:solidFill>
                <a:schemeClr val="accent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449263" rtl="0" eaLnBrk="0" fontAlgn="base" latinLnBrk="0" hangingPunct="0">
                <a:lnSpc>
                  <a:spcPct val="100000"/>
                </a:lnSpc>
                <a:spcBef>
                  <a:spcPct val="0"/>
                </a:spcBef>
                <a:spcAft>
                  <a:spcPct val="0"/>
                </a:spcAft>
                <a:buClr>
                  <a:srgbClr val="000000"/>
                </a:buClr>
                <a:buSzPct val="100000"/>
                <a:buFont typeface="Times New Roman" panose="02020603050405020304" pitchFamily="18" charset="0"/>
                <a:buNone/>
                <a:tabLst/>
              </a:pPr>
              <a:endParaRPr kumimoji="0" lang="pt-BR" sz="1800"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p:txBody>
        </p:sp>
      </p:grpSp>
      <p:sp>
        <p:nvSpPr>
          <p:cNvPr id="39" name="CaixaDeTexto 38"/>
          <p:cNvSpPr txBox="1"/>
          <p:nvPr/>
        </p:nvSpPr>
        <p:spPr>
          <a:xfrm>
            <a:off x="2099556" y="953193"/>
            <a:ext cx="7992888" cy="400110"/>
          </a:xfrm>
          <a:prstGeom prst="rect">
            <a:avLst/>
          </a:prstGeom>
          <a:noFill/>
        </p:spPr>
        <p:txBody>
          <a:bodyPr wrap="square" rtlCol="0">
            <a:spAutoFit/>
          </a:bodyPr>
          <a:lstStyle/>
          <a:p>
            <a:pPr algn="ctr">
              <a:buClrTx/>
              <a:buFontTx/>
              <a:buNone/>
            </a:pPr>
            <a:r>
              <a:rPr lang="pt-BR" altLang="pt-BR" sz="2000" b="1" dirty="0">
                <a:solidFill>
                  <a:schemeClr val="accent6"/>
                </a:solidFill>
                <a:latin typeface="Lucida Sans Unicode" panose="020B0602030504020204" pitchFamily="34" charset="0"/>
              </a:rPr>
              <a:t>LOTE ECONÔMICO DE COMPRA</a:t>
            </a:r>
          </a:p>
        </p:txBody>
      </p:sp>
      <p:sp>
        <p:nvSpPr>
          <p:cNvPr id="40" name="CaixaDeTexto 39"/>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Tree>
    <p:extLst>
      <p:ext uri="{BB962C8B-B14F-4D97-AF65-F5344CB8AC3E}">
        <p14:creationId xmlns:p14="http://schemas.microsoft.com/office/powerpoint/2010/main" val="1171643922"/>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437"/>
                                        </p:tgtEl>
                                        <p:attrNameLst>
                                          <p:attrName>style.visibility</p:attrName>
                                        </p:attrNameLst>
                                      </p:cBhvr>
                                      <p:to>
                                        <p:strVal val="visible"/>
                                      </p:to>
                                    </p:set>
                                    <p:animEffect transition="in" filter="barn(inVertical)">
                                      <p:cBhvr>
                                        <p:cTn id="7" dur="500"/>
                                        <p:tgtEl>
                                          <p:spTgt spid="1843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fill="hold" nodeType="clickEffect">
                                  <p:stCondLst>
                                    <p:cond delay="0"/>
                                  </p:stCondLst>
                                  <p:childTnLst>
                                    <p:set>
                                      <p:cBhvr additive="repl">
                                        <p:cTn id="11" dur="1" fill="hold">
                                          <p:stCondLst>
                                            <p:cond delay="0"/>
                                          </p:stCondLst>
                                        </p:cTn>
                                        <p:tgtEl>
                                          <p:spTgt spid="14354">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fill="hold" nodeType="clickEffect">
                                  <p:stCondLst>
                                    <p:cond delay="0"/>
                                  </p:stCondLst>
                                  <p:childTnLst>
                                    <p:set>
                                      <p:cBhvr additive="repl">
                                        <p:cTn id="15" dur="1" fill="hold">
                                          <p:stCondLst>
                                            <p:cond delay="0"/>
                                          </p:stCondLst>
                                        </p:cTn>
                                        <p:tgtEl>
                                          <p:spTgt spid="14337">
                                            <p:txEl>
                                              <p:pRg st="0" end="0"/>
                                            </p:txEl>
                                          </p:spTgt>
                                        </p:tgtEl>
                                        <p:attrNameLst>
                                          <p:attrName>style.visibility</p:attrName>
                                        </p:attrNameLst>
                                      </p:cBhvr>
                                      <p:to>
                                        <p:strVal val="visible"/>
                                      </p:to>
                                    </p:set>
                                  </p:childTnLst>
                                </p:cTn>
                              </p:par>
                            </p:childTnLst>
                          </p:cTn>
                        </p:par>
                        <p:par>
                          <p:cTn id="16" fill="hold">
                            <p:stCondLst>
                              <p:cond delay="0"/>
                            </p:stCondLst>
                            <p:childTnLst>
                              <p:par>
                                <p:cTn id="17" presetID="16" presetClass="entr" presetSubtype="42"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outHorizontal)">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fill="hold" nodeType="clickEffect">
                                  <p:stCondLst>
                                    <p:cond delay="0"/>
                                  </p:stCondLst>
                                  <p:childTnLst>
                                    <p:set>
                                      <p:cBhvr additive="repl">
                                        <p:cTn id="23" dur="1" fill="hold">
                                          <p:stCondLst>
                                            <p:cond delay="0"/>
                                          </p:stCondLst>
                                        </p:cTn>
                                        <p:tgtEl>
                                          <p:spTgt spid="14341">
                                            <p:txEl>
                                              <p:pRg st="0" end="0"/>
                                            </p:txEl>
                                          </p:spTgt>
                                        </p:tgtEl>
                                        <p:attrNameLst>
                                          <p:attrName>style.visibility</p:attrName>
                                        </p:attrNameLst>
                                      </p:cBhvr>
                                      <p:to>
                                        <p:strVal val="visible"/>
                                      </p:to>
                                    </p:set>
                                  </p:childTnLst>
                                </p:cTn>
                              </p:par>
                            </p:childTnLst>
                          </p:cTn>
                        </p:par>
                        <p:par>
                          <p:cTn id="24" fill="hold">
                            <p:stCondLst>
                              <p:cond delay="0"/>
                            </p:stCondLst>
                            <p:childTnLst>
                              <p:par>
                                <p:cTn id="25" presetID="16" presetClass="entr" presetSubtype="42" fill="hold" nodeType="after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barn(outHorizontal)">
                                      <p:cBhvr>
                                        <p:cTn id="27" dur="5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fill="hold" nodeType="clickEffect">
                                  <p:stCondLst>
                                    <p:cond delay="0"/>
                                  </p:stCondLst>
                                  <p:childTnLst>
                                    <p:set>
                                      <p:cBhvr additive="repl">
                                        <p:cTn id="31" dur="1" fill="hold">
                                          <p:stCondLst>
                                            <p:cond delay="0"/>
                                          </p:stCondLst>
                                        </p:cTn>
                                        <p:tgtEl>
                                          <p:spTgt spid="14342">
                                            <p:txEl>
                                              <p:pRg st="0" end="0"/>
                                            </p:txEl>
                                          </p:spTgt>
                                        </p:tgtEl>
                                        <p:attrNameLst>
                                          <p:attrName>style.visibility</p:attrName>
                                        </p:attrNameLst>
                                      </p:cBhvr>
                                      <p:to>
                                        <p:strVal val="visible"/>
                                      </p:to>
                                    </p:set>
                                  </p:childTnLst>
                                </p:cTn>
                              </p:par>
                            </p:childTnLst>
                          </p:cTn>
                        </p:par>
                        <p:par>
                          <p:cTn id="32" fill="hold">
                            <p:stCondLst>
                              <p:cond delay="0"/>
                            </p:stCondLst>
                            <p:childTnLst>
                              <p:par>
                                <p:cTn id="33" presetID="16" presetClass="entr" presetSubtype="42" fill="hold" nodeType="afterEffect">
                                  <p:stCondLst>
                                    <p:cond delay="0"/>
                                  </p:stCondLst>
                                  <p:childTnLst>
                                    <p:set>
                                      <p:cBhvr>
                                        <p:cTn id="34" dur="1" fill="hold">
                                          <p:stCondLst>
                                            <p:cond delay="0"/>
                                          </p:stCondLst>
                                        </p:cTn>
                                        <p:tgtEl>
                                          <p:spTgt spid="36"/>
                                        </p:tgtEl>
                                        <p:attrNameLst>
                                          <p:attrName>style.visibility</p:attrName>
                                        </p:attrNameLst>
                                      </p:cBhvr>
                                      <p:to>
                                        <p:strVal val="visible"/>
                                      </p:to>
                                    </p:set>
                                    <p:animEffect transition="in" filter="barn(outHorizontal)">
                                      <p:cBhvr>
                                        <p:cTn id="35" dur="500"/>
                                        <p:tgtEl>
                                          <p:spTgt spid="36"/>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14343"/>
                                        </p:tgtEl>
                                        <p:attrNameLst>
                                          <p:attrName>style.visibility</p:attrName>
                                        </p:attrNameLst>
                                      </p:cBhvr>
                                      <p:to>
                                        <p:strVal val="visible"/>
                                      </p:to>
                                    </p:set>
                                    <p:animEffect transition="in" filter="barn(inVertical)">
                                      <p:cBhvr>
                                        <p:cTn id="40" dur="500"/>
                                        <p:tgtEl>
                                          <p:spTgt spid="14343"/>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21" fill="hold" grpId="0" nodeType="clickEffect">
                                  <p:stCondLst>
                                    <p:cond delay="0"/>
                                  </p:stCondLst>
                                  <p:childTnLst>
                                    <p:set>
                                      <p:cBhvr>
                                        <p:cTn id="44" dur="1" fill="hold">
                                          <p:stCondLst>
                                            <p:cond delay="0"/>
                                          </p:stCondLst>
                                        </p:cTn>
                                        <p:tgtEl>
                                          <p:spTgt spid="14344"/>
                                        </p:tgtEl>
                                        <p:attrNameLst>
                                          <p:attrName>style.visibility</p:attrName>
                                        </p:attrNameLst>
                                      </p:cBhvr>
                                      <p:to>
                                        <p:strVal val="visible"/>
                                      </p:to>
                                    </p:set>
                                    <p:animEffect transition="in" filter="barn(inVertical)">
                                      <p:cBhvr>
                                        <p:cTn id="45" dur="500"/>
                                        <p:tgtEl>
                                          <p:spTgt spid="14344"/>
                                        </p:tgtEl>
                                      </p:cBhvr>
                                    </p:animEffect>
                                  </p:childTnLst>
                                </p:cTn>
                              </p:par>
                              <p:par>
                                <p:cTn id="46" presetID="16" presetClass="entr" presetSubtype="21" fill="hold" grpId="0" nodeType="withEffect">
                                  <p:stCondLst>
                                    <p:cond delay="0"/>
                                  </p:stCondLst>
                                  <p:childTnLst>
                                    <p:set>
                                      <p:cBhvr>
                                        <p:cTn id="47" dur="1" fill="hold">
                                          <p:stCondLst>
                                            <p:cond delay="0"/>
                                          </p:stCondLst>
                                        </p:cTn>
                                        <p:tgtEl>
                                          <p:spTgt spid="14345"/>
                                        </p:tgtEl>
                                        <p:attrNameLst>
                                          <p:attrName>style.visibility</p:attrName>
                                        </p:attrNameLst>
                                      </p:cBhvr>
                                      <p:to>
                                        <p:strVal val="visible"/>
                                      </p:to>
                                    </p:set>
                                    <p:animEffect transition="in" filter="barn(inVertical)">
                                      <p:cBhvr>
                                        <p:cTn id="48" dur="500"/>
                                        <p:tgtEl>
                                          <p:spTgt spid="14345"/>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14346"/>
                                        </p:tgtEl>
                                        <p:attrNameLst>
                                          <p:attrName>style.visibility</p:attrName>
                                        </p:attrNameLst>
                                      </p:cBhvr>
                                      <p:to>
                                        <p:strVal val="visible"/>
                                      </p:to>
                                    </p:set>
                                    <p:animEffect transition="in" filter="barn(inVertical)">
                                      <p:cBhvr>
                                        <p:cTn id="53" dur="500"/>
                                        <p:tgtEl>
                                          <p:spTgt spid="14346"/>
                                        </p:tgtEl>
                                      </p:cBhvr>
                                    </p:animEffect>
                                  </p:childTnLst>
                                </p:cTn>
                              </p:par>
                            </p:childTnLst>
                          </p:cTn>
                        </p:par>
                      </p:childTnLst>
                    </p:cTn>
                  </p:par>
                  <p:par>
                    <p:cTn id="54" fill="hold">
                      <p:stCondLst>
                        <p:cond delay="indefinite"/>
                      </p:stCondLst>
                      <p:childTnLst>
                        <p:par>
                          <p:cTn id="55" fill="hold">
                            <p:stCondLst>
                              <p:cond delay="0"/>
                            </p:stCondLst>
                            <p:childTnLst>
                              <p:par>
                                <p:cTn id="56" presetID="16" presetClass="entr" presetSubtype="42" fill="hold" nodeType="click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barn(outHorizontal)">
                                      <p:cBhvr>
                                        <p:cTn id="5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p:bldP spid="14343" grpId="0"/>
      <p:bldP spid="14344" grpId="0"/>
      <p:bldP spid="14345" grpId="0" animBg="1"/>
      <p:bldP spid="14346"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3" name="Text Box 2"/>
          <p:cNvSpPr txBox="1">
            <a:spLocks noChangeArrowheads="1"/>
          </p:cNvSpPr>
          <p:nvPr/>
        </p:nvSpPr>
        <p:spPr bwMode="auto">
          <a:xfrm>
            <a:off x="1455162" y="1939133"/>
            <a:ext cx="9281675" cy="1100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marL="0" indent="6350" algn="just">
              <a:spcBef>
                <a:spcPts val="400"/>
              </a:spcBef>
              <a:buClrTx/>
            </a:pPr>
            <a:r>
              <a:rPr lang="pt-BR" altLang="pt-BR" dirty="0">
                <a:solidFill>
                  <a:schemeClr val="accent6"/>
                </a:solidFill>
                <a:latin typeface="Lucida Sans Unicode" panose="020B0602030504020204" pitchFamily="34" charset="0"/>
              </a:rPr>
              <a:t>O consumo anual de determinado item de estoque é de 3.000 peças. O custo unitário de pedido de compra é de R$ 130,00, sendo o custo do produto armazenado de 25% de seu preço unitário, que é de R$ 25,00. Qual o Lote Econômico de Compra e o Custo Total anual?</a:t>
            </a:r>
          </a:p>
        </p:txBody>
      </p:sp>
      <p:sp>
        <p:nvSpPr>
          <p:cNvPr id="15363" name="Text Box 3"/>
          <p:cNvSpPr txBox="1">
            <a:spLocks noChangeArrowheads="1"/>
          </p:cNvSpPr>
          <p:nvPr/>
        </p:nvSpPr>
        <p:spPr bwMode="auto">
          <a:xfrm>
            <a:off x="1981200" y="3384550"/>
            <a:ext cx="2135188"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D = 3.000 pç</a:t>
            </a:r>
          </a:p>
        </p:txBody>
      </p:sp>
      <p:sp>
        <p:nvSpPr>
          <p:cNvPr id="15364" name="Text Box 4"/>
          <p:cNvSpPr txBox="1">
            <a:spLocks noChangeArrowheads="1"/>
          </p:cNvSpPr>
          <p:nvPr/>
        </p:nvSpPr>
        <p:spPr bwMode="auto">
          <a:xfrm>
            <a:off x="1981201" y="3816350"/>
            <a:ext cx="220662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Cc = R$ 130,00</a:t>
            </a:r>
          </a:p>
        </p:txBody>
      </p:sp>
      <p:sp>
        <p:nvSpPr>
          <p:cNvPr id="15365" name="Text Box 5"/>
          <p:cNvSpPr txBox="1">
            <a:spLocks noChangeArrowheads="1"/>
          </p:cNvSpPr>
          <p:nvPr/>
        </p:nvSpPr>
        <p:spPr bwMode="auto">
          <a:xfrm>
            <a:off x="1981200" y="4248150"/>
            <a:ext cx="2135188"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CPA = 25 %</a:t>
            </a:r>
          </a:p>
        </p:txBody>
      </p:sp>
      <p:sp>
        <p:nvSpPr>
          <p:cNvPr id="15366" name="Text Box 6"/>
          <p:cNvSpPr txBox="1">
            <a:spLocks noChangeArrowheads="1"/>
          </p:cNvSpPr>
          <p:nvPr/>
        </p:nvSpPr>
        <p:spPr bwMode="auto">
          <a:xfrm>
            <a:off x="1981200" y="4608514"/>
            <a:ext cx="2135188"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PU = R$ 25,00</a:t>
            </a:r>
          </a:p>
        </p:txBody>
      </p:sp>
      <p:sp>
        <p:nvSpPr>
          <p:cNvPr id="15367" name="AutoShape 7"/>
          <p:cNvSpPr>
            <a:spLocks noChangeArrowheads="1"/>
          </p:cNvSpPr>
          <p:nvPr/>
        </p:nvSpPr>
        <p:spPr bwMode="auto">
          <a:xfrm>
            <a:off x="5488887" y="4033752"/>
            <a:ext cx="360363" cy="360362"/>
          </a:xfrm>
          <a:prstGeom prst="rightArrow">
            <a:avLst>
              <a:gd name="adj1" fmla="val 50000"/>
              <a:gd name="adj2" fmla="val 25000"/>
            </a:avLst>
          </a:prstGeom>
          <a:solidFill>
            <a:srgbClr val="FF0000"/>
          </a:solidFill>
          <a:ln w="9360" cap="sq">
            <a:solidFill>
              <a:srgbClr val="3465A4"/>
            </a:solidFill>
            <a:round/>
            <a:headEnd/>
            <a:tailEnd/>
          </a:ln>
          <a:effectLst/>
        </p:spPr>
        <p:txBody>
          <a:bodyPr wrap="none" anchor="ctr"/>
          <a:lstStyle/>
          <a:p>
            <a:pPr>
              <a:buClr>
                <a:srgbClr val="000000"/>
              </a:buClr>
              <a:buSzPct val="100000"/>
              <a:buFont typeface="Times New Roman" panose="02020603050405020304" pitchFamily="18" charset="0"/>
              <a:buNone/>
            </a:pPr>
            <a:endParaRPr lang="pt-BR" altLang="pt-BR" dirty="0"/>
          </a:p>
        </p:txBody>
      </p:sp>
      <p:grpSp>
        <p:nvGrpSpPr>
          <p:cNvPr id="7" name="Grupo 6"/>
          <p:cNvGrpSpPr/>
          <p:nvPr/>
        </p:nvGrpSpPr>
        <p:grpSpPr>
          <a:xfrm>
            <a:off x="6959601" y="3554412"/>
            <a:ext cx="3598861" cy="1439863"/>
            <a:chOff x="6119638" y="3494001"/>
            <a:chExt cx="3598861" cy="1439863"/>
          </a:xfrm>
        </p:grpSpPr>
        <p:sp>
          <p:nvSpPr>
            <p:cNvPr id="15368" name="Text Box 8"/>
            <p:cNvSpPr txBox="1">
              <a:spLocks noChangeArrowheads="1"/>
            </p:cNvSpPr>
            <p:nvPr/>
          </p:nvSpPr>
          <p:spPr bwMode="auto">
            <a:xfrm>
              <a:off x="6119638" y="3958154"/>
              <a:ext cx="100806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LEC</a:t>
              </a:r>
              <a:r>
                <a:rPr lang="pt-BR" altLang="pt-BR" sz="2700" b="1" dirty="0">
                  <a:solidFill>
                    <a:srgbClr val="000066"/>
                  </a:solidFill>
                  <a:latin typeface="Lucida Sans Unicode" panose="020B0602030504020204" pitchFamily="34" charset="0"/>
                </a:rPr>
                <a:t> </a:t>
              </a:r>
              <a:r>
                <a:rPr lang="pt-BR" altLang="pt-BR" sz="2700" b="1" dirty="0">
                  <a:solidFill>
                    <a:schemeClr val="accent6"/>
                  </a:solidFill>
                  <a:latin typeface="Lucida Sans Unicode" panose="020B0602030504020204" pitchFamily="34" charset="0"/>
                </a:rPr>
                <a:t>=</a:t>
              </a:r>
              <a:r>
                <a:rPr lang="pt-BR" altLang="pt-BR" sz="2700" b="1" dirty="0">
                  <a:solidFill>
                    <a:srgbClr val="000066"/>
                  </a:solidFill>
                  <a:latin typeface="Lucida Sans Unicode" panose="020B0602030504020204" pitchFamily="34" charset="0"/>
                </a:rPr>
                <a:t> </a:t>
              </a:r>
            </a:p>
          </p:txBody>
        </p:sp>
        <p:grpSp>
          <p:nvGrpSpPr>
            <p:cNvPr id="6" name="Grupo 5"/>
            <p:cNvGrpSpPr/>
            <p:nvPr/>
          </p:nvGrpSpPr>
          <p:grpSpPr>
            <a:xfrm>
              <a:off x="6911801" y="3494001"/>
              <a:ext cx="2806698" cy="1439863"/>
              <a:chOff x="6911801" y="3494001"/>
              <a:chExt cx="2806698" cy="1439863"/>
            </a:xfrm>
          </p:grpSpPr>
          <p:grpSp>
            <p:nvGrpSpPr>
              <p:cNvPr id="3" name="Grupo 2"/>
              <p:cNvGrpSpPr/>
              <p:nvPr/>
            </p:nvGrpSpPr>
            <p:grpSpPr>
              <a:xfrm>
                <a:off x="6911801" y="3593029"/>
                <a:ext cx="2758176" cy="1020763"/>
                <a:chOff x="6911801" y="3593029"/>
                <a:chExt cx="2758176" cy="1020763"/>
              </a:xfrm>
            </p:grpSpPr>
            <p:grpSp>
              <p:nvGrpSpPr>
                <p:cNvPr id="2" name="Grupo 1"/>
                <p:cNvGrpSpPr/>
                <p:nvPr/>
              </p:nvGrpSpPr>
              <p:grpSpPr>
                <a:xfrm>
                  <a:off x="6911801" y="3593029"/>
                  <a:ext cx="2735263" cy="1020763"/>
                  <a:chOff x="6911801" y="3593029"/>
                  <a:chExt cx="2735263" cy="1020763"/>
                </a:xfrm>
              </p:grpSpPr>
              <p:sp>
                <p:nvSpPr>
                  <p:cNvPr id="15369" name="Line 9"/>
                  <p:cNvSpPr>
                    <a:spLocks noChangeShapeType="1"/>
                  </p:cNvSpPr>
                  <p:nvPr/>
                </p:nvSpPr>
                <p:spPr bwMode="auto">
                  <a:xfrm>
                    <a:off x="6911801" y="3958153"/>
                    <a:ext cx="360363"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5370" name="Line 10"/>
                  <p:cNvSpPr>
                    <a:spLocks noChangeShapeType="1"/>
                  </p:cNvSpPr>
                  <p:nvPr/>
                </p:nvSpPr>
                <p:spPr bwMode="auto">
                  <a:xfrm>
                    <a:off x="7272164" y="3958153"/>
                    <a:ext cx="71437" cy="647700"/>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5371" name="Line 11"/>
                  <p:cNvSpPr>
                    <a:spLocks noChangeShapeType="1"/>
                  </p:cNvSpPr>
                  <p:nvPr/>
                </p:nvSpPr>
                <p:spPr bwMode="auto">
                  <a:xfrm flipV="1">
                    <a:off x="7343600" y="3593029"/>
                    <a:ext cx="71438" cy="1020763"/>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5372" name="Line 12"/>
                  <p:cNvSpPr>
                    <a:spLocks noChangeShapeType="1"/>
                  </p:cNvSpPr>
                  <p:nvPr/>
                </p:nvSpPr>
                <p:spPr bwMode="auto">
                  <a:xfrm>
                    <a:off x="7415039" y="3599378"/>
                    <a:ext cx="2232025"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grpSp>
            <p:sp>
              <p:nvSpPr>
                <p:cNvPr id="15373" name="Line 13"/>
                <p:cNvSpPr>
                  <a:spLocks noChangeShapeType="1"/>
                </p:cNvSpPr>
                <p:nvPr/>
              </p:nvSpPr>
              <p:spPr bwMode="auto">
                <a:xfrm>
                  <a:off x="7509390" y="4248150"/>
                  <a:ext cx="2160587"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grpSp>
          <p:sp>
            <p:nvSpPr>
              <p:cNvPr id="15374" name="Text Box 14"/>
              <p:cNvSpPr txBox="1">
                <a:spLocks noChangeArrowheads="1"/>
              </p:cNvSpPr>
              <p:nvPr/>
            </p:nvSpPr>
            <p:spPr bwMode="auto">
              <a:xfrm>
                <a:off x="7415037" y="3494001"/>
                <a:ext cx="2303462" cy="1439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2 x D x Cc</a:t>
                </a:r>
              </a:p>
              <a:p>
                <a:pPr algn="ctr">
                  <a:spcBef>
                    <a:spcPts val="400"/>
                  </a:spcBef>
                  <a:buClrTx/>
                </a:pPr>
                <a:endParaRPr lang="pt-BR" altLang="pt-BR" sz="600" b="1" dirty="0">
                  <a:solidFill>
                    <a:schemeClr val="accent6"/>
                  </a:solidFill>
                  <a:latin typeface="Lucida Sans Unicode" panose="020B0602030504020204" pitchFamily="34" charset="0"/>
                </a:endParaRPr>
              </a:p>
              <a:p>
                <a:pPr algn="ctr">
                  <a:spcBef>
                    <a:spcPts val="400"/>
                  </a:spcBef>
                  <a:buClrTx/>
                </a:pPr>
                <a:r>
                  <a:rPr lang="pt-BR" altLang="pt-BR" sz="2700" b="1" dirty="0">
                    <a:solidFill>
                      <a:schemeClr val="accent6"/>
                    </a:solidFill>
                    <a:latin typeface="Lucida Sans Unicode" panose="020B0602030504020204" pitchFamily="34" charset="0"/>
                  </a:rPr>
                  <a:t>CPA x PU </a:t>
                </a:r>
              </a:p>
            </p:txBody>
          </p:sp>
        </p:grpSp>
      </p:grpSp>
      <p:sp>
        <p:nvSpPr>
          <p:cNvPr id="15375" name="Text Box 15"/>
          <p:cNvSpPr txBox="1">
            <a:spLocks noChangeArrowheads="1"/>
          </p:cNvSpPr>
          <p:nvPr/>
        </p:nvSpPr>
        <p:spPr bwMode="auto">
          <a:xfrm>
            <a:off x="7715251" y="5676967"/>
            <a:ext cx="2087563"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353,27 pç </a:t>
            </a:r>
          </a:p>
        </p:txBody>
      </p:sp>
      <p:grpSp>
        <p:nvGrpSpPr>
          <p:cNvPr id="9" name="Grupo 8"/>
          <p:cNvGrpSpPr/>
          <p:nvPr/>
        </p:nvGrpSpPr>
        <p:grpSpPr>
          <a:xfrm>
            <a:off x="3865563" y="5290485"/>
            <a:ext cx="3322638" cy="1172787"/>
            <a:chOff x="3744913" y="4982702"/>
            <a:chExt cx="3322638" cy="1172787"/>
          </a:xfrm>
        </p:grpSpPr>
        <p:grpSp>
          <p:nvGrpSpPr>
            <p:cNvPr id="8" name="Grupo 7"/>
            <p:cNvGrpSpPr/>
            <p:nvPr/>
          </p:nvGrpSpPr>
          <p:grpSpPr>
            <a:xfrm>
              <a:off x="3744913" y="4982702"/>
              <a:ext cx="3322638" cy="1029162"/>
              <a:chOff x="3744913" y="4982702"/>
              <a:chExt cx="3322638" cy="1029162"/>
            </a:xfrm>
          </p:grpSpPr>
          <p:sp>
            <p:nvSpPr>
              <p:cNvPr id="15376" name="Line 16"/>
              <p:cNvSpPr>
                <a:spLocks noChangeShapeType="1"/>
              </p:cNvSpPr>
              <p:nvPr/>
            </p:nvSpPr>
            <p:spPr bwMode="auto">
              <a:xfrm>
                <a:off x="4116389" y="5357813"/>
                <a:ext cx="71437" cy="647700"/>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5377" name="Line 17"/>
              <p:cNvSpPr>
                <a:spLocks noChangeShapeType="1"/>
              </p:cNvSpPr>
              <p:nvPr/>
            </p:nvSpPr>
            <p:spPr bwMode="auto">
              <a:xfrm>
                <a:off x="3744913" y="5347628"/>
                <a:ext cx="361950"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5378" name="Line 18"/>
              <p:cNvSpPr>
                <a:spLocks noChangeShapeType="1"/>
              </p:cNvSpPr>
              <p:nvPr/>
            </p:nvSpPr>
            <p:spPr bwMode="auto">
              <a:xfrm flipV="1">
                <a:off x="4187825" y="4991101"/>
                <a:ext cx="71438" cy="1020763"/>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5379" name="Line 19"/>
              <p:cNvSpPr>
                <a:spLocks noChangeShapeType="1"/>
              </p:cNvSpPr>
              <p:nvPr/>
            </p:nvSpPr>
            <p:spPr bwMode="auto">
              <a:xfrm>
                <a:off x="4259264" y="4982702"/>
                <a:ext cx="2808287"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15380" name="Line 20"/>
              <p:cNvSpPr>
                <a:spLocks noChangeShapeType="1"/>
              </p:cNvSpPr>
              <p:nvPr/>
            </p:nvSpPr>
            <p:spPr bwMode="auto">
              <a:xfrm flipV="1">
                <a:off x="4330700" y="5641976"/>
                <a:ext cx="2522538" cy="9525"/>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grpSp>
        <p:sp>
          <p:nvSpPr>
            <p:cNvPr id="15381" name="Text Box 21"/>
            <p:cNvSpPr txBox="1">
              <a:spLocks noChangeArrowheads="1"/>
            </p:cNvSpPr>
            <p:nvPr/>
          </p:nvSpPr>
          <p:spPr bwMode="auto">
            <a:xfrm>
              <a:off x="4332289" y="5177588"/>
              <a:ext cx="2735262"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2 x 3.000 x 130</a:t>
              </a:r>
            </a:p>
          </p:txBody>
        </p:sp>
        <p:sp>
          <p:nvSpPr>
            <p:cNvPr id="15382" name="Text Box 22"/>
            <p:cNvSpPr txBox="1">
              <a:spLocks noChangeArrowheads="1"/>
            </p:cNvSpPr>
            <p:nvPr/>
          </p:nvSpPr>
          <p:spPr bwMode="auto">
            <a:xfrm>
              <a:off x="4619627" y="5680826"/>
              <a:ext cx="2087563"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0,25 x 25</a:t>
              </a:r>
            </a:p>
          </p:txBody>
        </p:sp>
      </p:grpSp>
      <p:sp>
        <p:nvSpPr>
          <p:cNvPr id="15383" name="Text Box 23"/>
          <p:cNvSpPr txBox="1">
            <a:spLocks noChangeArrowheads="1"/>
          </p:cNvSpPr>
          <p:nvPr/>
        </p:nvSpPr>
        <p:spPr bwMode="auto">
          <a:xfrm>
            <a:off x="7211221" y="5690203"/>
            <a:ext cx="57626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 </a:t>
            </a:r>
          </a:p>
        </p:txBody>
      </p:sp>
      <p:sp>
        <p:nvSpPr>
          <p:cNvPr id="15384" name="Text Box 24"/>
          <p:cNvSpPr txBox="1">
            <a:spLocks noChangeArrowheads="1"/>
          </p:cNvSpPr>
          <p:nvPr/>
        </p:nvSpPr>
        <p:spPr bwMode="auto">
          <a:xfrm>
            <a:off x="2867821" y="5639676"/>
            <a:ext cx="100806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LEC = </a:t>
            </a:r>
          </a:p>
        </p:txBody>
      </p:sp>
      <p:sp>
        <p:nvSpPr>
          <p:cNvPr id="33" name="CaixaDeTexto 32"/>
          <p:cNvSpPr txBox="1"/>
          <p:nvPr/>
        </p:nvSpPr>
        <p:spPr>
          <a:xfrm>
            <a:off x="2099556" y="953193"/>
            <a:ext cx="7992888" cy="400110"/>
          </a:xfrm>
          <a:prstGeom prst="rect">
            <a:avLst/>
          </a:prstGeom>
          <a:noFill/>
        </p:spPr>
        <p:txBody>
          <a:bodyPr wrap="square" rtlCol="0">
            <a:spAutoFit/>
          </a:bodyPr>
          <a:lstStyle/>
          <a:p>
            <a:pPr algn="ctr">
              <a:buClrTx/>
              <a:buFontTx/>
              <a:buNone/>
            </a:pPr>
            <a:r>
              <a:rPr lang="pt-BR" altLang="pt-BR" sz="2000" b="1" dirty="0">
                <a:solidFill>
                  <a:schemeClr val="accent6"/>
                </a:solidFill>
                <a:latin typeface="Lucida Sans Unicode" panose="020B0602030504020204" pitchFamily="34" charset="0"/>
              </a:rPr>
              <a:t>LOTE ECONÔMICO DE COMPRA</a:t>
            </a:r>
          </a:p>
        </p:txBody>
      </p:sp>
      <p:sp>
        <p:nvSpPr>
          <p:cNvPr id="34" name="CaixaDeTexto 33"/>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Tree>
    <p:extLst>
      <p:ext uri="{BB962C8B-B14F-4D97-AF65-F5344CB8AC3E}">
        <p14:creationId xmlns:p14="http://schemas.microsoft.com/office/powerpoint/2010/main" val="268497846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fade">
                                      <p:cBhvr>
                                        <p:cTn id="7" dur="1000"/>
                                        <p:tgtEl>
                                          <p:spTgt spid="20483"/>
                                        </p:tgtEl>
                                      </p:cBhvr>
                                    </p:animEffect>
                                    <p:anim calcmode="lin" valueType="num">
                                      <p:cBhvr>
                                        <p:cTn id="8" dur="1000" fill="hold"/>
                                        <p:tgtEl>
                                          <p:spTgt spid="20483"/>
                                        </p:tgtEl>
                                        <p:attrNameLst>
                                          <p:attrName>ppt_x</p:attrName>
                                        </p:attrNameLst>
                                      </p:cBhvr>
                                      <p:tavLst>
                                        <p:tav tm="0">
                                          <p:val>
                                            <p:strVal val="#ppt_x"/>
                                          </p:val>
                                        </p:tav>
                                        <p:tav tm="100000">
                                          <p:val>
                                            <p:strVal val="#ppt_x"/>
                                          </p:val>
                                        </p:tav>
                                      </p:tavLst>
                                    </p:anim>
                                    <p:anim calcmode="lin" valueType="num">
                                      <p:cBhvr>
                                        <p:cTn id="9" dur="1000" fill="hold"/>
                                        <p:tgtEl>
                                          <p:spTgt spid="2048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fill="hold" nodeType="clickEffect">
                                  <p:stCondLst>
                                    <p:cond delay="0"/>
                                  </p:stCondLst>
                                  <p:childTnLst>
                                    <p:set>
                                      <p:cBhvr additive="repl">
                                        <p:cTn id="13"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fill="hold" nodeType="clickEffect">
                                  <p:stCondLst>
                                    <p:cond delay="0"/>
                                  </p:stCondLst>
                                  <p:childTnLst>
                                    <p:set>
                                      <p:cBhvr additive="repl">
                                        <p:cTn id="17" dur="1" fill="hold">
                                          <p:stCondLst>
                                            <p:cond delay="0"/>
                                          </p:stCondLst>
                                        </p:cTn>
                                        <p:tgtEl>
                                          <p:spTgt spid="15364">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fill="hold" nodeType="clickEffect">
                                  <p:stCondLst>
                                    <p:cond delay="0"/>
                                  </p:stCondLst>
                                  <p:childTnLst>
                                    <p:set>
                                      <p:cBhvr additive="repl">
                                        <p:cTn id="21" dur="1" fill="hold">
                                          <p:stCondLst>
                                            <p:cond delay="0"/>
                                          </p:stCondLst>
                                        </p:cTn>
                                        <p:tgtEl>
                                          <p:spTgt spid="15365">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fill="hold" nodeType="clickEffect">
                                  <p:stCondLst>
                                    <p:cond delay="0"/>
                                  </p:stCondLst>
                                  <p:childTnLst>
                                    <p:set>
                                      <p:cBhvr additive="repl">
                                        <p:cTn id="25" dur="1" fill="hold">
                                          <p:stCondLst>
                                            <p:cond delay="0"/>
                                          </p:stCondLst>
                                        </p:cTn>
                                        <p:tgtEl>
                                          <p:spTgt spid="15366">
                                            <p:txEl>
                                              <p:pRg st="0" end="0"/>
                                            </p:txEl>
                                          </p:spTgt>
                                        </p:tgtEl>
                                        <p:attrNameLst>
                                          <p:attrName>style.visibility</p:attrName>
                                        </p:attrNameLst>
                                      </p:cBhvr>
                                      <p:to>
                                        <p:strVal val="visible"/>
                                      </p:to>
                                    </p:set>
                                  </p:childTnLst>
                                </p:cTn>
                              </p:par>
                              <p:par>
                                <p:cTn id="26" presetID="1" presetClass="entr" fill="hold" grpId="0" nodeType="withEffect">
                                  <p:stCondLst>
                                    <p:cond delay="0"/>
                                  </p:stCondLst>
                                  <p:childTnLst>
                                    <p:set>
                                      <p:cBhvr additive="repl">
                                        <p:cTn id="27" dur="1" fill="hold">
                                          <p:stCondLst>
                                            <p:cond delay="0"/>
                                          </p:stCondLst>
                                        </p:cTn>
                                        <p:tgtEl>
                                          <p:spTgt spid="1536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fill="hold" nodeType="clickEffect">
                                  <p:stCondLst>
                                    <p:cond delay="0"/>
                                  </p:stCondLst>
                                  <p:childTnLst>
                                    <p:set>
                                      <p:cBhvr additive="repl">
                                        <p:cTn id="36" dur="1" fill="hold">
                                          <p:stCondLst>
                                            <p:cond delay="0"/>
                                          </p:stCondLst>
                                        </p:cTn>
                                        <p:tgtEl>
                                          <p:spTgt spid="15384">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6" presetClass="entr" presetSubtype="37"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barn(outVertical)">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fill="hold" nodeType="clickEffect">
                                  <p:stCondLst>
                                    <p:cond delay="0"/>
                                  </p:stCondLst>
                                  <p:childTnLst>
                                    <p:set>
                                      <p:cBhvr additive="repl">
                                        <p:cTn id="45" dur="1" fill="hold">
                                          <p:stCondLst>
                                            <p:cond delay="0"/>
                                          </p:stCondLst>
                                        </p:cTn>
                                        <p:tgtEl>
                                          <p:spTgt spid="15383">
                                            <p:txEl>
                                              <p:pRg st="0" end="0"/>
                                            </p:txEl>
                                          </p:spTgt>
                                        </p:tgtEl>
                                        <p:attrNameLst>
                                          <p:attrName>style.visibility</p:attrName>
                                        </p:attrNameLst>
                                      </p:cBhvr>
                                      <p:to>
                                        <p:strVal val="visible"/>
                                      </p:to>
                                    </p:set>
                                  </p:childTnLst>
                                </p:cTn>
                              </p:par>
                              <p:par>
                                <p:cTn id="46" presetID="1" presetClass="entr" fill="hold" nodeType="withEffect">
                                  <p:stCondLst>
                                    <p:cond delay="0"/>
                                  </p:stCondLst>
                                  <p:childTnLst>
                                    <p:set>
                                      <p:cBhvr additive="repl">
                                        <p:cTn id="47" dur="1" fill="hold">
                                          <p:stCondLst>
                                            <p:cond delay="0"/>
                                          </p:stCondLst>
                                        </p:cTn>
                                        <p:tgtEl>
                                          <p:spTgt spid="1537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P spid="15367" grpId="0" animBg="1"/>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1" name="Text Box 2"/>
          <p:cNvSpPr txBox="1">
            <a:spLocks noChangeArrowheads="1"/>
          </p:cNvSpPr>
          <p:nvPr/>
        </p:nvSpPr>
        <p:spPr bwMode="auto">
          <a:xfrm>
            <a:off x="2171702" y="1481454"/>
            <a:ext cx="7920037" cy="8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Custo Total = Custo de Armazenar + Custo de Comprar</a:t>
            </a:r>
          </a:p>
        </p:txBody>
      </p:sp>
      <p:sp>
        <p:nvSpPr>
          <p:cNvPr id="16387" name="Text Box 3"/>
          <p:cNvSpPr txBox="1">
            <a:spLocks noChangeArrowheads="1"/>
          </p:cNvSpPr>
          <p:nvPr/>
        </p:nvSpPr>
        <p:spPr bwMode="auto">
          <a:xfrm>
            <a:off x="1884364" y="2290763"/>
            <a:ext cx="4679950" cy="804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Custo Total Anual</a:t>
            </a:r>
          </a:p>
        </p:txBody>
      </p:sp>
      <p:sp>
        <p:nvSpPr>
          <p:cNvPr id="16388" name="Text Box 4"/>
          <p:cNvSpPr txBox="1">
            <a:spLocks noChangeArrowheads="1"/>
          </p:cNvSpPr>
          <p:nvPr/>
        </p:nvSpPr>
        <p:spPr bwMode="auto">
          <a:xfrm>
            <a:off x="2027238" y="3095625"/>
            <a:ext cx="5041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sz="2000" b="1" dirty="0">
                <a:solidFill>
                  <a:schemeClr val="accent6"/>
                </a:solidFill>
                <a:latin typeface="Lucida Sans Unicode" panose="020B0602030504020204" pitchFamily="34" charset="0"/>
              </a:rPr>
              <a:t>CT = Q/2 x CPA x PU + D/Q x Cc</a:t>
            </a:r>
          </a:p>
        </p:txBody>
      </p:sp>
      <p:sp>
        <p:nvSpPr>
          <p:cNvPr id="16389" name="Text Box 5"/>
          <p:cNvSpPr txBox="1">
            <a:spLocks noChangeArrowheads="1"/>
          </p:cNvSpPr>
          <p:nvPr/>
        </p:nvSpPr>
        <p:spPr bwMode="auto">
          <a:xfrm>
            <a:off x="2027238" y="3684587"/>
            <a:ext cx="770413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sz="2000" b="1" dirty="0">
                <a:solidFill>
                  <a:schemeClr val="accent6"/>
                </a:solidFill>
                <a:latin typeface="Lucida Sans Unicode" panose="020B0602030504020204" pitchFamily="34" charset="0"/>
              </a:rPr>
              <a:t>CT = 353,27/2 x 0,25 x 25 + 3.000/353,27 x 130</a:t>
            </a:r>
          </a:p>
        </p:txBody>
      </p:sp>
      <p:sp>
        <p:nvSpPr>
          <p:cNvPr id="16390" name="Text Box 6"/>
          <p:cNvSpPr txBox="1">
            <a:spLocks noChangeArrowheads="1"/>
          </p:cNvSpPr>
          <p:nvPr/>
        </p:nvSpPr>
        <p:spPr bwMode="auto">
          <a:xfrm>
            <a:off x="2027238" y="4248150"/>
            <a:ext cx="2735262"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sz="2000" b="1" dirty="0">
                <a:solidFill>
                  <a:schemeClr val="accent6"/>
                </a:solidFill>
                <a:latin typeface="Lucida Sans Unicode" panose="020B0602030504020204" pitchFamily="34" charset="0"/>
              </a:rPr>
              <a:t>CT = R$ 2.207,94</a:t>
            </a:r>
          </a:p>
        </p:txBody>
      </p:sp>
      <p:sp>
        <p:nvSpPr>
          <p:cNvPr id="16391" name="Text Box 7"/>
          <p:cNvSpPr txBox="1">
            <a:spLocks noChangeArrowheads="1"/>
          </p:cNvSpPr>
          <p:nvPr/>
        </p:nvSpPr>
        <p:spPr bwMode="auto">
          <a:xfrm>
            <a:off x="1992312" y="5154294"/>
            <a:ext cx="8207375"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200" b="1" dirty="0">
                <a:solidFill>
                  <a:srgbClr val="FF0000"/>
                </a:solidFill>
                <a:latin typeface="Lucida Sans Unicode" panose="020B0602030504020204" pitchFamily="34" charset="0"/>
              </a:rPr>
              <a:t>Lembrando que </a:t>
            </a:r>
            <a:r>
              <a:rPr lang="pt-BR" altLang="pt-BR" sz="2200" b="1" u="sng" dirty="0">
                <a:solidFill>
                  <a:srgbClr val="FF0000"/>
                </a:solidFill>
                <a:latin typeface="Lucida Sans Unicode" panose="020B0602030504020204" pitchFamily="34" charset="0"/>
              </a:rPr>
              <a:t>para o LEC</a:t>
            </a:r>
            <a:r>
              <a:rPr lang="pt-BR" altLang="pt-BR" sz="2200" b="1" dirty="0">
                <a:solidFill>
                  <a:srgbClr val="FF0000"/>
                </a:solidFill>
                <a:latin typeface="Lucida Sans Unicode" panose="020B0602030504020204" pitchFamily="34" charset="0"/>
              </a:rPr>
              <a:t>:</a:t>
            </a:r>
          </a:p>
          <a:p>
            <a:pPr algn="ctr">
              <a:spcBef>
                <a:spcPts val="400"/>
              </a:spcBef>
              <a:buClrTx/>
            </a:pPr>
            <a:r>
              <a:rPr lang="pt-BR" altLang="pt-BR" sz="2200" b="1" dirty="0">
                <a:solidFill>
                  <a:srgbClr val="FF0000"/>
                </a:solidFill>
                <a:latin typeface="Lucida Sans Unicode" panose="020B0602030504020204" pitchFamily="34" charset="0"/>
              </a:rPr>
              <a:t> Custo de Armazenar = Custo de Comprar = R$ 1.103,97</a:t>
            </a:r>
          </a:p>
        </p:txBody>
      </p:sp>
      <p:sp>
        <p:nvSpPr>
          <p:cNvPr id="11" name="CaixaDeTexto 10"/>
          <p:cNvSpPr txBox="1"/>
          <p:nvPr/>
        </p:nvSpPr>
        <p:spPr>
          <a:xfrm>
            <a:off x="2099556" y="953193"/>
            <a:ext cx="7992888" cy="400110"/>
          </a:xfrm>
          <a:prstGeom prst="rect">
            <a:avLst/>
          </a:prstGeom>
          <a:noFill/>
        </p:spPr>
        <p:txBody>
          <a:bodyPr wrap="square" rtlCol="0">
            <a:spAutoFit/>
          </a:bodyPr>
          <a:lstStyle/>
          <a:p>
            <a:pPr algn="ctr">
              <a:buClrTx/>
              <a:buFontTx/>
              <a:buNone/>
            </a:pPr>
            <a:r>
              <a:rPr lang="pt-BR" altLang="pt-BR" sz="2000" b="1" dirty="0">
                <a:solidFill>
                  <a:schemeClr val="accent6"/>
                </a:solidFill>
                <a:latin typeface="Lucida Sans Unicode" panose="020B0602030504020204" pitchFamily="34" charset="0"/>
              </a:rPr>
              <a:t>LOTE ECONÔMICO DE COMPRA</a:t>
            </a:r>
          </a:p>
        </p:txBody>
      </p:sp>
      <p:sp>
        <p:nvSpPr>
          <p:cNvPr id="12" name="CaixaDeTexto 11"/>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Tree>
    <p:extLst>
      <p:ext uri="{BB962C8B-B14F-4D97-AF65-F5344CB8AC3E}">
        <p14:creationId xmlns:p14="http://schemas.microsoft.com/office/powerpoint/2010/main" val="4196016193"/>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9" fill="hold" grpId="0" nodeType="clickEffect">
                                  <p:stCondLst>
                                    <p:cond delay="0"/>
                                  </p:stCondLst>
                                  <p:childTnLst>
                                    <p:set>
                                      <p:cBhvr>
                                        <p:cTn id="6" dur="1" fill="hold">
                                          <p:stCondLst>
                                            <p:cond delay="0"/>
                                          </p:stCondLst>
                                        </p:cTn>
                                        <p:tgtEl>
                                          <p:spTgt spid="22531"/>
                                        </p:tgtEl>
                                        <p:attrNameLst>
                                          <p:attrName>style.visibility</p:attrName>
                                        </p:attrNameLst>
                                      </p:cBhvr>
                                      <p:to>
                                        <p:strVal val="visible"/>
                                      </p:to>
                                    </p:set>
                                    <p:anim calcmode="lin" valueType="num">
                                      <p:cBhvr additive="base">
                                        <p:cTn id="7" dur="500" fill="hold"/>
                                        <p:tgtEl>
                                          <p:spTgt spid="22531"/>
                                        </p:tgtEl>
                                        <p:attrNameLst>
                                          <p:attrName>ppt_x</p:attrName>
                                        </p:attrNameLst>
                                      </p:cBhvr>
                                      <p:tavLst>
                                        <p:tav tm="0">
                                          <p:val>
                                            <p:strVal val="0-#ppt_w/2"/>
                                          </p:val>
                                        </p:tav>
                                        <p:tav tm="100000">
                                          <p:val>
                                            <p:strVal val="#ppt_x"/>
                                          </p:val>
                                        </p:tav>
                                      </p:tavLst>
                                    </p:anim>
                                    <p:anim calcmode="lin" valueType="num">
                                      <p:cBhvr additive="base">
                                        <p:cTn id="8" dur="500" fill="hold"/>
                                        <p:tgtEl>
                                          <p:spTgt spid="2253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fill="hold" nodeType="clickEffect">
                                  <p:stCondLst>
                                    <p:cond delay="0"/>
                                  </p:stCondLst>
                                  <p:childTnLst>
                                    <p:set>
                                      <p:cBhvr additive="repl">
                                        <p:cTn id="12"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additive="repl">
                                        <p:cTn id="16" dur="1" fill="hold">
                                          <p:stCondLst>
                                            <p:cond delay="0"/>
                                          </p:stCondLst>
                                        </p:cTn>
                                        <p:tgtEl>
                                          <p:spTgt spid="1638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fill="hold" nodeType="clickEffect">
                                  <p:stCondLst>
                                    <p:cond delay="0"/>
                                  </p:stCondLst>
                                  <p:childTnLst>
                                    <p:set>
                                      <p:cBhvr additive="repl">
                                        <p:cTn id="20" dur="1" fill="hold">
                                          <p:stCondLst>
                                            <p:cond delay="0"/>
                                          </p:stCondLst>
                                        </p:cTn>
                                        <p:tgtEl>
                                          <p:spTgt spid="16389">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additive="repl">
                                        <p:cTn id="24" dur="4" fill="hold">
                                          <p:stCondLst>
                                            <p:cond delay="0"/>
                                          </p:stCondLst>
                                        </p:cTn>
                                        <p:tgtEl>
                                          <p:spTgt spid="16390">
                                            <p:txEl>
                                              <p:pRg st="0" end="0"/>
                                            </p:txEl>
                                          </p:spTgt>
                                        </p:tgtEl>
                                        <p:attrNameLst>
                                          <p:attrName>style.visibility</p:attrName>
                                        </p:attrNameLst>
                                      </p:cBhvr>
                                      <p:to>
                                        <p:strVal val="visible"/>
                                      </p:to>
                                    </p:set>
                                    <p:animEffect transition="in" filter="wipe(down)">
                                      <p:cBhvr additive="repl">
                                        <p:cTn id="25" dur="2000"/>
                                        <p:tgtEl>
                                          <p:spTgt spid="16390">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fill="hold" nodeType="clickEffect">
                                  <p:stCondLst>
                                    <p:cond delay="0"/>
                                  </p:stCondLst>
                                  <p:childTnLst>
                                    <p:set>
                                      <p:cBhvr additive="repl">
                                        <p:cTn id="29" dur="1" fill="hold">
                                          <p:stCondLst>
                                            <p:cond delay="0"/>
                                          </p:stCondLst>
                                        </p:cTn>
                                        <p:tgtEl>
                                          <p:spTgt spid="16391">
                                            <p:txEl>
                                              <p:pRg st="0" end="0"/>
                                            </p:txEl>
                                          </p:spTgt>
                                        </p:tgtEl>
                                        <p:attrNameLst>
                                          <p:attrName>style.visibility</p:attrName>
                                        </p:attrNameLst>
                                      </p:cBhvr>
                                      <p:to>
                                        <p:strVal val="visible"/>
                                      </p:to>
                                    </p:set>
                                  </p:childTnLst>
                                </p:cTn>
                              </p:par>
                              <p:par>
                                <p:cTn id="30" presetID="1" presetClass="entr" fill="hold" nodeType="withEffect">
                                  <p:stCondLst>
                                    <p:cond delay="0"/>
                                  </p:stCondLst>
                                  <p:childTnLst>
                                    <p:set>
                                      <p:cBhvr additive="repl">
                                        <p:cTn id="31" dur="1" fill="hold">
                                          <p:stCondLst>
                                            <p:cond delay="0"/>
                                          </p:stCondLst>
                                        </p:cTn>
                                        <p:tgtEl>
                                          <p:spTgt spid="1639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p:bld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9" name="Text Box 2"/>
          <p:cNvSpPr txBox="1">
            <a:spLocks noChangeArrowheads="1"/>
          </p:cNvSpPr>
          <p:nvPr/>
        </p:nvSpPr>
        <p:spPr bwMode="auto">
          <a:xfrm>
            <a:off x="1455162" y="1710909"/>
            <a:ext cx="9281675" cy="1100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marL="0" indent="6350" algn="just">
              <a:spcBef>
                <a:spcPts val="400"/>
              </a:spcBef>
              <a:buClrTx/>
              <a:tabLst>
                <a:tab pos="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pPr>
            <a:r>
              <a:rPr lang="pt-BR" altLang="pt-BR" dirty="0">
                <a:solidFill>
                  <a:schemeClr val="accent6"/>
                </a:solidFill>
                <a:latin typeface="Lucida Sans Unicode" panose="020B0602030504020204" pitchFamily="34" charset="0"/>
              </a:rPr>
              <a:t>O consumo anual de determinado item de estoque é de 12.000 peças. O custo unitário de pedido de compra é de R$ 80,00, sendo o custo do produto armazenado de 15% de seu preço unitário, que é de R$ 42,00. Qual o Lote Econômico de Compra e o Custo Total anual?</a:t>
            </a:r>
          </a:p>
        </p:txBody>
      </p:sp>
      <p:sp>
        <p:nvSpPr>
          <p:cNvPr id="17411" name="Text Box 3"/>
          <p:cNvSpPr txBox="1">
            <a:spLocks noChangeArrowheads="1"/>
          </p:cNvSpPr>
          <p:nvPr/>
        </p:nvSpPr>
        <p:spPr bwMode="auto">
          <a:xfrm>
            <a:off x="1981201" y="3384550"/>
            <a:ext cx="220662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D = 12.000 pç</a:t>
            </a:r>
          </a:p>
        </p:txBody>
      </p:sp>
      <p:sp>
        <p:nvSpPr>
          <p:cNvPr id="17412" name="Text Box 4"/>
          <p:cNvSpPr txBox="1">
            <a:spLocks noChangeArrowheads="1"/>
          </p:cNvSpPr>
          <p:nvPr/>
        </p:nvSpPr>
        <p:spPr bwMode="auto">
          <a:xfrm>
            <a:off x="1981201" y="3816350"/>
            <a:ext cx="220662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Cc = R$ 80,00</a:t>
            </a:r>
          </a:p>
        </p:txBody>
      </p:sp>
      <p:sp>
        <p:nvSpPr>
          <p:cNvPr id="17413" name="Text Box 5"/>
          <p:cNvSpPr txBox="1">
            <a:spLocks noChangeArrowheads="1"/>
          </p:cNvSpPr>
          <p:nvPr/>
        </p:nvSpPr>
        <p:spPr bwMode="auto">
          <a:xfrm>
            <a:off x="1981200" y="4248150"/>
            <a:ext cx="2135188"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CPA = 15 %</a:t>
            </a:r>
          </a:p>
        </p:txBody>
      </p:sp>
      <p:sp>
        <p:nvSpPr>
          <p:cNvPr id="17414" name="Text Box 6"/>
          <p:cNvSpPr txBox="1">
            <a:spLocks noChangeArrowheads="1"/>
          </p:cNvSpPr>
          <p:nvPr/>
        </p:nvSpPr>
        <p:spPr bwMode="auto">
          <a:xfrm>
            <a:off x="1981200" y="4608514"/>
            <a:ext cx="2135188"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PU = R$ 42,00</a:t>
            </a:r>
          </a:p>
        </p:txBody>
      </p:sp>
      <p:sp>
        <p:nvSpPr>
          <p:cNvPr id="17423" name="Text Box 15"/>
          <p:cNvSpPr txBox="1">
            <a:spLocks noChangeArrowheads="1"/>
          </p:cNvSpPr>
          <p:nvPr/>
        </p:nvSpPr>
        <p:spPr bwMode="auto">
          <a:xfrm>
            <a:off x="7710195" y="5649729"/>
            <a:ext cx="2087563"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552,05 pç </a:t>
            </a:r>
          </a:p>
        </p:txBody>
      </p:sp>
      <p:sp>
        <p:nvSpPr>
          <p:cNvPr id="17431" name="Text Box 23"/>
          <p:cNvSpPr txBox="1">
            <a:spLocks noChangeArrowheads="1"/>
          </p:cNvSpPr>
          <p:nvPr/>
        </p:nvSpPr>
        <p:spPr bwMode="auto">
          <a:xfrm>
            <a:off x="7133932" y="5649729"/>
            <a:ext cx="57626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 </a:t>
            </a:r>
          </a:p>
        </p:txBody>
      </p:sp>
      <p:sp>
        <p:nvSpPr>
          <p:cNvPr id="17432" name="Text Box 24"/>
          <p:cNvSpPr txBox="1">
            <a:spLocks noChangeArrowheads="1"/>
          </p:cNvSpPr>
          <p:nvPr/>
        </p:nvSpPr>
        <p:spPr bwMode="auto">
          <a:xfrm>
            <a:off x="2901657" y="5700529"/>
            <a:ext cx="100806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LEC = </a:t>
            </a:r>
          </a:p>
        </p:txBody>
      </p:sp>
      <p:sp>
        <p:nvSpPr>
          <p:cNvPr id="28" name="AutoShape 7"/>
          <p:cNvSpPr>
            <a:spLocks noChangeArrowheads="1"/>
          </p:cNvSpPr>
          <p:nvPr/>
        </p:nvSpPr>
        <p:spPr bwMode="auto">
          <a:xfrm>
            <a:off x="5488887" y="4033752"/>
            <a:ext cx="360363" cy="360362"/>
          </a:xfrm>
          <a:prstGeom prst="rightArrow">
            <a:avLst>
              <a:gd name="adj1" fmla="val 50000"/>
              <a:gd name="adj2" fmla="val 25000"/>
            </a:avLst>
          </a:prstGeom>
          <a:solidFill>
            <a:srgbClr val="FF0000"/>
          </a:solidFill>
          <a:ln w="9360" cap="sq">
            <a:solidFill>
              <a:srgbClr val="3465A4"/>
            </a:solidFill>
            <a:round/>
            <a:headEnd/>
            <a:tailEnd/>
          </a:ln>
          <a:effectLst/>
        </p:spPr>
        <p:txBody>
          <a:bodyPr wrap="none" anchor="ctr"/>
          <a:lstStyle/>
          <a:p>
            <a:pPr>
              <a:buClr>
                <a:srgbClr val="000000"/>
              </a:buClr>
              <a:buSzPct val="100000"/>
              <a:buFont typeface="Times New Roman" panose="02020603050405020304" pitchFamily="18" charset="0"/>
              <a:buNone/>
            </a:pPr>
            <a:endParaRPr lang="pt-BR" altLang="pt-BR" dirty="0"/>
          </a:p>
        </p:txBody>
      </p:sp>
      <p:grpSp>
        <p:nvGrpSpPr>
          <p:cNvPr id="29" name="Grupo 28"/>
          <p:cNvGrpSpPr/>
          <p:nvPr/>
        </p:nvGrpSpPr>
        <p:grpSpPr>
          <a:xfrm>
            <a:off x="6959601" y="3554412"/>
            <a:ext cx="3598861" cy="1439863"/>
            <a:chOff x="6119638" y="3494001"/>
            <a:chExt cx="3598861" cy="1439863"/>
          </a:xfrm>
        </p:grpSpPr>
        <p:sp>
          <p:nvSpPr>
            <p:cNvPr id="30" name="Text Box 8"/>
            <p:cNvSpPr txBox="1">
              <a:spLocks noChangeArrowheads="1"/>
            </p:cNvSpPr>
            <p:nvPr/>
          </p:nvSpPr>
          <p:spPr bwMode="auto">
            <a:xfrm>
              <a:off x="6119638" y="3958154"/>
              <a:ext cx="100806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LEC</a:t>
              </a:r>
              <a:r>
                <a:rPr lang="pt-BR" altLang="pt-BR" sz="2700" b="1" dirty="0">
                  <a:solidFill>
                    <a:srgbClr val="000066"/>
                  </a:solidFill>
                  <a:latin typeface="Lucida Sans Unicode" panose="020B0602030504020204" pitchFamily="34" charset="0"/>
                </a:rPr>
                <a:t> </a:t>
              </a:r>
              <a:r>
                <a:rPr lang="pt-BR" altLang="pt-BR" sz="2700" b="1" dirty="0">
                  <a:solidFill>
                    <a:schemeClr val="accent6"/>
                  </a:solidFill>
                  <a:latin typeface="Lucida Sans Unicode" panose="020B0602030504020204" pitchFamily="34" charset="0"/>
                </a:rPr>
                <a:t>=</a:t>
              </a:r>
              <a:r>
                <a:rPr lang="pt-BR" altLang="pt-BR" sz="2700" b="1" dirty="0">
                  <a:solidFill>
                    <a:srgbClr val="000066"/>
                  </a:solidFill>
                  <a:latin typeface="Lucida Sans Unicode" panose="020B0602030504020204" pitchFamily="34" charset="0"/>
                </a:rPr>
                <a:t> </a:t>
              </a:r>
            </a:p>
          </p:txBody>
        </p:sp>
        <p:grpSp>
          <p:nvGrpSpPr>
            <p:cNvPr id="31" name="Grupo 30"/>
            <p:cNvGrpSpPr/>
            <p:nvPr/>
          </p:nvGrpSpPr>
          <p:grpSpPr>
            <a:xfrm>
              <a:off x="6911801" y="3494001"/>
              <a:ext cx="2806698" cy="1439863"/>
              <a:chOff x="6911801" y="3494001"/>
              <a:chExt cx="2806698" cy="1439863"/>
            </a:xfrm>
          </p:grpSpPr>
          <p:grpSp>
            <p:nvGrpSpPr>
              <p:cNvPr id="32" name="Grupo 31"/>
              <p:cNvGrpSpPr/>
              <p:nvPr/>
            </p:nvGrpSpPr>
            <p:grpSpPr>
              <a:xfrm>
                <a:off x="6911801" y="3593029"/>
                <a:ext cx="2758176" cy="1020763"/>
                <a:chOff x="6911801" y="3593029"/>
                <a:chExt cx="2758176" cy="1020763"/>
              </a:xfrm>
            </p:grpSpPr>
            <p:grpSp>
              <p:nvGrpSpPr>
                <p:cNvPr id="34" name="Grupo 33"/>
                <p:cNvGrpSpPr/>
                <p:nvPr/>
              </p:nvGrpSpPr>
              <p:grpSpPr>
                <a:xfrm>
                  <a:off x="6911801" y="3593029"/>
                  <a:ext cx="2735263" cy="1020763"/>
                  <a:chOff x="6911801" y="3593029"/>
                  <a:chExt cx="2735263" cy="1020763"/>
                </a:xfrm>
              </p:grpSpPr>
              <p:sp>
                <p:nvSpPr>
                  <p:cNvPr id="36" name="Line 9"/>
                  <p:cNvSpPr>
                    <a:spLocks noChangeShapeType="1"/>
                  </p:cNvSpPr>
                  <p:nvPr/>
                </p:nvSpPr>
                <p:spPr bwMode="auto">
                  <a:xfrm>
                    <a:off x="6911801" y="3958153"/>
                    <a:ext cx="360363"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37" name="Line 10"/>
                  <p:cNvSpPr>
                    <a:spLocks noChangeShapeType="1"/>
                  </p:cNvSpPr>
                  <p:nvPr/>
                </p:nvSpPr>
                <p:spPr bwMode="auto">
                  <a:xfrm>
                    <a:off x="7272164" y="3958153"/>
                    <a:ext cx="71437" cy="647700"/>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38" name="Line 11"/>
                  <p:cNvSpPr>
                    <a:spLocks noChangeShapeType="1"/>
                  </p:cNvSpPr>
                  <p:nvPr/>
                </p:nvSpPr>
                <p:spPr bwMode="auto">
                  <a:xfrm flipV="1">
                    <a:off x="7343600" y="3593029"/>
                    <a:ext cx="71438" cy="1020763"/>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39" name="Line 12"/>
                  <p:cNvSpPr>
                    <a:spLocks noChangeShapeType="1"/>
                  </p:cNvSpPr>
                  <p:nvPr/>
                </p:nvSpPr>
                <p:spPr bwMode="auto">
                  <a:xfrm>
                    <a:off x="7415039" y="3599378"/>
                    <a:ext cx="2232025"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grpSp>
            <p:sp>
              <p:nvSpPr>
                <p:cNvPr id="35" name="Line 13"/>
                <p:cNvSpPr>
                  <a:spLocks noChangeShapeType="1"/>
                </p:cNvSpPr>
                <p:nvPr/>
              </p:nvSpPr>
              <p:spPr bwMode="auto">
                <a:xfrm>
                  <a:off x="7509390" y="4248150"/>
                  <a:ext cx="2160587"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grpSp>
          <p:sp>
            <p:nvSpPr>
              <p:cNvPr id="33" name="Text Box 14"/>
              <p:cNvSpPr txBox="1">
                <a:spLocks noChangeArrowheads="1"/>
              </p:cNvSpPr>
              <p:nvPr/>
            </p:nvSpPr>
            <p:spPr bwMode="auto">
              <a:xfrm>
                <a:off x="7415037" y="3494001"/>
                <a:ext cx="2303462" cy="1439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2 x D x Cc</a:t>
                </a:r>
              </a:p>
              <a:p>
                <a:pPr algn="ctr">
                  <a:spcBef>
                    <a:spcPts val="400"/>
                  </a:spcBef>
                  <a:buClrTx/>
                </a:pPr>
                <a:endParaRPr lang="pt-BR" altLang="pt-BR" sz="600" b="1" dirty="0">
                  <a:solidFill>
                    <a:schemeClr val="accent6"/>
                  </a:solidFill>
                  <a:latin typeface="Lucida Sans Unicode" panose="020B0602030504020204" pitchFamily="34" charset="0"/>
                </a:endParaRPr>
              </a:p>
              <a:p>
                <a:pPr algn="ctr">
                  <a:spcBef>
                    <a:spcPts val="400"/>
                  </a:spcBef>
                  <a:buClrTx/>
                </a:pPr>
                <a:r>
                  <a:rPr lang="pt-BR" altLang="pt-BR" sz="2700" b="1" dirty="0">
                    <a:solidFill>
                      <a:schemeClr val="accent6"/>
                    </a:solidFill>
                    <a:latin typeface="Lucida Sans Unicode" panose="020B0602030504020204" pitchFamily="34" charset="0"/>
                  </a:rPr>
                  <a:t>CPA x PU </a:t>
                </a:r>
              </a:p>
            </p:txBody>
          </p:sp>
        </p:grpSp>
      </p:grpSp>
      <p:grpSp>
        <p:nvGrpSpPr>
          <p:cNvPr id="40" name="Grupo 39"/>
          <p:cNvGrpSpPr/>
          <p:nvPr/>
        </p:nvGrpSpPr>
        <p:grpSpPr>
          <a:xfrm>
            <a:off x="3827568" y="5258594"/>
            <a:ext cx="3322638" cy="1172787"/>
            <a:chOff x="3744913" y="4982702"/>
            <a:chExt cx="3322638" cy="1172787"/>
          </a:xfrm>
        </p:grpSpPr>
        <p:grpSp>
          <p:nvGrpSpPr>
            <p:cNvPr id="41" name="Grupo 40"/>
            <p:cNvGrpSpPr/>
            <p:nvPr/>
          </p:nvGrpSpPr>
          <p:grpSpPr>
            <a:xfrm>
              <a:off x="3744913" y="4982702"/>
              <a:ext cx="3322638" cy="1029162"/>
              <a:chOff x="3744913" y="4982702"/>
              <a:chExt cx="3322638" cy="1029162"/>
            </a:xfrm>
          </p:grpSpPr>
          <p:sp>
            <p:nvSpPr>
              <p:cNvPr id="44" name="Line 16"/>
              <p:cNvSpPr>
                <a:spLocks noChangeShapeType="1"/>
              </p:cNvSpPr>
              <p:nvPr/>
            </p:nvSpPr>
            <p:spPr bwMode="auto">
              <a:xfrm>
                <a:off x="4116389" y="5357813"/>
                <a:ext cx="71437" cy="647700"/>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45" name="Line 17"/>
              <p:cNvSpPr>
                <a:spLocks noChangeShapeType="1"/>
              </p:cNvSpPr>
              <p:nvPr/>
            </p:nvSpPr>
            <p:spPr bwMode="auto">
              <a:xfrm>
                <a:off x="3744913" y="5347628"/>
                <a:ext cx="361950"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46" name="Line 18"/>
              <p:cNvSpPr>
                <a:spLocks noChangeShapeType="1"/>
              </p:cNvSpPr>
              <p:nvPr/>
            </p:nvSpPr>
            <p:spPr bwMode="auto">
              <a:xfrm flipV="1">
                <a:off x="4187825" y="4991101"/>
                <a:ext cx="71438" cy="1020763"/>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47" name="Line 19"/>
              <p:cNvSpPr>
                <a:spLocks noChangeShapeType="1"/>
              </p:cNvSpPr>
              <p:nvPr/>
            </p:nvSpPr>
            <p:spPr bwMode="auto">
              <a:xfrm>
                <a:off x="4259264" y="4982702"/>
                <a:ext cx="2808287"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48" name="Line 20"/>
              <p:cNvSpPr>
                <a:spLocks noChangeShapeType="1"/>
              </p:cNvSpPr>
              <p:nvPr/>
            </p:nvSpPr>
            <p:spPr bwMode="auto">
              <a:xfrm flipV="1">
                <a:off x="4330700" y="5641976"/>
                <a:ext cx="2522538" cy="9525"/>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grpSp>
        <p:sp>
          <p:nvSpPr>
            <p:cNvPr id="42" name="Text Box 21"/>
            <p:cNvSpPr txBox="1">
              <a:spLocks noChangeArrowheads="1"/>
            </p:cNvSpPr>
            <p:nvPr/>
          </p:nvSpPr>
          <p:spPr bwMode="auto">
            <a:xfrm>
              <a:off x="4332289" y="5177588"/>
              <a:ext cx="2735262"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2 x 12.000 x 80</a:t>
              </a:r>
            </a:p>
          </p:txBody>
        </p:sp>
        <p:sp>
          <p:nvSpPr>
            <p:cNvPr id="43" name="Text Box 22"/>
            <p:cNvSpPr txBox="1">
              <a:spLocks noChangeArrowheads="1"/>
            </p:cNvSpPr>
            <p:nvPr/>
          </p:nvSpPr>
          <p:spPr bwMode="auto">
            <a:xfrm>
              <a:off x="4619627" y="5680826"/>
              <a:ext cx="2087563"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0,15 x 42</a:t>
              </a:r>
            </a:p>
          </p:txBody>
        </p:sp>
      </p:grpSp>
      <p:sp>
        <p:nvSpPr>
          <p:cNvPr id="52" name="CaixaDeTexto 51"/>
          <p:cNvSpPr txBox="1"/>
          <p:nvPr/>
        </p:nvSpPr>
        <p:spPr>
          <a:xfrm>
            <a:off x="2099556" y="953193"/>
            <a:ext cx="7992888" cy="400110"/>
          </a:xfrm>
          <a:prstGeom prst="rect">
            <a:avLst/>
          </a:prstGeom>
          <a:noFill/>
        </p:spPr>
        <p:txBody>
          <a:bodyPr wrap="square" rtlCol="0">
            <a:spAutoFit/>
          </a:bodyPr>
          <a:lstStyle/>
          <a:p>
            <a:pPr algn="ctr">
              <a:buClrTx/>
              <a:buFontTx/>
              <a:buNone/>
            </a:pPr>
            <a:r>
              <a:rPr lang="pt-BR" altLang="pt-BR" sz="2000" b="1" dirty="0">
                <a:solidFill>
                  <a:schemeClr val="accent6"/>
                </a:solidFill>
                <a:latin typeface="Lucida Sans Unicode" panose="020B0602030504020204" pitchFamily="34" charset="0"/>
              </a:rPr>
              <a:t>LOTE ECONÔMICO DE COMPRA</a:t>
            </a:r>
          </a:p>
        </p:txBody>
      </p:sp>
      <p:sp>
        <p:nvSpPr>
          <p:cNvPr id="53" name="CaixaDeTexto 52"/>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Tree>
    <p:extLst>
      <p:ext uri="{BB962C8B-B14F-4D97-AF65-F5344CB8AC3E}">
        <p14:creationId xmlns:p14="http://schemas.microsoft.com/office/powerpoint/2010/main" val="202287472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579"/>
                                        </p:tgtEl>
                                        <p:attrNameLst>
                                          <p:attrName>style.visibility</p:attrName>
                                        </p:attrNameLst>
                                      </p:cBhvr>
                                      <p:to>
                                        <p:strVal val="visible"/>
                                      </p:to>
                                    </p:set>
                                    <p:animEffect transition="in" filter="fade">
                                      <p:cBhvr>
                                        <p:cTn id="7" dur="1000"/>
                                        <p:tgtEl>
                                          <p:spTgt spid="24579"/>
                                        </p:tgtEl>
                                      </p:cBhvr>
                                    </p:animEffect>
                                    <p:anim calcmode="lin" valueType="num">
                                      <p:cBhvr>
                                        <p:cTn id="8" dur="1000" fill="hold"/>
                                        <p:tgtEl>
                                          <p:spTgt spid="24579"/>
                                        </p:tgtEl>
                                        <p:attrNameLst>
                                          <p:attrName>ppt_x</p:attrName>
                                        </p:attrNameLst>
                                      </p:cBhvr>
                                      <p:tavLst>
                                        <p:tav tm="0">
                                          <p:val>
                                            <p:strVal val="#ppt_x"/>
                                          </p:val>
                                        </p:tav>
                                        <p:tav tm="100000">
                                          <p:val>
                                            <p:strVal val="#ppt_x"/>
                                          </p:val>
                                        </p:tav>
                                      </p:tavLst>
                                    </p:anim>
                                    <p:anim calcmode="lin" valueType="num">
                                      <p:cBhvr>
                                        <p:cTn id="9" dur="1000" fill="hold"/>
                                        <p:tgtEl>
                                          <p:spTgt spid="2457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fill="hold" nodeType="clickEffect">
                                  <p:stCondLst>
                                    <p:cond delay="0"/>
                                  </p:stCondLst>
                                  <p:childTnLst>
                                    <p:set>
                                      <p:cBhvr additive="repl">
                                        <p:cTn id="13"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fill="hold" nodeType="clickEffect">
                                  <p:stCondLst>
                                    <p:cond delay="0"/>
                                  </p:stCondLst>
                                  <p:childTnLst>
                                    <p:set>
                                      <p:cBhvr additive="repl">
                                        <p:cTn id="17" dur="1" fill="hold">
                                          <p:stCondLst>
                                            <p:cond delay="0"/>
                                          </p:stCondLst>
                                        </p:cTn>
                                        <p:tgtEl>
                                          <p:spTgt spid="17412">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fill="hold" nodeType="clickEffect">
                                  <p:stCondLst>
                                    <p:cond delay="0"/>
                                  </p:stCondLst>
                                  <p:childTnLst>
                                    <p:set>
                                      <p:cBhvr additive="repl">
                                        <p:cTn id="21" dur="1" fill="hold">
                                          <p:stCondLst>
                                            <p:cond delay="0"/>
                                          </p:stCondLst>
                                        </p:cTn>
                                        <p:tgtEl>
                                          <p:spTgt spid="17413">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fill="hold" nodeType="clickEffect">
                                  <p:stCondLst>
                                    <p:cond delay="0"/>
                                  </p:stCondLst>
                                  <p:childTnLst>
                                    <p:set>
                                      <p:cBhvr additive="repl">
                                        <p:cTn id="25" dur="1" fill="hold">
                                          <p:stCondLst>
                                            <p:cond delay="0"/>
                                          </p:stCondLst>
                                        </p:cTn>
                                        <p:tgtEl>
                                          <p:spTgt spid="17414">
                                            <p:txEl>
                                              <p:pRg st="0" end="0"/>
                                            </p:txEl>
                                          </p:spTgt>
                                        </p:tgtEl>
                                        <p:attrNameLst>
                                          <p:attrName>style.visibility</p:attrName>
                                        </p:attrNameLst>
                                      </p:cBhvr>
                                      <p:to>
                                        <p:strVal val="visible"/>
                                      </p:to>
                                    </p:set>
                                  </p:childTnLst>
                                </p:cTn>
                              </p:par>
                              <p:par>
                                <p:cTn id="26" presetID="1" presetClass="entr" fill="hold" grpId="0" nodeType="withEffect">
                                  <p:stCondLst>
                                    <p:cond delay="0"/>
                                  </p:stCondLst>
                                  <p:childTnLst>
                                    <p:set>
                                      <p:cBhvr additive="repl">
                                        <p:cTn id="27" dur="1" fill="hold">
                                          <p:stCondLst>
                                            <p:cond delay="0"/>
                                          </p:stCondLst>
                                        </p:cTn>
                                        <p:tgtEl>
                                          <p:spTgt spid="2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fill="hold" nodeType="clickEffect">
                                  <p:stCondLst>
                                    <p:cond delay="0"/>
                                  </p:stCondLst>
                                  <p:childTnLst>
                                    <p:set>
                                      <p:cBhvr additive="repl">
                                        <p:cTn id="36" dur="1" fill="hold">
                                          <p:stCondLst>
                                            <p:cond delay="0"/>
                                          </p:stCondLst>
                                        </p:cTn>
                                        <p:tgtEl>
                                          <p:spTgt spid="17432">
                                            <p:txEl>
                                              <p:pRg st="0" end="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6" presetClass="entr" presetSubtype="37" fill="hold" nodeType="click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barn(outVertical)">
                                      <p:cBhvr>
                                        <p:cTn id="41" dur="500"/>
                                        <p:tgtEl>
                                          <p:spTgt spid="40"/>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fill="hold" nodeType="clickEffect">
                                  <p:stCondLst>
                                    <p:cond delay="0"/>
                                  </p:stCondLst>
                                  <p:childTnLst>
                                    <p:set>
                                      <p:cBhvr additive="repl">
                                        <p:cTn id="45" dur="1" fill="hold">
                                          <p:stCondLst>
                                            <p:cond delay="0"/>
                                          </p:stCondLst>
                                        </p:cTn>
                                        <p:tgtEl>
                                          <p:spTgt spid="17431">
                                            <p:txEl>
                                              <p:pRg st="0" end="0"/>
                                            </p:txEl>
                                          </p:spTgt>
                                        </p:tgtEl>
                                        <p:attrNameLst>
                                          <p:attrName>style.visibility</p:attrName>
                                        </p:attrNameLst>
                                      </p:cBhvr>
                                      <p:to>
                                        <p:strVal val="visible"/>
                                      </p:to>
                                    </p:set>
                                  </p:childTnLst>
                                </p:cTn>
                              </p:par>
                              <p:par>
                                <p:cTn id="46" presetID="1" presetClass="entr" fill="hold" nodeType="withEffect">
                                  <p:stCondLst>
                                    <p:cond delay="0"/>
                                  </p:stCondLst>
                                  <p:childTnLst>
                                    <p:set>
                                      <p:cBhvr additive="repl">
                                        <p:cTn id="47" dur="1" fill="hold">
                                          <p:stCondLst>
                                            <p:cond delay="0"/>
                                          </p:stCondLst>
                                        </p:cTn>
                                        <p:tgtEl>
                                          <p:spTgt spid="174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p:bldP spid="28" grpId="0" animBg="1"/>
    </p:bld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6" name="Text Box 4"/>
          <p:cNvSpPr txBox="1">
            <a:spLocks noChangeArrowheads="1"/>
          </p:cNvSpPr>
          <p:nvPr/>
        </p:nvSpPr>
        <p:spPr bwMode="auto">
          <a:xfrm>
            <a:off x="2027238" y="3095625"/>
            <a:ext cx="5041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sz="2000" b="1" dirty="0">
                <a:solidFill>
                  <a:schemeClr val="accent6"/>
                </a:solidFill>
                <a:latin typeface="Lucida Sans Unicode" panose="020B0602030504020204" pitchFamily="34" charset="0"/>
              </a:rPr>
              <a:t>CT = Q/2 x CPA x PU + D/Q x Cc</a:t>
            </a:r>
          </a:p>
        </p:txBody>
      </p:sp>
      <p:sp>
        <p:nvSpPr>
          <p:cNvPr id="18437" name="Text Box 5"/>
          <p:cNvSpPr txBox="1">
            <a:spLocks noChangeArrowheads="1"/>
          </p:cNvSpPr>
          <p:nvPr/>
        </p:nvSpPr>
        <p:spPr bwMode="auto">
          <a:xfrm>
            <a:off x="2027238" y="3684587"/>
            <a:ext cx="770413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sz="2000" b="1" dirty="0">
                <a:solidFill>
                  <a:schemeClr val="accent6"/>
                </a:solidFill>
                <a:latin typeface="Lucida Sans Unicode" panose="020B0602030504020204" pitchFamily="34" charset="0"/>
              </a:rPr>
              <a:t>CT = 552,05/2 x 0,15 x 42 + 12.000/552,05 x 80</a:t>
            </a:r>
          </a:p>
        </p:txBody>
      </p:sp>
      <p:sp>
        <p:nvSpPr>
          <p:cNvPr id="18438" name="Text Box 6"/>
          <p:cNvSpPr txBox="1">
            <a:spLocks noChangeArrowheads="1"/>
          </p:cNvSpPr>
          <p:nvPr/>
        </p:nvSpPr>
        <p:spPr bwMode="auto">
          <a:xfrm>
            <a:off x="2027238" y="4273549"/>
            <a:ext cx="291623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sz="2000" b="1" dirty="0">
                <a:solidFill>
                  <a:schemeClr val="accent6"/>
                </a:solidFill>
                <a:latin typeface="Lucida Sans Unicode" panose="020B0602030504020204" pitchFamily="34" charset="0"/>
              </a:rPr>
              <a:t>CT = R$ 3.477,93</a:t>
            </a:r>
          </a:p>
        </p:txBody>
      </p:sp>
      <p:sp>
        <p:nvSpPr>
          <p:cNvPr id="12" name="Text Box 2"/>
          <p:cNvSpPr txBox="1">
            <a:spLocks noChangeArrowheads="1"/>
          </p:cNvSpPr>
          <p:nvPr/>
        </p:nvSpPr>
        <p:spPr bwMode="auto">
          <a:xfrm>
            <a:off x="2171702" y="1481454"/>
            <a:ext cx="7920037" cy="8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Custo Total = Custo de Armazenar + Custo de Comprar</a:t>
            </a:r>
          </a:p>
        </p:txBody>
      </p:sp>
      <p:sp>
        <p:nvSpPr>
          <p:cNvPr id="13" name="Text Box 3"/>
          <p:cNvSpPr txBox="1">
            <a:spLocks noChangeArrowheads="1"/>
          </p:cNvSpPr>
          <p:nvPr/>
        </p:nvSpPr>
        <p:spPr bwMode="auto">
          <a:xfrm>
            <a:off x="1884364" y="2290763"/>
            <a:ext cx="4679950" cy="804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Custo Total Anual</a:t>
            </a:r>
          </a:p>
        </p:txBody>
      </p:sp>
      <p:sp>
        <p:nvSpPr>
          <p:cNvPr id="14" name="Text Box 7"/>
          <p:cNvSpPr txBox="1">
            <a:spLocks noChangeArrowheads="1"/>
          </p:cNvSpPr>
          <p:nvPr/>
        </p:nvSpPr>
        <p:spPr bwMode="auto">
          <a:xfrm>
            <a:off x="1992312" y="5154294"/>
            <a:ext cx="8207375"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sz="2200" b="1" dirty="0">
                <a:solidFill>
                  <a:srgbClr val="FF0000"/>
                </a:solidFill>
                <a:latin typeface="Lucida Sans Unicode" panose="020B0602030504020204" pitchFamily="34" charset="0"/>
              </a:rPr>
              <a:t>Para o </a:t>
            </a:r>
            <a:r>
              <a:rPr lang="pt-BR" altLang="pt-BR" sz="2200" b="1" u="sng" dirty="0">
                <a:solidFill>
                  <a:srgbClr val="FF0000"/>
                </a:solidFill>
                <a:latin typeface="Lucida Sans Unicode" panose="020B0602030504020204" pitchFamily="34" charset="0"/>
              </a:rPr>
              <a:t>LEC</a:t>
            </a:r>
          </a:p>
          <a:p>
            <a:pPr>
              <a:spcBef>
                <a:spcPts val="400"/>
              </a:spcBef>
              <a:buClrTx/>
            </a:pPr>
            <a:r>
              <a:rPr lang="pt-BR" altLang="pt-BR" sz="2200" b="1" dirty="0">
                <a:solidFill>
                  <a:srgbClr val="FF0000"/>
                </a:solidFill>
                <a:latin typeface="Lucida Sans Unicode" panose="020B0602030504020204" pitchFamily="34" charset="0"/>
              </a:rPr>
              <a:t>Custo de Armazenar = Custo de Comprar = R$ 1.738,97</a:t>
            </a:r>
          </a:p>
        </p:txBody>
      </p:sp>
      <p:sp>
        <p:nvSpPr>
          <p:cNvPr id="10" name="CaixaDeTexto 9"/>
          <p:cNvSpPr txBox="1"/>
          <p:nvPr/>
        </p:nvSpPr>
        <p:spPr>
          <a:xfrm>
            <a:off x="2099556" y="953193"/>
            <a:ext cx="7992888" cy="400110"/>
          </a:xfrm>
          <a:prstGeom prst="rect">
            <a:avLst/>
          </a:prstGeom>
          <a:noFill/>
        </p:spPr>
        <p:txBody>
          <a:bodyPr wrap="square" rtlCol="0">
            <a:spAutoFit/>
          </a:bodyPr>
          <a:lstStyle/>
          <a:p>
            <a:pPr algn="ctr">
              <a:buClrTx/>
              <a:buFontTx/>
              <a:buNone/>
            </a:pPr>
            <a:r>
              <a:rPr lang="pt-BR" altLang="pt-BR" sz="2000" b="1" dirty="0">
                <a:solidFill>
                  <a:schemeClr val="accent6"/>
                </a:solidFill>
                <a:latin typeface="Lucida Sans Unicode" panose="020B0602030504020204" pitchFamily="34" charset="0"/>
              </a:rPr>
              <a:t>LOTE ECONÔMICO DE COMPRA</a:t>
            </a:r>
          </a:p>
        </p:txBody>
      </p:sp>
      <p:sp>
        <p:nvSpPr>
          <p:cNvPr id="11" name="CaixaDeTexto 10"/>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Tree>
    <p:extLst>
      <p:ext uri="{BB962C8B-B14F-4D97-AF65-F5344CB8AC3E}">
        <p14:creationId xmlns:p14="http://schemas.microsoft.com/office/powerpoint/2010/main" val="2072724632"/>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1843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additive="repl">
                                        <p:cTn id="14"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additive="repl">
                                        <p:cTn id="18" dur="4" fill="hold">
                                          <p:stCondLst>
                                            <p:cond delay="0"/>
                                          </p:stCondLst>
                                        </p:cTn>
                                        <p:tgtEl>
                                          <p:spTgt spid="18438">
                                            <p:txEl>
                                              <p:pRg st="0" end="0"/>
                                            </p:txEl>
                                          </p:spTgt>
                                        </p:tgtEl>
                                        <p:attrNameLst>
                                          <p:attrName>style.visibility</p:attrName>
                                        </p:attrNameLst>
                                      </p:cBhvr>
                                      <p:to>
                                        <p:strVal val="visible"/>
                                      </p:to>
                                    </p:set>
                                    <p:animEffect transition="in" filter="wipe(down)">
                                      <p:cBhvr additive="repl">
                                        <p:cTn id="19" dur="2000"/>
                                        <p:tgtEl>
                                          <p:spTgt spid="18438">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fill="hold" nodeType="clickEffect">
                                  <p:stCondLst>
                                    <p:cond delay="0"/>
                                  </p:stCondLst>
                                  <p:childTnLst>
                                    <p:set>
                                      <p:cBhvr additive="repl">
                                        <p:cTn id="23" dur="1" fill="hold">
                                          <p:stCondLst>
                                            <p:cond delay="0"/>
                                          </p:stCondLst>
                                        </p:cTn>
                                        <p:tgtEl>
                                          <p:spTgt spid="14">
                                            <p:txEl>
                                              <p:pRg st="0" end="0"/>
                                            </p:txEl>
                                          </p:spTgt>
                                        </p:tgtEl>
                                        <p:attrNameLst>
                                          <p:attrName>style.visibility</p:attrName>
                                        </p:attrNameLst>
                                      </p:cBhvr>
                                      <p:to>
                                        <p:strVal val="visible"/>
                                      </p:to>
                                    </p:set>
                                  </p:childTnLst>
                                </p:cTn>
                              </p:par>
                            </p:childTnLst>
                          </p:cTn>
                        </p:par>
                        <p:par>
                          <p:cTn id="24" fill="hold">
                            <p:stCondLst>
                              <p:cond delay="0"/>
                            </p:stCondLst>
                            <p:childTnLst>
                              <p:par>
                                <p:cTn id="25" presetID="1" presetClass="entr" fill="hold" nodeType="afterEffect">
                                  <p:stCondLst>
                                    <p:cond delay="0"/>
                                  </p:stCondLst>
                                  <p:childTnLst>
                                    <p:set>
                                      <p:cBhvr additive="repl">
                                        <p:cTn id="2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79" name="Text Box 2"/>
          <p:cNvSpPr txBox="1">
            <a:spLocks noChangeArrowheads="1"/>
          </p:cNvSpPr>
          <p:nvPr/>
        </p:nvSpPr>
        <p:spPr bwMode="auto">
          <a:xfrm>
            <a:off x="1455162" y="1518448"/>
            <a:ext cx="9281675" cy="1836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marL="0" lvl="0" indent="6350" algn="just" eaLnBrk="0" fontAlgn="base" hangingPunct="0">
              <a:lnSpc>
                <a:spcPct val="150000"/>
              </a:lnSpc>
              <a:spcBef>
                <a:spcPct val="0"/>
              </a:spcBef>
              <a:spcAft>
                <a:spcPct val="0"/>
              </a:spcAft>
            </a:pPr>
            <a:r>
              <a:rPr lang="pt-BR" altLang="pt-BR" sz="1600" dirty="0">
                <a:solidFill>
                  <a:schemeClr val="accent6"/>
                </a:solidFill>
                <a:latin typeface="Lucida Sans Unicode" panose="020B0602030504020204" pitchFamily="34" charset="0"/>
                <a:ea typeface="Verdana" panose="020B0604030504040204" pitchFamily="34" charset="0"/>
                <a:cs typeface="Lucida Sans Unicode" panose="020B0602030504020204" pitchFamily="34" charset="0"/>
              </a:rPr>
              <a:t>A empresa “LOG ” vende um produto cuja demanda anual é de 80.000 unidades. O custo de emissão de um pedido de compra, também chamado de custo de obtenção, é de R$ 60,00 por pedido. Os custos anuais de manutenção de estoques, também conhecidos como custo de carregamento, são de R$ 0,60 por unidade. Calcule o Lote econômico de Compras e o Custo Total anual.</a:t>
            </a:r>
            <a:endParaRPr lang="pt-BR" sz="1600" dirty="0">
              <a:solidFill>
                <a:schemeClr val="accent6"/>
              </a:solidFill>
              <a:latin typeface="Lucida Sans Unicode" panose="020B0602030504020204" pitchFamily="34" charset="0"/>
              <a:ea typeface="Verdana" panose="020B0604030504040204" pitchFamily="34" charset="0"/>
              <a:cs typeface="Lucida Sans Unicode" panose="020B0602030504020204" pitchFamily="34" charset="0"/>
            </a:endParaRPr>
          </a:p>
        </p:txBody>
      </p:sp>
      <p:sp>
        <p:nvSpPr>
          <p:cNvPr id="17411" name="Text Box 3"/>
          <p:cNvSpPr txBox="1">
            <a:spLocks noChangeArrowheads="1"/>
          </p:cNvSpPr>
          <p:nvPr/>
        </p:nvSpPr>
        <p:spPr bwMode="auto">
          <a:xfrm>
            <a:off x="1981201" y="3384550"/>
            <a:ext cx="220662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D = 80.000 pç</a:t>
            </a:r>
          </a:p>
        </p:txBody>
      </p:sp>
      <p:sp>
        <p:nvSpPr>
          <p:cNvPr id="17412" name="Text Box 4"/>
          <p:cNvSpPr txBox="1">
            <a:spLocks noChangeArrowheads="1"/>
          </p:cNvSpPr>
          <p:nvPr/>
        </p:nvSpPr>
        <p:spPr bwMode="auto">
          <a:xfrm>
            <a:off x="1981201" y="3816350"/>
            <a:ext cx="2206625"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Cc = R$ 60,00</a:t>
            </a:r>
          </a:p>
        </p:txBody>
      </p:sp>
      <p:sp>
        <p:nvSpPr>
          <p:cNvPr id="17413" name="Text Box 5"/>
          <p:cNvSpPr txBox="1">
            <a:spLocks noChangeArrowheads="1"/>
          </p:cNvSpPr>
          <p:nvPr/>
        </p:nvSpPr>
        <p:spPr bwMode="auto">
          <a:xfrm>
            <a:off x="1981200" y="4248150"/>
            <a:ext cx="2135188"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C</a:t>
            </a:r>
            <a:r>
              <a:rPr lang="pt-BR" altLang="pt-BR" sz="2000" b="1" baseline="-25000" dirty="0">
                <a:solidFill>
                  <a:schemeClr val="accent6"/>
                </a:solidFill>
                <a:latin typeface="Lucida Sans Unicode" panose="020B0602030504020204" pitchFamily="34" charset="0"/>
              </a:rPr>
              <a:t>ME</a:t>
            </a:r>
            <a:r>
              <a:rPr lang="pt-BR" altLang="pt-BR" sz="2000" b="1" dirty="0">
                <a:solidFill>
                  <a:schemeClr val="accent6"/>
                </a:solidFill>
                <a:latin typeface="Lucida Sans Unicode" panose="020B0602030504020204" pitchFamily="34" charset="0"/>
              </a:rPr>
              <a:t> = R$ 0,60</a:t>
            </a:r>
          </a:p>
        </p:txBody>
      </p:sp>
      <p:sp>
        <p:nvSpPr>
          <p:cNvPr id="17423" name="Text Box 15"/>
          <p:cNvSpPr txBox="1">
            <a:spLocks noChangeArrowheads="1"/>
          </p:cNvSpPr>
          <p:nvPr/>
        </p:nvSpPr>
        <p:spPr bwMode="auto">
          <a:xfrm>
            <a:off x="7710195" y="5649729"/>
            <a:ext cx="2087563"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4.000 pç </a:t>
            </a:r>
          </a:p>
        </p:txBody>
      </p:sp>
      <p:sp>
        <p:nvSpPr>
          <p:cNvPr id="17431" name="Text Box 23"/>
          <p:cNvSpPr txBox="1">
            <a:spLocks noChangeArrowheads="1"/>
          </p:cNvSpPr>
          <p:nvPr/>
        </p:nvSpPr>
        <p:spPr bwMode="auto">
          <a:xfrm>
            <a:off x="7133932" y="5649729"/>
            <a:ext cx="57626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 </a:t>
            </a:r>
          </a:p>
        </p:txBody>
      </p:sp>
      <p:sp>
        <p:nvSpPr>
          <p:cNvPr id="17432" name="Text Box 24"/>
          <p:cNvSpPr txBox="1">
            <a:spLocks noChangeArrowheads="1"/>
          </p:cNvSpPr>
          <p:nvPr/>
        </p:nvSpPr>
        <p:spPr bwMode="auto">
          <a:xfrm>
            <a:off x="2901657" y="5700529"/>
            <a:ext cx="100806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LEC = </a:t>
            </a:r>
          </a:p>
        </p:txBody>
      </p:sp>
      <p:sp>
        <p:nvSpPr>
          <p:cNvPr id="28" name="AutoShape 7"/>
          <p:cNvSpPr>
            <a:spLocks noChangeArrowheads="1"/>
          </p:cNvSpPr>
          <p:nvPr/>
        </p:nvSpPr>
        <p:spPr bwMode="auto">
          <a:xfrm>
            <a:off x="5488887" y="4033752"/>
            <a:ext cx="360363" cy="360362"/>
          </a:xfrm>
          <a:prstGeom prst="rightArrow">
            <a:avLst>
              <a:gd name="adj1" fmla="val 50000"/>
              <a:gd name="adj2" fmla="val 25000"/>
            </a:avLst>
          </a:prstGeom>
          <a:solidFill>
            <a:srgbClr val="FF0000"/>
          </a:solidFill>
          <a:ln w="9360" cap="sq">
            <a:solidFill>
              <a:srgbClr val="3465A4"/>
            </a:solidFill>
            <a:round/>
            <a:headEnd/>
            <a:tailEnd/>
          </a:ln>
          <a:effectLst/>
        </p:spPr>
        <p:txBody>
          <a:bodyPr wrap="none" anchor="ctr"/>
          <a:lstStyle/>
          <a:p>
            <a:pPr>
              <a:buClr>
                <a:srgbClr val="000000"/>
              </a:buClr>
              <a:buSzPct val="100000"/>
              <a:buFont typeface="Times New Roman" panose="02020603050405020304" pitchFamily="18" charset="0"/>
              <a:buNone/>
            </a:pPr>
            <a:endParaRPr lang="pt-BR" altLang="pt-BR" dirty="0"/>
          </a:p>
        </p:txBody>
      </p:sp>
      <p:grpSp>
        <p:nvGrpSpPr>
          <p:cNvPr id="29" name="Grupo 28"/>
          <p:cNvGrpSpPr/>
          <p:nvPr/>
        </p:nvGrpSpPr>
        <p:grpSpPr>
          <a:xfrm>
            <a:off x="6959601" y="3554412"/>
            <a:ext cx="3598861" cy="1439863"/>
            <a:chOff x="6119638" y="3494001"/>
            <a:chExt cx="3598861" cy="1439863"/>
          </a:xfrm>
        </p:grpSpPr>
        <p:sp>
          <p:nvSpPr>
            <p:cNvPr id="30" name="Text Box 8"/>
            <p:cNvSpPr txBox="1">
              <a:spLocks noChangeArrowheads="1"/>
            </p:cNvSpPr>
            <p:nvPr/>
          </p:nvSpPr>
          <p:spPr bwMode="auto">
            <a:xfrm>
              <a:off x="6119638" y="3958154"/>
              <a:ext cx="100806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LEC</a:t>
              </a:r>
              <a:r>
                <a:rPr lang="pt-BR" altLang="pt-BR" sz="2700" b="1" dirty="0">
                  <a:solidFill>
                    <a:srgbClr val="000066"/>
                  </a:solidFill>
                  <a:latin typeface="Lucida Sans Unicode" panose="020B0602030504020204" pitchFamily="34" charset="0"/>
                </a:rPr>
                <a:t> </a:t>
              </a:r>
              <a:r>
                <a:rPr lang="pt-BR" altLang="pt-BR" sz="2700" b="1" dirty="0">
                  <a:solidFill>
                    <a:schemeClr val="accent6"/>
                  </a:solidFill>
                  <a:latin typeface="Lucida Sans Unicode" panose="020B0602030504020204" pitchFamily="34" charset="0"/>
                </a:rPr>
                <a:t>=</a:t>
              </a:r>
              <a:r>
                <a:rPr lang="pt-BR" altLang="pt-BR" sz="2700" b="1" dirty="0">
                  <a:solidFill>
                    <a:srgbClr val="000066"/>
                  </a:solidFill>
                  <a:latin typeface="Lucida Sans Unicode" panose="020B0602030504020204" pitchFamily="34" charset="0"/>
                </a:rPr>
                <a:t> </a:t>
              </a:r>
            </a:p>
          </p:txBody>
        </p:sp>
        <p:grpSp>
          <p:nvGrpSpPr>
            <p:cNvPr id="31" name="Grupo 30"/>
            <p:cNvGrpSpPr/>
            <p:nvPr/>
          </p:nvGrpSpPr>
          <p:grpSpPr>
            <a:xfrm>
              <a:off x="6911801" y="3494001"/>
              <a:ext cx="2806698" cy="1439863"/>
              <a:chOff x="6911801" y="3494001"/>
              <a:chExt cx="2806698" cy="1439863"/>
            </a:xfrm>
          </p:grpSpPr>
          <p:grpSp>
            <p:nvGrpSpPr>
              <p:cNvPr id="32" name="Grupo 31"/>
              <p:cNvGrpSpPr/>
              <p:nvPr/>
            </p:nvGrpSpPr>
            <p:grpSpPr>
              <a:xfrm>
                <a:off x="6911801" y="3593029"/>
                <a:ext cx="2758176" cy="1020763"/>
                <a:chOff x="6911801" y="3593029"/>
                <a:chExt cx="2758176" cy="1020763"/>
              </a:xfrm>
            </p:grpSpPr>
            <p:grpSp>
              <p:nvGrpSpPr>
                <p:cNvPr id="34" name="Grupo 33"/>
                <p:cNvGrpSpPr/>
                <p:nvPr/>
              </p:nvGrpSpPr>
              <p:grpSpPr>
                <a:xfrm>
                  <a:off x="6911801" y="3593029"/>
                  <a:ext cx="2735263" cy="1020763"/>
                  <a:chOff x="6911801" y="3593029"/>
                  <a:chExt cx="2735263" cy="1020763"/>
                </a:xfrm>
              </p:grpSpPr>
              <p:sp>
                <p:nvSpPr>
                  <p:cNvPr id="36" name="Line 9"/>
                  <p:cNvSpPr>
                    <a:spLocks noChangeShapeType="1"/>
                  </p:cNvSpPr>
                  <p:nvPr/>
                </p:nvSpPr>
                <p:spPr bwMode="auto">
                  <a:xfrm>
                    <a:off x="6911801" y="3958153"/>
                    <a:ext cx="360363"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37" name="Line 10"/>
                  <p:cNvSpPr>
                    <a:spLocks noChangeShapeType="1"/>
                  </p:cNvSpPr>
                  <p:nvPr/>
                </p:nvSpPr>
                <p:spPr bwMode="auto">
                  <a:xfrm>
                    <a:off x="7272164" y="3958153"/>
                    <a:ext cx="71437" cy="647700"/>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38" name="Line 11"/>
                  <p:cNvSpPr>
                    <a:spLocks noChangeShapeType="1"/>
                  </p:cNvSpPr>
                  <p:nvPr/>
                </p:nvSpPr>
                <p:spPr bwMode="auto">
                  <a:xfrm flipV="1">
                    <a:off x="7343600" y="3593029"/>
                    <a:ext cx="71438" cy="1020763"/>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39" name="Line 12"/>
                  <p:cNvSpPr>
                    <a:spLocks noChangeShapeType="1"/>
                  </p:cNvSpPr>
                  <p:nvPr/>
                </p:nvSpPr>
                <p:spPr bwMode="auto">
                  <a:xfrm>
                    <a:off x="7415039" y="3599378"/>
                    <a:ext cx="2232025"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grpSp>
            <p:sp>
              <p:nvSpPr>
                <p:cNvPr id="35" name="Line 13"/>
                <p:cNvSpPr>
                  <a:spLocks noChangeShapeType="1"/>
                </p:cNvSpPr>
                <p:nvPr/>
              </p:nvSpPr>
              <p:spPr bwMode="auto">
                <a:xfrm>
                  <a:off x="7509390" y="4248150"/>
                  <a:ext cx="2160587"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grpSp>
          <p:sp>
            <p:nvSpPr>
              <p:cNvPr id="33" name="Text Box 14"/>
              <p:cNvSpPr txBox="1">
                <a:spLocks noChangeArrowheads="1"/>
              </p:cNvSpPr>
              <p:nvPr/>
            </p:nvSpPr>
            <p:spPr bwMode="auto">
              <a:xfrm>
                <a:off x="7415037" y="3494001"/>
                <a:ext cx="2303462" cy="1439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2 x D x Cc</a:t>
                </a:r>
              </a:p>
              <a:p>
                <a:pPr algn="ctr">
                  <a:spcBef>
                    <a:spcPts val="400"/>
                  </a:spcBef>
                  <a:buClrTx/>
                </a:pPr>
                <a:endParaRPr lang="pt-BR" altLang="pt-BR" sz="600" b="1" dirty="0">
                  <a:solidFill>
                    <a:schemeClr val="accent6"/>
                  </a:solidFill>
                  <a:latin typeface="Lucida Sans Unicode" panose="020B0602030504020204" pitchFamily="34" charset="0"/>
                </a:endParaRPr>
              </a:p>
              <a:p>
                <a:pPr algn="ctr">
                  <a:spcBef>
                    <a:spcPts val="400"/>
                  </a:spcBef>
                  <a:buClrTx/>
                </a:pPr>
                <a:r>
                  <a:rPr lang="pt-BR" altLang="pt-BR" sz="2800" b="1" dirty="0">
                    <a:solidFill>
                      <a:schemeClr val="accent6"/>
                    </a:solidFill>
                    <a:latin typeface="Lucida Sans Unicode" panose="020B0602030504020204" pitchFamily="34" charset="0"/>
                  </a:rPr>
                  <a:t>C</a:t>
                </a:r>
                <a:r>
                  <a:rPr lang="pt-BR" altLang="pt-BR" sz="2800" b="1" baseline="-25000" dirty="0">
                    <a:solidFill>
                      <a:schemeClr val="accent6"/>
                    </a:solidFill>
                    <a:latin typeface="Lucida Sans Unicode" panose="020B0602030504020204" pitchFamily="34" charset="0"/>
                  </a:rPr>
                  <a:t>ME</a:t>
                </a:r>
                <a:endParaRPr lang="pt-BR" altLang="pt-BR" sz="2700" b="1" dirty="0">
                  <a:solidFill>
                    <a:schemeClr val="accent6"/>
                  </a:solidFill>
                  <a:latin typeface="Lucida Sans Unicode" panose="020B0602030504020204" pitchFamily="34" charset="0"/>
                </a:endParaRPr>
              </a:p>
            </p:txBody>
          </p:sp>
        </p:grpSp>
      </p:grpSp>
      <p:grpSp>
        <p:nvGrpSpPr>
          <p:cNvPr id="40" name="Grupo 39"/>
          <p:cNvGrpSpPr/>
          <p:nvPr/>
        </p:nvGrpSpPr>
        <p:grpSpPr>
          <a:xfrm>
            <a:off x="3827568" y="5258594"/>
            <a:ext cx="3322638" cy="1172787"/>
            <a:chOff x="3744913" y="4982702"/>
            <a:chExt cx="3322638" cy="1172787"/>
          </a:xfrm>
        </p:grpSpPr>
        <p:grpSp>
          <p:nvGrpSpPr>
            <p:cNvPr id="41" name="Grupo 40"/>
            <p:cNvGrpSpPr/>
            <p:nvPr/>
          </p:nvGrpSpPr>
          <p:grpSpPr>
            <a:xfrm>
              <a:off x="3744913" y="4982702"/>
              <a:ext cx="3322638" cy="1029162"/>
              <a:chOff x="3744913" y="4982702"/>
              <a:chExt cx="3322638" cy="1029162"/>
            </a:xfrm>
          </p:grpSpPr>
          <p:sp>
            <p:nvSpPr>
              <p:cNvPr id="44" name="Line 16"/>
              <p:cNvSpPr>
                <a:spLocks noChangeShapeType="1"/>
              </p:cNvSpPr>
              <p:nvPr/>
            </p:nvSpPr>
            <p:spPr bwMode="auto">
              <a:xfrm>
                <a:off x="4116389" y="5357813"/>
                <a:ext cx="71437" cy="647700"/>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45" name="Line 17"/>
              <p:cNvSpPr>
                <a:spLocks noChangeShapeType="1"/>
              </p:cNvSpPr>
              <p:nvPr/>
            </p:nvSpPr>
            <p:spPr bwMode="auto">
              <a:xfrm>
                <a:off x="3744913" y="5347628"/>
                <a:ext cx="361950"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46" name="Line 18"/>
              <p:cNvSpPr>
                <a:spLocks noChangeShapeType="1"/>
              </p:cNvSpPr>
              <p:nvPr/>
            </p:nvSpPr>
            <p:spPr bwMode="auto">
              <a:xfrm flipV="1">
                <a:off x="4187825" y="4991101"/>
                <a:ext cx="71438" cy="1020763"/>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47" name="Line 19"/>
              <p:cNvSpPr>
                <a:spLocks noChangeShapeType="1"/>
              </p:cNvSpPr>
              <p:nvPr/>
            </p:nvSpPr>
            <p:spPr bwMode="auto">
              <a:xfrm>
                <a:off x="4259264" y="4982702"/>
                <a:ext cx="2808287" cy="1588"/>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sp>
            <p:nvSpPr>
              <p:cNvPr id="48" name="Line 20"/>
              <p:cNvSpPr>
                <a:spLocks noChangeShapeType="1"/>
              </p:cNvSpPr>
              <p:nvPr/>
            </p:nvSpPr>
            <p:spPr bwMode="auto">
              <a:xfrm flipV="1">
                <a:off x="4330700" y="5641976"/>
                <a:ext cx="2522538" cy="9525"/>
              </a:xfrm>
              <a:prstGeom prst="line">
                <a:avLst/>
              </a:prstGeom>
              <a:noFill/>
              <a:ln w="36000" cap="sq">
                <a:solidFill>
                  <a:schemeClr val="accent6"/>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pt-BR" dirty="0"/>
              </a:p>
            </p:txBody>
          </p:sp>
        </p:grpSp>
        <p:sp>
          <p:nvSpPr>
            <p:cNvPr id="42" name="Text Box 21"/>
            <p:cNvSpPr txBox="1">
              <a:spLocks noChangeArrowheads="1"/>
            </p:cNvSpPr>
            <p:nvPr/>
          </p:nvSpPr>
          <p:spPr bwMode="auto">
            <a:xfrm>
              <a:off x="4332289" y="5177588"/>
              <a:ext cx="2735262"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2 x 8.000 x 60</a:t>
              </a:r>
            </a:p>
          </p:txBody>
        </p:sp>
        <p:sp>
          <p:nvSpPr>
            <p:cNvPr id="43" name="Text Box 22"/>
            <p:cNvSpPr txBox="1">
              <a:spLocks noChangeArrowheads="1"/>
            </p:cNvSpPr>
            <p:nvPr/>
          </p:nvSpPr>
          <p:spPr bwMode="auto">
            <a:xfrm>
              <a:off x="4619627" y="5680826"/>
              <a:ext cx="2087563"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lgn="ctr">
                <a:spcBef>
                  <a:spcPts val="400"/>
                </a:spcBef>
                <a:buClrTx/>
              </a:pPr>
              <a:r>
                <a:rPr lang="pt-BR" altLang="pt-BR" sz="2700" b="1" dirty="0">
                  <a:solidFill>
                    <a:schemeClr val="accent6"/>
                  </a:solidFill>
                  <a:latin typeface="Lucida Sans Unicode" panose="020B0602030504020204" pitchFamily="34" charset="0"/>
                </a:rPr>
                <a:t>0,60</a:t>
              </a:r>
            </a:p>
          </p:txBody>
        </p:sp>
      </p:grpSp>
      <p:sp>
        <p:nvSpPr>
          <p:cNvPr id="51" name="CaixaDeTexto 50"/>
          <p:cNvSpPr txBox="1"/>
          <p:nvPr/>
        </p:nvSpPr>
        <p:spPr>
          <a:xfrm>
            <a:off x="2099556" y="338231"/>
            <a:ext cx="7992888" cy="461665"/>
          </a:xfrm>
          <a:prstGeom prst="rect">
            <a:avLst/>
          </a:prstGeom>
          <a:noFill/>
        </p:spPr>
        <p:txBody>
          <a:bodyPr wrap="square" rtlCol="0">
            <a:spAutoFit/>
          </a:bodyPr>
          <a:lstStyle/>
          <a:p>
            <a:pPr algn="ctr">
              <a:buClrTx/>
              <a:buFontTx/>
              <a:buNone/>
            </a:pPr>
            <a:r>
              <a:rPr lang="pt-BR" altLang="pt-BR" sz="2400" b="1" dirty="0">
                <a:solidFill>
                  <a:schemeClr val="accent6"/>
                </a:solidFill>
                <a:latin typeface="Lucida Sans Unicode" panose="020B0602030504020204" pitchFamily="34" charset="0"/>
              </a:rPr>
              <a:t>LOTE ECONÔMICO DE COMPRA</a:t>
            </a:r>
          </a:p>
        </p:txBody>
      </p:sp>
      <p:sp>
        <p:nvSpPr>
          <p:cNvPr id="52" name="Título 1"/>
          <p:cNvSpPr txBox="1">
            <a:spLocks/>
          </p:cNvSpPr>
          <p:nvPr/>
        </p:nvSpPr>
        <p:spPr>
          <a:xfrm>
            <a:off x="889479" y="1040527"/>
            <a:ext cx="10515600" cy="44627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Helvetica" panose="020B0604020202020204" pitchFamily="34" charset="0"/>
                <a:ea typeface="+mj-ea"/>
                <a:cs typeface="Helvetica" panose="020B0604020202020204" pitchFamily="34" charset="0"/>
              </a:defRPr>
            </a:lvl1pPr>
          </a:lstStyle>
          <a:p>
            <a:pPr algn="ctr"/>
            <a:r>
              <a:rPr lang="pt-BR" sz="2400" b="1" dirty="0">
                <a:solidFill>
                  <a:srgbClr val="FF0000"/>
                </a:solidFill>
                <a:latin typeface="Lucida Sans Unicode" panose="020B0602030504020204" pitchFamily="34" charset="0"/>
                <a:cs typeface="Lucida Sans Unicode" panose="020B0602030504020204" pitchFamily="34" charset="0"/>
              </a:rPr>
              <a:t>ATIVIDADE (INDIVIDUAL)</a:t>
            </a:r>
          </a:p>
        </p:txBody>
      </p:sp>
    </p:spTree>
    <p:extLst>
      <p:ext uri="{BB962C8B-B14F-4D97-AF65-F5344CB8AC3E}">
        <p14:creationId xmlns:p14="http://schemas.microsoft.com/office/powerpoint/2010/main" val="365206471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579"/>
                                        </p:tgtEl>
                                        <p:attrNameLst>
                                          <p:attrName>style.visibility</p:attrName>
                                        </p:attrNameLst>
                                      </p:cBhvr>
                                      <p:to>
                                        <p:strVal val="visible"/>
                                      </p:to>
                                    </p:set>
                                    <p:animEffect transition="in" filter="fade">
                                      <p:cBhvr>
                                        <p:cTn id="14" dur="1000"/>
                                        <p:tgtEl>
                                          <p:spTgt spid="24579"/>
                                        </p:tgtEl>
                                      </p:cBhvr>
                                    </p:animEffect>
                                    <p:anim calcmode="lin" valueType="num">
                                      <p:cBhvr>
                                        <p:cTn id="15" dur="1000" fill="hold"/>
                                        <p:tgtEl>
                                          <p:spTgt spid="24579"/>
                                        </p:tgtEl>
                                        <p:attrNameLst>
                                          <p:attrName>ppt_x</p:attrName>
                                        </p:attrNameLst>
                                      </p:cBhvr>
                                      <p:tavLst>
                                        <p:tav tm="0">
                                          <p:val>
                                            <p:strVal val="#ppt_x"/>
                                          </p:val>
                                        </p:tav>
                                        <p:tav tm="100000">
                                          <p:val>
                                            <p:strVal val="#ppt_x"/>
                                          </p:val>
                                        </p:tav>
                                      </p:tavLst>
                                    </p:anim>
                                    <p:anim calcmode="lin" valueType="num">
                                      <p:cBhvr>
                                        <p:cTn id="16" dur="1000" fill="hold"/>
                                        <p:tgtEl>
                                          <p:spTgt spid="2457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fill="hold" nodeType="clickEffect">
                                  <p:stCondLst>
                                    <p:cond delay="0"/>
                                  </p:stCondLst>
                                  <p:childTnLst>
                                    <p:set>
                                      <p:cBhvr additive="repl">
                                        <p:cTn id="20"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fill="hold" nodeType="clickEffect">
                                  <p:stCondLst>
                                    <p:cond delay="0"/>
                                  </p:stCondLst>
                                  <p:childTnLst>
                                    <p:set>
                                      <p:cBhvr additive="repl">
                                        <p:cTn id="24" dur="1" fill="hold">
                                          <p:stCondLst>
                                            <p:cond delay="0"/>
                                          </p:stCondLst>
                                        </p:cTn>
                                        <p:tgtEl>
                                          <p:spTgt spid="17412">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fill="hold" nodeType="clickEffect">
                                  <p:stCondLst>
                                    <p:cond delay="0"/>
                                  </p:stCondLst>
                                  <p:childTnLst>
                                    <p:set>
                                      <p:cBhvr additive="repl">
                                        <p:cTn id="28" dur="1" fill="hold">
                                          <p:stCondLst>
                                            <p:cond delay="0"/>
                                          </p:stCondLst>
                                        </p:cTn>
                                        <p:tgtEl>
                                          <p:spTgt spid="17413">
                                            <p:txEl>
                                              <p:pRg st="0" end="0"/>
                                            </p:txEl>
                                          </p:spTgt>
                                        </p:tgtEl>
                                        <p:attrNameLst>
                                          <p:attrName>style.visibility</p:attrName>
                                        </p:attrNameLst>
                                      </p:cBhvr>
                                      <p:to>
                                        <p:strVal val="visible"/>
                                      </p:to>
                                    </p:set>
                                  </p:childTnLst>
                                </p:cTn>
                              </p:par>
                              <p:par>
                                <p:cTn id="29" presetID="1" presetClass="entr" fill="hold" grpId="0" nodeType="withEffect">
                                  <p:stCondLst>
                                    <p:cond delay="0"/>
                                  </p:stCondLst>
                                  <p:childTnLst>
                                    <p:set>
                                      <p:cBhvr additive="repl">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left)">
                                      <p:cBhvr>
                                        <p:cTn id="35" dur="500"/>
                                        <p:tgtEl>
                                          <p:spTgt spid="29"/>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fill="hold" nodeType="clickEffect">
                                  <p:stCondLst>
                                    <p:cond delay="0"/>
                                  </p:stCondLst>
                                  <p:childTnLst>
                                    <p:set>
                                      <p:cBhvr additive="repl">
                                        <p:cTn id="39" dur="1" fill="hold">
                                          <p:stCondLst>
                                            <p:cond delay="0"/>
                                          </p:stCondLst>
                                        </p:cTn>
                                        <p:tgtEl>
                                          <p:spTgt spid="17432">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6" presetClass="entr" presetSubtype="37" fill="hold" nodeType="clickEffect">
                                  <p:stCondLst>
                                    <p:cond delay="0"/>
                                  </p:stCondLst>
                                  <p:childTnLst>
                                    <p:set>
                                      <p:cBhvr>
                                        <p:cTn id="43" dur="1" fill="hold">
                                          <p:stCondLst>
                                            <p:cond delay="0"/>
                                          </p:stCondLst>
                                        </p:cTn>
                                        <p:tgtEl>
                                          <p:spTgt spid="40"/>
                                        </p:tgtEl>
                                        <p:attrNameLst>
                                          <p:attrName>style.visibility</p:attrName>
                                        </p:attrNameLst>
                                      </p:cBhvr>
                                      <p:to>
                                        <p:strVal val="visible"/>
                                      </p:to>
                                    </p:set>
                                    <p:animEffect transition="in" filter="barn(outVertical)">
                                      <p:cBhvr>
                                        <p:cTn id="44" dur="500"/>
                                        <p:tgtEl>
                                          <p:spTgt spid="40"/>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fill="hold" nodeType="clickEffect">
                                  <p:stCondLst>
                                    <p:cond delay="0"/>
                                  </p:stCondLst>
                                  <p:childTnLst>
                                    <p:set>
                                      <p:cBhvr additive="repl">
                                        <p:cTn id="48" dur="1" fill="hold">
                                          <p:stCondLst>
                                            <p:cond delay="0"/>
                                          </p:stCondLst>
                                        </p:cTn>
                                        <p:tgtEl>
                                          <p:spTgt spid="17431">
                                            <p:txEl>
                                              <p:pRg st="0" end="0"/>
                                            </p:txEl>
                                          </p:spTgt>
                                        </p:tgtEl>
                                        <p:attrNameLst>
                                          <p:attrName>style.visibility</p:attrName>
                                        </p:attrNameLst>
                                      </p:cBhvr>
                                      <p:to>
                                        <p:strVal val="visible"/>
                                      </p:to>
                                    </p:set>
                                  </p:childTnLst>
                                </p:cTn>
                              </p:par>
                              <p:par>
                                <p:cTn id="49" presetID="1" presetClass="entr" fill="hold" nodeType="withEffect">
                                  <p:stCondLst>
                                    <p:cond delay="0"/>
                                  </p:stCondLst>
                                  <p:childTnLst>
                                    <p:set>
                                      <p:cBhvr additive="repl">
                                        <p:cTn id="50" dur="1" fill="hold">
                                          <p:stCondLst>
                                            <p:cond delay="0"/>
                                          </p:stCondLst>
                                        </p:cTn>
                                        <p:tgtEl>
                                          <p:spTgt spid="1742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p:bldP spid="28" grpId="0" animBg="1"/>
      <p:bldP spid="52" grpId="0"/>
    </p:bld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6" name="Text Box 4"/>
          <p:cNvSpPr txBox="1">
            <a:spLocks noChangeArrowheads="1"/>
          </p:cNvSpPr>
          <p:nvPr/>
        </p:nvSpPr>
        <p:spPr bwMode="auto">
          <a:xfrm>
            <a:off x="2027238" y="3095625"/>
            <a:ext cx="50419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sz="2000" b="1" dirty="0">
                <a:solidFill>
                  <a:schemeClr val="accent6"/>
                </a:solidFill>
                <a:latin typeface="Lucida Sans Unicode" panose="020B0602030504020204" pitchFamily="34" charset="0"/>
              </a:rPr>
              <a:t>CT = Q/2 x C</a:t>
            </a:r>
            <a:r>
              <a:rPr lang="pt-BR" altLang="pt-BR" sz="2000" b="1" baseline="-25000" dirty="0">
                <a:solidFill>
                  <a:schemeClr val="accent6"/>
                </a:solidFill>
                <a:latin typeface="Lucida Sans Unicode" panose="020B0602030504020204" pitchFamily="34" charset="0"/>
              </a:rPr>
              <a:t>ME</a:t>
            </a:r>
            <a:r>
              <a:rPr lang="pt-BR" altLang="pt-BR" sz="2000" b="1" dirty="0">
                <a:solidFill>
                  <a:schemeClr val="accent6"/>
                </a:solidFill>
                <a:latin typeface="Lucida Sans Unicode" panose="020B0602030504020204" pitchFamily="34" charset="0"/>
              </a:rPr>
              <a:t>+ D/Q x Cc</a:t>
            </a:r>
          </a:p>
        </p:txBody>
      </p:sp>
      <p:sp>
        <p:nvSpPr>
          <p:cNvPr id="18437" name="Text Box 5"/>
          <p:cNvSpPr txBox="1">
            <a:spLocks noChangeArrowheads="1"/>
          </p:cNvSpPr>
          <p:nvPr/>
        </p:nvSpPr>
        <p:spPr bwMode="auto">
          <a:xfrm>
            <a:off x="2027238" y="3684587"/>
            <a:ext cx="770413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sz="2000" b="1" dirty="0">
                <a:solidFill>
                  <a:schemeClr val="accent6"/>
                </a:solidFill>
                <a:latin typeface="Lucida Sans Unicode" panose="020B0602030504020204" pitchFamily="34" charset="0"/>
              </a:rPr>
              <a:t>CT = 4.000/2 x 0,60+ 80.000/ 4.000x 60</a:t>
            </a:r>
          </a:p>
        </p:txBody>
      </p:sp>
      <p:sp>
        <p:nvSpPr>
          <p:cNvPr id="18438" name="Text Box 6"/>
          <p:cNvSpPr txBox="1">
            <a:spLocks noChangeArrowheads="1"/>
          </p:cNvSpPr>
          <p:nvPr/>
        </p:nvSpPr>
        <p:spPr bwMode="auto">
          <a:xfrm>
            <a:off x="2027238" y="4273549"/>
            <a:ext cx="2916237"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sz="2000" b="1" dirty="0">
                <a:solidFill>
                  <a:schemeClr val="accent6"/>
                </a:solidFill>
                <a:latin typeface="Lucida Sans Unicode" panose="020B0602030504020204" pitchFamily="34" charset="0"/>
              </a:rPr>
              <a:t>CT = R$ 2.400,00</a:t>
            </a:r>
          </a:p>
        </p:txBody>
      </p:sp>
      <p:sp>
        <p:nvSpPr>
          <p:cNvPr id="12" name="Text Box 2"/>
          <p:cNvSpPr txBox="1">
            <a:spLocks noChangeArrowheads="1"/>
          </p:cNvSpPr>
          <p:nvPr/>
        </p:nvSpPr>
        <p:spPr bwMode="auto">
          <a:xfrm>
            <a:off x="2171702" y="1481454"/>
            <a:ext cx="7920037" cy="8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Custo Total = Custo de Armazenar + Custo de Comprar</a:t>
            </a:r>
          </a:p>
        </p:txBody>
      </p:sp>
      <p:sp>
        <p:nvSpPr>
          <p:cNvPr id="13" name="Text Box 3"/>
          <p:cNvSpPr txBox="1">
            <a:spLocks noChangeArrowheads="1"/>
          </p:cNvSpPr>
          <p:nvPr/>
        </p:nvSpPr>
        <p:spPr bwMode="auto">
          <a:xfrm>
            <a:off x="1884364" y="2290763"/>
            <a:ext cx="4679950" cy="804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chemeClr val="accent6"/>
                </a:solidFill>
                <a:latin typeface="Lucida Sans Unicode" panose="020B0602030504020204" pitchFamily="34" charset="0"/>
              </a:rPr>
              <a:t>Custo Total Anual</a:t>
            </a:r>
          </a:p>
        </p:txBody>
      </p:sp>
      <p:sp>
        <p:nvSpPr>
          <p:cNvPr id="14" name="Text Box 7"/>
          <p:cNvSpPr txBox="1">
            <a:spLocks noChangeArrowheads="1"/>
          </p:cNvSpPr>
          <p:nvPr/>
        </p:nvSpPr>
        <p:spPr bwMode="auto">
          <a:xfrm>
            <a:off x="1992312" y="5154294"/>
            <a:ext cx="8207375"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sz="2200" b="1" dirty="0">
                <a:solidFill>
                  <a:srgbClr val="FF0000"/>
                </a:solidFill>
                <a:latin typeface="Lucida Sans Unicode" panose="020B0602030504020204" pitchFamily="34" charset="0"/>
              </a:rPr>
              <a:t>Para o </a:t>
            </a:r>
            <a:r>
              <a:rPr lang="pt-BR" altLang="pt-BR" sz="2200" b="1" u="sng" dirty="0">
                <a:solidFill>
                  <a:srgbClr val="FF0000"/>
                </a:solidFill>
                <a:latin typeface="Lucida Sans Unicode" panose="020B0602030504020204" pitchFamily="34" charset="0"/>
              </a:rPr>
              <a:t>LEC</a:t>
            </a:r>
          </a:p>
          <a:p>
            <a:pPr>
              <a:spcBef>
                <a:spcPts val="400"/>
              </a:spcBef>
              <a:buClrTx/>
            </a:pPr>
            <a:r>
              <a:rPr lang="pt-BR" altLang="pt-BR" sz="2200" b="1" dirty="0">
                <a:solidFill>
                  <a:srgbClr val="FF0000"/>
                </a:solidFill>
                <a:latin typeface="Lucida Sans Unicode" panose="020B0602030504020204" pitchFamily="34" charset="0"/>
              </a:rPr>
              <a:t>Custo de Armazenar = Custo de Comprar = R$ 1.200,00</a:t>
            </a:r>
          </a:p>
        </p:txBody>
      </p:sp>
      <p:sp>
        <p:nvSpPr>
          <p:cNvPr id="10" name="CaixaDeTexto 9"/>
          <p:cNvSpPr txBox="1"/>
          <p:nvPr/>
        </p:nvSpPr>
        <p:spPr>
          <a:xfrm>
            <a:off x="2099556" y="953193"/>
            <a:ext cx="7992888" cy="400110"/>
          </a:xfrm>
          <a:prstGeom prst="rect">
            <a:avLst/>
          </a:prstGeom>
          <a:noFill/>
        </p:spPr>
        <p:txBody>
          <a:bodyPr wrap="square" rtlCol="0">
            <a:spAutoFit/>
          </a:bodyPr>
          <a:lstStyle/>
          <a:p>
            <a:pPr algn="ctr">
              <a:buClrTx/>
              <a:buFontTx/>
              <a:buNone/>
            </a:pPr>
            <a:r>
              <a:rPr lang="pt-BR" altLang="pt-BR" sz="2000" b="1" dirty="0">
                <a:solidFill>
                  <a:schemeClr val="accent6"/>
                </a:solidFill>
                <a:latin typeface="Lucida Sans Unicode" panose="020B0602030504020204" pitchFamily="34" charset="0"/>
              </a:rPr>
              <a:t>LOTE ECONÔMICO DE COMPRA</a:t>
            </a:r>
          </a:p>
        </p:txBody>
      </p:sp>
      <p:sp>
        <p:nvSpPr>
          <p:cNvPr id="11" name="CaixaDeTexto 10"/>
          <p:cNvSpPr txBox="1"/>
          <p:nvPr/>
        </p:nvSpPr>
        <p:spPr>
          <a:xfrm>
            <a:off x="2099556" y="338231"/>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POLÍTICAS E ESTRATÉGIAS DE ESTOQUE</a:t>
            </a:r>
          </a:p>
        </p:txBody>
      </p:sp>
    </p:spTree>
    <p:extLst>
      <p:ext uri="{BB962C8B-B14F-4D97-AF65-F5344CB8AC3E}">
        <p14:creationId xmlns:p14="http://schemas.microsoft.com/office/powerpoint/2010/main" val="1749195620"/>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additive="repl">
                                        <p:cTn id="10" dur="1" fill="hold">
                                          <p:stCondLst>
                                            <p:cond delay="0"/>
                                          </p:stCondLst>
                                        </p:cTn>
                                        <p:tgtEl>
                                          <p:spTgt spid="1843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additive="repl">
                                        <p:cTn id="14"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additive="repl">
                                        <p:cTn id="18" dur="4" fill="hold">
                                          <p:stCondLst>
                                            <p:cond delay="0"/>
                                          </p:stCondLst>
                                        </p:cTn>
                                        <p:tgtEl>
                                          <p:spTgt spid="18438">
                                            <p:txEl>
                                              <p:pRg st="0" end="0"/>
                                            </p:txEl>
                                          </p:spTgt>
                                        </p:tgtEl>
                                        <p:attrNameLst>
                                          <p:attrName>style.visibility</p:attrName>
                                        </p:attrNameLst>
                                      </p:cBhvr>
                                      <p:to>
                                        <p:strVal val="visible"/>
                                      </p:to>
                                    </p:set>
                                    <p:animEffect transition="in" filter="wipe(down)">
                                      <p:cBhvr additive="repl">
                                        <p:cTn id="19" dur="2000"/>
                                        <p:tgtEl>
                                          <p:spTgt spid="18438">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fill="hold" nodeType="clickEffect">
                                  <p:stCondLst>
                                    <p:cond delay="0"/>
                                  </p:stCondLst>
                                  <p:childTnLst>
                                    <p:set>
                                      <p:cBhvr additive="repl">
                                        <p:cTn id="23" dur="1" fill="hold">
                                          <p:stCondLst>
                                            <p:cond delay="0"/>
                                          </p:stCondLst>
                                        </p:cTn>
                                        <p:tgtEl>
                                          <p:spTgt spid="14">
                                            <p:txEl>
                                              <p:pRg st="0" end="0"/>
                                            </p:txEl>
                                          </p:spTgt>
                                        </p:tgtEl>
                                        <p:attrNameLst>
                                          <p:attrName>style.visibility</p:attrName>
                                        </p:attrNameLst>
                                      </p:cBhvr>
                                      <p:to>
                                        <p:strVal val="visible"/>
                                      </p:to>
                                    </p:set>
                                  </p:childTnLst>
                                </p:cTn>
                              </p:par>
                            </p:childTnLst>
                          </p:cTn>
                        </p:par>
                        <p:par>
                          <p:cTn id="24" fill="hold">
                            <p:stCondLst>
                              <p:cond delay="0"/>
                            </p:stCondLst>
                            <p:childTnLst>
                              <p:par>
                                <p:cTn id="25" presetID="1" presetClass="entr" fill="hold" nodeType="afterEffect">
                                  <p:stCondLst>
                                    <p:cond delay="0"/>
                                  </p:stCondLst>
                                  <p:childTnLst>
                                    <p:set>
                                      <p:cBhvr additive="repl">
                                        <p:cTn id="26"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 name="AutoShape 7"/>
          <p:cNvSpPr>
            <a:spLocks noChangeArrowheads="1"/>
          </p:cNvSpPr>
          <p:nvPr/>
        </p:nvSpPr>
        <p:spPr bwMode="auto">
          <a:xfrm>
            <a:off x="4931502" y="4320004"/>
            <a:ext cx="360363" cy="360362"/>
          </a:xfrm>
          <a:prstGeom prst="rightArrow">
            <a:avLst>
              <a:gd name="adj1" fmla="val 50000"/>
              <a:gd name="adj2" fmla="val 25000"/>
            </a:avLst>
          </a:prstGeom>
          <a:solidFill>
            <a:srgbClr val="FF0000"/>
          </a:solidFill>
          <a:ln w="9360" cap="sq">
            <a:solidFill>
              <a:srgbClr val="3465A4"/>
            </a:solidFill>
            <a:round/>
            <a:headEnd/>
            <a:tailEnd/>
          </a:ln>
          <a:effectLst/>
        </p:spPr>
        <p:txBody>
          <a:bodyPr wrap="none" anchor="ctr"/>
          <a:lstStyle/>
          <a:p>
            <a:pPr>
              <a:buClr>
                <a:srgbClr val="000000"/>
              </a:buClr>
              <a:buSzPct val="100000"/>
              <a:buFont typeface="Times New Roman" panose="02020603050405020304" pitchFamily="18" charset="0"/>
              <a:buNone/>
            </a:pPr>
            <a:endParaRPr lang="pt-BR" altLang="pt-BR" dirty="0"/>
          </a:p>
        </p:txBody>
      </p:sp>
      <p:sp>
        <p:nvSpPr>
          <p:cNvPr id="51" name="CaixaDeTexto 50"/>
          <p:cNvSpPr txBox="1"/>
          <p:nvPr/>
        </p:nvSpPr>
        <p:spPr>
          <a:xfrm>
            <a:off x="2099556" y="338231"/>
            <a:ext cx="7992888" cy="461665"/>
          </a:xfrm>
          <a:prstGeom prst="rect">
            <a:avLst/>
          </a:prstGeom>
          <a:noFill/>
        </p:spPr>
        <p:txBody>
          <a:bodyPr wrap="square" rtlCol="0">
            <a:spAutoFit/>
          </a:bodyPr>
          <a:lstStyle/>
          <a:p>
            <a:pPr algn="ctr">
              <a:buClrTx/>
              <a:buFontTx/>
              <a:buNone/>
            </a:pPr>
            <a:r>
              <a:rPr lang="pt-BR" altLang="pt-BR" sz="2400" b="1" dirty="0">
                <a:solidFill>
                  <a:schemeClr val="accent6"/>
                </a:solidFill>
                <a:latin typeface="Lucida Sans Unicode" panose="020B0602030504020204" pitchFamily="34" charset="0"/>
              </a:rPr>
              <a:t>LOTE ECONÔMICO DE COMPRA</a:t>
            </a:r>
          </a:p>
        </p:txBody>
      </p:sp>
      <p:sp>
        <p:nvSpPr>
          <p:cNvPr id="52" name="Título 1"/>
          <p:cNvSpPr txBox="1">
            <a:spLocks/>
          </p:cNvSpPr>
          <p:nvPr/>
        </p:nvSpPr>
        <p:spPr>
          <a:xfrm>
            <a:off x="889479" y="1040527"/>
            <a:ext cx="10515600" cy="44627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Helvetica" panose="020B0604020202020204" pitchFamily="34" charset="0"/>
                <a:ea typeface="+mj-ea"/>
                <a:cs typeface="Helvetica" panose="020B0604020202020204" pitchFamily="34" charset="0"/>
              </a:defRPr>
            </a:lvl1pPr>
          </a:lstStyle>
          <a:p>
            <a:pPr algn="ctr"/>
            <a:r>
              <a:rPr lang="pt-BR" sz="2400" b="1" dirty="0">
                <a:solidFill>
                  <a:srgbClr val="FF0000"/>
                </a:solidFill>
                <a:latin typeface="Lucida Sans Unicode" panose="020B0602030504020204" pitchFamily="34" charset="0"/>
                <a:cs typeface="Lucida Sans Unicode" panose="020B0602030504020204" pitchFamily="34" charset="0"/>
              </a:rPr>
              <a:t>ATIVIDADE (INDIVIDUAL)</a:t>
            </a:r>
          </a:p>
        </p:txBody>
      </p:sp>
      <p:sp>
        <p:nvSpPr>
          <p:cNvPr id="2" name="Retângulo 1"/>
          <p:cNvSpPr/>
          <p:nvPr/>
        </p:nvSpPr>
        <p:spPr>
          <a:xfrm>
            <a:off x="1503711" y="1500765"/>
            <a:ext cx="9287135" cy="11299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indent="6350" algn="just" eaLnBrk="0" fontAlgn="base" hangingPunct="0">
              <a:lnSpc>
                <a:spcPct val="150000"/>
              </a:lnSpc>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pPr>
            <a:r>
              <a:rPr lang="pt-BR" sz="1600" dirty="0">
                <a:solidFill>
                  <a:schemeClr val="accent6"/>
                </a:solidFill>
                <a:latin typeface="Lucida Sans Unicode" panose="020B0602030504020204" pitchFamily="34" charset="0"/>
                <a:ea typeface="Verdana" panose="020B0604030504040204" pitchFamily="34" charset="0"/>
                <a:cs typeface="Lucida Sans Unicode" panose="020B0602030504020204" pitchFamily="34" charset="0"/>
              </a:rPr>
              <a:t>Para a mesma empresa, calcular o custo total (CT) decorrente de manter estoques para lotes de compra (Q) de 3.000, 3.500, 3.800, 4.300, 4.800, 5.200, 5.400, 5.600 e 6.000 unidades.</a:t>
            </a:r>
          </a:p>
        </p:txBody>
      </p:sp>
      <p:sp>
        <p:nvSpPr>
          <p:cNvPr id="49" name="Text Box 4"/>
          <p:cNvSpPr txBox="1">
            <a:spLocks noChangeArrowheads="1"/>
          </p:cNvSpPr>
          <p:nvPr/>
        </p:nvSpPr>
        <p:spPr bwMode="auto">
          <a:xfrm>
            <a:off x="1503711" y="4284285"/>
            <a:ext cx="323587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nchor="ctr"/>
          <a:lstStyle>
            <a:lvl1pPr marL="342900" indent="-336550">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342900" algn="l"/>
                <a:tab pos="790575" algn="l"/>
                <a:tab pos="1239838" algn="l"/>
                <a:tab pos="1689100" algn="l"/>
                <a:tab pos="2138363" algn="l"/>
                <a:tab pos="2587625" algn="l"/>
                <a:tab pos="3036888" algn="l"/>
                <a:tab pos="3486150" algn="l"/>
                <a:tab pos="3935413" algn="l"/>
                <a:tab pos="4384675" algn="l"/>
                <a:tab pos="4833938" algn="l"/>
                <a:tab pos="5283200" algn="l"/>
                <a:tab pos="5732463" algn="l"/>
                <a:tab pos="6181725" algn="l"/>
                <a:tab pos="6630988" algn="l"/>
                <a:tab pos="7080250" algn="l"/>
                <a:tab pos="7529513" algn="l"/>
                <a:tab pos="7978775" algn="l"/>
                <a:tab pos="8428038" algn="l"/>
                <a:tab pos="8877300" algn="l"/>
                <a:tab pos="9326563" algn="l"/>
              </a:tabLst>
              <a:defRPr>
                <a:solidFill>
                  <a:schemeClr val="bg1"/>
                </a:solidFill>
                <a:latin typeface="Arial" panose="020B0604020202020204" pitchFamily="34" charset="0"/>
                <a:ea typeface="Microsoft YaHei" panose="020B0503020204020204" pitchFamily="34" charset="-122"/>
              </a:defRPr>
            </a:lvl9pPr>
          </a:lstStyle>
          <a:p>
            <a:pPr>
              <a:spcBef>
                <a:spcPts val="400"/>
              </a:spcBef>
              <a:buClrTx/>
            </a:pPr>
            <a:r>
              <a:rPr lang="pt-BR" altLang="pt-BR" b="1" dirty="0">
                <a:solidFill>
                  <a:schemeClr val="accent6"/>
                </a:solidFill>
                <a:latin typeface="Lucida Sans Unicode" panose="020B0602030504020204" pitchFamily="34" charset="0"/>
              </a:rPr>
              <a:t>CT = Q/2 x C</a:t>
            </a:r>
            <a:r>
              <a:rPr lang="pt-BR" altLang="pt-BR" b="1" baseline="-25000" dirty="0">
                <a:solidFill>
                  <a:schemeClr val="accent6"/>
                </a:solidFill>
                <a:latin typeface="Lucida Sans Unicode" panose="020B0602030504020204" pitchFamily="34" charset="0"/>
              </a:rPr>
              <a:t>ME</a:t>
            </a:r>
            <a:r>
              <a:rPr lang="pt-BR" altLang="pt-BR" b="1" dirty="0">
                <a:solidFill>
                  <a:schemeClr val="accent6"/>
                </a:solidFill>
                <a:latin typeface="Lucida Sans Unicode" panose="020B0602030504020204" pitchFamily="34" charset="0"/>
              </a:rPr>
              <a:t>+ CA/Q x Cc</a:t>
            </a:r>
          </a:p>
        </p:txBody>
      </p:sp>
      <p:sp>
        <p:nvSpPr>
          <p:cNvPr id="53" name="Text Box 3"/>
          <p:cNvSpPr txBox="1">
            <a:spLocks noChangeArrowheads="1"/>
          </p:cNvSpPr>
          <p:nvPr/>
        </p:nvSpPr>
        <p:spPr bwMode="auto">
          <a:xfrm>
            <a:off x="1503711" y="3501160"/>
            <a:ext cx="4112321" cy="4281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b="1" dirty="0">
                <a:solidFill>
                  <a:schemeClr val="accent6"/>
                </a:solidFill>
                <a:latin typeface="Lucida Sans Unicode" panose="020B0602030504020204" pitchFamily="34" charset="0"/>
              </a:rPr>
              <a:t>Custo Total Anual</a:t>
            </a:r>
          </a:p>
        </p:txBody>
      </p:sp>
      <p:graphicFrame>
        <p:nvGraphicFramePr>
          <p:cNvPr id="3" name="Tabela 2"/>
          <p:cNvGraphicFramePr>
            <a:graphicFrameLocks noGrp="1"/>
          </p:cNvGraphicFramePr>
          <p:nvPr>
            <p:extLst>
              <p:ext uri="{D42A27DB-BD31-4B8C-83A1-F6EECF244321}">
                <p14:modId xmlns:p14="http://schemas.microsoft.com/office/powerpoint/2010/main" val="3198621979"/>
              </p:ext>
            </p:extLst>
          </p:nvPr>
        </p:nvGraphicFramePr>
        <p:xfrm>
          <a:off x="5460734" y="2282150"/>
          <a:ext cx="4631710" cy="4079240"/>
        </p:xfrm>
        <a:graphic>
          <a:graphicData uri="http://schemas.openxmlformats.org/drawingml/2006/table">
            <a:tbl>
              <a:tblPr firstRow="1" bandRow="1">
                <a:tableStyleId>{93296810-A885-4BE3-A3E7-6D5BEEA58F35}</a:tableStyleId>
              </a:tblPr>
              <a:tblGrid>
                <a:gridCol w="828081">
                  <a:extLst>
                    <a:ext uri="{9D8B030D-6E8A-4147-A177-3AD203B41FA5}">
                      <a16:colId xmlns:a16="http://schemas.microsoft.com/office/drawing/2014/main" val="20000"/>
                    </a:ext>
                  </a:extLst>
                </a:gridCol>
                <a:gridCol w="1232447">
                  <a:extLst>
                    <a:ext uri="{9D8B030D-6E8A-4147-A177-3AD203B41FA5}">
                      <a16:colId xmlns:a16="http://schemas.microsoft.com/office/drawing/2014/main" val="20001"/>
                    </a:ext>
                  </a:extLst>
                </a:gridCol>
                <a:gridCol w="1236372">
                  <a:extLst>
                    <a:ext uri="{9D8B030D-6E8A-4147-A177-3AD203B41FA5}">
                      <a16:colId xmlns:a16="http://schemas.microsoft.com/office/drawing/2014/main" val="20002"/>
                    </a:ext>
                  </a:extLst>
                </a:gridCol>
                <a:gridCol w="1334810">
                  <a:extLst>
                    <a:ext uri="{9D8B030D-6E8A-4147-A177-3AD203B41FA5}">
                      <a16:colId xmlns:a16="http://schemas.microsoft.com/office/drawing/2014/main" val="20003"/>
                    </a:ext>
                  </a:extLst>
                </a:gridCol>
              </a:tblGrid>
              <a:tr h="370840">
                <a:tc>
                  <a:txBody>
                    <a:bodyPr/>
                    <a:lstStyle/>
                    <a:p>
                      <a:pPr algn="ctr"/>
                      <a:r>
                        <a:rPr lang="pt-BR" sz="1600" dirty="0">
                          <a:latin typeface="Lucida Sans Unicode" panose="020B0602030504020204" pitchFamily="34" charset="0"/>
                          <a:cs typeface="Lucida Sans Unicode" panose="020B0602030504020204" pitchFamily="34" charset="0"/>
                        </a:rPr>
                        <a:t>QTDE</a:t>
                      </a:r>
                    </a:p>
                  </a:txBody>
                  <a:tcPr/>
                </a:tc>
                <a:tc>
                  <a:txBody>
                    <a:bodyPr/>
                    <a:lstStyle/>
                    <a:p>
                      <a:pPr algn="ctr"/>
                      <a:r>
                        <a:rPr lang="pt-BR" altLang="pt-BR" sz="1600" b="1" dirty="0">
                          <a:solidFill>
                            <a:schemeClr val="bg1"/>
                          </a:solidFill>
                          <a:latin typeface="Lucida Sans Unicode" panose="020B0602030504020204" pitchFamily="34" charset="0"/>
                        </a:rPr>
                        <a:t>Q/2 x C</a:t>
                      </a:r>
                      <a:r>
                        <a:rPr lang="pt-BR" altLang="pt-BR" sz="1600" b="1" baseline="-25000" dirty="0">
                          <a:solidFill>
                            <a:schemeClr val="bg1"/>
                          </a:solidFill>
                          <a:latin typeface="Lucida Sans Unicode" panose="020B0602030504020204" pitchFamily="34" charset="0"/>
                        </a:rPr>
                        <a:t>ME</a:t>
                      </a:r>
                      <a:endParaRPr lang="pt-BR" sz="1600" dirty="0">
                        <a:solidFill>
                          <a:schemeClr val="bg1"/>
                        </a:solidFill>
                        <a:latin typeface="Lucida Sans Unicode" panose="020B0602030504020204" pitchFamily="34" charset="0"/>
                        <a:cs typeface="Lucida Sans Unicode" panose="020B0602030504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t-BR" altLang="pt-BR" sz="1600" b="1" dirty="0">
                          <a:solidFill>
                            <a:schemeClr val="bg1"/>
                          </a:solidFill>
                          <a:latin typeface="Lucida Sans Unicode" panose="020B0602030504020204" pitchFamily="34" charset="0"/>
                        </a:rPr>
                        <a:t>CA/Q x Cc</a:t>
                      </a:r>
                    </a:p>
                  </a:txBody>
                  <a:tcPr/>
                </a:tc>
                <a:tc>
                  <a:txBody>
                    <a:bodyPr/>
                    <a:lstStyle/>
                    <a:p>
                      <a:pPr algn="ctr"/>
                      <a:r>
                        <a:rPr lang="pt-BR" sz="1600" dirty="0">
                          <a:solidFill>
                            <a:schemeClr val="bg1"/>
                          </a:solidFill>
                          <a:latin typeface="Lucida Sans Unicode" panose="020B0602030504020204" pitchFamily="34" charset="0"/>
                          <a:cs typeface="Lucida Sans Unicode" panose="020B0602030504020204" pitchFamily="34" charset="0"/>
                        </a:rPr>
                        <a:t>CT</a:t>
                      </a:r>
                    </a:p>
                  </a:txBody>
                  <a:tcPr/>
                </a:tc>
                <a:extLst>
                  <a:ext uri="{0D108BD9-81ED-4DB2-BD59-A6C34878D82A}">
                    <a16:rowId xmlns:a16="http://schemas.microsoft.com/office/drawing/2014/main" val="10000"/>
                  </a:ext>
                </a:extLst>
              </a:tr>
              <a:tr h="370840">
                <a:tc>
                  <a:txBody>
                    <a:bodyPr/>
                    <a:lstStyle/>
                    <a:p>
                      <a:pPr algn="r"/>
                      <a:r>
                        <a:rPr lang="pt-BR" sz="1600" dirty="0">
                          <a:latin typeface="Lucida Sans Unicode" panose="020B0602030504020204" pitchFamily="34" charset="0"/>
                          <a:cs typeface="Lucida Sans Unicode" panose="020B0602030504020204" pitchFamily="34" charset="0"/>
                        </a:rPr>
                        <a:t>3.000</a:t>
                      </a:r>
                    </a:p>
                  </a:txBody>
                  <a:tcPr anchor="ctr"/>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extLst>
                  <a:ext uri="{0D108BD9-81ED-4DB2-BD59-A6C34878D82A}">
                    <a16:rowId xmlns:a16="http://schemas.microsoft.com/office/drawing/2014/main" val="10001"/>
                  </a:ext>
                </a:extLst>
              </a:tr>
              <a:tr h="370840">
                <a:tc>
                  <a:txBody>
                    <a:bodyPr/>
                    <a:lstStyle/>
                    <a:p>
                      <a:pPr algn="r"/>
                      <a:r>
                        <a:rPr lang="pt-BR" sz="1600" dirty="0">
                          <a:latin typeface="Lucida Sans Unicode" panose="020B0602030504020204" pitchFamily="34" charset="0"/>
                          <a:cs typeface="Lucida Sans Unicode" panose="020B0602030504020204" pitchFamily="34" charset="0"/>
                        </a:rPr>
                        <a:t>3.500</a:t>
                      </a:r>
                    </a:p>
                  </a:txBody>
                  <a:tcPr anchor="ctr"/>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extLst>
                  <a:ext uri="{0D108BD9-81ED-4DB2-BD59-A6C34878D82A}">
                    <a16:rowId xmlns:a16="http://schemas.microsoft.com/office/drawing/2014/main" val="10002"/>
                  </a:ext>
                </a:extLst>
              </a:tr>
              <a:tr h="370840">
                <a:tc>
                  <a:txBody>
                    <a:bodyPr/>
                    <a:lstStyle/>
                    <a:p>
                      <a:pPr algn="r"/>
                      <a:r>
                        <a:rPr lang="pt-BR" sz="1600" dirty="0">
                          <a:latin typeface="Lucida Sans Unicode" panose="020B0602030504020204" pitchFamily="34" charset="0"/>
                          <a:cs typeface="Lucida Sans Unicode" panose="020B0602030504020204" pitchFamily="34" charset="0"/>
                        </a:rPr>
                        <a:t>3.800</a:t>
                      </a:r>
                    </a:p>
                  </a:txBody>
                  <a:tcPr anchor="ctr"/>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extLst>
                  <a:ext uri="{0D108BD9-81ED-4DB2-BD59-A6C34878D82A}">
                    <a16:rowId xmlns:a16="http://schemas.microsoft.com/office/drawing/2014/main" val="10003"/>
                  </a:ext>
                </a:extLst>
              </a:tr>
              <a:tr h="370840">
                <a:tc>
                  <a:txBody>
                    <a:bodyPr/>
                    <a:lstStyle/>
                    <a:p>
                      <a:pPr marL="0" algn="r" defTabSz="914400" rtl="0" eaLnBrk="1" fontAlgn="b" latinLnBrk="0" hangingPunct="1"/>
                      <a:r>
                        <a:rPr lang="pt-BR" sz="1600" kern="1200" dirty="0">
                          <a:solidFill>
                            <a:schemeClr val="dk1"/>
                          </a:solidFill>
                          <a:latin typeface="Lucida Sans Unicode" panose="020B0602030504020204" pitchFamily="34" charset="0"/>
                          <a:ea typeface="+mn-ea"/>
                          <a:cs typeface="Lucida Sans Unicode" panose="020B0602030504020204" pitchFamily="34" charset="0"/>
                        </a:rPr>
                        <a:t>4.000</a:t>
                      </a:r>
                    </a:p>
                  </a:txBody>
                  <a:tcPr anchor="ctr"/>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extLst>
                  <a:ext uri="{0D108BD9-81ED-4DB2-BD59-A6C34878D82A}">
                    <a16:rowId xmlns:a16="http://schemas.microsoft.com/office/drawing/2014/main" val="10004"/>
                  </a:ext>
                </a:extLst>
              </a:tr>
              <a:tr h="370840">
                <a:tc>
                  <a:txBody>
                    <a:bodyPr/>
                    <a:lstStyle/>
                    <a:p>
                      <a:pPr algn="r"/>
                      <a:r>
                        <a:rPr lang="pt-BR" sz="1600" dirty="0">
                          <a:latin typeface="Lucida Sans Unicode" panose="020B0602030504020204" pitchFamily="34" charset="0"/>
                          <a:cs typeface="Lucida Sans Unicode" panose="020B0602030504020204" pitchFamily="34" charset="0"/>
                        </a:rPr>
                        <a:t>4.300</a:t>
                      </a:r>
                    </a:p>
                  </a:txBody>
                  <a:tcPr anchor="ctr"/>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extLst>
                  <a:ext uri="{0D108BD9-81ED-4DB2-BD59-A6C34878D82A}">
                    <a16:rowId xmlns:a16="http://schemas.microsoft.com/office/drawing/2014/main" val="10005"/>
                  </a:ext>
                </a:extLst>
              </a:tr>
              <a:tr h="370840">
                <a:tc>
                  <a:txBody>
                    <a:bodyPr/>
                    <a:lstStyle/>
                    <a:p>
                      <a:pPr algn="r"/>
                      <a:r>
                        <a:rPr lang="pt-BR" sz="1600" dirty="0">
                          <a:latin typeface="Lucida Sans Unicode" panose="020B0602030504020204" pitchFamily="34" charset="0"/>
                          <a:cs typeface="Lucida Sans Unicode" panose="020B0602030504020204" pitchFamily="34" charset="0"/>
                        </a:rPr>
                        <a:t>4.800</a:t>
                      </a:r>
                    </a:p>
                  </a:txBody>
                  <a:tcPr anchor="ctr"/>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extLst>
                  <a:ext uri="{0D108BD9-81ED-4DB2-BD59-A6C34878D82A}">
                    <a16:rowId xmlns:a16="http://schemas.microsoft.com/office/drawing/2014/main" val="10006"/>
                  </a:ext>
                </a:extLst>
              </a:tr>
              <a:tr h="370840">
                <a:tc>
                  <a:txBody>
                    <a:bodyPr/>
                    <a:lstStyle/>
                    <a:p>
                      <a:pPr algn="r"/>
                      <a:r>
                        <a:rPr lang="pt-BR" sz="1600" dirty="0">
                          <a:latin typeface="Lucida Sans Unicode" panose="020B0602030504020204" pitchFamily="34" charset="0"/>
                          <a:cs typeface="Lucida Sans Unicode" panose="020B0602030504020204" pitchFamily="34" charset="0"/>
                        </a:rPr>
                        <a:t>5.200</a:t>
                      </a:r>
                    </a:p>
                  </a:txBody>
                  <a:tcPr anchor="ctr"/>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extLst>
                  <a:ext uri="{0D108BD9-81ED-4DB2-BD59-A6C34878D82A}">
                    <a16:rowId xmlns:a16="http://schemas.microsoft.com/office/drawing/2014/main" val="10007"/>
                  </a:ext>
                </a:extLst>
              </a:tr>
              <a:tr h="370840">
                <a:tc>
                  <a:txBody>
                    <a:bodyPr/>
                    <a:lstStyle/>
                    <a:p>
                      <a:pPr algn="r"/>
                      <a:r>
                        <a:rPr lang="pt-BR" sz="1600" dirty="0">
                          <a:latin typeface="Lucida Sans Unicode" panose="020B0602030504020204" pitchFamily="34" charset="0"/>
                          <a:cs typeface="Lucida Sans Unicode" panose="020B0602030504020204" pitchFamily="34" charset="0"/>
                        </a:rPr>
                        <a:t>5.400</a:t>
                      </a:r>
                    </a:p>
                  </a:txBody>
                  <a:tcPr anchor="ctr"/>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extLst>
                  <a:ext uri="{0D108BD9-81ED-4DB2-BD59-A6C34878D82A}">
                    <a16:rowId xmlns:a16="http://schemas.microsoft.com/office/drawing/2014/main" val="10008"/>
                  </a:ext>
                </a:extLst>
              </a:tr>
              <a:tr h="370840">
                <a:tc>
                  <a:txBody>
                    <a:bodyPr/>
                    <a:lstStyle/>
                    <a:p>
                      <a:pPr algn="r"/>
                      <a:r>
                        <a:rPr lang="pt-BR" sz="1600" dirty="0">
                          <a:latin typeface="Lucida Sans Unicode" panose="020B0602030504020204" pitchFamily="34" charset="0"/>
                          <a:cs typeface="Lucida Sans Unicode" panose="020B0602030504020204" pitchFamily="34" charset="0"/>
                        </a:rPr>
                        <a:t>5.600</a:t>
                      </a:r>
                    </a:p>
                  </a:txBody>
                  <a:tcPr anchor="ctr"/>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extLst>
                  <a:ext uri="{0D108BD9-81ED-4DB2-BD59-A6C34878D82A}">
                    <a16:rowId xmlns:a16="http://schemas.microsoft.com/office/drawing/2014/main" val="10009"/>
                  </a:ext>
                </a:extLst>
              </a:tr>
              <a:tr h="370840">
                <a:tc>
                  <a:txBody>
                    <a:bodyPr/>
                    <a:lstStyle/>
                    <a:p>
                      <a:pPr algn="r"/>
                      <a:r>
                        <a:rPr lang="pt-BR" sz="1600" dirty="0">
                          <a:latin typeface="Lucida Sans Unicode" panose="020B0602030504020204" pitchFamily="34" charset="0"/>
                          <a:cs typeface="Lucida Sans Unicode" panose="020B0602030504020204" pitchFamily="34" charset="0"/>
                        </a:rPr>
                        <a:t>6.000</a:t>
                      </a:r>
                    </a:p>
                  </a:txBody>
                  <a:tcPr anchor="ctr"/>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tc>
                  <a:txBody>
                    <a:bodyPr/>
                    <a:lstStyle/>
                    <a:p>
                      <a:pPr marL="0" algn="r" defTabSz="914400" rtl="0" eaLnBrk="1" fontAlgn="b" latinLnBrk="0" hangingPunct="1"/>
                      <a:endParaRPr lang="pt-BR" sz="1600" kern="1200" dirty="0">
                        <a:solidFill>
                          <a:schemeClr val="dk1"/>
                        </a:solidFill>
                        <a:latin typeface="Lucida Sans Unicode" panose="020B0602030504020204" pitchFamily="34" charset="0"/>
                        <a:ea typeface="+mn-ea"/>
                        <a:cs typeface="Lucida Sans Unicode" panose="020B0602030504020204" pitchFamily="34" charset="0"/>
                      </a:endParaRPr>
                    </a:p>
                  </a:txBody>
                  <a:tcPr marL="9525" marR="9525" marT="9525" marB="0" anchor="b"/>
                </a:tc>
                <a:extLst>
                  <a:ext uri="{0D108BD9-81ED-4DB2-BD59-A6C34878D82A}">
                    <a16:rowId xmlns:a16="http://schemas.microsoft.com/office/drawing/2014/main" val="10010"/>
                  </a:ext>
                </a:extLst>
              </a:tr>
            </a:tbl>
          </a:graphicData>
        </a:graphic>
      </p:graphicFrame>
      <p:sp>
        <p:nvSpPr>
          <p:cNvPr id="4" name="Retângulo 3"/>
          <p:cNvSpPr/>
          <p:nvPr/>
        </p:nvSpPr>
        <p:spPr>
          <a:xfrm>
            <a:off x="6651920" y="2683718"/>
            <a:ext cx="899606"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900,00</a:t>
            </a:r>
          </a:p>
        </p:txBody>
      </p:sp>
      <p:sp>
        <p:nvSpPr>
          <p:cNvPr id="5" name="Retângulo 4"/>
          <p:cNvSpPr/>
          <p:nvPr/>
        </p:nvSpPr>
        <p:spPr>
          <a:xfrm>
            <a:off x="8997272" y="2683718"/>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2.500,00</a:t>
            </a:r>
          </a:p>
        </p:txBody>
      </p:sp>
      <p:sp>
        <p:nvSpPr>
          <p:cNvPr id="6" name="Retângulo 5"/>
          <p:cNvSpPr/>
          <p:nvPr/>
        </p:nvSpPr>
        <p:spPr>
          <a:xfrm>
            <a:off x="7694637" y="2683718"/>
            <a:ext cx="1095172" cy="338554"/>
          </a:xfrm>
          <a:prstGeom prst="rect">
            <a:avLst/>
          </a:prstGeom>
        </p:spPr>
        <p:txBody>
          <a:bodyPr wrap="none" anchor="ctr">
            <a:spAutoFit/>
          </a:bodyPr>
          <a:lstStyle/>
          <a:p>
            <a:r>
              <a:rPr lang="pt-BR" sz="1600" dirty="0">
                <a:solidFill>
                  <a:schemeClr val="dk1"/>
                </a:solidFill>
                <a:latin typeface="Lucida Sans Unicode" panose="020B0602030504020204" pitchFamily="34" charset="0"/>
                <a:cs typeface="Lucida Sans Unicode" panose="020B0602030504020204" pitchFamily="34" charset="0"/>
              </a:rPr>
              <a:t>1.600,00</a:t>
            </a:r>
            <a:endParaRPr lang="pt-BR" sz="1600" dirty="0"/>
          </a:p>
        </p:txBody>
      </p:sp>
      <p:sp>
        <p:nvSpPr>
          <p:cNvPr id="7" name="Retângulo 6"/>
          <p:cNvSpPr/>
          <p:nvPr/>
        </p:nvSpPr>
        <p:spPr>
          <a:xfrm>
            <a:off x="6456354" y="3052944"/>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1.050,00</a:t>
            </a:r>
          </a:p>
        </p:txBody>
      </p:sp>
      <p:sp>
        <p:nvSpPr>
          <p:cNvPr id="8" name="Retângulo 7"/>
          <p:cNvSpPr/>
          <p:nvPr/>
        </p:nvSpPr>
        <p:spPr>
          <a:xfrm>
            <a:off x="7694637" y="3052357"/>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1.371,43</a:t>
            </a:r>
          </a:p>
        </p:txBody>
      </p:sp>
      <p:sp>
        <p:nvSpPr>
          <p:cNvPr id="9" name="Retângulo 8"/>
          <p:cNvSpPr/>
          <p:nvPr/>
        </p:nvSpPr>
        <p:spPr>
          <a:xfrm>
            <a:off x="8997272" y="3052357"/>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2.421,43</a:t>
            </a:r>
          </a:p>
        </p:txBody>
      </p:sp>
      <p:sp>
        <p:nvSpPr>
          <p:cNvPr id="10" name="Retângulo 9"/>
          <p:cNvSpPr/>
          <p:nvPr/>
        </p:nvSpPr>
        <p:spPr>
          <a:xfrm>
            <a:off x="6456354" y="3422170"/>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1.140,00</a:t>
            </a:r>
          </a:p>
        </p:txBody>
      </p:sp>
      <p:sp>
        <p:nvSpPr>
          <p:cNvPr id="11" name="Retângulo 10"/>
          <p:cNvSpPr/>
          <p:nvPr/>
        </p:nvSpPr>
        <p:spPr>
          <a:xfrm>
            <a:off x="7694637" y="3420996"/>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1.263,16</a:t>
            </a:r>
          </a:p>
        </p:txBody>
      </p:sp>
      <p:sp>
        <p:nvSpPr>
          <p:cNvPr id="12" name="Retângulo 11"/>
          <p:cNvSpPr/>
          <p:nvPr/>
        </p:nvSpPr>
        <p:spPr>
          <a:xfrm>
            <a:off x="8997272" y="3420996"/>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2.403,16</a:t>
            </a:r>
          </a:p>
        </p:txBody>
      </p:sp>
      <p:sp>
        <p:nvSpPr>
          <p:cNvPr id="13" name="Retângulo 12"/>
          <p:cNvSpPr/>
          <p:nvPr/>
        </p:nvSpPr>
        <p:spPr>
          <a:xfrm>
            <a:off x="8997272" y="4173085"/>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2.406,28</a:t>
            </a:r>
          </a:p>
        </p:txBody>
      </p:sp>
      <p:sp>
        <p:nvSpPr>
          <p:cNvPr id="14" name="Retângulo 13"/>
          <p:cNvSpPr/>
          <p:nvPr/>
        </p:nvSpPr>
        <p:spPr>
          <a:xfrm>
            <a:off x="7694637" y="4173085"/>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1.116,28</a:t>
            </a:r>
          </a:p>
        </p:txBody>
      </p:sp>
      <p:sp>
        <p:nvSpPr>
          <p:cNvPr id="16" name="Retângulo 15"/>
          <p:cNvSpPr/>
          <p:nvPr/>
        </p:nvSpPr>
        <p:spPr>
          <a:xfrm>
            <a:off x="6456354" y="4174846"/>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1.290,00</a:t>
            </a:r>
          </a:p>
        </p:txBody>
      </p:sp>
      <p:sp>
        <p:nvSpPr>
          <p:cNvPr id="17" name="Retângulo 16"/>
          <p:cNvSpPr/>
          <p:nvPr/>
        </p:nvSpPr>
        <p:spPr>
          <a:xfrm>
            <a:off x="6456354" y="4544072"/>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1.440,00</a:t>
            </a:r>
          </a:p>
        </p:txBody>
      </p:sp>
      <p:sp>
        <p:nvSpPr>
          <p:cNvPr id="18" name="Retângulo 17"/>
          <p:cNvSpPr/>
          <p:nvPr/>
        </p:nvSpPr>
        <p:spPr>
          <a:xfrm>
            <a:off x="7694637" y="4541724"/>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1.000,00</a:t>
            </a:r>
          </a:p>
        </p:txBody>
      </p:sp>
      <p:sp>
        <p:nvSpPr>
          <p:cNvPr id="19" name="Retângulo 18"/>
          <p:cNvSpPr/>
          <p:nvPr/>
        </p:nvSpPr>
        <p:spPr>
          <a:xfrm>
            <a:off x="8997272" y="4541724"/>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2.440,00</a:t>
            </a:r>
          </a:p>
        </p:txBody>
      </p:sp>
      <p:sp>
        <p:nvSpPr>
          <p:cNvPr id="20" name="Retângulo 19"/>
          <p:cNvSpPr/>
          <p:nvPr/>
        </p:nvSpPr>
        <p:spPr>
          <a:xfrm>
            <a:off x="8997272" y="4910363"/>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2.483,08</a:t>
            </a:r>
          </a:p>
        </p:txBody>
      </p:sp>
      <p:sp>
        <p:nvSpPr>
          <p:cNvPr id="21" name="Retângulo 20"/>
          <p:cNvSpPr/>
          <p:nvPr/>
        </p:nvSpPr>
        <p:spPr>
          <a:xfrm>
            <a:off x="7890204" y="4910363"/>
            <a:ext cx="899605" cy="338554"/>
          </a:xfrm>
          <a:prstGeom prst="rect">
            <a:avLst/>
          </a:prstGeom>
        </p:spPr>
        <p:txBody>
          <a:bodyPr wrap="none" anchor="ctr">
            <a:spAutoFit/>
          </a:bodyPr>
          <a:lstStyle/>
          <a:p>
            <a:r>
              <a:rPr lang="pt-BR" sz="1600" dirty="0">
                <a:solidFill>
                  <a:schemeClr val="dk1"/>
                </a:solidFill>
                <a:latin typeface="Lucida Sans Unicode" panose="020B0602030504020204" pitchFamily="34" charset="0"/>
                <a:cs typeface="Lucida Sans Unicode" panose="020B0602030504020204" pitchFamily="34" charset="0"/>
              </a:rPr>
              <a:t>923,08</a:t>
            </a:r>
            <a:endParaRPr lang="pt-BR" sz="1600" dirty="0"/>
          </a:p>
        </p:txBody>
      </p:sp>
      <p:sp>
        <p:nvSpPr>
          <p:cNvPr id="22" name="Retângulo 21"/>
          <p:cNvSpPr/>
          <p:nvPr/>
        </p:nvSpPr>
        <p:spPr>
          <a:xfrm>
            <a:off x="6456354" y="4913298"/>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1.560,00</a:t>
            </a:r>
          </a:p>
        </p:txBody>
      </p:sp>
      <p:sp>
        <p:nvSpPr>
          <p:cNvPr id="23" name="Retângulo 22"/>
          <p:cNvSpPr/>
          <p:nvPr/>
        </p:nvSpPr>
        <p:spPr>
          <a:xfrm>
            <a:off x="6456354" y="5282524"/>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1.620,00</a:t>
            </a:r>
          </a:p>
        </p:txBody>
      </p:sp>
      <p:sp>
        <p:nvSpPr>
          <p:cNvPr id="24" name="Retângulo 23"/>
          <p:cNvSpPr/>
          <p:nvPr/>
        </p:nvSpPr>
        <p:spPr>
          <a:xfrm>
            <a:off x="7890204" y="5279002"/>
            <a:ext cx="899605"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888,89</a:t>
            </a:r>
          </a:p>
        </p:txBody>
      </p:sp>
      <p:sp>
        <p:nvSpPr>
          <p:cNvPr id="25" name="Retângulo 24"/>
          <p:cNvSpPr/>
          <p:nvPr/>
        </p:nvSpPr>
        <p:spPr>
          <a:xfrm>
            <a:off x="8997272" y="5279002"/>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2.508,89</a:t>
            </a:r>
          </a:p>
        </p:txBody>
      </p:sp>
      <p:sp>
        <p:nvSpPr>
          <p:cNvPr id="26" name="Retângulo 25"/>
          <p:cNvSpPr/>
          <p:nvPr/>
        </p:nvSpPr>
        <p:spPr>
          <a:xfrm>
            <a:off x="6456354" y="5651750"/>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1.680,00</a:t>
            </a:r>
          </a:p>
        </p:txBody>
      </p:sp>
      <p:sp>
        <p:nvSpPr>
          <p:cNvPr id="27" name="Retângulo 26"/>
          <p:cNvSpPr/>
          <p:nvPr/>
        </p:nvSpPr>
        <p:spPr>
          <a:xfrm>
            <a:off x="7890204" y="5647641"/>
            <a:ext cx="899605"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857,14</a:t>
            </a:r>
          </a:p>
        </p:txBody>
      </p:sp>
      <p:sp>
        <p:nvSpPr>
          <p:cNvPr id="29" name="Retângulo 28"/>
          <p:cNvSpPr/>
          <p:nvPr/>
        </p:nvSpPr>
        <p:spPr>
          <a:xfrm>
            <a:off x="8997272" y="5647641"/>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2.537,14</a:t>
            </a:r>
          </a:p>
        </p:txBody>
      </p:sp>
      <p:sp>
        <p:nvSpPr>
          <p:cNvPr id="30" name="Retângulo 29"/>
          <p:cNvSpPr/>
          <p:nvPr/>
        </p:nvSpPr>
        <p:spPr>
          <a:xfrm>
            <a:off x="6456354" y="6020976"/>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1.800,00</a:t>
            </a:r>
          </a:p>
        </p:txBody>
      </p:sp>
      <p:sp>
        <p:nvSpPr>
          <p:cNvPr id="31" name="Retângulo 30"/>
          <p:cNvSpPr/>
          <p:nvPr/>
        </p:nvSpPr>
        <p:spPr>
          <a:xfrm>
            <a:off x="7890204" y="6016280"/>
            <a:ext cx="899605"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800,00</a:t>
            </a:r>
          </a:p>
        </p:txBody>
      </p:sp>
      <p:sp>
        <p:nvSpPr>
          <p:cNvPr id="32" name="Retângulo 31"/>
          <p:cNvSpPr/>
          <p:nvPr/>
        </p:nvSpPr>
        <p:spPr>
          <a:xfrm>
            <a:off x="8997272" y="6016280"/>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2.600,00</a:t>
            </a:r>
          </a:p>
        </p:txBody>
      </p:sp>
      <p:sp>
        <p:nvSpPr>
          <p:cNvPr id="33" name="Retângulo 32"/>
          <p:cNvSpPr/>
          <p:nvPr/>
        </p:nvSpPr>
        <p:spPr>
          <a:xfrm>
            <a:off x="6456354" y="3794395"/>
            <a:ext cx="1095172" cy="338554"/>
          </a:xfrm>
          <a:prstGeom prst="rect">
            <a:avLst/>
          </a:prstGeom>
        </p:spPr>
        <p:txBody>
          <a:bodyPr wrap="none" anchor="ctr">
            <a:spAutoFit/>
          </a:bodyPr>
          <a:lstStyle/>
          <a:p>
            <a:r>
              <a:rPr lang="pt-BR" sz="1600" dirty="0">
                <a:solidFill>
                  <a:schemeClr val="dk1"/>
                </a:solidFill>
                <a:latin typeface="Lucida Sans Unicode" panose="020B0602030504020204" pitchFamily="34" charset="0"/>
                <a:cs typeface="Lucida Sans Unicode" panose="020B0602030504020204" pitchFamily="34" charset="0"/>
              </a:rPr>
              <a:t>1.200,00</a:t>
            </a:r>
            <a:endParaRPr lang="pt-BR" sz="1600" dirty="0"/>
          </a:p>
        </p:txBody>
      </p:sp>
      <p:sp>
        <p:nvSpPr>
          <p:cNvPr id="34" name="Retângulo 33"/>
          <p:cNvSpPr/>
          <p:nvPr/>
        </p:nvSpPr>
        <p:spPr>
          <a:xfrm>
            <a:off x="7694637" y="3803859"/>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1.200,00</a:t>
            </a:r>
          </a:p>
        </p:txBody>
      </p:sp>
      <p:sp>
        <p:nvSpPr>
          <p:cNvPr id="35" name="Retângulo 34"/>
          <p:cNvSpPr/>
          <p:nvPr/>
        </p:nvSpPr>
        <p:spPr>
          <a:xfrm>
            <a:off x="8997272" y="3818607"/>
            <a:ext cx="1095172" cy="338554"/>
          </a:xfrm>
          <a:prstGeom prst="rect">
            <a:avLst/>
          </a:prstGeom>
        </p:spPr>
        <p:txBody>
          <a:bodyPr wrap="none" anchor="ctr">
            <a:spAutoFit/>
          </a:bodyPr>
          <a:lstStyle/>
          <a:p>
            <a:pPr algn="r" fontAlgn="b"/>
            <a:r>
              <a:rPr lang="pt-BR" sz="1600" dirty="0">
                <a:solidFill>
                  <a:schemeClr val="dk1"/>
                </a:solidFill>
                <a:latin typeface="Lucida Sans Unicode" panose="020B0602030504020204" pitchFamily="34" charset="0"/>
                <a:cs typeface="Lucida Sans Unicode" panose="020B0602030504020204" pitchFamily="34" charset="0"/>
              </a:rPr>
              <a:t>2.400,00</a:t>
            </a:r>
          </a:p>
        </p:txBody>
      </p:sp>
    </p:spTree>
    <p:extLst>
      <p:ext uri="{BB962C8B-B14F-4D97-AF65-F5344CB8AC3E}">
        <p14:creationId xmlns:p14="http://schemas.microsoft.com/office/powerpoint/2010/main" val="299279097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fade">
                                      <p:cBhvr>
                                        <p:cTn id="7" dur="1000"/>
                                        <p:tgtEl>
                                          <p:spTgt spid="52"/>
                                        </p:tgtEl>
                                      </p:cBhvr>
                                    </p:animEffect>
                                    <p:anim calcmode="lin" valueType="num">
                                      <p:cBhvr>
                                        <p:cTn id="8" dur="1000" fill="hold"/>
                                        <p:tgtEl>
                                          <p:spTgt spid="52"/>
                                        </p:tgtEl>
                                        <p:attrNameLst>
                                          <p:attrName>ppt_x</p:attrName>
                                        </p:attrNameLst>
                                      </p:cBhvr>
                                      <p:tavLst>
                                        <p:tav tm="0">
                                          <p:val>
                                            <p:strVal val="#ppt_x"/>
                                          </p:val>
                                        </p:tav>
                                        <p:tav tm="100000">
                                          <p:val>
                                            <p:strVal val="#ppt_x"/>
                                          </p:val>
                                        </p:tav>
                                      </p:tavLst>
                                    </p:anim>
                                    <p:anim calcmode="lin" valueType="num">
                                      <p:cBhvr>
                                        <p:cTn id="9" dur="1000" fill="hold"/>
                                        <p:tgtEl>
                                          <p:spTgt spid="5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42" fill="hold" grpId="0" nodeType="after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arn(out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fill="hold" nodeType="clickEffect">
                                  <p:stCondLst>
                                    <p:cond delay="0"/>
                                  </p:stCondLst>
                                  <p:childTnLst>
                                    <p:set>
                                      <p:cBhvr additive="repl">
                                        <p:cTn id="17" dur="1" fill="hold">
                                          <p:stCondLst>
                                            <p:cond delay="0"/>
                                          </p:stCondLst>
                                        </p:cTn>
                                        <p:tgtEl>
                                          <p:spTgt spid="53">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fill="hold" nodeType="clickEffect">
                                  <p:stCondLst>
                                    <p:cond delay="0"/>
                                  </p:stCondLst>
                                  <p:childTnLst>
                                    <p:set>
                                      <p:cBhvr additive="repl">
                                        <p:cTn id="21" dur="1" fill="hold">
                                          <p:stCondLst>
                                            <p:cond delay="0"/>
                                          </p:stCondLst>
                                        </p:cTn>
                                        <p:tgtEl>
                                          <p:spTgt spid="49">
                                            <p:txEl>
                                              <p:pRg st="0" end="0"/>
                                            </p:txEl>
                                          </p:spTgt>
                                        </p:tgtEl>
                                        <p:attrNameLst>
                                          <p:attrName>style.visibility</p:attrName>
                                        </p:attrNameLst>
                                      </p:cBhvr>
                                      <p:to>
                                        <p:strVal val="visible"/>
                                      </p:to>
                                    </p:set>
                                  </p:childTnLst>
                                </p:cTn>
                              </p:par>
                            </p:childTnLst>
                          </p:cTn>
                        </p:par>
                        <p:par>
                          <p:cTn id="22" fill="hold">
                            <p:stCondLst>
                              <p:cond delay="500"/>
                            </p:stCondLst>
                            <p:childTnLst>
                              <p:par>
                                <p:cTn id="23" presetID="1" presetClass="entr" fill="hold" grpId="0" nodeType="afterEffect">
                                  <p:stCondLst>
                                    <p:cond delay="0"/>
                                  </p:stCondLst>
                                  <p:childTnLst>
                                    <p:set>
                                      <p:cBhvr additive="repl">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up)">
                                      <p:cBhvr>
                                        <p:cTn id="29" dur="5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1000"/>
                                        <p:tgtEl>
                                          <p:spTgt spid="4"/>
                                        </p:tgtEl>
                                      </p:cBhvr>
                                    </p:animEffect>
                                    <p:anim calcmode="lin" valueType="num">
                                      <p:cBhvr>
                                        <p:cTn id="35" dur="1000" fill="hold"/>
                                        <p:tgtEl>
                                          <p:spTgt spid="4"/>
                                        </p:tgtEl>
                                        <p:attrNameLst>
                                          <p:attrName>ppt_x</p:attrName>
                                        </p:attrNameLst>
                                      </p:cBhvr>
                                      <p:tavLst>
                                        <p:tav tm="0">
                                          <p:val>
                                            <p:strVal val="#ppt_x"/>
                                          </p:val>
                                        </p:tav>
                                        <p:tav tm="100000">
                                          <p:val>
                                            <p:strVal val="#ppt_x"/>
                                          </p:val>
                                        </p:tav>
                                      </p:tavLst>
                                    </p:anim>
                                    <p:anim calcmode="lin" valueType="num">
                                      <p:cBhvr>
                                        <p:cTn id="3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1000"/>
                                        <p:tgtEl>
                                          <p:spTgt spid="6"/>
                                        </p:tgtEl>
                                      </p:cBhvr>
                                    </p:animEffect>
                                    <p:anim calcmode="lin" valueType="num">
                                      <p:cBhvr>
                                        <p:cTn id="42" dur="1000" fill="hold"/>
                                        <p:tgtEl>
                                          <p:spTgt spid="6"/>
                                        </p:tgtEl>
                                        <p:attrNameLst>
                                          <p:attrName>ppt_x</p:attrName>
                                        </p:attrNameLst>
                                      </p:cBhvr>
                                      <p:tavLst>
                                        <p:tav tm="0">
                                          <p:val>
                                            <p:strVal val="#ppt_x"/>
                                          </p:val>
                                        </p:tav>
                                        <p:tav tm="100000">
                                          <p:val>
                                            <p:strVal val="#ppt_x"/>
                                          </p:val>
                                        </p:tav>
                                      </p:tavLst>
                                    </p:anim>
                                    <p:anim calcmode="lin" valueType="num">
                                      <p:cBhvr>
                                        <p:cTn id="4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1000"/>
                                        <p:tgtEl>
                                          <p:spTgt spid="5"/>
                                        </p:tgtEl>
                                      </p:cBhvr>
                                    </p:animEffect>
                                    <p:anim calcmode="lin" valueType="num">
                                      <p:cBhvr>
                                        <p:cTn id="49" dur="1000" fill="hold"/>
                                        <p:tgtEl>
                                          <p:spTgt spid="5"/>
                                        </p:tgtEl>
                                        <p:attrNameLst>
                                          <p:attrName>ppt_x</p:attrName>
                                        </p:attrNameLst>
                                      </p:cBhvr>
                                      <p:tavLst>
                                        <p:tav tm="0">
                                          <p:val>
                                            <p:strVal val="#ppt_x"/>
                                          </p:val>
                                        </p:tav>
                                        <p:tav tm="100000">
                                          <p:val>
                                            <p:strVal val="#ppt_x"/>
                                          </p:val>
                                        </p:tav>
                                      </p:tavLst>
                                    </p:anim>
                                    <p:anim calcmode="lin" valueType="num">
                                      <p:cBhvr>
                                        <p:cTn id="5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7"/>
                                        </p:tgtEl>
                                        <p:attrNameLst>
                                          <p:attrName>style.visibility</p:attrName>
                                        </p:attrNameLst>
                                      </p:cBhvr>
                                      <p:to>
                                        <p:strVal val="visible"/>
                                      </p:to>
                                    </p:set>
                                    <p:animEffect transition="in" filter="fade">
                                      <p:cBhvr>
                                        <p:cTn id="55" dur="1000"/>
                                        <p:tgtEl>
                                          <p:spTgt spid="7"/>
                                        </p:tgtEl>
                                      </p:cBhvr>
                                    </p:animEffect>
                                    <p:anim calcmode="lin" valueType="num">
                                      <p:cBhvr>
                                        <p:cTn id="56" dur="1000" fill="hold"/>
                                        <p:tgtEl>
                                          <p:spTgt spid="7"/>
                                        </p:tgtEl>
                                        <p:attrNameLst>
                                          <p:attrName>ppt_x</p:attrName>
                                        </p:attrNameLst>
                                      </p:cBhvr>
                                      <p:tavLst>
                                        <p:tav tm="0">
                                          <p:val>
                                            <p:strVal val="#ppt_x"/>
                                          </p:val>
                                        </p:tav>
                                        <p:tav tm="100000">
                                          <p:val>
                                            <p:strVal val="#ppt_x"/>
                                          </p:val>
                                        </p:tav>
                                      </p:tavLst>
                                    </p:anim>
                                    <p:anim calcmode="lin" valueType="num">
                                      <p:cBhvr>
                                        <p:cTn id="5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8"/>
                                        </p:tgtEl>
                                        <p:attrNameLst>
                                          <p:attrName>style.visibility</p:attrName>
                                        </p:attrNameLst>
                                      </p:cBhvr>
                                      <p:to>
                                        <p:strVal val="visible"/>
                                      </p:to>
                                    </p:set>
                                    <p:animEffect transition="in" filter="fade">
                                      <p:cBhvr>
                                        <p:cTn id="62" dur="1000"/>
                                        <p:tgtEl>
                                          <p:spTgt spid="8"/>
                                        </p:tgtEl>
                                      </p:cBhvr>
                                    </p:animEffect>
                                    <p:anim calcmode="lin" valueType="num">
                                      <p:cBhvr>
                                        <p:cTn id="63" dur="1000" fill="hold"/>
                                        <p:tgtEl>
                                          <p:spTgt spid="8"/>
                                        </p:tgtEl>
                                        <p:attrNameLst>
                                          <p:attrName>ppt_x</p:attrName>
                                        </p:attrNameLst>
                                      </p:cBhvr>
                                      <p:tavLst>
                                        <p:tav tm="0">
                                          <p:val>
                                            <p:strVal val="#ppt_x"/>
                                          </p:val>
                                        </p:tav>
                                        <p:tav tm="100000">
                                          <p:val>
                                            <p:strVal val="#ppt_x"/>
                                          </p:val>
                                        </p:tav>
                                      </p:tavLst>
                                    </p:anim>
                                    <p:anim calcmode="lin" valueType="num">
                                      <p:cBhvr>
                                        <p:cTn id="6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fade">
                                      <p:cBhvr>
                                        <p:cTn id="69" dur="1000"/>
                                        <p:tgtEl>
                                          <p:spTgt spid="9"/>
                                        </p:tgtEl>
                                      </p:cBhvr>
                                    </p:animEffect>
                                    <p:anim calcmode="lin" valueType="num">
                                      <p:cBhvr>
                                        <p:cTn id="70" dur="1000" fill="hold"/>
                                        <p:tgtEl>
                                          <p:spTgt spid="9"/>
                                        </p:tgtEl>
                                        <p:attrNameLst>
                                          <p:attrName>ppt_x</p:attrName>
                                        </p:attrNameLst>
                                      </p:cBhvr>
                                      <p:tavLst>
                                        <p:tav tm="0">
                                          <p:val>
                                            <p:strVal val="#ppt_x"/>
                                          </p:val>
                                        </p:tav>
                                        <p:tav tm="100000">
                                          <p:val>
                                            <p:strVal val="#ppt_x"/>
                                          </p:val>
                                        </p:tav>
                                      </p:tavLst>
                                    </p:anim>
                                    <p:anim calcmode="lin" valueType="num">
                                      <p:cBhvr>
                                        <p:cTn id="7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10"/>
                                        </p:tgtEl>
                                        <p:attrNameLst>
                                          <p:attrName>style.visibility</p:attrName>
                                        </p:attrNameLst>
                                      </p:cBhvr>
                                      <p:to>
                                        <p:strVal val="visible"/>
                                      </p:to>
                                    </p:set>
                                    <p:animEffect transition="in" filter="fade">
                                      <p:cBhvr>
                                        <p:cTn id="76" dur="1000"/>
                                        <p:tgtEl>
                                          <p:spTgt spid="10"/>
                                        </p:tgtEl>
                                      </p:cBhvr>
                                    </p:animEffect>
                                    <p:anim calcmode="lin" valueType="num">
                                      <p:cBhvr>
                                        <p:cTn id="77" dur="1000" fill="hold"/>
                                        <p:tgtEl>
                                          <p:spTgt spid="10"/>
                                        </p:tgtEl>
                                        <p:attrNameLst>
                                          <p:attrName>ppt_x</p:attrName>
                                        </p:attrNameLst>
                                      </p:cBhvr>
                                      <p:tavLst>
                                        <p:tav tm="0">
                                          <p:val>
                                            <p:strVal val="#ppt_x"/>
                                          </p:val>
                                        </p:tav>
                                        <p:tav tm="100000">
                                          <p:val>
                                            <p:strVal val="#ppt_x"/>
                                          </p:val>
                                        </p:tav>
                                      </p:tavLst>
                                    </p:anim>
                                    <p:anim calcmode="lin" valueType="num">
                                      <p:cBhvr>
                                        <p:cTn id="7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11"/>
                                        </p:tgtEl>
                                        <p:attrNameLst>
                                          <p:attrName>style.visibility</p:attrName>
                                        </p:attrNameLst>
                                      </p:cBhvr>
                                      <p:to>
                                        <p:strVal val="visible"/>
                                      </p:to>
                                    </p:set>
                                    <p:animEffect transition="in" filter="fade">
                                      <p:cBhvr>
                                        <p:cTn id="83" dur="1000"/>
                                        <p:tgtEl>
                                          <p:spTgt spid="11"/>
                                        </p:tgtEl>
                                      </p:cBhvr>
                                    </p:animEffect>
                                    <p:anim calcmode="lin" valueType="num">
                                      <p:cBhvr>
                                        <p:cTn id="84" dur="1000" fill="hold"/>
                                        <p:tgtEl>
                                          <p:spTgt spid="11"/>
                                        </p:tgtEl>
                                        <p:attrNameLst>
                                          <p:attrName>ppt_x</p:attrName>
                                        </p:attrNameLst>
                                      </p:cBhvr>
                                      <p:tavLst>
                                        <p:tav tm="0">
                                          <p:val>
                                            <p:strVal val="#ppt_x"/>
                                          </p:val>
                                        </p:tav>
                                        <p:tav tm="100000">
                                          <p:val>
                                            <p:strVal val="#ppt_x"/>
                                          </p:val>
                                        </p:tav>
                                      </p:tavLst>
                                    </p:anim>
                                    <p:anim calcmode="lin" valueType="num">
                                      <p:cBhvr>
                                        <p:cTn id="8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grpId="0" nodeType="clickEffect">
                                  <p:stCondLst>
                                    <p:cond delay="0"/>
                                  </p:stCondLst>
                                  <p:childTnLst>
                                    <p:set>
                                      <p:cBhvr>
                                        <p:cTn id="89" dur="1" fill="hold">
                                          <p:stCondLst>
                                            <p:cond delay="0"/>
                                          </p:stCondLst>
                                        </p:cTn>
                                        <p:tgtEl>
                                          <p:spTgt spid="12"/>
                                        </p:tgtEl>
                                        <p:attrNameLst>
                                          <p:attrName>style.visibility</p:attrName>
                                        </p:attrNameLst>
                                      </p:cBhvr>
                                      <p:to>
                                        <p:strVal val="visible"/>
                                      </p:to>
                                    </p:set>
                                    <p:animEffect transition="in" filter="fade">
                                      <p:cBhvr>
                                        <p:cTn id="90" dur="1000"/>
                                        <p:tgtEl>
                                          <p:spTgt spid="12"/>
                                        </p:tgtEl>
                                      </p:cBhvr>
                                    </p:animEffect>
                                    <p:anim calcmode="lin" valueType="num">
                                      <p:cBhvr>
                                        <p:cTn id="91" dur="1000" fill="hold"/>
                                        <p:tgtEl>
                                          <p:spTgt spid="12"/>
                                        </p:tgtEl>
                                        <p:attrNameLst>
                                          <p:attrName>ppt_x</p:attrName>
                                        </p:attrNameLst>
                                      </p:cBhvr>
                                      <p:tavLst>
                                        <p:tav tm="0">
                                          <p:val>
                                            <p:strVal val="#ppt_x"/>
                                          </p:val>
                                        </p:tav>
                                        <p:tav tm="100000">
                                          <p:val>
                                            <p:strVal val="#ppt_x"/>
                                          </p:val>
                                        </p:tav>
                                      </p:tavLst>
                                    </p:anim>
                                    <p:anim calcmode="lin" valueType="num">
                                      <p:cBhvr>
                                        <p:cTn id="9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33"/>
                                        </p:tgtEl>
                                        <p:attrNameLst>
                                          <p:attrName>style.visibility</p:attrName>
                                        </p:attrNameLst>
                                      </p:cBhvr>
                                      <p:to>
                                        <p:strVal val="visible"/>
                                      </p:to>
                                    </p:set>
                                    <p:animEffect transition="in" filter="fade">
                                      <p:cBhvr>
                                        <p:cTn id="97" dur="1000"/>
                                        <p:tgtEl>
                                          <p:spTgt spid="33"/>
                                        </p:tgtEl>
                                      </p:cBhvr>
                                    </p:animEffect>
                                    <p:anim calcmode="lin" valueType="num">
                                      <p:cBhvr>
                                        <p:cTn id="98" dur="1000" fill="hold"/>
                                        <p:tgtEl>
                                          <p:spTgt spid="33"/>
                                        </p:tgtEl>
                                        <p:attrNameLst>
                                          <p:attrName>ppt_x</p:attrName>
                                        </p:attrNameLst>
                                      </p:cBhvr>
                                      <p:tavLst>
                                        <p:tav tm="0">
                                          <p:val>
                                            <p:strVal val="#ppt_x"/>
                                          </p:val>
                                        </p:tav>
                                        <p:tav tm="100000">
                                          <p:val>
                                            <p:strVal val="#ppt_x"/>
                                          </p:val>
                                        </p:tav>
                                      </p:tavLst>
                                    </p:anim>
                                    <p:anim calcmode="lin" valueType="num">
                                      <p:cBhvr>
                                        <p:cTn id="9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grpId="0" nodeType="clickEffect">
                                  <p:stCondLst>
                                    <p:cond delay="0"/>
                                  </p:stCondLst>
                                  <p:childTnLst>
                                    <p:set>
                                      <p:cBhvr>
                                        <p:cTn id="103" dur="1" fill="hold">
                                          <p:stCondLst>
                                            <p:cond delay="0"/>
                                          </p:stCondLst>
                                        </p:cTn>
                                        <p:tgtEl>
                                          <p:spTgt spid="34"/>
                                        </p:tgtEl>
                                        <p:attrNameLst>
                                          <p:attrName>style.visibility</p:attrName>
                                        </p:attrNameLst>
                                      </p:cBhvr>
                                      <p:to>
                                        <p:strVal val="visible"/>
                                      </p:to>
                                    </p:set>
                                    <p:animEffect transition="in" filter="fade">
                                      <p:cBhvr>
                                        <p:cTn id="104" dur="1000"/>
                                        <p:tgtEl>
                                          <p:spTgt spid="34"/>
                                        </p:tgtEl>
                                      </p:cBhvr>
                                    </p:animEffect>
                                    <p:anim calcmode="lin" valueType="num">
                                      <p:cBhvr>
                                        <p:cTn id="105" dur="1000" fill="hold"/>
                                        <p:tgtEl>
                                          <p:spTgt spid="34"/>
                                        </p:tgtEl>
                                        <p:attrNameLst>
                                          <p:attrName>ppt_x</p:attrName>
                                        </p:attrNameLst>
                                      </p:cBhvr>
                                      <p:tavLst>
                                        <p:tav tm="0">
                                          <p:val>
                                            <p:strVal val="#ppt_x"/>
                                          </p:val>
                                        </p:tav>
                                        <p:tav tm="100000">
                                          <p:val>
                                            <p:strVal val="#ppt_x"/>
                                          </p:val>
                                        </p:tav>
                                      </p:tavLst>
                                    </p:anim>
                                    <p:anim calcmode="lin" valueType="num">
                                      <p:cBhvr>
                                        <p:cTn id="106"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35"/>
                                        </p:tgtEl>
                                        <p:attrNameLst>
                                          <p:attrName>style.visibility</p:attrName>
                                        </p:attrNameLst>
                                      </p:cBhvr>
                                      <p:to>
                                        <p:strVal val="visible"/>
                                      </p:to>
                                    </p:set>
                                    <p:animEffect transition="in" filter="fade">
                                      <p:cBhvr>
                                        <p:cTn id="111" dur="1000"/>
                                        <p:tgtEl>
                                          <p:spTgt spid="35"/>
                                        </p:tgtEl>
                                      </p:cBhvr>
                                    </p:animEffect>
                                    <p:anim calcmode="lin" valueType="num">
                                      <p:cBhvr>
                                        <p:cTn id="112" dur="1000" fill="hold"/>
                                        <p:tgtEl>
                                          <p:spTgt spid="35"/>
                                        </p:tgtEl>
                                        <p:attrNameLst>
                                          <p:attrName>ppt_x</p:attrName>
                                        </p:attrNameLst>
                                      </p:cBhvr>
                                      <p:tavLst>
                                        <p:tav tm="0">
                                          <p:val>
                                            <p:strVal val="#ppt_x"/>
                                          </p:val>
                                        </p:tav>
                                        <p:tav tm="100000">
                                          <p:val>
                                            <p:strVal val="#ppt_x"/>
                                          </p:val>
                                        </p:tav>
                                      </p:tavLst>
                                    </p:anim>
                                    <p:anim calcmode="lin" valueType="num">
                                      <p:cBhvr>
                                        <p:cTn id="113"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grpId="0" nodeType="clickEffect">
                                  <p:stCondLst>
                                    <p:cond delay="0"/>
                                  </p:stCondLst>
                                  <p:childTnLst>
                                    <p:set>
                                      <p:cBhvr>
                                        <p:cTn id="117" dur="1" fill="hold">
                                          <p:stCondLst>
                                            <p:cond delay="0"/>
                                          </p:stCondLst>
                                        </p:cTn>
                                        <p:tgtEl>
                                          <p:spTgt spid="16"/>
                                        </p:tgtEl>
                                        <p:attrNameLst>
                                          <p:attrName>style.visibility</p:attrName>
                                        </p:attrNameLst>
                                      </p:cBhvr>
                                      <p:to>
                                        <p:strVal val="visible"/>
                                      </p:to>
                                    </p:set>
                                    <p:animEffect transition="in" filter="fade">
                                      <p:cBhvr>
                                        <p:cTn id="118" dur="1000"/>
                                        <p:tgtEl>
                                          <p:spTgt spid="16"/>
                                        </p:tgtEl>
                                      </p:cBhvr>
                                    </p:animEffect>
                                    <p:anim calcmode="lin" valueType="num">
                                      <p:cBhvr>
                                        <p:cTn id="119" dur="1000" fill="hold"/>
                                        <p:tgtEl>
                                          <p:spTgt spid="16"/>
                                        </p:tgtEl>
                                        <p:attrNameLst>
                                          <p:attrName>ppt_x</p:attrName>
                                        </p:attrNameLst>
                                      </p:cBhvr>
                                      <p:tavLst>
                                        <p:tav tm="0">
                                          <p:val>
                                            <p:strVal val="#ppt_x"/>
                                          </p:val>
                                        </p:tav>
                                        <p:tav tm="100000">
                                          <p:val>
                                            <p:strVal val="#ppt_x"/>
                                          </p:val>
                                        </p:tav>
                                      </p:tavLst>
                                    </p:anim>
                                    <p:anim calcmode="lin" valueType="num">
                                      <p:cBhvr>
                                        <p:cTn id="12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21" fill="hold">
                      <p:stCondLst>
                        <p:cond delay="indefinite"/>
                      </p:stCondLst>
                      <p:childTnLst>
                        <p:par>
                          <p:cTn id="122" fill="hold">
                            <p:stCondLst>
                              <p:cond delay="0"/>
                            </p:stCondLst>
                            <p:childTnLst>
                              <p:par>
                                <p:cTn id="123" presetID="42" presetClass="entr" presetSubtype="0" fill="hold" grpId="0" nodeType="clickEffect">
                                  <p:stCondLst>
                                    <p:cond delay="0"/>
                                  </p:stCondLst>
                                  <p:childTnLst>
                                    <p:set>
                                      <p:cBhvr>
                                        <p:cTn id="124" dur="1" fill="hold">
                                          <p:stCondLst>
                                            <p:cond delay="0"/>
                                          </p:stCondLst>
                                        </p:cTn>
                                        <p:tgtEl>
                                          <p:spTgt spid="14"/>
                                        </p:tgtEl>
                                        <p:attrNameLst>
                                          <p:attrName>style.visibility</p:attrName>
                                        </p:attrNameLst>
                                      </p:cBhvr>
                                      <p:to>
                                        <p:strVal val="visible"/>
                                      </p:to>
                                    </p:set>
                                    <p:animEffect transition="in" filter="fade">
                                      <p:cBhvr>
                                        <p:cTn id="125" dur="1000"/>
                                        <p:tgtEl>
                                          <p:spTgt spid="14"/>
                                        </p:tgtEl>
                                      </p:cBhvr>
                                    </p:animEffect>
                                    <p:anim calcmode="lin" valueType="num">
                                      <p:cBhvr>
                                        <p:cTn id="126" dur="1000" fill="hold"/>
                                        <p:tgtEl>
                                          <p:spTgt spid="14"/>
                                        </p:tgtEl>
                                        <p:attrNameLst>
                                          <p:attrName>ppt_x</p:attrName>
                                        </p:attrNameLst>
                                      </p:cBhvr>
                                      <p:tavLst>
                                        <p:tav tm="0">
                                          <p:val>
                                            <p:strVal val="#ppt_x"/>
                                          </p:val>
                                        </p:tav>
                                        <p:tav tm="100000">
                                          <p:val>
                                            <p:strVal val="#ppt_x"/>
                                          </p:val>
                                        </p:tav>
                                      </p:tavLst>
                                    </p:anim>
                                    <p:anim calcmode="lin" valueType="num">
                                      <p:cBhvr>
                                        <p:cTn id="127"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28" fill="hold">
                      <p:stCondLst>
                        <p:cond delay="indefinite"/>
                      </p:stCondLst>
                      <p:childTnLst>
                        <p:par>
                          <p:cTn id="129" fill="hold">
                            <p:stCondLst>
                              <p:cond delay="0"/>
                            </p:stCondLst>
                            <p:childTnLst>
                              <p:par>
                                <p:cTn id="130" presetID="42" presetClass="entr" presetSubtype="0" fill="hold" grpId="0" nodeType="clickEffect">
                                  <p:stCondLst>
                                    <p:cond delay="0"/>
                                  </p:stCondLst>
                                  <p:childTnLst>
                                    <p:set>
                                      <p:cBhvr>
                                        <p:cTn id="131" dur="1" fill="hold">
                                          <p:stCondLst>
                                            <p:cond delay="0"/>
                                          </p:stCondLst>
                                        </p:cTn>
                                        <p:tgtEl>
                                          <p:spTgt spid="13"/>
                                        </p:tgtEl>
                                        <p:attrNameLst>
                                          <p:attrName>style.visibility</p:attrName>
                                        </p:attrNameLst>
                                      </p:cBhvr>
                                      <p:to>
                                        <p:strVal val="visible"/>
                                      </p:to>
                                    </p:set>
                                    <p:animEffect transition="in" filter="fade">
                                      <p:cBhvr>
                                        <p:cTn id="132" dur="1000"/>
                                        <p:tgtEl>
                                          <p:spTgt spid="13"/>
                                        </p:tgtEl>
                                      </p:cBhvr>
                                    </p:animEffect>
                                    <p:anim calcmode="lin" valueType="num">
                                      <p:cBhvr>
                                        <p:cTn id="133" dur="1000" fill="hold"/>
                                        <p:tgtEl>
                                          <p:spTgt spid="13"/>
                                        </p:tgtEl>
                                        <p:attrNameLst>
                                          <p:attrName>ppt_x</p:attrName>
                                        </p:attrNameLst>
                                      </p:cBhvr>
                                      <p:tavLst>
                                        <p:tav tm="0">
                                          <p:val>
                                            <p:strVal val="#ppt_x"/>
                                          </p:val>
                                        </p:tav>
                                        <p:tav tm="100000">
                                          <p:val>
                                            <p:strVal val="#ppt_x"/>
                                          </p:val>
                                        </p:tav>
                                      </p:tavLst>
                                    </p:anim>
                                    <p:anim calcmode="lin" valueType="num">
                                      <p:cBhvr>
                                        <p:cTn id="134"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42" presetClass="entr" presetSubtype="0" fill="hold" grpId="0" nodeType="clickEffect">
                                  <p:stCondLst>
                                    <p:cond delay="0"/>
                                  </p:stCondLst>
                                  <p:childTnLst>
                                    <p:set>
                                      <p:cBhvr>
                                        <p:cTn id="138" dur="1" fill="hold">
                                          <p:stCondLst>
                                            <p:cond delay="0"/>
                                          </p:stCondLst>
                                        </p:cTn>
                                        <p:tgtEl>
                                          <p:spTgt spid="17"/>
                                        </p:tgtEl>
                                        <p:attrNameLst>
                                          <p:attrName>style.visibility</p:attrName>
                                        </p:attrNameLst>
                                      </p:cBhvr>
                                      <p:to>
                                        <p:strVal val="visible"/>
                                      </p:to>
                                    </p:set>
                                    <p:animEffect transition="in" filter="fade">
                                      <p:cBhvr>
                                        <p:cTn id="139" dur="1000"/>
                                        <p:tgtEl>
                                          <p:spTgt spid="17"/>
                                        </p:tgtEl>
                                      </p:cBhvr>
                                    </p:animEffect>
                                    <p:anim calcmode="lin" valueType="num">
                                      <p:cBhvr>
                                        <p:cTn id="140" dur="1000" fill="hold"/>
                                        <p:tgtEl>
                                          <p:spTgt spid="17"/>
                                        </p:tgtEl>
                                        <p:attrNameLst>
                                          <p:attrName>ppt_x</p:attrName>
                                        </p:attrNameLst>
                                      </p:cBhvr>
                                      <p:tavLst>
                                        <p:tav tm="0">
                                          <p:val>
                                            <p:strVal val="#ppt_x"/>
                                          </p:val>
                                        </p:tav>
                                        <p:tav tm="100000">
                                          <p:val>
                                            <p:strVal val="#ppt_x"/>
                                          </p:val>
                                        </p:tav>
                                      </p:tavLst>
                                    </p:anim>
                                    <p:anim calcmode="lin" valueType="num">
                                      <p:cBhvr>
                                        <p:cTn id="14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42" presetClass="entr" presetSubtype="0" fill="hold" grpId="0" nodeType="clickEffect">
                                  <p:stCondLst>
                                    <p:cond delay="0"/>
                                  </p:stCondLst>
                                  <p:childTnLst>
                                    <p:set>
                                      <p:cBhvr>
                                        <p:cTn id="145" dur="1" fill="hold">
                                          <p:stCondLst>
                                            <p:cond delay="0"/>
                                          </p:stCondLst>
                                        </p:cTn>
                                        <p:tgtEl>
                                          <p:spTgt spid="18"/>
                                        </p:tgtEl>
                                        <p:attrNameLst>
                                          <p:attrName>style.visibility</p:attrName>
                                        </p:attrNameLst>
                                      </p:cBhvr>
                                      <p:to>
                                        <p:strVal val="visible"/>
                                      </p:to>
                                    </p:set>
                                    <p:animEffect transition="in" filter="fade">
                                      <p:cBhvr>
                                        <p:cTn id="146" dur="1000"/>
                                        <p:tgtEl>
                                          <p:spTgt spid="18"/>
                                        </p:tgtEl>
                                      </p:cBhvr>
                                    </p:animEffect>
                                    <p:anim calcmode="lin" valueType="num">
                                      <p:cBhvr>
                                        <p:cTn id="147" dur="1000" fill="hold"/>
                                        <p:tgtEl>
                                          <p:spTgt spid="18"/>
                                        </p:tgtEl>
                                        <p:attrNameLst>
                                          <p:attrName>ppt_x</p:attrName>
                                        </p:attrNameLst>
                                      </p:cBhvr>
                                      <p:tavLst>
                                        <p:tav tm="0">
                                          <p:val>
                                            <p:strVal val="#ppt_x"/>
                                          </p:val>
                                        </p:tav>
                                        <p:tav tm="100000">
                                          <p:val>
                                            <p:strVal val="#ppt_x"/>
                                          </p:val>
                                        </p:tav>
                                      </p:tavLst>
                                    </p:anim>
                                    <p:anim calcmode="lin" valueType="num">
                                      <p:cBhvr>
                                        <p:cTn id="148"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49" fill="hold">
                      <p:stCondLst>
                        <p:cond delay="indefinite"/>
                      </p:stCondLst>
                      <p:childTnLst>
                        <p:par>
                          <p:cTn id="150" fill="hold">
                            <p:stCondLst>
                              <p:cond delay="0"/>
                            </p:stCondLst>
                            <p:childTnLst>
                              <p:par>
                                <p:cTn id="151" presetID="42" presetClass="entr" presetSubtype="0" fill="hold" grpId="0" nodeType="clickEffect">
                                  <p:stCondLst>
                                    <p:cond delay="0"/>
                                  </p:stCondLst>
                                  <p:childTnLst>
                                    <p:set>
                                      <p:cBhvr>
                                        <p:cTn id="152" dur="1" fill="hold">
                                          <p:stCondLst>
                                            <p:cond delay="0"/>
                                          </p:stCondLst>
                                        </p:cTn>
                                        <p:tgtEl>
                                          <p:spTgt spid="19"/>
                                        </p:tgtEl>
                                        <p:attrNameLst>
                                          <p:attrName>style.visibility</p:attrName>
                                        </p:attrNameLst>
                                      </p:cBhvr>
                                      <p:to>
                                        <p:strVal val="visible"/>
                                      </p:to>
                                    </p:set>
                                    <p:animEffect transition="in" filter="fade">
                                      <p:cBhvr>
                                        <p:cTn id="153" dur="1000"/>
                                        <p:tgtEl>
                                          <p:spTgt spid="19"/>
                                        </p:tgtEl>
                                      </p:cBhvr>
                                    </p:animEffect>
                                    <p:anim calcmode="lin" valueType="num">
                                      <p:cBhvr>
                                        <p:cTn id="154" dur="1000" fill="hold"/>
                                        <p:tgtEl>
                                          <p:spTgt spid="19"/>
                                        </p:tgtEl>
                                        <p:attrNameLst>
                                          <p:attrName>ppt_x</p:attrName>
                                        </p:attrNameLst>
                                      </p:cBhvr>
                                      <p:tavLst>
                                        <p:tav tm="0">
                                          <p:val>
                                            <p:strVal val="#ppt_x"/>
                                          </p:val>
                                        </p:tav>
                                        <p:tav tm="100000">
                                          <p:val>
                                            <p:strVal val="#ppt_x"/>
                                          </p:val>
                                        </p:tav>
                                      </p:tavLst>
                                    </p:anim>
                                    <p:anim calcmode="lin" valueType="num">
                                      <p:cBhvr>
                                        <p:cTn id="155"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56" fill="hold">
                      <p:stCondLst>
                        <p:cond delay="indefinite"/>
                      </p:stCondLst>
                      <p:childTnLst>
                        <p:par>
                          <p:cTn id="157" fill="hold">
                            <p:stCondLst>
                              <p:cond delay="0"/>
                            </p:stCondLst>
                            <p:childTnLst>
                              <p:par>
                                <p:cTn id="158" presetID="42" presetClass="entr" presetSubtype="0" fill="hold" grpId="0" nodeType="clickEffect">
                                  <p:stCondLst>
                                    <p:cond delay="0"/>
                                  </p:stCondLst>
                                  <p:childTnLst>
                                    <p:set>
                                      <p:cBhvr>
                                        <p:cTn id="159" dur="1" fill="hold">
                                          <p:stCondLst>
                                            <p:cond delay="0"/>
                                          </p:stCondLst>
                                        </p:cTn>
                                        <p:tgtEl>
                                          <p:spTgt spid="22"/>
                                        </p:tgtEl>
                                        <p:attrNameLst>
                                          <p:attrName>style.visibility</p:attrName>
                                        </p:attrNameLst>
                                      </p:cBhvr>
                                      <p:to>
                                        <p:strVal val="visible"/>
                                      </p:to>
                                    </p:set>
                                    <p:animEffect transition="in" filter="fade">
                                      <p:cBhvr>
                                        <p:cTn id="160" dur="1000"/>
                                        <p:tgtEl>
                                          <p:spTgt spid="22"/>
                                        </p:tgtEl>
                                      </p:cBhvr>
                                    </p:animEffect>
                                    <p:anim calcmode="lin" valueType="num">
                                      <p:cBhvr>
                                        <p:cTn id="161" dur="1000" fill="hold"/>
                                        <p:tgtEl>
                                          <p:spTgt spid="22"/>
                                        </p:tgtEl>
                                        <p:attrNameLst>
                                          <p:attrName>ppt_x</p:attrName>
                                        </p:attrNameLst>
                                      </p:cBhvr>
                                      <p:tavLst>
                                        <p:tav tm="0">
                                          <p:val>
                                            <p:strVal val="#ppt_x"/>
                                          </p:val>
                                        </p:tav>
                                        <p:tav tm="100000">
                                          <p:val>
                                            <p:strVal val="#ppt_x"/>
                                          </p:val>
                                        </p:tav>
                                      </p:tavLst>
                                    </p:anim>
                                    <p:anim calcmode="lin" valueType="num">
                                      <p:cBhvr>
                                        <p:cTn id="162"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42" presetClass="entr" presetSubtype="0" fill="hold" grpId="0" nodeType="clickEffect">
                                  <p:stCondLst>
                                    <p:cond delay="0"/>
                                  </p:stCondLst>
                                  <p:childTnLst>
                                    <p:set>
                                      <p:cBhvr>
                                        <p:cTn id="166" dur="1" fill="hold">
                                          <p:stCondLst>
                                            <p:cond delay="0"/>
                                          </p:stCondLst>
                                        </p:cTn>
                                        <p:tgtEl>
                                          <p:spTgt spid="21"/>
                                        </p:tgtEl>
                                        <p:attrNameLst>
                                          <p:attrName>style.visibility</p:attrName>
                                        </p:attrNameLst>
                                      </p:cBhvr>
                                      <p:to>
                                        <p:strVal val="visible"/>
                                      </p:to>
                                    </p:set>
                                    <p:animEffect transition="in" filter="fade">
                                      <p:cBhvr>
                                        <p:cTn id="167" dur="1000"/>
                                        <p:tgtEl>
                                          <p:spTgt spid="21"/>
                                        </p:tgtEl>
                                      </p:cBhvr>
                                    </p:animEffect>
                                    <p:anim calcmode="lin" valueType="num">
                                      <p:cBhvr>
                                        <p:cTn id="168" dur="1000" fill="hold"/>
                                        <p:tgtEl>
                                          <p:spTgt spid="21"/>
                                        </p:tgtEl>
                                        <p:attrNameLst>
                                          <p:attrName>ppt_x</p:attrName>
                                        </p:attrNameLst>
                                      </p:cBhvr>
                                      <p:tavLst>
                                        <p:tav tm="0">
                                          <p:val>
                                            <p:strVal val="#ppt_x"/>
                                          </p:val>
                                        </p:tav>
                                        <p:tav tm="100000">
                                          <p:val>
                                            <p:strVal val="#ppt_x"/>
                                          </p:val>
                                        </p:tav>
                                      </p:tavLst>
                                    </p:anim>
                                    <p:anim calcmode="lin" valueType="num">
                                      <p:cBhvr>
                                        <p:cTn id="16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70" fill="hold">
                      <p:stCondLst>
                        <p:cond delay="indefinite"/>
                      </p:stCondLst>
                      <p:childTnLst>
                        <p:par>
                          <p:cTn id="171" fill="hold">
                            <p:stCondLst>
                              <p:cond delay="0"/>
                            </p:stCondLst>
                            <p:childTnLst>
                              <p:par>
                                <p:cTn id="172" presetID="42" presetClass="entr" presetSubtype="0" fill="hold" grpId="0" nodeType="clickEffect">
                                  <p:stCondLst>
                                    <p:cond delay="0"/>
                                  </p:stCondLst>
                                  <p:childTnLst>
                                    <p:set>
                                      <p:cBhvr>
                                        <p:cTn id="173" dur="1" fill="hold">
                                          <p:stCondLst>
                                            <p:cond delay="0"/>
                                          </p:stCondLst>
                                        </p:cTn>
                                        <p:tgtEl>
                                          <p:spTgt spid="20"/>
                                        </p:tgtEl>
                                        <p:attrNameLst>
                                          <p:attrName>style.visibility</p:attrName>
                                        </p:attrNameLst>
                                      </p:cBhvr>
                                      <p:to>
                                        <p:strVal val="visible"/>
                                      </p:to>
                                    </p:set>
                                    <p:animEffect transition="in" filter="fade">
                                      <p:cBhvr>
                                        <p:cTn id="174" dur="1000"/>
                                        <p:tgtEl>
                                          <p:spTgt spid="20"/>
                                        </p:tgtEl>
                                      </p:cBhvr>
                                    </p:animEffect>
                                    <p:anim calcmode="lin" valueType="num">
                                      <p:cBhvr>
                                        <p:cTn id="175" dur="1000" fill="hold"/>
                                        <p:tgtEl>
                                          <p:spTgt spid="20"/>
                                        </p:tgtEl>
                                        <p:attrNameLst>
                                          <p:attrName>ppt_x</p:attrName>
                                        </p:attrNameLst>
                                      </p:cBhvr>
                                      <p:tavLst>
                                        <p:tav tm="0">
                                          <p:val>
                                            <p:strVal val="#ppt_x"/>
                                          </p:val>
                                        </p:tav>
                                        <p:tav tm="100000">
                                          <p:val>
                                            <p:strVal val="#ppt_x"/>
                                          </p:val>
                                        </p:tav>
                                      </p:tavLst>
                                    </p:anim>
                                    <p:anim calcmode="lin" valueType="num">
                                      <p:cBhvr>
                                        <p:cTn id="17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77" fill="hold">
                      <p:stCondLst>
                        <p:cond delay="indefinite"/>
                      </p:stCondLst>
                      <p:childTnLst>
                        <p:par>
                          <p:cTn id="178" fill="hold">
                            <p:stCondLst>
                              <p:cond delay="0"/>
                            </p:stCondLst>
                            <p:childTnLst>
                              <p:par>
                                <p:cTn id="179" presetID="42" presetClass="entr" presetSubtype="0" fill="hold" grpId="0" nodeType="clickEffect">
                                  <p:stCondLst>
                                    <p:cond delay="0"/>
                                  </p:stCondLst>
                                  <p:childTnLst>
                                    <p:set>
                                      <p:cBhvr>
                                        <p:cTn id="180" dur="1" fill="hold">
                                          <p:stCondLst>
                                            <p:cond delay="0"/>
                                          </p:stCondLst>
                                        </p:cTn>
                                        <p:tgtEl>
                                          <p:spTgt spid="23"/>
                                        </p:tgtEl>
                                        <p:attrNameLst>
                                          <p:attrName>style.visibility</p:attrName>
                                        </p:attrNameLst>
                                      </p:cBhvr>
                                      <p:to>
                                        <p:strVal val="visible"/>
                                      </p:to>
                                    </p:set>
                                    <p:animEffect transition="in" filter="fade">
                                      <p:cBhvr>
                                        <p:cTn id="181" dur="1000"/>
                                        <p:tgtEl>
                                          <p:spTgt spid="23"/>
                                        </p:tgtEl>
                                      </p:cBhvr>
                                    </p:animEffect>
                                    <p:anim calcmode="lin" valueType="num">
                                      <p:cBhvr>
                                        <p:cTn id="182" dur="1000" fill="hold"/>
                                        <p:tgtEl>
                                          <p:spTgt spid="23"/>
                                        </p:tgtEl>
                                        <p:attrNameLst>
                                          <p:attrName>ppt_x</p:attrName>
                                        </p:attrNameLst>
                                      </p:cBhvr>
                                      <p:tavLst>
                                        <p:tav tm="0">
                                          <p:val>
                                            <p:strVal val="#ppt_x"/>
                                          </p:val>
                                        </p:tav>
                                        <p:tav tm="100000">
                                          <p:val>
                                            <p:strVal val="#ppt_x"/>
                                          </p:val>
                                        </p:tav>
                                      </p:tavLst>
                                    </p:anim>
                                    <p:anim calcmode="lin" valueType="num">
                                      <p:cBhvr>
                                        <p:cTn id="183"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184" fill="hold">
                      <p:stCondLst>
                        <p:cond delay="indefinite"/>
                      </p:stCondLst>
                      <p:childTnLst>
                        <p:par>
                          <p:cTn id="185" fill="hold">
                            <p:stCondLst>
                              <p:cond delay="0"/>
                            </p:stCondLst>
                            <p:childTnLst>
                              <p:par>
                                <p:cTn id="186" presetID="42" presetClass="entr" presetSubtype="0" fill="hold" grpId="0" nodeType="clickEffect">
                                  <p:stCondLst>
                                    <p:cond delay="0"/>
                                  </p:stCondLst>
                                  <p:childTnLst>
                                    <p:set>
                                      <p:cBhvr>
                                        <p:cTn id="187" dur="1" fill="hold">
                                          <p:stCondLst>
                                            <p:cond delay="0"/>
                                          </p:stCondLst>
                                        </p:cTn>
                                        <p:tgtEl>
                                          <p:spTgt spid="24"/>
                                        </p:tgtEl>
                                        <p:attrNameLst>
                                          <p:attrName>style.visibility</p:attrName>
                                        </p:attrNameLst>
                                      </p:cBhvr>
                                      <p:to>
                                        <p:strVal val="visible"/>
                                      </p:to>
                                    </p:set>
                                    <p:animEffect transition="in" filter="fade">
                                      <p:cBhvr>
                                        <p:cTn id="188" dur="1000"/>
                                        <p:tgtEl>
                                          <p:spTgt spid="24"/>
                                        </p:tgtEl>
                                      </p:cBhvr>
                                    </p:animEffect>
                                    <p:anim calcmode="lin" valueType="num">
                                      <p:cBhvr>
                                        <p:cTn id="189" dur="1000" fill="hold"/>
                                        <p:tgtEl>
                                          <p:spTgt spid="24"/>
                                        </p:tgtEl>
                                        <p:attrNameLst>
                                          <p:attrName>ppt_x</p:attrName>
                                        </p:attrNameLst>
                                      </p:cBhvr>
                                      <p:tavLst>
                                        <p:tav tm="0">
                                          <p:val>
                                            <p:strVal val="#ppt_x"/>
                                          </p:val>
                                        </p:tav>
                                        <p:tav tm="100000">
                                          <p:val>
                                            <p:strVal val="#ppt_x"/>
                                          </p:val>
                                        </p:tav>
                                      </p:tavLst>
                                    </p:anim>
                                    <p:anim calcmode="lin" valueType="num">
                                      <p:cBhvr>
                                        <p:cTn id="190"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91" fill="hold">
                      <p:stCondLst>
                        <p:cond delay="indefinite"/>
                      </p:stCondLst>
                      <p:childTnLst>
                        <p:par>
                          <p:cTn id="192" fill="hold">
                            <p:stCondLst>
                              <p:cond delay="0"/>
                            </p:stCondLst>
                            <p:childTnLst>
                              <p:par>
                                <p:cTn id="193" presetID="42" presetClass="entr" presetSubtype="0" fill="hold" grpId="0" nodeType="clickEffect">
                                  <p:stCondLst>
                                    <p:cond delay="0"/>
                                  </p:stCondLst>
                                  <p:childTnLst>
                                    <p:set>
                                      <p:cBhvr>
                                        <p:cTn id="194" dur="1" fill="hold">
                                          <p:stCondLst>
                                            <p:cond delay="0"/>
                                          </p:stCondLst>
                                        </p:cTn>
                                        <p:tgtEl>
                                          <p:spTgt spid="25"/>
                                        </p:tgtEl>
                                        <p:attrNameLst>
                                          <p:attrName>style.visibility</p:attrName>
                                        </p:attrNameLst>
                                      </p:cBhvr>
                                      <p:to>
                                        <p:strVal val="visible"/>
                                      </p:to>
                                    </p:set>
                                    <p:animEffect transition="in" filter="fade">
                                      <p:cBhvr>
                                        <p:cTn id="195" dur="1000"/>
                                        <p:tgtEl>
                                          <p:spTgt spid="25"/>
                                        </p:tgtEl>
                                      </p:cBhvr>
                                    </p:animEffect>
                                    <p:anim calcmode="lin" valueType="num">
                                      <p:cBhvr>
                                        <p:cTn id="196" dur="1000" fill="hold"/>
                                        <p:tgtEl>
                                          <p:spTgt spid="25"/>
                                        </p:tgtEl>
                                        <p:attrNameLst>
                                          <p:attrName>ppt_x</p:attrName>
                                        </p:attrNameLst>
                                      </p:cBhvr>
                                      <p:tavLst>
                                        <p:tav tm="0">
                                          <p:val>
                                            <p:strVal val="#ppt_x"/>
                                          </p:val>
                                        </p:tav>
                                        <p:tav tm="100000">
                                          <p:val>
                                            <p:strVal val="#ppt_x"/>
                                          </p:val>
                                        </p:tav>
                                      </p:tavLst>
                                    </p:anim>
                                    <p:anim calcmode="lin" valueType="num">
                                      <p:cBhvr>
                                        <p:cTn id="19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42" presetClass="entr" presetSubtype="0" fill="hold" grpId="0" nodeType="clickEffect">
                                  <p:stCondLst>
                                    <p:cond delay="0"/>
                                  </p:stCondLst>
                                  <p:childTnLst>
                                    <p:set>
                                      <p:cBhvr>
                                        <p:cTn id="201" dur="1" fill="hold">
                                          <p:stCondLst>
                                            <p:cond delay="0"/>
                                          </p:stCondLst>
                                        </p:cTn>
                                        <p:tgtEl>
                                          <p:spTgt spid="26"/>
                                        </p:tgtEl>
                                        <p:attrNameLst>
                                          <p:attrName>style.visibility</p:attrName>
                                        </p:attrNameLst>
                                      </p:cBhvr>
                                      <p:to>
                                        <p:strVal val="visible"/>
                                      </p:to>
                                    </p:set>
                                    <p:animEffect transition="in" filter="fade">
                                      <p:cBhvr>
                                        <p:cTn id="202" dur="1000"/>
                                        <p:tgtEl>
                                          <p:spTgt spid="26"/>
                                        </p:tgtEl>
                                      </p:cBhvr>
                                    </p:animEffect>
                                    <p:anim calcmode="lin" valueType="num">
                                      <p:cBhvr>
                                        <p:cTn id="203" dur="1000" fill="hold"/>
                                        <p:tgtEl>
                                          <p:spTgt spid="26"/>
                                        </p:tgtEl>
                                        <p:attrNameLst>
                                          <p:attrName>ppt_x</p:attrName>
                                        </p:attrNameLst>
                                      </p:cBhvr>
                                      <p:tavLst>
                                        <p:tav tm="0">
                                          <p:val>
                                            <p:strVal val="#ppt_x"/>
                                          </p:val>
                                        </p:tav>
                                        <p:tav tm="100000">
                                          <p:val>
                                            <p:strVal val="#ppt_x"/>
                                          </p:val>
                                        </p:tav>
                                      </p:tavLst>
                                    </p:anim>
                                    <p:anim calcmode="lin" valueType="num">
                                      <p:cBhvr>
                                        <p:cTn id="204"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205" fill="hold">
                      <p:stCondLst>
                        <p:cond delay="indefinite"/>
                      </p:stCondLst>
                      <p:childTnLst>
                        <p:par>
                          <p:cTn id="206" fill="hold">
                            <p:stCondLst>
                              <p:cond delay="0"/>
                            </p:stCondLst>
                            <p:childTnLst>
                              <p:par>
                                <p:cTn id="207" presetID="42" presetClass="entr" presetSubtype="0" fill="hold" grpId="0" nodeType="clickEffect">
                                  <p:stCondLst>
                                    <p:cond delay="0"/>
                                  </p:stCondLst>
                                  <p:childTnLst>
                                    <p:set>
                                      <p:cBhvr>
                                        <p:cTn id="208" dur="1" fill="hold">
                                          <p:stCondLst>
                                            <p:cond delay="0"/>
                                          </p:stCondLst>
                                        </p:cTn>
                                        <p:tgtEl>
                                          <p:spTgt spid="27"/>
                                        </p:tgtEl>
                                        <p:attrNameLst>
                                          <p:attrName>style.visibility</p:attrName>
                                        </p:attrNameLst>
                                      </p:cBhvr>
                                      <p:to>
                                        <p:strVal val="visible"/>
                                      </p:to>
                                    </p:set>
                                    <p:animEffect transition="in" filter="fade">
                                      <p:cBhvr>
                                        <p:cTn id="209" dur="1000"/>
                                        <p:tgtEl>
                                          <p:spTgt spid="27"/>
                                        </p:tgtEl>
                                      </p:cBhvr>
                                    </p:animEffect>
                                    <p:anim calcmode="lin" valueType="num">
                                      <p:cBhvr>
                                        <p:cTn id="210" dur="1000" fill="hold"/>
                                        <p:tgtEl>
                                          <p:spTgt spid="27"/>
                                        </p:tgtEl>
                                        <p:attrNameLst>
                                          <p:attrName>ppt_x</p:attrName>
                                        </p:attrNameLst>
                                      </p:cBhvr>
                                      <p:tavLst>
                                        <p:tav tm="0">
                                          <p:val>
                                            <p:strVal val="#ppt_x"/>
                                          </p:val>
                                        </p:tav>
                                        <p:tav tm="100000">
                                          <p:val>
                                            <p:strVal val="#ppt_x"/>
                                          </p:val>
                                        </p:tav>
                                      </p:tavLst>
                                    </p:anim>
                                    <p:anim calcmode="lin" valueType="num">
                                      <p:cBhvr>
                                        <p:cTn id="211"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12" fill="hold">
                      <p:stCondLst>
                        <p:cond delay="indefinite"/>
                      </p:stCondLst>
                      <p:childTnLst>
                        <p:par>
                          <p:cTn id="213" fill="hold">
                            <p:stCondLst>
                              <p:cond delay="0"/>
                            </p:stCondLst>
                            <p:childTnLst>
                              <p:par>
                                <p:cTn id="214" presetID="42" presetClass="entr" presetSubtype="0" fill="hold" grpId="0" nodeType="clickEffect">
                                  <p:stCondLst>
                                    <p:cond delay="0"/>
                                  </p:stCondLst>
                                  <p:childTnLst>
                                    <p:set>
                                      <p:cBhvr>
                                        <p:cTn id="215" dur="1" fill="hold">
                                          <p:stCondLst>
                                            <p:cond delay="0"/>
                                          </p:stCondLst>
                                        </p:cTn>
                                        <p:tgtEl>
                                          <p:spTgt spid="29"/>
                                        </p:tgtEl>
                                        <p:attrNameLst>
                                          <p:attrName>style.visibility</p:attrName>
                                        </p:attrNameLst>
                                      </p:cBhvr>
                                      <p:to>
                                        <p:strVal val="visible"/>
                                      </p:to>
                                    </p:set>
                                    <p:animEffect transition="in" filter="fade">
                                      <p:cBhvr>
                                        <p:cTn id="216" dur="1000"/>
                                        <p:tgtEl>
                                          <p:spTgt spid="29"/>
                                        </p:tgtEl>
                                      </p:cBhvr>
                                    </p:animEffect>
                                    <p:anim calcmode="lin" valueType="num">
                                      <p:cBhvr>
                                        <p:cTn id="217" dur="1000" fill="hold"/>
                                        <p:tgtEl>
                                          <p:spTgt spid="29"/>
                                        </p:tgtEl>
                                        <p:attrNameLst>
                                          <p:attrName>ppt_x</p:attrName>
                                        </p:attrNameLst>
                                      </p:cBhvr>
                                      <p:tavLst>
                                        <p:tav tm="0">
                                          <p:val>
                                            <p:strVal val="#ppt_x"/>
                                          </p:val>
                                        </p:tav>
                                        <p:tav tm="100000">
                                          <p:val>
                                            <p:strVal val="#ppt_x"/>
                                          </p:val>
                                        </p:tav>
                                      </p:tavLst>
                                    </p:anim>
                                    <p:anim calcmode="lin" valueType="num">
                                      <p:cBhvr>
                                        <p:cTn id="218"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219" fill="hold">
                      <p:stCondLst>
                        <p:cond delay="indefinite"/>
                      </p:stCondLst>
                      <p:childTnLst>
                        <p:par>
                          <p:cTn id="220" fill="hold">
                            <p:stCondLst>
                              <p:cond delay="0"/>
                            </p:stCondLst>
                            <p:childTnLst>
                              <p:par>
                                <p:cTn id="221" presetID="42" presetClass="entr" presetSubtype="0" fill="hold" grpId="0" nodeType="clickEffect">
                                  <p:stCondLst>
                                    <p:cond delay="0"/>
                                  </p:stCondLst>
                                  <p:childTnLst>
                                    <p:set>
                                      <p:cBhvr>
                                        <p:cTn id="222" dur="1" fill="hold">
                                          <p:stCondLst>
                                            <p:cond delay="0"/>
                                          </p:stCondLst>
                                        </p:cTn>
                                        <p:tgtEl>
                                          <p:spTgt spid="30"/>
                                        </p:tgtEl>
                                        <p:attrNameLst>
                                          <p:attrName>style.visibility</p:attrName>
                                        </p:attrNameLst>
                                      </p:cBhvr>
                                      <p:to>
                                        <p:strVal val="visible"/>
                                      </p:to>
                                    </p:set>
                                    <p:animEffect transition="in" filter="fade">
                                      <p:cBhvr>
                                        <p:cTn id="223" dur="1000"/>
                                        <p:tgtEl>
                                          <p:spTgt spid="30"/>
                                        </p:tgtEl>
                                      </p:cBhvr>
                                    </p:animEffect>
                                    <p:anim calcmode="lin" valueType="num">
                                      <p:cBhvr>
                                        <p:cTn id="224" dur="1000" fill="hold"/>
                                        <p:tgtEl>
                                          <p:spTgt spid="30"/>
                                        </p:tgtEl>
                                        <p:attrNameLst>
                                          <p:attrName>ppt_x</p:attrName>
                                        </p:attrNameLst>
                                      </p:cBhvr>
                                      <p:tavLst>
                                        <p:tav tm="0">
                                          <p:val>
                                            <p:strVal val="#ppt_x"/>
                                          </p:val>
                                        </p:tav>
                                        <p:tav tm="100000">
                                          <p:val>
                                            <p:strVal val="#ppt_x"/>
                                          </p:val>
                                        </p:tav>
                                      </p:tavLst>
                                    </p:anim>
                                    <p:anim calcmode="lin" valueType="num">
                                      <p:cBhvr>
                                        <p:cTn id="225"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226" fill="hold">
                      <p:stCondLst>
                        <p:cond delay="indefinite"/>
                      </p:stCondLst>
                      <p:childTnLst>
                        <p:par>
                          <p:cTn id="227" fill="hold">
                            <p:stCondLst>
                              <p:cond delay="0"/>
                            </p:stCondLst>
                            <p:childTnLst>
                              <p:par>
                                <p:cTn id="228" presetID="42" presetClass="entr" presetSubtype="0" fill="hold" grpId="0" nodeType="clickEffect">
                                  <p:stCondLst>
                                    <p:cond delay="0"/>
                                  </p:stCondLst>
                                  <p:childTnLst>
                                    <p:set>
                                      <p:cBhvr>
                                        <p:cTn id="229" dur="1" fill="hold">
                                          <p:stCondLst>
                                            <p:cond delay="0"/>
                                          </p:stCondLst>
                                        </p:cTn>
                                        <p:tgtEl>
                                          <p:spTgt spid="31"/>
                                        </p:tgtEl>
                                        <p:attrNameLst>
                                          <p:attrName>style.visibility</p:attrName>
                                        </p:attrNameLst>
                                      </p:cBhvr>
                                      <p:to>
                                        <p:strVal val="visible"/>
                                      </p:to>
                                    </p:set>
                                    <p:animEffect transition="in" filter="fade">
                                      <p:cBhvr>
                                        <p:cTn id="230" dur="1000"/>
                                        <p:tgtEl>
                                          <p:spTgt spid="31"/>
                                        </p:tgtEl>
                                      </p:cBhvr>
                                    </p:animEffect>
                                    <p:anim calcmode="lin" valueType="num">
                                      <p:cBhvr>
                                        <p:cTn id="231" dur="1000" fill="hold"/>
                                        <p:tgtEl>
                                          <p:spTgt spid="31"/>
                                        </p:tgtEl>
                                        <p:attrNameLst>
                                          <p:attrName>ppt_x</p:attrName>
                                        </p:attrNameLst>
                                      </p:cBhvr>
                                      <p:tavLst>
                                        <p:tav tm="0">
                                          <p:val>
                                            <p:strVal val="#ppt_x"/>
                                          </p:val>
                                        </p:tav>
                                        <p:tav tm="100000">
                                          <p:val>
                                            <p:strVal val="#ppt_x"/>
                                          </p:val>
                                        </p:tav>
                                      </p:tavLst>
                                    </p:anim>
                                    <p:anim calcmode="lin" valueType="num">
                                      <p:cBhvr>
                                        <p:cTn id="232"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233" fill="hold">
                      <p:stCondLst>
                        <p:cond delay="indefinite"/>
                      </p:stCondLst>
                      <p:childTnLst>
                        <p:par>
                          <p:cTn id="234" fill="hold">
                            <p:stCondLst>
                              <p:cond delay="0"/>
                            </p:stCondLst>
                            <p:childTnLst>
                              <p:par>
                                <p:cTn id="235" presetID="42" presetClass="entr" presetSubtype="0" fill="hold" grpId="0" nodeType="clickEffect">
                                  <p:stCondLst>
                                    <p:cond delay="0"/>
                                  </p:stCondLst>
                                  <p:childTnLst>
                                    <p:set>
                                      <p:cBhvr>
                                        <p:cTn id="236" dur="1" fill="hold">
                                          <p:stCondLst>
                                            <p:cond delay="0"/>
                                          </p:stCondLst>
                                        </p:cTn>
                                        <p:tgtEl>
                                          <p:spTgt spid="32"/>
                                        </p:tgtEl>
                                        <p:attrNameLst>
                                          <p:attrName>style.visibility</p:attrName>
                                        </p:attrNameLst>
                                      </p:cBhvr>
                                      <p:to>
                                        <p:strVal val="visible"/>
                                      </p:to>
                                    </p:set>
                                    <p:animEffect transition="in" filter="fade">
                                      <p:cBhvr>
                                        <p:cTn id="237" dur="1000"/>
                                        <p:tgtEl>
                                          <p:spTgt spid="32"/>
                                        </p:tgtEl>
                                      </p:cBhvr>
                                    </p:animEffect>
                                    <p:anim calcmode="lin" valueType="num">
                                      <p:cBhvr>
                                        <p:cTn id="238" dur="1000" fill="hold"/>
                                        <p:tgtEl>
                                          <p:spTgt spid="32"/>
                                        </p:tgtEl>
                                        <p:attrNameLst>
                                          <p:attrName>ppt_x</p:attrName>
                                        </p:attrNameLst>
                                      </p:cBhvr>
                                      <p:tavLst>
                                        <p:tav tm="0">
                                          <p:val>
                                            <p:strVal val="#ppt_x"/>
                                          </p:val>
                                        </p:tav>
                                        <p:tav tm="100000">
                                          <p:val>
                                            <p:strVal val="#ppt_x"/>
                                          </p:val>
                                        </p:tav>
                                      </p:tavLst>
                                    </p:anim>
                                    <p:anim calcmode="lin" valueType="num">
                                      <p:cBhvr>
                                        <p:cTn id="23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52" grpId="0"/>
      <p:bldP spid="2" grpId="0"/>
      <p:bldP spid="4" grpId="0"/>
      <p:bldP spid="5" grpId="0"/>
      <p:bldP spid="6" grpId="0"/>
      <p:bldP spid="7" grpId="0"/>
      <p:bldP spid="8" grpId="0"/>
      <p:bldP spid="9" grpId="0"/>
      <p:bldP spid="10" grpId="0"/>
      <p:bldP spid="11" grpId="0"/>
      <p:bldP spid="12" grpId="0"/>
      <p:bldP spid="13" grpId="0"/>
      <p:bldP spid="14" grpId="0"/>
      <p:bldP spid="16" grpId="0"/>
      <p:bldP spid="17" grpId="0"/>
      <p:bldP spid="18" grpId="0"/>
      <p:bldP spid="19" grpId="0"/>
      <p:bldP spid="20" grpId="0"/>
      <p:bldP spid="21" grpId="0"/>
      <p:bldP spid="22" grpId="0"/>
      <p:bldP spid="23" grpId="0"/>
      <p:bldP spid="24" grpId="0"/>
      <p:bldP spid="25" grpId="0"/>
      <p:bldP spid="26" grpId="0"/>
      <p:bldP spid="27" grpId="0"/>
      <p:bldP spid="29" grpId="0"/>
      <p:bldP spid="30" grpId="0"/>
      <p:bldP spid="31" grpId="0"/>
      <p:bldP spid="32" grpId="0"/>
      <p:bldP spid="33" grpId="0"/>
      <p:bldP spid="34" grpId="0"/>
      <p:bldP spid="35"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aixaDeTexto 1"/>
          <p:cNvSpPr txBox="1"/>
          <p:nvPr/>
        </p:nvSpPr>
        <p:spPr>
          <a:xfrm>
            <a:off x="2020213" y="3446118"/>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SISTEMAS DE CONTROLE DE ESTOQUE</a:t>
            </a:r>
          </a:p>
        </p:txBody>
      </p:sp>
      <p:sp>
        <p:nvSpPr>
          <p:cNvPr id="3" name="CaixaDeTexto 2"/>
          <p:cNvSpPr txBox="1"/>
          <p:nvPr/>
        </p:nvSpPr>
        <p:spPr>
          <a:xfrm>
            <a:off x="2020213" y="2562198"/>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ATIVIDADES DE COMPRAS</a:t>
            </a:r>
          </a:p>
        </p:txBody>
      </p:sp>
    </p:spTree>
    <p:extLst>
      <p:ext uri="{BB962C8B-B14F-4D97-AF65-F5344CB8AC3E}">
        <p14:creationId xmlns:p14="http://schemas.microsoft.com/office/powerpoint/2010/main" val="362372097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4026925" y="2855802"/>
            <a:ext cx="5597136" cy="15059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just"/>
            <a:r>
              <a:rPr lang="pt-BR" altLang="pt-BR" b="1" u="sng" dirty="0">
                <a:solidFill>
                  <a:schemeClr val="accent6"/>
                </a:solidFill>
                <a:latin typeface="Lucida Sans Unicode" panose="020B0602030504020204" pitchFamily="34" charset="0"/>
              </a:rPr>
              <a:t>Vilfredo Pareto</a:t>
            </a:r>
            <a:r>
              <a:rPr lang="pt-BR" altLang="pt-BR" b="1" dirty="0">
                <a:solidFill>
                  <a:schemeClr val="accent6"/>
                </a:solidFill>
                <a:latin typeface="Lucida Sans Unicode" panose="020B0602030504020204" pitchFamily="34" charset="0"/>
              </a:rPr>
              <a:t> (1848 – 1923):</a:t>
            </a:r>
          </a:p>
          <a:p>
            <a:pPr algn="just"/>
            <a:endParaRPr lang="pt-BR" altLang="pt-BR" b="1" dirty="0">
              <a:solidFill>
                <a:schemeClr val="accent6"/>
              </a:solidFill>
              <a:latin typeface="Lucida Sans Unicode" panose="020B0602030504020204" pitchFamily="34" charset="0"/>
            </a:endParaRPr>
          </a:p>
          <a:p>
            <a:pPr algn="just"/>
            <a:r>
              <a:rPr lang="pt-BR" altLang="pt-BR" b="1" dirty="0">
                <a:solidFill>
                  <a:schemeClr val="accent6"/>
                </a:solidFill>
                <a:latin typeface="Lucida Sans Unicode" panose="020B0602030504020204" pitchFamily="34" charset="0"/>
              </a:rPr>
              <a:t>1897 - </a:t>
            </a:r>
            <a:r>
              <a:rPr lang="pt-BR" altLang="pt-BR" dirty="0">
                <a:solidFill>
                  <a:schemeClr val="accent6"/>
                </a:solidFill>
                <a:latin typeface="Lucida Sans Unicode" panose="020B0602030504020204" pitchFamily="34" charset="0"/>
              </a:rPr>
              <a:t>Estudo sobre a distribuição de renda.</a:t>
            </a:r>
          </a:p>
          <a:p>
            <a:pPr algn="just"/>
            <a:r>
              <a:rPr lang="pt-BR" altLang="pt-BR" dirty="0">
                <a:solidFill>
                  <a:schemeClr val="accent6"/>
                </a:solidFill>
                <a:latin typeface="Lucida Sans Unicode" panose="020B0602030504020204" pitchFamily="34" charset="0"/>
              </a:rPr>
              <a:t>80% da riqueza nas mãos de 20% da população</a:t>
            </a:r>
          </a:p>
        </p:txBody>
      </p:sp>
      <p:sp>
        <p:nvSpPr>
          <p:cNvPr id="4" name="CaixaDeTexto 3"/>
          <p:cNvSpPr txBox="1"/>
          <p:nvPr/>
        </p:nvSpPr>
        <p:spPr>
          <a:xfrm>
            <a:off x="2139561" y="1676379"/>
            <a:ext cx="7912878" cy="369332"/>
          </a:xfrm>
          <a:prstGeom prst="rect">
            <a:avLst/>
          </a:prstGeom>
          <a:noFill/>
        </p:spPr>
        <p:txBody>
          <a:bodyPr wrap="square" rtlCol="0">
            <a:spAutoFit/>
          </a:bodyPr>
          <a:lstStyle/>
          <a:p>
            <a:pPr algn="ctr"/>
            <a:r>
              <a:rPr lang="pt-BR" b="1" dirty="0">
                <a:solidFill>
                  <a:schemeClr val="accent6"/>
                </a:solidFill>
                <a:latin typeface="Lucida Sans Unicode" panose="020B0602030504020204" pitchFamily="34" charset="0"/>
                <a:cs typeface="Lucida Sans Unicode" panose="020B0602030504020204" pitchFamily="34" charset="0"/>
              </a:rPr>
              <a:t>CURVA ABC</a:t>
            </a:r>
          </a:p>
        </p:txBody>
      </p:sp>
      <p:sp>
        <p:nvSpPr>
          <p:cNvPr id="5" name="CaixaDeTexto 4"/>
          <p:cNvSpPr txBox="1"/>
          <p:nvPr/>
        </p:nvSpPr>
        <p:spPr>
          <a:xfrm>
            <a:off x="2099556" y="299972"/>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ATIVIDADES DE COMPRAS</a:t>
            </a:r>
          </a:p>
        </p:txBody>
      </p:sp>
      <p:sp>
        <p:nvSpPr>
          <p:cNvPr id="6" name="CaixaDeTexto 5"/>
          <p:cNvSpPr txBox="1"/>
          <p:nvPr/>
        </p:nvSpPr>
        <p:spPr>
          <a:xfrm>
            <a:off x="2099556" y="953193"/>
            <a:ext cx="7992888" cy="400110"/>
          </a:xfrm>
          <a:prstGeom prst="rect">
            <a:avLst/>
          </a:prstGeom>
          <a:noFill/>
        </p:spPr>
        <p:txBody>
          <a:bodyPr wrap="square" rtlCol="0">
            <a:spAutoFit/>
          </a:bodyPr>
          <a:lstStyle/>
          <a:p>
            <a:pPr algn="ctr">
              <a:buClrTx/>
              <a:buFontTx/>
              <a:buNone/>
            </a:pPr>
            <a:r>
              <a:rPr lang="pt-BR" sz="2000" b="1" dirty="0">
                <a:solidFill>
                  <a:schemeClr val="accent6"/>
                </a:solidFill>
                <a:latin typeface="Lucida Sans Unicode" panose="020B0602030504020204" pitchFamily="34" charset="0"/>
                <a:cs typeface="Lucida Sans Unicode" panose="020B0602030504020204" pitchFamily="34" charset="0"/>
              </a:rPr>
              <a:t>SISTEMAS DE CONTROLE DE ESTOQUE</a:t>
            </a:r>
            <a:endParaRPr lang="pt-BR" altLang="pt-BR" sz="2000" b="1" dirty="0">
              <a:solidFill>
                <a:schemeClr val="accent6"/>
              </a:solidFill>
              <a:latin typeface="Lucida Sans Unicode" panose="020B0602030504020204" pitchFamily="34" charset="0"/>
            </a:endParaRPr>
          </a:p>
        </p:txBody>
      </p:sp>
      <p:pic>
        <p:nvPicPr>
          <p:cNvPr id="2" name="Image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8319" y="1676379"/>
            <a:ext cx="1704975" cy="2676525"/>
          </a:xfrm>
          <a:prstGeom prst="rect">
            <a:avLst/>
          </a:prstGeom>
        </p:spPr>
      </p:pic>
      <p:sp>
        <p:nvSpPr>
          <p:cNvPr id="3" name="Retângulo 2"/>
          <p:cNvSpPr/>
          <p:nvPr/>
        </p:nvSpPr>
        <p:spPr>
          <a:xfrm>
            <a:off x="3125152" y="4892868"/>
            <a:ext cx="6251257" cy="1477328"/>
          </a:xfrm>
          <a:prstGeom prst="rect">
            <a:avLst/>
          </a:prstGeom>
        </p:spPr>
        <p:txBody>
          <a:bodyPr wrap="square">
            <a:spAutoFit/>
          </a:bodyPr>
          <a:lstStyle/>
          <a:p>
            <a:pPr algn="just"/>
            <a:r>
              <a:rPr lang="pt-BR" altLang="pt-BR" b="1" dirty="0">
                <a:solidFill>
                  <a:schemeClr val="accent6"/>
                </a:solidFill>
                <a:latin typeface="Lucida Sans Unicode" panose="020B0602030504020204" pitchFamily="34" charset="0"/>
              </a:rPr>
              <a:t>J. M. Juran (1904-2008):</a:t>
            </a:r>
          </a:p>
          <a:p>
            <a:pPr algn="just"/>
            <a:endParaRPr lang="pt-BR" altLang="pt-BR" b="1" dirty="0">
              <a:solidFill>
                <a:schemeClr val="accent6"/>
              </a:solidFill>
              <a:latin typeface="Lucida Sans Unicode" panose="020B0602030504020204" pitchFamily="34" charset="0"/>
            </a:endParaRPr>
          </a:p>
          <a:p>
            <a:pPr algn="just"/>
            <a:r>
              <a:rPr lang="pt-BR" altLang="pt-BR" b="1" dirty="0">
                <a:solidFill>
                  <a:schemeClr val="accent6"/>
                </a:solidFill>
                <a:latin typeface="Lucida Sans Unicode" panose="020B0602030504020204" pitchFamily="34" charset="0"/>
              </a:rPr>
              <a:t>1941 - </a:t>
            </a:r>
            <a:r>
              <a:rPr lang="pt-BR" altLang="pt-BR" b="1" u="sng" dirty="0">
                <a:solidFill>
                  <a:schemeClr val="accent6"/>
                </a:solidFill>
                <a:latin typeface="Lucida Sans Unicode" panose="020B0602030504020204" pitchFamily="34" charset="0"/>
              </a:rPr>
              <a:t>Princípio de Pareto</a:t>
            </a:r>
            <a:r>
              <a:rPr lang="pt-BR" altLang="pt-BR" b="1" dirty="0">
                <a:solidFill>
                  <a:schemeClr val="accent6"/>
                </a:solidFill>
                <a:latin typeface="Lucida Sans Unicode" panose="020B0602030504020204" pitchFamily="34" charset="0"/>
              </a:rPr>
              <a:t> </a:t>
            </a:r>
            <a:r>
              <a:rPr lang="pt-BR" altLang="pt-BR" dirty="0">
                <a:solidFill>
                  <a:schemeClr val="accent6"/>
                </a:solidFill>
                <a:latin typeface="Lucida Sans Unicode" panose="020B0602030504020204" pitchFamily="34" charset="0"/>
              </a:rPr>
              <a:t>: Para muitos fenômenos, 80% das consequências são resultado de 20% das causas</a:t>
            </a:r>
          </a:p>
        </p:txBody>
      </p:sp>
      <p:pic>
        <p:nvPicPr>
          <p:cNvPr id="7" name="Imagem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8712" y="3599912"/>
            <a:ext cx="1866900" cy="2447925"/>
          </a:xfrm>
          <a:prstGeom prst="rect">
            <a:avLst/>
          </a:prstGeom>
        </p:spPr>
      </p:pic>
    </p:spTree>
    <p:extLst>
      <p:ext uri="{BB962C8B-B14F-4D97-AF65-F5344CB8AC3E}">
        <p14:creationId xmlns:p14="http://schemas.microsoft.com/office/powerpoint/2010/main" val="101761820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5" fill="hold" nodeType="clickEffect">
                                  <p:stCondLst>
                                    <p:cond delay="0"/>
                                  </p:stCondLst>
                                  <p:childTnLst>
                                    <p:set>
                                      <p:cBhvr additive="repl">
                                        <p:cTn id="13" dur="1" fill="hold">
                                          <p:stCondLst>
                                            <p:cond delay="0"/>
                                          </p:stCondLst>
                                        </p:cTn>
                                        <p:tgtEl>
                                          <p:spTgt spid="11266">
                                            <p:txEl>
                                              <p:pRg st="0" end="0"/>
                                            </p:txEl>
                                          </p:spTgt>
                                        </p:tgtEl>
                                        <p:attrNameLst>
                                          <p:attrName>style.visibility</p:attrName>
                                        </p:attrNameLst>
                                      </p:cBhvr>
                                      <p:to>
                                        <p:strVal val="visible"/>
                                      </p:to>
                                    </p:set>
                                    <p:animEffect transition="in" filter="randombar(vertical)">
                                      <p:cBhvr additive="repl">
                                        <p:cTn id="14" dur="500"/>
                                        <p:tgtEl>
                                          <p:spTgt spid="11266">
                                            <p:txEl>
                                              <p:pRg st="0" end="0"/>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5" fill="hold" nodeType="clickEffect">
                                  <p:stCondLst>
                                    <p:cond delay="0"/>
                                  </p:stCondLst>
                                  <p:childTnLst>
                                    <p:set>
                                      <p:cBhvr additive="repl">
                                        <p:cTn id="21" dur="1" fill="hold">
                                          <p:stCondLst>
                                            <p:cond delay="0"/>
                                          </p:stCondLst>
                                        </p:cTn>
                                        <p:tgtEl>
                                          <p:spTgt spid="11266">
                                            <p:txEl>
                                              <p:pRg st="2" end="2"/>
                                            </p:txEl>
                                          </p:spTgt>
                                        </p:tgtEl>
                                        <p:attrNameLst>
                                          <p:attrName>style.visibility</p:attrName>
                                        </p:attrNameLst>
                                      </p:cBhvr>
                                      <p:to>
                                        <p:strVal val="visible"/>
                                      </p:to>
                                    </p:set>
                                    <p:animEffect transition="in" filter="randombar(vertical)">
                                      <p:cBhvr additive="repl">
                                        <p:cTn id="22" dur="500"/>
                                        <p:tgtEl>
                                          <p:spTgt spid="11266">
                                            <p:txEl>
                                              <p:pRg st="2" end="2"/>
                                            </p:txEl>
                                          </p:spTgt>
                                        </p:tgtEl>
                                      </p:cBhvr>
                                    </p:animEffect>
                                  </p:childTnLst>
                                </p:cTn>
                              </p:par>
                              <p:par>
                                <p:cTn id="23" presetID="14" presetClass="entr" presetSubtype="5" fill="hold" nodeType="withEffect">
                                  <p:stCondLst>
                                    <p:cond delay="0"/>
                                  </p:stCondLst>
                                  <p:childTnLst>
                                    <p:set>
                                      <p:cBhvr additive="repl">
                                        <p:cTn id="24" dur="1" fill="hold">
                                          <p:stCondLst>
                                            <p:cond delay="0"/>
                                          </p:stCondLst>
                                        </p:cTn>
                                        <p:tgtEl>
                                          <p:spTgt spid="11266">
                                            <p:txEl>
                                              <p:pRg st="3" end="3"/>
                                            </p:txEl>
                                          </p:spTgt>
                                        </p:tgtEl>
                                        <p:attrNameLst>
                                          <p:attrName>style.visibility</p:attrName>
                                        </p:attrNameLst>
                                      </p:cBhvr>
                                      <p:to>
                                        <p:strVal val="visible"/>
                                      </p:to>
                                    </p:set>
                                    <p:animEffect transition="in" filter="randombar(vertical)">
                                      <p:cBhvr additive="repl">
                                        <p:cTn id="25" dur="500"/>
                                        <p:tgtEl>
                                          <p:spTgt spid="11266">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3">
                                            <p:txEl>
                                              <p:pRg st="0" end="0"/>
                                            </p:txEl>
                                          </p:spTgt>
                                        </p:tgtEl>
                                        <p:attrNameLst>
                                          <p:attrName>style.visibility</p:attrName>
                                        </p:attrNameLst>
                                      </p:cBhvr>
                                      <p:to>
                                        <p:strVal val="visible"/>
                                      </p:to>
                                    </p:set>
                                    <p:animEffect transition="in" filter="randombar(horizontal)">
                                      <p:cBhvr>
                                        <p:cTn id="30" dur="500"/>
                                        <p:tgtEl>
                                          <p:spTgt spid="3">
                                            <p:txEl>
                                              <p:pRg st="0" end="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3">
                                            <p:txEl>
                                              <p:pRg st="2" end="2"/>
                                            </p:txEl>
                                          </p:spTgt>
                                        </p:tgtEl>
                                        <p:attrNameLst>
                                          <p:attrName>style.visibility</p:attrName>
                                        </p:attrNameLst>
                                      </p:cBhvr>
                                      <p:to>
                                        <p:strVal val="visible"/>
                                      </p:to>
                                    </p:set>
                                    <p:animEffect transition="in" filter="randombar(horizontal)">
                                      <p:cBhvr>
                                        <p:cTn id="38"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876000" y="2279057"/>
            <a:ext cx="10440000" cy="23105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just" eaLnBrk="1" hangingPunct="1">
              <a:buClrTx/>
              <a:buFontTx/>
              <a:buNone/>
            </a:pPr>
            <a:r>
              <a:rPr lang="pt-BR" altLang="pt-BR" dirty="0">
                <a:solidFill>
                  <a:schemeClr val="accent6"/>
                </a:solidFill>
                <a:latin typeface="Lucida Sans Unicode" panose="020B0602030504020204" pitchFamily="34" charset="0"/>
              </a:rPr>
              <a:t>Ferramenta de análise muito usada para definir política de estoques e também para a solução de problemas.</a:t>
            </a:r>
          </a:p>
          <a:p>
            <a:pPr algn="just" eaLnBrk="1" hangingPunct="1">
              <a:buClrTx/>
              <a:buFontTx/>
              <a:buNone/>
            </a:pPr>
            <a:endParaRPr lang="pt-BR" altLang="pt-BR" dirty="0">
              <a:solidFill>
                <a:schemeClr val="accent6"/>
              </a:solidFill>
              <a:latin typeface="Lucida Sans Unicode" panose="020B0602030504020204" pitchFamily="34" charset="0"/>
            </a:endParaRPr>
          </a:p>
          <a:p>
            <a:pPr algn="just" eaLnBrk="1" hangingPunct="1">
              <a:buClrTx/>
              <a:buFontTx/>
              <a:buNone/>
            </a:pPr>
            <a:r>
              <a:rPr lang="pt-BR" altLang="pt-BR" dirty="0">
                <a:solidFill>
                  <a:schemeClr val="accent6"/>
                </a:solidFill>
                <a:latin typeface="Lucida Sans Unicode" panose="020B0602030504020204" pitchFamily="34" charset="0"/>
              </a:rPr>
              <a:t>É possível estabelecer a “Classificação ABC” segundo diferentes critérios , por exemplo:</a:t>
            </a:r>
          </a:p>
          <a:p>
            <a:pPr algn="just" eaLnBrk="1" hangingPunct="1">
              <a:buClrTx/>
              <a:buFontTx/>
              <a:buNone/>
            </a:pPr>
            <a:endParaRPr lang="pt-BR" altLang="pt-BR" dirty="0">
              <a:solidFill>
                <a:schemeClr val="accent6"/>
              </a:solidFill>
              <a:latin typeface="Lucida Sans Unicode" panose="020B0602030504020204" pitchFamily="34" charset="0"/>
            </a:endParaRPr>
          </a:p>
          <a:p>
            <a:pPr algn="just" eaLnBrk="1" hangingPunct="1">
              <a:buClrTx/>
              <a:buFontTx/>
              <a:buNone/>
            </a:pPr>
            <a:r>
              <a:rPr lang="pt-BR" altLang="pt-BR" dirty="0">
                <a:solidFill>
                  <a:schemeClr val="accent6"/>
                </a:solidFill>
                <a:latin typeface="Lucida Sans Unicode" panose="020B0602030504020204" pitchFamily="34" charset="0"/>
              </a:rPr>
              <a:t>Vendas …… quantidade vendida    X     custo unitário</a:t>
            </a:r>
          </a:p>
          <a:p>
            <a:pPr algn="just" eaLnBrk="1" hangingPunct="1">
              <a:buClrTx/>
              <a:buFontTx/>
              <a:buNone/>
            </a:pPr>
            <a:r>
              <a:rPr lang="pt-BR" altLang="pt-BR" dirty="0">
                <a:solidFill>
                  <a:schemeClr val="accent6"/>
                </a:solidFill>
                <a:latin typeface="Lucida Sans Unicode" panose="020B0602030504020204" pitchFamily="34" charset="0"/>
              </a:rPr>
              <a:t>Estoques … quantidade estocada   X     custo unitário</a:t>
            </a:r>
          </a:p>
          <a:p>
            <a:pPr algn="just" eaLnBrk="1" hangingPunct="1">
              <a:buClrTx/>
              <a:buFontTx/>
              <a:buNone/>
            </a:pPr>
            <a:r>
              <a:rPr lang="pt-BR" altLang="pt-BR" dirty="0">
                <a:solidFill>
                  <a:schemeClr val="accent6"/>
                </a:solidFill>
                <a:latin typeface="Lucida Sans Unicode" panose="020B0602030504020204" pitchFamily="34" charset="0"/>
              </a:rPr>
              <a:t>Lucro …….. quantidade vendida     X     lucro unitário</a:t>
            </a:r>
          </a:p>
        </p:txBody>
      </p:sp>
      <p:sp>
        <p:nvSpPr>
          <p:cNvPr id="12291" name="Text Box 3"/>
          <p:cNvSpPr txBox="1">
            <a:spLocks noChangeArrowheads="1"/>
          </p:cNvSpPr>
          <p:nvPr/>
        </p:nvSpPr>
        <p:spPr bwMode="auto">
          <a:xfrm>
            <a:off x="2099556" y="4783380"/>
            <a:ext cx="7993062" cy="147950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just" eaLnBrk="1" hangingPunct="1">
              <a:buFont typeface="Wingdings" panose="05000000000000000000" pitchFamily="2" charset="2"/>
              <a:buNone/>
            </a:pPr>
            <a:r>
              <a:rPr lang="pt-BR" altLang="pt-BR" b="1" dirty="0">
                <a:solidFill>
                  <a:schemeClr val="accent6"/>
                </a:solidFill>
                <a:latin typeface="Lucida Sans Unicode" panose="020B0602030504020204" pitchFamily="34" charset="0"/>
              </a:rPr>
              <a:t>Motivos:</a:t>
            </a:r>
          </a:p>
          <a:p>
            <a:pPr algn="just" eaLnBrk="1" hangingPunct="1">
              <a:buFont typeface="Wingdings" panose="05000000000000000000" pitchFamily="2" charset="2"/>
              <a:buNone/>
            </a:pPr>
            <a:endParaRPr lang="pt-BR" altLang="pt-BR" b="1" dirty="0">
              <a:solidFill>
                <a:schemeClr val="accent6"/>
              </a:solidFill>
              <a:latin typeface="Lucida Sans Unicode" panose="020B0602030504020204" pitchFamily="34" charset="0"/>
            </a:endParaRPr>
          </a:p>
          <a:p>
            <a:pPr marL="285750" indent="-285750" algn="just" eaLnBrk="1" hangingPunct="1">
              <a:buFont typeface="Wingdings" panose="05000000000000000000" pitchFamily="2" charset="2"/>
              <a:buChar char="Ø"/>
            </a:pPr>
            <a:r>
              <a:rPr lang="pt-BR" altLang="pt-BR" b="1" dirty="0">
                <a:solidFill>
                  <a:schemeClr val="accent6"/>
                </a:solidFill>
                <a:latin typeface="Lucida Sans Unicode" panose="020B0602030504020204" pitchFamily="34" charset="0"/>
              </a:rPr>
              <a:t> </a:t>
            </a:r>
            <a:r>
              <a:rPr lang="pt-BR" altLang="pt-BR" dirty="0">
                <a:solidFill>
                  <a:schemeClr val="accent6"/>
                </a:solidFill>
                <a:latin typeface="Lucida Sans Unicode" panose="020B0602030504020204" pitchFamily="34" charset="0"/>
              </a:rPr>
              <a:t>O controle rígido de muitos itens é deficiente e de alto custo;</a:t>
            </a:r>
          </a:p>
          <a:p>
            <a:pPr marL="285750" indent="-285750" algn="just" eaLnBrk="1" hangingPunct="1">
              <a:buFont typeface="Wingdings" panose="05000000000000000000" pitchFamily="2" charset="2"/>
              <a:buChar char="Ø"/>
            </a:pPr>
            <a:endParaRPr lang="pt-BR" altLang="pt-BR" dirty="0">
              <a:solidFill>
                <a:schemeClr val="accent6"/>
              </a:solidFill>
              <a:latin typeface="Lucida Sans Unicode" panose="020B0602030504020204" pitchFamily="34" charset="0"/>
            </a:endParaRPr>
          </a:p>
          <a:p>
            <a:pPr marL="285750" indent="-285750" algn="just" eaLnBrk="1" hangingPunct="1">
              <a:buFont typeface="Wingdings" panose="05000000000000000000" pitchFamily="2" charset="2"/>
              <a:buChar char="Ø"/>
            </a:pPr>
            <a:r>
              <a:rPr lang="pt-BR" altLang="pt-BR" dirty="0">
                <a:solidFill>
                  <a:schemeClr val="accent6"/>
                </a:solidFill>
                <a:latin typeface="Lucida Sans Unicode" panose="020B0602030504020204" pitchFamily="34" charset="0"/>
              </a:rPr>
              <a:t> Possibilidade da atribuição de níveis de serviço diferenciados.</a:t>
            </a:r>
          </a:p>
        </p:txBody>
      </p:sp>
      <p:sp>
        <p:nvSpPr>
          <p:cNvPr id="6" name="CaixaDeTexto 5"/>
          <p:cNvSpPr txBox="1"/>
          <p:nvPr/>
        </p:nvSpPr>
        <p:spPr>
          <a:xfrm>
            <a:off x="2139561" y="1676379"/>
            <a:ext cx="7912878" cy="369332"/>
          </a:xfrm>
          <a:prstGeom prst="rect">
            <a:avLst/>
          </a:prstGeom>
          <a:noFill/>
        </p:spPr>
        <p:txBody>
          <a:bodyPr wrap="square" rtlCol="0">
            <a:spAutoFit/>
          </a:bodyPr>
          <a:lstStyle/>
          <a:p>
            <a:pPr algn="ctr"/>
            <a:r>
              <a:rPr lang="pt-BR" b="1" dirty="0">
                <a:solidFill>
                  <a:schemeClr val="accent6"/>
                </a:solidFill>
                <a:latin typeface="Lucida Sans Unicode" panose="020B0602030504020204" pitchFamily="34" charset="0"/>
                <a:cs typeface="Lucida Sans Unicode" panose="020B0602030504020204" pitchFamily="34" charset="0"/>
              </a:rPr>
              <a:t>CURVA ABC</a:t>
            </a:r>
          </a:p>
        </p:txBody>
      </p:sp>
      <p:sp>
        <p:nvSpPr>
          <p:cNvPr id="8" name="CaixaDeTexto 7"/>
          <p:cNvSpPr txBox="1"/>
          <p:nvPr/>
        </p:nvSpPr>
        <p:spPr>
          <a:xfrm>
            <a:off x="2099556" y="299972"/>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ATIVIDADES DE COMPRAS</a:t>
            </a:r>
          </a:p>
        </p:txBody>
      </p:sp>
      <p:sp>
        <p:nvSpPr>
          <p:cNvPr id="9" name="CaixaDeTexto 8"/>
          <p:cNvSpPr txBox="1"/>
          <p:nvPr/>
        </p:nvSpPr>
        <p:spPr>
          <a:xfrm>
            <a:off x="2099556" y="953193"/>
            <a:ext cx="7992888" cy="400110"/>
          </a:xfrm>
          <a:prstGeom prst="rect">
            <a:avLst/>
          </a:prstGeom>
          <a:noFill/>
        </p:spPr>
        <p:txBody>
          <a:bodyPr wrap="square" rtlCol="0">
            <a:spAutoFit/>
          </a:bodyPr>
          <a:lstStyle/>
          <a:p>
            <a:pPr algn="ctr">
              <a:buClrTx/>
              <a:buFontTx/>
              <a:buNone/>
            </a:pPr>
            <a:r>
              <a:rPr lang="pt-BR" sz="2000" b="1" dirty="0">
                <a:solidFill>
                  <a:schemeClr val="accent6"/>
                </a:solidFill>
                <a:latin typeface="Lucida Sans Unicode" panose="020B0602030504020204" pitchFamily="34" charset="0"/>
                <a:cs typeface="Lucida Sans Unicode" panose="020B0602030504020204" pitchFamily="34" charset="0"/>
              </a:rPr>
              <a:t>SISTEMAS DE CONTROLE DE ESTOQUE</a:t>
            </a:r>
            <a:endParaRPr lang="pt-BR" altLang="pt-BR" sz="2000" b="1" dirty="0">
              <a:solidFill>
                <a:schemeClr val="accent6"/>
              </a:solidFill>
              <a:latin typeface="Lucida Sans Unicode" panose="020B0602030504020204" pitchFamily="34" charset="0"/>
            </a:endParaRPr>
          </a:p>
        </p:txBody>
      </p:sp>
    </p:spTree>
    <p:extLst>
      <p:ext uri="{BB962C8B-B14F-4D97-AF65-F5344CB8AC3E}">
        <p14:creationId xmlns:p14="http://schemas.microsoft.com/office/powerpoint/2010/main" val="3961506370"/>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1" fill="hold" nodeType="clickEffect">
                                  <p:stCondLst>
                                    <p:cond delay="0"/>
                                  </p:stCondLst>
                                  <p:childTnLst>
                                    <p:set>
                                      <p:cBhvr additive="repl">
                                        <p:cTn id="6" dur="1" fill="hold">
                                          <p:stCondLst>
                                            <p:cond delay="0"/>
                                          </p:stCondLst>
                                        </p:cTn>
                                        <p:tgtEl>
                                          <p:spTgt spid="12290">
                                            <p:txEl>
                                              <p:pRg st="0" end="0"/>
                                            </p:txEl>
                                          </p:spTgt>
                                        </p:tgtEl>
                                        <p:attrNameLst>
                                          <p:attrName>style.visibility</p:attrName>
                                        </p:attrNameLst>
                                      </p:cBhvr>
                                      <p:to>
                                        <p:strVal val="visible"/>
                                      </p:to>
                                    </p:set>
                                    <p:animEffect transition="in" filter="slide(fromTop)">
                                      <p:cBhvr additive="repl">
                                        <p:cTn id="7" dur="500"/>
                                        <p:tgtEl>
                                          <p:spTgt spid="1229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1" fill="hold" nodeType="clickEffect">
                                  <p:stCondLst>
                                    <p:cond delay="0"/>
                                  </p:stCondLst>
                                  <p:childTnLst>
                                    <p:set>
                                      <p:cBhvr additive="repl">
                                        <p:cTn id="11" dur="1" fill="hold">
                                          <p:stCondLst>
                                            <p:cond delay="0"/>
                                          </p:stCondLst>
                                        </p:cTn>
                                        <p:tgtEl>
                                          <p:spTgt spid="12290">
                                            <p:txEl>
                                              <p:pRg st="2" end="2"/>
                                            </p:txEl>
                                          </p:spTgt>
                                        </p:tgtEl>
                                        <p:attrNameLst>
                                          <p:attrName>style.visibility</p:attrName>
                                        </p:attrNameLst>
                                      </p:cBhvr>
                                      <p:to>
                                        <p:strVal val="visible"/>
                                      </p:to>
                                    </p:set>
                                    <p:animEffect transition="in" filter="slide(fromTop)">
                                      <p:cBhvr additive="repl">
                                        <p:cTn id="12" dur="500"/>
                                        <p:tgtEl>
                                          <p:spTgt spid="1229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1" fill="hold" nodeType="clickEffect">
                                  <p:stCondLst>
                                    <p:cond delay="0"/>
                                  </p:stCondLst>
                                  <p:childTnLst>
                                    <p:set>
                                      <p:cBhvr additive="repl">
                                        <p:cTn id="16" dur="1" fill="hold">
                                          <p:stCondLst>
                                            <p:cond delay="0"/>
                                          </p:stCondLst>
                                        </p:cTn>
                                        <p:tgtEl>
                                          <p:spTgt spid="12290">
                                            <p:txEl>
                                              <p:pRg st="4" end="4"/>
                                            </p:txEl>
                                          </p:spTgt>
                                        </p:tgtEl>
                                        <p:attrNameLst>
                                          <p:attrName>style.visibility</p:attrName>
                                        </p:attrNameLst>
                                      </p:cBhvr>
                                      <p:to>
                                        <p:strVal val="visible"/>
                                      </p:to>
                                    </p:set>
                                    <p:animEffect transition="in" filter="slide(fromTop)">
                                      <p:cBhvr additive="repl">
                                        <p:cTn id="17" dur="500"/>
                                        <p:tgtEl>
                                          <p:spTgt spid="12290">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1" fill="hold" nodeType="clickEffect">
                                  <p:stCondLst>
                                    <p:cond delay="0"/>
                                  </p:stCondLst>
                                  <p:childTnLst>
                                    <p:set>
                                      <p:cBhvr additive="repl">
                                        <p:cTn id="21" dur="1" fill="hold">
                                          <p:stCondLst>
                                            <p:cond delay="0"/>
                                          </p:stCondLst>
                                        </p:cTn>
                                        <p:tgtEl>
                                          <p:spTgt spid="12290">
                                            <p:txEl>
                                              <p:pRg st="5" end="5"/>
                                            </p:txEl>
                                          </p:spTgt>
                                        </p:tgtEl>
                                        <p:attrNameLst>
                                          <p:attrName>style.visibility</p:attrName>
                                        </p:attrNameLst>
                                      </p:cBhvr>
                                      <p:to>
                                        <p:strVal val="visible"/>
                                      </p:to>
                                    </p:set>
                                    <p:animEffect transition="in" filter="slide(fromTop)">
                                      <p:cBhvr additive="repl">
                                        <p:cTn id="22" dur="500"/>
                                        <p:tgtEl>
                                          <p:spTgt spid="12290">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1" fill="hold" nodeType="clickEffect">
                                  <p:stCondLst>
                                    <p:cond delay="0"/>
                                  </p:stCondLst>
                                  <p:childTnLst>
                                    <p:set>
                                      <p:cBhvr additive="repl">
                                        <p:cTn id="26" dur="1" fill="hold">
                                          <p:stCondLst>
                                            <p:cond delay="0"/>
                                          </p:stCondLst>
                                        </p:cTn>
                                        <p:tgtEl>
                                          <p:spTgt spid="12290">
                                            <p:txEl>
                                              <p:pRg st="6" end="6"/>
                                            </p:txEl>
                                          </p:spTgt>
                                        </p:tgtEl>
                                        <p:attrNameLst>
                                          <p:attrName>style.visibility</p:attrName>
                                        </p:attrNameLst>
                                      </p:cBhvr>
                                      <p:to>
                                        <p:strVal val="visible"/>
                                      </p:to>
                                    </p:set>
                                    <p:animEffect transition="in" filter="slide(fromTop)">
                                      <p:cBhvr additive="repl">
                                        <p:cTn id="27" dur="500"/>
                                        <p:tgtEl>
                                          <p:spTgt spid="12290">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8" fill="hold" nodeType="clickEffect">
                                  <p:stCondLst>
                                    <p:cond delay="0"/>
                                  </p:stCondLst>
                                  <p:childTnLst>
                                    <p:set>
                                      <p:cBhvr additive="repl">
                                        <p:cTn id="31" dur="1" fill="hold">
                                          <p:stCondLst>
                                            <p:cond delay="0"/>
                                          </p:stCondLst>
                                        </p:cTn>
                                        <p:tgtEl>
                                          <p:spTgt spid="12291"/>
                                        </p:tgtEl>
                                        <p:attrNameLst>
                                          <p:attrName>style.visibility</p:attrName>
                                        </p:attrNameLst>
                                      </p:cBhvr>
                                      <p:to>
                                        <p:strVal val="visible"/>
                                      </p:to>
                                    </p:set>
                                    <p:animEffect transition="in" filter="slide(fromLeft)">
                                      <p:cBhvr additive="repl">
                                        <p:cTn id="32" dur="500"/>
                                        <p:tgtEl>
                                          <p:spTgt spid="1229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fill="hold" nodeType="clickEffect">
                                  <p:stCondLst>
                                    <p:cond delay="0"/>
                                  </p:stCondLst>
                                  <p:childTnLst>
                                    <p:set>
                                      <p:cBhvr additive="repl">
                                        <p:cTn id="3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2" presetClass="entr" presetSubtype="8" fill="hold" nodeType="clickEffect">
                                  <p:stCondLst>
                                    <p:cond delay="0"/>
                                  </p:stCondLst>
                                  <p:childTnLst>
                                    <p:set>
                                      <p:cBhvr additive="repl">
                                        <p:cTn id="40" dur="4" fill="hold">
                                          <p:stCondLst>
                                            <p:cond delay="0"/>
                                          </p:stCondLst>
                                        </p:cTn>
                                        <p:tgtEl>
                                          <p:spTgt spid="12291">
                                            <p:txEl>
                                              <p:pRg st="2" end="2"/>
                                            </p:txEl>
                                          </p:spTgt>
                                        </p:tgtEl>
                                        <p:attrNameLst>
                                          <p:attrName>style.visibility</p:attrName>
                                        </p:attrNameLst>
                                      </p:cBhvr>
                                      <p:to>
                                        <p:strVal val="visible"/>
                                      </p:to>
                                    </p:set>
                                    <p:animEffect transition="in" filter="slide(fromLeft)">
                                      <p:cBhvr additive="repl">
                                        <p:cTn id="41" dur="2000"/>
                                        <p:tgtEl>
                                          <p:spTgt spid="12291">
                                            <p:txEl>
                                              <p:pRg st="2" end="2"/>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8" fill="hold" nodeType="clickEffect">
                                  <p:stCondLst>
                                    <p:cond delay="0"/>
                                  </p:stCondLst>
                                  <p:childTnLst>
                                    <p:set>
                                      <p:cBhvr additive="repl">
                                        <p:cTn id="45" dur="4" fill="hold">
                                          <p:stCondLst>
                                            <p:cond delay="0"/>
                                          </p:stCondLst>
                                        </p:cTn>
                                        <p:tgtEl>
                                          <p:spTgt spid="12291">
                                            <p:txEl>
                                              <p:pRg st="4" end="4"/>
                                            </p:txEl>
                                          </p:spTgt>
                                        </p:tgtEl>
                                        <p:attrNameLst>
                                          <p:attrName>style.visibility</p:attrName>
                                        </p:attrNameLst>
                                      </p:cBhvr>
                                      <p:to>
                                        <p:strVal val="visible"/>
                                      </p:to>
                                    </p:set>
                                    <p:animEffect transition="in" filter="slide(fromLeft)">
                                      <p:cBhvr additive="repl">
                                        <p:cTn id="46" dur="2000"/>
                                        <p:tgtEl>
                                          <p:spTgt spid="1229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3" name="Espaço Reservado para Conteúdo 2"/>
          <p:cNvSpPr>
            <a:spLocks noGrp="1"/>
          </p:cNvSpPr>
          <p:nvPr>
            <p:ph sz="quarter" idx="4294967295"/>
          </p:nvPr>
        </p:nvSpPr>
        <p:spPr>
          <a:xfrm>
            <a:off x="0" y="2368550"/>
            <a:ext cx="10439400" cy="3416300"/>
          </a:xfrm>
        </p:spPr>
        <p:txBody>
          <a:bodyPr anchor="ctr">
            <a:normAutofit/>
          </a:bodyPr>
          <a:lstStyle/>
          <a:p>
            <a:pPr marL="0" indent="0" algn="just" eaLnBrk="1" hangingPunct="1">
              <a:lnSpc>
                <a:spcPct val="170000"/>
              </a:lnSpc>
              <a:buFont typeface="Wingdings" panose="05000000000000000000" pitchFamily="2" charset="2"/>
              <a:buNone/>
            </a:pPr>
            <a:r>
              <a:rPr lang="pt-BR" altLang="pt-BR" sz="2000" dirty="0">
                <a:solidFill>
                  <a:schemeClr val="accent6"/>
                </a:solidFill>
                <a:latin typeface="Lucida Sans Unicode" panose="020B0602030504020204" pitchFamily="34" charset="0"/>
                <a:cs typeface="Lucida Sans Unicode" panose="020B0602030504020204" pitchFamily="34" charset="0"/>
              </a:rPr>
              <a:t>Aos itens mais importantes (segundo a ótica do valor, da quantidade, etc.) dá-se a denominação de itens da classe </a:t>
            </a:r>
            <a:r>
              <a:rPr lang="pt-BR" altLang="pt-BR" sz="2000" b="1" dirty="0">
                <a:solidFill>
                  <a:schemeClr val="accent6"/>
                </a:solidFill>
                <a:latin typeface="Lucida Sans Unicode" panose="020B0602030504020204" pitchFamily="34" charset="0"/>
                <a:cs typeface="Lucida Sans Unicode" panose="020B0602030504020204" pitchFamily="34" charset="0"/>
              </a:rPr>
              <a:t>A</a:t>
            </a:r>
            <a:r>
              <a:rPr lang="pt-BR" altLang="pt-BR" sz="2000" dirty="0">
                <a:solidFill>
                  <a:schemeClr val="accent6"/>
                </a:solidFill>
                <a:latin typeface="Lucida Sans Unicode" panose="020B0602030504020204" pitchFamily="34" charset="0"/>
                <a:cs typeface="Lucida Sans Unicode" panose="020B0602030504020204" pitchFamily="34" charset="0"/>
              </a:rPr>
              <a:t>, aos intermediários, da classe </a:t>
            </a:r>
            <a:r>
              <a:rPr lang="pt-BR" altLang="pt-BR" sz="2000" b="1" dirty="0">
                <a:solidFill>
                  <a:schemeClr val="accent6"/>
                </a:solidFill>
                <a:latin typeface="Lucida Sans Unicode" panose="020B0602030504020204" pitchFamily="34" charset="0"/>
                <a:cs typeface="Lucida Sans Unicode" panose="020B0602030504020204" pitchFamily="34" charset="0"/>
              </a:rPr>
              <a:t>B</a:t>
            </a:r>
            <a:r>
              <a:rPr lang="pt-BR" altLang="pt-BR" sz="2000" dirty="0">
                <a:solidFill>
                  <a:schemeClr val="accent6"/>
                </a:solidFill>
                <a:latin typeface="Lucida Sans Unicode" panose="020B0602030504020204" pitchFamily="34" charset="0"/>
                <a:cs typeface="Lucida Sans Unicode" panose="020B0602030504020204" pitchFamily="34" charset="0"/>
              </a:rPr>
              <a:t>, e aos menos importantes, itens da classe </a:t>
            </a:r>
            <a:r>
              <a:rPr lang="pt-BR" altLang="pt-BR" sz="2000" b="1" dirty="0">
                <a:solidFill>
                  <a:schemeClr val="accent6"/>
                </a:solidFill>
                <a:latin typeface="Lucida Sans Unicode" panose="020B0602030504020204" pitchFamily="34" charset="0"/>
                <a:cs typeface="Lucida Sans Unicode" panose="020B0602030504020204" pitchFamily="34" charset="0"/>
              </a:rPr>
              <a:t>C</a:t>
            </a:r>
            <a:r>
              <a:rPr lang="pt-BR" altLang="pt-BR" sz="2000" dirty="0">
                <a:solidFill>
                  <a:schemeClr val="accent6"/>
                </a:solidFill>
                <a:latin typeface="Lucida Sans Unicode" panose="020B0602030504020204" pitchFamily="34" charset="0"/>
                <a:cs typeface="Lucida Sans Unicode" panose="020B0602030504020204" pitchFamily="34" charset="0"/>
              </a:rPr>
              <a:t>. </a:t>
            </a:r>
          </a:p>
          <a:p>
            <a:pPr marL="0" indent="0" algn="just" eaLnBrk="1" hangingPunct="1">
              <a:lnSpc>
                <a:spcPct val="170000"/>
              </a:lnSpc>
              <a:buFont typeface="Wingdings" panose="05000000000000000000" pitchFamily="2" charset="2"/>
              <a:buNone/>
            </a:pPr>
            <a:r>
              <a:rPr lang="pt-BR" altLang="pt-BR" sz="2000" dirty="0">
                <a:solidFill>
                  <a:schemeClr val="accent6"/>
                </a:solidFill>
                <a:latin typeface="Lucida Sans Unicode" panose="020B0602030504020204" pitchFamily="34" charset="0"/>
                <a:cs typeface="Lucida Sans Unicode" panose="020B0602030504020204" pitchFamily="34" charset="0"/>
              </a:rPr>
              <a:t>A experiência demonstra que poucos itens (de 10% a 20% do total) são da classe A, em torno de 30% a 40% são classificados como B, e a classe C representa aproximadamente 50% dos itens estocados.</a:t>
            </a:r>
          </a:p>
        </p:txBody>
      </p:sp>
      <p:sp>
        <p:nvSpPr>
          <p:cNvPr id="5" name="CaixaDeTexto 4"/>
          <p:cNvSpPr txBox="1"/>
          <p:nvPr/>
        </p:nvSpPr>
        <p:spPr>
          <a:xfrm>
            <a:off x="2139561" y="1676379"/>
            <a:ext cx="7912878" cy="369332"/>
          </a:xfrm>
          <a:prstGeom prst="rect">
            <a:avLst/>
          </a:prstGeom>
          <a:noFill/>
        </p:spPr>
        <p:txBody>
          <a:bodyPr wrap="square" rtlCol="0">
            <a:spAutoFit/>
          </a:bodyPr>
          <a:lstStyle/>
          <a:p>
            <a:pPr algn="ctr"/>
            <a:r>
              <a:rPr lang="pt-BR" b="1" dirty="0">
                <a:solidFill>
                  <a:schemeClr val="accent6"/>
                </a:solidFill>
                <a:latin typeface="Lucida Sans Unicode" panose="020B0602030504020204" pitchFamily="34" charset="0"/>
                <a:cs typeface="Lucida Sans Unicode" panose="020B0602030504020204" pitchFamily="34" charset="0"/>
              </a:rPr>
              <a:t>CURVA ABC</a:t>
            </a:r>
          </a:p>
        </p:txBody>
      </p:sp>
      <p:sp>
        <p:nvSpPr>
          <p:cNvPr id="6" name="CaixaDeTexto 5"/>
          <p:cNvSpPr txBox="1"/>
          <p:nvPr/>
        </p:nvSpPr>
        <p:spPr>
          <a:xfrm>
            <a:off x="2099556" y="299972"/>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ATIVIDADES DE COMPRAS</a:t>
            </a:r>
          </a:p>
        </p:txBody>
      </p:sp>
      <p:sp>
        <p:nvSpPr>
          <p:cNvPr id="7" name="CaixaDeTexto 6"/>
          <p:cNvSpPr txBox="1"/>
          <p:nvPr/>
        </p:nvSpPr>
        <p:spPr>
          <a:xfrm>
            <a:off x="2099556" y="953193"/>
            <a:ext cx="7992888" cy="400110"/>
          </a:xfrm>
          <a:prstGeom prst="rect">
            <a:avLst/>
          </a:prstGeom>
          <a:noFill/>
        </p:spPr>
        <p:txBody>
          <a:bodyPr wrap="square" rtlCol="0">
            <a:spAutoFit/>
          </a:bodyPr>
          <a:lstStyle/>
          <a:p>
            <a:pPr algn="ctr">
              <a:buClrTx/>
              <a:buFontTx/>
              <a:buNone/>
            </a:pPr>
            <a:r>
              <a:rPr lang="pt-BR" sz="2000" b="1" dirty="0">
                <a:solidFill>
                  <a:schemeClr val="accent6"/>
                </a:solidFill>
                <a:latin typeface="Lucida Sans Unicode" panose="020B0602030504020204" pitchFamily="34" charset="0"/>
                <a:cs typeface="Lucida Sans Unicode" panose="020B0602030504020204" pitchFamily="34" charset="0"/>
              </a:rPr>
              <a:t>SISTEMAS DE CONTROLE DE ESTOQUE</a:t>
            </a:r>
            <a:endParaRPr lang="pt-BR" altLang="pt-BR" sz="2000" b="1" dirty="0">
              <a:solidFill>
                <a:schemeClr val="accent6"/>
              </a:solidFill>
              <a:latin typeface="Lucida Sans Unicode" panose="020B0602030504020204" pitchFamily="34" charset="0"/>
            </a:endParaRPr>
          </a:p>
        </p:txBody>
      </p:sp>
    </p:spTree>
    <p:extLst>
      <p:ext uri="{BB962C8B-B14F-4D97-AF65-F5344CB8AC3E}">
        <p14:creationId xmlns:p14="http://schemas.microsoft.com/office/powerpoint/2010/main" val="24242411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 calcmode="lin" valueType="num">
                                      <p:cBhvr additive="base">
                                        <p:cTn id="7" dur="5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43">
                                            <p:txEl>
                                              <p:pRg st="1" end="1"/>
                                            </p:txEl>
                                          </p:spTgt>
                                        </p:tgtEl>
                                        <p:attrNameLst>
                                          <p:attrName>style.visibility</p:attrName>
                                        </p:attrNameLst>
                                      </p:cBhvr>
                                      <p:to>
                                        <p:strVal val="visible"/>
                                      </p:to>
                                    </p:set>
                                    <p:anim calcmode="lin" valueType="num">
                                      <p:cBhvr additive="base">
                                        <p:cTn id="13" dur="5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CaixaDeTexto 5"/>
          <p:cNvSpPr txBox="1"/>
          <p:nvPr/>
        </p:nvSpPr>
        <p:spPr>
          <a:xfrm>
            <a:off x="2139561" y="933429"/>
            <a:ext cx="7912878" cy="400110"/>
          </a:xfrm>
          <a:prstGeom prst="rect">
            <a:avLst/>
          </a:prstGeom>
          <a:noFill/>
        </p:spPr>
        <p:txBody>
          <a:bodyPr wrap="square" rtlCol="0">
            <a:spAutoFit/>
          </a:body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CURVA ABC</a:t>
            </a:r>
          </a:p>
        </p:txBody>
      </p:sp>
      <p:sp>
        <p:nvSpPr>
          <p:cNvPr id="7" name="CaixaDeTexto 6"/>
          <p:cNvSpPr txBox="1"/>
          <p:nvPr/>
        </p:nvSpPr>
        <p:spPr>
          <a:xfrm>
            <a:off x="2099556" y="299972"/>
            <a:ext cx="7992888" cy="461665"/>
          </a:xfrm>
          <a:prstGeom prst="rect">
            <a:avLst/>
          </a:prstGeom>
          <a:noFill/>
        </p:spPr>
        <p:txBody>
          <a:bodyPr wrap="square" rtlCol="0">
            <a:spAutoFit/>
          </a:bodyPr>
          <a:lstStyle/>
          <a:p>
            <a:pPr algn="ctr">
              <a:buClrTx/>
              <a:buFontTx/>
              <a:buNone/>
            </a:pPr>
            <a:r>
              <a:rPr lang="pt-BR" sz="2400" b="1" dirty="0">
                <a:solidFill>
                  <a:schemeClr val="accent6"/>
                </a:solidFill>
                <a:latin typeface="Lucida Sans Unicode" panose="020B0602030504020204" pitchFamily="34" charset="0"/>
                <a:cs typeface="Lucida Sans Unicode" panose="020B0602030504020204" pitchFamily="34" charset="0"/>
              </a:rPr>
              <a:t>SISTEMAS DE CONTROLE DE ESTOQUE</a:t>
            </a:r>
            <a:endParaRPr lang="pt-BR" altLang="pt-BR" sz="2400" b="1" dirty="0">
              <a:solidFill>
                <a:schemeClr val="accent6"/>
              </a:solidFill>
              <a:latin typeface="Lucida Sans Unicode" panose="020B0602030504020204" pitchFamily="34" charset="0"/>
            </a:endParaRPr>
          </a:p>
        </p:txBody>
      </p:sp>
      <p:grpSp>
        <p:nvGrpSpPr>
          <p:cNvPr id="13" name="Agrupar 12"/>
          <p:cNvGrpSpPr/>
          <p:nvPr/>
        </p:nvGrpSpPr>
        <p:grpSpPr>
          <a:xfrm>
            <a:off x="1855742" y="1186525"/>
            <a:ext cx="8302391" cy="5004725"/>
            <a:chOff x="1855742" y="1186525"/>
            <a:chExt cx="8302391" cy="5004725"/>
          </a:xfrm>
        </p:grpSpPr>
        <p:pic>
          <p:nvPicPr>
            <p:cNvPr id="2" name="Image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4492" y="1310634"/>
              <a:ext cx="8053016" cy="4880616"/>
            </a:xfrm>
            <a:prstGeom prst="rect">
              <a:avLst/>
            </a:prstGeom>
          </p:spPr>
        </p:pic>
        <p:sp>
          <p:nvSpPr>
            <p:cNvPr id="8" name="CaixaDeTexto 7"/>
            <p:cNvSpPr txBox="1"/>
            <p:nvPr/>
          </p:nvSpPr>
          <p:spPr>
            <a:xfrm>
              <a:off x="1855742" y="1186525"/>
              <a:ext cx="834463" cy="707886"/>
            </a:xfrm>
            <a:prstGeom prst="rect">
              <a:avLst/>
            </a:prstGeom>
            <a:noFill/>
          </p:spPr>
          <p:txBody>
            <a:bodyPr wrap="square" rtlCol="0">
              <a:spAutoFit/>
            </a:bodyPr>
            <a:lstStyle/>
            <a:p>
              <a:pPr algn="ctr"/>
              <a:r>
                <a:rPr lang="pt-BR" sz="2000" dirty="0">
                  <a:solidFill>
                    <a:schemeClr val="accent3">
                      <a:lumMod val="50000"/>
                    </a:schemeClr>
                  </a:solidFill>
                </a:rPr>
                <a:t>%</a:t>
              </a:r>
            </a:p>
            <a:p>
              <a:pPr algn="ctr"/>
              <a:r>
                <a:rPr lang="pt-BR" sz="2000" dirty="0">
                  <a:solidFill>
                    <a:schemeClr val="accent3">
                      <a:lumMod val="50000"/>
                    </a:schemeClr>
                  </a:solidFill>
                </a:rPr>
                <a:t>acum</a:t>
              </a:r>
            </a:p>
          </p:txBody>
        </p:sp>
        <p:sp>
          <p:nvSpPr>
            <p:cNvPr id="12" name="CaixaDeTexto 11"/>
            <p:cNvSpPr txBox="1"/>
            <p:nvPr/>
          </p:nvSpPr>
          <p:spPr>
            <a:xfrm>
              <a:off x="9694995" y="5746847"/>
              <a:ext cx="463138" cy="400110"/>
            </a:xfrm>
            <a:prstGeom prst="rect">
              <a:avLst/>
            </a:prstGeom>
            <a:noFill/>
          </p:spPr>
          <p:txBody>
            <a:bodyPr wrap="square" rtlCol="0">
              <a:spAutoFit/>
            </a:bodyPr>
            <a:lstStyle/>
            <a:p>
              <a:pPr algn="ctr"/>
              <a:r>
                <a:rPr lang="pt-BR" sz="2000" dirty="0">
                  <a:solidFill>
                    <a:schemeClr val="accent3">
                      <a:lumMod val="50000"/>
                    </a:schemeClr>
                  </a:solidFill>
                </a:rPr>
                <a:t>Q</a:t>
              </a:r>
            </a:p>
          </p:txBody>
        </p:sp>
      </p:grpSp>
    </p:spTree>
    <p:extLst>
      <p:ext uri="{BB962C8B-B14F-4D97-AF65-F5344CB8AC3E}">
        <p14:creationId xmlns:p14="http://schemas.microsoft.com/office/powerpoint/2010/main" val="56899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randombar(horizontal)">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ço Reservado para Conteúdo 2"/>
          <p:cNvSpPr>
            <a:spLocks noGrp="1"/>
          </p:cNvSpPr>
          <p:nvPr>
            <p:ph sz="quarter" idx="4294967295"/>
          </p:nvPr>
        </p:nvSpPr>
        <p:spPr>
          <a:xfrm>
            <a:off x="0" y="2273300"/>
            <a:ext cx="9359900" cy="4065588"/>
          </a:xfrm>
        </p:spPr>
        <p:txBody>
          <a:bodyPr anchor="ctr">
            <a:noAutofit/>
          </a:bodyPr>
          <a:lstStyle/>
          <a:p>
            <a:pPr marL="0" indent="0" algn="just">
              <a:lnSpc>
                <a:spcPct val="100000"/>
              </a:lnSpc>
              <a:buNone/>
            </a:pPr>
            <a:r>
              <a:rPr lang="pt-BR" altLang="pt-BR" sz="1800" dirty="0">
                <a:solidFill>
                  <a:schemeClr val="accent6"/>
                </a:solidFill>
                <a:latin typeface="Lucida Sans Unicode" panose="020B0602030504020204" pitchFamily="34" charset="0"/>
                <a:cs typeface="Lucida Sans Unicode" panose="020B0602030504020204" pitchFamily="34" charset="0"/>
              </a:rPr>
              <a:t>Itens com alto valor de demanda ou consumo. </a:t>
            </a:r>
          </a:p>
          <a:p>
            <a:pPr marL="0" indent="0" algn="just">
              <a:lnSpc>
                <a:spcPct val="100000"/>
              </a:lnSpc>
              <a:buNone/>
            </a:pPr>
            <a:r>
              <a:rPr lang="pt-BR" altLang="pt-BR" sz="1800" dirty="0">
                <a:solidFill>
                  <a:schemeClr val="accent6"/>
                </a:solidFill>
                <a:latin typeface="Lucida Sans Unicode" panose="020B0602030504020204" pitchFamily="34" charset="0"/>
                <a:cs typeface="Lucida Sans Unicode" panose="020B0602030504020204" pitchFamily="34" charset="0"/>
              </a:rPr>
              <a:t> São os principais itens em estoque de alta prioridade, foco de atenção do gestor de materiais, pois são materiais com maior valor devido à sua importância econômica. </a:t>
            </a:r>
          </a:p>
          <a:p>
            <a:pPr marL="273050" algn="just">
              <a:lnSpc>
                <a:spcPct val="100000"/>
              </a:lnSpc>
              <a:buFont typeface="Wingdings" panose="05000000000000000000" pitchFamily="2" charset="2"/>
              <a:buChar char="ü"/>
            </a:pPr>
            <a:r>
              <a:rPr lang="pt-BR" altLang="pt-BR" sz="1800" dirty="0">
                <a:solidFill>
                  <a:schemeClr val="accent6"/>
                </a:solidFill>
                <a:latin typeface="Lucida Sans Unicode" panose="020B0602030504020204" pitchFamily="34" charset="0"/>
                <a:cs typeface="Lucida Sans Unicode" panose="020B0602030504020204" pitchFamily="34" charset="0"/>
              </a:rPr>
              <a:t>Devem ocupar as posições mais estratégicas;</a:t>
            </a:r>
          </a:p>
          <a:p>
            <a:pPr marL="273050" algn="just">
              <a:lnSpc>
                <a:spcPct val="100000"/>
              </a:lnSpc>
              <a:buFont typeface="Wingdings" panose="05000000000000000000" pitchFamily="2" charset="2"/>
              <a:buChar char="ü"/>
            </a:pPr>
            <a:r>
              <a:rPr lang="pt-BR" altLang="pt-BR" sz="1800" dirty="0">
                <a:solidFill>
                  <a:schemeClr val="accent6"/>
                </a:solidFill>
                <a:latin typeface="Lucida Sans Unicode" panose="020B0602030504020204" pitchFamily="34" charset="0"/>
                <a:cs typeface="Lucida Sans Unicode" panose="020B0602030504020204" pitchFamily="34" charset="0"/>
              </a:rPr>
              <a:t> Manter um controle rígido de entradas, saídas e saldos;</a:t>
            </a:r>
          </a:p>
          <a:p>
            <a:pPr marL="273050" algn="just">
              <a:lnSpc>
                <a:spcPct val="100000"/>
              </a:lnSpc>
              <a:buFont typeface="Wingdings" panose="05000000000000000000" pitchFamily="2" charset="2"/>
              <a:buChar char="ü"/>
            </a:pPr>
            <a:r>
              <a:rPr lang="pt-BR" altLang="pt-BR" sz="1800" dirty="0">
                <a:solidFill>
                  <a:schemeClr val="accent6"/>
                </a:solidFill>
                <a:latin typeface="Lucida Sans Unicode" panose="020B0602030504020204" pitchFamily="34" charset="0"/>
                <a:cs typeface="Lucida Sans Unicode" panose="020B0602030504020204" pitchFamily="34" charset="0"/>
              </a:rPr>
              <a:t> Comprar somente baseado em necessidades calculadas;</a:t>
            </a:r>
          </a:p>
          <a:p>
            <a:pPr marL="273050" algn="just">
              <a:lnSpc>
                <a:spcPct val="100000"/>
              </a:lnSpc>
              <a:buFont typeface="Wingdings" panose="05000000000000000000" pitchFamily="2" charset="2"/>
              <a:buChar char="ü"/>
            </a:pPr>
            <a:r>
              <a:rPr lang="pt-BR" altLang="pt-BR" sz="1800" dirty="0">
                <a:solidFill>
                  <a:schemeClr val="accent6"/>
                </a:solidFill>
                <a:latin typeface="Lucida Sans Unicode" panose="020B0602030504020204" pitchFamily="34" charset="0"/>
                <a:cs typeface="Lucida Sans Unicode" panose="020B0602030504020204" pitchFamily="34" charset="0"/>
              </a:rPr>
              <a:t>Negociar com fornecedores a garantia de entrega, de forma a poder manter estoques baixos.</a:t>
            </a:r>
          </a:p>
          <a:p>
            <a:pPr marL="273050" algn="just">
              <a:lnSpc>
                <a:spcPct val="100000"/>
              </a:lnSpc>
              <a:buFont typeface="Wingdings" panose="05000000000000000000" pitchFamily="2" charset="2"/>
              <a:buChar char="ü"/>
            </a:pPr>
            <a:r>
              <a:rPr lang="pt-BR" altLang="pt-BR" sz="1800" dirty="0">
                <a:solidFill>
                  <a:schemeClr val="accent6"/>
                </a:solidFill>
                <a:latin typeface="Lucida Sans Unicode" panose="020B0602030504020204" pitchFamily="34" charset="0"/>
                <a:cs typeface="Lucida Sans Unicode" panose="020B0602030504020204" pitchFamily="34" charset="0"/>
              </a:rPr>
              <a:t>Manter um estoque de segurança baixo;</a:t>
            </a:r>
          </a:p>
        </p:txBody>
      </p:sp>
      <p:sp>
        <p:nvSpPr>
          <p:cNvPr id="4" name="CaixaDeTexto 3"/>
          <p:cNvSpPr txBox="1"/>
          <p:nvPr/>
        </p:nvSpPr>
        <p:spPr>
          <a:xfrm>
            <a:off x="2139561" y="933429"/>
            <a:ext cx="7912878" cy="400110"/>
          </a:xfrm>
          <a:prstGeom prst="rect">
            <a:avLst/>
          </a:prstGeom>
          <a:noFill/>
        </p:spPr>
        <p:txBody>
          <a:bodyPr wrap="square" rtlCol="0">
            <a:spAutoFit/>
          </a:body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CURVA ABC</a:t>
            </a:r>
          </a:p>
        </p:txBody>
      </p:sp>
      <p:sp>
        <p:nvSpPr>
          <p:cNvPr id="5" name="CaixaDeTexto 4"/>
          <p:cNvSpPr txBox="1"/>
          <p:nvPr/>
        </p:nvSpPr>
        <p:spPr>
          <a:xfrm>
            <a:off x="2099556" y="299972"/>
            <a:ext cx="7992888" cy="461665"/>
          </a:xfrm>
          <a:prstGeom prst="rect">
            <a:avLst/>
          </a:prstGeom>
          <a:noFill/>
        </p:spPr>
        <p:txBody>
          <a:bodyPr wrap="square" rtlCol="0">
            <a:spAutoFit/>
          </a:bodyPr>
          <a:lstStyle/>
          <a:p>
            <a:pPr algn="ctr">
              <a:buClrTx/>
              <a:buFontTx/>
              <a:buNone/>
            </a:pPr>
            <a:r>
              <a:rPr lang="pt-BR" sz="2400" b="1" dirty="0">
                <a:solidFill>
                  <a:schemeClr val="accent6"/>
                </a:solidFill>
                <a:latin typeface="Lucida Sans Unicode" panose="020B0602030504020204" pitchFamily="34" charset="0"/>
                <a:cs typeface="Lucida Sans Unicode" panose="020B0602030504020204" pitchFamily="34" charset="0"/>
              </a:rPr>
              <a:t>SISTEMAS DE CONTROLE DE ESTOQUE</a:t>
            </a:r>
            <a:endParaRPr lang="pt-BR" altLang="pt-BR" sz="2400" b="1" dirty="0">
              <a:solidFill>
                <a:schemeClr val="accent6"/>
              </a:solidFill>
              <a:latin typeface="Lucida Sans Unicode" panose="020B0602030504020204" pitchFamily="34" charset="0"/>
            </a:endParaRPr>
          </a:p>
        </p:txBody>
      </p:sp>
      <p:sp>
        <p:nvSpPr>
          <p:cNvPr id="7" name="CaixaDeTexto 6"/>
          <p:cNvSpPr txBox="1"/>
          <p:nvPr/>
        </p:nvSpPr>
        <p:spPr>
          <a:xfrm>
            <a:off x="1461334" y="1903505"/>
            <a:ext cx="1826797" cy="369332"/>
          </a:xfrm>
          <a:prstGeom prst="rect">
            <a:avLst/>
          </a:prstGeom>
          <a:noFill/>
        </p:spPr>
        <p:txBody>
          <a:bodyPr wrap="square" rtlCol="0">
            <a:spAutoFit/>
          </a:bodyPr>
          <a:lstStyle/>
          <a:p>
            <a:r>
              <a:rPr lang="pt-BR" b="1" dirty="0">
                <a:solidFill>
                  <a:schemeClr val="accent6"/>
                </a:solidFill>
                <a:latin typeface="Lucida Sans Unicode" panose="020B0602030504020204" pitchFamily="34" charset="0"/>
                <a:cs typeface="Lucida Sans Unicode" panose="020B0602030504020204" pitchFamily="34" charset="0"/>
              </a:rPr>
              <a:t>ITENS “A”</a:t>
            </a:r>
          </a:p>
        </p:txBody>
      </p:sp>
    </p:spTree>
    <p:extLst>
      <p:ext uri="{BB962C8B-B14F-4D97-AF65-F5344CB8AC3E}">
        <p14:creationId xmlns:p14="http://schemas.microsoft.com/office/powerpoint/2010/main" val="200650698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 calcmode="lin" valueType="num">
                                      <p:cBhvr additive="base">
                                        <p:cTn id="3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 calcmode="lin" valueType="num">
                                      <p:cBhvr additive="base">
                                        <p:cTn id="3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 calcmode="lin" valueType="num">
                                      <p:cBhvr additive="base">
                                        <p:cTn id="4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3">
                                            <p:txEl>
                                              <p:pRg st="6" end="6"/>
                                            </p:txEl>
                                          </p:spTgt>
                                        </p:tgtEl>
                                        <p:attrNameLst>
                                          <p:attrName>style.visibility</p:attrName>
                                        </p:attrNameLst>
                                      </p:cBhvr>
                                      <p:to>
                                        <p:strVal val="visible"/>
                                      </p:to>
                                    </p:set>
                                    <p:anim calcmode="lin" valueType="num">
                                      <p:cBhvr additive="base">
                                        <p:cTn id="50"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5" name="Espaço Reservado para Conteúdo 2"/>
          <p:cNvSpPr>
            <a:spLocks noGrp="1"/>
          </p:cNvSpPr>
          <p:nvPr>
            <p:ph sz="quarter" idx="4294967295"/>
          </p:nvPr>
        </p:nvSpPr>
        <p:spPr>
          <a:xfrm>
            <a:off x="0" y="2468563"/>
            <a:ext cx="9359900" cy="3752850"/>
          </a:xfrm>
        </p:spPr>
        <p:txBody>
          <a:bodyPr>
            <a:noAutofit/>
          </a:bodyPr>
          <a:lstStyle/>
          <a:p>
            <a:pPr marL="0" indent="0" algn="just">
              <a:lnSpc>
                <a:spcPct val="120000"/>
              </a:lnSpc>
              <a:buNone/>
              <a:defRPr/>
            </a:pPr>
            <a:r>
              <a:rPr lang="pt-BR" sz="1800" dirty="0">
                <a:solidFill>
                  <a:schemeClr val="accent6"/>
                </a:solidFill>
                <a:latin typeface="Lucida Sans Unicode" panose="020B0602030504020204" pitchFamily="34" charset="0"/>
                <a:cs typeface="Lucida Sans Unicode" panose="020B0602030504020204" pitchFamily="34" charset="0"/>
              </a:rPr>
              <a:t>Itens que têm demanda ou consumo intermediário;</a:t>
            </a:r>
          </a:p>
          <a:p>
            <a:pPr marL="0" indent="0" algn="just">
              <a:lnSpc>
                <a:spcPct val="120000"/>
              </a:lnSpc>
              <a:buNone/>
              <a:defRPr/>
            </a:pPr>
            <a:r>
              <a:rPr lang="pt-BR" sz="1800" dirty="0">
                <a:solidFill>
                  <a:schemeClr val="accent6"/>
                </a:solidFill>
                <a:latin typeface="Lucida Sans Unicode" panose="020B0602030504020204" pitchFamily="34" charset="0"/>
                <a:cs typeface="Lucida Sans Unicode" panose="020B0602030504020204" pitchFamily="34" charset="0"/>
              </a:rPr>
              <a:t>Estima-se que 30% dos itens em estoque correspondem a 15% do valor em estoque;</a:t>
            </a:r>
          </a:p>
          <a:p>
            <a:pPr algn="just">
              <a:lnSpc>
                <a:spcPct val="120000"/>
              </a:lnSpc>
              <a:buFont typeface="Wingdings" panose="05000000000000000000" pitchFamily="2" charset="2"/>
              <a:buChar char="ü"/>
              <a:defRPr/>
            </a:pPr>
            <a:r>
              <a:rPr lang="pt-BR" sz="1800" dirty="0">
                <a:solidFill>
                  <a:schemeClr val="accent6"/>
                </a:solidFill>
                <a:latin typeface="Lucida Sans Unicode" panose="020B0602030504020204" pitchFamily="34" charset="0"/>
                <a:cs typeface="Lucida Sans Unicode" panose="020B0602030504020204" pitchFamily="34" charset="0"/>
              </a:rPr>
              <a:t>Manter um controle moderado evitando sua falta;</a:t>
            </a:r>
          </a:p>
          <a:p>
            <a:pPr algn="just">
              <a:lnSpc>
                <a:spcPct val="120000"/>
              </a:lnSpc>
              <a:buFont typeface="Wingdings" panose="05000000000000000000" pitchFamily="2" charset="2"/>
              <a:buChar char="ü"/>
              <a:defRPr/>
            </a:pPr>
            <a:r>
              <a:rPr lang="pt-BR" sz="1800" dirty="0">
                <a:solidFill>
                  <a:schemeClr val="accent6"/>
                </a:solidFill>
                <a:latin typeface="Lucida Sans Unicode" panose="020B0602030504020204" pitchFamily="34" charset="0"/>
                <a:cs typeface="Lucida Sans Unicode" panose="020B0602030504020204" pitchFamily="34" charset="0"/>
              </a:rPr>
              <a:t>Comprar quantidades maiores, pois o baixo valor envolvido com estes itens faz com que despesas como frete, contatos com fornecedores, tornem-se mais elevados;</a:t>
            </a:r>
          </a:p>
          <a:p>
            <a:pPr algn="just">
              <a:lnSpc>
                <a:spcPct val="120000"/>
              </a:lnSpc>
              <a:buFont typeface="Wingdings" panose="05000000000000000000" pitchFamily="2" charset="2"/>
              <a:buChar char="ü"/>
              <a:defRPr/>
            </a:pPr>
            <a:r>
              <a:rPr lang="pt-BR" sz="1800" dirty="0">
                <a:solidFill>
                  <a:schemeClr val="accent6"/>
                </a:solidFill>
                <a:latin typeface="Lucida Sans Unicode" panose="020B0602030504020204" pitchFamily="34" charset="0"/>
                <a:cs typeface="Lucida Sans Unicode" panose="020B0602030504020204" pitchFamily="34" charset="0"/>
              </a:rPr>
              <a:t>Manter estoques de segurança maiores.</a:t>
            </a:r>
          </a:p>
        </p:txBody>
      </p:sp>
      <p:sp>
        <p:nvSpPr>
          <p:cNvPr id="6" name="CaixaDeTexto 5"/>
          <p:cNvSpPr txBox="1"/>
          <p:nvPr/>
        </p:nvSpPr>
        <p:spPr>
          <a:xfrm>
            <a:off x="2139561" y="933429"/>
            <a:ext cx="7912878" cy="400110"/>
          </a:xfrm>
          <a:prstGeom prst="rect">
            <a:avLst/>
          </a:prstGeom>
          <a:noFill/>
        </p:spPr>
        <p:txBody>
          <a:bodyPr wrap="square" rtlCol="0">
            <a:spAutoFit/>
          </a:body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CURVA ABC</a:t>
            </a:r>
          </a:p>
        </p:txBody>
      </p:sp>
      <p:sp>
        <p:nvSpPr>
          <p:cNvPr id="7" name="CaixaDeTexto 6"/>
          <p:cNvSpPr txBox="1"/>
          <p:nvPr/>
        </p:nvSpPr>
        <p:spPr>
          <a:xfrm>
            <a:off x="2099556" y="299972"/>
            <a:ext cx="7992888" cy="461665"/>
          </a:xfrm>
          <a:prstGeom prst="rect">
            <a:avLst/>
          </a:prstGeom>
          <a:noFill/>
        </p:spPr>
        <p:txBody>
          <a:bodyPr wrap="square" rtlCol="0">
            <a:spAutoFit/>
          </a:bodyPr>
          <a:lstStyle/>
          <a:p>
            <a:pPr algn="ctr">
              <a:buClrTx/>
              <a:buFontTx/>
              <a:buNone/>
            </a:pPr>
            <a:r>
              <a:rPr lang="pt-BR" sz="2400" b="1" dirty="0">
                <a:solidFill>
                  <a:schemeClr val="accent6"/>
                </a:solidFill>
                <a:latin typeface="Lucida Sans Unicode" panose="020B0602030504020204" pitchFamily="34" charset="0"/>
                <a:cs typeface="Lucida Sans Unicode" panose="020B0602030504020204" pitchFamily="34" charset="0"/>
              </a:rPr>
              <a:t>SISTEMAS DE CONTROLE DE ESTOQUE</a:t>
            </a:r>
            <a:endParaRPr lang="pt-BR" altLang="pt-BR" sz="2400" b="1" dirty="0">
              <a:solidFill>
                <a:schemeClr val="accent6"/>
              </a:solidFill>
              <a:latin typeface="Lucida Sans Unicode" panose="020B0602030504020204" pitchFamily="34" charset="0"/>
            </a:endParaRPr>
          </a:p>
        </p:txBody>
      </p:sp>
      <p:sp>
        <p:nvSpPr>
          <p:cNvPr id="8" name="CaixaDeTexto 7"/>
          <p:cNvSpPr txBox="1"/>
          <p:nvPr/>
        </p:nvSpPr>
        <p:spPr>
          <a:xfrm>
            <a:off x="1461334" y="1903505"/>
            <a:ext cx="1826797" cy="369332"/>
          </a:xfrm>
          <a:prstGeom prst="rect">
            <a:avLst/>
          </a:prstGeom>
          <a:noFill/>
        </p:spPr>
        <p:txBody>
          <a:bodyPr wrap="square" rtlCol="0">
            <a:spAutoFit/>
          </a:bodyPr>
          <a:lstStyle/>
          <a:p>
            <a:r>
              <a:rPr lang="pt-BR" b="1" dirty="0">
                <a:solidFill>
                  <a:schemeClr val="accent6"/>
                </a:solidFill>
                <a:latin typeface="Lucida Sans Unicode" panose="020B0602030504020204" pitchFamily="34" charset="0"/>
                <a:cs typeface="Lucida Sans Unicode" panose="020B0602030504020204" pitchFamily="34" charset="0"/>
              </a:rPr>
              <a:t>ITENS “B”</a:t>
            </a:r>
          </a:p>
        </p:txBody>
      </p:sp>
    </p:spTree>
    <p:extLst>
      <p:ext uri="{BB962C8B-B14F-4D97-AF65-F5344CB8AC3E}">
        <p14:creationId xmlns:p14="http://schemas.microsoft.com/office/powerpoint/2010/main" val="4995318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3315">
                                            <p:txEl>
                                              <p:pRg st="0" end="0"/>
                                            </p:txEl>
                                          </p:spTgt>
                                        </p:tgtEl>
                                        <p:attrNameLst>
                                          <p:attrName>style.visibility</p:attrName>
                                        </p:attrNameLst>
                                      </p:cBhvr>
                                      <p:to>
                                        <p:strVal val="visible"/>
                                      </p:to>
                                    </p:set>
                                    <p:anim calcmode="lin" valueType="num">
                                      <p:cBhvr additive="base">
                                        <p:cTn id="14"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13315">
                                            <p:txEl>
                                              <p:pRg st="1" end="1"/>
                                            </p:txEl>
                                          </p:spTgt>
                                        </p:tgtEl>
                                        <p:attrNameLst>
                                          <p:attrName>style.visibility</p:attrName>
                                        </p:attrNameLst>
                                      </p:cBhvr>
                                      <p:to>
                                        <p:strVal val="visible"/>
                                      </p:to>
                                    </p:set>
                                    <p:anim calcmode="lin" valueType="num">
                                      <p:cBhvr additive="base">
                                        <p:cTn id="20"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3315">
                                            <p:txEl>
                                              <p:pRg st="2" end="2"/>
                                            </p:txEl>
                                          </p:spTgt>
                                        </p:tgtEl>
                                        <p:attrNameLst>
                                          <p:attrName>style.visibility</p:attrName>
                                        </p:attrNameLst>
                                      </p:cBhvr>
                                      <p:to>
                                        <p:strVal val="visible"/>
                                      </p:to>
                                    </p:set>
                                    <p:anim calcmode="lin" valueType="num">
                                      <p:cBhvr additive="base">
                                        <p:cTn id="26"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3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3315">
                                            <p:txEl>
                                              <p:pRg st="3" end="3"/>
                                            </p:txEl>
                                          </p:spTgt>
                                        </p:tgtEl>
                                        <p:attrNameLst>
                                          <p:attrName>style.visibility</p:attrName>
                                        </p:attrNameLst>
                                      </p:cBhvr>
                                      <p:to>
                                        <p:strVal val="visible"/>
                                      </p:to>
                                    </p:set>
                                    <p:anim calcmode="lin" valueType="num">
                                      <p:cBhvr additive="base">
                                        <p:cTn id="32" dur="500" fill="hold"/>
                                        <p:tgtEl>
                                          <p:spTgt spid="13315">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33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3315">
                                            <p:txEl>
                                              <p:pRg st="4" end="4"/>
                                            </p:txEl>
                                          </p:spTgt>
                                        </p:tgtEl>
                                        <p:attrNameLst>
                                          <p:attrName>style.visibility</p:attrName>
                                        </p:attrNameLst>
                                      </p:cBhvr>
                                      <p:to>
                                        <p:strVal val="visible"/>
                                      </p:to>
                                    </p:set>
                                    <p:anim calcmode="lin" valueType="num">
                                      <p:cBhvr additive="base">
                                        <p:cTn id="38" dur="500" fill="hold"/>
                                        <p:tgtEl>
                                          <p:spTgt spid="13315">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33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5" name="Espaço Reservado para Conteúdo 2"/>
          <p:cNvSpPr>
            <a:spLocks noGrp="1"/>
          </p:cNvSpPr>
          <p:nvPr>
            <p:ph sz="quarter" idx="4294967295"/>
          </p:nvPr>
        </p:nvSpPr>
        <p:spPr>
          <a:xfrm>
            <a:off x="2832100" y="2628900"/>
            <a:ext cx="9359900" cy="3509963"/>
          </a:xfrm>
        </p:spPr>
        <p:txBody>
          <a:bodyPr>
            <a:noAutofit/>
          </a:bodyPr>
          <a:lstStyle/>
          <a:p>
            <a:pPr marL="0" indent="0" algn="just">
              <a:buNone/>
              <a:defRPr/>
            </a:pPr>
            <a:r>
              <a:rPr lang="pt-BR" sz="1800" dirty="0">
                <a:solidFill>
                  <a:schemeClr val="accent6"/>
                </a:solidFill>
                <a:latin typeface="Lucida Sans Unicode" panose="020B0602030504020204" pitchFamily="34" charset="0"/>
                <a:cs typeface="Lucida Sans Unicode" panose="020B0602030504020204" pitchFamily="34" charset="0"/>
              </a:rPr>
              <a:t>Itens que possuem um valor de demanda ou consumo baixo. </a:t>
            </a:r>
          </a:p>
          <a:p>
            <a:pPr marL="0" indent="0" algn="just">
              <a:buNone/>
              <a:defRPr/>
            </a:pPr>
            <a:r>
              <a:rPr lang="pt-BR" sz="1800" dirty="0">
                <a:solidFill>
                  <a:schemeClr val="accent6"/>
                </a:solidFill>
                <a:latin typeface="Lucida Sans Unicode" panose="020B0602030504020204" pitchFamily="34" charset="0"/>
                <a:cs typeface="Lucida Sans Unicode" panose="020B0602030504020204" pitchFamily="34" charset="0"/>
              </a:rPr>
              <a:t>Não deixam de também ser importantes, pois sua falta pode inviabilizar a continuidade do processo. No entanto, o critério estabelece que seu impacto econômico não é dramático, o que possibilita menos esforços. </a:t>
            </a:r>
          </a:p>
          <a:p>
            <a:pPr algn="just">
              <a:buFont typeface="Wingdings" panose="05000000000000000000" pitchFamily="2" charset="2"/>
              <a:buChar char="ü"/>
              <a:defRPr/>
            </a:pPr>
            <a:r>
              <a:rPr lang="pt-BR" sz="1800" dirty="0">
                <a:solidFill>
                  <a:schemeClr val="accent6"/>
                </a:solidFill>
                <a:latin typeface="Lucida Sans Unicode" panose="020B0602030504020204" pitchFamily="34" charset="0"/>
                <a:cs typeface="Lucida Sans Unicode" panose="020B0602030504020204" pitchFamily="34" charset="0"/>
              </a:rPr>
              <a:t>Manter um controle moderado evitando sua falta;</a:t>
            </a:r>
          </a:p>
          <a:p>
            <a:pPr algn="just">
              <a:lnSpc>
                <a:spcPct val="150000"/>
              </a:lnSpc>
              <a:buFont typeface="Wingdings" panose="05000000000000000000" pitchFamily="2" charset="2"/>
              <a:buChar char="ü"/>
              <a:defRPr/>
            </a:pPr>
            <a:r>
              <a:rPr lang="pt-BR" sz="1800" dirty="0">
                <a:solidFill>
                  <a:schemeClr val="accent6"/>
                </a:solidFill>
                <a:latin typeface="Lucida Sans Unicode" panose="020B0602030504020204" pitchFamily="34" charset="0"/>
                <a:cs typeface="Lucida Sans Unicode" panose="020B0602030504020204" pitchFamily="34" charset="0"/>
              </a:rPr>
              <a:t>Comprar quantidades maiores, pois o baixo valor envolvido nestes itens faz com que despesas como frete, contatos com fornecedores, tornem-se mais elevados;</a:t>
            </a:r>
          </a:p>
          <a:p>
            <a:pPr algn="just">
              <a:lnSpc>
                <a:spcPct val="150000"/>
              </a:lnSpc>
              <a:buFont typeface="Wingdings" panose="05000000000000000000" pitchFamily="2" charset="2"/>
              <a:buChar char="ü"/>
              <a:defRPr/>
            </a:pPr>
            <a:r>
              <a:rPr lang="pt-BR" sz="1800" dirty="0">
                <a:solidFill>
                  <a:schemeClr val="accent6"/>
                </a:solidFill>
                <a:latin typeface="Lucida Sans Unicode" panose="020B0602030504020204" pitchFamily="34" charset="0"/>
                <a:cs typeface="Lucida Sans Unicode" panose="020B0602030504020204" pitchFamily="34" charset="0"/>
              </a:rPr>
              <a:t>Manter estoques de segurança maiores.</a:t>
            </a:r>
          </a:p>
        </p:txBody>
      </p:sp>
      <p:sp>
        <p:nvSpPr>
          <p:cNvPr id="5" name="CaixaDeTexto 4"/>
          <p:cNvSpPr txBox="1"/>
          <p:nvPr/>
        </p:nvSpPr>
        <p:spPr>
          <a:xfrm>
            <a:off x="2139561" y="933429"/>
            <a:ext cx="7912878" cy="400110"/>
          </a:xfrm>
          <a:prstGeom prst="rect">
            <a:avLst/>
          </a:prstGeom>
          <a:noFill/>
        </p:spPr>
        <p:txBody>
          <a:bodyPr wrap="square" rtlCol="0">
            <a:spAutoFit/>
          </a:body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CURVA ABC</a:t>
            </a:r>
          </a:p>
        </p:txBody>
      </p:sp>
      <p:sp>
        <p:nvSpPr>
          <p:cNvPr id="6" name="CaixaDeTexto 5"/>
          <p:cNvSpPr txBox="1"/>
          <p:nvPr/>
        </p:nvSpPr>
        <p:spPr>
          <a:xfrm>
            <a:off x="2099556" y="299972"/>
            <a:ext cx="7992888" cy="461665"/>
          </a:xfrm>
          <a:prstGeom prst="rect">
            <a:avLst/>
          </a:prstGeom>
          <a:noFill/>
        </p:spPr>
        <p:txBody>
          <a:bodyPr wrap="square" rtlCol="0">
            <a:spAutoFit/>
          </a:bodyPr>
          <a:lstStyle/>
          <a:p>
            <a:pPr algn="ctr">
              <a:buClrTx/>
              <a:buFontTx/>
              <a:buNone/>
            </a:pPr>
            <a:r>
              <a:rPr lang="pt-BR" sz="2400" b="1" dirty="0">
                <a:solidFill>
                  <a:schemeClr val="accent6"/>
                </a:solidFill>
                <a:latin typeface="Lucida Sans Unicode" panose="020B0602030504020204" pitchFamily="34" charset="0"/>
                <a:cs typeface="Lucida Sans Unicode" panose="020B0602030504020204" pitchFamily="34" charset="0"/>
              </a:rPr>
              <a:t>SISTEMAS DE CONTROLE DE ESTOQUE</a:t>
            </a:r>
            <a:endParaRPr lang="pt-BR" altLang="pt-BR" sz="2400" b="1" dirty="0">
              <a:solidFill>
                <a:schemeClr val="accent6"/>
              </a:solidFill>
              <a:latin typeface="Lucida Sans Unicode" panose="020B0602030504020204" pitchFamily="34" charset="0"/>
            </a:endParaRPr>
          </a:p>
        </p:txBody>
      </p:sp>
      <p:sp>
        <p:nvSpPr>
          <p:cNvPr id="7" name="CaixaDeTexto 6"/>
          <p:cNvSpPr txBox="1"/>
          <p:nvPr/>
        </p:nvSpPr>
        <p:spPr>
          <a:xfrm>
            <a:off x="1461334" y="1903505"/>
            <a:ext cx="1826797" cy="369332"/>
          </a:xfrm>
          <a:prstGeom prst="rect">
            <a:avLst/>
          </a:prstGeom>
          <a:noFill/>
        </p:spPr>
        <p:txBody>
          <a:bodyPr wrap="square" rtlCol="0">
            <a:spAutoFit/>
          </a:bodyPr>
          <a:lstStyle/>
          <a:p>
            <a:r>
              <a:rPr lang="pt-BR" b="1" dirty="0">
                <a:solidFill>
                  <a:schemeClr val="accent6"/>
                </a:solidFill>
                <a:latin typeface="Lucida Sans Unicode" panose="020B0602030504020204" pitchFamily="34" charset="0"/>
                <a:cs typeface="Lucida Sans Unicode" panose="020B0602030504020204" pitchFamily="34" charset="0"/>
              </a:rPr>
              <a:t>ITENS “C”</a:t>
            </a:r>
          </a:p>
        </p:txBody>
      </p:sp>
    </p:spTree>
    <p:extLst>
      <p:ext uri="{BB962C8B-B14F-4D97-AF65-F5344CB8AC3E}">
        <p14:creationId xmlns:p14="http://schemas.microsoft.com/office/powerpoint/2010/main" val="15788739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3315">
                                            <p:txEl>
                                              <p:pRg st="0" end="0"/>
                                            </p:txEl>
                                          </p:spTgt>
                                        </p:tgtEl>
                                        <p:attrNameLst>
                                          <p:attrName>style.visibility</p:attrName>
                                        </p:attrNameLst>
                                      </p:cBhvr>
                                      <p:to>
                                        <p:strVal val="visible"/>
                                      </p:to>
                                    </p:set>
                                    <p:anim calcmode="lin" valueType="num">
                                      <p:cBhvr additive="base">
                                        <p:cTn id="14" dur="500" fill="hold"/>
                                        <p:tgtEl>
                                          <p:spTgt spid="13315">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1331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13315">
                                            <p:txEl>
                                              <p:pRg st="1" end="1"/>
                                            </p:txEl>
                                          </p:spTgt>
                                        </p:tgtEl>
                                        <p:attrNameLst>
                                          <p:attrName>style.visibility</p:attrName>
                                        </p:attrNameLst>
                                      </p:cBhvr>
                                      <p:to>
                                        <p:strVal val="visible"/>
                                      </p:to>
                                    </p:set>
                                    <p:anim calcmode="lin" valueType="num">
                                      <p:cBhvr additive="base">
                                        <p:cTn id="20" dur="500" fill="hold"/>
                                        <p:tgtEl>
                                          <p:spTgt spid="13315">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331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nodeType="clickEffect">
                                  <p:stCondLst>
                                    <p:cond delay="0"/>
                                  </p:stCondLst>
                                  <p:childTnLst>
                                    <p:set>
                                      <p:cBhvr>
                                        <p:cTn id="25" dur="1" fill="hold">
                                          <p:stCondLst>
                                            <p:cond delay="0"/>
                                          </p:stCondLst>
                                        </p:cTn>
                                        <p:tgtEl>
                                          <p:spTgt spid="13315">
                                            <p:txEl>
                                              <p:pRg st="2" end="2"/>
                                            </p:txEl>
                                          </p:spTgt>
                                        </p:tgtEl>
                                        <p:attrNameLst>
                                          <p:attrName>style.visibility</p:attrName>
                                        </p:attrNameLst>
                                      </p:cBhvr>
                                      <p:to>
                                        <p:strVal val="visible"/>
                                      </p:to>
                                    </p:set>
                                    <p:anim calcmode="lin" valueType="num">
                                      <p:cBhvr additive="base">
                                        <p:cTn id="26" dur="500" fill="hold"/>
                                        <p:tgtEl>
                                          <p:spTgt spid="13315">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331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13315">
                                            <p:txEl>
                                              <p:pRg st="3" end="3"/>
                                            </p:txEl>
                                          </p:spTgt>
                                        </p:tgtEl>
                                        <p:attrNameLst>
                                          <p:attrName>style.visibility</p:attrName>
                                        </p:attrNameLst>
                                      </p:cBhvr>
                                      <p:to>
                                        <p:strVal val="visible"/>
                                      </p:to>
                                    </p:set>
                                    <p:anim calcmode="lin" valueType="num">
                                      <p:cBhvr additive="base">
                                        <p:cTn id="32" dur="500" fill="hold"/>
                                        <p:tgtEl>
                                          <p:spTgt spid="13315">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331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3315">
                                            <p:txEl>
                                              <p:pRg st="4" end="4"/>
                                            </p:txEl>
                                          </p:spTgt>
                                        </p:tgtEl>
                                        <p:attrNameLst>
                                          <p:attrName>style.visibility</p:attrName>
                                        </p:attrNameLst>
                                      </p:cBhvr>
                                      <p:to>
                                        <p:strVal val="visible"/>
                                      </p:to>
                                    </p:set>
                                    <p:anim calcmode="lin" valueType="num">
                                      <p:cBhvr additive="base">
                                        <p:cTn id="38" dur="500" fill="hold"/>
                                        <p:tgtEl>
                                          <p:spTgt spid="13315">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331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3313" name="Group 1"/>
          <p:cNvGraphicFramePr>
            <a:graphicFrameLocks noGrp="1"/>
          </p:cNvGraphicFramePr>
          <p:nvPr>
            <p:extLst>
              <p:ext uri="{D42A27DB-BD31-4B8C-83A1-F6EECF244321}">
                <p14:modId xmlns:p14="http://schemas.microsoft.com/office/powerpoint/2010/main" val="3955237773"/>
              </p:ext>
            </p:extLst>
          </p:nvPr>
        </p:nvGraphicFramePr>
        <p:xfrm>
          <a:off x="1926431" y="1740559"/>
          <a:ext cx="8339138" cy="2619376"/>
        </p:xfrm>
        <a:graphic>
          <a:graphicData uri="http://schemas.openxmlformats.org/drawingml/2006/table">
            <a:tbl>
              <a:tblPr/>
              <a:tblGrid>
                <a:gridCol w="1104900">
                  <a:extLst>
                    <a:ext uri="{9D8B030D-6E8A-4147-A177-3AD203B41FA5}">
                      <a16:colId xmlns:a16="http://schemas.microsoft.com/office/drawing/2014/main" val="20000"/>
                    </a:ext>
                  </a:extLst>
                </a:gridCol>
                <a:gridCol w="1338263">
                  <a:extLst>
                    <a:ext uri="{9D8B030D-6E8A-4147-A177-3AD203B41FA5}">
                      <a16:colId xmlns:a16="http://schemas.microsoft.com/office/drawing/2014/main" val="20001"/>
                    </a:ext>
                  </a:extLst>
                </a:gridCol>
                <a:gridCol w="1490662">
                  <a:extLst>
                    <a:ext uri="{9D8B030D-6E8A-4147-A177-3AD203B41FA5}">
                      <a16:colId xmlns:a16="http://schemas.microsoft.com/office/drawing/2014/main" val="20002"/>
                    </a:ext>
                  </a:extLst>
                </a:gridCol>
                <a:gridCol w="4405313">
                  <a:extLst>
                    <a:ext uri="{9D8B030D-6E8A-4147-A177-3AD203B41FA5}">
                      <a16:colId xmlns:a16="http://schemas.microsoft.com/office/drawing/2014/main" val="20003"/>
                    </a:ext>
                  </a:extLst>
                </a:gridCol>
              </a:tblGrid>
              <a:tr h="428625">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0"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800" b="1" i="0" u="none" strike="noStrike" cap="none" normalizeH="0" baseline="0" dirty="0">
                          <a:ln>
                            <a:noFill/>
                          </a:ln>
                          <a:solidFill>
                            <a:schemeClr val="accent6"/>
                          </a:solidFill>
                          <a:effectLst/>
                          <a:latin typeface="Lucida Sans Unicode" panose="020B0602030504020204" pitchFamily="34" charset="0"/>
                          <a:cs typeface="Arial" panose="020B0604020202020204" pitchFamily="34" charset="0"/>
                        </a:rPr>
                        <a:t>CLASSE</a:t>
                      </a:r>
                    </a:p>
                  </a:txBody>
                  <a:tcPr marL="90000" marR="90000" marT="46800"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800" b="1"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 Quant.</a:t>
                      </a:r>
                    </a:p>
                  </a:txBody>
                  <a:tcPr marL="90000" marR="90000" marT="46800"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800" b="1"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 Valor</a:t>
                      </a:r>
                    </a:p>
                  </a:txBody>
                  <a:tcPr marL="90000" marR="90000" marT="46800"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800" b="1"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CARACTERÍSTICA</a:t>
                      </a:r>
                    </a:p>
                  </a:txBody>
                  <a:tcPr marL="90000" marR="90000" marT="46800"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extLst>
                  <a:ext uri="{0D108BD9-81ED-4DB2-BD59-A6C34878D82A}">
                    <a16:rowId xmlns:a16="http://schemas.microsoft.com/office/drawing/2014/main" val="10000"/>
                  </a:ext>
                </a:extLst>
              </a:tr>
              <a:tr h="690563">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1"/>
                  </a:ext>
                </a:extLst>
              </a:tr>
              <a:tr h="749300">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2"/>
                  </a:ext>
                </a:extLst>
              </a:tr>
              <a:tr h="750888">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3"/>
                  </a:ext>
                </a:extLst>
              </a:tr>
            </a:tbl>
          </a:graphicData>
        </a:graphic>
      </p:graphicFrame>
      <p:sp>
        <p:nvSpPr>
          <p:cNvPr id="13371" name="Text Box 59"/>
          <p:cNvSpPr txBox="1">
            <a:spLocks noChangeArrowheads="1"/>
          </p:cNvSpPr>
          <p:nvPr/>
        </p:nvSpPr>
        <p:spPr bwMode="auto">
          <a:xfrm>
            <a:off x="2279651" y="2286953"/>
            <a:ext cx="417513"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400" b="1" dirty="0">
                <a:solidFill>
                  <a:srgbClr val="FF3333"/>
                </a:solidFill>
                <a:latin typeface="Lucida Sans Unicode" panose="020B0602030504020204" pitchFamily="34" charset="0"/>
              </a:rPr>
              <a:t>A</a:t>
            </a:r>
          </a:p>
        </p:txBody>
      </p:sp>
      <p:sp>
        <p:nvSpPr>
          <p:cNvPr id="13372" name="Text Box 60"/>
          <p:cNvSpPr txBox="1">
            <a:spLocks noChangeArrowheads="1"/>
          </p:cNvSpPr>
          <p:nvPr/>
        </p:nvSpPr>
        <p:spPr bwMode="auto">
          <a:xfrm>
            <a:off x="2265363" y="3758565"/>
            <a:ext cx="417512"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400" b="1" dirty="0">
                <a:solidFill>
                  <a:srgbClr val="009933"/>
                </a:solidFill>
                <a:latin typeface="Lucida Sans Unicode" panose="020B0602030504020204" pitchFamily="34" charset="0"/>
              </a:rPr>
              <a:t>C</a:t>
            </a:r>
          </a:p>
        </p:txBody>
      </p:sp>
      <p:sp>
        <p:nvSpPr>
          <p:cNvPr id="13373" name="Text Box 61"/>
          <p:cNvSpPr txBox="1">
            <a:spLocks noChangeArrowheads="1"/>
          </p:cNvSpPr>
          <p:nvPr/>
        </p:nvSpPr>
        <p:spPr bwMode="auto">
          <a:xfrm>
            <a:off x="2279651" y="3026728"/>
            <a:ext cx="417513"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400" b="1" dirty="0">
                <a:solidFill>
                  <a:srgbClr val="FF950E"/>
                </a:solidFill>
                <a:latin typeface="Lucida Sans Unicode" panose="020B0602030504020204" pitchFamily="34" charset="0"/>
              </a:rPr>
              <a:t>B</a:t>
            </a:r>
          </a:p>
        </p:txBody>
      </p:sp>
      <p:sp>
        <p:nvSpPr>
          <p:cNvPr id="13374" name="Text Box 62"/>
          <p:cNvSpPr txBox="1">
            <a:spLocks noChangeArrowheads="1"/>
          </p:cNvSpPr>
          <p:nvPr/>
        </p:nvSpPr>
        <p:spPr bwMode="auto">
          <a:xfrm>
            <a:off x="3384550" y="2282190"/>
            <a:ext cx="5969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400" b="1" dirty="0">
                <a:solidFill>
                  <a:srgbClr val="FF3333"/>
                </a:solidFill>
                <a:latin typeface="Lucida Sans Unicode" panose="020B0602030504020204" pitchFamily="34" charset="0"/>
              </a:rPr>
              <a:t>20</a:t>
            </a:r>
          </a:p>
        </p:txBody>
      </p:sp>
      <p:sp>
        <p:nvSpPr>
          <p:cNvPr id="13375" name="Text Box 63"/>
          <p:cNvSpPr txBox="1">
            <a:spLocks noChangeArrowheads="1"/>
          </p:cNvSpPr>
          <p:nvPr/>
        </p:nvSpPr>
        <p:spPr bwMode="auto">
          <a:xfrm>
            <a:off x="3360739" y="2993390"/>
            <a:ext cx="592137"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400" b="1" dirty="0">
                <a:solidFill>
                  <a:srgbClr val="FF950E"/>
                </a:solidFill>
                <a:latin typeface="Lucida Sans Unicode" panose="020B0602030504020204" pitchFamily="34" charset="0"/>
              </a:rPr>
              <a:t>30</a:t>
            </a:r>
          </a:p>
        </p:txBody>
      </p:sp>
      <p:sp>
        <p:nvSpPr>
          <p:cNvPr id="13376" name="Text Box 64"/>
          <p:cNvSpPr txBox="1">
            <a:spLocks noChangeArrowheads="1"/>
          </p:cNvSpPr>
          <p:nvPr/>
        </p:nvSpPr>
        <p:spPr bwMode="auto">
          <a:xfrm>
            <a:off x="3371851" y="3780790"/>
            <a:ext cx="582613"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400" b="1" dirty="0">
                <a:solidFill>
                  <a:srgbClr val="009933"/>
                </a:solidFill>
                <a:latin typeface="Lucida Sans Unicode" panose="020B0602030504020204" pitchFamily="34" charset="0"/>
              </a:rPr>
              <a:t>50</a:t>
            </a:r>
          </a:p>
        </p:txBody>
      </p:sp>
      <p:sp>
        <p:nvSpPr>
          <p:cNvPr id="13377" name="Text Box 65"/>
          <p:cNvSpPr txBox="1">
            <a:spLocks noChangeArrowheads="1"/>
          </p:cNvSpPr>
          <p:nvPr/>
        </p:nvSpPr>
        <p:spPr bwMode="auto">
          <a:xfrm>
            <a:off x="4864100" y="2290128"/>
            <a:ext cx="596900"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400" b="1" dirty="0">
                <a:solidFill>
                  <a:srgbClr val="FF3333"/>
                </a:solidFill>
                <a:latin typeface="Lucida Sans Unicode" panose="020B0602030504020204" pitchFamily="34" charset="0"/>
              </a:rPr>
              <a:t>80</a:t>
            </a:r>
          </a:p>
        </p:txBody>
      </p:sp>
      <p:sp>
        <p:nvSpPr>
          <p:cNvPr id="13378" name="Text Box 66"/>
          <p:cNvSpPr txBox="1">
            <a:spLocks noChangeArrowheads="1"/>
          </p:cNvSpPr>
          <p:nvPr/>
        </p:nvSpPr>
        <p:spPr bwMode="auto">
          <a:xfrm>
            <a:off x="4852989" y="3001328"/>
            <a:ext cx="619125"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r>
              <a:rPr lang="pt-BR" altLang="pt-BR" sz="2400" b="1" dirty="0">
                <a:solidFill>
                  <a:srgbClr val="FF950E"/>
                </a:solidFill>
                <a:latin typeface="Lucida Sans Unicode" panose="020B0602030504020204" pitchFamily="34" charset="0"/>
              </a:rPr>
              <a:t>15</a:t>
            </a:r>
          </a:p>
        </p:txBody>
      </p:sp>
      <p:sp>
        <p:nvSpPr>
          <p:cNvPr id="13379" name="Text Box 67"/>
          <p:cNvSpPr txBox="1">
            <a:spLocks noChangeArrowheads="1"/>
          </p:cNvSpPr>
          <p:nvPr/>
        </p:nvSpPr>
        <p:spPr bwMode="auto">
          <a:xfrm>
            <a:off x="5043488" y="3747453"/>
            <a:ext cx="442912"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400" b="1" dirty="0">
                <a:solidFill>
                  <a:srgbClr val="009933"/>
                </a:solidFill>
                <a:latin typeface="Lucida Sans Unicode" panose="020B0602030504020204" pitchFamily="34" charset="0"/>
              </a:rPr>
              <a:t>5</a:t>
            </a:r>
          </a:p>
        </p:txBody>
      </p:sp>
      <p:sp>
        <p:nvSpPr>
          <p:cNvPr id="13380" name="Text Box 68"/>
          <p:cNvSpPr txBox="1">
            <a:spLocks noChangeArrowheads="1"/>
          </p:cNvSpPr>
          <p:nvPr/>
        </p:nvSpPr>
        <p:spPr bwMode="auto">
          <a:xfrm>
            <a:off x="6051551" y="2223453"/>
            <a:ext cx="4113213"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b="1" dirty="0">
                <a:solidFill>
                  <a:srgbClr val="FF3333"/>
                </a:solidFill>
                <a:latin typeface="Lucida Sans Unicode" panose="020B0602030504020204" pitchFamily="34" charset="0"/>
              </a:rPr>
              <a:t>Itens mais importantes</a:t>
            </a:r>
          </a:p>
          <a:p>
            <a:pPr>
              <a:buClrTx/>
              <a:buFontTx/>
              <a:buNone/>
            </a:pPr>
            <a:r>
              <a:rPr lang="pt-BR" altLang="pt-BR" b="1" dirty="0">
                <a:solidFill>
                  <a:srgbClr val="FF3333"/>
                </a:solidFill>
                <a:latin typeface="Lucida Sans Unicode" panose="020B0602030504020204" pitchFamily="34" charset="0"/>
              </a:rPr>
              <a:t>Tratamento e atenção especial</a:t>
            </a:r>
          </a:p>
        </p:txBody>
      </p:sp>
      <p:sp>
        <p:nvSpPr>
          <p:cNvPr id="13381" name="Text Box 69"/>
          <p:cNvSpPr txBox="1">
            <a:spLocks noChangeArrowheads="1"/>
          </p:cNvSpPr>
          <p:nvPr/>
        </p:nvSpPr>
        <p:spPr bwMode="auto">
          <a:xfrm>
            <a:off x="6121401" y="3672841"/>
            <a:ext cx="4030663"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b="1" dirty="0">
                <a:solidFill>
                  <a:srgbClr val="009933"/>
                </a:solidFill>
                <a:latin typeface="Lucida Sans Unicode" panose="020B0602030504020204" pitchFamily="34" charset="0"/>
              </a:rPr>
              <a:t>Itens menos importantes</a:t>
            </a:r>
          </a:p>
          <a:p>
            <a:pPr>
              <a:buClrTx/>
              <a:buFontTx/>
              <a:buNone/>
            </a:pPr>
            <a:r>
              <a:rPr lang="pt-BR" altLang="pt-BR" b="1" dirty="0">
                <a:solidFill>
                  <a:srgbClr val="009933"/>
                </a:solidFill>
                <a:latin typeface="Lucida Sans Unicode" panose="020B0602030504020204" pitchFamily="34" charset="0"/>
              </a:rPr>
              <a:t>Tratamento e atenção mínimas</a:t>
            </a:r>
          </a:p>
        </p:txBody>
      </p:sp>
      <p:sp>
        <p:nvSpPr>
          <p:cNvPr id="13382" name="Text Box 70"/>
          <p:cNvSpPr txBox="1">
            <a:spLocks noChangeArrowheads="1"/>
          </p:cNvSpPr>
          <p:nvPr/>
        </p:nvSpPr>
        <p:spPr bwMode="auto">
          <a:xfrm>
            <a:off x="6067425" y="2912428"/>
            <a:ext cx="4083050"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b="1" dirty="0">
                <a:solidFill>
                  <a:srgbClr val="FF950E"/>
                </a:solidFill>
                <a:latin typeface="Lucida Sans Unicode" panose="020B0602030504020204" pitchFamily="34" charset="0"/>
              </a:rPr>
              <a:t>Itens de importância intermediária</a:t>
            </a:r>
          </a:p>
          <a:p>
            <a:pPr>
              <a:buClrTx/>
              <a:buFontTx/>
              <a:buNone/>
            </a:pPr>
            <a:r>
              <a:rPr lang="pt-BR" altLang="pt-BR" b="1" dirty="0">
                <a:solidFill>
                  <a:srgbClr val="FF950E"/>
                </a:solidFill>
                <a:latin typeface="Lucida Sans Unicode" panose="020B0602030504020204" pitchFamily="34" charset="0"/>
              </a:rPr>
              <a:t>Tratamento e atenção média</a:t>
            </a:r>
          </a:p>
        </p:txBody>
      </p:sp>
      <p:sp>
        <p:nvSpPr>
          <p:cNvPr id="13383" name="Text Box 71"/>
          <p:cNvSpPr txBox="1">
            <a:spLocks noChangeArrowheads="1"/>
          </p:cNvSpPr>
          <p:nvPr/>
        </p:nvSpPr>
        <p:spPr bwMode="auto">
          <a:xfrm>
            <a:off x="1948467" y="4636262"/>
            <a:ext cx="8393112" cy="16446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just" eaLnBrk="1" hangingPunct="1"/>
            <a:r>
              <a:rPr lang="pt-BR" altLang="pt-BR" b="1" dirty="0">
                <a:solidFill>
                  <a:schemeClr val="accent6"/>
                </a:solidFill>
                <a:latin typeface="Lucida Sans Unicode" panose="020B0602030504020204" pitchFamily="34" charset="0"/>
              </a:rPr>
              <a:t>VANTAGENS</a:t>
            </a:r>
            <a:r>
              <a:rPr lang="pt-BR" altLang="pt-BR" dirty="0">
                <a:solidFill>
                  <a:schemeClr val="accent6"/>
                </a:solidFill>
                <a:latin typeface="Lucida Sans Unicode" panose="020B0602030504020204" pitchFamily="34" charset="0"/>
              </a:rPr>
              <a:t>:</a:t>
            </a:r>
          </a:p>
          <a:p>
            <a:pPr algn="just" eaLnBrk="1" hangingPunct="1"/>
            <a:endParaRPr lang="pt-BR" altLang="pt-BR" sz="1200" dirty="0">
              <a:solidFill>
                <a:schemeClr val="accent6"/>
              </a:solidFill>
              <a:latin typeface="Lucida Sans Unicode" panose="020B0602030504020204" pitchFamily="34" charset="0"/>
            </a:endParaRPr>
          </a:p>
          <a:p>
            <a:pPr marL="285750" indent="-285750" algn="just">
              <a:buFontTx/>
              <a:buChar char="-"/>
            </a:pPr>
            <a:r>
              <a:rPr lang="pt-BR" altLang="pt-BR" dirty="0">
                <a:solidFill>
                  <a:schemeClr val="accent6"/>
                </a:solidFill>
                <a:latin typeface="Lucida Sans Unicode" panose="020B0602030504020204" pitchFamily="34" charset="0"/>
              </a:rPr>
              <a:t>Permite identificar a importância dos itens e determinar o tratamento adequado.</a:t>
            </a:r>
          </a:p>
          <a:p>
            <a:pPr algn="just"/>
            <a:endParaRPr lang="pt-BR" altLang="pt-BR" dirty="0">
              <a:solidFill>
                <a:schemeClr val="accent6"/>
              </a:solidFill>
              <a:latin typeface="Lucida Sans Unicode" panose="020B0602030504020204" pitchFamily="34" charset="0"/>
            </a:endParaRPr>
          </a:p>
          <a:p>
            <a:pPr algn="just" eaLnBrk="1" hangingPunct="1"/>
            <a:r>
              <a:rPr lang="pt-BR" altLang="pt-BR" dirty="0">
                <a:solidFill>
                  <a:schemeClr val="accent6"/>
                </a:solidFill>
                <a:latin typeface="Lucida Sans Unicode" panose="020B0602030504020204" pitchFamily="34" charset="0"/>
              </a:rPr>
              <a:t>- Concentração do esforço em administrar um pequeno número de itens.</a:t>
            </a:r>
          </a:p>
        </p:txBody>
      </p:sp>
      <p:sp>
        <p:nvSpPr>
          <p:cNvPr id="18" name="CaixaDeTexto 17"/>
          <p:cNvSpPr txBox="1"/>
          <p:nvPr/>
        </p:nvSpPr>
        <p:spPr>
          <a:xfrm>
            <a:off x="2139561" y="933429"/>
            <a:ext cx="7912878" cy="400110"/>
          </a:xfrm>
          <a:prstGeom prst="rect">
            <a:avLst/>
          </a:prstGeom>
          <a:noFill/>
        </p:spPr>
        <p:txBody>
          <a:bodyPr wrap="square" rtlCol="0">
            <a:spAutoFit/>
          </a:body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CURVA ABC</a:t>
            </a:r>
          </a:p>
        </p:txBody>
      </p:sp>
      <p:sp>
        <p:nvSpPr>
          <p:cNvPr id="19" name="CaixaDeTexto 18"/>
          <p:cNvSpPr txBox="1"/>
          <p:nvPr/>
        </p:nvSpPr>
        <p:spPr>
          <a:xfrm>
            <a:off x="2099556" y="299972"/>
            <a:ext cx="7992888" cy="461665"/>
          </a:xfrm>
          <a:prstGeom prst="rect">
            <a:avLst/>
          </a:prstGeom>
          <a:noFill/>
        </p:spPr>
        <p:txBody>
          <a:bodyPr wrap="square" rtlCol="0">
            <a:spAutoFit/>
          </a:bodyPr>
          <a:lstStyle/>
          <a:p>
            <a:pPr algn="ctr">
              <a:buClrTx/>
              <a:buFontTx/>
              <a:buNone/>
            </a:pPr>
            <a:r>
              <a:rPr lang="pt-BR" sz="2400" b="1" dirty="0">
                <a:solidFill>
                  <a:schemeClr val="accent6"/>
                </a:solidFill>
                <a:latin typeface="Lucida Sans Unicode" panose="020B0602030504020204" pitchFamily="34" charset="0"/>
                <a:cs typeface="Lucida Sans Unicode" panose="020B0602030504020204" pitchFamily="34" charset="0"/>
              </a:rPr>
              <a:t>SISTEMAS DE CONTROLE DE ESTOQUE</a:t>
            </a:r>
            <a:endParaRPr lang="pt-BR" altLang="pt-BR" sz="2400" b="1" dirty="0">
              <a:solidFill>
                <a:schemeClr val="accent6"/>
              </a:solidFill>
              <a:latin typeface="Lucida Sans Unicode" panose="020B0602030504020204" pitchFamily="34" charset="0"/>
            </a:endParaRPr>
          </a:p>
        </p:txBody>
      </p:sp>
    </p:spTree>
    <p:extLst>
      <p:ext uri="{BB962C8B-B14F-4D97-AF65-F5344CB8AC3E}">
        <p14:creationId xmlns:p14="http://schemas.microsoft.com/office/powerpoint/2010/main" val="4294353191"/>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1337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1337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1337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fill="hold" nodeType="clickEffect">
                                  <p:stCondLst>
                                    <p:cond delay="0"/>
                                  </p:stCondLst>
                                  <p:childTnLst>
                                    <p:set>
                                      <p:cBhvr additive="repl">
                                        <p:cTn id="18" dur="1" fill="hold">
                                          <p:stCondLst>
                                            <p:cond delay="0"/>
                                          </p:stCondLst>
                                        </p:cTn>
                                        <p:tgtEl>
                                          <p:spTgt spid="1337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fill="hold" nodeType="clickEffect">
                                  <p:stCondLst>
                                    <p:cond delay="0"/>
                                  </p:stCondLst>
                                  <p:childTnLst>
                                    <p:set>
                                      <p:cBhvr additive="repl">
                                        <p:cTn id="22" dur="1" fill="hold">
                                          <p:stCondLst>
                                            <p:cond delay="0"/>
                                          </p:stCondLst>
                                        </p:cTn>
                                        <p:tgtEl>
                                          <p:spTgt spid="1337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fill="hold" nodeType="clickEffect">
                                  <p:stCondLst>
                                    <p:cond delay="0"/>
                                  </p:stCondLst>
                                  <p:childTnLst>
                                    <p:set>
                                      <p:cBhvr additive="repl">
                                        <p:cTn id="26" dur="1" fill="hold">
                                          <p:stCondLst>
                                            <p:cond delay="0"/>
                                          </p:stCondLst>
                                        </p:cTn>
                                        <p:tgtEl>
                                          <p:spTgt spid="1338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fill="hold" nodeType="clickEffect">
                                  <p:stCondLst>
                                    <p:cond delay="0"/>
                                  </p:stCondLst>
                                  <p:childTnLst>
                                    <p:set>
                                      <p:cBhvr additive="repl">
                                        <p:cTn id="30" dur="1" fill="hold">
                                          <p:stCondLst>
                                            <p:cond delay="0"/>
                                          </p:stCondLst>
                                        </p:cTn>
                                        <p:tgtEl>
                                          <p:spTgt spid="1337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fill="hold" nodeType="clickEffect">
                                  <p:stCondLst>
                                    <p:cond delay="0"/>
                                  </p:stCondLst>
                                  <p:childTnLst>
                                    <p:set>
                                      <p:cBhvr additive="repl">
                                        <p:cTn id="34" dur="1" fill="hold">
                                          <p:stCondLst>
                                            <p:cond delay="0"/>
                                          </p:stCondLst>
                                        </p:cTn>
                                        <p:tgtEl>
                                          <p:spTgt spid="1337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fill="hold" nodeType="clickEffect">
                                  <p:stCondLst>
                                    <p:cond delay="0"/>
                                  </p:stCondLst>
                                  <p:childTnLst>
                                    <p:set>
                                      <p:cBhvr additive="repl">
                                        <p:cTn id="38" dur="1" fill="hold">
                                          <p:stCondLst>
                                            <p:cond delay="0"/>
                                          </p:stCondLst>
                                        </p:cTn>
                                        <p:tgtEl>
                                          <p:spTgt spid="1338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fill="hold" nodeType="clickEffect">
                                  <p:stCondLst>
                                    <p:cond delay="0"/>
                                  </p:stCondLst>
                                  <p:childTnLst>
                                    <p:set>
                                      <p:cBhvr additive="repl">
                                        <p:cTn id="42" dur="1" fill="hold">
                                          <p:stCondLst>
                                            <p:cond delay="0"/>
                                          </p:stCondLst>
                                        </p:cTn>
                                        <p:tgtEl>
                                          <p:spTgt spid="13376"/>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fill="hold" nodeType="clickEffect">
                                  <p:stCondLst>
                                    <p:cond delay="0"/>
                                  </p:stCondLst>
                                  <p:childTnLst>
                                    <p:set>
                                      <p:cBhvr additive="repl">
                                        <p:cTn id="46" dur="1" fill="hold">
                                          <p:stCondLst>
                                            <p:cond delay="0"/>
                                          </p:stCondLst>
                                        </p:cTn>
                                        <p:tgtEl>
                                          <p:spTgt spid="13379"/>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fill="hold" nodeType="clickEffect">
                                  <p:stCondLst>
                                    <p:cond delay="0"/>
                                  </p:stCondLst>
                                  <p:childTnLst>
                                    <p:set>
                                      <p:cBhvr additive="repl">
                                        <p:cTn id="50" dur="1" fill="hold">
                                          <p:stCondLst>
                                            <p:cond delay="0"/>
                                          </p:stCondLst>
                                        </p:cTn>
                                        <p:tgtEl>
                                          <p:spTgt spid="13381"/>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fill="hold" nodeType="clickEffect">
                                  <p:stCondLst>
                                    <p:cond delay="0"/>
                                  </p:stCondLst>
                                  <p:childTnLst>
                                    <p:set>
                                      <p:cBhvr additive="repl">
                                        <p:cTn id="54" dur="1" fill="hold">
                                          <p:stCondLst>
                                            <p:cond delay="0"/>
                                          </p:stCondLst>
                                        </p:cTn>
                                        <p:tgtEl>
                                          <p:spTgt spid="13383">
                                            <p:txEl>
                                              <p:pRg st="0" end="0"/>
                                            </p:txEl>
                                          </p:spTgt>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fill="hold" nodeType="clickEffect">
                                  <p:stCondLst>
                                    <p:cond delay="0"/>
                                  </p:stCondLst>
                                  <p:childTnLst>
                                    <p:set>
                                      <p:cBhvr additive="repl">
                                        <p:cTn id="58" dur="1" fill="hold">
                                          <p:stCondLst>
                                            <p:cond delay="0"/>
                                          </p:stCondLst>
                                        </p:cTn>
                                        <p:tgtEl>
                                          <p:spTgt spid="13383">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fill="hold" nodeType="clickEffect">
                                  <p:stCondLst>
                                    <p:cond delay="0"/>
                                  </p:stCondLst>
                                  <p:childTnLst>
                                    <p:set>
                                      <p:cBhvr additive="repl">
                                        <p:cTn id="62" dur="1" fill="hold">
                                          <p:stCondLst>
                                            <p:cond delay="0"/>
                                          </p:stCondLst>
                                        </p:cTn>
                                        <p:tgtEl>
                                          <p:spTgt spid="133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ço Reservado para Conteúdo 2"/>
          <p:cNvSpPr>
            <a:spLocks noGrp="1"/>
          </p:cNvSpPr>
          <p:nvPr>
            <p:ph sz="quarter" idx="4294967295"/>
          </p:nvPr>
        </p:nvSpPr>
        <p:spPr>
          <a:xfrm>
            <a:off x="0" y="2717800"/>
            <a:ext cx="9359900" cy="2733675"/>
          </a:xfrm>
        </p:spPr>
        <p:txBody>
          <a:bodyPr>
            <a:normAutofit fontScale="92500"/>
          </a:bodyPr>
          <a:lstStyle/>
          <a:p>
            <a:pPr marL="0" indent="0" algn="just">
              <a:lnSpc>
                <a:spcPct val="150000"/>
              </a:lnSpc>
              <a:buNone/>
              <a:defRPr/>
            </a:pPr>
            <a:r>
              <a:rPr lang="pt-BR" sz="2000" dirty="0">
                <a:solidFill>
                  <a:schemeClr val="accent6"/>
                </a:solidFill>
                <a:latin typeface="Lucida Sans Unicode" panose="020B0602030504020204" pitchFamily="34" charset="0"/>
                <a:cs typeface="Lucida Sans Unicode" panose="020B0602030504020204" pitchFamily="34" charset="0"/>
              </a:rPr>
              <a:t>A partir desta classificação priorizamos aqueles itens de classe A nas políticas de estoques devido à maior importância econômica.</a:t>
            </a:r>
          </a:p>
          <a:p>
            <a:pPr marL="0" indent="0" algn="just">
              <a:lnSpc>
                <a:spcPct val="150000"/>
              </a:lnSpc>
              <a:buNone/>
              <a:defRPr/>
            </a:pPr>
            <a:r>
              <a:rPr lang="pt-BR" sz="2000" dirty="0">
                <a:solidFill>
                  <a:schemeClr val="accent6"/>
                </a:solidFill>
                <a:latin typeface="Lucida Sans Unicode" panose="020B0602030504020204" pitchFamily="34" charset="0"/>
                <a:cs typeface="Lucida Sans Unicode" panose="020B0602030504020204" pitchFamily="34" charset="0"/>
              </a:rPr>
              <a:t> Desta forma, os itens classe A receberão sistematicamente maior atenção do que itens das classes B e C, em termos de análises mais detalhadas, menores estoques, maiores giros, menores lotes de reposição, mais contagem, etc.</a:t>
            </a:r>
          </a:p>
        </p:txBody>
      </p:sp>
      <p:sp>
        <p:nvSpPr>
          <p:cNvPr id="5" name="CaixaDeTexto 4"/>
          <p:cNvSpPr txBox="1"/>
          <p:nvPr/>
        </p:nvSpPr>
        <p:spPr>
          <a:xfrm>
            <a:off x="2139561" y="1676379"/>
            <a:ext cx="7912878" cy="369332"/>
          </a:xfrm>
          <a:prstGeom prst="rect">
            <a:avLst/>
          </a:prstGeom>
          <a:noFill/>
        </p:spPr>
        <p:txBody>
          <a:bodyPr wrap="square" rtlCol="0">
            <a:spAutoFit/>
          </a:bodyPr>
          <a:lstStyle/>
          <a:p>
            <a:pPr algn="ctr"/>
            <a:r>
              <a:rPr lang="pt-BR" b="1" dirty="0">
                <a:solidFill>
                  <a:schemeClr val="accent6"/>
                </a:solidFill>
                <a:latin typeface="Lucida Sans Unicode" panose="020B0602030504020204" pitchFamily="34" charset="0"/>
                <a:cs typeface="Lucida Sans Unicode" panose="020B0602030504020204" pitchFamily="34" charset="0"/>
              </a:rPr>
              <a:t>CURVA ABC</a:t>
            </a:r>
          </a:p>
        </p:txBody>
      </p:sp>
      <p:sp>
        <p:nvSpPr>
          <p:cNvPr id="6" name="CaixaDeTexto 5"/>
          <p:cNvSpPr txBox="1"/>
          <p:nvPr/>
        </p:nvSpPr>
        <p:spPr>
          <a:xfrm>
            <a:off x="2099556" y="299972"/>
            <a:ext cx="7992888" cy="461665"/>
          </a:xfrm>
          <a:prstGeom prst="rect">
            <a:avLst/>
          </a:prstGeom>
          <a:noFill/>
        </p:spPr>
        <p:txBody>
          <a:bodyPr wrap="square" rtlCol="0">
            <a:spAutoFit/>
          </a:bodyPr>
          <a:lstStyle/>
          <a:p>
            <a:pPr algn="ctr"/>
            <a:r>
              <a:rPr lang="pt-BR" sz="2400" b="1" dirty="0">
                <a:solidFill>
                  <a:schemeClr val="accent6"/>
                </a:solidFill>
                <a:latin typeface="Lucida Sans Unicode" panose="020B0602030504020204" pitchFamily="34" charset="0"/>
                <a:cs typeface="Lucida Sans Unicode" panose="020B0602030504020204" pitchFamily="34" charset="0"/>
              </a:rPr>
              <a:t>ATIVIDADES DE COMPRAS</a:t>
            </a:r>
          </a:p>
        </p:txBody>
      </p:sp>
      <p:sp>
        <p:nvSpPr>
          <p:cNvPr id="7" name="CaixaDeTexto 6"/>
          <p:cNvSpPr txBox="1"/>
          <p:nvPr/>
        </p:nvSpPr>
        <p:spPr>
          <a:xfrm>
            <a:off x="2099556" y="953193"/>
            <a:ext cx="7992888" cy="400110"/>
          </a:xfrm>
          <a:prstGeom prst="rect">
            <a:avLst/>
          </a:prstGeom>
          <a:noFill/>
        </p:spPr>
        <p:txBody>
          <a:bodyPr wrap="square" rtlCol="0">
            <a:spAutoFit/>
          </a:bodyPr>
          <a:lstStyle/>
          <a:p>
            <a:pPr algn="ctr">
              <a:buClrTx/>
              <a:buFontTx/>
              <a:buNone/>
            </a:pPr>
            <a:r>
              <a:rPr lang="pt-BR" sz="2000" b="1" dirty="0">
                <a:solidFill>
                  <a:schemeClr val="accent6"/>
                </a:solidFill>
                <a:latin typeface="Lucida Sans Unicode" panose="020B0602030504020204" pitchFamily="34" charset="0"/>
                <a:cs typeface="Lucida Sans Unicode" panose="020B0602030504020204" pitchFamily="34" charset="0"/>
              </a:rPr>
              <a:t>SISTEMAS DE CONTROLE DE ESTOQUE</a:t>
            </a:r>
            <a:endParaRPr lang="pt-BR" altLang="pt-BR" sz="2000" b="1" dirty="0">
              <a:solidFill>
                <a:schemeClr val="accent6"/>
              </a:solidFill>
              <a:latin typeface="Lucida Sans Unicode" panose="020B0602030504020204" pitchFamily="34" charset="0"/>
            </a:endParaRPr>
          </a:p>
        </p:txBody>
      </p:sp>
    </p:spTree>
    <p:extLst>
      <p:ext uri="{BB962C8B-B14F-4D97-AF65-F5344CB8AC3E}">
        <p14:creationId xmlns:p14="http://schemas.microsoft.com/office/powerpoint/2010/main" val="395295754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Text Box 1"/>
          <p:cNvSpPr txBox="1">
            <a:spLocks noChangeArrowheads="1"/>
          </p:cNvSpPr>
          <p:nvPr/>
        </p:nvSpPr>
        <p:spPr bwMode="auto">
          <a:xfrm>
            <a:off x="1095375" y="2363219"/>
            <a:ext cx="10001250" cy="3049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r>
              <a:rPr lang="pt-BR" altLang="pt-BR" dirty="0">
                <a:solidFill>
                  <a:schemeClr val="accent6"/>
                </a:solidFill>
                <a:latin typeface="Lucida Sans Unicode" panose="020B0602030504020204" pitchFamily="34" charset="0"/>
              </a:rPr>
              <a:t>- Os parâmetros podem variar de organização para organização.</a:t>
            </a:r>
          </a:p>
          <a:p>
            <a:endParaRPr lang="pt-BR" altLang="pt-BR" sz="1200" dirty="0">
              <a:solidFill>
                <a:schemeClr val="accent6"/>
              </a:solidFill>
              <a:latin typeface="Lucida Sans Unicode" panose="020B0602030504020204" pitchFamily="34" charset="0"/>
            </a:endParaRPr>
          </a:p>
          <a:p>
            <a:r>
              <a:rPr lang="pt-BR" altLang="pt-BR" dirty="0">
                <a:solidFill>
                  <a:schemeClr val="accent6"/>
                </a:solidFill>
                <a:latin typeface="Lucida Sans Unicode" panose="020B0602030504020204" pitchFamily="34" charset="0"/>
              </a:rPr>
              <a:t>- A definição das classes A, B e C obedece a critérios de bom senso e conveniência dos controles a serem estabelecidos.</a:t>
            </a:r>
          </a:p>
          <a:p>
            <a:endParaRPr lang="pt-BR" altLang="pt-BR" dirty="0">
              <a:solidFill>
                <a:schemeClr val="accent6"/>
              </a:solidFill>
              <a:latin typeface="Lucida Sans Unicode" panose="020B0602030504020204" pitchFamily="34" charset="0"/>
            </a:endParaRPr>
          </a:p>
          <a:p>
            <a:r>
              <a:rPr lang="pt-BR" altLang="pt-BR" b="1" dirty="0">
                <a:solidFill>
                  <a:schemeClr val="accent6"/>
                </a:solidFill>
                <a:latin typeface="Lucida Sans Unicode" panose="020B0602030504020204" pitchFamily="34" charset="0"/>
              </a:rPr>
              <a:t>EXEMPLO</a:t>
            </a:r>
            <a:r>
              <a:rPr lang="pt-BR" altLang="pt-BR" dirty="0">
                <a:solidFill>
                  <a:schemeClr val="accent6"/>
                </a:solidFill>
                <a:latin typeface="Lucida Sans Unicode" panose="020B0602030504020204" pitchFamily="34" charset="0"/>
              </a:rPr>
              <a:t>:</a:t>
            </a:r>
          </a:p>
          <a:p>
            <a:endParaRPr lang="pt-BR" altLang="pt-BR" sz="1200" dirty="0">
              <a:solidFill>
                <a:schemeClr val="accent6"/>
              </a:solidFill>
              <a:latin typeface="Lucida Sans Unicode" panose="020B0602030504020204" pitchFamily="34" charset="0"/>
            </a:endParaRPr>
          </a:p>
          <a:p>
            <a:r>
              <a:rPr lang="pt-BR" altLang="pt-BR" dirty="0">
                <a:solidFill>
                  <a:schemeClr val="accent6"/>
                </a:solidFill>
                <a:latin typeface="Lucida Sans Unicode" panose="020B0602030504020204" pitchFamily="34" charset="0"/>
              </a:rPr>
              <a:t>Classe A: itens do estoque com demanda de 65% num dado período;</a:t>
            </a:r>
          </a:p>
          <a:p>
            <a:endParaRPr lang="pt-BR" altLang="pt-BR" sz="1200" dirty="0">
              <a:solidFill>
                <a:schemeClr val="accent6"/>
              </a:solidFill>
              <a:latin typeface="Lucida Sans Unicode" panose="020B0602030504020204" pitchFamily="34" charset="0"/>
            </a:endParaRPr>
          </a:p>
          <a:p>
            <a:r>
              <a:rPr lang="pt-BR" altLang="pt-BR" dirty="0">
                <a:solidFill>
                  <a:schemeClr val="accent6"/>
                </a:solidFill>
                <a:latin typeface="Lucida Sans Unicode" panose="020B0602030504020204" pitchFamily="34" charset="0"/>
              </a:rPr>
              <a:t>Classe B: itens do estoque com demanda de 25% num dado período;</a:t>
            </a:r>
          </a:p>
          <a:p>
            <a:endParaRPr lang="pt-BR" altLang="pt-BR" sz="1200" dirty="0">
              <a:solidFill>
                <a:schemeClr val="accent6"/>
              </a:solidFill>
              <a:latin typeface="Lucida Sans Unicode" panose="020B0602030504020204" pitchFamily="34" charset="0"/>
            </a:endParaRPr>
          </a:p>
          <a:p>
            <a:r>
              <a:rPr lang="pt-BR" altLang="pt-BR" dirty="0">
                <a:solidFill>
                  <a:schemeClr val="accent6"/>
                </a:solidFill>
                <a:latin typeface="Lucida Sans Unicode" panose="020B0602030504020204" pitchFamily="34" charset="0"/>
              </a:rPr>
              <a:t>Classe C: itens do estoque com demanda de 10% num dado período.</a:t>
            </a:r>
          </a:p>
          <a:p>
            <a:endParaRPr lang="pt-BR" altLang="pt-BR" dirty="0">
              <a:solidFill>
                <a:schemeClr val="accent6"/>
              </a:solidFill>
              <a:latin typeface="Lucida Sans Unicode" panose="020B0602030504020204" pitchFamily="34" charset="0"/>
            </a:endParaRPr>
          </a:p>
          <a:p>
            <a:endParaRPr lang="pt-BR" altLang="pt-BR" dirty="0">
              <a:solidFill>
                <a:schemeClr val="accent6"/>
              </a:solidFill>
              <a:latin typeface="Lucida Sans Unicode" panose="020B0602030504020204" pitchFamily="34" charset="0"/>
            </a:endParaRPr>
          </a:p>
        </p:txBody>
      </p:sp>
      <p:sp>
        <p:nvSpPr>
          <p:cNvPr id="7" name="CaixaDeTexto 6"/>
          <p:cNvSpPr txBox="1"/>
          <p:nvPr/>
        </p:nvSpPr>
        <p:spPr>
          <a:xfrm>
            <a:off x="2139561" y="933429"/>
            <a:ext cx="7912878" cy="400110"/>
          </a:xfrm>
          <a:prstGeom prst="rect">
            <a:avLst/>
          </a:prstGeom>
          <a:noFill/>
        </p:spPr>
        <p:txBody>
          <a:bodyPr wrap="square" rtlCol="0">
            <a:spAutoFit/>
          </a:body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CURVA ABC</a:t>
            </a:r>
          </a:p>
        </p:txBody>
      </p:sp>
      <p:sp>
        <p:nvSpPr>
          <p:cNvPr id="8" name="CaixaDeTexto 7"/>
          <p:cNvSpPr txBox="1"/>
          <p:nvPr/>
        </p:nvSpPr>
        <p:spPr>
          <a:xfrm>
            <a:off x="2099556" y="299972"/>
            <a:ext cx="7992888" cy="461665"/>
          </a:xfrm>
          <a:prstGeom prst="rect">
            <a:avLst/>
          </a:prstGeom>
          <a:noFill/>
        </p:spPr>
        <p:txBody>
          <a:bodyPr wrap="square" rtlCol="0">
            <a:spAutoFit/>
          </a:bodyPr>
          <a:lstStyle/>
          <a:p>
            <a:pPr algn="ctr">
              <a:buClrTx/>
              <a:buFontTx/>
              <a:buNone/>
            </a:pPr>
            <a:r>
              <a:rPr lang="pt-BR" sz="2400" b="1" dirty="0">
                <a:solidFill>
                  <a:schemeClr val="accent6"/>
                </a:solidFill>
                <a:latin typeface="Lucida Sans Unicode" panose="020B0602030504020204" pitchFamily="34" charset="0"/>
                <a:cs typeface="Lucida Sans Unicode" panose="020B0602030504020204" pitchFamily="34" charset="0"/>
              </a:rPr>
              <a:t>SISTEMAS DE CONTROLE DE ESTOQUE</a:t>
            </a:r>
            <a:endParaRPr lang="pt-BR" altLang="pt-BR" sz="2400" b="1" dirty="0">
              <a:solidFill>
                <a:schemeClr val="accent6"/>
              </a:solidFill>
              <a:latin typeface="Lucida Sans Unicode" panose="020B0602030504020204" pitchFamily="34" charset="0"/>
            </a:endParaRPr>
          </a:p>
        </p:txBody>
      </p:sp>
    </p:spTree>
    <p:extLst>
      <p:ext uri="{BB962C8B-B14F-4D97-AF65-F5344CB8AC3E}">
        <p14:creationId xmlns:p14="http://schemas.microsoft.com/office/powerpoint/2010/main" val="161845166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458">
                                            <p:txEl>
                                              <p:pRg st="0" end="0"/>
                                            </p:txEl>
                                          </p:spTgt>
                                        </p:tgtEl>
                                        <p:attrNameLst>
                                          <p:attrName>style.visibility</p:attrName>
                                        </p:attrNameLst>
                                      </p:cBhvr>
                                      <p:to>
                                        <p:strVal val="visible"/>
                                      </p:to>
                                    </p:set>
                                    <p:animEffect transition="in" filter="fade">
                                      <p:cBhvr>
                                        <p:cTn id="7" dur="1000"/>
                                        <p:tgtEl>
                                          <p:spTgt spid="19458">
                                            <p:txEl>
                                              <p:pRg st="0" end="0"/>
                                            </p:txEl>
                                          </p:spTgt>
                                        </p:tgtEl>
                                      </p:cBhvr>
                                    </p:animEffect>
                                    <p:anim calcmode="lin" valueType="num">
                                      <p:cBhvr>
                                        <p:cTn id="8" dur="1000" fill="hold"/>
                                        <p:tgtEl>
                                          <p:spTgt spid="1945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945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458">
                                            <p:txEl>
                                              <p:pRg st="2" end="2"/>
                                            </p:txEl>
                                          </p:spTgt>
                                        </p:tgtEl>
                                        <p:attrNameLst>
                                          <p:attrName>style.visibility</p:attrName>
                                        </p:attrNameLst>
                                      </p:cBhvr>
                                      <p:to>
                                        <p:strVal val="visible"/>
                                      </p:to>
                                    </p:set>
                                    <p:animEffect transition="in" filter="fade">
                                      <p:cBhvr>
                                        <p:cTn id="14" dur="1000"/>
                                        <p:tgtEl>
                                          <p:spTgt spid="19458">
                                            <p:txEl>
                                              <p:pRg st="2" end="2"/>
                                            </p:txEl>
                                          </p:spTgt>
                                        </p:tgtEl>
                                      </p:cBhvr>
                                    </p:animEffect>
                                    <p:anim calcmode="lin" valueType="num">
                                      <p:cBhvr>
                                        <p:cTn id="15" dur="1000" fill="hold"/>
                                        <p:tgtEl>
                                          <p:spTgt spid="19458">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945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9458">
                                            <p:txEl>
                                              <p:pRg st="4" end="4"/>
                                            </p:txEl>
                                          </p:spTgt>
                                        </p:tgtEl>
                                        <p:attrNameLst>
                                          <p:attrName>style.visibility</p:attrName>
                                        </p:attrNameLst>
                                      </p:cBhvr>
                                      <p:to>
                                        <p:strVal val="visible"/>
                                      </p:to>
                                    </p:set>
                                    <p:animEffect transition="in" filter="fade">
                                      <p:cBhvr>
                                        <p:cTn id="21" dur="1000"/>
                                        <p:tgtEl>
                                          <p:spTgt spid="19458">
                                            <p:txEl>
                                              <p:pRg st="4" end="4"/>
                                            </p:txEl>
                                          </p:spTgt>
                                        </p:tgtEl>
                                      </p:cBhvr>
                                    </p:animEffect>
                                    <p:anim calcmode="lin" valueType="num">
                                      <p:cBhvr>
                                        <p:cTn id="22" dur="1000" fill="hold"/>
                                        <p:tgtEl>
                                          <p:spTgt spid="19458">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19458">
                                            <p:txEl>
                                              <p:pRg st="4" end="4"/>
                                            </p:txEl>
                                          </p:spTgt>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42" presetClass="entr" presetSubtype="0" fill="hold" grpId="0" nodeType="afterEffect">
                                  <p:stCondLst>
                                    <p:cond delay="0"/>
                                  </p:stCondLst>
                                  <p:childTnLst>
                                    <p:set>
                                      <p:cBhvr>
                                        <p:cTn id="26" dur="1" fill="hold">
                                          <p:stCondLst>
                                            <p:cond delay="0"/>
                                          </p:stCondLst>
                                        </p:cTn>
                                        <p:tgtEl>
                                          <p:spTgt spid="19458">
                                            <p:txEl>
                                              <p:pRg st="6" end="6"/>
                                            </p:txEl>
                                          </p:spTgt>
                                        </p:tgtEl>
                                        <p:attrNameLst>
                                          <p:attrName>style.visibility</p:attrName>
                                        </p:attrNameLst>
                                      </p:cBhvr>
                                      <p:to>
                                        <p:strVal val="visible"/>
                                      </p:to>
                                    </p:set>
                                    <p:animEffect transition="in" filter="fade">
                                      <p:cBhvr>
                                        <p:cTn id="27" dur="1000"/>
                                        <p:tgtEl>
                                          <p:spTgt spid="19458">
                                            <p:txEl>
                                              <p:pRg st="6" end="6"/>
                                            </p:txEl>
                                          </p:spTgt>
                                        </p:tgtEl>
                                      </p:cBhvr>
                                    </p:animEffect>
                                    <p:anim calcmode="lin" valueType="num">
                                      <p:cBhvr>
                                        <p:cTn id="28" dur="1000" fill="hold"/>
                                        <p:tgtEl>
                                          <p:spTgt spid="19458">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19458">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9458">
                                            <p:txEl>
                                              <p:pRg st="8" end="8"/>
                                            </p:txEl>
                                          </p:spTgt>
                                        </p:tgtEl>
                                        <p:attrNameLst>
                                          <p:attrName>style.visibility</p:attrName>
                                        </p:attrNameLst>
                                      </p:cBhvr>
                                      <p:to>
                                        <p:strVal val="visible"/>
                                      </p:to>
                                    </p:set>
                                    <p:animEffect transition="in" filter="fade">
                                      <p:cBhvr>
                                        <p:cTn id="32" dur="1000"/>
                                        <p:tgtEl>
                                          <p:spTgt spid="19458">
                                            <p:txEl>
                                              <p:pRg st="8" end="8"/>
                                            </p:txEl>
                                          </p:spTgt>
                                        </p:tgtEl>
                                      </p:cBhvr>
                                    </p:animEffect>
                                    <p:anim calcmode="lin" valueType="num">
                                      <p:cBhvr>
                                        <p:cTn id="33" dur="1000" fill="hold"/>
                                        <p:tgtEl>
                                          <p:spTgt spid="19458">
                                            <p:txEl>
                                              <p:pRg st="8" end="8"/>
                                            </p:txEl>
                                          </p:spTgt>
                                        </p:tgtEl>
                                        <p:attrNameLst>
                                          <p:attrName>ppt_x</p:attrName>
                                        </p:attrNameLst>
                                      </p:cBhvr>
                                      <p:tavLst>
                                        <p:tav tm="0">
                                          <p:val>
                                            <p:strVal val="#ppt_x"/>
                                          </p:val>
                                        </p:tav>
                                        <p:tav tm="100000">
                                          <p:val>
                                            <p:strVal val="#ppt_x"/>
                                          </p:val>
                                        </p:tav>
                                      </p:tavLst>
                                    </p:anim>
                                    <p:anim calcmode="lin" valueType="num">
                                      <p:cBhvr>
                                        <p:cTn id="34" dur="1000" fill="hold"/>
                                        <p:tgtEl>
                                          <p:spTgt spid="19458">
                                            <p:txEl>
                                              <p:pRg st="8" end="8"/>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9458">
                                            <p:txEl>
                                              <p:pRg st="10" end="10"/>
                                            </p:txEl>
                                          </p:spTgt>
                                        </p:tgtEl>
                                        <p:attrNameLst>
                                          <p:attrName>style.visibility</p:attrName>
                                        </p:attrNameLst>
                                      </p:cBhvr>
                                      <p:to>
                                        <p:strVal val="visible"/>
                                      </p:to>
                                    </p:set>
                                    <p:animEffect transition="in" filter="fade">
                                      <p:cBhvr>
                                        <p:cTn id="37" dur="1000"/>
                                        <p:tgtEl>
                                          <p:spTgt spid="19458">
                                            <p:txEl>
                                              <p:pRg st="10" end="10"/>
                                            </p:txEl>
                                          </p:spTgt>
                                        </p:tgtEl>
                                      </p:cBhvr>
                                    </p:animEffect>
                                    <p:anim calcmode="lin" valueType="num">
                                      <p:cBhvr>
                                        <p:cTn id="38" dur="1000" fill="hold"/>
                                        <p:tgtEl>
                                          <p:spTgt spid="19458">
                                            <p:txEl>
                                              <p:pRg st="10" end="10"/>
                                            </p:txEl>
                                          </p:spTgt>
                                        </p:tgtEl>
                                        <p:attrNameLst>
                                          <p:attrName>ppt_x</p:attrName>
                                        </p:attrNameLst>
                                      </p:cBhvr>
                                      <p:tavLst>
                                        <p:tav tm="0">
                                          <p:val>
                                            <p:strVal val="#ppt_x"/>
                                          </p:val>
                                        </p:tav>
                                        <p:tav tm="100000">
                                          <p:val>
                                            <p:strVal val="#ppt_x"/>
                                          </p:val>
                                        </p:tav>
                                      </p:tavLst>
                                    </p:anim>
                                    <p:anim calcmode="lin" valueType="num">
                                      <p:cBhvr>
                                        <p:cTn id="39" dur="1000" fill="hold"/>
                                        <p:tgtEl>
                                          <p:spTgt spid="19458">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uiExpand="1" build="p"/>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6385" name="Group 1"/>
          <p:cNvGraphicFramePr>
            <a:graphicFrameLocks noGrp="1"/>
          </p:cNvGraphicFramePr>
          <p:nvPr>
            <p:extLst>
              <p:ext uri="{D42A27DB-BD31-4B8C-83A1-F6EECF244321}">
                <p14:modId xmlns:p14="http://schemas.microsoft.com/office/powerpoint/2010/main" val="3575737980"/>
              </p:ext>
            </p:extLst>
          </p:nvPr>
        </p:nvGraphicFramePr>
        <p:xfrm>
          <a:off x="6593466" y="300347"/>
          <a:ext cx="3484562" cy="5891215"/>
        </p:xfrm>
        <a:graphic>
          <a:graphicData uri="http://schemas.openxmlformats.org/drawingml/2006/table">
            <a:tbl>
              <a:tblPr/>
              <a:tblGrid>
                <a:gridCol w="814387">
                  <a:extLst>
                    <a:ext uri="{9D8B030D-6E8A-4147-A177-3AD203B41FA5}">
                      <a16:colId xmlns:a16="http://schemas.microsoft.com/office/drawing/2014/main" val="20000"/>
                    </a:ext>
                  </a:extLst>
                </a:gridCol>
                <a:gridCol w="1400175">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tblGrid>
              <a:tr h="786297">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0"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cs typeface="Arial" panose="020B0604020202020204" pitchFamily="34" charset="0"/>
                        </a:rPr>
                        <a:t>ITEM</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Consumo médio mensal (un.)</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Custo unitário ($)</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extLst>
                  <a:ext uri="{0D108BD9-81ED-4DB2-BD59-A6C34878D82A}">
                    <a16:rowId xmlns:a16="http://schemas.microsoft.com/office/drawing/2014/main" val="10000"/>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I-32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1"/>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I-12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1.200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8,00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2"/>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I-92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6.000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5,00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3"/>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I-15</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600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4,00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4"/>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I-52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74</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5"/>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I-40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43</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5,00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6"/>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I-22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165</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7,00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7"/>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I-48</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2.750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8"/>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I-39</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3.500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2,50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9"/>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I-10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10"/>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I-61</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350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11"/>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I-72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120,00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12"/>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I-13</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100,00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13"/>
                  </a:ext>
                </a:extLst>
              </a:tr>
              <a:tr h="364637">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34.715</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14"/>
                  </a:ext>
                </a:extLst>
              </a:tr>
            </a:tbl>
          </a:graphicData>
        </a:graphic>
      </p:graphicFrame>
      <p:sp>
        <p:nvSpPr>
          <p:cNvPr id="44" name="CaixaDeTexto 43"/>
          <p:cNvSpPr txBox="1"/>
          <p:nvPr/>
        </p:nvSpPr>
        <p:spPr>
          <a:xfrm>
            <a:off x="1492081" y="442851"/>
            <a:ext cx="4034816" cy="400110"/>
          </a:xfrm>
          <a:prstGeom prst="rect">
            <a:avLst/>
          </a:prstGeom>
          <a:noFill/>
        </p:spPr>
        <p:txBody>
          <a:bodyPr wrap="square" rtlCol="0">
            <a:spAutoFit/>
          </a:body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CURVA ABC</a:t>
            </a:r>
          </a:p>
        </p:txBody>
      </p:sp>
      <p:sp>
        <p:nvSpPr>
          <p:cNvPr id="46" name="Text Box 2"/>
          <p:cNvSpPr txBox="1">
            <a:spLocks noChangeArrowheads="1"/>
          </p:cNvSpPr>
          <p:nvPr/>
        </p:nvSpPr>
        <p:spPr bwMode="auto">
          <a:xfrm>
            <a:off x="857333" y="1172623"/>
            <a:ext cx="5304312" cy="50189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0000" tIns="46800" rIns="90000" bIns="46800">
            <a:spAutoFit/>
          </a:bodyP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1600" dirty="0">
                <a:solidFill>
                  <a:schemeClr val="accent6"/>
                </a:solidFill>
                <a:latin typeface="Lucida Sans Unicode" panose="020B0602030504020204" pitchFamily="34" charset="0"/>
              </a:rPr>
              <a:t>(a) Calcular o “Custo Médio Mensal”, multiplicando o “Custo Unitário” pelo “Consumo Médio Mensal em 12 Meses” (média de consumo de um produto nos últimos 12 meses);</a:t>
            </a:r>
          </a:p>
          <a:p>
            <a:pPr>
              <a:buClrTx/>
              <a:buFontTx/>
              <a:buNone/>
            </a:pPr>
            <a:endParaRPr lang="pt-BR" altLang="pt-BR" sz="1600" dirty="0">
              <a:solidFill>
                <a:schemeClr val="accent6"/>
              </a:solidFill>
              <a:latin typeface="Lucida Sans Unicode" panose="020B0602030504020204" pitchFamily="34" charset="0"/>
            </a:endParaRPr>
          </a:p>
          <a:p>
            <a:pPr>
              <a:buClrTx/>
              <a:buFontTx/>
              <a:buNone/>
            </a:pPr>
            <a:r>
              <a:rPr lang="pt-BR" altLang="pt-BR" sz="1600" dirty="0">
                <a:solidFill>
                  <a:schemeClr val="accent6"/>
                </a:solidFill>
                <a:latin typeface="Lucida Sans Unicode" panose="020B0602030504020204" pitchFamily="34" charset="0"/>
              </a:rPr>
              <a:t>(b) Calcular o percentual (representatividade) de cada produto sobre o total;</a:t>
            </a:r>
          </a:p>
          <a:p>
            <a:pPr>
              <a:buClrTx/>
              <a:buFontTx/>
              <a:buNone/>
            </a:pPr>
            <a:endParaRPr lang="pt-BR" altLang="pt-BR" sz="1600" dirty="0">
              <a:solidFill>
                <a:schemeClr val="accent6"/>
              </a:solidFill>
              <a:latin typeface="Lucida Sans Unicode" panose="020B0602030504020204" pitchFamily="34" charset="0"/>
            </a:endParaRPr>
          </a:p>
          <a:p>
            <a:pPr>
              <a:buClrTx/>
              <a:buFontTx/>
              <a:buNone/>
            </a:pPr>
            <a:r>
              <a:rPr lang="pt-BR" altLang="pt-BR" sz="1600" dirty="0">
                <a:solidFill>
                  <a:schemeClr val="accent6"/>
                </a:solidFill>
                <a:latin typeface="Lucida Sans Unicode" panose="020B0602030504020204" pitchFamily="34" charset="0"/>
              </a:rPr>
              <a:t>(c) Ordenar os itens de acordo com os percentuais encontrados;</a:t>
            </a:r>
          </a:p>
          <a:p>
            <a:pPr>
              <a:buClrTx/>
              <a:buFontTx/>
              <a:buNone/>
            </a:pPr>
            <a:endParaRPr lang="pt-BR" altLang="pt-BR" sz="1600" dirty="0">
              <a:solidFill>
                <a:schemeClr val="accent6"/>
              </a:solidFill>
              <a:latin typeface="Lucida Sans Unicode" panose="020B0602030504020204" pitchFamily="34" charset="0"/>
            </a:endParaRPr>
          </a:p>
          <a:p>
            <a:pPr>
              <a:buClrTx/>
              <a:buFontTx/>
              <a:buNone/>
            </a:pPr>
            <a:r>
              <a:rPr lang="pt-BR" altLang="pt-BR" sz="1600" dirty="0">
                <a:solidFill>
                  <a:schemeClr val="accent6"/>
                </a:solidFill>
                <a:latin typeface="Lucida Sans Unicode" panose="020B0602030504020204" pitchFamily="34" charset="0"/>
              </a:rPr>
              <a:t>(c) Acumular ao percentuais;</a:t>
            </a:r>
          </a:p>
          <a:p>
            <a:pPr>
              <a:buClrTx/>
              <a:buFontTx/>
              <a:buNone/>
            </a:pPr>
            <a:endParaRPr lang="pt-BR" altLang="pt-BR" sz="1600" dirty="0">
              <a:solidFill>
                <a:schemeClr val="accent6"/>
              </a:solidFill>
              <a:latin typeface="Lucida Sans Unicode" panose="020B0602030504020204" pitchFamily="34" charset="0"/>
            </a:endParaRPr>
          </a:p>
          <a:p>
            <a:pPr>
              <a:buClrTx/>
              <a:buFontTx/>
              <a:buNone/>
            </a:pPr>
            <a:r>
              <a:rPr lang="pt-BR" altLang="pt-BR" sz="1600" dirty="0">
                <a:solidFill>
                  <a:schemeClr val="accent6"/>
                </a:solidFill>
                <a:latin typeface="Lucida Sans Unicode" panose="020B0602030504020204" pitchFamily="34" charset="0"/>
              </a:rPr>
              <a:t>(d) Com base nas informações de % acumulado de consumo, classificar como A, B ou C.</a:t>
            </a:r>
          </a:p>
          <a:p>
            <a:pPr>
              <a:buClrTx/>
              <a:buFontTx/>
              <a:buNone/>
            </a:pPr>
            <a:endParaRPr lang="pt-BR" altLang="pt-BR" sz="1600" dirty="0">
              <a:solidFill>
                <a:schemeClr val="accent6"/>
              </a:solidFill>
              <a:latin typeface="Lucida Sans Unicode" panose="020B0602030504020204" pitchFamily="34" charset="0"/>
            </a:endParaRPr>
          </a:p>
          <a:p>
            <a:pPr>
              <a:buClrTx/>
              <a:buFontTx/>
              <a:buNone/>
            </a:pPr>
            <a:r>
              <a:rPr lang="pt-BR" altLang="pt-BR" sz="1600" i="1" dirty="0">
                <a:solidFill>
                  <a:schemeClr val="accent6"/>
                </a:solidFill>
                <a:latin typeface="Lucida Sans Unicode" panose="020B0602030504020204" pitchFamily="34" charset="0"/>
              </a:rPr>
              <a:t>Sugestão de critério</a:t>
            </a:r>
            <a:r>
              <a:rPr lang="pt-BR" altLang="pt-BR" sz="1600" dirty="0">
                <a:solidFill>
                  <a:schemeClr val="accent6"/>
                </a:solidFill>
                <a:latin typeface="Lucida Sans Unicode" panose="020B0602030504020204" pitchFamily="34" charset="0"/>
              </a:rPr>
              <a:t>:</a:t>
            </a:r>
          </a:p>
          <a:p>
            <a:pPr>
              <a:buClrTx/>
              <a:buFontTx/>
              <a:buNone/>
            </a:pPr>
            <a:r>
              <a:rPr lang="pt-BR" altLang="pt-BR" sz="1600" i="1" dirty="0">
                <a:solidFill>
                  <a:schemeClr val="accent6"/>
                </a:solidFill>
                <a:latin typeface="Lucida Sans Unicode" panose="020B0602030504020204" pitchFamily="34" charset="0"/>
              </a:rPr>
              <a:t>A = acumulado por volta de 80%;</a:t>
            </a:r>
          </a:p>
          <a:p>
            <a:pPr>
              <a:buClrTx/>
              <a:buFontTx/>
              <a:buNone/>
            </a:pPr>
            <a:r>
              <a:rPr lang="pt-BR" altLang="pt-BR" sz="1600" i="1" dirty="0">
                <a:solidFill>
                  <a:schemeClr val="accent6"/>
                </a:solidFill>
                <a:latin typeface="Lucida Sans Unicode" panose="020B0602030504020204" pitchFamily="34" charset="0"/>
              </a:rPr>
              <a:t>B = acumulado entre 10% e 20%;</a:t>
            </a:r>
          </a:p>
          <a:p>
            <a:pPr>
              <a:buClrTx/>
              <a:buFontTx/>
              <a:buNone/>
            </a:pPr>
            <a:r>
              <a:rPr lang="pt-BR" altLang="pt-BR" sz="1600" i="1" dirty="0">
                <a:solidFill>
                  <a:schemeClr val="accent6"/>
                </a:solidFill>
                <a:latin typeface="Lucida Sans Unicode" panose="020B0602030504020204" pitchFamily="34" charset="0"/>
              </a:rPr>
              <a:t>C = acumulado por volta de 5%.</a:t>
            </a:r>
          </a:p>
        </p:txBody>
      </p:sp>
    </p:spTree>
    <p:extLst>
      <p:ext uri="{BB962C8B-B14F-4D97-AF65-F5344CB8AC3E}">
        <p14:creationId xmlns:p14="http://schemas.microsoft.com/office/powerpoint/2010/main" val="320851548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1000"/>
                                        <p:tgtEl>
                                          <p:spTgt spid="44"/>
                                        </p:tgtEl>
                                      </p:cBhvr>
                                    </p:animEffect>
                                    <p:anim calcmode="lin" valueType="num">
                                      <p:cBhvr>
                                        <p:cTn id="8" dur="1000" fill="hold"/>
                                        <p:tgtEl>
                                          <p:spTgt spid="44"/>
                                        </p:tgtEl>
                                        <p:attrNameLst>
                                          <p:attrName>ppt_x</p:attrName>
                                        </p:attrNameLst>
                                      </p:cBhvr>
                                      <p:tavLst>
                                        <p:tav tm="0">
                                          <p:val>
                                            <p:strVal val="#ppt_x"/>
                                          </p:val>
                                        </p:tav>
                                        <p:tav tm="100000">
                                          <p:val>
                                            <p:strVal val="#ppt_x"/>
                                          </p:val>
                                        </p:tav>
                                      </p:tavLst>
                                    </p:anim>
                                    <p:anim calcmode="lin" valueType="num">
                                      <p:cBhvr>
                                        <p:cTn id="9"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nodeType="clickEffect">
                                  <p:stCondLst>
                                    <p:cond delay="0"/>
                                  </p:stCondLst>
                                  <p:childTnLst>
                                    <p:set>
                                      <p:cBhvr>
                                        <p:cTn id="13" dur="1" fill="hold">
                                          <p:stCondLst>
                                            <p:cond delay="0"/>
                                          </p:stCondLst>
                                        </p:cTn>
                                        <p:tgtEl>
                                          <p:spTgt spid="16385"/>
                                        </p:tgtEl>
                                        <p:attrNameLst>
                                          <p:attrName>style.visibility</p:attrName>
                                        </p:attrNameLst>
                                      </p:cBhvr>
                                      <p:to>
                                        <p:strVal val="visible"/>
                                      </p:to>
                                    </p:set>
                                    <p:animEffect transition="in" filter="wipe(up)">
                                      <p:cBhvr>
                                        <p:cTn id="14" dur="500"/>
                                        <p:tgtEl>
                                          <p:spTgt spid="16385"/>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6">
                                            <p:txEl>
                                              <p:pRg st="0" end="0"/>
                                            </p:txEl>
                                          </p:spTgt>
                                        </p:tgtEl>
                                        <p:attrNameLst>
                                          <p:attrName>style.visibility</p:attrName>
                                        </p:attrNameLst>
                                      </p:cBhvr>
                                      <p:to>
                                        <p:strVal val="visible"/>
                                      </p:to>
                                    </p:set>
                                    <p:animEffect transition="in" filter="fade">
                                      <p:cBhvr>
                                        <p:cTn id="19" dur="1000"/>
                                        <p:tgtEl>
                                          <p:spTgt spid="46">
                                            <p:txEl>
                                              <p:pRg st="0" end="0"/>
                                            </p:txEl>
                                          </p:spTgt>
                                        </p:tgtEl>
                                      </p:cBhvr>
                                    </p:animEffect>
                                    <p:anim calcmode="lin" valueType="num">
                                      <p:cBhvr>
                                        <p:cTn id="20" dur="1000" fill="hold"/>
                                        <p:tgtEl>
                                          <p:spTgt spid="46">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4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6">
                                            <p:txEl>
                                              <p:pRg st="2" end="2"/>
                                            </p:txEl>
                                          </p:spTgt>
                                        </p:tgtEl>
                                        <p:attrNameLst>
                                          <p:attrName>style.visibility</p:attrName>
                                        </p:attrNameLst>
                                      </p:cBhvr>
                                      <p:to>
                                        <p:strVal val="visible"/>
                                      </p:to>
                                    </p:set>
                                    <p:animEffect transition="in" filter="fade">
                                      <p:cBhvr>
                                        <p:cTn id="26" dur="1000"/>
                                        <p:tgtEl>
                                          <p:spTgt spid="46">
                                            <p:txEl>
                                              <p:pRg st="2" end="2"/>
                                            </p:txEl>
                                          </p:spTgt>
                                        </p:tgtEl>
                                      </p:cBhvr>
                                    </p:animEffect>
                                    <p:anim calcmode="lin" valueType="num">
                                      <p:cBhvr>
                                        <p:cTn id="27" dur="1000" fill="hold"/>
                                        <p:tgtEl>
                                          <p:spTgt spid="46">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4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6">
                                            <p:txEl>
                                              <p:pRg st="4" end="4"/>
                                            </p:txEl>
                                          </p:spTgt>
                                        </p:tgtEl>
                                        <p:attrNameLst>
                                          <p:attrName>style.visibility</p:attrName>
                                        </p:attrNameLst>
                                      </p:cBhvr>
                                      <p:to>
                                        <p:strVal val="visible"/>
                                      </p:to>
                                    </p:set>
                                    <p:animEffect transition="in" filter="fade">
                                      <p:cBhvr>
                                        <p:cTn id="33" dur="1000"/>
                                        <p:tgtEl>
                                          <p:spTgt spid="46">
                                            <p:txEl>
                                              <p:pRg st="4" end="4"/>
                                            </p:txEl>
                                          </p:spTgt>
                                        </p:tgtEl>
                                      </p:cBhvr>
                                    </p:animEffect>
                                    <p:anim calcmode="lin" valueType="num">
                                      <p:cBhvr>
                                        <p:cTn id="34" dur="1000" fill="hold"/>
                                        <p:tgtEl>
                                          <p:spTgt spid="46">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4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46">
                                            <p:txEl>
                                              <p:pRg st="6" end="6"/>
                                            </p:txEl>
                                          </p:spTgt>
                                        </p:tgtEl>
                                        <p:attrNameLst>
                                          <p:attrName>style.visibility</p:attrName>
                                        </p:attrNameLst>
                                      </p:cBhvr>
                                      <p:to>
                                        <p:strVal val="visible"/>
                                      </p:to>
                                    </p:set>
                                    <p:animEffect transition="in" filter="fade">
                                      <p:cBhvr>
                                        <p:cTn id="40" dur="1000"/>
                                        <p:tgtEl>
                                          <p:spTgt spid="46">
                                            <p:txEl>
                                              <p:pRg st="6" end="6"/>
                                            </p:txEl>
                                          </p:spTgt>
                                        </p:tgtEl>
                                      </p:cBhvr>
                                    </p:animEffect>
                                    <p:anim calcmode="lin" valueType="num">
                                      <p:cBhvr>
                                        <p:cTn id="41" dur="1000" fill="hold"/>
                                        <p:tgtEl>
                                          <p:spTgt spid="46">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4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46">
                                            <p:txEl>
                                              <p:pRg st="8" end="8"/>
                                            </p:txEl>
                                          </p:spTgt>
                                        </p:tgtEl>
                                        <p:attrNameLst>
                                          <p:attrName>style.visibility</p:attrName>
                                        </p:attrNameLst>
                                      </p:cBhvr>
                                      <p:to>
                                        <p:strVal val="visible"/>
                                      </p:to>
                                    </p:set>
                                    <p:animEffect transition="in" filter="fade">
                                      <p:cBhvr>
                                        <p:cTn id="47" dur="1000"/>
                                        <p:tgtEl>
                                          <p:spTgt spid="46">
                                            <p:txEl>
                                              <p:pRg st="8" end="8"/>
                                            </p:txEl>
                                          </p:spTgt>
                                        </p:tgtEl>
                                      </p:cBhvr>
                                    </p:animEffect>
                                    <p:anim calcmode="lin" valueType="num">
                                      <p:cBhvr>
                                        <p:cTn id="48" dur="1000" fill="hold"/>
                                        <p:tgtEl>
                                          <p:spTgt spid="46">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46">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46">
                                            <p:txEl>
                                              <p:pRg st="10" end="10"/>
                                            </p:txEl>
                                          </p:spTgt>
                                        </p:tgtEl>
                                        <p:attrNameLst>
                                          <p:attrName>style.visibility</p:attrName>
                                        </p:attrNameLst>
                                      </p:cBhvr>
                                      <p:to>
                                        <p:strVal val="visible"/>
                                      </p:to>
                                    </p:set>
                                    <p:animEffect transition="in" filter="fade">
                                      <p:cBhvr>
                                        <p:cTn id="54" dur="1000"/>
                                        <p:tgtEl>
                                          <p:spTgt spid="46">
                                            <p:txEl>
                                              <p:pRg st="10" end="10"/>
                                            </p:txEl>
                                          </p:spTgt>
                                        </p:tgtEl>
                                      </p:cBhvr>
                                    </p:animEffect>
                                    <p:anim calcmode="lin" valueType="num">
                                      <p:cBhvr>
                                        <p:cTn id="55" dur="1000" fill="hold"/>
                                        <p:tgtEl>
                                          <p:spTgt spid="46">
                                            <p:txEl>
                                              <p:pRg st="10" end="10"/>
                                            </p:txEl>
                                          </p:spTgt>
                                        </p:tgtEl>
                                        <p:attrNameLst>
                                          <p:attrName>ppt_x</p:attrName>
                                        </p:attrNameLst>
                                      </p:cBhvr>
                                      <p:tavLst>
                                        <p:tav tm="0">
                                          <p:val>
                                            <p:strVal val="#ppt_x"/>
                                          </p:val>
                                        </p:tav>
                                        <p:tav tm="100000">
                                          <p:val>
                                            <p:strVal val="#ppt_x"/>
                                          </p:val>
                                        </p:tav>
                                      </p:tavLst>
                                    </p:anim>
                                    <p:anim calcmode="lin" valueType="num">
                                      <p:cBhvr>
                                        <p:cTn id="56" dur="1000" fill="hold"/>
                                        <p:tgtEl>
                                          <p:spTgt spid="46">
                                            <p:txEl>
                                              <p:pRg st="10" end="10"/>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46">
                                            <p:txEl>
                                              <p:pRg st="11" end="11"/>
                                            </p:txEl>
                                          </p:spTgt>
                                        </p:tgtEl>
                                        <p:attrNameLst>
                                          <p:attrName>style.visibility</p:attrName>
                                        </p:attrNameLst>
                                      </p:cBhvr>
                                      <p:to>
                                        <p:strVal val="visible"/>
                                      </p:to>
                                    </p:set>
                                    <p:animEffect transition="in" filter="fade">
                                      <p:cBhvr>
                                        <p:cTn id="59" dur="1000"/>
                                        <p:tgtEl>
                                          <p:spTgt spid="46">
                                            <p:txEl>
                                              <p:pRg st="11" end="11"/>
                                            </p:txEl>
                                          </p:spTgt>
                                        </p:tgtEl>
                                      </p:cBhvr>
                                    </p:animEffect>
                                    <p:anim calcmode="lin" valueType="num">
                                      <p:cBhvr>
                                        <p:cTn id="60" dur="1000" fill="hold"/>
                                        <p:tgtEl>
                                          <p:spTgt spid="46">
                                            <p:txEl>
                                              <p:pRg st="11" end="11"/>
                                            </p:txEl>
                                          </p:spTgt>
                                        </p:tgtEl>
                                        <p:attrNameLst>
                                          <p:attrName>ppt_x</p:attrName>
                                        </p:attrNameLst>
                                      </p:cBhvr>
                                      <p:tavLst>
                                        <p:tav tm="0">
                                          <p:val>
                                            <p:strVal val="#ppt_x"/>
                                          </p:val>
                                        </p:tav>
                                        <p:tav tm="100000">
                                          <p:val>
                                            <p:strVal val="#ppt_x"/>
                                          </p:val>
                                        </p:tav>
                                      </p:tavLst>
                                    </p:anim>
                                    <p:anim calcmode="lin" valueType="num">
                                      <p:cBhvr>
                                        <p:cTn id="61" dur="1000" fill="hold"/>
                                        <p:tgtEl>
                                          <p:spTgt spid="46">
                                            <p:txEl>
                                              <p:pRg st="11" end="11"/>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46">
                                            <p:txEl>
                                              <p:pRg st="12" end="12"/>
                                            </p:txEl>
                                          </p:spTgt>
                                        </p:tgtEl>
                                        <p:attrNameLst>
                                          <p:attrName>style.visibility</p:attrName>
                                        </p:attrNameLst>
                                      </p:cBhvr>
                                      <p:to>
                                        <p:strVal val="visible"/>
                                      </p:to>
                                    </p:set>
                                    <p:animEffect transition="in" filter="fade">
                                      <p:cBhvr>
                                        <p:cTn id="64" dur="1000"/>
                                        <p:tgtEl>
                                          <p:spTgt spid="46">
                                            <p:txEl>
                                              <p:pRg st="12" end="12"/>
                                            </p:txEl>
                                          </p:spTgt>
                                        </p:tgtEl>
                                      </p:cBhvr>
                                    </p:animEffect>
                                    <p:anim calcmode="lin" valueType="num">
                                      <p:cBhvr>
                                        <p:cTn id="65" dur="1000" fill="hold"/>
                                        <p:tgtEl>
                                          <p:spTgt spid="46">
                                            <p:txEl>
                                              <p:pRg st="12" end="12"/>
                                            </p:txEl>
                                          </p:spTgt>
                                        </p:tgtEl>
                                        <p:attrNameLst>
                                          <p:attrName>ppt_x</p:attrName>
                                        </p:attrNameLst>
                                      </p:cBhvr>
                                      <p:tavLst>
                                        <p:tav tm="0">
                                          <p:val>
                                            <p:strVal val="#ppt_x"/>
                                          </p:val>
                                        </p:tav>
                                        <p:tav tm="100000">
                                          <p:val>
                                            <p:strVal val="#ppt_x"/>
                                          </p:val>
                                        </p:tav>
                                      </p:tavLst>
                                    </p:anim>
                                    <p:anim calcmode="lin" valueType="num">
                                      <p:cBhvr>
                                        <p:cTn id="66" dur="1000" fill="hold"/>
                                        <p:tgtEl>
                                          <p:spTgt spid="46">
                                            <p:txEl>
                                              <p:pRg st="12" end="12"/>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46">
                                            <p:txEl>
                                              <p:pRg st="13" end="13"/>
                                            </p:txEl>
                                          </p:spTgt>
                                        </p:tgtEl>
                                        <p:attrNameLst>
                                          <p:attrName>style.visibility</p:attrName>
                                        </p:attrNameLst>
                                      </p:cBhvr>
                                      <p:to>
                                        <p:strVal val="visible"/>
                                      </p:to>
                                    </p:set>
                                    <p:animEffect transition="in" filter="fade">
                                      <p:cBhvr>
                                        <p:cTn id="69" dur="1000"/>
                                        <p:tgtEl>
                                          <p:spTgt spid="46">
                                            <p:txEl>
                                              <p:pRg st="13" end="13"/>
                                            </p:txEl>
                                          </p:spTgt>
                                        </p:tgtEl>
                                      </p:cBhvr>
                                    </p:animEffect>
                                    <p:anim calcmode="lin" valueType="num">
                                      <p:cBhvr>
                                        <p:cTn id="70" dur="1000" fill="hold"/>
                                        <p:tgtEl>
                                          <p:spTgt spid="46">
                                            <p:txEl>
                                              <p:pRg st="13" end="13"/>
                                            </p:txEl>
                                          </p:spTgt>
                                        </p:tgtEl>
                                        <p:attrNameLst>
                                          <p:attrName>ppt_x</p:attrName>
                                        </p:attrNameLst>
                                      </p:cBhvr>
                                      <p:tavLst>
                                        <p:tav tm="0">
                                          <p:val>
                                            <p:strVal val="#ppt_x"/>
                                          </p:val>
                                        </p:tav>
                                        <p:tav tm="100000">
                                          <p:val>
                                            <p:strVal val="#ppt_x"/>
                                          </p:val>
                                        </p:tav>
                                      </p:tavLst>
                                    </p:anim>
                                    <p:anim calcmode="lin" valueType="num">
                                      <p:cBhvr>
                                        <p:cTn id="71" dur="1000" fill="hold"/>
                                        <p:tgtEl>
                                          <p:spTgt spid="46">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6"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6385" name="Group 1"/>
          <p:cNvGraphicFramePr>
            <a:graphicFrameLocks noGrp="1"/>
          </p:cNvGraphicFramePr>
          <p:nvPr>
            <p:extLst>
              <p:ext uri="{D42A27DB-BD31-4B8C-83A1-F6EECF244321}">
                <p14:modId xmlns:p14="http://schemas.microsoft.com/office/powerpoint/2010/main" val="443769303"/>
              </p:ext>
            </p:extLst>
          </p:nvPr>
        </p:nvGraphicFramePr>
        <p:xfrm>
          <a:off x="2532102" y="419101"/>
          <a:ext cx="6819900" cy="5891215"/>
        </p:xfrm>
        <a:graphic>
          <a:graphicData uri="http://schemas.openxmlformats.org/drawingml/2006/table">
            <a:tbl>
              <a:tblPr/>
              <a:tblGrid>
                <a:gridCol w="814387">
                  <a:extLst>
                    <a:ext uri="{9D8B030D-6E8A-4147-A177-3AD203B41FA5}">
                      <a16:colId xmlns:a16="http://schemas.microsoft.com/office/drawing/2014/main" val="20000"/>
                    </a:ext>
                  </a:extLst>
                </a:gridCol>
                <a:gridCol w="1400175">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2100263">
                  <a:extLst>
                    <a:ext uri="{9D8B030D-6E8A-4147-A177-3AD203B41FA5}">
                      <a16:colId xmlns:a16="http://schemas.microsoft.com/office/drawing/2014/main" val="20003"/>
                    </a:ext>
                  </a:extLst>
                </a:gridCol>
                <a:gridCol w="1235075">
                  <a:extLst>
                    <a:ext uri="{9D8B030D-6E8A-4147-A177-3AD203B41FA5}">
                      <a16:colId xmlns:a16="http://schemas.microsoft.com/office/drawing/2014/main" val="20004"/>
                    </a:ext>
                  </a:extLst>
                </a:gridCol>
              </a:tblGrid>
              <a:tr h="786297">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0"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cs typeface="Arial" panose="020B0604020202020204" pitchFamily="34" charset="0"/>
                        </a:rPr>
                        <a:t>ITEM</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Consumo médio mensal (un.)</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Custo unitário ($)</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Custo médio mensal ($)</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Custo médio mensal (%)</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extLst>
                  <a:ext uri="{0D108BD9-81ED-4DB2-BD59-A6C34878D82A}">
                    <a16:rowId xmlns:a16="http://schemas.microsoft.com/office/drawing/2014/main" val="10000"/>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I-32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1"/>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I-12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1.200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8,00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2"/>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I-92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6.000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5,00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3"/>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I-15</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600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4,00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4"/>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I-52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74</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5"/>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I-40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43</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5,00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6"/>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I-22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165</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7,00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7"/>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I-48</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2.750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8"/>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I-39</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3.500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2,50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9"/>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I-10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10"/>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I-61</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350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11"/>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I-72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120,00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12"/>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I-13</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100,00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13"/>
                  </a:ext>
                </a:extLst>
              </a:tr>
              <a:tr h="364637">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34.715</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14"/>
                  </a:ext>
                </a:extLst>
              </a:tr>
            </a:tbl>
          </a:graphicData>
        </a:graphic>
      </p:graphicFrame>
      <p:sp>
        <p:nvSpPr>
          <p:cNvPr id="16677" name="Text Box 293"/>
          <p:cNvSpPr txBox="1">
            <a:spLocks noChangeArrowheads="1"/>
          </p:cNvSpPr>
          <p:nvPr/>
        </p:nvSpPr>
        <p:spPr bwMode="auto">
          <a:xfrm>
            <a:off x="6602452" y="1222376"/>
            <a:ext cx="12319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40.000,00</a:t>
            </a:r>
          </a:p>
        </p:txBody>
      </p:sp>
      <p:sp>
        <p:nvSpPr>
          <p:cNvPr id="16678" name="Text Box 294"/>
          <p:cNvSpPr txBox="1">
            <a:spLocks noChangeArrowheads="1"/>
          </p:cNvSpPr>
          <p:nvPr/>
        </p:nvSpPr>
        <p:spPr bwMode="auto">
          <a:xfrm>
            <a:off x="6688177" y="1568451"/>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9.600,00</a:t>
            </a:r>
          </a:p>
        </p:txBody>
      </p:sp>
      <p:sp>
        <p:nvSpPr>
          <p:cNvPr id="16679" name="Text Box 295"/>
          <p:cNvSpPr txBox="1">
            <a:spLocks noChangeArrowheads="1"/>
          </p:cNvSpPr>
          <p:nvPr/>
        </p:nvSpPr>
        <p:spPr bwMode="auto">
          <a:xfrm>
            <a:off x="6653252" y="1957389"/>
            <a:ext cx="11811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30.000,00</a:t>
            </a:r>
          </a:p>
        </p:txBody>
      </p:sp>
      <p:sp>
        <p:nvSpPr>
          <p:cNvPr id="16680" name="Text Box 296"/>
          <p:cNvSpPr txBox="1">
            <a:spLocks noChangeArrowheads="1"/>
          </p:cNvSpPr>
          <p:nvPr/>
        </p:nvSpPr>
        <p:spPr bwMode="auto">
          <a:xfrm>
            <a:off x="6686589" y="5613401"/>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300,00</a:t>
            </a:r>
          </a:p>
        </p:txBody>
      </p:sp>
      <p:sp>
        <p:nvSpPr>
          <p:cNvPr id="16681" name="Text Box 297"/>
          <p:cNvSpPr txBox="1">
            <a:spLocks noChangeArrowheads="1"/>
          </p:cNvSpPr>
          <p:nvPr/>
        </p:nvSpPr>
        <p:spPr bwMode="auto">
          <a:xfrm>
            <a:off x="6686589" y="2319339"/>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2.400,00</a:t>
            </a:r>
          </a:p>
        </p:txBody>
      </p:sp>
      <p:sp>
        <p:nvSpPr>
          <p:cNvPr id="16682" name="Text Box 298"/>
          <p:cNvSpPr txBox="1">
            <a:spLocks noChangeArrowheads="1"/>
          </p:cNvSpPr>
          <p:nvPr/>
        </p:nvSpPr>
        <p:spPr bwMode="auto">
          <a:xfrm>
            <a:off x="6689764" y="2682876"/>
            <a:ext cx="11303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1.480,00</a:t>
            </a:r>
          </a:p>
        </p:txBody>
      </p:sp>
      <p:sp>
        <p:nvSpPr>
          <p:cNvPr id="16683" name="Text Box 299"/>
          <p:cNvSpPr txBox="1">
            <a:spLocks noChangeArrowheads="1"/>
          </p:cNvSpPr>
          <p:nvPr/>
        </p:nvSpPr>
        <p:spPr bwMode="auto">
          <a:xfrm>
            <a:off x="6753265" y="3059114"/>
            <a:ext cx="1076325"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215,00</a:t>
            </a:r>
          </a:p>
        </p:txBody>
      </p:sp>
      <p:sp>
        <p:nvSpPr>
          <p:cNvPr id="16684" name="Text Box 300"/>
          <p:cNvSpPr txBox="1">
            <a:spLocks noChangeArrowheads="1"/>
          </p:cNvSpPr>
          <p:nvPr/>
        </p:nvSpPr>
        <p:spPr bwMode="auto">
          <a:xfrm>
            <a:off x="6704052" y="3454401"/>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1.155,00</a:t>
            </a:r>
          </a:p>
        </p:txBody>
      </p:sp>
      <p:sp>
        <p:nvSpPr>
          <p:cNvPr id="16685" name="Text Box 301"/>
          <p:cNvSpPr txBox="1">
            <a:spLocks noChangeArrowheads="1"/>
          </p:cNvSpPr>
          <p:nvPr/>
        </p:nvSpPr>
        <p:spPr bwMode="auto">
          <a:xfrm>
            <a:off x="6704052" y="3802064"/>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5.500,00</a:t>
            </a:r>
          </a:p>
        </p:txBody>
      </p:sp>
      <p:sp>
        <p:nvSpPr>
          <p:cNvPr id="16686" name="Text Box 302"/>
          <p:cNvSpPr txBox="1">
            <a:spLocks noChangeArrowheads="1"/>
          </p:cNvSpPr>
          <p:nvPr/>
        </p:nvSpPr>
        <p:spPr bwMode="auto">
          <a:xfrm>
            <a:off x="6686589" y="4168776"/>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8.750,00</a:t>
            </a:r>
          </a:p>
        </p:txBody>
      </p:sp>
      <p:sp>
        <p:nvSpPr>
          <p:cNvPr id="16687" name="Text Box 303"/>
          <p:cNvSpPr txBox="1">
            <a:spLocks noChangeArrowheads="1"/>
          </p:cNvSpPr>
          <p:nvPr/>
        </p:nvSpPr>
        <p:spPr bwMode="auto">
          <a:xfrm>
            <a:off x="6970752" y="4521201"/>
            <a:ext cx="8382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0,00</a:t>
            </a:r>
          </a:p>
        </p:txBody>
      </p:sp>
      <p:sp>
        <p:nvSpPr>
          <p:cNvPr id="16688" name="Text Box 304"/>
          <p:cNvSpPr txBox="1">
            <a:spLocks noChangeArrowheads="1"/>
          </p:cNvSpPr>
          <p:nvPr/>
        </p:nvSpPr>
        <p:spPr bwMode="auto">
          <a:xfrm>
            <a:off x="6678652" y="4918076"/>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7.000,00</a:t>
            </a:r>
          </a:p>
        </p:txBody>
      </p:sp>
      <p:sp>
        <p:nvSpPr>
          <p:cNvPr id="16689" name="Text Box 305"/>
          <p:cNvSpPr txBox="1">
            <a:spLocks noChangeArrowheads="1"/>
          </p:cNvSpPr>
          <p:nvPr/>
        </p:nvSpPr>
        <p:spPr bwMode="auto">
          <a:xfrm>
            <a:off x="6686589" y="5246689"/>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3.600,00</a:t>
            </a:r>
          </a:p>
        </p:txBody>
      </p:sp>
      <p:sp>
        <p:nvSpPr>
          <p:cNvPr id="16690" name="Text Box 306"/>
          <p:cNvSpPr txBox="1">
            <a:spLocks noChangeArrowheads="1"/>
          </p:cNvSpPr>
          <p:nvPr/>
        </p:nvSpPr>
        <p:spPr bwMode="auto">
          <a:xfrm>
            <a:off x="6469103" y="6005514"/>
            <a:ext cx="1347787"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110.000,00</a:t>
            </a:r>
          </a:p>
        </p:txBody>
      </p:sp>
      <p:sp>
        <p:nvSpPr>
          <p:cNvPr id="16691" name="Text Box 307"/>
          <p:cNvSpPr txBox="1">
            <a:spLocks noChangeArrowheads="1"/>
          </p:cNvSpPr>
          <p:nvPr/>
        </p:nvSpPr>
        <p:spPr bwMode="auto">
          <a:xfrm>
            <a:off x="8439189" y="1262064"/>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36,36</a:t>
            </a:r>
          </a:p>
        </p:txBody>
      </p:sp>
      <p:sp>
        <p:nvSpPr>
          <p:cNvPr id="16692" name="Text Box 308"/>
          <p:cNvSpPr txBox="1">
            <a:spLocks noChangeArrowheads="1"/>
          </p:cNvSpPr>
          <p:nvPr/>
        </p:nvSpPr>
        <p:spPr bwMode="auto">
          <a:xfrm>
            <a:off x="8399502" y="1924051"/>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27,27</a:t>
            </a:r>
          </a:p>
        </p:txBody>
      </p:sp>
      <p:sp>
        <p:nvSpPr>
          <p:cNvPr id="16693" name="Text Box 309"/>
          <p:cNvSpPr txBox="1">
            <a:spLocks noChangeArrowheads="1"/>
          </p:cNvSpPr>
          <p:nvPr/>
        </p:nvSpPr>
        <p:spPr bwMode="auto">
          <a:xfrm>
            <a:off x="8578889" y="2260601"/>
            <a:ext cx="712788"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2,18</a:t>
            </a:r>
          </a:p>
        </p:txBody>
      </p:sp>
      <p:sp>
        <p:nvSpPr>
          <p:cNvPr id="16694" name="Text Box 310"/>
          <p:cNvSpPr txBox="1">
            <a:spLocks noChangeArrowheads="1"/>
          </p:cNvSpPr>
          <p:nvPr/>
        </p:nvSpPr>
        <p:spPr bwMode="auto">
          <a:xfrm>
            <a:off x="8578889" y="2668589"/>
            <a:ext cx="712788"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1,35</a:t>
            </a:r>
          </a:p>
        </p:txBody>
      </p:sp>
      <p:sp>
        <p:nvSpPr>
          <p:cNvPr id="16695" name="Text Box 311"/>
          <p:cNvSpPr txBox="1">
            <a:spLocks noChangeArrowheads="1"/>
          </p:cNvSpPr>
          <p:nvPr/>
        </p:nvSpPr>
        <p:spPr bwMode="auto">
          <a:xfrm>
            <a:off x="8663027" y="3062289"/>
            <a:ext cx="684212"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0,20</a:t>
            </a:r>
          </a:p>
        </p:txBody>
      </p:sp>
      <p:sp>
        <p:nvSpPr>
          <p:cNvPr id="16696" name="Text Box 312"/>
          <p:cNvSpPr txBox="1">
            <a:spLocks noChangeArrowheads="1"/>
          </p:cNvSpPr>
          <p:nvPr/>
        </p:nvSpPr>
        <p:spPr bwMode="auto">
          <a:xfrm>
            <a:off x="8678902" y="3417888"/>
            <a:ext cx="65405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1,05</a:t>
            </a:r>
          </a:p>
        </p:txBody>
      </p:sp>
      <p:sp>
        <p:nvSpPr>
          <p:cNvPr id="16697" name="Text Box 313"/>
          <p:cNvSpPr txBox="1">
            <a:spLocks noChangeArrowheads="1"/>
          </p:cNvSpPr>
          <p:nvPr/>
        </p:nvSpPr>
        <p:spPr bwMode="auto">
          <a:xfrm>
            <a:off x="8534439" y="3781426"/>
            <a:ext cx="801688"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5,00</a:t>
            </a:r>
          </a:p>
        </p:txBody>
      </p:sp>
      <p:sp>
        <p:nvSpPr>
          <p:cNvPr id="16698" name="Text Box 314"/>
          <p:cNvSpPr txBox="1">
            <a:spLocks noChangeArrowheads="1"/>
          </p:cNvSpPr>
          <p:nvPr/>
        </p:nvSpPr>
        <p:spPr bwMode="auto">
          <a:xfrm>
            <a:off x="8559839" y="4129089"/>
            <a:ext cx="7874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7,95</a:t>
            </a:r>
          </a:p>
        </p:txBody>
      </p:sp>
      <p:sp>
        <p:nvSpPr>
          <p:cNvPr id="16699" name="Text Box 315"/>
          <p:cNvSpPr txBox="1">
            <a:spLocks noChangeArrowheads="1"/>
          </p:cNvSpPr>
          <p:nvPr/>
        </p:nvSpPr>
        <p:spPr bwMode="auto">
          <a:xfrm>
            <a:off x="8574127" y="4530726"/>
            <a:ext cx="773112"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0,00</a:t>
            </a:r>
          </a:p>
        </p:txBody>
      </p:sp>
      <p:sp>
        <p:nvSpPr>
          <p:cNvPr id="16700" name="Text Box 316"/>
          <p:cNvSpPr txBox="1">
            <a:spLocks noChangeArrowheads="1"/>
          </p:cNvSpPr>
          <p:nvPr/>
        </p:nvSpPr>
        <p:spPr bwMode="auto">
          <a:xfrm>
            <a:off x="8516977" y="4933951"/>
            <a:ext cx="817562"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6,36</a:t>
            </a:r>
          </a:p>
        </p:txBody>
      </p:sp>
      <p:sp>
        <p:nvSpPr>
          <p:cNvPr id="16701" name="Text Box 317"/>
          <p:cNvSpPr txBox="1">
            <a:spLocks noChangeArrowheads="1"/>
          </p:cNvSpPr>
          <p:nvPr/>
        </p:nvSpPr>
        <p:spPr bwMode="auto">
          <a:xfrm>
            <a:off x="8563015" y="5264151"/>
            <a:ext cx="758825"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3,27</a:t>
            </a:r>
          </a:p>
        </p:txBody>
      </p:sp>
      <p:sp>
        <p:nvSpPr>
          <p:cNvPr id="16702" name="Text Box 318"/>
          <p:cNvSpPr txBox="1">
            <a:spLocks noChangeArrowheads="1"/>
          </p:cNvSpPr>
          <p:nvPr/>
        </p:nvSpPr>
        <p:spPr bwMode="auto">
          <a:xfrm>
            <a:off x="8548727" y="5632451"/>
            <a:ext cx="773112"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0,27</a:t>
            </a:r>
          </a:p>
        </p:txBody>
      </p:sp>
      <p:sp>
        <p:nvSpPr>
          <p:cNvPr id="16703" name="Text Box 319"/>
          <p:cNvSpPr txBox="1">
            <a:spLocks noChangeArrowheads="1"/>
          </p:cNvSpPr>
          <p:nvPr/>
        </p:nvSpPr>
        <p:spPr bwMode="auto">
          <a:xfrm>
            <a:off x="8401089" y="6010276"/>
            <a:ext cx="90805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100,00</a:t>
            </a:r>
          </a:p>
        </p:txBody>
      </p:sp>
      <p:sp>
        <p:nvSpPr>
          <p:cNvPr id="16704" name="Text Box 320"/>
          <p:cNvSpPr txBox="1">
            <a:spLocks noChangeArrowheads="1"/>
          </p:cNvSpPr>
          <p:nvPr/>
        </p:nvSpPr>
        <p:spPr bwMode="auto">
          <a:xfrm>
            <a:off x="8424902" y="1619251"/>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8,73</a:t>
            </a:r>
          </a:p>
        </p:txBody>
      </p:sp>
    </p:spTree>
    <p:extLst>
      <p:ext uri="{BB962C8B-B14F-4D97-AF65-F5344CB8AC3E}">
        <p14:creationId xmlns:p14="http://schemas.microsoft.com/office/powerpoint/2010/main" val="44709425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1667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1667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1667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fill="hold" nodeType="clickEffect">
                                  <p:stCondLst>
                                    <p:cond delay="0"/>
                                  </p:stCondLst>
                                  <p:childTnLst>
                                    <p:set>
                                      <p:cBhvr additive="repl">
                                        <p:cTn id="18" dur="1" fill="hold">
                                          <p:stCondLst>
                                            <p:cond delay="0"/>
                                          </p:stCondLst>
                                        </p:cTn>
                                        <p:tgtEl>
                                          <p:spTgt spid="1668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fill="hold" nodeType="clickEffect">
                                  <p:stCondLst>
                                    <p:cond delay="0"/>
                                  </p:stCondLst>
                                  <p:childTnLst>
                                    <p:set>
                                      <p:cBhvr additive="repl">
                                        <p:cTn id="22" dur="1" fill="hold">
                                          <p:stCondLst>
                                            <p:cond delay="0"/>
                                          </p:stCondLst>
                                        </p:cTn>
                                        <p:tgtEl>
                                          <p:spTgt spid="1668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fill="hold" nodeType="clickEffect">
                                  <p:stCondLst>
                                    <p:cond delay="0"/>
                                  </p:stCondLst>
                                  <p:childTnLst>
                                    <p:set>
                                      <p:cBhvr additive="repl">
                                        <p:cTn id="26" dur="1" fill="hold">
                                          <p:stCondLst>
                                            <p:cond delay="0"/>
                                          </p:stCondLst>
                                        </p:cTn>
                                        <p:tgtEl>
                                          <p:spTgt spid="1668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fill="hold" nodeType="clickEffect">
                                  <p:stCondLst>
                                    <p:cond delay="0"/>
                                  </p:stCondLst>
                                  <p:childTnLst>
                                    <p:set>
                                      <p:cBhvr additive="repl">
                                        <p:cTn id="30" dur="1" fill="hold">
                                          <p:stCondLst>
                                            <p:cond delay="0"/>
                                          </p:stCondLst>
                                        </p:cTn>
                                        <p:tgtEl>
                                          <p:spTgt spid="1668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fill="hold" nodeType="clickEffect">
                                  <p:stCondLst>
                                    <p:cond delay="0"/>
                                  </p:stCondLst>
                                  <p:childTnLst>
                                    <p:set>
                                      <p:cBhvr additive="repl">
                                        <p:cTn id="34" dur="1" fill="hold">
                                          <p:stCondLst>
                                            <p:cond delay="0"/>
                                          </p:stCondLst>
                                        </p:cTn>
                                        <p:tgtEl>
                                          <p:spTgt spid="16685"/>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fill="hold" nodeType="clickEffect">
                                  <p:stCondLst>
                                    <p:cond delay="0"/>
                                  </p:stCondLst>
                                  <p:childTnLst>
                                    <p:set>
                                      <p:cBhvr additive="repl">
                                        <p:cTn id="38" dur="1" fill="hold">
                                          <p:stCondLst>
                                            <p:cond delay="0"/>
                                          </p:stCondLst>
                                        </p:cTn>
                                        <p:tgtEl>
                                          <p:spTgt spid="16686"/>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fill="hold" nodeType="clickEffect">
                                  <p:stCondLst>
                                    <p:cond delay="0"/>
                                  </p:stCondLst>
                                  <p:childTnLst>
                                    <p:set>
                                      <p:cBhvr additive="repl">
                                        <p:cTn id="42" dur="1" fill="hold">
                                          <p:stCondLst>
                                            <p:cond delay="0"/>
                                          </p:stCondLst>
                                        </p:cTn>
                                        <p:tgtEl>
                                          <p:spTgt spid="16687"/>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fill="hold" nodeType="clickEffect">
                                  <p:stCondLst>
                                    <p:cond delay="0"/>
                                  </p:stCondLst>
                                  <p:childTnLst>
                                    <p:set>
                                      <p:cBhvr additive="repl">
                                        <p:cTn id="46" dur="1" fill="hold">
                                          <p:stCondLst>
                                            <p:cond delay="0"/>
                                          </p:stCondLst>
                                        </p:cTn>
                                        <p:tgtEl>
                                          <p:spTgt spid="16688"/>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fill="hold" nodeType="clickEffect">
                                  <p:stCondLst>
                                    <p:cond delay="0"/>
                                  </p:stCondLst>
                                  <p:childTnLst>
                                    <p:set>
                                      <p:cBhvr additive="repl">
                                        <p:cTn id="50" dur="1" fill="hold">
                                          <p:stCondLst>
                                            <p:cond delay="0"/>
                                          </p:stCondLst>
                                        </p:cTn>
                                        <p:tgtEl>
                                          <p:spTgt spid="16689"/>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fill="hold" nodeType="clickEffect">
                                  <p:stCondLst>
                                    <p:cond delay="0"/>
                                  </p:stCondLst>
                                  <p:childTnLst>
                                    <p:set>
                                      <p:cBhvr additive="repl">
                                        <p:cTn id="54" dur="1" fill="hold">
                                          <p:stCondLst>
                                            <p:cond delay="0"/>
                                          </p:stCondLst>
                                        </p:cTn>
                                        <p:tgtEl>
                                          <p:spTgt spid="16680"/>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fill="hold" nodeType="clickEffect">
                                  <p:stCondLst>
                                    <p:cond delay="0"/>
                                  </p:stCondLst>
                                  <p:childTnLst>
                                    <p:set>
                                      <p:cBhvr additive="repl">
                                        <p:cTn id="58" dur="1" fill="hold">
                                          <p:stCondLst>
                                            <p:cond delay="0"/>
                                          </p:stCondLst>
                                        </p:cTn>
                                        <p:tgtEl>
                                          <p:spTgt spid="16690"/>
                                        </p:tgtEl>
                                        <p:attrNameLst>
                                          <p:attrName>style.visibility</p:attrName>
                                        </p:attrNameLst>
                                      </p:cBhvr>
                                      <p:to>
                                        <p:strVal val="visible"/>
                                      </p:to>
                                    </p:set>
                                  </p:childTnLst>
                                </p:cTn>
                              </p:par>
                            </p:childTnLst>
                          </p:cTn>
                        </p:par>
                        <p:par>
                          <p:cTn id="59" fill="hold" nodeType="afterGroup">
                            <p:stCondLst>
                              <p:cond delay="1"/>
                            </p:stCondLst>
                            <p:childTnLst>
                              <p:par>
                                <p:cTn id="60" presetID="1" presetClass="entr" fill="hold" nodeType="afterEffect">
                                  <p:stCondLst>
                                    <p:cond delay="0"/>
                                  </p:stCondLst>
                                  <p:childTnLst>
                                    <p:set>
                                      <p:cBhvr additive="repl">
                                        <p:cTn id="61" dur="1" fill="hold">
                                          <p:stCondLst>
                                            <p:cond delay="0"/>
                                          </p:stCondLst>
                                        </p:cTn>
                                        <p:tgtEl>
                                          <p:spTgt spid="16703"/>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fill="hold" nodeType="clickEffect">
                                  <p:stCondLst>
                                    <p:cond delay="0"/>
                                  </p:stCondLst>
                                  <p:childTnLst>
                                    <p:set>
                                      <p:cBhvr additive="repl">
                                        <p:cTn id="65" dur="1" fill="hold">
                                          <p:stCondLst>
                                            <p:cond delay="0"/>
                                          </p:stCondLst>
                                        </p:cTn>
                                        <p:tgtEl>
                                          <p:spTgt spid="16691"/>
                                        </p:tgtEl>
                                        <p:attrNameLst>
                                          <p:attrName>style.visibility</p:attrName>
                                        </p:attrNameLst>
                                      </p:cBhvr>
                                      <p:to>
                                        <p:strVal val="visible"/>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fill="hold" nodeType="clickEffect">
                                  <p:stCondLst>
                                    <p:cond delay="0"/>
                                  </p:stCondLst>
                                  <p:childTnLst>
                                    <p:set>
                                      <p:cBhvr additive="repl">
                                        <p:cTn id="69" dur="1" fill="hold">
                                          <p:stCondLst>
                                            <p:cond delay="0"/>
                                          </p:stCondLst>
                                        </p:cTn>
                                        <p:tgtEl>
                                          <p:spTgt spid="16704"/>
                                        </p:tgtEl>
                                        <p:attrNameLst>
                                          <p:attrName>style.visibility</p:attrName>
                                        </p:attrNameLst>
                                      </p:cBhvr>
                                      <p:to>
                                        <p:strVal val="visible"/>
                                      </p:to>
                                    </p:set>
                                  </p:childTnLst>
                                </p:cTn>
                              </p:par>
                            </p:childTnLst>
                          </p:cTn>
                        </p:par>
                      </p:childTnLst>
                    </p:cTn>
                  </p:par>
                  <p:par>
                    <p:cTn id="70" fill="hold" nodeType="clickPar">
                      <p:stCondLst>
                        <p:cond delay="indefinite"/>
                      </p:stCondLst>
                      <p:childTnLst>
                        <p:par>
                          <p:cTn id="71" fill="hold" nodeType="withGroup">
                            <p:stCondLst>
                              <p:cond delay="0"/>
                            </p:stCondLst>
                            <p:childTnLst>
                              <p:par>
                                <p:cTn id="72" presetID="1" presetClass="entr" fill="hold" nodeType="clickEffect">
                                  <p:stCondLst>
                                    <p:cond delay="0"/>
                                  </p:stCondLst>
                                  <p:childTnLst>
                                    <p:set>
                                      <p:cBhvr additive="repl">
                                        <p:cTn id="73" dur="1" fill="hold">
                                          <p:stCondLst>
                                            <p:cond delay="0"/>
                                          </p:stCondLst>
                                        </p:cTn>
                                        <p:tgtEl>
                                          <p:spTgt spid="16692"/>
                                        </p:tgtEl>
                                        <p:attrNameLst>
                                          <p:attrName>style.visibility</p:attrName>
                                        </p:attrNameLst>
                                      </p:cBhvr>
                                      <p:to>
                                        <p:strVal val="visible"/>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1" presetClass="entr" fill="hold" nodeType="clickEffect">
                                  <p:stCondLst>
                                    <p:cond delay="0"/>
                                  </p:stCondLst>
                                  <p:childTnLst>
                                    <p:set>
                                      <p:cBhvr additive="repl">
                                        <p:cTn id="77" dur="1" fill="hold">
                                          <p:stCondLst>
                                            <p:cond delay="0"/>
                                          </p:stCondLst>
                                        </p:cTn>
                                        <p:tgtEl>
                                          <p:spTgt spid="16693"/>
                                        </p:tgtEl>
                                        <p:attrNameLst>
                                          <p:attrName>style.visibility</p:attrName>
                                        </p:attrNameLst>
                                      </p:cBhvr>
                                      <p:to>
                                        <p:strVal val="visible"/>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1" presetClass="entr" fill="hold" nodeType="clickEffect">
                                  <p:stCondLst>
                                    <p:cond delay="0"/>
                                  </p:stCondLst>
                                  <p:childTnLst>
                                    <p:set>
                                      <p:cBhvr additive="repl">
                                        <p:cTn id="81" dur="1" fill="hold">
                                          <p:stCondLst>
                                            <p:cond delay="0"/>
                                          </p:stCondLst>
                                        </p:cTn>
                                        <p:tgtEl>
                                          <p:spTgt spid="16694"/>
                                        </p:tgtEl>
                                        <p:attrNameLst>
                                          <p:attrName>style.visibility</p:attrName>
                                        </p:attrNameLst>
                                      </p:cBhvr>
                                      <p:to>
                                        <p:strVal val="visible"/>
                                      </p:to>
                                    </p:set>
                                  </p:childTnLst>
                                </p:cTn>
                              </p:par>
                            </p:childTnLst>
                          </p:cTn>
                        </p:par>
                      </p:childTnLst>
                    </p:cTn>
                  </p:par>
                  <p:par>
                    <p:cTn id="82" fill="hold" nodeType="clickPar">
                      <p:stCondLst>
                        <p:cond delay="indefinite"/>
                      </p:stCondLst>
                      <p:childTnLst>
                        <p:par>
                          <p:cTn id="83" fill="hold" nodeType="withGroup">
                            <p:stCondLst>
                              <p:cond delay="0"/>
                            </p:stCondLst>
                            <p:childTnLst>
                              <p:par>
                                <p:cTn id="84" presetID="1" presetClass="entr" fill="hold" nodeType="clickEffect">
                                  <p:stCondLst>
                                    <p:cond delay="0"/>
                                  </p:stCondLst>
                                  <p:childTnLst>
                                    <p:set>
                                      <p:cBhvr additive="repl">
                                        <p:cTn id="85" dur="1" fill="hold">
                                          <p:stCondLst>
                                            <p:cond delay="0"/>
                                          </p:stCondLst>
                                        </p:cTn>
                                        <p:tgtEl>
                                          <p:spTgt spid="16695"/>
                                        </p:tgtEl>
                                        <p:attrNameLst>
                                          <p:attrName>style.visibility</p:attrName>
                                        </p:attrNameLst>
                                      </p:cBhvr>
                                      <p:to>
                                        <p:strVal val="visible"/>
                                      </p:to>
                                    </p:set>
                                  </p:childTnLst>
                                </p:cTn>
                              </p:par>
                            </p:childTnLst>
                          </p:cTn>
                        </p:par>
                      </p:childTnLst>
                    </p:cTn>
                  </p:par>
                  <p:par>
                    <p:cTn id="86" fill="hold" nodeType="clickPar">
                      <p:stCondLst>
                        <p:cond delay="indefinite"/>
                      </p:stCondLst>
                      <p:childTnLst>
                        <p:par>
                          <p:cTn id="87" fill="hold" nodeType="withGroup">
                            <p:stCondLst>
                              <p:cond delay="0"/>
                            </p:stCondLst>
                            <p:childTnLst>
                              <p:par>
                                <p:cTn id="88" presetID="1" presetClass="entr" fill="hold" nodeType="clickEffect">
                                  <p:stCondLst>
                                    <p:cond delay="0"/>
                                  </p:stCondLst>
                                  <p:childTnLst>
                                    <p:set>
                                      <p:cBhvr additive="repl">
                                        <p:cTn id="89" dur="1" fill="hold">
                                          <p:stCondLst>
                                            <p:cond delay="0"/>
                                          </p:stCondLst>
                                        </p:cTn>
                                        <p:tgtEl>
                                          <p:spTgt spid="16696"/>
                                        </p:tgtEl>
                                        <p:attrNameLst>
                                          <p:attrName>style.visibility</p:attrName>
                                        </p:attrNameLst>
                                      </p:cBhvr>
                                      <p:to>
                                        <p:strVal val="visible"/>
                                      </p:to>
                                    </p:set>
                                  </p:childTnLst>
                                </p:cTn>
                              </p:par>
                            </p:childTnLst>
                          </p:cTn>
                        </p:par>
                      </p:childTnLst>
                    </p:cTn>
                  </p:par>
                  <p:par>
                    <p:cTn id="90" fill="hold" nodeType="clickPar">
                      <p:stCondLst>
                        <p:cond delay="indefinite"/>
                      </p:stCondLst>
                      <p:childTnLst>
                        <p:par>
                          <p:cTn id="91" fill="hold" nodeType="withGroup">
                            <p:stCondLst>
                              <p:cond delay="0"/>
                            </p:stCondLst>
                            <p:childTnLst>
                              <p:par>
                                <p:cTn id="92" presetID="1" presetClass="entr" fill="hold" nodeType="clickEffect">
                                  <p:stCondLst>
                                    <p:cond delay="0"/>
                                  </p:stCondLst>
                                  <p:childTnLst>
                                    <p:set>
                                      <p:cBhvr additive="repl">
                                        <p:cTn id="93" dur="1" fill="hold">
                                          <p:stCondLst>
                                            <p:cond delay="0"/>
                                          </p:stCondLst>
                                        </p:cTn>
                                        <p:tgtEl>
                                          <p:spTgt spid="16697"/>
                                        </p:tgtEl>
                                        <p:attrNameLst>
                                          <p:attrName>style.visibility</p:attrName>
                                        </p:attrNameLst>
                                      </p:cBhvr>
                                      <p:to>
                                        <p:strVal val="visible"/>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fill="hold" nodeType="clickEffect">
                                  <p:stCondLst>
                                    <p:cond delay="0"/>
                                  </p:stCondLst>
                                  <p:childTnLst>
                                    <p:set>
                                      <p:cBhvr additive="repl">
                                        <p:cTn id="97" dur="1" fill="hold">
                                          <p:stCondLst>
                                            <p:cond delay="0"/>
                                          </p:stCondLst>
                                        </p:cTn>
                                        <p:tgtEl>
                                          <p:spTgt spid="16698"/>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1" presetClass="entr" fill="hold" nodeType="clickEffect">
                                  <p:stCondLst>
                                    <p:cond delay="0"/>
                                  </p:stCondLst>
                                  <p:childTnLst>
                                    <p:set>
                                      <p:cBhvr additive="repl">
                                        <p:cTn id="101" dur="1" fill="hold">
                                          <p:stCondLst>
                                            <p:cond delay="0"/>
                                          </p:stCondLst>
                                        </p:cTn>
                                        <p:tgtEl>
                                          <p:spTgt spid="16699"/>
                                        </p:tgtEl>
                                        <p:attrNameLst>
                                          <p:attrName>style.visibility</p:attrName>
                                        </p:attrNameLst>
                                      </p:cBhvr>
                                      <p:to>
                                        <p:strVal val="visible"/>
                                      </p:to>
                                    </p:se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1" presetClass="entr" fill="hold" nodeType="clickEffect">
                                  <p:stCondLst>
                                    <p:cond delay="0"/>
                                  </p:stCondLst>
                                  <p:childTnLst>
                                    <p:set>
                                      <p:cBhvr additive="repl">
                                        <p:cTn id="105" dur="1" fill="hold">
                                          <p:stCondLst>
                                            <p:cond delay="0"/>
                                          </p:stCondLst>
                                        </p:cTn>
                                        <p:tgtEl>
                                          <p:spTgt spid="16700"/>
                                        </p:tgtEl>
                                        <p:attrNameLst>
                                          <p:attrName>style.visibility</p:attrName>
                                        </p:attrNameLst>
                                      </p:cBhvr>
                                      <p:to>
                                        <p:strVal val="visible"/>
                                      </p:to>
                                    </p:se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1" presetClass="entr" fill="hold" nodeType="clickEffect">
                                  <p:stCondLst>
                                    <p:cond delay="0"/>
                                  </p:stCondLst>
                                  <p:childTnLst>
                                    <p:set>
                                      <p:cBhvr additive="repl">
                                        <p:cTn id="109" dur="1" fill="hold">
                                          <p:stCondLst>
                                            <p:cond delay="0"/>
                                          </p:stCondLst>
                                        </p:cTn>
                                        <p:tgtEl>
                                          <p:spTgt spid="16701"/>
                                        </p:tgtEl>
                                        <p:attrNameLst>
                                          <p:attrName>style.visibility</p:attrName>
                                        </p:attrNameLst>
                                      </p:cBhvr>
                                      <p:to>
                                        <p:strVal val="visible"/>
                                      </p:to>
                                    </p:set>
                                  </p:childTnLst>
                                </p:cTn>
                              </p:par>
                            </p:childTnLst>
                          </p:cTn>
                        </p:par>
                      </p:childTnLst>
                    </p:cTn>
                  </p:par>
                  <p:par>
                    <p:cTn id="110" fill="hold" nodeType="clickPar">
                      <p:stCondLst>
                        <p:cond delay="indefinite"/>
                      </p:stCondLst>
                      <p:childTnLst>
                        <p:par>
                          <p:cTn id="111" fill="hold" nodeType="withGroup">
                            <p:stCondLst>
                              <p:cond delay="0"/>
                            </p:stCondLst>
                            <p:childTnLst>
                              <p:par>
                                <p:cTn id="112" presetID="1" presetClass="entr" fill="hold" nodeType="clickEffect">
                                  <p:stCondLst>
                                    <p:cond delay="0"/>
                                  </p:stCondLst>
                                  <p:childTnLst>
                                    <p:set>
                                      <p:cBhvr additive="repl">
                                        <p:cTn id="113" dur="1" fill="hold">
                                          <p:stCondLst>
                                            <p:cond delay="0"/>
                                          </p:stCondLst>
                                        </p:cTn>
                                        <p:tgtEl>
                                          <p:spTgt spid="167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6385" name="Group 1"/>
          <p:cNvGraphicFramePr>
            <a:graphicFrameLocks noGrp="1"/>
          </p:cNvGraphicFramePr>
          <p:nvPr>
            <p:extLst>
              <p:ext uri="{D42A27DB-BD31-4B8C-83A1-F6EECF244321}">
                <p14:modId xmlns:p14="http://schemas.microsoft.com/office/powerpoint/2010/main" val="2865039912"/>
              </p:ext>
            </p:extLst>
          </p:nvPr>
        </p:nvGraphicFramePr>
        <p:xfrm>
          <a:off x="1617705" y="193470"/>
          <a:ext cx="9881306" cy="6352952"/>
        </p:xfrm>
        <a:graphic>
          <a:graphicData uri="http://schemas.openxmlformats.org/drawingml/2006/table">
            <a:tbl>
              <a:tblPr/>
              <a:tblGrid>
                <a:gridCol w="694153">
                  <a:extLst>
                    <a:ext uri="{9D8B030D-6E8A-4147-A177-3AD203B41FA5}">
                      <a16:colId xmlns:a16="http://schemas.microsoft.com/office/drawing/2014/main" val="20000"/>
                    </a:ext>
                  </a:extLst>
                </a:gridCol>
                <a:gridCol w="1193456">
                  <a:extLst>
                    <a:ext uri="{9D8B030D-6E8A-4147-A177-3AD203B41FA5}">
                      <a16:colId xmlns:a16="http://schemas.microsoft.com/office/drawing/2014/main" val="20001"/>
                    </a:ext>
                  </a:extLst>
                </a:gridCol>
                <a:gridCol w="1082500">
                  <a:extLst>
                    <a:ext uri="{9D8B030D-6E8A-4147-A177-3AD203B41FA5}">
                      <a16:colId xmlns:a16="http://schemas.microsoft.com/office/drawing/2014/main" val="20002"/>
                    </a:ext>
                  </a:extLst>
                </a:gridCol>
                <a:gridCol w="1790185">
                  <a:extLst>
                    <a:ext uri="{9D8B030D-6E8A-4147-A177-3AD203B41FA5}">
                      <a16:colId xmlns:a16="http://schemas.microsoft.com/office/drawing/2014/main" val="20003"/>
                    </a:ext>
                  </a:extLst>
                </a:gridCol>
                <a:gridCol w="1052731">
                  <a:extLst>
                    <a:ext uri="{9D8B030D-6E8A-4147-A177-3AD203B41FA5}">
                      <a16:colId xmlns:a16="http://schemas.microsoft.com/office/drawing/2014/main" val="20004"/>
                    </a:ext>
                  </a:extLst>
                </a:gridCol>
                <a:gridCol w="1217813">
                  <a:extLst>
                    <a:ext uri="{9D8B030D-6E8A-4147-A177-3AD203B41FA5}">
                      <a16:colId xmlns:a16="http://schemas.microsoft.com/office/drawing/2014/main" val="300680284"/>
                    </a:ext>
                  </a:extLst>
                </a:gridCol>
                <a:gridCol w="2850468">
                  <a:extLst>
                    <a:ext uri="{9D8B030D-6E8A-4147-A177-3AD203B41FA5}">
                      <a16:colId xmlns:a16="http://schemas.microsoft.com/office/drawing/2014/main" val="20005"/>
                    </a:ext>
                  </a:extLst>
                </a:gridCol>
              </a:tblGrid>
              <a:tr h="786297">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0"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cs typeface="Arial" panose="020B0604020202020204" pitchFamily="34" charset="0"/>
                        </a:rPr>
                        <a:t>ITEM</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Consumo médio mensal (un.)</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Custo unitário ($)</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Custo médio mensal ($)</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Custo médio mensal (%)</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kumimoji="0" lang="pt-BR" altLang="pt-BR" sz="1500" b="0"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Custo médio mensal</a:t>
                      </a:r>
                    </a:p>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a:pPr>
                      <a:r>
                        <a:rPr kumimoji="0" lang="pt-BR" altLang="pt-BR" sz="1500" b="0"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acumulado (%)</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Classificação</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extLst>
                  <a:ext uri="{0D108BD9-81ED-4DB2-BD59-A6C34878D82A}">
                    <a16:rowId xmlns:a16="http://schemas.microsoft.com/office/drawing/2014/main" val="10000"/>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I-32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1"/>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I-92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6.000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5,00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2"/>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I-12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sz="1500" b="0" i="0" u="none" strike="noStrike" kern="1200"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1.200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sz="1500" b="0" i="0" u="none" strike="noStrike" kern="1200"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8,00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3"/>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I-39</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3.500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2,50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4"/>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I-61</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350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5"/>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I-48</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2.750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6"/>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I-72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120,00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7"/>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I-15</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sz="1500" b="0" i="0" u="none" strike="noStrike" kern="1200"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600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sz="1500" b="0" i="0" u="none" strike="noStrike" kern="1200"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4,00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8"/>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I-52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sz="1500" b="0" i="0" u="none" strike="noStrike" kern="1200"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74</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sz="1500" b="0" i="0" u="none" strike="noStrike" kern="1200"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9"/>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I-22</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sz="1500" b="0" i="0" u="none" strike="noStrike" kern="1200"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165</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sz="1500" b="0" i="0" u="none" strike="noStrike" kern="1200"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7,00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10"/>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I-61</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100,00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11"/>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I-13</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43</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5,00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12"/>
                  </a:ext>
                </a:extLst>
              </a:tr>
              <a:tr h="364637">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I-10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sz="1500" b="0" i="0" u="none" strike="noStrike" kern="1200"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sz="1500" b="0" i="0" u="none" strike="noStrike" kern="1200"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20</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13"/>
                  </a:ext>
                </a:extLst>
              </a:tr>
              <a:tr h="364637">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Lst>
                      </a:pPr>
                      <a:r>
                        <a:rPr kumimoji="0" lang="pt-BR" altLang="pt-BR" sz="1500" b="0" i="0" u="none" strike="noStrike" cap="none" normalizeH="0" baseline="0" dirty="0">
                          <a:ln>
                            <a:noFill/>
                          </a:ln>
                          <a:solidFill>
                            <a:srgbClr val="000066"/>
                          </a:solidFill>
                          <a:effectLst/>
                          <a:latin typeface="Lucida Sans Unicode" panose="020B0602030504020204" pitchFamily="34" charset="0"/>
                          <a:ea typeface="Microsoft YaHei" panose="020B0503020204020204" pitchFamily="34" charset="-122"/>
                          <a:cs typeface="Arial" panose="020B0604020202020204" pitchFamily="34" charset="0"/>
                        </a:rPr>
                        <a:t>34.715</a:t>
                      </a:r>
                    </a:p>
                  </a:txBody>
                  <a:tcPr marL="90000" marR="90000" marT="46802"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1800" b="0" i="0" u="none" strike="noStrike" cap="none" normalizeH="0" baseline="0" dirty="0">
                        <a:ln>
                          <a:noFill/>
                        </a:ln>
                        <a:solidFill>
                          <a:srgbClr val="000000"/>
                        </a:solidFill>
                        <a:effectLst/>
                        <a:latin typeface="Arial" panose="020B0604020202020204" pitchFamily="34" charset="0"/>
                        <a:cs typeface="Arial" panose="020B0604020202020204" pitchFamily="34" charset="0"/>
                      </a:endParaRPr>
                    </a:p>
                  </a:txBody>
                  <a:tcPr marL="90000" marR="90000" marT="62679" marB="46802"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14"/>
                  </a:ext>
                </a:extLst>
              </a:tr>
            </a:tbl>
          </a:graphicData>
        </a:graphic>
      </p:graphicFrame>
      <p:sp>
        <p:nvSpPr>
          <p:cNvPr id="16677" name="Text Box 293"/>
          <p:cNvSpPr txBox="1">
            <a:spLocks noChangeArrowheads="1"/>
          </p:cNvSpPr>
          <p:nvPr/>
        </p:nvSpPr>
        <p:spPr bwMode="auto">
          <a:xfrm>
            <a:off x="4983161" y="1458986"/>
            <a:ext cx="12319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40.000,00</a:t>
            </a:r>
          </a:p>
        </p:txBody>
      </p:sp>
      <p:sp>
        <p:nvSpPr>
          <p:cNvPr id="16678" name="Text Box 294"/>
          <p:cNvSpPr txBox="1">
            <a:spLocks noChangeArrowheads="1"/>
          </p:cNvSpPr>
          <p:nvPr/>
        </p:nvSpPr>
        <p:spPr bwMode="auto">
          <a:xfrm>
            <a:off x="5084761" y="2195830"/>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9.600,00</a:t>
            </a:r>
          </a:p>
        </p:txBody>
      </p:sp>
      <p:sp>
        <p:nvSpPr>
          <p:cNvPr id="16679" name="Text Box 295"/>
          <p:cNvSpPr txBox="1">
            <a:spLocks noChangeArrowheads="1"/>
          </p:cNvSpPr>
          <p:nvPr/>
        </p:nvSpPr>
        <p:spPr bwMode="auto">
          <a:xfrm>
            <a:off x="5033961" y="1827408"/>
            <a:ext cx="11811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30.000,00</a:t>
            </a:r>
          </a:p>
        </p:txBody>
      </p:sp>
      <p:sp>
        <p:nvSpPr>
          <p:cNvPr id="16680" name="Text Box 296"/>
          <p:cNvSpPr txBox="1">
            <a:spLocks noChangeArrowheads="1"/>
          </p:cNvSpPr>
          <p:nvPr/>
        </p:nvSpPr>
        <p:spPr bwMode="auto">
          <a:xfrm>
            <a:off x="5084761" y="5114003"/>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300,00</a:t>
            </a:r>
          </a:p>
        </p:txBody>
      </p:sp>
      <p:sp>
        <p:nvSpPr>
          <p:cNvPr id="16681" name="Text Box 297"/>
          <p:cNvSpPr txBox="1">
            <a:spLocks noChangeArrowheads="1"/>
          </p:cNvSpPr>
          <p:nvPr/>
        </p:nvSpPr>
        <p:spPr bwMode="auto">
          <a:xfrm>
            <a:off x="5084761" y="4038899"/>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2.400,00</a:t>
            </a:r>
          </a:p>
        </p:txBody>
      </p:sp>
      <p:sp>
        <p:nvSpPr>
          <p:cNvPr id="16682" name="Text Box 298"/>
          <p:cNvSpPr txBox="1">
            <a:spLocks noChangeArrowheads="1"/>
          </p:cNvSpPr>
          <p:nvPr/>
        </p:nvSpPr>
        <p:spPr bwMode="auto">
          <a:xfrm>
            <a:off x="5084761" y="4407321"/>
            <a:ext cx="1130300" cy="265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1.480,00</a:t>
            </a:r>
          </a:p>
        </p:txBody>
      </p:sp>
      <p:sp>
        <p:nvSpPr>
          <p:cNvPr id="16683" name="Text Box 299"/>
          <p:cNvSpPr txBox="1">
            <a:spLocks noChangeArrowheads="1"/>
          </p:cNvSpPr>
          <p:nvPr/>
        </p:nvSpPr>
        <p:spPr bwMode="auto">
          <a:xfrm>
            <a:off x="5138736" y="5482425"/>
            <a:ext cx="1076325"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215,00</a:t>
            </a:r>
          </a:p>
        </p:txBody>
      </p:sp>
      <p:sp>
        <p:nvSpPr>
          <p:cNvPr id="16684" name="Text Box 300"/>
          <p:cNvSpPr txBox="1">
            <a:spLocks noChangeArrowheads="1"/>
          </p:cNvSpPr>
          <p:nvPr/>
        </p:nvSpPr>
        <p:spPr bwMode="auto">
          <a:xfrm>
            <a:off x="5084761" y="4745581"/>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1.155,00</a:t>
            </a:r>
          </a:p>
        </p:txBody>
      </p:sp>
      <p:sp>
        <p:nvSpPr>
          <p:cNvPr id="16685" name="Text Box 301"/>
          <p:cNvSpPr txBox="1">
            <a:spLocks noChangeArrowheads="1"/>
          </p:cNvSpPr>
          <p:nvPr/>
        </p:nvSpPr>
        <p:spPr bwMode="auto">
          <a:xfrm>
            <a:off x="5084761" y="3302055"/>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5.500,00</a:t>
            </a:r>
          </a:p>
        </p:txBody>
      </p:sp>
      <p:sp>
        <p:nvSpPr>
          <p:cNvPr id="16686" name="Text Box 302"/>
          <p:cNvSpPr txBox="1">
            <a:spLocks noChangeArrowheads="1"/>
          </p:cNvSpPr>
          <p:nvPr/>
        </p:nvSpPr>
        <p:spPr bwMode="auto">
          <a:xfrm>
            <a:off x="5181211" y="2564252"/>
            <a:ext cx="1033850" cy="296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8.750,00</a:t>
            </a:r>
          </a:p>
        </p:txBody>
      </p:sp>
      <p:sp>
        <p:nvSpPr>
          <p:cNvPr id="16687" name="Text Box 303"/>
          <p:cNvSpPr txBox="1">
            <a:spLocks noChangeArrowheads="1"/>
          </p:cNvSpPr>
          <p:nvPr/>
        </p:nvSpPr>
        <p:spPr bwMode="auto">
          <a:xfrm>
            <a:off x="5376861" y="5850847"/>
            <a:ext cx="8382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0,00</a:t>
            </a:r>
          </a:p>
        </p:txBody>
      </p:sp>
      <p:sp>
        <p:nvSpPr>
          <p:cNvPr id="16688" name="Text Box 304"/>
          <p:cNvSpPr txBox="1">
            <a:spLocks noChangeArrowheads="1"/>
          </p:cNvSpPr>
          <p:nvPr/>
        </p:nvSpPr>
        <p:spPr bwMode="auto">
          <a:xfrm>
            <a:off x="5084761" y="2933633"/>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7.000,00</a:t>
            </a:r>
          </a:p>
        </p:txBody>
      </p:sp>
      <p:sp>
        <p:nvSpPr>
          <p:cNvPr id="16689" name="Text Box 305"/>
          <p:cNvSpPr txBox="1">
            <a:spLocks noChangeArrowheads="1"/>
          </p:cNvSpPr>
          <p:nvPr/>
        </p:nvSpPr>
        <p:spPr bwMode="auto">
          <a:xfrm>
            <a:off x="5084761" y="3670477"/>
            <a:ext cx="113030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3.600,00</a:t>
            </a:r>
          </a:p>
        </p:txBody>
      </p:sp>
      <p:sp>
        <p:nvSpPr>
          <p:cNvPr id="16690" name="Text Box 306"/>
          <p:cNvSpPr txBox="1">
            <a:spLocks noChangeArrowheads="1"/>
          </p:cNvSpPr>
          <p:nvPr/>
        </p:nvSpPr>
        <p:spPr bwMode="auto">
          <a:xfrm>
            <a:off x="4867274" y="6219264"/>
            <a:ext cx="1347787"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110.000,00</a:t>
            </a:r>
          </a:p>
        </p:txBody>
      </p:sp>
      <p:sp>
        <p:nvSpPr>
          <p:cNvPr id="16691" name="Text Box 307"/>
          <p:cNvSpPr txBox="1">
            <a:spLocks noChangeArrowheads="1"/>
          </p:cNvSpPr>
          <p:nvPr/>
        </p:nvSpPr>
        <p:spPr bwMode="auto">
          <a:xfrm>
            <a:off x="6438237" y="1476259"/>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36,36</a:t>
            </a:r>
          </a:p>
        </p:txBody>
      </p:sp>
      <p:sp>
        <p:nvSpPr>
          <p:cNvPr id="16692" name="Text Box 308"/>
          <p:cNvSpPr txBox="1">
            <a:spLocks noChangeArrowheads="1"/>
          </p:cNvSpPr>
          <p:nvPr/>
        </p:nvSpPr>
        <p:spPr bwMode="auto">
          <a:xfrm>
            <a:off x="6438237" y="1840407"/>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27,27</a:t>
            </a:r>
          </a:p>
        </p:txBody>
      </p:sp>
      <p:sp>
        <p:nvSpPr>
          <p:cNvPr id="16693" name="Text Box 309"/>
          <p:cNvSpPr txBox="1">
            <a:spLocks noChangeArrowheads="1"/>
          </p:cNvSpPr>
          <p:nvPr/>
        </p:nvSpPr>
        <p:spPr bwMode="auto">
          <a:xfrm>
            <a:off x="6633499" y="4026254"/>
            <a:ext cx="712788"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2,18</a:t>
            </a:r>
          </a:p>
        </p:txBody>
      </p:sp>
      <p:sp>
        <p:nvSpPr>
          <p:cNvPr id="16694" name="Text Box 310"/>
          <p:cNvSpPr txBox="1">
            <a:spLocks noChangeArrowheads="1"/>
          </p:cNvSpPr>
          <p:nvPr/>
        </p:nvSpPr>
        <p:spPr bwMode="auto">
          <a:xfrm>
            <a:off x="6633499" y="4390402"/>
            <a:ext cx="712788"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1,35</a:t>
            </a:r>
          </a:p>
        </p:txBody>
      </p:sp>
      <p:sp>
        <p:nvSpPr>
          <p:cNvPr id="16695" name="Text Box 311"/>
          <p:cNvSpPr txBox="1">
            <a:spLocks noChangeArrowheads="1"/>
          </p:cNvSpPr>
          <p:nvPr/>
        </p:nvSpPr>
        <p:spPr bwMode="auto">
          <a:xfrm>
            <a:off x="6662075" y="5473321"/>
            <a:ext cx="684212"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0,20</a:t>
            </a:r>
          </a:p>
        </p:txBody>
      </p:sp>
      <p:sp>
        <p:nvSpPr>
          <p:cNvPr id="16696" name="Text Box 312"/>
          <p:cNvSpPr txBox="1">
            <a:spLocks noChangeArrowheads="1"/>
          </p:cNvSpPr>
          <p:nvPr/>
        </p:nvSpPr>
        <p:spPr bwMode="auto">
          <a:xfrm>
            <a:off x="6692237" y="4754550"/>
            <a:ext cx="654050"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1,05</a:t>
            </a:r>
          </a:p>
        </p:txBody>
      </p:sp>
      <p:sp>
        <p:nvSpPr>
          <p:cNvPr id="16697" name="Text Box 313"/>
          <p:cNvSpPr txBox="1">
            <a:spLocks noChangeArrowheads="1"/>
          </p:cNvSpPr>
          <p:nvPr/>
        </p:nvSpPr>
        <p:spPr bwMode="auto">
          <a:xfrm>
            <a:off x="6544599" y="3297958"/>
            <a:ext cx="801688"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5,00</a:t>
            </a:r>
          </a:p>
        </p:txBody>
      </p:sp>
      <p:sp>
        <p:nvSpPr>
          <p:cNvPr id="16698" name="Text Box 314"/>
          <p:cNvSpPr txBox="1">
            <a:spLocks noChangeArrowheads="1"/>
          </p:cNvSpPr>
          <p:nvPr/>
        </p:nvSpPr>
        <p:spPr bwMode="auto">
          <a:xfrm>
            <a:off x="6672967" y="2568703"/>
            <a:ext cx="673320" cy="296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7,95</a:t>
            </a:r>
          </a:p>
        </p:txBody>
      </p:sp>
      <p:sp>
        <p:nvSpPr>
          <p:cNvPr id="16699" name="Text Box 315"/>
          <p:cNvSpPr txBox="1">
            <a:spLocks noChangeArrowheads="1"/>
          </p:cNvSpPr>
          <p:nvPr/>
        </p:nvSpPr>
        <p:spPr bwMode="auto">
          <a:xfrm>
            <a:off x="6573175" y="5837469"/>
            <a:ext cx="773112"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0,00</a:t>
            </a:r>
          </a:p>
        </p:txBody>
      </p:sp>
      <p:sp>
        <p:nvSpPr>
          <p:cNvPr id="16700" name="Text Box 316"/>
          <p:cNvSpPr txBox="1">
            <a:spLocks noChangeArrowheads="1"/>
          </p:cNvSpPr>
          <p:nvPr/>
        </p:nvSpPr>
        <p:spPr bwMode="auto">
          <a:xfrm>
            <a:off x="6528725" y="2933810"/>
            <a:ext cx="817562"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6,36</a:t>
            </a:r>
          </a:p>
        </p:txBody>
      </p:sp>
      <p:sp>
        <p:nvSpPr>
          <p:cNvPr id="16701" name="Text Box 317"/>
          <p:cNvSpPr txBox="1">
            <a:spLocks noChangeArrowheads="1"/>
          </p:cNvSpPr>
          <p:nvPr/>
        </p:nvSpPr>
        <p:spPr bwMode="auto">
          <a:xfrm>
            <a:off x="6587462" y="3662106"/>
            <a:ext cx="758825"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3,27</a:t>
            </a:r>
          </a:p>
        </p:txBody>
      </p:sp>
      <p:sp>
        <p:nvSpPr>
          <p:cNvPr id="16702" name="Text Box 318"/>
          <p:cNvSpPr txBox="1">
            <a:spLocks noChangeArrowheads="1"/>
          </p:cNvSpPr>
          <p:nvPr/>
        </p:nvSpPr>
        <p:spPr bwMode="auto">
          <a:xfrm>
            <a:off x="6573175" y="5109173"/>
            <a:ext cx="773112"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0,27</a:t>
            </a:r>
          </a:p>
        </p:txBody>
      </p:sp>
      <p:sp>
        <p:nvSpPr>
          <p:cNvPr id="16703" name="Text Box 319"/>
          <p:cNvSpPr txBox="1">
            <a:spLocks noChangeArrowheads="1"/>
          </p:cNvSpPr>
          <p:nvPr/>
        </p:nvSpPr>
        <p:spPr bwMode="auto">
          <a:xfrm>
            <a:off x="6477289" y="6201611"/>
            <a:ext cx="90805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100,00</a:t>
            </a:r>
          </a:p>
        </p:txBody>
      </p:sp>
      <p:sp>
        <p:nvSpPr>
          <p:cNvPr id="16704" name="Text Box 320"/>
          <p:cNvSpPr txBox="1">
            <a:spLocks noChangeArrowheads="1"/>
          </p:cNvSpPr>
          <p:nvPr/>
        </p:nvSpPr>
        <p:spPr bwMode="auto">
          <a:xfrm>
            <a:off x="6438237" y="2204555"/>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8,73</a:t>
            </a:r>
          </a:p>
        </p:txBody>
      </p:sp>
      <p:sp>
        <p:nvSpPr>
          <p:cNvPr id="16705" name="Text Box 321"/>
          <p:cNvSpPr txBox="1">
            <a:spLocks noChangeArrowheads="1"/>
          </p:cNvSpPr>
          <p:nvPr/>
        </p:nvSpPr>
        <p:spPr bwMode="auto">
          <a:xfrm>
            <a:off x="9164183" y="1461677"/>
            <a:ext cx="392113"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000" b="1" dirty="0">
                <a:solidFill>
                  <a:srgbClr val="FF3333"/>
                </a:solidFill>
                <a:latin typeface="Lucida Sans Unicode" panose="020B0602030504020204" pitchFamily="34" charset="0"/>
              </a:rPr>
              <a:t>A</a:t>
            </a:r>
          </a:p>
        </p:txBody>
      </p:sp>
      <p:sp>
        <p:nvSpPr>
          <p:cNvPr id="16706" name="Text Box 322"/>
          <p:cNvSpPr txBox="1">
            <a:spLocks noChangeArrowheads="1"/>
          </p:cNvSpPr>
          <p:nvPr/>
        </p:nvSpPr>
        <p:spPr bwMode="auto">
          <a:xfrm>
            <a:off x="9164183" y="1818879"/>
            <a:ext cx="392113"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000" b="1" dirty="0">
                <a:solidFill>
                  <a:srgbClr val="FF3333"/>
                </a:solidFill>
                <a:latin typeface="Lucida Sans Unicode" panose="020B0602030504020204" pitchFamily="34" charset="0"/>
              </a:rPr>
              <a:t>A</a:t>
            </a:r>
          </a:p>
        </p:txBody>
      </p:sp>
      <p:sp>
        <p:nvSpPr>
          <p:cNvPr id="16707" name="Text Box 323"/>
          <p:cNvSpPr txBox="1">
            <a:spLocks noChangeArrowheads="1"/>
          </p:cNvSpPr>
          <p:nvPr/>
        </p:nvSpPr>
        <p:spPr bwMode="auto">
          <a:xfrm>
            <a:off x="9164183" y="3265862"/>
            <a:ext cx="392112"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000" b="1" dirty="0">
                <a:solidFill>
                  <a:srgbClr val="FF950E"/>
                </a:solidFill>
                <a:latin typeface="Lucida Sans Unicode" panose="020B0602030504020204" pitchFamily="34" charset="0"/>
              </a:rPr>
              <a:t>B</a:t>
            </a:r>
          </a:p>
        </p:txBody>
      </p:sp>
      <p:sp>
        <p:nvSpPr>
          <p:cNvPr id="16708" name="Text Box 324"/>
          <p:cNvSpPr txBox="1">
            <a:spLocks noChangeArrowheads="1"/>
          </p:cNvSpPr>
          <p:nvPr/>
        </p:nvSpPr>
        <p:spPr bwMode="auto">
          <a:xfrm>
            <a:off x="9207521" y="2532393"/>
            <a:ext cx="305437" cy="3917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000" b="1" dirty="0">
                <a:solidFill>
                  <a:srgbClr val="FF3333"/>
                </a:solidFill>
                <a:latin typeface="Lucida Sans Unicode" panose="020B0602030504020204" pitchFamily="34" charset="0"/>
              </a:rPr>
              <a:t>A</a:t>
            </a:r>
          </a:p>
        </p:txBody>
      </p:sp>
      <p:sp>
        <p:nvSpPr>
          <p:cNvPr id="16709" name="Text Box 325"/>
          <p:cNvSpPr txBox="1">
            <a:spLocks noChangeArrowheads="1"/>
          </p:cNvSpPr>
          <p:nvPr/>
        </p:nvSpPr>
        <p:spPr bwMode="auto">
          <a:xfrm>
            <a:off x="9164183" y="2917740"/>
            <a:ext cx="392113"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000" b="1" dirty="0">
                <a:solidFill>
                  <a:srgbClr val="FF950E"/>
                </a:solidFill>
                <a:latin typeface="Lucida Sans Unicode" panose="020B0602030504020204" pitchFamily="34" charset="0"/>
              </a:rPr>
              <a:t>B</a:t>
            </a:r>
          </a:p>
        </p:txBody>
      </p:sp>
      <p:sp>
        <p:nvSpPr>
          <p:cNvPr id="16710" name="Text Box 326"/>
          <p:cNvSpPr txBox="1">
            <a:spLocks noChangeArrowheads="1"/>
          </p:cNvSpPr>
          <p:nvPr/>
        </p:nvSpPr>
        <p:spPr bwMode="auto">
          <a:xfrm>
            <a:off x="9164183" y="2176640"/>
            <a:ext cx="392113"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000" b="1" dirty="0">
                <a:solidFill>
                  <a:srgbClr val="FF3333"/>
                </a:solidFill>
                <a:latin typeface="Lucida Sans Unicode" panose="020B0602030504020204" pitchFamily="34" charset="0"/>
              </a:rPr>
              <a:t>A</a:t>
            </a:r>
          </a:p>
        </p:txBody>
      </p:sp>
      <p:sp>
        <p:nvSpPr>
          <p:cNvPr id="16711" name="Text Box 327"/>
          <p:cNvSpPr txBox="1">
            <a:spLocks noChangeArrowheads="1"/>
          </p:cNvSpPr>
          <p:nvPr/>
        </p:nvSpPr>
        <p:spPr bwMode="auto">
          <a:xfrm>
            <a:off x="9195014" y="3993704"/>
            <a:ext cx="330450" cy="38465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000" b="1" dirty="0">
                <a:solidFill>
                  <a:srgbClr val="009900"/>
                </a:solidFill>
                <a:latin typeface="Lucida Sans Unicode" panose="020B0602030504020204" pitchFamily="34" charset="0"/>
              </a:rPr>
              <a:t>C</a:t>
            </a:r>
          </a:p>
        </p:txBody>
      </p:sp>
      <p:sp>
        <p:nvSpPr>
          <p:cNvPr id="16712" name="Text Box 328"/>
          <p:cNvSpPr txBox="1">
            <a:spLocks noChangeArrowheads="1"/>
          </p:cNvSpPr>
          <p:nvPr/>
        </p:nvSpPr>
        <p:spPr bwMode="auto">
          <a:xfrm>
            <a:off x="9164183" y="5096738"/>
            <a:ext cx="392113"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000" b="1" dirty="0">
                <a:solidFill>
                  <a:srgbClr val="009900"/>
                </a:solidFill>
                <a:latin typeface="Lucida Sans Unicode" panose="020B0602030504020204" pitchFamily="34" charset="0"/>
              </a:rPr>
              <a:t>C</a:t>
            </a:r>
          </a:p>
        </p:txBody>
      </p:sp>
      <p:sp>
        <p:nvSpPr>
          <p:cNvPr id="16713" name="Text Box 329"/>
          <p:cNvSpPr txBox="1">
            <a:spLocks noChangeArrowheads="1"/>
          </p:cNvSpPr>
          <p:nvPr/>
        </p:nvSpPr>
        <p:spPr bwMode="auto">
          <a:xfrm>
            <a:off x="9164183" y="4357466"/>
            <a:ext cx="392113"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000" b="1" dirty="0">
                <a:solidFill>
                  <a:srgbClr val="009900"/>
                </a:solidFill>
                <a:latin typeface="Lucida Sans Unicode" panose="020B0602030504020204" pitchFamily="34" charset="0"/>
              </a:rPr>
              <a:t>C</a:t>
            </a:r>
          </a:p>
        </p:txBody>
      </p:sp>
      <p:sp>
        <p:nvSpPr>
          <p:cNvPr id="16714" name="Text Box 330"/>
          <p:cNvSpPr txBox="1">
            <a:spLocks noChangeArrowheads="1"/>
          </p:cNvSpPr>
          <p:nvPr/>
        </p:nvSpPr>
        <p:spPr bwMode="auto">
          <a:xfrm>
            <a:off x="9164183" y="4728551"/>
            <a:ext cx="392112"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000" b="1" dirty="0">
                <a:solidFill>
                  <a:srgbClr val="009900"/>
                </a:solidFill>
                <a:latin typeface="Lucida Sans Unicode" panose="020B0602030504020204" pitchFamily="34" charset="0"/>
              </a:rPr>
              <a:t>C</a:t>
            </a:r>
          </a:p>
        </p:txBody>
      </p:sp>
      <p:sp>
        <p:nvSpPr>
          <p:cNvPr id="16715" name="Text Box 331"/>
          <p:cNvSpPr txBox="1">
            <a:spLocks noChangeArrowheads="1"/>
          </p:cNvSpPr>
          <p:nvPr/>
        </p:nvSpPr>
        <p:spPr bwMode="auto">
          <a:xfrm>
            <a:off x="9164183" y="5454944"/>
            <a:ext cx="392112"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000" b="1" dirty="0">
                <a:solidFill>
                  <a:srgbClr val="009900"/>
                </a:solidFill>
                <a:latin typeface="Lucida Sans Unicode" panose="020B0602030504020204" pitchFamily="34" charset="0"/>
              </a:rPr>
              <a:t>C</a:t>
            </a:r>
          </a:p>
        </p:txBody>
      </p:sp>
      <p:sp>
        <p:nvSpPr>
          <p:cNvPr id="16716" name="Text Box 332"/>
          <p:cNvSpPr txBox="1">
            <a:spLocks noChangeArrowheads="1"/>
          </p:cNvSpPr>
          <p:nvPr/>
        </p:nvSpPr>
        <p:spPr bwMode="auto">
          <a:xfrm>
            <a:off x="9164183" y="3636947"/>
            <a:ext cx="392112"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000" b="1" dirty="0">
                <a:solidFill>
                  <a:srgbClr val="FF950E"/>
                </a:solidFill>
                <a:latin typeface="Lucida Sans Unicode" panose="020B0602030504020204" pitchFamily="34" charset="0"/>
              </a:rPr>
              <a:t>B</a:t>
            </a:r>
          </a:p>
        </p:txBody>
      </p:sp>
      <p:sp>
        <p:nvSpPr>
          <p:cNvPr id="16717" name="Text Box 333"/>
          <p:cNvSpPr txBox="1">
            <a:spLocks noChangeArrowheads="1"/>
          </p:cNvSpPr>
          <p:nvPr/>
        </p:nvSpPr>
        <p:spPr bwMode="auto">
          <a:xfrm>
            <a:off x="9164183" y="5813153"/>
            <a:ext cx="392113" cy="390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ctr">
              <a:buClrTx/>
              <a:buFontTx/>
              <a:buNone/>
            </a:pPr>
            <a:r>
              <a:rPr lang="pt-BR" altLang="pt-BR" sz="2000" b="1" dirty="0">
                <a:solidFill>
                  <a:srgbClr val="009900"/>
                </a:solidFill>
                <a:latin typeface="Lucida Sans Unicode" panose="020B0602030504020204" pitchFamily="34" charset="0"/>
              </a:rPr>
              <a:t>C</a:t>
            </a:r>
          </a:p>
        </p:txBody>
      </p:sp>
      <p:sp>
        <p:nvSpPr>
          <p:cNvPr id="49" name="Text Box 307"/>
          <p:cNvSpPr txBox="1">
            <a:spLocks noChangeArrowheads="1"/>
          </p:cNvSpPr>
          <p:nvPr/>
        </p:nvSpPr>
        <p:spPr bwMode="auto">
          <a:xfrm>
            <a:off x="7682705" y="1474556"/>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36,36</a:t>
            </a:r>
          </a:p>
        </p:txBody>
      </p:sp>
      <p:sp>
        <p:nvSpPr>
          <p:cNvPr id="50" name="Text Box 308"/>
          <p:cNvSpPr txBox="1">
            <a:spLocks noChangeArrowheads="1"/>
          </p:cNvSpPr>
          <p:nvPr/>
        </p:nvSpPr>
        <p:spPr bwMode="auto">
          <a:xfrm>
            <a:off x="7682705" y="1827407"/>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63,63</a:t>
            </a:r>
          </a:p>
        </p:txBody>
      </p:sp>
      <p:sp>
        <p:nvSpPr>
          <p:cNvPr id="51" name="Text Box 308"/>
          <p:cNvSpPr txBox="1">
            <a:spLocks noChangeArrowheads="1"/>
          </p:cNvSpPr>
          <p:nvPr/>
        </p:nvSpPr>
        <p:spPr bwMode="auto">
          <a:xfrm>
            <a:off x="7682705" y="2204555"/>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72,36</a:t>
            </a:r>
          </a:p>
        </p:txBody>
      </p:sp>
      <p:sp>
        <p:nvSpPr>
          <p:cNvPr id="52" name="Text Box 308"/>
          <p:cNvSpPr txBox="1">
            <a:spLocks noChangeArrowheads="1"/>
          </p:cNvSpPr>
          <p:nvPr/>
        </p:nvSpPr>
        <p:spPr bwMode="auto">
          <a:xfrm>
            <a:off x="7682705" y="2565211"/>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80,31</a:t>
            </a:r>
          </a:p>
        </p:txBody>
      </p:sp>
      <p:sp>
        <p:nvSpPr>
          <p:cNvPr id="53" name="Text Box 308"/>
          <p:cNvSpPr txBox="1">
            <a:spLocks noChangeArrowheads="1"/>
          </p:cNvSpPr>
          <p:nvPr/>
        </p:nvSpPr>
        <p:spPr bwMode="auto">
          <a:xfrm>
            <a:off x="7682705" y="2933632"/>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86,67</a:t>
            </a:r>
          </a:p>
        </p:txBody>
      </p:sp>
      <p:sp>
        <p:nvSpPr>
          <p:cNvPr id="54" name="Text Box 308"/>
          <p:cNvSpPr txBox="1">
            <a:spLocks noChangeArrowheads="1"/>
          </p:cNvSpPr>
          <p:nvPr/>
        </p:nvSpPr>
        <p:spPr bwMode="auto">
          <a:xfrm>
            <a:off x="7682705" y="3291620"/>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91,67</a:t>
            </a:r>
          </a:p>
        </p:txBody>
      </p:sp>
      <p:sp>
        <p:nvSpPr>
          <p:cNvPr id="55" name="Text Box 308"/>
          <p:cNvSpPr txBox="1">
            <a:spLocks noChangeArrowheads="1"/>
          </p:cNvSpPr>
          <p:nvPr/>
        </p:nvSpPr>
        <p:spPr bwMode="auto">
          <a:xfrm>
            <a:off x="7682705" y="3660573"/>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94,94</a:t>
            </a:r>
          </a:p>
        </p:txBody>
      </p:sp>
      <p:sp>
        <p:nvSpPr>
          <p:cNvPr id="56" name="Text Box 308"/>
          <p:cNvSpPr txBox="1">
            <a:spLocks noChangeArrowheads="1"/>
          </p:cNvSpPr>
          <p:nvPr/>
        </p:nvSpPr>
        <p:spPr bwMode="auto">
          <a:xfrm>
            <a:off x="7682705" y="4040453"/>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97,12</a:t>
            </a:r>
          </a:p>
        </p:txBody>
      </p:sp>
      <p:sp>
        <p:nvSpPr>
          <p:cNvPr id="57" name="Text Box 308"/>
          <p:cNvSpPr txBox="1">
            <a:spLocks noChangeArrowheads="1"/>
          </p:cNvSpPr>
          <p:nvPr/>
        </p:nvSpPr>
        <p:spPr bwMode="auto">
          <a:xfrm>
            <a:off x="7682705" y="4383224"/>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98,47</a:t>
            </a:r>
          </a:p>
        </p:txBody>
      </p:sp>
      <p:sp>
        <p:nvSpPr>
          <p:cNvPr id="58" name="Text Box 308"/>
          <p:cNvSpPr txBox="1">
            <a:spLocks noChangeArrowheads="1"/>
          </p:cNvSpPr>
          <p:nvPr/>
        </p:nvSpPr>
        <p:spPr bwMode="auto">
          <a:xfrm>
            <a:off x="7682705" y="4740195"/>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99,52</a:t>
            </a:r>
          </a:p>
        </p:txBody>
      </p:sp>
      <p:sp>
        <p:nvSpPr>
          <p:cNvPr id="59" name="Text Box 308"/>
          <p:cNvSpPr txBox="1">
            <a:spLocks noChangeArrowheads="1"/>
          </p:cNvSpPr>
          <p:nvPr/>
        </p:nvSpPr>
        <p:spPr bwMode="auto">
          <a:xfrm>
            <a:off x="7682705" y="5109172"/>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99,79</a:t>
            </a:r>
          </a:p>
        </p:txBody>
      </p:sp>
      <p:sp>
        <p:nvSpPr>
          <p:cNvPr id="60" name="Text Box 308"/>
          <p:cNvSpPr txBox="1">
            <a:spLocks noChangeArrowheads="1"/>
          </p:cNvSpPr>
          <p:nvPr/>
        </p:nvSpPr>
        <p:spPr bwMode="auto">
          <a:xfrm>
            <a:off x="7682705" y="5476142"/>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99,99</a:t>
            </a:r>
          </a:p>
        </p:txBody>
      </p:sp>
      <p:sp>
        <p:nvSpPr>
          <p:cNvPr id="61" name="Text Box 308"/>
          <p:cNvSpPr txBox="1">
            <a:spLocks noChangeArrowheads="1"/>
          </p:cNvSpPr>
          <p:nvPr/>
        </p:nvSpPr>
        <p:spPr bwMode="auto">
          <a:xfrm>
            <a:off x="7682705" y="5845177"/>
            <a:ext cx="908050" cy="295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1500" b="1" dirty="0">
                <a:solidFill>
                  <a:srgbClr val="000066"/>
                </a:solidFill>
                <a:latin typeface="Lucida Sans Unicode" panose="020B0602030504020204" pitchFamily="34" charset="0"/>
              </a:rPr>
              <a:t>99,99</a:t>
            </a:r>
          </a:p>
        </p:txBody>
      </p:sp>
    </p:spTree>
    <p:extLst>
      <p:ext uri="{BB962C8B-B14F-4D97-AF65-F5344CB8AC3E}">
        <p14:creationId xmlns:p14="http://schemas.microsoft.com/office/powerpoint/2010/main" val="473740320"/>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1667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166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additive="repl">
                                        <p:cTn id="14" dur="1" fill="hold">
                                          <p:stCondLst>
                                            <p:cond delay="0"/>
                                          </p:stCondLst>
                                        </p:cTn>
                                        <p:tgtEl>
                                          <p:spTgt spid="166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additive="repl">
                                        <p:cTn id="18" dur="1" fill="hold">
                                          <p:stCondLst>
                                            <p:cond delay="0"/>
                                          </p:stCondLst>
                                        </p:cTn>
                                        <p:tgtEl>
                                          <p:spTgt spid="1668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fill="hold" nodeType="clickEffect">
                                  <p:stCondLst>
                                    <p:cond delay="0"/>
                                  </p:stCondLst>
                                  <p:childTnLst>
                                    <p:set>
                                      <p:cBhvr additive="repl">
                                        <p:cTn id="22" dur="1" fill="hold">
                                          <p:stCondLst>
                                            <p:cond delay="0"/>
                                          </p:stCondLst>
                                        </p:cTn>
                                        <p:tgtEl>
                                          <p:spTgt spid="1668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additive="repl">
                                        <p:cTn id="26" dur="1" fill="hold">
                                          <p:stCondLst>
                                            <p:cond delay="0"/>
                                          </p:stCondLst>
                                        </p:cTn>
                                        <p:tgtEl>
                                          <p:spTgt spid="1668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additive="repl">
                                        <p:cTn id="30" dur="1" fill="hold">
                                          <p:stCondLst>
                                            <p:cond delay="0"/>
                                          </p:stCondLst>
                                        </p:cTn>
                                        <p:tgtEl>
                                          <p:spTgt spid="1668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additive="repl">
                                        <p:cTn id="34" dur="1" fill="hold">
                                          <p:stCondLst>
                                            <p:cond delay="0"/>
                                          </p:stCondLst>
                                        </p:cTn>
                                        <p:tgtEl>
                                          <p:spTgt spid="16681"/>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fill="hold" nodeType="clickEffect">
                                  <p:stCondLst>
                                    <p:cond delay="0"/>
                                  </p:stCondLst>
                                  <p:childTnLst>
                                    <p:set>
                                      <p:cBhvr additive="repl">
                                        <p:cTn id="38" dur="1" fill="hold">
                                          <p:stCondLst>
                                            <p:cond delay="0"/>
                                          </p:stCondLst>
                                        </p:cTn>
                                        <p:tgtEl>
                                          <p:spTgt spid="16682"/>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fill="hold" nodeType="clickEffect">
                                  <p:stCondLst>
                                    <p:cond delay="0"/>
                                  </p:stCondLst>
                                  <p:childTnLst>
                                    <p:set>
                                      <p:cBhvr additive="repl">
                                        <p:cTn id="42" dur="1" fill="hold">
                                          <p:stCondLst>
                                            <p:cond delay="0"/>
                                          </p:stCondLst>
                                        </p:cTn>
                                        <p:tgtEl>
                                          <p:spTgt spid="1668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additive="repl">
                                        <p:cTn id="46" dur="1" fill="hold">
                                          <p:stCondLst>
                                            <p:cond delay="0"/>
                                          </p:stCondLst>
                                        </p:cTn>
                                        <p:tgtEl>
                                          <p:spTgt spid="1668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fill="hold" nodeType="clickEffect">
                                  <p:stCondLst>
                                    <p:cond delay="0"/>
                                  </p:stCondLst>
                                  <p:childTnLst>
                                    <p:set>
                                      <p:cBhvr additive="repl">
                                        <p:cTn id="50" dur="1" fill="hold">
                                          <p:stCondLst>
                                            <p:cond delay="0"/>
                                          </p:stCondLst>
                                        </p:cTn>
                                        <p:tgtEl>
                                          <p:spTgt spid="16683"/>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fill="hold" nodeType="clickEffect">
                                  <p:stCondLst>
                                    <p:cond delay="0"/>
                                  </p:stCondLst>
                                  <p:childTnLst>
                                    <p:set>
                                      <p:cBhvr additive="repl">
                                        <p:cTn id="54" dur="1" fill="hold">
                                          <p:stCondLst>
                                            <p:cond delay="0"/>
                                          </p:stCondLst>
                                        </p:cTn>
                                        <p:tgtEl>
                                          <p:spTgt spid="16687"/>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fill="hold" nodeType="clickEffect">
                                  <p:stCondLst>
                                    <p:cond delay="0"/>
                                  </p:stCondLst>
                                  <p:childTnLst>
                                    <p:set>
                                      <p:cBhvr additive="repl">
                                        <p:cTn id="58" dur="1" fill="hold">
                                          <p:stCondLst>
                                            <p:cond delay="0"/>
                                          </p:stCondLst>
                                        </p:cTn>
                                        <p:tgtEl>
                                          <p:spTgt spid="16690"/>
                                        </p:tgtEl>
                                        <p:attrNameLst>
                                          <p:attrName>style.visibility</p:attrName>
                                        </p:attrNameLst>
                                      </p:cBhvr>
                                      <p:to>
                                        <p:strVal val="visible"/>
                                      </p:to>
                                    </p:set>
                                  </p:childTnLst>
                                </p:cTn>
                              </p:par>
                            </p:childTnLst>
                          </p:cTn>
                        </p:par>
                        <p:par>
                          <p:cTn id="59" fill="hold" nodeType="afterGroup">
                            <p:stCondLst>
                              <p:cond delay="1"/>
                            </p:stCondLst>
                            <p:childTnLst>
                              <p:par>
                                <p:cTn id="60" presetID="1" presetClass="entr" fill="hold" nodeType="afterEffect">
                                  <p:stCondLst>
                                    <p:cond delay="0"/>
                                  </p:stCondLst>
                                  <p:childTnLst>
                                    <p:set>
                                      <p:cBhvr additive="repl">
                                        <p:cTn id="61" dur="1" fill="hold">
                                          <p:stCondLst>
                                            <p:cond delay="0"/>
                                          </p:stCondLst>
                                        </p:cTn>
                                        <p:tgtEl>
                                          <p:spTgt spid="16703"/>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1" presetClass="entr" fill="hold" nodeType="clickEffect">
                                  <p:stCondLst>
                                    <p:cond delay="0"/>
                                  </p:stCondLst>
                                  <p:childTnLst>
                                    <p:set>
                                      <p:cBhvr additive="repl">
                                        <p:cTn id="65" dur="1" fill="hold">
                                          <p:stCondLst>
                                            <p:cond delay="0"/>
                                          </p:stCondLst>
                                        </p:cTn>
                                        <p:tgtEl>
                                          <p:spTgt spid="16691"/>
                                        </p:tgtEl>
                                        <p:attrNameLst>
                                          <p:attrName>style.visibility</p:attrName>
                                        </p:attrNameLst>
                                      </p:cBhvr>
                                      <p:to>
                                        <p:strVal val="visible"/>
                                      </p:to>
                                    </p:set>
                                  </p:childTnLst>
                                </p:cTn>
                              </p:par>
                            </p:childTnLst>
                          </p:cTn>
                        </p:par>
                      </p:childTnLst>
                    </p:cTn>
                  </p:par>
                  <p:par>
                    <p:cTn id="66" fill="hold" nodeType="clickPar">
                      <p:stCondLst>
                        <p:cond delay="indefinite"/>
                      </p:stCondLst>
                      <p:childTnLst>
                        <p:par>
                          <p:cTn id="67" fill="hold" nodeType="withGroup">
                            <p:stCondLst>
                              <p:cond delay="0"/>
                            </p:stCondLst>
                            <p:childTnLst>
                              <p:par>
                                <p:cTn id="68" presetID="1" presetClass="entr" fill="hold" nodeType="clickEffect">
                                  <p:stCondLst>
                                    <p:cond delay="0"/>
                                  </p:stCondLst>
                                  <p:childTnLst>
                                    <p:set>
                                      <p:cBhvr additive="repl">
                                        <p:cTn id="69" dur="1" fill="hold">
                                          <p:stCondLst>
                                            <p:cond delay="0"/>
                                          </p:stCondLst>
                                        </p:cTn>
                                        <p:tgtEl>
                                          <p:spTgt spid="16692"/>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fill="hold" nodeType="clickEffect">
                                  <p:stCondLst>
                                    <p:cond delay="0"/>
                                  </p:stCondLst>
                                  <p:childTnLst>
                                    <p:set>
                                      <p:cBhvr additive="repl">
                                        <p:cTn id="73" dur="1" fill="hold">
                                          <p:stCondLst>
                                            <p:cond delay="0"/>
                                          </p:stCondLst>
                                        </p:cTn>
                                        <p:tgtEl>
                                          <p:spTgt spid="16704"/>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fill="hold" nodeType="clickEffect">
                                  <p:stCondLst>
                                    <p:cond delay="0"/>
                                  </p:stCondLst>
                                  <p:childTnLst>
                                    <p:set>
                                      <p:cBhvr additive="repl">
                                        <p:cTn id="77" dur="1" fill="hold">
                                          <p:stCondLst>
                                            <p:cond delay="0"/>
                                          </p:stCondLst>
                                        </p:cTn>
                                        <p:tgtEl>
                                          <p:spTgt spid="16698"/>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fill="hold" nodeType="clickEffect">
                                  <p:stCondLst>
                                    <p:cond delay="0"/>
                                  </p:stCondLst>
                                  <p:childTnLst>
                                    <p:set>
                                      <p:cBhvr additive="repl">
                                        <p:cTn id="81" dur="1" fill="hold">
                                          <p:stCondLst>
                                            <p:cond delay="0"/>
                                          </p:stCondLst>
                                        </p:cTn>
                                        <p:tgtEl>
                                          <p:spTgt spid="16700"/>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fill="hold" nodeType="clickEffect">
                                  <p:stCondLst>
                                    <p:cond delay="0"/>
                                  </p:stCondLst>
                                  <p:childTnLst>
                                    <p:set>
                                      <p:cBhvr additive="repl">
                                        <p:cTn id="85" dur="1" fill="hold">
                                          <p:stCondLst>
                                            <p:cond delay="0"/>
                                          </p:stCondLst>
                                        </p:cTn>
                                        <p:tgtEl>
                                          <p:spTgt spid="16697"/>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fill="hold" nodeType="clickEffect">
                                  <p:stCondLst>
                                    <p:cond delay="0"/>
                                  </p:stCondLst>
                                  <p:childTnLst>
                                    <p:set>
                                      <p:cBhvr additive="repl">
                                        <p:cTn id="89" dur="1" fill="hold">
                                          <p:stCondLst>
                                            <p:cond delay="0"/>
                                          </p:stCondLst>
                                        </p:cTn>
                                        <p:tgtEl>
                                          <p:spTgt spid="16701"/>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fill="hold" nodeType="clickEffect">
                                  <p:stCondLst>
                                    <p:cond delay="0"/>
                                  </p:stCondLst>
                                  <p:childTnLst>
                                    <p:set>
                                      <p:cBhvr additive="repl">
                                        <p:cTn id="93" dur="1" fill="hold">
                                          <p:stCondLst>
                                            <p:cond delay="0"/>
                                          </p:stCondLst>
                                        </p:cTn>
                                        <p:tgtEl>
                                          <p:spTgt spid="16693"/>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fill="hold" nodeType="clickEffect">
                                  <p:stCondLst>
                                    <p:cond delay="0"/>
                                  </p:stCondLst>
                                  <p:childTnLst>
                                    <p:set>
                                      <p:cBhvr additive="repl">
                                        <p:cTn id="97" dur="1" fill="hold">
                                          <p:stCondLst>
                                            <p:cond delay="0"/>
                                          </p:stCondLst>
                                        </p:cTn>
                                        <p:tgtEl>
                                          <p:spTgt spid="16694"/>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fill="hold" nodeType="clickEffect">
                                  <p:stCondLst>
                                    <p:cond delay="0"/>
                                  </p:stCondLst>
                                  <p:childTnLst>
                                    <p:set>
                                      <p:cBhvr additive="repl">
                                        <p:cTn id="101" dur="1" fill="hold">
                                          <p:stCondLst>
                                            <p:cond delay="0"/>
                                          </p:stCondLst>
                                        </p:cTn>
                                        <p:tgtEl>
                                          <p:spTgt spid="16696"/>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fill="hold" nodeType="clickEffect">
                                  <p:stCondLst>
                                    <p:cond delay="0"/>
                                  </p:stCondLst>
                                  <p:childTnLst>
                                    <p:set>
                                      <p:cBhvr additive="repl">
                                        <p:cTn id="105" dur="1" fill="hold">
                                          <p:stCondLst>
                                            <p:cond delay="0"/>
                                          </p:stCondLst>
                                        </p:cTn>
                                        <p:tgtEl>
                                          <p:spTgt spid="16702"/>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fill="hold" nodeType="clickEffect">
                                  <p:stCondLst>
                                    <p:cond delay="0"/>
                                  </p:stCondLst>
                                  <p:childTnLst>
                                    <p:set>
                                      <p:cBhvr additive="repl">
                                        <p:cTn id="109" dur="1" fill="hold">
                                          <p:stCondLst>
                                            <p:cond delay="0"/>
                                          </p:stCondLst>
                                        </p:cTn>
                                        <p:tgtEl>
                                          <p:spTgt spid="16695"/>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fill="hold" nodeType="clickEffect">
                                  <p:stCondLst>
                                    <p:cond delay="0"/>
                                  </p:stCondLst>
                                  <p:childTnLst>
                                    <p:set>
                                      <p:cBhvr additive="repl">
                                        <p:cTn id="113" dur="1" fill="hold">
                                          <p:stCondLst>
                                            <p:cond delay="0"/>
                                          </p:stCondLst>
                                        </p:cTn>
                                        <p:tgtEl>
                                          <p:spTgt spid="16699"/>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fill="hold" nodeType="clickEffect">
                                  <p:stCondLst>
                                    <p:cond delay="0"/>
                                  </p:stCondLst>
                                  <p:childTnLst>
                                    <p:set>
                                      <p:cBhvr additive="repl">
                                        <p:cTn id="117" dur="1" fill="hold">
                                          <p:stCondLst>
                                            <p:cond delay="0"/>
                                          </p:stCondLst>
                                        </p:cTn>
                                        <p:tgtEl>
                                          <p:spTgt spid="49"/>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fill="hold" nodeType="clickEffect">
                                  <p:stCondLst>
                                    <p:cond delay="0"/>
                                  </p:stCondLst>
                                  <p:childTnLst>
                                    <p:set>
                                      <p:cBhvr additive="repl">
                                        <p:cTn id="121" dur="1" fill="hold">
                                          <p:stCondLst>
                                            <p:cond delay="0"/>
                                          </p:stCondLst>
                                        </p:cTn>
                                        <p:tgtEl>
                                          <p:spTgt spid="50"/>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ntr" fill="hold" nodeType="clickEffect">
                                  <p:stCondLst>
                                    <p:cond delay="0"/>
                                  </p:stCondLst>
                                  <p:childTnLst>
                                    <p:set>
                                      <p:cBhvr additive="repl">
                                        <p:cTn id="125" dur="1" fill="hold">
                                          <p:stCondLst>
                                            <p:cond delay="0"/>
                                          </p:stCondLst>
                                        </p:cTn>
                                        <p:tgtEl>
                                          <p:spTgt spid="51"/>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presetID="1" presetClass="entr" fill="hold" nodeType="clickEffect">
                                  <p:stCondLst>
                                    <p:cond delay="0"/>
                                  </p:stCondLst>
                                  <p:childTnLst>
                                    <p:set>
                                      <p:cBhvr additive="repl">
                                        <p:cTn id="129" dur="1" fill="hold">
                                          <p:stCondLst>
                                            <p:cond delay="0"/>
                                          </p:stCondLst>
                                        </p:cTn>
                                        <p:tgtEl>
                                          <p:spTgt spid="52"/>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fill="hold" nodeType="clickEffect">
                                  <p:stCondLst>
                                    <p:cond delay="0"/>
                                  </p:stCondLst>
                                  <p:childTnLst>
                                    <p:set>
                                      <p:cBhvr additive="repl">
                                        <p:cTn id="133" dur="1" fill="hold">
                                          <p:stCondLst>
                                            <p:cond delay="0"/>
                                          </p:stCondLst>
                                        </p:cTn>
                                        <p:tgtEl>
                                          <p:spTgt spid="53"/>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ntr" fill="hold" nodeType="clickEffect">
                                  <p:stCondLst>
                                    <p:cond delay="0"/>
                                  </p:stCondLst>
                                  <p:childTnLst>
                                    <p:set>
                                      <p:cBhvr additive="repl">
                                        <p:cTn id="137" dur="1" fill="hold">
                                          <p:stCondLst>
                                            <p:cond delay="0"/>
                                          </p:stCondLst>
                                        </p:cTn>
                                        <p:tgtEl>
                                          <p:spTgt spid="54"/>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1" presetClass="entr" fill="hold" nodeType="clickEffect">
                                  <p:stCondLst>
                                    <p:cond delay="0"/>
                                  </p:stCondLst>
                                  <p:childTnLst>
                                    <p:set>
                                      <p:cBhvr additive="repl">
                                        <p:cTn id="141" dur="1" fill="hold">
                                          <p:stCondLst>
                                            <p:cond delay="0"/>
                                          </p:stCondLst>
                                        </p:cTn>
                                        <p:tgtEl>
                                          <p:spTgt spid="55"/>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1" presetClass="entr" fill="hold" nodeType="clickEffect">
                                  <p:stCondLst>
                                    <p:cond delay="0"/>
                                  </p:stCondLst>
                                  <p:childTnLst>
                                    <p:set>
                                      <p:cBhvr additive="repl">
                                        <p:cTn id="145" dur="1" fill="hold">
                                          <p:stCondLst>
                                            <p:cond delay="0"/>
                                          </p:stCondLst>
                                        </p:cTn>
                                        <p:tgtEl>
                                          <p:spTgt spid="56"/>
                                        </p:tgtEl>
                                        <p:attrNameLst>
                                          <p:attrName>style.visibility</p:attrName>
                                        </p:attrNameLst>
                                      </p:cBhvr>
                                      <p:to>
                                        <p:strVal val="visible"/>
                                      </p:to>
                                    </p:set>
                                  </p:childTnLst>
                                </p:cTn>
                              </p:par>
                            </p:childTnLst>
                          </p:cTn>
                        </p:par>
                      </p:childTnLst>
                    </p:cTn>
                  </p:par>
                  <p:par>
                    <p:cTn id="146" fill="hold">
                      <p:stCondLst>
                        <p:cond delay="indefinite"/>
                      </p:stCondLst>
                      <p:childTnLst>
                        <p:par>
                          <p:cTn id="147" fill="hold">
                            <p:stCondLst>
                              <p:cond delay="0"/>
                            </p:stCondLst>
                            <p:childTnLst>
                              <p:par>
                                <p:cTn id="148" presetID="1" presetClass="entr" fill="hold" nodeType="clickEffect">
                                  <p:stCondLst>
                                    <p:cond delay="0"/>
                                  </p:stCondLst>
                                  <p:childTnLst>
                                    <p:set>
                                      <p:cBhvr additive="repl">
                                        <p:cTn id="149" dur="1" fill="hold">
                                          <p:stCondLst>
                                            <p:cond delay="0"/>
                                          </p:stCondLst>
                                        </p:cTn>
                                        <p:tgtEl>
                                          <p:spTgt spid="57"/>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presetID="1" presetClass="entr" fill="hold" nodeType="clickEffect">
                                  <p:stCondLst>
                                    <p:cond delay="0"/>
                                  </p:stCondLst>
                                  <p:childTnLst>
                                    <p:set>
                                      <p:cBhvr additive="repl">
                                        <p:cTn id="153" dur="1" fill="hold">
                                          <p:stCondLst>
                                            <p:cond delay="0"/>
                                          </p:stCondLst>
                                        </p:cTn>
                                        <p:tgtEl>
                                          <p:spTgt spid="58"/>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ntr" fill="hold" nodeType="clickEffect">
                                  <p:stCondLst>
                                    <p:cond delay="0"/>
                                  </p:stCondLst>
                                  <p:childTnLst>
                                    <p:set>
                                      <p:cBhvr additive="repl">
                                        <p:cTn id="157" dur="1" fill="hold">
                                          <p:stCondLst>
                                            <p:cond delay="0"/>
                                          </p:stCondLst>
                                        </p:cTn>
                                        <p:tgtEl>
                                          <p:spTgt spid="59"/>
                                        </p:tgtEl>
                                        <p:attrNameLst>
                                          <p:attrName>style.visibility</p:attrName>
                                        </p:attrNameLst>
                                      </p:cBhvr>
                                      <p:to>
                                        <p:strVal val="visible"/>
                                      </p:to>
                                    </p:set>
                                  </p:childTnLst>
                                </p:cTn>
                              </p:par>
                            </p:childTnLst>
                          </p:cTn>
                        </p:par>
                      </p:childTnLst>
                    </p:cTn>
                  </p:par>
                  <p:par>
                    <p:cTn id="158" fill="hold">
                      <p:stCondLst>
                        <p:cond delay="indefinite"/>
                      </p:stCondLst>
                      <p:childTnLst>
                        <p:par>
                          <p:cTn id="159" fill="hold">
                            <p:stCondLst>
                              <p:cond delay="0"/>
                            </p:stCondLst>
                            <p:childTnLst>
                              <p:par>
                                <p:cTn id="160" presetID="1" presetClass="entr" fill="hold" nodeType="clickEffect">
                                  <p:stCondLst>
                                    <p:cond delay="0"/>
                                  </p:stCondLst>
                                  <p:childTnLst>
                                    <p:set>
                                      <p:cBhvr additive="repl">
                                        <p:cTn id="161" dur="1" fill="hold">
                                          <p:stCondLst>
                                            <p:cond delay="0"/>
                                          </p:stCondLst>
                                        </p:cTn>
                                        <p:tgtEl>
                                          <p:spTgt spid="60"/>
                                        </p:tgtEl>
                                        <p:attrNameLst>
                                          <p:attrName>style.visibility</p:attrName>
                                        </p:attrNameLst>
                                      </p:cBhvr>
                                      <p:to>
                                        <p:strVal val="visible"/>
                                      </p:to>
                                    </p:set>
                                  </p:childTnLst>
                                </p:cTn>
                              </p:par>
                            </p:childTnLst>
                          </p:cTn>
                        </p:par>
                      </p:childTnLst>
                    </p:cTn>
                  </p:par>
                  <p:par>
                    <p:cTn id="162" fill="hold" nodeType="clickPar">
                      <p:stCondLst>
                        <p:cond delay="indefinite"/>
                      </p:stCondLst>
                      <p:childTnLst>
                        <p:par>
                          <p:cTn id="163" fill="hold" nodeType="withGroup">
                            <p:stCondLst>
                              <p:cond delay="0"/>
                            </p:stCondLst>
                            <p:childTnLst>
                              <p:par>
                                <p:cTn id="164" presetID="1" presetClass="entr" fill="hold" nodeType="clickEffect">
                                  <p:stCondLst>
                                    <p:cond delay="0"/>
                                  </p:stCondLst>
                                  <p:childTnLst>
                                    <p:set>
                                      <p:cBhvr additive="repl">
                                        <p:cTn id="165" dur="1" fill="hold">
                                          <p:stCondLst>
                                            <p:cond delay="0"/>
                                          </p:stCondLst>
                                        </p:cTn>
                                        <p:tgtEl>
                                          <p:spTgt spid="61"/>
                                        </p:tgtEl>
                                        <p:attrNameLst>
                                          <p:attrName>style.visibility</p:attrName>
                                        </p:attrNameLst>
                                      </p:cBhvr>
                                      <p:to>
                                        <p:strVal val="visible"/>
                                      </p:to>
                                    </p:set>
                                  </p:childTnLst>
                                </p:cTn>
                              </p:par>
                            </p:childTnLst>
                          </p:cTn>
                        </p:par>
                      </p:childTnLst>
                    </p:cTn>
                  </p:par>
                  <p:par>
                    <p:cTn id="166" fill="hold">
                      <p:stCondLst>
                        <p:cond delay="indefinite"/>
                      </p:stCondLst>
                      <p:childTnLst>
                        <p:par>
                          <p:cTn id="167" fill="hold">
                            <p:stCondLst>
                              <p:cond delay="0"/>
                            </p:stCondLst>
                            <p:childTnLst>
                              <p:par>
                                <p:cTn id="168" presetID="1" presetClass="entr" fill="hold" nodeType="clickEffect">
                                  <p:stCondLst>
                                    <p:cond delay="0"/>
                                  </p:stCondLst>
                                  <p:childTnLst>
                                    <p:set>
                                      <p:cBhvr additive="repl">
                                        <p:cTn id="169" dur="1" fill="hold">
                                          <p:stCondLst>
                                            <p:cond delay="0"/>
                                          </p:stCondLst>
                                        </p:cTn>
                                        <p:tgtEl>
                                          <p:spTgt spid="16705"/>
                                        </p:tgtEl>
                                        <p:attrNameLst>
                                          <p:attrName>style.visibility</p:attrName>
                                        </p:attrNameLst>
                                      </p:cBhvr>
                                      <p:to>
                                        <p:strVal val="visible"/>
                                      </p:to>
                                    </p:set>
                                  </p:childTnLst>
                                </p:cTn>
                              </p:par>
                            </p:childTnLst>
                          </p:cTn>
                        </p:par>
                      </p:childTnLst>
                    </p:cTn>
                  </p:par>
                  <p:par>
                    <p:cTn id="170" fill="hold" nodeType="clickPar">
                      <p:stCondLst>
                        <p:cond delay="indefinite"/>
                      </p:stCondLst>
                      <p:childTnLst>
                        <p:par>
                          <p:cTn id="171" fill="hold" nodeType="withGroup">
                            <p:stCondLst>
                              <p:cond delay="0"/>
                            </p:stCondLst>
                            <p:childTnLst>
                              <p:par>
                                <p:cTn id="172" presetID="1" presetClass="entr" fill="hold" nodeType="clickEffect">
                                  <p:stCondLst>
                                    <p:cond delay="0"/>
                                  </p:stCondLst>
                                  <p:childTnLst>
                                    <p:set>
                                      <p:cBhvr additive="repl">
                                        <p:cTn id="173" dur="1" fill="hold">
                                          <p:stCondLst>
                                            <p:cond delay="0"/>
                                          </p:stCondLst>
                                        </p:cTn>
                                        <p:tgtEl>
                                          <p:spTgt spid="16706"/>
                                        </p:tgtEl>
                                        <p:attrNameLst>
                                          <p:attrName>style.visibility</p:attrName>
                                        </p:attrNameLst>
                                      </p:cBhvr>
                                      <p:to>
                                        <p:strVal val="visible"/>
                                      </p:to>
                                    </p:set>
                                  </p:childTnLst>
                                </p:cTn>
                              </p:par>
                            </p:childTnLst>
                          </p:cTn>
                        </p:par>
                      </p:childTnLst>
                    </p:cTn>
                  </p:par>
                  <p:par>
                    <p:cTn id="174" fill="hold" nodeType="clickPar">
                      <p:stCondLst>
                        <p:cond delay="indefinite"/>
                      </p:stCondLst>
                      <p:childTnLst>
                        <p:par>
                          <p:cTn id="175" fill="hold" nodeType="withGroup">
                            <p:stCondLst>
                              <p:cond delay="0"/>
                            </p:stCondLst>
                            <p:childTnLst>
                              <p:par>
                                <p:cTn id="176" presetID="1" presetClass="entr" fill="hold" nodeType="clickEffect">
                                  <p:stCondLst>
                                    <p:cond delay="0"/>
                                  </p:stCondLst>
                                  <p:childTnLst>
                                    <p:set>
                                      <p:cBhvr additive="repl">
                                        <p:cTn id="177" dur="1" fill="hold">
                                          <p:stCondLst>
                                            <p:cond delay="0"/>
                                          </p:stCondLst>
                                        </p:cTn>
                                        <p:tgtEl>
                                          <p:spTgt spid="16710"/>
                                        </p:tgtEl>
                                        <p:attrNameLst>
                                          <p:attrName>style.visibility</p:attrName>
                                        </p:attrNameLst>
                                      </p:cBhvr>
                                      <p:to>
                                        <p:strVal val="visible"/>
                                      </p:to>
                                    </p:se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1" presetClass="entr" fill="hold" nodeType="clickEffect">
                                  <p:stCondLst>
                                    <p:cond delay="0"/>
                                  </p:stCondLst>
                                  <p:childTnLst>
                                    <p:set>
                                      <p:cBhvr additive="repl">
                                        <p:cTn id="181" dur="1" fill="hold">
                                          <p:stCondLst>
                                            <p:cond delay="0"/>
                                          </p:stCondLst>
                                        </p:cTn>
                                        <p:tgtEl>
                                          <p:spTgt spid="16708"/>
                                        </p:tgtEl>
                                        <p:attrNameLst>
                                          <p:attrName>style.visibility</p:attrName>
                                        </p:attrNameLst>
                                      </p:cBhvr>
                                      <p:to>
                                        <p:strVal val="visible"/>
                                      </p:to>
                                    </p:set>
                                  </p:childTnLst>
                                </p:cTn>
                              </p:par>
                            </p:childTnLst>
                          </p:cTn>
                        </p:par>
                      </p:childTnLst>
                    </p:cTn>
                  </p:par>
                  <p:par>
                    <p:cTn id="182" fill="hold">
                      <p:stCondLst>
                        <p:cond delay="indefinite"/>
                      </p:stCondLst>
                      <p:childTnLst>
                        <p:par>
                          <p:cTn id="183" fill="hold">
                            <p:stCondLst>
                              <p:cond delay="0"/>
                            </p:stCondLst>
                            <p:childTnLst>
                              <p:par>
                                <p:cTn id="184" presetID="1" presetClass="entr" fill="hold" nodeType="clickEffect">
                                  <p:stCondLst>
                                    <p:cond delay="0"/>
                                  </p:stCondLst>
                                  <p:childTnLst>
                                    <p:set>
                                      <p:cBhvr additive="repl">
                                        <p:cTn id="185" dur="1" fill="hold">
                                          <p:stCondLst>
                                            <p:cond delay="0"/>
                                          </p:stCondLst>
                                        </p:cTn>
                                        <p:tgtEl>
                                          <p:spTgt spid="16711"/>
                                        </p:tgtEl>
                                        <p:attrNameLst>
                                          <p:attrName>style.visibility</p:attrName>
                                        </p:attrNameLst>
                                      </p:cBhvr>
                                      <p:to>
                                        <p:strVal val="visible"/>
                                      </p:to>
                                    </p:set>
                                  </p:childTnLst>
                                </p:cTn>
                              </p:par>
                            </p:childTnLst>
                          </p:cTn>
                        </p:par>
                      </p:childTnLst>
                    </p:cTn>
                  </p:par>
                  <p:par>
                    <p:cTn id="186" fill="hold">
                      <p:stCondLst>
                        <p:cond delay="indefinite"/>
                      </p:stCondLst>
                      <p:childTnLst>
                        <p:par>
                          <p:cTn id="187" fill="hold">
                            <p:stCondLst>
                              <p:cond delay="0"/>
                            </p:stCondLst>
                            <p:childTnLst>
                              <p:par>
                                <p:cTn id="188" presetID="1" presetClass="entr" fill="hold" nodeType="clickEffect">
                                  <p:stCondLst>
                                    <p:cond delay="0"/>
                                  </p:stCondLst>
                                  <p:childTnLst>
                                    <p:set>
                                      <p:cBhvr additive="repl">
                                        <p:cTn id="189" dur="1" fill="hold">
                                          <p:stCondLst>
                                            <p:cond delay="0"/>
                                          </p:stCondLst>
                                        </p:cTn>
                                        <p:tgtEl>
                                          <p:spTgt spid="16713"/>
                                        </p:tgtEl>
                                        <p:attrNameLst>
                                          <p:attrName>style.visibility</p:attrName>
                                        </p:attrNameLst>
                                      </p:cBhvr>
                                      <p:to>
                                        <p:strVal val="visible"/>
                                      </p:to>
                                    </p:set>
                                  </p:childTnLst>
                                </p:cTn>
                              </p:par>
                            </p:childTnLst>
                          </p:cTn>
                        </p:par>
                      </p:childTnLst>
                    </p:cTn>
                  </p:par>
                  <p:par>
                    <p:cTn id="190" fill="hold">
                      <p:stCondLst>
                        <p:cond delay="indefinite"/>
                      </p:stCondLst>
                      <p:childTnLst>
                        <p:par>
                          <p:cTn id="191" fill="hold">
                            <p:stCondLst>
                              <p:cond delay="0"/>
                            </p:stCondLst>
                            <p:childTnLst>
                              <p:par>
                                <p:cTn id="192" presetID="1" presetClass="entr" fill="hold" nodeType="clickEffect">
                                  <p:stCondLst>
                                    <p:cond delay="0"/>
                                  </p:stCondLst>
                                  <p:childTnLst>
                                    <p:set>
                                      <p:cBhvr additive="repl">
                                        <p:cTn id="193" dur="1" fill="hold">
                                          <p:stCondLst>
                                            <p:cond delay="0"/>
                                          </p:stCondLst>
                                        </p:cTn>
                                        <p:tgtEl>
                                          <p:spTgt spid="16714"/>
                                        </p:tgtEl>
                                        <p:attrNameLst>
                                          <p:attrName>style.visibility</p:attrName>
                                        </p:attrNameLst>
                                      </p:cBhvr>
                                      <p:to>
                                        <p:strVal val="visible"/>
                                      </p:to>
                                    </p:set>
                                  </p:childTnLst>
                                </p:cTn>
                              </p:par>
                            </p:childTnLst>
                          </p:cTn>
                        </p:par>
                      </p:childTnLst>
                    </p:cTn>
                  </p:par>
                  <p:par>
                    <p:cTn id="194" fill="hold">
                      <p:stCondLst>
                        <p:cond delay="indefinite"/>
                      </p:stCondLst>
                      <p:childTnLst>
                        <p:par>
                          <p:cTn id="195" fill="hold">
                            <p:stCondLst>
                              <p:cond delay="0"/>
                            </p:stCondLst>
                            <p:childTnLst>
                              <p:par>
                                <p:cTn id="196" presetID="1" presetClass="entr" fill="hold" nodeType="clickEffect">
                                  <p:stCondLst>
                                    <p:cond delay="0"/>
                                  </p:stCondLst>
                                  <p:childTnLst>
                                    <p:set>
                                      <p:cBhvr additive="repl">
                                        <p:cTn id="197" dur="1" fill="hold">
                                          <p:stCondLst>
                                            <p:cond delay="0"/>
                                          </p:stCondLst>
                                        </p:cTn>
                                        <p:tgtEl>
                                          <p:spTgt spid="16712"/>
                                        </p:tgtEl>
                                        <p:attrNameLst>
                                          <p:attrName>style.visibility</p:attrName>
                                        </p:attrNameLst>
                                      </p:cBhvr>
                                      <p:to>
                                        <p:strVal val="visible"/>
                                      </p:to>
                                    </p:set>
                                  </p:childTnLst>
                                </p:cTn>
                              </p:par>
                            </p:childTnLst>
                          </p:cTn>
                        </p:par>
                      </p:childTnLst>
                    </p:cTn>
                  </p:par>
                  <p:par>
                    <p:cTn id="198" fill="hold">
                      <p:stCondLst>
                        <p:cond delay="indefinite"/>
                      </p:stCondLst>
                      <p:childTnLst>
                        <p:par>
                          <p:cTn id="199" fill="hold">
                            <p:stCondLst>
                              <p:cond delay="0"/>
                            </p:stCondLst>
                            <p:childTnLst>
                              <p:par>
                                <p:cTn id="200" presetID="1" presetClass="entr" fill="hold" nodeType="clickEffect">
                                  <p:stCondLst>
                                    <p:cond delay="0"/>
                                  </p:stCondLst>
                                  <p:childTnLst>
                                    <p:set>
                                      <p:cBhvr additive="repl">
                                        <p:cTn id="201" dur="1" fill="hold">
                                          <p:stCondLst>
                                            <p:cond delay="0"/>
                                          </p:stCondLst>
                                        </p:cTn>
                                        <p:tgtEl>
                                          <p:spTgt spid="16715"/>
                                        </p:tgtEl>
                                        <p:attrNameLst>
                                          <p:attrName>style.visibility</p:attrName>
                                        </p:attrNameLst>
                                      </p:cBhvr>
                                      <p:to>
                                        <p:strVal val="visible"/>
                                      </p:to>
                                    </p:set>
                                  </p:childTnLst>
                                </p:cTn>
                              </p:par>
                            </p:childTnLst>
                          </p:cTn>
                        </p:par>
                      </p:childTnLst>
                    </p:cTn>
                  </p:par>
                  <p:par>
                    <p:cTn id="202" fill="hold">
                      <p:stCondLst>
                        <p:cond delay="indefinite"/>
                      </p:stCondLst>
                      <p:childTnLst>
                        <p:par>
                          <p:cTn id="203" fill="hold">
                            <p:stCondLst>
                              <p:cond delay="0"/>
                            </p:stCondLst>
                            <p:childTnLst>
                              <p:par>
                                <p:cTn id="204" presetID="1" presetClass="entr" fill="hold" nodeType="clickEffect">
                                  <p:stCondLst>
                                    <p:cond delay="0"/>
                                  </p:stCondLst>
                                  <p:childTnLst>
                                    <p:set>
                                      <p:cBhvr additive="repl">
                                        <p:cTn id="205" dur="1" fill="hold">
                                          <p:stCondLst>
                                            <p:cond delay="0"/>
                                          </p:stCondLst>
                                        </p:cTn>
                                        <p:tgtEl>
                                          <p:spTgt spid="16717"/>
                                        </p:tgtEl>
                                        <p:attrNameLst>
                                          <p:attrName>style.visibility</p:attrName>
                                        </p:attrNameLst>
                                      </p:cBhvr>
                                      <p:to>
                                        <p:strVal val="visible"/>
                                      </p:to>
                                    </p:set>
                                  </p:childTnLst>
                                </p:cTn>
                              </p:par>
                            </p:childTnLst>
                          </p:cTn>
                        </p:par>
                      </p:childTnLst>
                    </p:cTn>
                  </p:par>
                  <p:par>
                    <p:cTn id="206" fill="hold">
                      <p:stCondLst>
                        <p:cond delay="indefinite"/>
                      </p:stCondLst>
                      <p:childTnLst>
                        <p:par>
                          <p:cTn id="207" fill="hold">
                            <p:stCondLst>
                              <p:cond delay="0"/>
                            </p:stCondLst>
                            <p:childTnLst>
                              <p:par>
                                <p:cTn id="208" presetID="1" presetClass="entr" fill="hold" nodeType="clickEffect">
                                  <p:stCondLst>
                                    <p:cond delay="0"/>
                                  </p:stCondLst>
                                  <p:childTnLst>
                                    <p:set>
                                      <p:cBhvr additive="repl">
                                        <p:cTn id="209" dur="1" fill="hold">
                                          <p:stCondLst>
                                            <p:cond delay="0"/>
                                          </p:stCondLst>
                                        </p:cTn>
                                        <p:tgtEl>
                                          <p:spTgt spid="16709"/>
                                        </p:tgtEl>
                                        <p:attrNameLst>
                                          <p:attrName>style.visibility</p:attrName>
                                        </p:attrNameLst>
                                      </p:cBhvr>
                                      <p:to>
                                        <p:strVal val="visible"/>
                                      </p:to>
                                    </p:set>
                                  </p:childTnLst>
                                </p:cTn>
                              </p:par>
                            </p:childTnLst>
                          </p:cTn>
                        </p:par>
                      </p:childTnLst>
                    </p:cTn>
                  </p:par>
                  <p:par>
                    <p:cTn id="210" fill="hold">
                      <p:stCondLst>
                        <p:cond delay="indefinite"/>
                      </p:stCondLst>
                      <p:childTnLst>
                        <p:par>
                          <p:cTn id="211" fill="hold">
                            <p:stCondLst>
                              <p:cond delay="0"/>
                            </p:stCondLst>
                            <p:childTnLst>
                              <p:par>
                                <p:cTn id="212" presetID="1" presetClass="entr" fill="hold" nodeType="clickEffect">
                                  <p:stCondLst>
                                    <p:cond delay="0"/>
                                  </p:stCondLst>
                                  <p:childTnLst>
                                    <p:set>
                                      <p:cBhvr additive="repl">
                                        <p:cTn id="213" dur="1" fill="hold">
                                          <p:stCondLst>
                                            <p:cond delay="0"/>
                                          </p:stCondLst>
                                        </p:cTn>
                                        <p:tgtEl>
                                          <p:spTgt spid="16707"/>
                                        </p:tgtEl>
                                        <p:attrNameLst>
                                          <p:attrName>style.visibility</p:attrName>
                                        </p:attrNameLst>
                                      </p:cBhvr>
                                      <p:to>
                                        <p:strVal val="visible"/>
                                      </p:to>
                                    </p:se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1" presetClass="entr" fill="hold" nodeType="clickEffect">
                                  <p:stCondLst>
                                    <p:cond delay="0"/>
                                  </p:stCondLst>
                                  <p:childTnLst>
                                    <p:set>
                                      <p:cBhvr additive="repl">
                                        <p:cTn id="217" dur="1" fill="hold">
                                          <p:stCondLst>
                                            <p:cond delay="0"/>
                                          </p:stCondLst>
                                        </p:cTn>
                                        <p:tgtEl>
                                          <p:spTgt spid="16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7410" name="Group 2"/>
          <p:cNvGraphicFramePr>
            <a:graphicFrameLocks noGrp="1"/>
          </p:cNvGraphicFramePr>
          <p:nvPr/>
        </p:nvGraphicFramePr>
        <p:xfrm>
          <a:off x="2020889" y="3052915"/>
          <a:ext cx="7944592" cy="2684209"/>
        </p:xfrm>
        <a:graphic>
          <a:graphicData uri="http://schemas.openxmlformats.org/drawingml/2006/table">
            <a:tbl>
              <a:tblPr/>
              <a:tblGrid>
                <a:gridCol w="2362324">
                  <a:extLst>
                    <a:ext uri="{9D8B030D-6E8A-4147-A177-3AD203B41FA5}">
                      <a16:colId xmlns:a16="http://schemas.microsoft.com/office/drawing/2014/main" val="20000"/>
                    </a:ext>
                  </a:extLst>
                </a:gridCol>
                <a:gridCol w="2011883">
                  <a:extLst>
                    <a:ext uri="{9D8B030D-6E8A-4147-A177-3AD203B41FA5}">
                      <a16:colId xmlns:a16="http://schemas.microsoft.com/office/drawing/2014/main" val="20001"/>
                    </a:ext>
                  </a:extLst>
                </a:gridCol>
                <a:gridCol w="1798878">
                  <a:extLst>
                    <a:ext uri="{9D8B030D-6E8A-4147-A177-3AD203B41FA5}">
                      <a16:colId xmlns:a16="http://schemas.microsoft.com/office/drawing/2014/main" val="20002"/>
                    </a:ext>
                  </a:extLst>
                </a:gridCol>
                <a:gridCol w="1771507">
                  <a:extLst>
                    <a:ext uri="{9D8B030D-6E8A-4147-A177-3AD203B41FA5}">
                      <a16:colId xmlns:a16="http://schemas.microsoft.com/office/drawing/2014/main" val="3735584999"/>
                    </a:ext>
                  </a:extLst>
                </a:gridCol>
              </a:tblGrid>
              <a:tr h="827820">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Lucida Sans Unicode" panose="020B0602030504020204" pitchFamily="34" charset="0"/>
                        <a:cs typeface="Lucida Sans Unicode" panose="020B0602030504020204" pitchFamily="34" charset="0"/>
                      </a:endParaRPr>
                    </a:p>
                  </a:txBody>
                  <a:tcPr marL="90000" marR="90000" marT="62676"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kumimoji="0" lang="pt-BR" altLang="pt-BR" sz="2000" b="1"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Lucida Sans Unicode" panose="020B0602030504020204" pitchFamily="34" charset="0"/>
                        </a:rPr>
                        <a:t>QTDE</a:t>
                      </a:r>
                    </a:p>
                  </a:txBody>
                  <a:tcPr marL="90000" marR="90000" marT="46800"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kumimoji="0" lang="pt-BR" altLang="pt-BR" sz="2000" b="1"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Lucida Sans Unicode" panose="020B0602030504020204" pitchFamily="34" charset="0"/>
                        </a:rPr>
                        <a:t>% ITENS</a:t>
                      </a:r>
                    </a:p>
                  </a:txBody>
                  <a:tcPr marL="90000" marR="90000" marT="46800"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p>
                      <a:pPr marL="0" marR="0" lvl="0" indent="0" algn="ctr"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a:pPr>
                      <a:r>
                        <a:rPr kumimoji="0" lang="pt-BR" altLang="pt-BR" sz="2000" b="1"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Lucida Sans Unicode" panose="020B0602030504020204" pitchFamily="34" charset="0"/>
                        </a:rPr>
                        <a:t>% CUSTO</a:t>
                      </a:r>
                    </a:p>
                  </a:txBody>
                  <a:tcPr marL="90000" marR="90000" marT="46800" marB="46800" anchor="ctr"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extLst>
                  <a:ext uri="{0D108BD9-81ED-4DB2-BD59-A6C34878D82A}">
                    <a16:rowId xmlns:a16="http://schemas.microsoft.com/office/drawing/2014/main" val="10000"/>
                  </a:ext>
                </a:extLst>
              </a:tr>
              <a:tr h="425961">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1"/>
                  </a:ext>
                </a:extLst>
              </a:tr>
              <a:tr h="425961">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2"/>
                  </a:ext>
                </a:extLst>
              </a:tr>
              <a:tr h="425961">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0003"/>
                  </a:ext>
                </a:extLst>
              </a:tr>
              <a:tr h="578506">
                <a:tc>
                  <a:txBody>
                    <a:bodyPr/>
                    <a:lstStyle>
                      <a:lvl1pPr>
                        <a:spcBef>
                          <a:spcPts val="40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1" fontAlgn="base" latinLnBrk="0" hangingPunct="0">
                        <a:lnSpc>
                          <a:spcPct val="101000"/>
                        </a:lnSpc>
                        <a:spcBef>
                          <a:spcPct val="0"/>
                        </a:spcBef>
                        <a:spcAft>
                          <a:spcPct val="0"/>
                        </a:spcAft>
                        <a:buClr>
                          <a:srgbClr val="000000"/>
                        </a:buClr>
                        <a:buSzPct val="100000"/>
                        <a:buFont typeface="Times New Roman" panose="02020603050405020304" pitchFamily="18" charset="0"/>
                        <a:buNone/>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Lst>
                      </a:pPr>
                      <a:r>
                        <a:rPr kumimoji="0" lang="pt-BR" altLang="pt-BR" sz="2000" b="1" i="0" u="none" strike="noStrike" cap="none" normalizeH="0" baseline="0" dirty="0">
                          <a:ln>
                            <a:noFill/>
                          </a:ln>
                          <a:solidFill>
                            <a:schemeClr val="accent6"/>
                          </a:solidFill>
                          <a:effectLst/>
                          <a:latin typeface="Lucida Sans Unicode" panose="020B0602030504020204" pitchFamily="34" charset="0"/>
                          <a:ea typeface="Microsoft YaHei" panose="020B0503020204020204" pitchFamily="34" charset="-122"/>
                          <a:cs typeface="Arial" panose="020B0604020202020204" pitchFamily="34" charset="0"/>
                        </a:rPr>
                        <a:t>    </a:t>
                      </a:r>
                    </a:p>
                  </a:txBody>
                  <a:tcPr marL="90000" marR="90000" marT="46800"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Bef>
                          <a:spcPts val="40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300">
                          <a:solidFill>
                            <a:srgbClr val="000000"/>
                          </a:solidFill>
                          <a:latin typeface="Lucida Sans Unicode" panose="020B0602030504020204" pitchFamily="34" charset="0"/>
                          <a:ea typeface="Microsoft YaHei" panose="020B0503020204020204" pitchFamily="34" charset="-122"/>
                        </a:defRPr>
                      </a:lvl1pPr>
                      <a:lvl2pPr>
                        <a:spcBef>
                          <a:spcPts val="325"/>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100">
                          <a:solidFill>
                            <a:srgbClr val="000000"/>
                          </a:solidFill>
                          <a:latin typeface="Lucida Sans Unicode" panose="020B0602030504020204" pitchFamily="34" charset="0"/>
                          <a:ea typeface="Microsoft YaHei" panose="020B0503020204020204" pitchFamily="34" charset="-122"/>
                        </a:defRPr>
                      </a:lvl2pPr>
                      <a:lvl3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900">
                          <a:solidFill>
                            <a:srgbClr val="000000"/>
                          </a:solidFill>
                          <a:latin typeface="Lucida Sans Unicode" panose="020B0602030504020204" pitchFamily="34" charset="0"/>
                          <a:ea typeface="Microsoft YaHei" panose="020B0503020204020204" pitchFamily="34" charset="-122"/>
                        </a:defRPr>
                      </a:lvl3pPr>
                      <a:lvl4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700">
                          <a:solidFill>
                            <a:srgbClr val="000000"/>
                          </a:solidFill>
                          <a:latin typeface="Lucida Sans Unicode" panose="020B0602030504020204" pitchFamily="34" charset="0"/>
                          <a:ea typeface="Microsoft YaHei" panose="020B0503020204020204" pitchFamily="34" charset="-122"/>
                        </a:defRPr>
                      </a:lvl4pPr>
                      <a:lvl5pPr>
                        <a:spcBef>
                          <a:spcPts val="350"/>
                        </a:spcBef>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5pPr>
                      <a:lvl6pPr marL="25146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6pPr>
                      <a:lvl7pPr marL="29718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7pPr>
                      <a:lvl8pPr marL="34290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8pPr>
                      <a:lvl9pPr marL="3886200" indent="-228600" defTabSz="449263" eaLnBrk="0" fontAlgn="base" hangingPunct="0">
                        <a:spcBef>
                          <a:spcPts val="35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1600">
                          <a:solidFill>
                            <a:srgbClr val="000000"/>
                          </a:solidFill>
                          <a:latin typeface="Lucida Sans Unicode" panose="020B0602030504020204" pitchFamily="34" charset="0"/>
                          <a:ea typeface="Microsoft YaHei" panose="020B0503020204020204" pitchFamily="34" charset="-122"/>
                        </a:defRPr>
                      </a:lvl9p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449263" rtl="0" eaLnBrk="0"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endParaRPr kumimoji="0" lang="pt-BR" altLang="pt-BR" sz="2000" b="0" i="0" u="none" strike="noStrike" cap="none" normalizeH="0" baseline="0" dirty="0">
                        <a:ln>
                          <a:noFill/>
                        </a:ln>
                        <a:solidFill>
                          <a:schemeClr val="accent6"/>
                        </a:solidFill>
                        <a:effectLst/>
                        <a:latin typeface="Arial" panose="020B0604020202020204" pitchFamily="34" charset="0"/>
                        <a:cs typeface="Arial" panose="020B0604020202020204" pitchFamily="34" charset="0"/>
                      </a:endParaRPr>
                    </a:p>
                  </a:txBody>
                  <a:tcPr marL="90000" marR="90000" marT="62676"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0004"/>
                  </a:ext>
                </a:extLst>
              </a:tr>
            </a:tbl>
          </a:graphicData>
        </a:graphic>
      </p:graphicFrame>
      <p:sp>
        <p:nvSpPr>
          <p:cNvPr id="17464" name="Text Box 56"/>
          <p:cNvSpPr txBox="1">
            <a:spLocks noChangeArrowheads="1"/>
          </p:cNvSpPr>
          <p:nvPr/>
        </p:nvSpPr>
        <p:spPr bwMode="auto">
          <a:xfrm>
            <a:off x="6730634" y="4734772"/>
            <a:ext cx="1217613"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2000" b="1" dirty="0">
                <a:solidFill>
                  <a:srgbClr val="000066"/>
                </a:solidFill>
                <a:latin typeface="Lucida Sans Unicode" panose="020B0602030504020204" pitchFamily="34" charset="0"/>
              </a:rPr>
              <a:t>46,15</a:t>
            </a:r>
          </a:p>
        </p:txBody>
      </p:sp>
      <p:sp>
        <p:nvSpPr>
          <p:cNvPr id="17465" name="Text Box 57"/>
          <p:cNvSpPr txBox="1">
            <a:spLocks noChangeArrowheads="1"/>
          </p:cNvSpPr>
          <p:nvPr/>
        </p:nvSpPr>
        <p:spPr bwMode="auto">
          <a:xfrm>
            <a:off x="6770322" y="4292133"/>
            <a:ext cx="1177925"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2000" b="1" dirty="0">
                <a:solidFill>
                  <a:srgbClr val="000066"/>
                </a:solidFill>
                <a:latin typeface="Lucida Sans Unicode" panose="020B0602030504020204" pitchFamily="34" charset="0"/>
              </a:rPr>
              <a:t>23,07</a:t>
            </a:r>
          </a:p>
        </p:txBody>
      </p:sp>
      <p:sp>
        <p:nvSpPr>
          <p:cNvPr id="17466" name="Text Box 58"/>
          <p:cNvSpPr txBox="1">
            <a:spLocks noChangeArrowheads="1"/>
          </p:cNvSpPr>
          <p:nvPr/>
        </p:nvSpPr>
        <p:spPr bwMode="auto">
          <a:xfrm>
            <a:off x="6770322" y="3849494"/>
            <a:ext cx="1177925"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2000" b="1" dirty="0">
                <a:solidFill>
                  <a:srgbClr val="000066"/>
                </a:solidFill>
                <a:latin typeface="Lucida Sans Unicode" panose="020B0602030504020204" pitchFamily="34" charset="0"/>
              </a:rPr>
              <a:t>30,77</a:t>
            </a:r>
          </a:p>
        </p:txBody>
      </p:sp>
      <p:sp>
        <p:nvSpPr>
          <p:cNvPr id="25632" name="Text Box 59"/>
          <p:cNvSpPr txBox="1">
            <a:spLocks noChangeArrowheads="1"/>
          </p:cNvSpPr>
          <p:nvPr/>
        </p:nvSpPr>
        <p:spPr bwMode="auto">
          <a:xfrm>
            <a:off x="2020889" y="1771650"/>
            <a:ext cx="8116887" cy="402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u="sng" dirty="0">
                <a:solidFill>
                  <a:schemeClr val="accent6"/>
                </a:solidFill>
                <a:latin typeface="Lucida Sans Unicode" panose="020B0602030504020204" pitchFamily="34" charset="0"/>
              </a:rPr>
              <a:t>NESTE EXEMPLO</a:t>
            </a:r>
            <a:r>
              <a:rPr lang="pt-BR" altLang="pt-BR" sz="2000" b="1" dirty="0">
                <a:solidFill>
                  <a:schemeClr val="accent6"/>
                </a:solidFill>
                <a:latin typeface="Lucida Sans Unicode" panose="020B0602030504020204" pitchFamily="34" charset="0"/>
              </a:rPr>
              <a:t>:   </a:t>
            </a:r>
          </a:p>
        </p:txBody>
      </p:sp>
      <p:sp>
        <p:nvSpPr>
          <p:cNvPr id="17468" name="Text Box 60"/>
          <p:cNvSpPr txBox="1">
            <a:spLocks noChangeArrowheads="1"/>
          </p:cNvSpPr>
          <p:nvPr/>
        </p:nvSpPr>
        <p:spPr bwMode="auto">
          <a:xfrm>
            <a:off x="5401417" y="3849494"/>
            <a:ext cx="500063"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2000" b="1" dirty="0">
                <a:solidFill>
                  <a:srgbClr val="000066"/>
                </a:solidFill>
                <a:latin typeface="Lucida Sans Unicode" panose="020B0602030504020204" pitchFamily="34" charset="0"/>
              </a:rPr>
              <a:t>4</a:t>
            </a:r>
          </a:p>
        </p:txBody>
      </p:sp>
      <p:sp>
        <p:nvSpPr>
          <p:cNvPr id="17469" name="Text Box 61"/>
          <p:cNvSpPr txBox="1">
            <a:spLocks noChangeArrowheads="1"/>
          </p:cNvSpPr>
          <p:nvPr/>
        </p:nvSpPr>
        <p:spPr bwMode="auto">
          <a:xfrm>
            <a:off x="5401417" y="4292133"/>
            <a:ext cx="500063"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2000" b="1" dirty="0">
                <a:solidFill>
                  <a:srgbClr val="000066"/>
                </a:solidFill>
                <a:latin typeface="Lucida Sans Unicode" panose="020B0602030504020204" pitchFamily="34" charset="0"/>
              </a:rPr>
              <a:t>3</a:t>
            </a:r>
          </a:p>
        </p:txBody>
      </p:sp>
      <p:sp>
        <p:nvSpPr>
          <p:cNvPr id="17470" name="Text Box 62"/>
          <p:cNvSpPr txBox="1">
            <a:spLocks noChangeArrowheads="1"/>
          </p:cNvSpPr>
          <p:nvPr/>
        </p:nvSpPr>
        <p:spPr bwMode="auto">
          <a:xfrm>
            <a:off x="5401417" y="4734772"/>
            <a:ext cx="500063"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2000" b="1" dirty="0">
                <a:solidFill>
                  <a:srgbClr val="000066"/>
                </a:solidFill>
                <a:latin typeface="Lucida Sans Unicode" panose="020B0602030504020204" pitchFamily="34" charset="0"/>
              </a:rPr>
              <a:t>6</a:t>
            </a:r>
          </a:p>
        </p:txBody>
      </p:sp>
      <p:sp>
        <p:nvSpPr>
          <p:cNvPr id="17471" name="Text Box 63"/>
          <p:cNvSpPr txBox="1">
            <a:spLocks noChangeArrowheads="1"/>
          </p:cNvSpPr>
          <p:nvPr/>
        </p:nvSpPr>
        <p:spPr bwMode="auto">
          <a:xfrm>
            <a:off x="2440628" y="3849494"/>
            <a:ext cx="1603375"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rgbClr val="000066"/>
                </a:solidFill>
                <a:latin typeface="Lucida Sans Unicode" panose="020B0602030504020204" pitchFamily="34" charset="0"/>
              </a:rPr>
              <a:t>Classe </a:t>
            </a:r>
            <a:r>
              <a:rPr lang="pt-BR" altLang="pt-BR" sz="2000" b="1" dirty="0">
                <a:solidFill>
                  <a:srgbClr val="FF3333"/>
                </a:solidFill>
                <a:latin typeface="Lucida Sans Unicode" panose="020B0602030504020204" pitchFamily="34" charset="0"/>
              </a:rPr>
              <a:t>A</a:t>
            </a:r>
          </a:p>
        </p:txBody>
      </p:sp>
      <p:sp>
        <p:nvSpPr>
          <p:cNvPr id="17472" name="Text Box 64"/>
          <p:cNvSpPr txBox="1">
            <a:spLocks noChangeArrowheads="1"/>
          </p:cNvSpPr>
          <p:nvPr/>
        </p:nvSpPr>
        <p:spPr bwMode="auto">
          <a:xfrm>
            <a:off x="2440628" y="4292133"/>
            <a:ext cx="1565275"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rgbClr val="000066"/>
                </a:solidFill>
                <a:latin typeface="Lucida Sans Unicode" panose="020B0602030504020204" pitchFamily="34" charset="0"/>
              </a:rPr>
              <a:t>Classe </a:t>
            </a:r>
            <a:r>
              <a:rPr lang="pt-BR" altLang="pt-BR" sz="2000" b="1" dirty="0">
                <a:solidFill>
                  <a:srgbClr val="FF950E"/>
                </a:solidFill>
                <a:latin typeface="Lucida Sans Unicode" panose="020B0602030504020204" pitchFamily="34" charset="0"/>
              </a:rPr>
              <a:t>B</a:t>
            </a:r>
          </a:p>
        </p:txBody>
      </p:sp>
      <p:sp>
        <p:nvSpPr>
          <p:cNvPr id="17473" name="Text Box 65"/>
          <p:cNvSpPr txBox="1">
            <a:spLocks noChangeArrowheads="1"/>
          </p:cNvSpPr>
          <p:nvPr/>
        </p:nvSpPr>
        <p:spPr bwMode="auto">
          <a:xfrm>
            <a:off x="2440628" y="4734772"/>
            <a:ext cx="1606550"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buClrTx/>
              <a:buFontTx/>
              <a:buNone/>
            </a:pPr>
            <a:r>
              <a:rPr lang="pt-BR" altLang="pt-BR" sz="2000" b="1" dirty="0">
                <a:solidFill>
                  <a:srgbClr val="000066"/>
                </a:solidFill>
                <a:latin typeface="Lucida Sans Unicode" panose="020B0602030504020204" pitchFamily="34" charset="0"/>
              </a:rPr>
              <a:t>Classe </a:t>
            </a:r>
            <a:r>
              <a:rPr lang="pt-BR" altLang="pt-BR" sz="2000" b="1" dirty="0">
                <a:solidFill>
                  <a:srgbClr val="009900"/>
                </a:solidFill>
                <a:latin typeface="Lucida Sans Unicode" panose="020B0602030504020204" pitchFamily="34" charset="0"/>
              </a:rPr>
              <a:t>C</a:t>
            </a:r>
          </a:p>
        </p:txBody>
      </p:sp>
      <p:sp>
        <p:nvSpPr>
          <p:cNvPr id="17474" name="Text Box 66"/>
          <p:cNvSpPr txBox="1">
            <a:spLocks noChangeArrowheads="1"/>
          </p:cNvSpPr>
          <p:nvPr/>
        </p:nvSpPr>
        <p:spPr bwMode="auto">
          <a:xfrm>
            <a:off x="2440628" y="5206908"/>
            <a:ext cx="1306513"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449263" algn="l"/>
                <a:tab pos="898525"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449263" algn="l"/>
                <a:tab pos="898525"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449263" algn="l"/>
                <a:tab pos="898525"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449263" algn="l"/>
                <a:tab pos="898525"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449263" algn="l"/>
                <a:tab pos="898525"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Lst>
              <a:defRPr>
                <a:solidFill>
                  <a:schemeClr val="bg1"/>
                </a:solidFill>
                <a:latin typeface="Arial" panose="020B0604020202020204" pitchFamily="34" charset="0"/>
                <a:ea typeface="Microsoft YaHei" panose="020B0503020204020204" pitchFamily="34" charset="-122"/>
              </a:defRPr>
            </a:lvl9pPr>
          </a:lstStyle>
          <a:p>
            <a:pPr eaLnBrk="1">
              <a:lnSpc>
                <a:spcPct val="101000"/>
              </a:lnSpc>
            </a:pPr>
            <a:r>
              <a:rPr lang="pt-BR" altLang="pt-BR" sz="2000" b="1" dirty="0">
                <a:solidFill>
                  <a:srgbClr val="000066"/>
                </a:solidFill>
                <a:latin typeface="Lucida Sans Unicode" panose="020B0602030504020204" pitchFamily="34" charset="0"/>
              </a:rPr>
              <a:t>TOTAL</a:t>
            </a:r>
          </a:p>
        </p:txBody>
      </p:sp>
      <p:sp>
        <p:nvSpPr>
          <p:cNvPr id="17475" name="Text Box 67"/>
          <p:cNvSpPr txBox="1">
            <a:spLocks noChangeArrowheads="1"/>
          </p:cNvSpPr>
          <p:nvPr/>
        </p:nvSpPr>
        <p:spPr bwMode="auto">
          <a:xfrm>
            <a:off x="5285530" y="5206908"/>
            <a:ext cx="615950"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4492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4492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4492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4492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4492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Lst>
              <a:defRPr>
                <a:solidFill>
                  <a:schemeClr val="bg1"/>
                </a:solidFill>
                <a:latin typeface="Arial" panose="020B0604020202020204" pitchFamily="34" charset="0"/>
                <a:ea typeface="Microsoft YaHei" panose="020B0503020204020204" pitchFamily="34" charset="-122"/>
              </a:defRPr>
            </a:lvl9pPr>
          </a:lstStyle>
          <a:p>
            <a:pPr algn="r" eaLnBrk="1">
              <a:lnSpc>
                <a:spcPct val="101000"/>
              </a:lnSpc>
            </a:pPr>
            <a:r>
              <a:rPr lang="pt-BR" altLang="pt-BR" sz="2000" b="1" dirty="0">
                <a:solidFill>
                  <a:srgbClr val="000066"/>
                </a:solidFill>
                <a:latin typeface="Lucida Sans Unicode" panose="020B0602030504020204" pitchFamily="34" charset="0"/>
              </a:rPr>
              <a:t>13</a:t>
            </a:r>
          </a:p>
        </p:txBody>
      </p:sp>
      <p:sp>
        <p:nvSpPr>
          <p:cNvPr id="17476" name="Text Box 68"/>
          <p:cNvSpPr txBox="1">
            <a:spLocks noChangeArrowheads="1"/>
          </p:cNvSpPr>
          <p:nvPr/>
        </p:nvSpPr>
        <p:spPr bwMode="auto">
          <a:xfrm>
            <a:off x="6568709" y="5206908"/>
            <a:ext cx="137953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9pPr>
          </a:lstStyle>
          <a:p>
            <a:pPr algn="r" eaLnBrk="1">
              <a:lnSpc>
                <a:spcPct val="101000"/>
              </a:lnSpc>
            </a:pPr>
            <a:r>
              <a:rPr lang="pt-BR" altLang="pt-BR" sz="2000" b="1" dirty="0">
                <a:solidFill>
                  <a:srgbClr val="000066"/>
                </a:solidFill>
                <a:latin typeface="Lucida Sans Unicode" panose="020B0602030504020204" pitchFamily="34" charset="0"/>
              </a:rPr>
              <a:t>100,00</a:t>
            </a:r>
          </a:p>
        </p:txBody>
      </p:sp>
      <p:sp>
        <p:nvSpPr>
          <p:cNvPr id="19" name="CaixaDeTexto 18"/>
          <p:cNvSpPr txBox="1"/>
          <p:nvPr/>
        </p:nvSpPr>
        <p:spPr>
          <a:xfrm>
            <a:off x="2139561" y="933429"/>
            <a:ext cx="7912878" cy="400110"/>
          </a:xfrm>
          <a:prstGeom prst="rect">
            <a:avLst/>
          </a:prstGeom>
          <a:noFill/>
        </p:spPr>
        <p:txBody>
          <a:bodyPr wrap="square" rtlCol="0">
            <a:spAutoFit/>
          </a:bodyPr>
          <a:lstStyle/>
          <a:p>
            <a:pPr algn="ctr"/>
            <a:r>
              <a:rPr lang="pt-BR" sz="2000" b="1" dirty="0">
                <a:solidFill>
                  <a:schemeClr val="accent6"/>
                </a:solidFill>
                <a:latin typeface="Lucida Sans Unicode" panose="020B0602030504020204" pitchFamily="34" charset="0"/>
                <a:cs typeface="Lucida Sans Unicode" panose="020B0602030504020204" pitchFamily="34" charset="0"/>
              </a:rPr>
              <a:t>CURVA ABC</a:t>
            </a:r>
          </a:p>
        </p:txBody>
      </p:sp>
      <p:sp>
        <p:nvSpPr>
          <p:cNvPr id="20" name="CaixaDeTexto 19"/>
          <p:cNvSpPr txBox="1"/>
          <p:nvPr/>
        </p:nvSpPr>
        <p:spPr>
          <a:xfrm>
            <a:off x="2099556" y="299972"/>
            <a:ext cx="7992888" cy="461665"/>
          </a:xfrm>
          <a:prstGeom prst="rect">
            <a:avLst/>
          </a:prstGeom>
          <a:noFill/>
        </p:spPr>
        <p:txBody>
          <a:bodyPr wrap="square" rtlCol="0">
            <a:spAutoFit/>
          </a:bodyPr>
          <a:lstStyle/>
          <a:p>
            <a:pPr algn="ctr">
              <a:buClrTx/>
              <a:buFontTx/>
              <a:buNone/>
            </a:pPr>
            <a:r>
              <a:rPr lang="pt-BR" sz="2400" b="1" dirty="0">
                <a:solidFill>
                  <a:schemeClr val="accent6"/>
                </a:solidFill>
                <a:latin typeface="Lucida Sans Unicode" panose="020B0602030504020204" pitchFamily="34" charset="0"/>
                <a:cs typeface="Lucida Sans Unicode" panose="020B0602030504020204" pitchFamily="34" charset="0"/>
              </a:rPr>
              <a:t>SISTEMAS DE CONTROLE DE ESTOQUE</a:t>
            </a:r>
            <a:endParaRPr lang="pt-BR" altLang="pt-BR" sz="2400" b="1" dirty="0">
              <a:solidFill>
                <a:schemeClr val="accent6"/>
              </a:solidFill>
              <a:latin typeface="Lucida Sans Unicode" panose="020B0602030504020204" pitchFamily="34" charset="0"/>
            </a:endParaRPr>
          </a:p>
        </p:txBody>
      </p:sp>
      <p:sp>
        <p:nvSpPr>
          <p:cNvPr id="21" name="Text Box 56"/>
          <p:cNvSpPr txBox="1">
            <a:spLocks noChangeArrowheads="1"/>
          </p:cNvSpPr>
          <p:nvPr/>
        </p:nvSpPr>
        <p:spPr bwMode="auto">
          <a:xfrm>
            <a:off x="8572957" y="3849494"/>
            <a:ext cx="1217613"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2000" b="1" dirty="0">
                <a:solidFill>
                  <a:srgbClr val="000066"/>
                </a:solidFill>
                <a:latin typeface="Lucida Sans Unicode" panose="020B0602030504020204" pitchFamily="34" charset="0"/>
              </a:rPr>
              <a:t>80,31</a:t>
            </a:r>
          </a:p>
        </p:txBody>
      </p:sp>
      <p:sp>
        <p:nvSpPr>
          <p:cNvPr id="22" name="Text Box 56"/>
          <p:cNvSpPr txBox="1">
            <a:spLocks noChangeArrowheads="1"/>
          </p:cNvSpPr>
          <p:nvPr/>
        </p:nvSpPr>
        <p:spPr bwMode="auto">
          <a:xfrm>
            <a:off x="8572957" y="4292133"/>
            <a:ext cx="1217613"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2000" b="1" dirty="0">
                <a:solidFill>
                  <a:srgbClr val="000066"/>
                </a:solidFill>
                <a:latin typeface="Lucida Sans Unicode" panose="020B0602030504020204" pitchFamily="34" charset="0"/>
              </a:rPr>
              <a:t>14,63</a:t>
            </a:r>
          </a:p>
        </p:txBody>
      </p:sp>
      <p:sp>
        <p:nvSpPr>
          <p:cNvPr id="23" name="Text Box 56"/>
          <p:cNvSpPr txBox="1">
            <a:spLocks noChangeArrowheads="1"/>
          </p:cNvSpPr>
          <p:nvPr/>
        </p:nvSpPr>
        <p:spPr bwMode="auto">
          <a:xfrm>
            <a:off x="8799039" y="4734772"/>
            <a:ext cx="991531" cy="50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nchor="ctr"/>
          <a:lstStyle>
            <a:lvl1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solidFill>
                  <a:schemeClr val="bg1"/>
                </a:solidFill>
                <a:latin typeface="Arial" panose="020B0604020202020204" pitchFamily="34" charset="0"/>
                <a:ea typeface="Microsoft YaHei" panose="020B0503020204020204" pitchFamily="34" charset="-122"/>
              </a:defRPr>
            </a:lvl9pPr>
          </a:lstStyle>
          <a:p>
            <a:pPr algn="r">
              <a:buClrTx/>
              <a:buFontTx/>
              <a:buNone/>
            </a:pPr>
            <a:r>
              <a:rPr lang="pt-BR" altLang="pt-BR" sz="2000" b="1" dirty="0">
                <a:solidFill>
                  <a:srgbClr val="000066"/>
                </a:solidFill>
                <a:latin typeface="Lucida Sans Unicode" panose="020B0602030504020204" pitchFamily="34" charset="0"/>
              </a:rPr>
              <a:t>5,06</a:t>
            </a:r>
          </a:p>
        </p:txBody>
      </p:sp>
      <p:sp>
        <p:nvSpPr>
          <p:cNvPr id="24" name="Text Box 68"/>
          <p:cNvSpPr txBox="1">
            <a:spLocks noChangeArrowheads="1"/>
          </p:cNvSpPr>
          <p:nvPr/>
        </p:nvSpPr>
        <p:spPr bwMode="auto">
          <a:xfrm>
            <a:off x="8411032" y="5206908"/>
            <a:ext cx="1379538"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1pPr>
            <a:lvl2pPr>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2pPr>
            <a:lvl3pPr>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3pPr>
            <a:lvl4pPr>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4pPr>
            <a:lvl5pPr>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5pPr>
            <a:lvl6pPr marL="25146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6pPr>
            <a:lvl7pPr marL="29718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7pPr>
            <a:lvl8pPr marL="34290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8pPr>
            <a:lvl9pPr marL="3886200" indent="-228600" defTabSz="449263" eaLnBrk="0" fontAlgn="base" hangingPunct="0">
              <a:spcBef>
                <a:spcPct val="0"/>
              </a:spcBef>
              <a:spcAft>
                <a:spcPct val="0"/>
              </a:spcAft>
              <a:buClr>
                <a:srgbClr val="000000"/>
              </a:buClr>
              <a:buSzPct val="100000"/>
              <a:buFont typeface="Times New Roman" panose="02020603050405020304" pitchFamily="18" charset="0"/>
              <a:tabLst>
                <a:tab pos="449263" algn="l"/>
                <a:tab pos="898525" algn="l"/>
                <a:tab pos="1347788" algn="l"/>
              </a:tabLst>
              <a:defRPr>
                <a:solidFill>
                  <a:schemeClr val="bg1"/>
                </a:solidFill>
                <a:latin typeface="Arial" panose="020B0604020202020204" pitchFamily="34" charset="0"/>
                <a:ea typeface="Microsoft YaHei" panose="020B0503020204020204" pitchFamily="34" charset="-122"/>
              </a:defRPr>
            </a:lvl9pPr>
          </a:lstStyle>
          <a:p>
            <a:pPr algn="r" eaLnBrk="1">
              <a:lnSpc>
                <a:spcPct val="101000"/>
              </a:lnSpc>
            </a:pPr>
            <a:r>
              <a:rPr lang="pt-BR" altLang="pt-BR" sz="2000" b="1" dirty="0">
                <a:solidFill>
                  <a:srgbClr val="000066"/>
                </a:solidFill>
                <a:latin typeface="Lucida Sans Unicode" panose="020B0602030504020204" pitchFamily="34" charset="0"/>
              </a:rPr>
              <a:t>100,00</a:t>
            </a:r>
          </a:p>
        </p:txBody>
      </p:sp>
    </p:spTree>
    <p:extLst>
      <p:ext uri="{BB962C8B-B14F-4D97-AF65-F5344CB8AC3E}">
        <p14:creationId xmlns:p14="http://schemas.microsoft.com/office/powerpoint/2010/main" val="9811806"/>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nodeType="clickEffect">
                                  <p:stCondLst>
                                    <p:cond delay="0"/>
                                  </p:stCondLst>
                                  <p:childTnLst>
                                    <p:set>
                                      <p:cBhvr additive="repl">
                                        <p:cTn id="6" dur="1" fill="hold">
                                          <p:stCondLst>
                                            <p:cond delay="0"/>
                                          </p:stCondLst>
                                        </p:cTn>
                                        <p:tgtEl>
                                          <p:spTgt spid="17410"/>
                                        </p:tgtEl>
                                        <p:attrNameLst>
                                          <p:attrName>style.visibility</p:attrName>
                                        </p:attrNameLst>
                                      </p:cBhvr>
                                      <p:to>
                                        <p:strVal val="visible"/>
                                      </p:to>
                                    </p:set>
                                    <p:animEffect transition="in" filter="slide(fromRight)">
                                      <p:cBhvr additive="repl">
                                        <p:cTn id="7" dur="500"/>
                                        <p:tgtEl>
                                          <p:spTgt spid="17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additive="repl">
                                        <p:cTn id="11" dur="1" fill="hold">
                                          <p:stCondLst>
                                            <p:cond delay="0"/>
                                          </p:stCondLst>
                                        </p:cTn>
                                        <p:tgtEl>
                                          <p:spTgt spid="17474">
                                            <p:txEl>
                                              <p:pRg st="0" end="0"/>
                                            </p:txEl>
                                          </p:spTgt>
                                        </p:tgtEl>
                                        <p:attrNameLst>
                                          <p:attrName>style.visibility</p:attrName>
                                        </p:attrNameLst>
                                      </p:cBhvr>
                                      <p:to>
                                        <p:strVal val="visible"/>
                                      </p:to>
                                    </p:set>
                                    <p:animEffect transition="in" filter="slide(fromLeft)">
                                      <p:cBhvr additive="repl">
                                        <p:cTn id="12" dur="500"/>
                                        <p:tgtEl>
                                          <p:spTgt spid="1747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fill="hold" nodeType="clickEffect">
                                  <p:stCondLst>
                                    <p:cond delay="0"/>
                                  </p:stCondLst>
                                  <p:childTnLst>
                                    <p:set>
                                      <p:cBhvr additive="repl">
                                        <p:cTn id="16" dur="1" fill="hold">
                                          <p:stCondLst>
                                            <p:cond delay="0"/>
                                          </p:stCondLst>
                                        </p:cTn>
                                        <p:tgtEl>
                                          <p:spTgt spid="17475">
                                            <p:txEl>
                                              <p:pRg st="0" end="0"/>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fill="hold" nodeType="clickEffect">
                                  <p:stCondLst>
                                    <p:cond delay="0"/>
                                  </p:stCondLst>
                                  <p:childTnLst>
                                    <p:set>
                                      <p:cBhvr additive="repl">
                                        <p:cTn id="20" dur="1" fill="hold">
                                          <p:stCondLst>
                                            <p:cond delay="0"/>
                                          </p:stCondLst>
                                        </p:cTn>
                                        <p:tgtEl>
                                          <p:spTgt spid="17476">
                                            <p:txEl>
                                              <p:pRg st="0" end="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2" presetClass="entr" presetSubtype="8" fill="hold" nodeType="clickEffect">
                                  <p:stCondLst>
                                    <p:cond delay="0"/>
                                  </p:stCondLst>
                                  <p:childTnLst>
                                    <p:set>
                                      <p:cBhvr additive="repl">
                                        <p:cTn id="24" dur="1" fill="hold">
                                          <p:stCondLst>
                                            <p:cond delay="0"/>
                                          </p:stCondLst>
                                        </p:cTn>
                                        <p:tgtEl>
                                          <p:spTgt spid="17471">
                                            <p:txEl>
                                              <p:pRg st="0" end="0"/>
                                            </p:txEl>
                                          </p:spTgt>
                                        </p:tgtEl>
                                        <p:attrNameLst>
                                          <p:attrName>style.visibility</p:attrName>
                                        </p:attrNameLst>
                                      </p:cBhvr>
                                      <p:to>
                                        <p:strVal val="visible"/>
                                      </p:to>
                                    </p:set>
                                    <p:animEffect transition="in" filter="slide(fromLeft)">
                                      <p:cBhvr additive="repl">
                                        <p:cTn id="25" dur="500"/>
                                        <p:tgtEl>
                                          <p:spTgt spid="17471">
                                            <p:txEl>
                                              <p:pRg st="0" end="0"/>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fill="hold" nodeType="clickEffect">
                                  <p:stCondLst>
                                    <p:cond delay="0"/>
                                  </p:stCondLst>
                                  <p:childTnLst>
                                    <p:set>
                                      <p:cBhvr additive="repl">
                                        <p:cTn id="29" dur="1" fill="hold">
                                          <p:stCondLst>
                                            <p:cond delay="0"/>
                                          </p:stCondLst>
                                        </p:cTn>
                                        <p:tgtEl>
                                          <p:spTgt spid="17468">
                                            <p:txEl>
                                              <p:pRg st="0" end="0"/>
                                            </p:txEl>
                                          </p:spTgt>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fill="hold" nodeType="clickEffect">
                                  <p:stCondLst>
                                    <p:cond delay="0"/>
                                  </p:stCondLst>
                                  <p:childTnLst>
                                    <p:set>
                                      <p:cBhvr additive="repl">
                                        <p:cTn id="33" dur="1" fill="hold">
                                          <p:stCondLst>
                                            <p:cond delay="0"/>
                                          </p:stCondLst>
                                        </p:cTn>
                                        <p:tgtEl>
                                          <p:spTgt spid="17466">
                                            <p:txEl>
                                              <p:pRg st="0" end="0"/>
                                            </p:txEl>
                                          </p:spTgt>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2" presetClass="entr" presetSubtype="8" fill="hold" nodeType="clickEffect">
                                  <p:stCondLst>
                                    <p:cond delay="0"/>
                                  </p:stCondLst>
                                  <p:childTnLst>
                                    <p:set>
                                      <p:cBhvr additive="repl">
                                        <p:cTn id="37" dur="1" fill="hold">
                                          <p:stCondLst>
                                            <p:cond delay="0"/>
                                          </p:stCondLst>
                                        </p:cTn>
                                        <p:tgtEl>
                                          <p:spTgt spid="17472">
                                            <p:txEl>
                                              <p:pRg st="0" end="0"/>
                                            </p:txEl>
                                          </p:spTgt>
                                        </p:tgtEl>
                                        <p:attrNameLst>
                                          <p:attrName>style.visibility</p:attrName>
                                        </p:attrNameLst>
                                      </p:cBhvr>
                                      <p:to>
                                        <p:strVal val="visible"/>
                                      </p:to>
                                    </p:set>
                                    <p:animEffect transition="in" filter="slide(fromLeft)">
                                      <p:cBhvr additive="repl">
                                        <p:cTn id="38" dur="500"/>
                                        <p:tgtEl>
                                          <p:spTgt spid="17472">
                                            <p:txEl>
                                              <p:pRg st="0" end="0"/>
                                            </p:txEl>
                                          </p:spTgt>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fill="hold" nodeType="clickEffect">
                                  <p:stCondLst>
                                    <p:cond delay="0"/>
                                  </p:stCondLst>
                                  <p:childTnLst>
                                    <p:set>
                                      <p:cBhvr additive="repl">
                                        <p:cTn id="42" dur="1" fill="hold">
                                          <p:stCondLst>
                                            <p:cond delay="0"/>
                                          </p:stCondLst>
                                        </p:cTn>
                                        <p:tgtEl>
                                          <p:spTgt spid="17469">
                                            <p:txEl>
                                              <p:pRg st="0" end="0"/>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fill="hold" nodeType="clickEffect">
                                  <p:stCondLst>
                                    <p:cond delay="0"/>
                                  </p:stCondLst>
                                  <p:childTnLst>
                                    <p:set>
                                      <p:cBhvr additive="repl">
                                        <p:cTn id="46" dur="1" fill="hold">
                                          <p:stCondLst>
                                            <p:cond delay="0"/>
                                          </p:stCondLst>
                                        </p:cTn>
                                        <p:tgtEl>
                                          <p:spTgt spid="17465">
                                            <p:txEl>
                                              <p:pRg st="0" end="0"/>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2" presetClass="entr" presetSubtype="8" fill="hold" nodeType="clickEffect">
                                  <p:stCondLst>
                                    <p:cond delay="0"/>
                                  </p:stCondLst>
                                  <p:childTnLst>
                                    <p:set>
                                      <p:cBhvr additive="repl">
                                        <p:cTn id="50" dur="1" fill="hold">
                                          <p:stCondLst>
                                            <p:cond delay="0"/>
                                          </p:stCondLst>
                                        </p:cTn>
                                        <p:tgtEl>
                                          <p:spTgt spid="17473">
                                            <p:txEl>
                                              <p:pRg st="0" end="0"/>
                                            </p:txEl>
                                          </p:spTgt>
                                        </p:tgtEl>
                                        <p:attrNameLst>
                                          <p:attrName>style.visibility</p:attrName>
                                        </p:attrNameLst>
                                      </p:cBhvr>
                                      <p:to>
                                        <p:strVal val="visible"/>
                                      </p:to>
                                    </p:set>
                                    <p:animEffect transition="in" filter="slide(fromLeft)">
                                      <p:cBhvr additive="repl">
                                        <p:cTn id="51" dur="500"/>
                                        <p:tgtEl>
                                          <p:spTgt spid="17473">
                                            <p:txEl>
                                              <p:pRg st="0" end="0"/>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fill="hold" nodeType="clickEffect">
                                  <p:stCondLst>
                                    <p:cond delay="0"/>
                                  </p:stCondLst>
                                  <p:childTnLst>
                                    <p:set>
                                      <p:cBhvr additive="repl">
                                        <p:cTn id="55" dur="1" fill="hold">
                                          <p:stCondLst>
                                            <p:cond delay="0"/>
                                          </p:stCondLst>
                                        </p:cTn>
                                        <p:tgtEl>
                                          <p:spTgt spid="17470">
                                            <p:txEl>
                                              <p:pRg st="0" end="0"/>
                                            </p:txEl>
                                          </p:spTgt>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fill="hold" nodeType="clickEffect">
                                  <p:stCondLst>
                                    <p:cond delay="0"/>
                                  </p:stCondLst>
                                  <p:childTnLst>
                                    <p:set>
                                      <p:cBhvr additive="repl">
                                        <p:cTn id="59" dur="1" fill="hold">
                                          <p:stCondLst>
                                            <p:cond delay="0"/>
                                          </p:stCondLst>
                                        </p:cTn>
                                        <p:tgtEl>
                                          <p:spTgt spid="17464">
                                            <p:txEl>
                                              <p:pRg st="0" end="0"/>
                                            </p:txEl>
                                          </p:spTgt>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fill="hold" nodeType="clickEffect">
                                  <p:stCondLst>
                                    <p:cond delay="0"/>
                                  </p:stCondLst>
                                  <p:childTnLst>
                                    <p:set>
                                      <p:cBhvr additive="repl">
                                        <p:cTn id="63"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fill="hold" nodeType="clickEffect">
                                  <p:stCondLst>
                                    <p:cond delay="0"/>
                                  </p:stCondLst>
                                  <p:childTnLst>
                                    <p:set>
                                      <p:cBhvr additive="repl">
                                        <p:cTn id="67"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fill="hold" nodeType="clickEffect">
                                  <p:stCondLst>
                                    <p:cond delay="0"/>
                                  </p:stCondLst>
                                  <p:childTnLst>
                                    <p:set>
                                      <p:cBhvr additive="repl">
                                        <p:cTn id="71"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fill="hold" nodeType="clickEffect">
                                  <p:stCondLst>
                                    <p:cond delay="0"/>
                                  </p:stCondLst>
                                  <p:childTnLst>
                                    <p:set>
                                      <p:cBhvr additive="repl">
                                        <p:cTn id="75"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ma do Office">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CD3868A768BBC14EBAC7D03D0260A218" ma:contentTypeVersion="16" ma:contentTypeDescription="Crie um novo documento." ma:contentTypeScope="" ma:versionID="163d054e873d1833e7a477861c2e931c">
  <xsd:schema xmlns:xsd="http://www.w3.org/2001/XMLSchema" xmlns:xs="http://www.w3.org/2001/XMLSchema" xmlns:p="http://schemas.microsoft.com/office/2006/metadata/properties" xmlns:ns2="1320d8c0-aa00-45e8-b1e2-6c53a7edd4fe" xmlns:ns3="3879a883-5f62-4762-adb0-91976e226712" targetNamespace="http://schemas.microsoft.com/office/2006/metadata/properties" ma:root="true" ma:fieldsID="1857529a7a08f8bc13c2c2e8a2a53e59" ns2:_="" ns3:_="">
    <xsd:import namespace="1320d8c0-aa00-45e8-b1e2-6c53a7edd4fe"/>
    <xsd:import namespace="3879a883-5f62-4762-adb0-91976e22671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20d8c0-aa00-45e8-b1e2-6c53a7edd4f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Marcações de imagem" ma:readOnly="false" ma:fieldId="{5cf76f15-5ced-4ddc-b409-7134ff3c332f}" ma:taxonomyMulti="true" ma:sspId="a1f86888-6c40-4c78-a99b-3380cfdf08f2"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79a883-5f62-4762-adb0-91976e22671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37d5a37-cb9b-4041-9295-ab1cbbaa127b}" ma:internalName="TaxCatchAll" ma:showField="CatchAllData" ma:web="3879a883-5f62-4762-adb0-91976e226712">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879a883-5f62-4762-adb0-91976e226712" xsi:nil="true"/>
    <lcf76f155ced4ddcb4097134ff3c332f xmlns="1320d8c0-aa00-45e8-b1e2-6c53a7edd4f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053BD53-5B80-4560-BC2B-A9B628DCF73B}">
  <ds:schemaRefs>
    <ds:schemaRef ds:uri="http://schemas.microsoft.com/sharepoint/v3/contenttype/forms"/>
  </ds:schemaRefs>
</ds:datastoreItem>
</file>

<file path=customXml/itemProps2.xml><?xml version="1.0" encoding="utf-8"?>
<ds:datastoreItem xmlns:ds="http://schemas.openxmlformats.org/officeDocument/2006/customXml" ds:itemID="{BE54BEB0-FA73-4D11-8F55-FDD7BA7C96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20d8c0-aa00-45e8-b1e2-6c53a7edd4fe"/>
    <ds:schemaRef ds:uri="3879a883-5f62-4762-adb0-91976e2267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01BCE58-2987-40CE-941A-934D049D6FEC}">
  <ds:schemaRefs>
    <ds:schemaRef ds:uri="http://purl.org/dc/dcmitype/"/>
    <ds:schemaRef ds:uri="http://schemas.microsoft.com/office/2006/metadata/properties"/>
    <ds:schemaRef ds:uri="http://schemas.microsoft.com/office/infopath/2007/PartnerControls"/>
    <ds:schemaRef ds:uri="http://schemas.microsoft.com/office/2006/documentManagement/types"/>
    <ds:schemaRef ds:uri="1320d8c0-aa00-45e8-b1e2-6c53a7edd4fe"/>
    <ds:schemaRef ds:uri="3879a883-5f62-4762-adb0-91976e226712"/>
    <ds:schemaRef ds:uri="http://purl.org/dc/terms/"/>
    <ds:schemaRef ds:uri="http://purl.org/dc/elements/1.1/"/>
    <ds:schemaRef ds:uri="http://www.w3.org/XML/1998/namespace"/>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19715</TotalTime>
  <Words>4343</Words>
  <Application>Microsoft Office PowerPoint</Application>
  <PresentationFormat>Widescreen</PresentationFormat>
  <Paragraphs>700</Paragraphs>
  <Slides>61</Slides>
  <Notes>22</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61</vt:i4>
      </vt:variant>
    </vt:vector>
  </HeadingPairs>
  <TitlesOfParts>
    <vt:vector size="70" baseType="lpstr">
      <vt:lpstr>Arial</vt:lpstr>
      <vt:lpstr>Calibri</vt:lpstr>
      <vt:lpstr>Roboto</vt:lpstr>
      <vt:lpstr>Lucida Sans Unicode</vt:lpstr>
      <vt:lpstr>Wingdings</vt:lpstr>
      <vt:lpstr>Times New Roman</vt:lpstr>
      <vt:lpstr>Calibri Light</vt:lpstr>
      <vt:lpstr>Roboto Black</vt:lpstr>
      <vt:lpstr>Tema do Office</vt:lpstr>
      <vt:lpstr>SEST SENAT</vt:lpstr>
      <vt:lpstr>O que é LEC?</vt:lpstr>
      <vt:lpstr>Apresentação do PowerPoint</vt:lpstr>
      <vt:lpstr>Exemplo:</vt:lpstr>
      <vt:lpstr>Analise do custo de pedidos</vt:lpstr>
      <vt:lpstr>Analise dos custos com estoque</vt:lpstr>
      <vt:lpstr>Continuando... Exemplo de análise de custos em estoque</vt:lpstr>
      <vt:lpstr>Análise de custos com materiais</vt:lpstr>
      <vt:lpstr>Exercícios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Israel Antonio Manoel Pereira</dc:creator>
  <cp:lastModifiedBy>Professor</cp:lastModifiedBy>
  <cp:revision>323</cp:revision>
  <cp:lastPrinted>2023-11-08T20:11:37Z</cp:lastPrinted>
  <dcterms:created xsi:type="dcterms:W3CDTF">2023-01-17T18:29:15Z</dcterms:created>
  <dcterms:modified xsi:type="dcterms:W3CDTF">2026-03-17T11:01:36Z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6b184f7-bef8-46d5-afaa-2928da75c0b3_Enabled">
    <vt:lpwstr>true</vt:lpwstr>
  </property>
  <property fmtid="{D5CDD505-2E9C-101B-9397-08002B2CF9AE}" pid="3" name="MSIP_Label_c6b184f7-bef8-46d5-afaa-2928da75c0b3_SetDate">
    <vt:lpwstr>2024-09-17T20:50:02Z</vt:lpwstr>
  </property>
  <property fmtid="{D5CDD505-2E9C-101B-9397-08002B2CF9AE}" pid="4" name="MSIP_Label_c6b184f7-bef8-46d5-afaa-2928da75c0b3_Method">
    <vt:lpwstr>Privileged</vt:lpwstr>
  </property>
  <property fmtid="{D5CDD505-2E9C-101B-9397-08002B2CF9AE}" pid="5" name="MSIP_Label_c6b184f7-bef8-46d5-afaa-2928da75c0b3_Name">
    <vt:lpwstr>Este documento foi classificado como informação EXTERNA.</vt:lpwstr>
  </property>
  <property fmtid="{D5CDD505-2E9C-101B-9397-08002B2CF9AE}" pid="6" name="MSIP_Label_c6b184f7-bef8-46d5-afaa-2928da75c0b3_SiteId">
    <vt:lpwstr>8609bc5b-7aca-4204-b4b0-ce9cf9002e53</vt:lpwstr>
  </property>
  <property fmtid="{D5CDD505-2E9C-101B-9397-08002B2CF9AE}" pid="7" name="MSIP_Label_c6b184f7-bef8-46d5-afaa-2928da75c0b3_ActionId">
    <vt:lpwstr>82959056-f6ef-48a9-b64d-b5b123c1edf7</vt:lpwstr>
  </property>
  <property fmtid="{D5CDD505-2E9C-101B-9397-08002B2CF9AE}" pid="8" name="MSIP_Label_c6b184f7-bef8-46d5-afaa-2928da75c0b3_ContentBits">
    <vt:lpwstr>2</vt:lpwstr>
  </property>
  <property fmtid="{D5CDD505-2E9C-101B-9397-08002B2CF9AE}" pid="9" name="ClassificationContentMarkingFooterLocations">
    <vt:lpwstr>Tema do Office:8\Tema do Office:8</vt:lpwstr>
  </property>
  <property fmtid="{D5CDD505-2E9C-101B-9397-08002B2CF9AE}" pid="10" name="ClassificationContentMarkingFooterText">
    <vt:lpwstr>Este documento foi classificado como informação externa e pode ser compartilhado com pessoas externas à Organização a quem foi destinado. </vt:lpwstr>
  </property>
  <property fmtid="{D5CDD505-2E9C-101B-9397-08002B2CF9AE}" pid="11" name="ContentTypeId">
    <vt:lpwstr>0x010100CD3868A768BBC14EBAC7D03D0260A218</vt:lpwstr>
  </property>
  <property fmtid="{D5CDD505-2E9C-101B-9397-08002B2CF9AE}" pid="12" name="MediaServiceImageTags">
    <vt:lpwstr/>
  </property>
</Properties>
</file>